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handoutMasterIdLst>
    <p:handoutMasterId r:id="rId12"/>
  </p:handoutMasterIdLst>
  <p:sldIdLst>
    <p:sldId id="279" r:id="rId2"/>
    <p:sldId id="290" r:id="rId3"/>
    <p:sldId id="291" r:id="rId4"/>
    <p:sldId id="293" r:id="rId5"/>
    <p:sldId id="294" r:id="rId6"/>
    <p:sldId id="292" r:id="rId7"/>
    <p:sldId id="295" r:id="rId8"/>
    <p:sldId id="296" r:id="rId9"/>
    <p:sldId id="297" r:id="rId10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6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03447BB-5D67-496B-8E87-E561075AD55C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280" autoAdjust="0"/>
  </p:normalViewPr>
  <p:slideViewPr>
    <p:cSldViewPr>
      <p:cViewPr varScale="1">
        <p:scale>
          <a:sx n="66" d="100"/>
          <a:sy n="66" d="100"/>
        </p:scale>
        <p:origin x="672" y="27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54C6E1-AF92-4FB7-A013-0B520EBC30AE}" type="datetimeFigureOut">
              <a:rPr lang="en-US"/>
              <a:t>8/16/2025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52D9BF-D574-4807-B36C-9E2A025BE82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067921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C10850-0874-4A61-99B4-D613C5E8D9EA}" type="datetimeFigureOut">
              <a:rPr lang="en-US"/>
              <a:t>8/16/2025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11EC53-F507-411E-9ADC-FBCFECE09D3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58182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sosceles Triangle 5"/>
          <p:cNvSpPr/>
          <p:nvPr/>
        </p:nvSpPr>
        <p:spPr>
          <a:xfrm>
            <a:off x="-1607" y="-1115"/>
            <a:ext cx="12190403" cy="6863692"/>
          </a:xfrm>
          <a:custGeom>
            <a:avLst/>
            <a:gdLst/>
            <a:ahLst/>
            <a:cxnLst/>
            <a:rect l="l" t="t" r="r" b="b"/>
            <a:pathLst>
              <a:path w="9145184" h="5147769">
                <a:moveTo>
                  <a:pt x="4573206" y="2611793"/>
                </a:moveTo>
                <a:lnTo>
                  <a:pt x="4673081" y="5144337"/>
                </a:lnTo>
                <a:lnTo>
                  <a:pt x="4473331" y="5144337"/>
                </a:lnTo>
                <a:close/>
                <a:moveTo>
                  <a:pt x="4571642" y="2577669"/>
                </a:moveTo>
                <a:lnTo>
                  <a:pt x="4568842" y="2582993"/>
                </a:lnTo>
                <a:lnTo>
                  <a:pt x="4572592" y="2595063"/>
                </a:lnTo>
                <a:lnTo>
                  <a:pt x="4576342" y="2582993"/>
                </a:lnTo>
                <a:lnTo>
                  <a:pt x="4573542" y="2577669"/>
                </a:lnTo>
                <a:lnTo>
                  <a:pt x="4576527" y="2582398"/>
                </a:lnTo>
                <a:lnTo>
                  <a:pt x="4577948" y="2577822"/>
                </a:lnTo>
                <a:lnTo>
                  <a:pt x="4576812" y="2582849"/>
                </a:lnTo>
                <a:lnTo>
                  <a:pt x="6195680" y="5147769"/>
                </a:lnTo>
                <a:lnTo>
                  <a:pt x="5925258" y="5147769"/>
                </a:lnTo>
                <a:lnTo>
                  <a:pt x="4576648" y="2583574"/>
                </a:lnTo>
                <a:lnTo>
                  <a:pt x="4573436" y="2597778"/>
                </a:lnTo>
                <a:lnTo>
                  <a:pt x="5365626" y="5147732"/>
                </a:lnTo>
                <a:lnTo>
                  <a:pt x="5148352" y="5147731"/>
                </a:lnTo>
                <a:lnTo>
                  <a:pt x="4572592" y="2601509"/>
                </a:lnTo>
                <a:lnTo>
                  <a:pt x="3996832" y="5147731"/>
                </a:lnTo>
                <a:lnTo>
                  <a:pt x="3779558" y="5147732"/>
                </a:lnTo>
                <a:lnTo>
                  <a:pt x="4571749" y="2597778"/>
                </a:lnTo>
                <a:lnTo>
                  <a:pt x="4568537" y="2583574"/>
                </a:lnTo>
                <a:lnTo>
                  <a:pt x="3219926" y="5147769"/>
                </a:lnTo>
                <a:lnTo>
                  <a:pt x="2949504" y="5147769"/>
                </a:lnTo>
                <a:lnTo>
                  <a:pt x="4568373" y="2582849"/>
                </a:lnTo>
                <a:lnTo>
                  <a:pt x="4567236" y="2577822"/>
                </a:lnTo>
                <a:lnTo>
                  <a:pt x="4568658" y="2582398"/>
                </a:lnTo>
                <a:close/>
                <a:moveTo>
                  <a:pt x="4575557" y="2575085"/>
                </a:moveTo>
                <a:lnTo>
                  <a:pt x="7359080" y="5147393"/>
                </a:lnTo>
                <a:lnTo>
                  <a:pt x="6952676" y="5147393"/>
                </a:lnTo>
                <a:close/>
                <a:moveTo>
                  <a:pt x="4569627" y="2575085"/>
                </a:moveTo>
                <a:lnTo>
                  <a:pt x="2192508" y="5147393"/>
                </a:lnTo>
                <a:lnTo>
                  <a:pt x="1786104" y="5147393"/>
                </a:lnTo>
                <a:close/>
                <a:moveTo>
                  <a:pt x="4575024" y="2574459"/>
                </a:moveTo>
                <a:lnTo>
                  <a:pt x="4578940" y="2575344"/>
                </a:lnTo>
                <a:lnTo>
                  <a:pt x="4578048" y="2574781"/>
                </a:lnTo>
                <a:lnTo>
                  <a:pt x="4579253" y="2575415"/>
                </a:lnTo>
                <a:lnTo>
                  <a:pt x="9145184" y="3607878"/>
                </a:lnTo>
                <a:lnTo>
                  <a:pt x="9145184" y="3994264"/>
                </a:lnTo>
                <a:lnTo>
                  <a:pt x="4580914" y="2576289"/>
                </a:lnTo>
                <a:lnTo>
                  <a:pt x="9144554" y="4976484"/>
                </a:lnTo>
                <a:lnTo>
                  <a:pt x="9144554" y="5147483"/>
                </a:lnTo>
                <a:lnTo>
                  <a:pt x="8654212" y="5147483"/>
                </a:lnTo>
                <a:lnTo>
                  <a:pt x="4579973" y="2575996"/>
                </a:lnTo>
                <a:close/>
                <a:moveTo>
                  <a:pt x="4570160" y="2574459"/>
                </a:moveTo>
                <a:lnTo>
                  <a:pt x="4565211" y="2575996"/>
                </a:lnTo>
                <a:lnTo>
                  <a:pt x="490972" y="5147483"/>
                </a:lnTo>
                <a:lnTo>
                  <a:pt x="629" y="5147483"/>
                </a:lnTo>
                <a:lnTo>
                  <a:pt x="630" y="4976484"/>
                </a:lnTo>
                <a:lnTo>
                  <a:pt x="4564270" y="2576289"/>
                </a:lnTo>
                <a:lnTo>
                  <a:pt x="0" y="3994264"/>
                </a:lnTo>
                <a:lnTo>
                  <a:pt x="0" y="3607878"/>
                </a:lnTo>
                <a:lnTo>
                  <a:pt x="4565931" y="2575415"/>
                </a:lnTo>
                <a:lnTo>
                  <a:pt x="4567137" y="2574781"/>
                </a:lnTo>
                <a:lnTo>
                  <a:pt x="4566244" y="2575344"/>
                </a:lnTo>
                <a:close/>
                <a:moveTo>
                  <a:pt x="630" y="286"/>
                </a:moveTo>
                <a:lnTo>
                  <a:pt x="490972" y="286"/>
                </a:lnTo>
                <a:lnTo>
                  <a:pt x="4565212" y="2571773"/>
                </a:lnTo>
                <a:lnTo>
                  <a:pt x="4567326" y="2572430"/>
                </a:lnTo>
                <a:lnTo>
                  <a:pt x="4569443" y="2572513"/>
                </a:lnTo>
                <a:lnTo>
                  <a:pt x="1786104" y="376"/>
                </a:lnTo>
                <a:lnTo>
                  <a:pt x="2192508" y="376"/>
                </a:lnTo>
                <a:lnTo>
                  <a:pt x="4569471" y="2572514"/>
                </a:lnTo>
                <a:lnTo>
                  <a:pt x="4571301" y="2572587"/>
                </a:lnTo>
                <a:lnTo>
                  <a:pt x="4569599" y="2572654"/>
                </a:lnTo>
                <a:lnTo>
                  <a:pt x="4569627" y="2572684"/>
                </a:lnTo>
                <a:lnTo>
                  <a:pt x="4569595" y="2572654"/>
                </a:lnTo>
                <a:lnTo>
                  <a:pt x="4568222" y="2572708"/>
                </a:lnTo>
                <a:lnTo>
                  <a:pt x="4570160" y="2573310"/>
                </a:lnTo>
                <a:lnTo>
                  <a:pt x="4567604" y="2572732"/>
                </a:lnTo>
                <a:lnTo>
                  <a:pt x="4566783" y="2572765"/>
                </a:lnTo>
                <a:lnTo>
                  <a:pt x="4567137" y="2572988"/>
                </a:lnTo>
                <a:lnTo>
                  <a:pt x="4566717" y="2572767"/>
                </a:lnTo>
                <a:lnTo>
                  <a:pt x="1205" y="2752816"/>
                </a:lnTo>
                <a:lnTo>
                  <a:pt x="1205" y="2392358"/>
                </a:lnTo>
                <a:lnTo>
                  <a:pt x="4565974" y="2572377"/>
                </a:lnTo>
                <a:lnTo>
                  <a:pt x="4565931" y="2572354"/>
                </a:lnTo>
                <a:lnTo>
                  <a:pt x="0" y="1539891"/>
                </a:lnTo>
                <a:lnTo>
                  <a:pt x="0" y="1153505"/>
                </a:lnTo>
                <a:lnTo>
                  <a:pt x="4564271" y="2571481"/>
                </a:lnTo>
                <a:lnTo>
                  <a:pt x="630" y="171286"/>
                </a:lnTo>
                <a:close/>
                <a:moveTo>
                  <a:pt x="9144554" y="286"/>
                </a:moveTo>
                <a:lnTo>
                  <a:pt x="9144554" y="171286"/>
                </a:lnTo>
                <a:lnTo>
                  <a:pt x="4580915" y="2571480"/>
                </a:lnTo>
                <a:lnTo>
                  <a:pt x="9145184" y="1153505"/>
                </a:lnTo>
                <a:lnTo>
                  <a:pt x="9145184" y="1539891"/>
                </a:lnTo>
                <a:lnTo>
                  <a:pt x="4579254" y="2572354"/>
                </a:lnTo>
                <a:lnTo>
                  <a:pt x="4579211" y="2572377"/>
                </a:lnTo>
                <a:lnTo>
                  <a:pt x="9143978" y="2392358"/>
                </a:lnTo>
                <a:lnTo>
                  <a:pt x="9143979" y="2752816"/>
                </a:lnTo>
                <a:lnTo>
                  <a:pt x="4578467" y="2572767"/>
                </a:lnTo>
                <a:lnTo>
                  <a:pt x="4578048" y="2572988"/>
                </a:lnTo>
                <a:lnTo>
                  <a:pt x="4578402" y="2572765"/>
                </a:lnTo>
                <a:lnTo>
                  <a:pt x="4577580" y="2572732"/>
                </a:lnTo>
                <a:lnTo>
                  <a:pt x="4575024" y="2573310"/>
                </a:lnTo>
                <a:lnTo>
                  <a:pt x="4576963" y="2572708"/>
                </a:lnTo>
                <a:lnTo>
                  <a:pt x="4575590" y="2572654"/>
                </a:lnTo>
                <a:lnTo>
                  <a:pt x="4575557" y="2572684"/>
                </a:lnTo>
                <a:lnTo>
                  <a:pt x="4575585" y="2572654"/>
                </a:lnTo>
                <a:lnTo>
                  <a:pt x="4573884" y="2572587"/>
                </a:lnTo>
                <a:lnTo>
                  <a:pt x="4575714" y="2572515"/>
                </a:lnTo>
                <a:lnTo>
                  <a:pt x="6952676" y="376"/>
                </a:lnTo>
                <a:lnTo>
                  <a:pt x="7359080" y="376"/>
                </a:lnTo>
                <a:lnTo>
                  <a:pt x="4575742" y="2572513"/>
                </a:lnTo>
                <a:lnTo>
                  <a:pt x="4577858" y="2572430"/>
                </a:lnTo>
                <a:lnTo>
                  <a:pt x="4579973" y="2571773"/>
                </a:lnTo>
                <a:lnTo>
                  <a:pt x="8654212" y="286"/>
                </a:lnTo>
                <a:close/>
                <a:moveTo>
                  <a:pt x="3219926" y="0"/>
                </a:moveTo>
                <a:lnTo>
                  <a:pt x="4568537" y="2564195"/>
                </a:lnTo>
                <a:lnTo>
                  <a:pt x="4571749" y="2549991"/>
                </a:lnTo>
                <a:lnTo>
                  <a:pt x="3779558" y="38"/>
                </a:lnTo>
                <a:lnTo>
                  <a:pt x="3996832" y="38"/>
                </a:lnTo>
                <a:lnTo>
                  <a:pt x="4572260" y="2544793"/>
                </a:lnTo>
                <a:lnTo>
                  <a:pt x="4471935" y="837"/>
                </a:lnTo>
                <a:lnTo>
                  <a:pt x="4674477" y="837"/>
                </a:lnTo>
                <a:lnTo>
                  <a:pt x="4574412" y="2538215"/>
                </a:lnTo>
                <a:lnTo>
                  <a:pt x="5148352" y="38"/>
                </a:lnTo>
                <a:lnTo>
                  <a:pt x="5365626" y="38"/>
                </a:lnTo>
                <a:lnTo>
                  <a:pt x="4574021" y="2548106"/>
                </a:lnTo>
                <a:lnTo>
                  <a:pt x="4573871" y="2551916"/>
                </a:lnTo>
                <a:lnTo>
                  <a:pt x="4576648" y="2564195"/>
                </a:lnTo>
                <a:lnTo>
                  <a:pt x="5925258" y="0"/>
                </a:lnTo>
                <a:lnTo>
                  <a:pt x="6195680" y="0"/>
                </a:lnTo>
                <a:lnTo>
                  <a:pt x="4576812" y="2564920"/>
                </a:lnTo>
                <a:lnTo>
                  <a:pt x="4577948" y="2569947"/>
                </a:lnTo>
                <a:lnTo>
                  <a:pt x="4576527" y="2565371"/>
                </a:lnTo>
                <a:lnTo>
                  <a:pt x="4573542" y="2570100"/>
                </a:lnTo>
                <a:lnTo>
                  <a:pt x="4576342" y="2564777"/>
                </a:lnTo>
                <a:lnTo>
                  <a:pt x="4573699" y="2556271"/>
                </a:lnTo>
                <a:lnTo>
                  <a:pt x="4573206" y="2568777"/>
                </a:lnTo>
                <a:lnTo>
                  <a:pt x="4572575" y="2552763"/>
                </a:lnTo>
                <a:lnTo>
                  <a:pt x="4568842" y="2564777"/>
                </a:lnTo>
                <a:lnTo>
                  <a:pt x="4571642" y="2570100"/>
                </a:lnTo>
                <a:lnTo>
                  <a:pt x="4568658" y="2565371"/>
                </a:lnTo>
                <a:lnTo>
                  <a:pt x="4567236" y="2569947"/>
                </a:lnTo>
                <a:lnTo>
                  <a:pt x="4568373" y="2564920"/>
                </a:lnTo>
                <a:lnTo>
                  <a:pt x="2949504" y="0"/>
                </a:lnTo>
                <a:close/>
              </a:path>
            </a:pathLst>
          </a:custGeom>
          <a:gradFill>
            <a:gsLst>
              <a:gs pos="0">
                <a:schemeClr val="bg1">
                  <a:alpha val="1000"/>
                </a:schemeClr>
              </a:gs>
              <a:gs pos="100000">
                <a:schemeClr val="bg1">
                  <a:alpha val="1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 bwMode="hidden">
          <a:xfrm>
            <a:off x="0" y="1905001"/>
            <a:ext cx="12188825" cy="214825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>
              <a:lnSpc>
                <a:spcPct val="90000"/>
              </a:lnSpc>
            </a:pPr>
            <a:endParaRPr sz="3200">
              <a:solidFill>
                <a:schemeClr val="tx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8883" y="1905002"/>
            <a:ext cx="9751060" cy="2147926"/>
          </a:xfrm>
        </p:spPr>
        <p:txBody>
          <a:bodyPr anchor="ctr">
            <a:normAutofit/>
          </a:bodyPr>
          <a:lstStyle>
            <a:lvl1pPr algn="ctr">
              <a:defRPr sz="4400" cap="all" normalizeH="0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8883" y="4140200"/>
            <a:ext cx="9751060" cy="10160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/>
              <a:t>8/16/2025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sosceles Triangle 5"/>
          <p:cNvSpPr/>
          <p:nvPr/>
        </p:nvSpPr>
        <p:spPr>
          <a:xfrm>
            <a:off x="-1607" y="-1115"/>
            <a:ext cx="12190403" cy="6863692"/>
          </a:xfrm>
          <a:custGeom>
            <a:avLst/>
            <a:gdLst/>
            <a:ahLst/>
            <a:cxnLst/>
            <a:rect l="l" t="t" r="r" b="b"/>
            <a:pathLst>
              <a:path w="9145184" h="5147769">
                <a:moveTo>
                  <a:pt x="4573206" y="2611793"/>
                </a:moveTo>
                <a:lnTo>
                  <a:pt x="4673081" y="5144337"/>
                </a:lnTo>
                <a:lnTo>
                  <a:pt x="4473331" y="5144337"/>
                </a:lnTo>
                <a:close/>
                <a:moveTo>
                  <a:pt x="4571642" y="2577669"/>
                </a:moveTo>
                <a:lnTo>
                  <a:pt x="4568842" y="2582993"/>
                </a:lnTo>
                <a:lnTo>
                  <a:pt x="4572592" y="2595063"/>
                </a:lnTo>
                <a:lnTo>
                  <a:pt x="4576342" y="2582993"/>
                </a:lnTo>
                <a:lnTo>
                  <a:pt x="4573542" y="2577669"/>
                </a:lnTo>
                <a:lnTo>
                  <a:pt x="4576527" y="2582398"/>
                </a:lnTo>
                <a:lnTo>
                  <a:pt x="4577948" y="2577822"/>
                </a:lnTo>
                <a:lnTo>
                  <a:pt x="4576812" y="2582849"/>
                </a:lnTo>
                <a:lnTo>
                  <a:pt x="6195680" y="5147769"/>
                </a:lnTo>
                <a:lnTo>
                  <a:pt x="5925258" y="5147769"/>
                </a:lnTo>
                <a:lnTo>
                  <a:pt x="4576648" y="2583574"/>
                </a:lnTo>
                <a:lnTo>
                  <a:pt x="4573436" y="2597778"/>
                </a:lnTo>
                <a:lnTo>
                  <a:pt x="5365626" y="5147732"/>
                </a:lnTo>
                <a:lnTo>
                  <a:pt x="5148352" y="5147731"/>
                </a:lnTo>
                <a:lnTo>
                  <a:pt x="4572592" y="2601509"/>
                </a:lnTo>
                <a:lnTo>
                  <a:pt x="3996832" y="5147731"/>
                </a:lnTo>
                <a:lnTo>
                  <a:pt x="3779558" y="5147732"/>
                </a:lnTo>
                <a:lnTo>
                  <a:pt x="4571749" y="2597778"/>
                </a:lnTo>
                <a:lnTo>
                  <a:pt x="4568537" y="2583574"/>
                </a:lnTo>
                <a:lnTo>
                  <a:pt x="3219926" y="5147769"/>
                </a:lnTo>
                <a:lnTo>
                  <a:pt x="2949504" y="5147769"/>
                </a:lnTo>
                <a:lnTo>
                  <a:pt x="4568373" y="2582849"/>
                </a:lnTo>
                <a:lnTo>
                  <a:pt x="4567236" y="2577822"/>
                </a:lnTo>
                <a:lnTo>
                  <a:pt x="4568658" y="2582398"/>
                </a:lnTo>
                <a:close/>
                <a:moveTo>
                  <a:pt x="4575557" y="2575085"/>
                </a:moveTo>
                <a:lnTo>
                  <a:pt x="7359080" y="5147393"/>
                </a:lnTo>
                <a:lnTo>
                  <a:pt x="6952676" y="5147393"/>
                </a:lnTo>
                <a:close/>
                <a:moveTo>
                  <a:pt x="4569627" y="2575085"/>
                </a:moveTo>
                <a:lnTo>
                  <a:pt x="2192508" y="5147393"/>
                </a:lnTo>
                <a:lnTo>
                  <a:pt x="1786104" y="5147393"/>
                </a:lnTo>
                <a:close/>
                <a:moveTo>
                  <a:pt x="4575024" y="2574459"/>
                </a:moveTo>
                <a:lnTo>
                  <a:pt x="4578940" y="2575344"/>
                </a:lnTo>
                <a:lnTo>
                  <a:pt x="4578048" y="2574781"/>
                </a:lnTo>
                <a:lnTo>
                  <a:pt x="4579253" y="2575415"/>
                </a:lnTo>
                <a:lnTo>
                  <a:pt x="9145184" y="3607878"/>
                </a:lnTo>
                <a:lnTo>
                  <a:pt x="9145184" y="3994264"/>
                </a:lnTo>
                <a:lnTo>
                  <a:pt x="4580914" y="2576289"/>
                </a:lnTo>
                <a:lnTo>
                  <a:pt x="9144554" y="4976484"/>
                </a:lnTo>
                <a:lnTo>
                  <a:pt x="9144554" y="5147483"/>
                </a:lnTo>
                <a:lnTo>
                  <a:pt x="8654212" y="5147483"/>
                </a:lnTo>
                <a:lnTo>
                  <a:pt x="4579973" y="2575996"/>
                </a:lnTo>
                <a:close/>
                <a:moveTo>
                  <a:pt x="4570160" y="2574459"/>
                </a:moveTo>
                <a:lnTo>
                  <a:pt x="4565211" y="2575996"/>
                </a:lnTo>
                <a:lnTo>
                  <a:pt x="490972" y="5147483"/>
                </a:lnTo>
                <a:lnTo>
                  <a:pt x="629" y="5147483"/>
                </a:lnTo>
                <a:lnTo>
                  <a:pt x="630" y="4976484"/>
                </a:lnTo>
                <a:lnTo>
                  <a:pt x="4564270" y="2576289"/>
                </a:lnTo>
                <a:lnTo>
                  <a:pt x="0" y="3994264"/>
                </a:lnTo>
                <a:lnTo>
                  <a:pt x="0" y="3607878"/>
                </a:lnTo>
                <a:lnTo>
                  <a:pt x="4565931" y="2575415"/>
                </a:lnTo>
                <a:lnTo>
                  <a:pt x="4567137" y="2574781"/>
                </a:lnTo>
                <a:lnTo>
                  <a:pt x="4566244" y="2575344"/>
                </a:lnTo>
                <a:close/>
                <a:moveTo>
                  <a:pt x="630" y="286"/>
                </a:moveTo>
                <a:lnTo>
                  <a:pt x="490972" y="286"/>
                </a:lnTo>
                <a:lnTo>
                  <a:pt x="4565212" y="2571773"/>
                </a:lnTo>
                <a:lnTo>
                  <a:pt x="4567326" y="2572430"/>
                </a:lnTo>
                <a:lnTo>
                  <a:pt x="4569443" y="2572513"/>
                </a:lnTo>
                <a:lnTo>
                  <a:pt x="1786104" y="376"/>
                </a:lnTo>
                <a:lnTo>
                  <a:pt x="2192508" y="376"/>
                </a:lnTo>
                <a:lnTo>
                  <a:pt x="4569471" y="2572514"/>
                </a:lnTo>
                <a:lnTo>
                  <a:pt x="4571301" y="2572587"/>
                </a:lnTo>
                <a:lnTo>
                  <a:pt x="4569599" y="2572654"/>
                </a:lnTo>
                <a:lnTo>
                  <a:pt x="4569627" y="2572684"/>
                </a:lnTo>
                <a:lnTo>
                  <a:pt x="4569595" y="2572654"/>
                </a:lnTo>
                <a:lnTo>
                  <a:pt x="4568222" y="2572708"/>
                </a:lnTo>
                <a:lnTo>
                  <a:pt x="4570160" y="2573310"/>
                </a:lnTo>
                <a:lnTo>
                  <a:pt x="4567604" y="2572732"/>
                </a:lnTo>
                <a:lnTo>
                  <a:pt x="4566783" y="2572765"/>
                </a:lnTo>
                <a:lnTo>
                  <a:pt x="4567137" y="2572988"/>
                </a:lnTo>
                <a:lnTo>
                  <a:pt x="4566717" y="2572767"/>
                </a:lnTo>
                <a:lnTo>
                  <a:pt x="1205" y="2752816"/>
                </a:lnTo>
                <a:lnTo>
                  <a:pt x="1205" y="2392358"/>
                </a:lnTo>
                <a:lnTo>
                  <a:pt x="4565974" y="2572377"/>
                </a:lnTo>
                <a:lnTo>
                  <a:pt x="4565931" y="2572354"/>
                </a:lnTo>
                <a:lnTo>
                  <a:pt x="0" y="1539891"/>
                </a:lnTo>
                <a:lnTo>
                  <a:pt x="0" y="1153505"/>
                </a:lnTo>
                <a:lnTo>
                  <a:pt x="4564271" y="2571481"/>
                </a:lnTo>
                <a:lnTo>
                  <a:pt x="630" y="171286"/>
                </a:lnTo>
                <a:close/>
                <a:moveTo>
                  <a:pt x="9144554" y="286"/>
                </a:moveTo>
                <a:lnTo>
                  <a:pt x="9144554" y="171286"/>
                </a:lnTo>
                <a:lnTo>
                  <a:pt x="4580915" y="2571480"/>
                </a:lnTo>
                <a:lnTo>
                  <a:pt x="9145184" y="1153505"/>
                </a:lnTo>
                <a:lnTo>
                  <a:pt x="9145184" y="1539891"/>
                </a:lnTo>
                <a:lnTo>
                  <a:pt x="4579254" y="2572354"/>
                </a:lnTo>
                <a:lnTo>
                  <a:pt x="4579211" y="2572377"/>
                </a:lnTo>
                <a:lnTo>
                  <a:pt x="9143978" y="2392358"/>
                </a:lnTo>
                <a:lnTo>
                  <a:pt x="9143979" y="2752816"/>
                </a:lnTo>
                <a:lnTo>
                  <a:pt x="4578467" y="2572767"/>
                </a:lnTo>
                <a:lnTo>
                  <a:pt x="4578048" y="2572988"/>
                </a:lnTo>
                <a:lnTo>
                  <a:pt x="4578402" y="2572765"/>
                </a:lnTo>
                <a:lnTo>
                  <a:pt x="4577580" y="2572732"/>
                </a:lnTo>
                <a:lnTo>
                  <a:pt x="4575024" y="2573310"/>
                </a:lnTo>
                <a:lnTo>
                  <a:pt x="4576963" y="2572708"/>
                </a:lnTo>
                <a:lnTo>
                  <a:pt x="4575590" y="2572654"/>
                </a:lnTo>
                <a:lnTo>
                  <a:pt x="4575557" y="2572684"/>
                </a:lnTo>
                <a:lnTo>
                  <a:pt x="4575585" y="2572654"/>
                </a:lnTo>
                <a:lnTo>
                  <a:pt x="4573884" y="2572587"/>
                </a:lnTo>
                <a:lnTo>
                  <a:pt x="4575714" y="2572515"/>
                </a:lnTo>
                <a:lnTo>
                  <a:pt x="6952676" y="376"/>
                </a:lnTo>
                <a:lnTo>
                  <a:pt x="7359080" y="376"/>
                </a:lnTo>
                <a:lnTo>
                  <a:pt x="4575742" y="2572513"/>
                </a:lnTo>
                <a:lnTo>
                  <a:pt x="4577858" y="2572430"/>
                </a:lnTo>
                <a:lnTo>
                  <a:pt x="4579973" y="2571773"/>
                </a:lnTo>
                <a:lnTo>
                  <a:pt x="8654212" y="286"/>
                </a:lnTo>
                <a:close/>
                <a:moveTo>
                  <a:pt x="3219926" y="0"/>
                </a:moveTo>
                <a:lnTo>
                  <a:pt x="4568537" y="2564195"/>
                </a:lnTo>
                <a:lnTo>
                  <a:pt x="4571749" y="2549991"/>
                </a:lnTo>
                <a:lnTo>
                  <a:pt x="3779558" y="38"/>
                </a:lnTo>
                <a:lnTo>
                  <a:pt x="3996832" y="38"/>
                </a:lnTo>
                <a:lnTo>
                  <a:pt x="4572260" y="2544793"/>
                </a:lnTo>
                <a:lnTo>
                  <a:pt x="4471935" y="837"/>
                </a:lnTo>
                <a:lnTo>
                  <a:pt x="4674477" y="837"/>
                </a:lnTo>
                <a:lnTo>
                  <a:pt x="4574412" y="2538215"/>
                </a:lnTo>
                <a:lnTo>
                  <a:pt x="5148352" y="38"/>
                </a:lnTo>
                <a:lnTo>
                  <a:pt x="5365626" y="38"/>
                </a:lnTo>
                <a:lnTo>
                  <a:pt x="4574021" y="2548106"/>
                </a:lnTo>
                <a:lnTo>
                  <a:pt x="4573871" y="2551916"/>
                </a:lnTo>
                <a:lnTo>
                  <a:pt x="4576648" y="2564195"/>
                </a:lnTo>
                <a:lnTo>
                  <a:pt x="5925258" y="0"/>
                </a:lnTo>
                <a:lnTo>
                  <a:pt x="6195680" y="0"/>
                </a:lnTo>
                <a:lnTo>
                  <a:pt x="4576812" y="2564920"/>
                </a:lnTo>
                <a:lnTo>
                  <a:pt x="4577948" y="2569947"/>
                </a:lnTo>
                <a:lnTo>
                  <a:pt x="4576527" y="2565371"/>
                </a:lnTo>
                <a:lnTo>
                  <a:pt x="4573542" y="2570100"/>
                </a:lnTo>
                <a:lnTo>
                  <a:pt x="4576342" y="2564777"/>
                </a:lnTo>
                <a:lnTo>
                  <a:pt x="4573699" y="2556271"/>
                </a:lnTo>
                <a:lnTo>
                  <a:pt x="4573206" y="2568777"/>
                </a:lnTo>
                <a:lnTo>
                  <a:pt x="4572575" y="2552763"/>
                </a:lnTo>
                <a:lnTo>
                  <a:pt x="4568842" y="2564777"/>
                </a:lnTo>
                <a:lnTo>
                  <a:pt x="4571642" y="2570100"/>
                </a:lnTo>
                <a:lnTo>
                  <a:pt x="4568658" y="2565371"/>
                </a:lnTo>
                <a:lnTo>
                  <a:pt x="4567236" y="2569947"/>
                </a:lnTo>
                <a:lnTo>
                  <a:pt x="4568373" y="2564920"/>
                </a:lnTo>
                <a:lnTo>
                  <a:pt x="2949504" y="0"/>
                </a:lnTo>
                <a:close/>
              </a:path>
            </a:pathLst>
          </a:custGeom>
          <a:gradFill>
            <a:gsLst>
              <a:gs pos="0">
                <a:schemeClr val="bg1">
                  <a:alpha val="1000"/>
                </a:schemeClr>
              </a:gs>
              <a:gs pos="100000">
                <a:schemeClr val="bg1">
                  <a:alpha val="1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3" y="1524000"/>
            <a:ext cx="9751060" cy="1992597"/>
          </a:xfrm>
        </p:spPr>
        <p:txBody>
          <a:bodyPr anchor="b" anchorCtr="0">
            <a:noAutofit/>
          </a:bodyPr>
          <a:lstStyle>
            <a:lvl1pPr algn="ctr">
              <a:defRPr sz="4400" b="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3632200"/>
            <a:ext cx="9751060" cy="1016000"/>
          </a:xfrm>
        </p:spPr>
        <p:txBody>
          <a:bodyPr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/>
              <a:t>8/16/2025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162" y="1803401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1400"/>
            </a:lvl6pPr>
            <a:lvl7pPr marL="2669581">
              <a:defRPr sz="1400"/>
            </a:lvl7pPr>
            <a:lvl8pPr marL="2669581">
              <a:defRPr sz="1400"/>
            </a:lvl8pPr>
            <a:lvl9pPr marL="2669581"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7559" y="1803401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 marL="2669581">
              <a:defRPr sz="1400" baseline="0"/>
            </a:lvl6pPr>
            <a:lvl7pPr marL="2669581">
              <a:defRPr sz="1400" baseline="0"/>
            </a:lvl7pPr>
            <a:lvl8pPr marL="2669581">
              <a:defRPr sz="1400" baseline="0"/>
            </a:lvl8pPr>
            <a:lvl9pPr marL="2669581">
              <a:defRPr sz="14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/>
              <a:t>8/16/2025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162" y="1803400"/>
            <a:ext cx="4977104" cy="914400"/>
          </a:xfrm>
        </p:spPr>
        <p:txBody>
          <a:bodyPr anchor="ctr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2800" b="0">
                <a:solidFill>
                  <a:schemeClr val="tx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162" y="2717800"/>
            <a:ext cx="4977104" cy="3556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 marL="2669581">
              <a:defRPr sz="1400"/>
            </a:lvl6pPr>
            <a:lvl7pPr marL="2669581">
              <a:defRPr sz="1400"/>
            </a:lvl7pPr>
            <a:lvl8pPr marL="2669581">
              <a:defRPr sz="1400"/>
            </a:lvl8pPr>
            <a:lvl9pPr marL="2669581"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7559" y="1803400"/>
            <a:ext cx="4977104" cy="914400"/>
          </a:xfrm>
        </p:spPr>
        <p:txBody>
          <a:bodyPr anchor="ctr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2800" b="0">
                <a:solidFill>
                  <a:schemeClr val="tx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7559" y="2717800"/>
            <a:ext cx="4977104" cy="3556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 marL="2669581">
              <a:defRPr sz="1400"/>
            </a:lvl6pPr>
            <a:lvl7pPr marL="2669581">
              <a:defRPr sz="1400"/>
            </a:lvl7pPr>
            <a:lvl8pPr marL="2669581">
              <a:defRPr sz="1400" baseline="0"/>
            </a:lvl8pPr>
            <a:lvl9pPr marL="2669581">
              <a:defRPr sz="14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/>
              <a:t>8/16/2025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/>
              <a:t>8/16/2025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1163" y="482600"/>
            <a:ext cx="3961368" cy="1422400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-1115"/>
            <a:ext cx="7618016" cy="68591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white">
          <a:xfrm>
            <a:off x="507868" y="482600"/>
            <a:ext cx="6602280" cy="5842001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21163" y="2108200"/>
            <a:ext cx="3961368" cy="4267200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1600"/>
              </a:spcBef>
              <a:buNone/>
              <a:defRPr sz="2000">
                <a:solidFill>
                  <a:schemeClr val="tx1"/>
                </a:solidFill>
              </a:defRPr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sosceles Triangle 5"/>
          <p:cNvSpPr/>
          <p:nvPr/>
        </p:nvSpPr>
        <p:spPr>
          <a:xfrm>
            <a:off x="-1607" y="-1115"/>
            <a:ext cx="12190403" cy="6863692"/>
          </a:xfrm>
          <a:custGeom>
            <a:avLst/>
            <a:gdLst/>
            <a:ahLst/>
            <a:cxnLst/>
            <a:rect l="l" t="t" r="r" b="b"/>
            <a:pathLst>
              <a:path w="9145184" h="5147769">
                <a:moveTo>
                  <a:pt x="4573206" y="2611793"/>
                </a:moveTo>
                <a:lnTo>
                  <a:pt x="4673081" y="5144337"/>
                </a:lnTo>
                <a:lnTo>
                  <a:pt x="4473331" y="5144337"/>
                </a:lnTo>
                <a:close/>
                <a:moveTo>
                  <a:pt x="4571642" y="2577669"/>
                </a:moveTo>
                <a:lnTo>
                  <a:pt x="4568842" y="2582993"/>
                </a:lnTo>
                <a:lnTo>
                  <a:pt x="4572592" y="2595063"/>
                </a:lnTo>
                <a:lnTo>
                  <a:pt x="4576342" y="2582993"/>
                </a:lnTo>
                <a:lnTo>
                  <a:pt x="4573542" y="2577669"/>
                </a:lnTo>
                <a:lnTo>
                  <a:pt x="4576527" y="2582398"/>
                </a:lnTo>
                <a:lnTo>
                  <a:pt x="4577948" y="2577822"/>
                </a:lnTo>
                <a:lnTo>
                  <a:pt x="4576812" y="2582849"/>
                </a:lnTo>
                <a:lnTo>
                  <a:pt x="6195680" y="5147769"/>
                </a:lnTo>
                <a:lnTo>
                  <a:pt x="5925258" y="5147769"/>
                </a:lnTo>
                <a:lnTo>
                  <a:pt x="4576648" y="2583574"/>
                </a:lnTo>
                <a:lnTo>
                  <a:pt x="4573436" y="2597778"/>
                </a:lnTo>
                <a:lnTo>
                  <a:pt x="5365626" y="5147732"/>
                </a:lnTo>
                <a:lnTo>
                  <a:pt x="5148352" y="5147731"/>
                </a:lnTo>
                <a:lnTo>
                  <a:pt x="4572592" y="2601509"/>
                </a:lnTo>
                <a:lnTo>
                  <a:pt x="3996832" y="5147731"/>
                </a:lnTo>
                <a:lnTo>
                  <a:pt x="3779558" y="5147732"/>
                </a:lnTo>
                <a:lnTo>
                  <a:pt x="4571749" y="2597778"/>
                </a:lnTo>
                <a:lnTo>
                  <a:pt x="4568537" y="2583574"/>
                </a:lnTo>
                <a:lnTo>
                  <a:pt x="3219926" y="5147769"/>
                </a:lnTo>
                <a:lnTo>
                  <a:pt x="2949504" y="5147769"/>
                </a:lnTo>
                <a:lnTo>
                  <a:pt x="4568373" y="2582849"/>
                </a:lnTo>
                <a:lnTo>
                  <a:pt x="4567236" y="2577822"/>
                </a:lnTo>
                <a:lnTo>
                  <a:pt x="4568658" y="2582398"/>
                </a:lnTo>
                <a:close/>
                <a:moveTo>
                  <a:pt x="4575557" y="2575085"/>
                </a:moveTo>
                <a:lnTo>
                  <a:pt x="7359080" y="5147393"/>
                </a:lnTo>
                <a:lnTo>
                  <a:pt x="6952676" y="5147393"/>
                </a:lnTo>
                <a:close/>
                <a:moveTo>
                  <a:pt x="4569627" y="2575085"/>
                </a:moveTo>
                <a:lnTo>
                  <a:pt x="2192508" y="5147393"/>
                </a:lnTo>
                <a:lnTo>
                  <a:pt x="1786104" y="5147393"/>
                </a:lnTo>
                <a:close/>
                <a:moveTo>
                  <a:pt x="4575024" y="2574459"/>
                </a:moveTo>
                <a:lnTo>
                  <a:pt x="4578940" y="2575344"/>
                </a:lnTo>
                <a:lnTo>
                  <a:pt x="4578048" y="2574781"/>
                </a:lnTo>
                <a:lnTo>
                  <a:pt x="4579253" y="2575415"/>
                </a:lnTo>
                <a:lnTo>
                  <a:pt x="9145184" y="3607878"/>
                </a:lnTo>
                <a:lnTo>
                  <a:pt x="9145184" y="3994264"/>
                </a:lnTo>
                <a:lnTo>
                  <a:pt x="4580914" y="2576289"/>
                </a:lnTo>
                <a:lnTo>
                  <a:pt x="9144554" y="4976484"/>
                </a:lnTo>
                <a:lnTo>
                  <a:pt x="9144554" y="5147483"/>
                </a:lnTo>
                <a:lnTo>
                  <a:pt x="8654212" y="5147483"/>
                </a:lnTo>
                <a:lnTo>
                  <a:pt x="4579973" y="2575996"/>
                </a:lnTo>
                <a:close/>
                <a:moveTo>
                  <a:pt x="4570160" y="2574459"/>
                </a:moveTo>
                <a:lnTo>
                  <a:pt x="4565211" y="2575996"/>
                </a:lnTo>
                <a:lnTo>
                  <a:pt x="490972" y="5147483"/>
                </a:lnTo>
                <a:lnTo>
                  <a:pt x="629" y="5147483"/>
                </a:lnTo>
                <a:lnTo>
                  <a:pt x="630" y="4976484"/>
                </a:lnTo>
                <a:lnTo>
                  <a:pt x="4564270" y="2576289"/>
                </a:lnTo>
                <a:lnTo>
                  <a:pt x="0" y="3994264"/>
                </a:lnTo>
                <a:lnTo>
                  <a:pt x="0" y="3607878"/>
                </a:lnTo>
                <a:lnTo>
                  <a:pt x="4565931" y="2575415"/>
                </a:lnTo>
                <a:lnTo>
                  <a:pt x="4567137" y="2574781"/>
                </a:lnTo>
                <a:lnTo>
                  <a:pt x="4566244" y="2575344"/>
                </a:lnTo>
                <a:close/>
                <a:moveTo>
                  <a:pt x="630" y="286"/>
                </a:moveTo>
                <a:lnTo>
                  <a:pt x="490972" y="286"/>
                </a:lnTo>
                <a:lnTo>
                  <a:pt x="4565212" y="2571773"/>
                </a:lnTo>
                <a:lnTo>
                  <a:pt x="4567326" y="2572430"/>
                </a:lnTo>
                <a:lnTo>
                  <a:pt x="4569443" y="2572513"/>
                </a:lnTo>
                <a:lnTo>
                  <a:pt x="1786104" y="376"/>
                </a:lnTo>
                <a:lnTo>
                  <a:pt x="2192508" y="376"/>
                </a:lnTo>
                <a:lnTo>
                  <a:pt x="4569471" y="2572514"/>
                </a:lnTo>
                <a:lnTo>
                  <a:pt x="4571301" y="2572587"/>
                </a:lnTo>
                <a:lnTo>
                  <a:pt x="4569599" y="2572654"/>
                </a:lnTo>
                <a:lnTo>
                  <a:pt x="4569627" y="2572684"/>
                </a:lnTo>
                <a:lnTo>
                  <a:pt x="4569595" y="2572654"/>
                </a:lnTo>
                <a:lnTo>
                  <a:pt x="4568222" y="2572708"/>
                </a:lnTo>
                <a:lnTo>
                  <a:pt x="4570160" y="2573310"/>
                </a:lnTo>
                <a:lnTo>
                  <a:pt x="4567604" y="2572732"/>
                </a:lnTo>
                <a:lnTo>
                  <a:pt x="4566783" y="2572765"/>
                </a:lnTo>
                <a:lnTo>
                  <a:pt x="4567137" y="2572988"/>
                </a:lnTo>
                <a:lnTo>
                  <a:pt x="4566717" y="2572767"/>
                </a:lnTo>
                <a:lnTo>
                  <a:pt x="1205" y="2752816"/>
                </a:lnTo>
                <a:lnTo>
                  <a:pt x="1205" y="2392358"/>
                </a:lnTo>
                <a:lnTo>
                  <a:pt x="4565974" y="2572377"/>
                </a:lnTo>
                <a:lnTo>
                  <a:pt x="4565931" y="2572354"/>
                </a:lnTo>
                <a:lnTo>
                  <a:pt x="0" y="1539891"/>
                </a:lnTo>
                <a:lnTo>
                  <a:pt x="0" y="1153505"/>
                </a:lnTo>
                <a:lnTo>
                  <a:pt x="4564271" y="2571481"/>
                </a:lnTo>
                <a:lnTo>
                  <a:pt x="630" y="171286"/>
                </a:lnTo>
                <a:close/>
                <a:moveTo>
                  <a:pt x="9144554" y="286"/>
                </a:moveTo>
                <a:lnTo>
                  <a:pt x="9144554" y="171286"/>
                </a:lnTo>
                <a:lnTo>
                  <a:pt x="4580915" y="2571480"/>
                </a:lnTo>
                <a:lnTo>
                  <a:pt x="9145184" y="1153505"/>
                </a:lnTo>
                <a:lnTo>
                  <a:pt x="9145184" y="1539891"/>
                </a:lnTo>
                <a:lnTo>
                  <a:pt x="4579254" y="2572354"/>
                </a:lnTo>
                <a:lnTo>
                  <a:pt x="4579211" y="2572377"/>
                </a:lnTo>
                <a:lnTo>
                  <a:pt x="9143978" y="2392358"/>
                </a:lnTo>
                <a:lnTo>
                  <a:pt x="9143979" y="2752816"/>
                </a:lnTo>
                <a:lnTo>
                  <a:pt x="4578467" y="2572767"/>
                </a:lnTo>
                <a:lnTo>
                  <a:pt x="4578048" y="2572988"/>
                </a:lnTo>
                <a:lnTo>
                  <a:pt x="4578402" y="2572765"/>
                </a:lnTo>
                <a:lnTo>
                  <a:pt x="4577580" y="2572732"/>
                </a:lnTo>
                <a:lnTo>
                  <a:pt x="4575024" y="2573310"/>
                </a:lnTo>
                <a:lnTo>
                  <a:pt x="4576963" y="2572708"/>
                </a:lnTo>
                <a:lnTo>
                  <a:pt x="4575590" y="2572654"/>
                </a:lnTo>
                <a:lnTo>
                  <a:pt x="4575557" y="2572684"/>
                </a:lnTo>
                <a:lnTo>
                  <a:pt x="4575585" y="2572654"/>
                </a:lnTo>
                <a:lnTo>
                  <a:pt x="4573884" y="2572587"/>
                </a:lnTo>
                <a:lnTo>
                  <a:pt x="4575714" y="2572515"/>
                </a:lnTo>
                <a:lnTo>
                  <a:pt x="6952676" y="376"/>
                </a:lnTo>
                <a:lnTo>
                  <a:pt x="7359080" y="376"/>
                </a:lnTo>
                <a:lnTo>
                  <a:pt x="4575742" y="2572513"/>
                </a:lnTo>
                <a:lnTo>
                  <a:pt x="4577858" y="2572430"/>
                </a:lnTo>
                <a:lnTo>
                  <a:pt x="4579973" y="2571773"/>
                </a:lnTo>
                <a:lnTo>
                  <a:pt x="8654212" y="286"/>
                </a:lnTo>
                <a:close/>
                <a:moveTo>
                  <a:pt x="3219926" y="0"/>
                </a:moveTo>
                <a:lnTo>
                  <a:pt x="4568537" y="2564195"/>
                </a:lnTo>
                <a:lnTo>
                  <a:pt x="4571749" y="2549991"/>
                </a:lnTo>
                <a:lnTo>
                  <a:pt x="3779558" y="38"/>
                </a:lnTo>
                <a:lnTo>
                  <a:pt x="3996832" y="38"/>
                </a:lnTo>
                <a:lnTo>
                  <a:pt x="4572260" y="2544793"/>
                </a:lnTo>
                <a:lnTo>
                  <a:pt x="4471935" y="837"/>
                </a:lnTo>
                <a:lnTo>
                  <a:pt x="4674477" y="837"/>
                </a:lnTo>
                <a:lnTo>
                  <a:pt x="4574412" y="2538215"/>
                </a:lnTo>
                <a:lnTo>
                  <a:pt x="5148352" y="38"/>
                </a:lnTo>
                <a:lnTo>
                  <a:pt x="5365626" y="38"/>
                </a:lnTo>
                <a:lnTo>
                  <a:pt x="4574021" y="2548106"/>
                </a:lnTo>
                <a:lnTo>
                  <a:pt x="4573871" y="2551916"/>
                </a:lnTo>
                <a:lnTo>
                  <a:pt x="4576648" y="2564195"/>
                </a:lnTo>
                <a:lnTo>
                  <a:pt x="5925258" y="0"/>
                </a:lnTo>
                <a:lnTo>
                  <a:pt x="6195680" y="0"/>
                </a:lnTo>
                <a:lnTo>
                  <a:pt x="4576812" y="2564920"/>
                </a:lnTo>
                <a:lnTo>
                  <a:pt x="4577948" y="2569947"/>
                </a:lnTo>
                <a:lnTo>
                  <a:pt x="4576527" y="2565371"/>
                </a:lnTo>
                <a:lnTo>
                  <a:pt x="4573542" y="2570100"/>
                </a:lnTo>
                <a:lnTo>
                  <a:pt x="4576342" y="2564777"/>
                </a:lnTo>
                <a:lnTo>
                  <a:pt x="4573699" y="2556271"/>
                </a:lnTo>
                <a:lnTo>
                  <a:pt x="4573206" y="2568777"/>
                </a:lnTo>
                <a:lnTo>
                  <a:pt x="4572575" y="2552763"/>
                </a:lnTo>
                <a:lnTo>
                  <a:pt x="4568842" y="2564777"/>
                </a:lnTo>
                <a:lnTo>
                  <a:pt x="4571642" y="2570100"/>
                </a:lnTo>
                <a:lnTo>
                  <a:pt x="4568658" y="2565371"/>
                </a:lnTo>
                <a:lnTo>
                  <a:pt x="4567236" y="2569947"/>
                </a:lnTo>
                <a:lnTo>
                  <a:pt x="4568373" y="2564920"/>
                </a:lnTo>
                <a:lnTo>
                  <a:pt x="2949504" y="0"/>
                </a:lnTo>
                <a:close/>
              </a:path>
            </a:pathLst>
          </a:custGeom>
          <a:gradFill>
            <a:gsLst>
              <a:gs pos="0">
                <a:schemeClr val="bg1">
                  <a:alpha val="1000"/>
                </a:schemeClr>
              </a:gs>
              <a:gs pos="100000">
                <a:schemeClr val="bg1">
                  <a:alpha val="1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99133" y="1905000"/>
            <a:ext cx="5180251" cy="1727200"/>
          </a:xfrm>
        </p:spPr>
        <p:txBody>
          <a:bodyPr anchor="b" anchorCtr="0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-1115"/>
            <a:ext cx="6093594" cy="68591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&#10;"/>
          <p:cNvSpPr>
            <a:spLocks noGrp="1"/>
          </p:cNvSpPr>
          <p:nvPr>
            <p:ph type="pic" idx="1"/>
          </p:nvPr>
        </p:nvSpPr>
        <p:spPr>
          <a:xfrm>
            <a:off x="507869" y="482601"/>
            <a:ext cx="5077859" cy="5862706"/>
          </a:xfrm>
          <a:noFill/>
          <a:ln w="9525">
            <a:noFill/>
            <a:miter lim="800000"/>
          </a:ln>
          <a:effectLst/>
        </p:spPr>
        <p:txBody>
          <a:bodyPr>
            <a:normAutofit/>
          </a:bodyPr>
          <a:lstStyle>
            <a:lvl1pPr marL="0" indent="0" algn="ctr">
              <a:buNone/>
              <a:defRPr sz="27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99133" y="3733800"/>
            <a:ext cx="5180251" cy="1727200"/>
          </a:xfrm>
        </p:spPr>
        <p:txBody>
          <a:bodyPr>
            <a:normAutofit/>
          </a:bodyPr>
          <a:lstStyle>
            <a:lvl1pPr marL="0" indent="0">
              <a:spcBef>
                <a:spcPts val="1600"/>
              </a:spcBef>
              <a:buNone/>
              <a:defRPr sz="2000">
                <a:solidFill>
                  <a:schemeClr val="tx1"/>
                </a:solidFill>
              </a:defRPr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lternate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1163" y="482600"/>
            <a:ext cx="3961368" cy="1422400"/>
          </a:xfrm>
        </p:spPr>
        <p:txBody>
          <a:bodyPr anchor="b" anchorCtr="0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" name="Rectangle 8" descr="&#10;"/>
          <p:cNvSpPr/>
          <p:nvPr/>
        </p:nvSpPr>
        <p:spPr>
          <a:xfrm>
            <a:off x="0" y="-1115"/>
            <a:ext cx="7618016" cy="68591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&#10;"/>
          <p:cNvSpPr>
            <a:spLocks noGrp="1"/>
          </p:cNvSpPr>
          <p:nvPr>
            <p:ph type="pic" idx="1"/>
          </p:nvPr>
        </p:nvSpPr>
        <p:spPr>
          <a:xfrm>
            <a:off x="507868" y="482600"/>
            <a:ext cx="6602281" cy="5842001"/>
          </a:xfrm>
          <a:noFill/>
          <a:ln w="9525">
            <a:noFill/>
            <a:miter lim="800000"/>
          </a:ln>
          <a:effectLst/>
        </p:spPr>
        <p:txBody>
          <a:bodyPr>
            <a:normAutofit/>
          </a:bodyPr>
          <a:lstStyle>
            <a:lvl1pPr marL="0" indent="0" algn="ctr">
              <a:buNone/>
              <a:defRPr sz="27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21163" y="2108200"/>
            <a:ext cx="3961368" cy="4267200"/>
          </a:xfrm>
        </p:spPr>
        <p:txBody>
          <a:bodyPr>
            <a:normAutofit/>
          </a:bodyPr>
          <a:lstStyle>
            <a:lvl1pPr marL="0" indent="0">
              <a:spcBef>
                <a:spcPts val="1600"/>
              </a:spcBef>
              <a:buNone/>
              <a:defRPr sz="2000">
                <a:solidFill>
                  <a:schemeClr val="tx1"/>
                </a:solidFill>
              </a:defRPr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76303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 marL="2669581">
              <a:defRPr baseline="0"/>
            </a:lvl6pPr>
            <a:lvl7pPr marL="2669581">
              <a:defRPr baseline="0"/>
            </a:lvl7pPr>
            <a:lvl8pPr marL="2669581">
              <a:defRPr baseline="0"/>
            </a:lvl8pPr>
            <a:lvl9pPr marL="2669581"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/>
              <a:t>8/16/2025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40043" y="482599"/>
            <a:ext cx="1843982" cy="57912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162" y="482599"/>
            <a:ext cx="9040045" cy="5791201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/>
              <a:t>8/16/2025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162" y="482600"/>
            <a:ext cx="10360501" cy="1219200"/>
          </a:xfrm>
          <a:prstGeom prst="rect">
            <a:avLst/>
          </a:prstGeom>
          <a:effectLst/>
        </p:spPr>
        <p:txBody>
          <a:bodyPr vert="horz" lIns="121899" tIns="60949" rIns="121899" bIns="60949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162" y="1803401"/>
            <a:ext cx="10360501" cy="44704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4162" y="6375400"/>
            <a:ext cx="7414869" cy="195072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735324" y="6375400"/>
            <a:ext cx="1422030" cy="195072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3B9B9059-F1D6-41D0-95CF-D21CAA096B3A}" type="datetimeFigureOut">
              <a:rPr lang="en-US"/>
              <a:pPr/>
              <a:t>8/16/2025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41760" y="6375400"/>
            <a:ext cx="832903" cy="195072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5FD5434-F838-4DD4-A17B-1CB1A1850DF4}" type="slidenum">
              <a:rPr/>
              <a:pPr/>
              <a:t>‹#›</a:t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82" r:id="rId10"/>
    <p:sldLayoutId id="2147483678" r:id="rId11"/>
    <p:sldLayoutId id="214748367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8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defTabSz="1218987" rtl="0" eaLnBrk="1" latinLnBrk="0" hangingPunct="1">
        <a:lnSpc>
          <a:spcPct val="90000"/>
        </a:lnSpc>
        <a:spcBef>
          <a:spcPts val="1600"/>
        </a:spcBef>
        <a:buClr>
          <a:schemeClr val="tx2"/>
        </a:buClr>
        <a:buSzPct val="9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defTabSz="1218987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SzPct val="90000"/>
        <a:buFont typeface="Cambria" pitchFamily="18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74320" algn="l" defTabSz="1218987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74320" algn="l" defTabSz="1218987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SzPct val="100000"/>
        <a:buFont typeface="Cambria" pitchFamily="18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74320" algn="l" defTabSz="1218987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74320" algn="l" defTabSz="1218987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SzPct val="100000"/>
        <a:buFont typeface="Cambria" pitchFamily="18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74320" algn="l" defTabSz="1218987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74320" algn="l" defTabSz="1218987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SzPct val="100000"/>
        <a:buFont typeface="Cambria" pitchFamily="18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74320" algn="l" defTabSz="1218987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Database management system lab.</a:t>
            </a: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CSE 3522</a:t>
            </a:r>
          </a:p>
          <a:p>
            <a:r>
              <a:rPr lang="en-US" dirty="0"/>
              <a:t>LAB CLASS – 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287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01A79-9B0B-174C-A972-E3F771116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3DD74303-2104-C269-311F-D3DC6211A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162" y="482600"/>
            <a:ext cx="10360501" cy="660400"/>
          </a:xfrm>
        </p:spPr>
        <p:txBody>
          <a:bodyPr/>
          <a:lstStyle/>
          <a:p>
            <a:pPr algn="ctr"/>
            <a:r>
              <a:rPr lang="en-US" u="sng" dirty="0"/>
              <a:t>Database management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3F17CD6-9B3B-5470-7FE6-C7AEBAD1DF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896" y="1295400"/>
            <a:ext cx="10360501" cy="1371600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/>
              <a:t>Database</a:t>
            </a:r>
            <a:r>
              <a:rPr lang="en-US" sz="2400" dirty="0"/>
              <a:t> </a:t>
            </a:r>
          </a:p>
          <a:p>
            <a:pPr marL="0" indent="0" algn="just">
              <a:buNone/>
            </a:pPr>
            <a:r>
              <a:rPr lang="en-US" sz="1800" dirty="0"/>
              <a:t>A database is a structured collection of data that is organized, stored, and managed in a way that allows for efficient retrieval, updating, and management of information.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CB1EEC-255A-76B7-7A90-B5C2C071D067}"/>
              </a:ext>
            </a:extLst>
          </p:cNvPr>
          <p:cNvSpPr txBox="1"/>
          <p:nvPr/>
        </p:nvSpPr>
        <p:spPr>
          <a:xfrm>
            <a:off x="942252" y="2523621"/>
            <a:ext cx="1020945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effectLst/>
              </a:rPr>
              <a:t>What is Stores</a:t>
            </a:r>
            <a:endParaRPr lang="en-US" dirty="0">
              <a:effectLst/>
            </a:endParaRPr>
          </a:p>
          <a:p>
            <a:r>
              <a:rPr lang="en-US" sz="1800" dirty="0">
                <a:effectLst/>
              </a:rPr>
              <a:t>Data organized in tables, rows, and columns (like a digital spreadsheet). Information such as customer details, product inventories, financial records, etc.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196368-D4A9-3BAD-AE15-7F6C5F9066BF}"/>
              </a:ext>
            </a:extLst>
          </p:cNvPr>
          <p:cNvSpPr txBox="1"/>
          <p:nvPr/>
        </p:nvSpPr>
        <p:spPr>
          <a:xfrm>
            <a:off x="918205" y="3895221"/>
            <a:ext cx="5199519" cy="14465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effectLst/>
              </a:rPr>
              <a:t>Real-world examples:</a:t>
            </a:r>
            <a:endParaRPr lang="en-US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</a:rPr>
              <a:t>Your bank's system storing account information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</a:rPr>
              <a:t>Online shopping sites tracking products and orders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</a:rPr>
              <a:t>Social media platforms managing user profiles and posts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</a:rPr>
              <a:t>Hospital systems maintaining patient records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FA6085-65EA-FB2F-5993-D80D7D9FA6C5}"/>
              </a:ext>
            </a:extLst>
          </p:cNvPr>
          <p:cNvSpPr txBox="1"/>
          <p:nvPr/>
        </p:nvSpPr>
        <p:spPr>
          <a:xfrm>
            <a:off x="6246812" y="3895221"/>
            <a:ext cx="5726997" cy="1446550"/>
          </a:xfrm>
          <a:prstGeom prst="rect">
            <a:avLst/>
          </a:prstGeom>
          <a:noFill/>
          <a:ln>
            <a:solidFill>
              <a:schemeClr val="bg2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effectLst/>
              </a:rPr>
              <a:t>Why databases matter:</a:t>
            </a:r>
            <a:endParaRPr lang="en-US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</a:rPr>
              <a:t>Enable quick searching and filtering of large amounts of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</a:rPr>
              <a:t>Prevent data loss and corruption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</a:rPr>
              <a:t>Allow multiple applications to share the same information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</a:rPr>
              <a:t>Provide security controls for sensitive 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5B579B-BB8E-9434-6BA9-E807FF9A80CC}"/>
              </a:ext>
            </a:extLst>
          </p:cNvPr>
          <p:cNvSpPr txBox="1"/>
          <p:nvPr/>
        </p:nvSpPr>
        <p:spPr>
          <a:xfrm>
            <a:off x="882896" y="5562600"/>
            <a:ext cx="110909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A Database Management System (DBMS) is software that acts as an interface between users/applications and the database itself. It's essentially the "manager" that controls how data is stored, retrieved, and manipulated in a database.</a:t>
            </a:r>
          </a:p>
        </p:txBody>
      </p:sp>
    </p:spTree>
    <p:extLst>
      <p:ext uri="{BB962C8B-B14F-4D97-AF65-F5344CB8AC3E}">
        <p14:creationId xmlns:p14="http://schemas.microsoft.com/office/powerpoint/2010/main" val="964100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25E2A-6F81-5478-EB4C-07192E1F4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4D99443B-0187-0E60-73BE-8486928C8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357" y="49320"/>
            <a:ext cx="10360501" cy="660400"/>
          </a:xfrm>
        </p:spPr>
        <p:txBody>
          <a:bodyPr>
            <a:normAutofit/>
          </a:bodyPr>
          <a:lstStyle/>
          <a:p>
            <a:pPr algn="ctr"/>
            <a:r>
              <a:rPr lang="en-US" sz="3200" u="sng" dirty="0"/>
              <a:t>Relational database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F945A7-39E2-C90F-36BB-D5D4AE4B92A7}"/>
              </a:ext>
            </a:extLst>
          </p:cNvPr>
          <p:cNvSpPr txBox="1"/>
          <p:nvPr/>
        </p:nvSpPr>
        <p:spPr>
          <a:xfrm>
            <a:off x="536675" y="1020595"/>
            <a:ext cx="116586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dirty="0">
                <a:effectLst/>
              </a:rPr>
              <a:t>A relational database is a type of database that organizes data into tables (called relations) where information is stored in rows and columns, and these tables can be linked together through relationships.</a:t>
            </a:r>
          </a:p>
          <a:p>
            <a:pPr>
              <a:buNone/>
            </a:pPr>
            <a:r>
              <a:rPr lang="en-US" sz="2000" b="1" dirty="0">
                <a:effectLst/>
              </a:rPr>
              <a:t>Key Components:</a:t>
            </a:r>
            <a:endParaRPr lang="en-US" sz="2000" dirty="0">
              <a:effectLst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C0BBC0-81AB-87EF-D9C9-2FDBD4A47CCF}"/>
              </a:ext>
            </a:extLst>
          </p:cNvPr>
          <p:cNvSpPr txBox="1"/>
          <p:nvPr/>
        </p:nvSpPr>
        <p:spPr>
          <a:xfrm>
            <a:off x="6353960" y="2036258"/>
            <a:ext cx="5486400" cy="1323439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effectLst/>
              </a:rPr>
              <a:t>Rows (Records/Tuples):</a:t>
            </a:r>
            <a:endParaRPr lang="en-US" sz="200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</a:rPr>
              <a:t>Each row represents a single instance of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</a:rPr>
              <a:t>Example: One customer's complete information in a customer table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777886-21DD-63AD-CD5B-D5FE9E14C908}"/>
              </a:ext>
            </a:extLst>
          </p:cNvPr>
          <p:cNvSpPr txBox="1"/>
          <p:nvPr/>
        </p:nvSpPr>
        <p:spPr>
          <a:xfrm>
            <a:off x="438848" y="2109939"/>
            <a:ext cx="5735839" cy="150810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effectLst/>
              </a:rPr>
              <a:t>Tables (Relations):</a:t>
            </a:r>
            <a:endParaRPr lang="en-US" sz="2000" dirty="0">
              <a:effectLst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</a:rPr>
              <a:t>Data is organized in tables, like spreadsheets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</a:rPr>
              <a:t>Each table represents a specific entity (customers, products, orders)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</a:rPr>
              <a:t>Tables have a fixed structure with defined columns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0BB178-F42B-4231-8F2A-B5141D9F3DEA}"/>
              </a:ext>
            </a:extLst>
          </p:cNvPr>
          <p:cNvSpPr txBox="1"/>
          <p:nvPr/>
        </p:nvSpPr>
        <p:spPr>
          <a:xfrm>
            <a:off x="414769" y="3691726"/>
            <a:ext cx="5735839" cy="1323439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effectLst/>
              </a:rPr>
              <a:t>Columns (Fields/Attributes):</a:t>
            </a:r>
            <a:endParaRPr lang="en-US" sz="200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</a:rPr>
              <a:t>Each column represents a specific data type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</a:rPr>
              <a:t>Example: Name, Email, Phone Number in a customer table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D7D62BE-6C50-3A1E-29DE-7E1D8D033B6F}"/>
              </a:ext>
            </a:extLst>
          </p:cNvPr>
          <p:cNvSpPr txBox="1"/>
          <p:nvPr/>
        </p:nvSpPr>
        <p:spPr>
          <a:xfrm>
            <a:off x="6327507" y="3544416"/>
            <a:ext cx="5483191" cy="1323439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effectLst/>
              </a:rPr>
              <a:t>Relationships:</a:t>
            </a:r>
            <a:endParaRPr lang="en-US" sz="200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</a:rPr>
              <a:t>Tables are connected through common fields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</a:rPr>
              <a:t>Example: Customer table linked to Orders table through Customer ID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291F3FB-379A-E288-2C29-11588471D657}"/>
              </a:ext>
            </a:extLst>
          </p:cNvPr>
          <p:cNvSpPr txBox="1"/>
          <p:nvPr/>
        </p:nvSpPr>
        <p:spPr>
          <a:xfrm>
            <a:off x="392294" y="5228467"/>
            <a:ext cx="6097604" cy="129266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effectLst/>
              </a:rPr>
              <a:t>Primary Key:</a:t>
            </a:r>
            <a:endParaRPr lang="en-US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</a:rPr>
              <a:t>Unique identifier for each row in a table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</a:rPr>
              <a:t>Example: Customer ID, Product ID, Order Number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800" dirty="0">
              <a:effectLst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5A241F5-B51B-0BA7-FD8D-D1163DC0DA56}"/>
              </a:ext>
            </a:extLst>
          </p:cNvPr>
          <p:cNvSpPr txBox="1"/>
          <p:nvPr/>
        </p:nvSpPr>
        <p:spPr>
          <a:xfrm>
            <a:off x="6608152" y="5228467"/>
            <a:ext cx="5213260" cy="1200329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effectLst/>
              </a:rPr>
              <a:t>Foreign Key:</a:t>
            </a:r>
            <a:endParaRPr lang="en-US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</a:rPr>
              <a:t>A field that links to the primary key of another table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</a:rPr>
              <a:t>Creates relationships between tables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effectLst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F54E8BB-FFEC-2109-92DD-4DBA2EF8EDE9}"/>
              </a:ext>
            </a:extLst>
          </p:cNvPr>
          <p:cNvSpPr txBox="1"/>
          <p:nvPr/>
        </p:nvSpPr>
        <p:spPr>
          <a:xfrm>
            <a:off x="1854333" y="659983"/>
            <a:ext cx="89463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FFFF00"/>
                </a:solidFill>
              </a:rPr>
              <a:t>The "relational" aspect means you can easily find connections between different pieces of information</a:t>
            </a:r>
          </a:p>
        </p:txBody>
      </p:sp>
    </p:spTree>
    <p:extLst>
      <p:ext uri="{BB962C8B-B14F-4D97-AF65-F5344CB8AC3E}">
        <p14:creationId xmlns:p14="http://schemas.microsoft.com/office/powerpoint/2010/main" val="4207785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3D3BF-0A4B-3990-3D27-6B341C200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0E69C7F6-C0A7-46D8-FF98-2836EF1E7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706" y="194385"/>
            <a:ext cx="10360501" cy="877717"/>
          </a:xfrm>
        </p:spPr>
        <p:txBody>
          <a:bodyPr/>
          <a:lstStyle/>
          <a:p>
            <a:pPr algn="ctr"/>
            <a:r>
              <a:rPr lang="en-US" u="sng" dirty="0"/>
              <a:t>Relational database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791242-5D5B-DD9D-481F-0C05C81C8A95}"/>
              </a:ext>
            </a:extLst>
          </p:cNvPr>
          <p:cNvSpPr txBox="1"/>
          <p:nvPr/>
        </p:nvSpPr>
        <p:spPr>
          <a:xfrm>
            <a:off x="1674812" y="1745201"/>
            <a:ext cx="3505200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effectLst/>
              </a:rPr>
              <a:t>Popular Relational Databases: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</a:rPr>
              <a:t>MySQL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</a:rPr>
              <a:t>PostgreSQL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</a:rPr>
              <a:t>Oracle Database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</a:rPr>
              <a:t>Microsoft SQL Server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</a:rPr>
              <a:t>SQLite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F41B50-6ABC-0B8F-E2A1-AF0D62C3E52F}"/>
              </a:ext>
            </a:extLst>
          </p:cNvPr>
          <p:cNvSpPr txBox="1"/>
          <p:nvPr/>
        </p:nvSpPr>
        <p:spPr>
          <a:xfrm>
            <a:off x="5180012" y="1749212"/>
            <a:ext cx="637189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effectLst/>
              </a:rPr>
              <a:t>Real-world Applications:</a:t>
            </a:r>
            <a:endParaRPr lang="en-US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</a:rPr>
              <a:t>Banking systems (accounts, transactions, customers)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</a:rPr>
              <a:t>E-commerce platforms (products, orders, users)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</a:rPr>
              <a:t>Hospital management (patients, doctors, appointments)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</a:rPr>
              <a:t>School systems (students, courses, grades)</a:t>
            </a:r>
          </a:p>
        </p:txBody>
      </p:sp>
    </p:spTree>
    <p:extLst>
      <p:ext uri="{BB962C8B-B14F-4D97-AF65-F5344CB8AC3E}">
        <p14:creationId xmlns:p14="http://schemas.microsoft.com/office/powerpoint/2010/main" val="2732166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127B2-ADD3-EA32-C2F2-299F200C7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674E6A6C-BC01-85FC-BDA1-6971C3D41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161" y="457200"/>
            <a:ext cx="10360501" cy="567615"/>
          </a:xfrm>
        </p:spPr>
        <p:txBody>
          <a:bodyPr/>
          <a:lstStyle/>
          <a:p>
            <a:pPr algn="ctr"/>
            <a:r>
              <a:rPr lang="en-US" u="sng" dirty="0"/>
              <a:t>Non-Relational database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829DA7-5F98-F4CA-8D9D-BC54760E1BC7}"/>
              </a:ext>
            </a:extLst>
          </p:cNvPr>
          <p:cNvSpPr txBox="1"/>
          <p:nvPr/>
        </p:nvSpPr>
        <p:spPr>
          <a:xfrm>
            <a:off x="914160" y="1524000"/>
            <a:ext cx="10590451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000" dirty="0">
                <a:effectLst/>
              </a:rPr>
              <a:t>A non-relational database (also called NoSQL database) is a type of database that doesn't use the traditional table-based structure of relational databases. Instead, it stores data in more flexible formats that can handle various types of data structures.</a:t>
            </a:r>
          </a:p>
          <a:p>
            <a:pPr algn="just">
              <a:buNone/>
            </a:pPr>
            <a:endParaRPr lang="en-US" sz="2000" dirty="0">
              <a:effectLst/>
            </a:endParaRPr>
          </a:p>
          <a:p>
            <a:pPr>
              <a:buNone/>
            </a:pPr>
            <a:r>
              <a:rPr lang="en-US" b="1" dirty="0">
                <a:effectLst/>
              </a:rPr>
              <a:t>Key Characteristics:</a:t>
            </a:r>
            <a:endParaRPr lang="en-US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</a:rPr>
              <a:t>Flexible Schema</a:t>
            </a:r>
            <a:r>
              <a:rPr lang="en-US" sz="1800" dirty="0">
                <a:effectLst/>
              </a:rPr>
              <a:t>: No fixed table structure required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</a:rPr>
              <a:t>Horizontal Scaling</a:t>
            </a:r>
            <a:r>
              <a:rPr lang="en-US" sz="1800" dirty="0">
                <a:effectLst/>
              </a:rPr>
              <a:t>: Can easily distribute data across multiple servers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</a:rPr>
              <a:t>Various Data Models</a:t>
            </a:r>
            <a:r>
              <a:rPr lang="en-US" sz="1800" dirty="0">
                <a:effectLst/>
              </a:rPr>
              <a:t>: Different ways to organize and store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</a:rPr>
              <a:t>High Performance</a:t>
            </a:r>
            <a:r>
              <a:rPr lang="en-US" sz="1800" dirty="0">
                <a:effectLst/>
              </a:rPr>
              <a:t>: Optimized for specific use cases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453FEA-DCA2-04F8-F0DE-7FA53613CC06}"/>
              </a:ext>
            </a:extLst>
          </p:cNvPr>
          <p:cNvSpPr txBox="1"/>
          <p:nvPr/>
        </p:nvSpPr>
        <p:spPr>
          <a:xfrm>
            <a:off x="914161" y="4419600"/>
            <a:ext cx="609279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>
                <a:effectLst/>
              </a:rPr>
              <a:t>Types of Non-Relational Databases:</a:t>
            </a:r>
            <a:endParaRPr lang="en-US" sz="1800" dirty="0">
              <a:effectLst/>
            </a:endParaRPr>
          </a:p>
          <a:p>
            <a:pPr>
              <a:buNone/>
            </a:pPr>
            <a:r>
              <a:rPr lang="en-US" sz="1800" b="1" dirty="0">
                <a:effectLst/>
              </a:rPr>
              <a:t>1. Document Databases:</a:t>
            </a:r>
            <a:endParaRPr lang="en-US" sz="180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</a:rPr>
              <a:t>Store data as documents (usually JSON-like format)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</a:rPr>
              <a:t>Each document can have different fields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effectLst/>
              </a:rPr>
              <a:t>Examples</a:t>
            </a:r>
            <a:r>
              <a:rPr lang="en-US" sz="1600" dirty="0">
                <a:effectLst/>
              </a:rPr>
              <a:t>: MongoDB, CouchDB, Amazon </a:t>
            </a:r>
            <a:r>
              <a:rPr lang="en-US" sz="1600" dirty="0" err="1">
                <a:effectLst/>
              </a:rPr>
              <a:t>DocumentDB</a:t>
            </a:r>
            <a:endParaRPr lang="en-US" sz="160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effectLst/>
              </a:rPr>
              <a:t>Use Case</a:t>
            </a:r>
            <a:r>
              <a:rPr lang="en-US" sz="1600" dirty="0">
                <a:effectLst/>
              </a:rPr>
              <a:t>: Content management, user profiles, product catalogs</a:t>
            </a:r>
          </a:p>
        </p:txBody>
      </p:sp>
    </p:spTree>
    <p:extLst>
      <p:ext uri="{BB962C8B-B14F-4D97-AF65-F5344CB8AC3E}">
        <p14:creationId xmlns:p14="http://schemas.microsoft.com/office/powerpoint/2010/main" val="3418291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86A57-3828-D288-A5D7-56985424C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7FAD9EA7-8E05-2066-C078-4182F64CF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706" y="194386"/>
            <a:ext cx="10360501" cy="660400"/>
          </a:xfrm>
        </p:spPr>
        <p:txBody>
          <a:bodyPr/>
          <a:lstStyle/>
          <a:p>
            <a:pPr algn="ctr"/>
            <a:r>
              <a:rPr lang="en-US" u="sng" dirty="0"/>
              <a:t>Query language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B0461E-83EB-6E24-C269-9B99DFC3F3B1}"/>
              </a:ext>
            </a:extLst>
          </p:cNvPr>
          <p:cNvSpPr txBox="1"/>
          <p:nvPr/>
        </p:nvSpPr>
        <p:spPr>
          <a:xfrm>
            <a:off x="860689" y="1083571"/>
            <a:ext cx="4572001" cy="181588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effectLst/>
              </a:rPr>
              <a:t>SQL (Structured Query Language):</a:t>
            </a:r>
            <a:endParaRPr lang="en-US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</a:rPr>
              <a:t>Standard language used to interact with relational databases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</a:rPr>
              <a:t>Commands like SELECT, INSERT, UPDATE, DELETE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24F6C6-ED71-0BA0-BE9C-F232914DBF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1012" y="1083571"/>
            <a:ext cx="6258798" cy="524102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2D63FD6-3B4E-7968-1D60-C8AE6B61DFE4}"/>
              </a:ext>
            </a:extLst>
          </p:cNvPr>
          <p:cNvSpPr txBox="1"/>
          <p:nvPr/>
        </p:nvSpPr>
        <p:spPr>
          <a:xfrm>
            <a:off x="860690" y="3092946"/>
            <a:ext cx="4572001" cy="267765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effectLst/>
              </a:rPr>
              <a:t>Advantages:</a:t>
            </a:r>
            <a:endParaRPr lang="en-US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B050"/>
                </a:solidFill>
                <a:effectLst/>
              </a:rPr>
              <a:t>Data Integrity</a:t>
            </a:r>
            <a:r>
              <a:rPr lang="en-US" sz="1600" dirty="0">
                <a:solidFill>
                  <a:srgbClr val="00B050"/>
                </a:solidFill>
                <a:effectLst/>
              </a:rPr>
              <a:t>: </a:t>
            </a:r>
            <a:r>
              <a:rPr lang="en-US" sz="1600" dirty="0">
                <a:effectLst/>
              </a:rPr>
              <a:t>Rules prevent inconsistent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B050"/>
                </a:solidFill>
                <a:effectLst/>
              </a:rPr>
              <a:t>Reduced Redundancy</a:t>
            </a:r>
            <a:r>
              <a:rPr lang="en-US" sz="1600" dirty="0">
                <a:solidFill>
                  <a:srgbClr val="00B050"/>
                </a:solidFill>
                <a:effectLst/>
              </a:rPr>
              <a:t>: </a:t>
            </a:r>
            <a:r>
              <a:rPr lang="en-US" sz="1600" dirty="0">
                <a:effectLst/>
              </a:rPr>
              <a:t>Information isn't duplicated unnecessarily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B050"/>
                </a:solidFill>
                <a:effectLst/>
              </a:rPr>
              <a:t>Flexibility</a:t>
            </a:r>
            <a:r>
              <a:rPr lang="en-US" sz="1600" dirty="0">
                <a:solidFill>
                  <a:srgbClr val="00B050"/>
                </a:solidFill>
                <a:effectLst/>
              </a:rPr>
              <a:t>: </a:t>
            </a:r>
            <a:r>
              <a:rPr lang="en-US" sz="1600" dirty="0">
                <a:effectLst/>
              </a:rPr>
              <a:t>Easy to query and analyze data in multiple ways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B050"/>
                </a:solidFill>
                <a:effectLst/>
              </a:rPr>
              <a:t>Scalability</a:t>
            </a:r>
            <a:r>
              <a:rPr lang="en-US" sz="1600" dirty="0">
                <a:solidFill>
                  <a:srgbClr val="00B050"/>
                </a:solidFill>
                <a:effectLst/>
              </a:rPr>
              <a:t>: </a:t>
            </a:r>
            <a:r>
              <a:rPr lang="en-US" sz="1600" dirty="0">
                <a:effectLst/>
              </a:rPr>
              <a:t>Can handle large amounts of data efficiently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B050"/>
                </a:solidFill>
                <a:effectLst/>
              </a:rPr>
              <a:t>Standardization</a:t>
            </a:r>
            <a:r>
              <a:rPr lang="en-US" sz="1600" dirty="0">
                <a:solidFill>
                  <a:srgbClr val="00B050"/>
                </a:solidFill>
                <a:effectLst/>
              </a:rPr>
              <a:t>: </a:t>
            </a:r>
            <a:r>
              <a:rPr lang="en-US" sz="1600" dirty="0">
                <a:effectLst/>
              </a:rPr>
              <a:t>Uses SQL, which is widely known</a:t>
            </a:r>
          </a:p>
        </p:txBody>
      </p:sp>
    </p:spTree>
    <p:extLst>
      <p:ext uri="{BB962C8B-B14F-4D97-AF65-F5344CB8AC3E}">
        <p14:creationId xmlns:p14="http://schemas.microsoft.com/office/powerpoint/2010/main" val="4036701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5FD9F-C703-5C68-A4A1-4F7043AD3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7867A5B3-4E99-8F9E-37C1-FCC14F4E9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706" y="194386"/>
            <a:ext cx="10360501" cy="660400"/>
          </a:xfrm>
        </p:spPr>
        <p:txBody>
          <a:bodyPr/>
          <a:lstStyle/>
          <a:p>
            <a:pPr algn="ctr"/>
            <a:r>
              <a:rPr lang="en-US" u="sng" dirty="0"/>
              <a:t>DDL / DML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C97A6B-C1C5-C5F6-70F4-DA765420EED3}"/>
              </a:ext>
            </a:extLst>
          </p:cNvPr>
          <p:cNvSpPr txBox="1"/>
          <p:nvPr/>
        </p:nvSpPr>
        <p:spPr>
          <a:xfrm>
            <a:off x="531812" y="990600"/>
            <a:ext cx="11125200" cy="923330"/>
          </a:xfrm>
          <a:prstGeom prst="rect">
            <a:avLst/>
          </a:prstGeom>
          <a:noFill/>
          <a:ln>
            <a:solidFill>
              <a:schemeClr val="bg2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>
                <a:effectLst/>
              </a:rPr>
              <a:t>DDL (Data Definition Language) and DML (Data Manipulation Language) in RDBMS</a:t>
            </a:r>
          </a:p>
          <a:p>
            <a:r>
              <a:rPr lang="en-US" sz="1800" dirty="0">
                <a:effectLst/>
              </a:rPr>
              <a:t>SQL commands in relational databases are categorized into </a:t>
            </a:r>
            <a:r>
              <a:rPr lang="en-US" sz="1800" dirty="0"/>
              <a:t>different types. DDL and DML are two fundamental categories that serve different purposes.</a:t>
            </a:r>
            <a:endParaRPr lang="en-US" sz="1800" dirty="0"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F4E90E-073F-E098-312C-7130EB10D71B}"/>
              </a:ext>
            </a:extLst>
          </p:cNvPr>
          <p:cNvSpPr txBox="1"/>
          <p:nvPr/>
        </p:nvSpPr>
        <p:spPr>
          <a:xfrm>
            <a:off x="523807" y="2049744"/>
            <a:ext cx="6092790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>
                <a:effectLst/>
              </a:rPr>
              <a:t>DDL (Data Definition Language)</a:t>
            </a:r>
          </a:p>
          <a:p>
            <a:pPr>
              <a:buNone/>
            </a:pPr>
            <a:r>
              <a:rPr lang="en-US" sz="1600" dirty="0">
                <a:effectLst/>
              </a:rPr>
              <a:t>DDL commands are used to </a:t>
            </a:r>
            <a:r>
              <a:rPr lang="en-US" sz="1600" b="1" dirty="0">
                <a:effectLst/>
              </a:rPr>
              <a:t>define and modify the database structure</a:t>
            </a:r>
            <a:r>
              <a:rPr lang="en-US" sz="1600" dirty="0">
                <a:effectLst/>
              </a:rPr>
              <a:t>. They deal with the schema, tables, indexes, and other database objects.</a:t>
            </a:r>
          </a:p>
          <a:p>
            <a:pPr>
              <a:buNone/>
            </a:pPr>
            <a:r>
              <a:rPr lang="en-US" sz="1600" b="1" dirty="0">
                <a:effectLst/>
              </a:rPr>
              <a:t>Key Characteristics: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effectLst/>
              </a:rPr>
              <a:t>Auto-commit</a:t>
            </a:r>
            <a:r>
              <a:rPr lang="en-US" sz="1600" dirty="0">
                <a:effectLst/>
              </a:rPr>
              <a:t>: Changes are automatically saved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effectLst/>
              </a:rPr>
              <a:t>Structure-focused</a:t>
            </a:r>
            <a:r>
              <a:rPr lang="en-US" sz="1600" dirty="0">
                <a:effectLst/>
              </a:rPr>
              <a:t>: Deals with database schema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effectLst/>
              </a:rPr>
              <a:t>Administrative</a:t>
            </a:r>
            <a:r>
              <a:rPr lang="en-US" sz="1600" dirty="0">
                <a:effectLst/>
              </a:rPr>
              <a:t>: Usually performed by database administrators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effectLst/>
              </a:rPr>
              <a:t>Permanent changes</a:t>
            </a:r>
            <a:r>
              <a:rPr lang="en-US" sz="1600" dirty="0">
                <a:effectLst/>
              </a:rPr>
              <a:t>: Affects the database structure permanently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53365D-DDB5-6081-13F2-DF25BFBA388E}"/>
              </a:ext>
            </a:extLst>
          </p:cNvPr>
          <p:cNvSpPr txBox="1"/>
          <p:nvPr/>
        </p:nvSpPr>
        <p:spPr>
          <a:xfrm>
            <a:off x="6323012" y="2049744"/>
            <a:ext cx="5410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>
                <a:effectLst/>
              </a:rPr>
              <a:t>Main DDL Commands:</a:t>
            </a:r>
          </a:p>
          <a:p>
            <a:pPr>
              <a:buNone/>
            </a:pPr>
            <a:r>
              <a:rPr lang="en-US" sz="1800" b="1" dirty="0">
                <a:effectLst/>
              </a:rPr>
              <a:t>1. CREATE</a:t>
            </a:r>
          </a:p>
          <a:p>
            <a:r>
              <a:rPr lang="en-US" sz="1800" dirty="0">
                <a:effectLst/>
              </a:rPr>
              <a:t>Creates new database objects (tables, indexes, views, etc.)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87FE1C-35B6-C95A-44B5-7DBC6BFBAB43}"/>
              </a:ext>
            </a:extLst>
          </p:cNvPr>
          <p:cNvSpPr txBox="1"/>
          <p:nvPr/>
        </p:nvSpPr>
        <p:spPr>
          <a:xfrm>
            <a:off x="6399212" y="5451901"/>
            <a:ext cx="60927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effectLst/>
              </a:rPr>
              <a:t>2. ALTER</a:t>
            </a:r>
          </a:p>
          <a:p>
            <a:r>
              <a:rPr lang="en-US" sz="1600" dirty="0">
                <a:effectLst/>
              </a:rPr>
              <a:t>Modifies existing database objects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7CBAD7F-6C80-5463-DA1C-994910D66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6447" y="3313350"/>
            <a:ext cx="5175322" cy="1854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145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28E87-2F8C-29F8-40DA-8066FDB8D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A446B72F-ECBA-DC16-FDE9-6A62EB62E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706" y="194386"/>
            <a:ext cx="10360501" cy="660400"/>
          </a:xfrm>
        </p:spPr>
        <p:txBody>
          <a:bodyPr/>
          <a:lstStyle/>
          <a:p>
            <a:pPr algn="ctr"/>
            <a:r>
              <a:rPr lang="en-US" u="sng" dirty="0"/>
              <a:t>DDL / DML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ECA4E2-660B-BA00-391A-D443E578C301}"/>
              </a:ext>
            </a:extLst>
          </p:cNvPr>
          <p:cNvSpPr txBox="1"/>
          <p:nvPr/>
        </p:nvSpPr>
        <p:spPr>
          <a:xfrm>
            <a:off x="379412" y="990600"/>
            <a:ext cx="11506200" cy="830997"/>
          </a:xfrm>
          <a:prstGeom prst="rect">
            <a:avLst/>
          </a:prstGeom>
          <a:noFill/>
          <a:ln>
            <a:solidFill>
              <a:schemeClr val="bg2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/>
              <a:t>DML (Data Manipulation Language)</a:t>
            </a:r>
          </a:p>
          <a:p>
            <a:pPr algn="ctr"/>
            <a:r>
              <a:rPr lang="en-US" sz="1600" dirty="0"/>
              <a:t>DML commands are used to </a:t>
            </a:r>
            <a:r>
              <a:rPr lang="en-US" sz="1600" b="1" dirty="0"/>
              <a:t>manipulate data</a:t>
            </a:r>
            <a:r>
              <a:rPr lang="en-US" sz="1600" dirty="0"/>
              <a:t> within existing database structures. They deal with inserting, updating, deleting, and retrieving data.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1F15E3-4FD1-823D-A5F4-7155FD289D00}"/>
              </a:ext>
            </a:extLst>
          </p:cNvPr>
          <p:cNvSpPr txBox="1"/>
          <p:nvPr/>
        </p:nvSpPr>
        <p:spPr>
          <a:xfrm>
            <a:off x="608012" y="2133600"/>
            <a:ext cx="403860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effectLst/>
              </a:rPr>
              <a:t>Key Characteristics: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</a:rPr>
              <a:t>Transaction-based</a:t>
            </a:r>
            <a:r>
              <a:rPr lang="en-US" sz="1800" dirty="0">
                <a:effectLst/>
              </a:rPr>
              <a:t>: Can be rolled back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</a:rPr>
              <a:t>Data-focused</a:t>
            </a:r>
            <a:r>
              <a:rPr lang="en-US" sz="1800" dirty="0">
                <a:effectLst/>
              </a:rPr>
              <a:t>: Deals with actual data content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</a:rPr>
              <a:t>User-oriented</a:t>
            </a:r>
            <a:r>
              <a:rPr lang="en-US" sz="1800" dirty="0">
                <a:effectLst/>
              </a:rPr>
              <a:t>: Commonly used by application users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</a:rPr>
              <a:t>Conditional changes</a:t>
            </a:r>
            <a:r>
              <a:rPr lang="en-US" sz="1800" dirty="0">
                <a:effectLst/>
              </a:rPr>
              <a:t>: Can be undone before commit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558D5D0-1316-DFE2-6B70-150B27EFF1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3412" y="1957410"/>
            <a:ext cx="5791200" cy="4706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376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86D8C-9A31-35CA-8C12-DA100550A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E03B48B3-4ADE-DD8D-D6D0-3E571C9ED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706" y="194386"/>
            <a:ext cx="10360501" cy="660400"/>
          </a:xfrm>
        </p:spPr>
        <p:txBody>
          <a:bodyPr/>
          <a:lstStyle/>
          <a:p>
            <a:pPr algn="ctr"/>
            <a:r>
              <a:rPr lang="en-US" u="sng" dirty="0"/>
              <a:t>DDL / DML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C69395-0260-6CE0-6CF6-7EC0DAA1A9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12" y="990600"/>
            <a:ext cx="5943600" cy="4038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AA47EEA-7E64-4CC2-6061-4AE96EDE5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5412" y="990600"/>
            <a:ext cx="5562600" cy="4986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695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Red Radial 16x9">
  <a:themeElements>
    <a:clrScheme name="RedRadial_16x9">
      <a:dk1>
        <a:sysClr val="windowText" lastClr="000000"/>
      </a:dk1>
      <a:lt1>
        <a:sysClr val="window" lastClr="FFFFFF"/>
      </a:lt1>
      <a:dk2>
        <a:srgbClr val="960000"/>
      </a:dk2>
      <a:lt2>
        <a:srgbClr val="BCB49E"/>
      </a:lt2>
      <a:accent1>
        <a:srgbClr val="DDA859"/>
      </a:accent1>
      <a:accent2>
        <a:srgbClr val="968A68"/>
      </a:accent2>
      <a:accent3>
        <a:srgbClr val="D3432B"/>
      </a:accent3>
      <a:accent4>
        <a:srgbClr val="BD9B47"/>
      </a:accent4>
      <a:accent5>
        <a:srgbClr val="618F91"/>
      </a:accent5>
      <a:accent6>
        <a:srgbClr val="DD7323"/>
      </a:accent6>
      <a:hlink>
        <a:srgbClr val="DDA859"/>
      </a:hlink>
      <a:folHlink>
        <a:srgbClr val="968A68"/>
      </a:folHlink>
    </a:clrScheme>
    <a:fontScheme name="Cambria">
      <a:maj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Extreme Shadow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00000"/>
              </a:schemeClr>
            </a:gs>
            <a:gs pos="65000">
              <a:schemeClr val="phClr">
                <a:tint val="100000"/>
                <a:shade val="40000"/>
                <a:satMod val="100000"/>
              </a:schemeClr>
            </a:gs>
            <a:gs pos="100000">
              <a:schemeClr val="phClr">
                <a:shade val="5000"/>
                <a:satMod val="100000"/>
              </a:schemeClr>
            </a:gs>
          </a:gsLst>
          <a:path path="circle">
            <a:fillToRect l="25000" t="25000" r="25000" b="25000"/>
          </a:path>
        </a:gradFill>
        <a:gradFill flip="none" rotWithShape="1">
          <a:gsLst>
            <a:gs pos="17000">
              <a:schemeClr val="phClr"/>
            </a:gs>
            <a:gs pos="71000">
              <a:schemeClr val="phClr">
                <a:tint val="100000"/>
                <a:shade val="40000"/>
                <a:satMod val="100000"/>
              </a:schemeClr>
            </a:gs>
            <a:gs pos="100000">
              <a:schemeClr val="phClr">
                <a:shade val="5000"/>
                <a:satMod val="1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>
    <a:spDef>
      <a:spPr>
        <a:ln>
          <a:miter lim="800000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lnSpc>
            <a:spcPct val="90000"/>
          </a:lnSpc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804895.potx" id="{50B211C3-0308-4A23-B662-EA2AE6F4DF70}" vid="{1581190B-70AB-4E5E-B6DA-D42AF0078983}"/>
    </a:ext>
  </a:extLst>
</a:theme>
</file>

<file path=ppt/theme/theme2.xml><?xml version="1.0" encoding="utf-8"?>
<a:theme xmlns:a="http://schemas.openxmlformats.org/drawingml/2006/main" name="Office Theme">
  <a:themeElements>
    <a:clrScheme name="RedRadial_16x9">
      <a:dk1>
        <a:sysClr val="windowText" lastClr="000000"/>
      </a:dk1>
      <a:lt1>
        <a:sysClr val="window" lastClr="FFFFFF"/>
      </a:lt1>
      <a:dk2>
        <a:srgbClr val="960000"/>
      </a:dk2>
      <a:lt2>
        <a:srgbClr val="BCB49E"/>
      </a:lt2>
      <a:accent1>
        <a:srgbClr val="DDA859"/>
      </a:accent1>
      <a:accent2>
        <a:srgbClr val="968A68"/>
      </a:accent2>
      <a:accent3>
        <a:srgbClr val="D3432B"/>
      </a:accent3>
      <a:accent4>
        <a:srgbClr val="BD9B47"/>
      </a:accent4>
      <a:accent5>
        <a:srgbClr val="618F91"/>
      </a:accent5>
      <a:accent6>
        <a:srgbClr val="DD7323"/>
      </a:accent6>
      <a:hlink>
        <a:srgbClr val="DDA859"/>
      </a:hlink>
      <a:folHlink>
        <a:srgbClr val="968A68"/>
      </a:folHlink>
    </a:clrScheme>
    <a:fontScheme name="Cambria">
      <a:maj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Extreme Shadow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00000"/>
              </a:schemeClr>
            </a:gs>
            <a:gs pos="65000">
              <a:schemeClr val="phClr">
                <a:tint val="100000"/>
                <a:shade val="40000"/>
                <a:satMod val="100000"/>
              </a:schemeClr>
            </a:gs>
            <a:gs pos="100000">
              <a:schemeClr val="phClr">
                <a:shade val="5000"/>
                <a:satMod val="100000"/>
              </a:schemeClr>
            </a:gs>
          </a:gsLst>
          <a:path path="circle">
            <a:fillToRect l="25000" t="25000" r="25000" b="25000"/>
          </a:path>
        </a:gradFill>
        <a:gradFill flip="none" rotWithShape="1">
          <a:gsLst>
            <a:gs pos="17000">
              <a:schemeClr val="phClr"/>
            </a:gs>
            <a:gs pos="71000">
              <a:schemeClr val="phClr">
                <a:tint val="100000"/>
                <a:shade val="40000"/>
                <a:satMod val="100000"/>
              </a:schemeClr>
            </a:gs>
            <a:gs pos="100000">
              <a:schemeClr val="phClr">
                <a:shade val="5000"/>
                <a:satMod val="1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RedRadial_16x9">
      <a:dk1>
        <a:sysClr val="windowText" lastClr="000000"/>
      </a:dk1>
      <a:lt1>
        <a:sysClr val="window" lastClr="FFFFFF"/>
      </a:lt1>
      <a:dk2>
        <a:srgbClr val="960000"/>
      </a:dk2>
      <a:lt2>
        <a:srgbClr val="BCB49E"/>
      </a:lt2>
      <a:accent1>
        <a:srgbClr val="DDA859"/>
      </a:accent1>
      <a:accent2>
        <a:srgbClr val="968A68"/>
      </a:accent2>
      <a:accent3>
        <a:srgbClr val="D3432B"/>
      </a:accent3>
      <a:accent4>
        <a:srgbClr val="BD9B47"/>
      </a:accent4>
      <a:accent5>
        <a:srgbClr val="618F91"/>
      </a:accent5>
      <a:accent6>
        <a:srgbClr val="DD7323"/>
      </a:accent6>
      <a:hlink>
        <a:srgbClr val="DDA859"/>
      </a:hlink>
      <a:folHlink>
        <a:srgbClr val="968A68"/>
      </a:folHlink>
    </a:clrScheme>
    <a:fontScheme name="Cambria">
      <a:maj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Extreme Shadow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00000"/>
              </a:schemeClr>
            </a:gs>
            <a:gs pos="65000">
              <a:schemeClr val="phClr">
                <a:tint val="100000"/>
                <a:shade val="40000"/>
                <a:satMod val="100000"/>
              </a:schemeClr>
            </a:gs>
            <a:gs pos="100000">
              <a:schemeClr val="phClr">
                <a:shade val="5000"/>
                <a:satMod val="100000"/>
              </a:schemeClr>
            </a:gs>
          </a:gsLst>
          <a:path path="circle">
            <a:fillToRect l="25000" t="25000" r="25000" b="25000"/>
          </a:path>
        </a:gradFill>
        <a:gradFill flip="none" rotWithShape="1">
          <a:gsLst>
            <a:gs pos="17000">
              <a:schemeClr val="phClr"/>
            </a:gs>
            <a:gs pos="71000">
              <a:schemeClr val="phClr">
                <a:tint val="100000"/>
                <a:shade val="40000"/>
                <a:satMod val="100000"/>
              </a:schemeClr>
            </a:gs>
            <a:gs pos="100000">
              <a:schemeClr val="phClr">
                <a:shade val="5000"/>
                <a:satMod val="1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Red radial lines presentation (widescreen)</Template>
  <TotalTime>718</TotalTime>
  <Words>832</Words>
  <Application>Microsoft Office PowerPoint</Application>
  <PresentationFormat>Custom</PresentationFormat>
  <Paragraphs>102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Cambria</vt:lpstr>
      <vt:lpstr>Red Radial 16x9</vt:lpstr>
      <vt:lpstr>Database management system lab.</vt:lpstr>
      <vt:lpstr>Database management</vt:lpstr>
      <vt:lpstr>Relational database</vt:lpstr>
      <vt:lpstr>Relational database</vt:lpstr>
      <vt:lpstr>Non-Relational database</vt:lpstr>
      <vt:lpstr>Query language</vt:lpstr>
      <vt:lpstr>DDL / DML</vt:lpstr>
      <vt:lpstr>DDL / DML</vt:lpstr>
      <vt:lpstr>DDL / DML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Johirul Islam</dc:creator>
  <cp:lastModifiedBy>Johirul Islam</cp:lastModifiedBy>
  <cp:revision>93</cp:revision>
  <dcterms:created xsi:type="dcterms:W3CDTF">2025-07-22T04:21:19Z</dcterms:created>
  <dcterms:modified xsi:type="dcterms:W3CDTF">2025-08-16T14:41:07Z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