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78" r:id="rId4"/>
    <p:sldId id="280" r:id="rId5"/>
    <p:sldId id="281" r:id="rId6"/>
    <p:sldId id="282" r:id="rId7"/>
    <p:sldId id="283" r:id="rId8"/>
    <p:sldId id="285" r:id="rId9"/>
    <p:sldId id="284" r:id="rId10"/>
    <p:sldId id="286" r:id="rId11"/>
    <p:sldId id="287" r:id="rId12"/>
    <p:sldId id="288" r:id="rId13"/>
    <p:sldId id="289" r:id="rId14"/>
    <p:sldId id="290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12" r:id="rId24"/>
    <p:sldId id="279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291" r:id="rId37"/>
    <p:sldId id="329" r:id="rId38"/>
    <p:sldId id="324" r:id="rId39"/>
    <p:sldId id="325" r:id="rId40"/>
    <p:sldId id="326" r:id="rId41"/>
    <p:sldId id="327" r:id="rId42"/>
    <p:sldId id="328" r:id="rId43"/>
    <p:sldId id="300" r:id="rId44"/>
    <p:sldId id="309" r:id="rId45"/>
    <p:sldId id="310" r:id="rId46"/>
    <p:sldId id="311" r:id="rId4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139" d="100"/>
          <a:sy n="139" d="100"/>
        </p:scale>
        <p:origin x="10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03936-BC7F-49E5-81EC-58F348CF1553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061C-0624-49FA-BA36-89A8CB22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1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83944" y="447243"/>
            <a:ext cx="677611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3999" cy="5143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33840" cy="5133340"/>
          </a:xfrm>
          <a:custGeom>
            <a:avLst/>
            <a:gdLst/>
            <a:ahLst/>
            <a:cxnLst/>
            <a:rect l="l" t="t" r="r" b="b"/>
            <a:pathLst>
              <a:path w="9133840" h="5133340">
                <a:moveTo>
                  <a:pt x="0" y="5132831"/>
                </a:moveTo>
                <a:lnTo>
                  <a:pt x="9133332" y="5132831"/>
                </a:lnTo>
                <a:lnTo>
                  <a:pt x="9133332" y="0"/>
                </a:lnTo>
                <a:lnTo>
                  <a:pt x="0" y="0"/>
                </a:lnTo>
                <a:lnTo>
                  <a:pt x="0" y="5132831"/>
                </a:lnTo>
                <a:close/>
              </a:path>
            </a:pathLst>
          </a:custGeom>
          <a:solidFill>
            <a:srgbClr val="212121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87111" y="0"/>
            <a:ext cx="4057015" cy="5143500"/>
          </a:xfrm>
          <a:custGeom>
            <a:avLst/>
            <a:gdLst/>
            <a:ahLst/>
            <a:cxnLst/>
            <a:rect l="l" t="t" r="r" b="b"/>
            <a:pathLst>
              <a:path w="4057015" h="5143500">
                <a:moveTo>
                  <a:pt x="4056887" y="0"/>
                </a:moveTo>
                <a:lnTo>
                  <a:pt x="0" y="0"/>
                </a:lnTo>
                <a:lnTo>
                  <a:pt x="2666298" y="5143498"/>
                </a:lnTo>
                <a:lnTo>
                  <a:pt x="4056887" y="5143498"/>
                </a:lnTo>
                <a:lnTo>
                  <a:pt x="4056887" y="0"/>
                </a:lnTo>
                <a:close/>
              </a:path>
            </a:pathLst>
          </a:custGeom>
          <a:solidFill>
            <a:srgbClr val="FF8600">
              <a:alpha val="854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93691"/>
            <a:ext cx="7754620" cy="749935"/>
          </a:xfrm>
          <a:custGeom>
            <a:avLst/>
            <a:gdLst/>
            <a:ahLst/>
            <a:cxnLst/>
            <a:rect l="l" t="t" r="r" b="b"/>
            <a:pathLst>
              <a:path w="7754620" h="749935">
                <a:moveTo>
                  <a:pt x="7367651" y="0"/>
                </a:moveTo>
                <a:lnTo>
                  <a:pt x="0" y="0"/>
                </a:lnTo>
                <a:lnTo>
                  <a:pt x="0" y="749806"/>
                </a:lnTo>
                <a:lnTo>
                  <a:pt x="7754111" y="749806"/>
                </a:lnTo>
                <a:lnTo>
                  <a:pt x="7367651" y="0"/>
                </a:lnTo>
                <a:close/>
              </a:path>
            </a:pathLst>
          </a:custGeom>
          <a:solidFill>
            <a:srgbClr val="FFFFFF">
              <a:alpha val="1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8700" y="4166615"/>
            <a:ext cx="8115300" cy="227329"/>
          </a:xfrm>
          <a:custGeom>
            <a:avLst/>
            <a:gdLst/>
            <a:ahLst/>
            <a:cxnLst/>
            <a:rect l="l" t="t" r="r" b="b"/>
            <a:pathLst>
              <a:path w="8115300" h="227329">
                <a:moveTo>
                  <a:pt x="8115300" y="0"/>
                </a:moveTo>
                <a:lnTo>
                  <a:pt x="0" y="0"/>
                </a:lnTo>
                <a:lnTo>
                  <a:pt x="117043" y="227076"/>
                </a:lnTo>
                <a:lnTo>
                  <a:pt x="8115300" y="227076"/>
                </a:lnTo>
                <a:lnTo>
                  <a:pt x="8115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258185" cy="5143500"/>
          </a:xfrm>
          <a:custGeom>
            <a:avLst/>
            <a:gdLst/>
            <a:ahLst/>
            <a:cxnLst/>
            <a:rect l="l" t="t" r="r" b="b"/>
            <a:pathLst>
              <a:path w="3258185" h="5143500">
                <a:moveTo>
                  <a:pt x="591569" y="0"/>
                </a:moveTo>
                <a:lnTo>
                  <a:pt x="0" y="0"/>
                </a:lnTo>
                <a:lnTo>
                  <a:pt x="0" y="5143498"/>
                </a:lnTo>
                <a:lnTo>
                  <a:pt x="3258065" y="5143498"/>
                </a:lnTo>
                <a:lnTo>
                  <a:pt x="59156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55344" cy="731520"/>
          </a:xfrm>
          <a:custGeom>
            <a:avLst/>
            <a:gdLst/>
            <a:ahLst/>
            <a:cxnLst/>
            <a:rect l="l" t="t" r="r" b="b"/>
            <a:pathLst>
              <a:path w="855344" h="731520">
                <a:moveTo>
                  <a:pt x="477928" y="0"/>
                </a:moveTo>
                <a:lnTo>
                  <a:pt x="0" y="0"/>
                </a:lnTo>
                <a:lnTo>
                  <a:pt x="0" y="731520"/>
                </a:lnTo>
                <a:lnTo>
                  <a:pt x="854963" y="731520"/>
                </a:lnTo>
                <a:lnTo>
                  <a:pt x="47792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7189" y="0"/>
            <a:ext cx="513715" cy="739140"/>
          </a:xfrm>
          <a:custGeom>
            <a:avLst/>
            <a:gdLst/>
            <a:ahLst/>
            <a:cxnLst/>
            <a:rect l="l" t="t" r="r" b="b"/>
            <a:pathLst>
              <a:path w="513715" h="739140">
                <a:moveTo>
                  <a:pt x="129489" y="0"/>
                </a:moveTo>
                <a:lnTo>
                  <a:pt x="0" y="0"/>
                </a:lnTo>
                <a:lnTo>
                  <a:pt x="383921" y="739139"/>
                </a:lnTo>
                <a:lnTo>
                  <a:pt x="513410" y="739139"/>
                </a:lnTo>
                <a:lnTo>
                  <a:pt x="129489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43712" y="272795"/>
            <a:ext cx="7505700" cy="749935"/>
          </a:xfrm>
          <a:custGeom>
            <a:avLst/>
            <a:gdLst/>
            <a:ahLst/>
            <a:cxnLst/>
            <a:rect l="l" t="t" r="r" b="b"/>
            <a:pathLst>
              <a:path w="7505700" h="749935">
                <a:moveTo>
                  <a:pt x="7119238" y="0"/>
                </a:moveTo>
                <a:lnTo>
                  <a:pt x="0" y="0"/>
                </a:lnTo>
                <a:lnTo>
                  <a:pt x="386460" y="749807"/>
                </a:lnTo>
                <a:lnTo>
                  <a:pt x="7505700" y="749807"/>
                </a:lnTo>
                <a:lnTo>
                  <a:pt x="711923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272795"/>
            <a:ext cx="8153400" cy="4871085"/>
          </a:xfrm>
          <a:custGeom>
            <a:avLst/>
            <a:gdLst/>
            <a:ahLst/>
            <a:cxnLst/>
            <a:rect l="l" t="t" r="r" b="b"/>
            <a:pathLst>
              <a:path w="8153400" h="4871085">
                <a:moveTo>
                  <a:pt x="8153400" y="4652772"/>
                </a:moveTo>
                <a:lnTo>
                  <a:pt x="0" y="4652772"/>
                </a:lnTo>
                <a:lnTo>
                  <a:pt x="112318" y="4870704"/>
                </a:lnTo>
                <a:lnTo>
                  <a:pt x="8153400" y="4870704"/>
                </a:lnTo>
                <a:lnTo>
                  <a:pt x="8153400" y="4652772"/>
                </a:lnTo>
                <a:close/>
              </a:path>
              <a:path w="8153400" h="4871085">
                <a:moveTo>
                  <a:pt x="8153400" y="0"/>
                </a:moveTo>
                <a:lnTo>
                  <a:pt x="6871716" y="0"/>
                </a:lnTo>
                <a:lnTo>
                  <a:pt x="7258177" y="749808"/>
                </a:lnTo>
                <a:lnTo>
                  <a:pt x="8153400" y="749808"/>
                </a:lnTo>
                <a:lnTo>
                  <a:pt x="8153400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951" y="1676110"/>
            <a:ext cx="3813175" cy="21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0711" y="4972094"/>
            <a:ext cx="3164840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 Imam </a:t>
            </a:r>
            <a:r>
              <a:rPr spc="-5" dirty="0"/>
              <a:t>Hossain, Lecturer, Dept. of CSE,</a:t>
            </a:r>
            <a:r>
              <a:rPr spc="-85" dirty="0"/>
              <a:t> </a:t>
            </a:r>
            <a:r>
              <a:rPr spc="-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mok.com/blog/xampp-installation-on-windows/" TargetMode="Externa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MySQL/mysql_constraints.asp" TargetMode="Externa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361950"/>
            <a:ext cx="4953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0" dirty="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sz="3600" spc="-254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3600" spc="-4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581150"/>
            <a:ext cx="7983220" cy="5687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US" sz="3200" spc="-229" dirty="0">
                <a:solidFill>
                  <a:srgbClr val="FF6600"/>
                </a:solidFill>
                <a:latin typeface="Trebuchet MS"/>
                <a:cs typeface="Trebuchet MS"/>
              </a:rPr>
              <a:t>Relational Model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DD79F8-DBBA-4867-DD54-F9436BCA925A}"/>
              </a:ext>
            </a:extLst>
          </p:cNvPr>
          <p:cNvSpPr txBox="1"/>
          <p:nvPr/>
        </p:nvSpPr>
        <p:spPr>
          <a:xfrm>
            <a:off x="939800" y="2343150"/>
            <a:ext cx="4953000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  <a:latin typeface="Trebuchet MS"/>
                <a:cs typeface="Trebuchet MS"/>
              </a:rPr>
              <a:t>Mahmudul Hasan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  <a:latin typeface="Trebuchet MS"/>
                <a:cs typeface="Trebuchet MS"/>
              </a:rPr>
              <a:t>Lecturer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  <a:latin typeface="Trebuchet MS"/>
                <a:cs typeface="Trebuchet MS"/>
              </a:rPr>
              <a:t>Dept of CSE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  <a:latin typeface="Trebuchet MS"/>
                <a:cs typeface="Trebuchet MS"/>
              </a:rPr>
              <a:t>UIU</a:t>
            </a:r>
            <a:endParaRPr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42475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Relational Model Concepts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9E6DB-516D-859B-A34D-77927D65350E}"/>
              </a:ext>
            </a:extLst>
          </p:cNvPr>
          <p:cNvSpPr txBox="1"/>
          <p:nvPr/>
        </p:nvSpPr>
        <p:spPr>
          <a:xfrm>
            <a:off x="838200" y="1276350"/>
            <a:ext cx="7696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relational model represents the database as a collection of </a:t>
            </a:r>
            <a:r>
              <a:rPr lang="en-US" b="1" dirty="0"/>
              <a:t>relations/tables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When a relation is thought of as a table of values, each row in the table represents a collection of related data values. A row represents a real-world entity or relationship.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table name and column names are used to help to interpret the meaning of the values in each 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1B0F-BC65-8098-D80E-30379863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56538D-21FD-B425-2BB3-3E884B5E4F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42475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Relational Model Concepts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031C77D-0103-FF6F-04FA-D7701ABA299E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5784B-096B-204A-72AC-1A33CAC0B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95" y="2930560"/>
            <a:ext cx="7405188" cy="2201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1FFB7-3973-82C7-C0F2-73E319FF96C1}"/>
              </a:ext>
            </a:extLst>
          </p:cNvPr>
          <p:cNvSpPr txBox="1"/>
          <p:nvPr/>
        </p:nvSpPr>
        <p:spPr>
          <a:xfrm>
            <a:off x="1022195" y="1131540"/>
            <a:ext cx="7696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formal relational model terminology,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row is called a tuple,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column header is called an attribute,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table is called a relation. </a:t>
            </a:r>
          </a:p>
          <a:p>
            <a:r>
              <a:rPr lang="en-US" dirty="0"/>
              <a:t>The data type describing the types of values that can appear in each column is represented by a </a:t>
            </a:r>
            <a:r>
              <a:rPr lang="en-US" b="1" dirty="0"/>
              <a:t>domain</a:t>
            </a:r>
            <a:r>
              <a:rPr lang="en-US" dirty="0"/>
              <a:t> of possible values.</a:t>
            </a:r>
          </a:p>
        </p:txBody>
      </p:sp>
    </p:spTree>
    <p:extLst>
      <p:ext uri="{BB962C8B-B14F-4D97-AF65-F5344CB8AC3E}">
        <p14:creationId xmlns:p14="http://schemas.microsoft.com/office/powerpoint/2010/main" val="59901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5EFC-6028-D814-FDD7-2A4E7A38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917365-7A72-F289-B4F9-59076B448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Domains, Attributes, Tuples, and Relations 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5D457C-F567-66FB-CB12-24F398D830C0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941ED-4F66-B60E-29E9-51BE63CD3295}"/>
              </a:ext>
            </a:extLst>
          </p:cNvPr>
          <p:cNvSpPr txBox="1"/>
          <p:nvPr/>
        </p:nvSpPr>
        <p:spPr>
          <a:xfrm>
            <a:off x="990600" y="1047750"/>
            <a:ext cx="7696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The set of allowed values for each attribute is called the </a:t>
            </a:r>
            <a:r>
              <a:rPr lang="en-US" altLang="en-US" sz="1800" b="1" dirty="0">
                <a:solidFill>
                  <a:srgbClr val="002060"/>
                </a:solidFill>
              </a:rPr>
              <a:t>domain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  <a:r>
              <a:rPr lang="en-US" altLang="en-US" sz="1800" dirty="0"/>
              <a:t>of the attribute.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      Some examples of domains follow: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BD_phone_numbers</a:t>
            </a:r>
            <a:r>
              <a:rPr lang="en-US" altLang="en-US" dirty="0"/>
              <a:t>: The set of 11-difgit phone numbers valid in BD.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dirty="0" err="1"/>
              <a:t>Employee_ages</a:t>
            </a:r>
            <a:r>
              <a:rPr lang="en-US" altLang="en-US" dirty="0"/>
              <a:t>: Possible ages of employees in a company; each must be an integer value between 15 and 80.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Attribute values are (normally) required to be </a:t>
            </a:r>
            <a:r>
              <a:rPr lang="en-US" altLang="en-US" sz="1800" b="1" dirty="0">
                <a:solidFill>
                  <a:srgbClr val="002060"/>
                </a:solidFill>
              </a:rPr>
              <a:t>atomic</a:t>
            </a:r>
            <a:r>
              <a:rPr lang="en-US" altLang="en-US" sz="1800" dirty="0"/>
              <a:t>; that is, single and indivisible.</a:t>
            </a:r>
            <a:r>
              <a:rPr lang="en-US" altLang="en-US" dirty="0"/>
              <a:t> E.g.</a:t>
            </a:r>
            <a:r>
              <a:rPr lang="en-US" dirty="0">
                <a:solidFill>
                  <a:schemeClr val="tx2"/>
                </a:solidFill>
              </a:rPr>
              <a:t> the value of an attribute can be an account number but cannot be a set  of account numbers.  Full name attribute can be split into first name , last name to ensure    atomicity.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/>
              <a:t>The special value</a:t>
            </a:r>
            <a:r>
              <a:rPr lang="en-US" altLang="en-US" sz="1800" b="1" dirty="0">
                <a:solidFill>
                  <a:schemeClr val="tx2"/>
                </a:solidFill>
              </a:rPr>
              <a:t> </a:t>
            </a:r>
            <a:r>
              <a:rPr lang="en-US" altLang="en-US" sz="1800" b="1" i="1" dirty="0">
                <a:solidFill>
                  <a:srgbClr val="000000"/>
                </a:solidFill>
              </a:rPr>
              <a:t>null</a:t>
            </a:r>
            <a:r>
              <a:rPr lang="en-US" altLang="en-US" sz="1800" dirty="0"/>
              <a:t>  is a member of every domain. Indicated that the value is “unknown”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96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A49E-DAE8-2FA5-B77C-E59DB66B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798936-8F51-5F2D-CD14-585F69FE7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Relations are Unordered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16D8AA-142A-6B48-217E-F6CAAF0FC074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C5FDB-3CD5-6B5E-3C2D-73E703106F15}"/>
              </a:ext>
            </a:extLst>
          </p:cNvPr>
          <p:cNvSpPr txBox="1"/>
          <p:nvPr/>
        </p:nvSpPr>
        <p:spPr>
          <a:xfrm>
            <a:off x="1174650" y="1200150"/>
            <a:ext cx="3321149" cy="194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kumimoji="1" lang="en-US" sz="1800" dirty="0">
                <a:solidFill>
                  <a:schemeClr val="tx2"/>
                </a:solidFill>
              </a:rPr>
              <a:t>Order of tuples is irrelevant (tuples may be stored in an arbitrary order)</a:t>
            </a:r>
          </a:p>
          <a:p>
            <a:pPr marL="285750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kumimoji="1" lang="en-US" sz="1800" dirty="0">
                <a:solidFill>
                  <a:schemeClr val="tx2"/>
                </a:solidFill>
              </a:rPr>
              <a:t>Example: instructor  relation with unordered tuples</a:t>
            </a:r>
          </a:p>
          <a:p>
            <a:pPr algn="just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353538-94AE-8D78-255E-EB8DC51EAD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4336923" y="1179241"/>
            <a:ext cx="4121597" cy="325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B19B-945F-08DB-E82C-49135A09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7E8F21-D84E-5976-38CC-9C7113EE0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 Schema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F5DBA93-A124-3DC6-9EB7-09566B68765F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6FF64-22D2-B2F8-5582-C1D0910DF4B2}"/>
              </a:ext>
            </a:extLst>
          </p:cNvPr>
          <p:cNvSpPr txBox="1"/>
          <p:nvPr/>
        </p:nvSpPr>
        <p:spPr>
          <a:xfrm>
            <a:off x="762000" y="1047750"/>
            <a:ext cx="8153400" cy="354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A relation schema R,</a:t>
            </a:r>
          </a:p>
          <a:p>
            <a:pPr marL="742950" lvl="1" indent="-285750" algn="just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i="1" dirty="0">
                <a:ea typeface="ＭＳ Ｐゴシック" panose="020B0600070205080204" pitchFamily="34" charset="-128"/>
              </a:rPr>
              <a:t>relation schema where 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i="1" dirty="0">
                <a:ea typeface="ＭＳ Ｐゴシック" panose="020B0600070205080204" pitchFamily="34" charset="-128"/>
              </a:rPr>
              <a:t>attributes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ea typeface="ＭＳ Ｐゴシック" panose="020B0600070205080204" pitchFamily="34" charset="-128"/>
              </a:rPr>
              <a:t>Example: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i="1" dirty="0">
                <a:ea typeface="ＭＳ Ｐゴシック" panose="020B0600070205080204" pitchFamily="34" charset="-128"/>
              </a:rPr>
              <a:t>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i="1" dirty="0">
                <a:ea typeface="ＭＳ Ｐゴシック" panose="020B0600070205080204" pitchFamily="34" charset="-128"/>
              </a:rPr>
              <a:t>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i="1" dirty="0" err="1"/>
              <a:t>Customer_schema</a:t>
            </a:r>
            <a:r>
              <a:rPr lang="en-US" dirty="0"/>
              <a:t> = (</a:t>
            </a:r>
            <a:r>
              <a:rPr lang="en-US" i="1" dirty="0" err="1"/>
              <a:t>customer_name</a:t>
            </a:r>
            <a:r>
              <a:rPr lang="en-US" i="1" dirty="0"/>
              <a:t>, </a:t>
            </a:r>
            <a:r>
              <a:rPr lang="en-US" i="1" dirty="0" err="1"/>
              <a:t>customer_street</a:t>
            </a:r>
            <a:r>
              <a:rPr lang="en-US" i="1" dirty="0"/>
              <a:t>, </a:t>
            </a:r>
            <a:r>
              <a:rPr lang="en-US" i="1" dirty="0" err="1"/>
              <a:t>customer_city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alt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 relation instance </a:t>
            </a:r>
            <a:r>
              <a:rPr lang="en-US" altLang="en-US" i="1" dirty="0"/>
              <a:t>r</a:t>
            </a:r>
            <a:r>
              <a:rPr lang="en-US" altLang="en-US" dirty="0"/>
              <a:t> defined over schema </a:t>
            </a:r>
            <a:r>
              <a:rPr lang="en-US" altLang="en-US" i="1" dirty="0"/>
              <a:t>R</a:t>
            </a:r>
            <a:r>
              <a:rPr lang="en-US" altLang="en-US" dirty="0"/>
              <a:t> is denoted  by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Example: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i="1" dirty="0">
                <a:solidFill>
                  <a:schemeClr val="tx2"/>
                </a:solidFill>
              </a:rPr>
              <a:t>customer (</a:t>
            </a:r>
            <a:r>
              <a:rPr lang="en-US" i="1" dirty="0" err="1">
                <a:solidFill>
                  <a:schemeClr val="tx2"/>
                </a:solidFill>
              </a:rPr>
              <a:t>Customer_schema</a:t>
            </a:r>
            <a:r>
              <a:rPr lang="en-US" i="1" dirty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/>
              <a:t>The current values of a relation are specified by a table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An element </a:t>
            </a:r>
            <a:r>
              <a:rPr lang="en-US" altLang="en-US" b="1" i="1" dirty="0">
                <a:solidFill>
                  <a:srgbClr val="000099"/>
                </a:solidFill>
              </a:rPr>
              <a:t>t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of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relation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b="1" i="1" dirty="0">
                <a:solidFill>
                  <a:srgbClr val="000099"/>
                </a:solidFill>
              </a:rPr>
              <a:t>r</a:t>
            </a:r>
            <a:r>
              <a:rPr lang="en-US" altLang="en-US" dirty="0"/>
              <a:t> is called a  </a:t>
            </a:r>
            <a:r>
              <a:rPr lang="en-US" altLang="en-US" i="1" dirty="0"/>
              <a:t>tuple</a:t>
            </a:r>
            <a:r>
              <a:rPr lang="en-US" altLang="en-US" dirty="0"/>
              <a:t> and is represented by a </a:t>
            </a:r>
            <a:r>
              <a:rPr lang="en-US" altLang="en-US" i="1" dirty="0"/>
              <a:t>row </a:t>
            </a:r>
            <a:r>
              <a:rPr lang="en-US" altLang="en-US" dirty="0"/>
              <a:t>in a table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73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8728-D97D-4576-4A9C-4D57C145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96F368-B264-0D8D-E49F-185DA343D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CA3F4DA-0D38-3229-6BB1-6C5C5C8B5BA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49EB2-5931-403F-3615-67C2E8DED9BD}"/>
              </a:ext>
            </a:extLst>
          </p:cNvPr>
          <p:cNvSpPr txBox="1"/>
          <p:nvPr/>
        </p:nvSpPr>
        <p:spPr>
          <a:xfrm>
            <a:off x="838200" y="1123950"/>
            <a:ext cx="8534400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A database consists of multiple relations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Information about an enterprise is broken up into parts, with  each relation storing one part of the information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	account:      stores information about accounts</a:t>
            </a:r>
            <a:br>
              <a:rPr lang="en-US" dirty="0"/>
            </a:br>
            <a:r>
              <a:rPr lang="en-US" dirty="0"/>
              <a:t>           depositor :   stores information about which customer owns which account </a:t>
            </a:r>
            <a:br>
              <a:rPr lang="en-US" dirty="0"/>
            </a:br>
            <a:r>
              <a:rPr lang="en-US" dirty="0"/>
              <a:t>           customer :   stores information about customers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Storing all information as a single relation such as </a:t>
            </a:r>
            <a:br>
              <a:rPr lang="en-US" dirty="0"/>
            </a:br>
            <a:r>
              <a:rPr lang="en-US" b="1" dirty="0"/>
              <a:t>   bank(</a:t>
            </a:r>
            <a:r>
              <a:rPr lang="en-US" b="1" dirty="0" err="1"/>
              <a:t>account_number</a:t>
            </a:r>
            <a:r>
              <a:rPr lang="en-US" b="1" dirty="0"/>
              <a:t>, balance, </a:t>
            </a:r>
            <a:r>
              <a:rPr lang="en-US" b="1" dirty="0" err="1"/>
              <a:t>customer_name</a:t>
            </a:r>
            <a:r>
              <a:rPr lang="en-US" b="1" dirty="0"/>
              <a:t>, ..) </a:t>
            </a:r>
            <a:r>
              <a:rPr lang="en-US" dirty="0"/>
              <a:t>results in repetition of information  </a:t>
            </a:r>
            <a:r>
              <a:rPr lang="en-US" dirty="0" err="1"/>
              <a:t>e.g.,if</a:t>
            </a:r>
            <a:r>
              <a:rPr lang="en-US" dirty="0"/>
              <a:t> one customer owns several accounts (What gets repeated?) 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the need for null values  e.g., to represent a customer without an account</a:t>
            </a:r>
          </a:p>
          <a:p>
            <a:pPr marL="285750" indent="-285750">
              <a:spcBef>
                <a:spcPct val="35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dirty="0"/>
              <a:t>Normalization theory deals with how to design relational schemas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916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B629-9778-93D7-BEA0-4E2193EF0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E9BC79-3EDD-B576-10E1-6878EBC75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spc="-16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2C016B5-9970-AD59-656F-257F50878378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6390303E-B1F0-5DD9-6A64-7A2CC8837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 t="5304" r="836" b="5583"/>
          <a:stretch>
            <a:fillRect/>
          </a:stretch>
        </p:blipFill>
        <p:spPr bwMode="auto">
          <a:xfrm>
            <a:off x="2057400" y="1171721"/>
            <a:ext cx="5224463" cy="3535363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5186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81B32-A31A-B43F-F751-7B3AF9E9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F3E77C-D48F-5E7A-B8A6-CBF2E7A9A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and Constraints on NULL Values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0558504-46E9-88E6-FABB-D359702A606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4F250-58AF-DAE5-E27C-A9CC62966ACE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DED1D-DB42-CA37-7D6A-DB6A6E401EA4}"/>
              </a:ext>
            </a:extLst>
          </p:cNvPr>
          <p:cNvSpPr txBox="1"/>
          <p:nvPr/>
        </p:nvSpPr>
        <p:spPr>
          <a:xfrm>
            <a:off x="771293" y="1123950"/>
            <a:ext cx="82203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key is a set of one or more attributes that can uniquely identify each row in a table. A key not only identifies the rows of a table but also relates two or more tables.</a:t>
            </a:r>
          </a:p>
          <a:p>
            <a:endParaRPr lang="en-US" dirty="0"/>
          </a:p>
          <a:p>
            <a:r>
              <a:rPr lang="en-US" dirty="0"/>
              <a:t>Different Types of Keys:</a:t>
            </a:r>
          </a:p>
          <a:p>
            <a:r>
              <a:rPr lang="en-US" dirty="0"/>
              <a:t>1) Super Key</a:t>
            </a:r>
          </a:p>
          <a:p>
            <a:r>
              <a:rPr lang="en-US" dirty="0"/>
              <a:t>2) Candidate Key</a:t>
            </a:r>
          </a:p>
          <a:p>
            <a:r>
              <a:rPr lang="en-US" dirty="0"/>
              <a:t>3) Primary Key</a:t>
            </a:r>
          </a:p>
          <a:p>
            <a:r>
              <a:rPr lang="en-US" dirty="0"/>
              <a:t>4) Foreign Key</a:t>
            </a:r>
          </a:p>
          <a:p>
            <a:r>
              <a:rPr lang="en-US" dirty="0"/>
              <a:t>5) Secondary Key/Alternate Key</a:t>
            </a:r>
          </a:p>
          <a:p>
            <a:r>
              <a:rPr lang="en-US" dirty="0"/>
              <a:t>6) Unique Key</a:t>
            </a:r>
          </a:p>
          <a:p>
            <a:r>
              <a:rPr lang="en-US" dirty="0"/>
              <a:t>7) Composite Key</a:t>
            </a:r>
          </a:p>
          <a:p>
            <a:r>
              <a:rPr lang="en-US" dirty="0"/>
              <a:t>8) Surrogate Key</a:t>
            </a:r>
          </a:p>
          <a:p>
            <a:r>
              <a:rPr lang="en-US" dirty="0"/>
              <a:t>9) Partial Key</a:t>
            </a:r>
          </a:p>
        </p:txBody>
      </p:sp>
    </p:spTree>
    <p:extLst>
      <p:ext uri="{BB962C8B-B14F-4D97-AF65-F5344CB8AC3E}">
        <p14:creationId xmlns:p14="http://schemas.microsoft.com/office/powerpoint/2010/main" val="162111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7CEF-6209-4537-1FD2-72A2C4A8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C1CE48-4071-DBC0-F8F3-491929261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Super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267897-DE52-1A45-8B99-2AD3344CE061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6F76C-7946-F7BE-A2C6-E4B255AD6289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4A375-8852-3EC7-5AE1-A5C56DC12506}"/>
              </a:ext>
            </a:extLst>
          </p:cNvPr>
          <p:cNvSpPr txBox="1"/>
          <p:nvPr/>
        </p:nvSpPr>
        <p:spPr>
          <a:xfrm>
            <a:off x="771293" y="1123950"/>
            <a:ext cx="8220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i="1" dirty="0">
                <a:sym typeface="Symbol" panose="05050102010706020507" pitchFamily="18" charset="2"/>
              </a:rPr>
              <a:t>K </a:t>
            </a:r>
            <a:r>
              <a:rPr lang="en-US" altLang="en-US" sz="1800" dirty="0">
                <a:sym typeface="Symbol" panose="05050102010706020507" pitchFamily="18" charset="2"/>
              </a:rPr>
              <a:t>is a </a:t>
            </a:r>
            <a:r>
              <a:rPr lang="en-US" altLang="en-US" sz="18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8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of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 if values for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800" i="1" dirty="0">
                <a:sym typeface="Symbol" panose="05050102010706020507" pitchFamily="18" charset="2"/>
              </a:rPr>
              <a:t>r(R)</a:t>
            </a:r>
            <a:r>
              <a:rPr lang="en-US" altLang="en-US" sz="1800" dirty="0">
                <a:sym typeface="Symbol" panose="05050102010706020507" pitchFamily="18" charset="2"/>
              </a:rPr>
              <a:t> 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DF29B-1B07-703C-EF29-B02E0A5F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173196"/>
            <a:ext cx="5612425" cy="23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5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0E68-E2D1-9747-3530-283E85DC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8CC66B-C47E-37BC-A64C-C27FBF9D3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Super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DFC3E52-C555-B09A-2F20-BED5AA39E4E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01C39-276D-331F-AF6D-F95A5DD1745A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C873A-7287-DE0E-76E3-D4AEF3611815}"/>
              </a:ext>
            </a:extLst>
          </p:cNvPr>
          <p:cNvSpPr txBox="1"/>
          <p:nvPr/>
        </p:nvSpPr>
        <p:spPr>
          <a:xfrm>
            <a:off x="771293" y="1123950"/>
            <a:ext cx="8220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i="1" dirty="0">
                <a:sym typeface="Symbol" panose="05050102010706020507" pitchFamily="18" charset="2"/>
              </a:rPr>
              <a:t>K </a:t>
            </a:r>
            <a:r>
              <a:rPr lang="en-US" altLang="en-US" sz="1800" dirty="0">
                <a:sym typeface="Symbol" panose="05050102010706020507" pitchFamily="18" charset="2"/>
              </a:rPr>
              <a:t>is a </a:t>
            </a:r>
            <a:r>
              <a:rPr lang="en-US" altLang="en-US" sz="18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8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of </a:t>
            </a:r>
            <a:r>
              <a:rPr lang="en-US" altLang="en-US" sz="1800" i="1" dirty="0">
                <a:sym typeface="Symbol" panose="05050102010706020507" pitchFamily="18" charset="2"/>
              </a:rPr>
              <a:t>R</a:t>
            </a:r>
            <a:r>
              <a:rPr lang="en-US" altLang="en-US" sz="1800" dirty="0">
                <a:sym typeface="Symbol" panose="05050102010706020507" pitchFamily="18" charset="2"/>
              </a:rPr>
              <a:t> if values for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800" i="1" dirty="0">
                <a:sym typeface="Symbol" panose="05050102010706020507" pitchFamily="18" charset="2"/>
              </a:rPr>
              <a:t>r(R)</a:t>
            </a:r>
            <a:r>
              <a:rPr lang="en-US" altLang="en-US" sz="1800" dirty="0">
                <a:sym typeface="Symbol" panose="05050102010706020507" pitchFamily="18" charset="2"/>
              </a:rPr>
              <a:t> 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1C0FB4-7279-8459-5449-4A974EC35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44" y="1837083"/>
            <a:ext cx="7509897" cy="280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846E-F78A-9ACE-65FA-50CC2693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0814F5-FABE-D826-3BE8-D836F811F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Candidate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DB8ABC4-9039-23FC-BA3A-8E27492C07D3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D7D1E-50C1-8EC1-8E66-FCDE7F3BB3AF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3D0B1-B3A4-75FB-D71B-273D55B87E56}"/>
              </a:ext>
            </a:extLst>
          </p:cNvPr>
          <p:cNvSpPr txBox="1"/>
          <p:nvPr/>
        </p:nvSpPr>
        <p:spPr>
          <a:xfrm>
            <a:off x="1143000" y="1209848"/>
            <a:ext cx="8220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1800" dirty="0" err="1">
                <a:sym typeface="Symbol" panose="05050102010706020507" pitchFamily="18" charset="2"/>
              </a:rPr>
              <a:t>Superkey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is a </a:t>
            </a:r>
            <a:r>
              <a:rPr lang="en-US" altLang="en-US" sz="18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800" dirty="0">
                <a:sym typeface="Symbol" panose="05050102010706020507" pitchFamily="18" charset="2"/>
              </a:rPr>
              <a:t> if </a:t>
            </a:r>
            <a:r>
              <a:rPr lang="en-US" altLang="en-US" sz="1800" i="1" dirty="0"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ym typeface="Symbol" panose="05050102010706020507" pitchFamily="18" charset="2"/>
              </a:rPr>
              <a:t> is minimal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3947E3-7660-236A-2B9F-D8D8A4C5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88595"/>
            <a:ext cx="2320953" cy="137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2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272D-9EF3-3590-EEE4-190B0D0C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E541B2-2C29-1767-8244-DDCCBF5D7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Primary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728C11C-9A20-8985-08CF-7605A8D5DAFE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0BE18-FBF4-00B8-0214-FC5EB4EF57DC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33531-EDD3-9931-1AEA-73BDF3CC3A37}"/>
              </a:ext>
            </a:extLst>
          </p:cNvPr>
          <p:cNvSpPr txBox="1"/>
          <p:nvPr/>
        </p:nvSpPr>
        <p:spPr>
          <a:xfrm>
            <a:off x="1066800" y="1210741"/>
            <a:ext cx="7391400" cy="315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sym typeface="Symbol" panose="05050102010706020507" pitchFamily="18" charset="2"/>
              </a:rPr>
              <a:t>W</a:t>
            </a:r>
            <a:r>
              <a:rPr lang="en-US" altLang="en-US" sz="1700" dirty="0">
                <a:sym typeface="Symbol" panose="05050102010706020507" pitchFamily="18" charset="2"/>
              </a:rPr>
              <a:t>hich one?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>
                <a:sym typeface="Symbol" panose="05050102010706020507" pitchFamily="18" charset="2"/>
              </a:rPr>
              <a:t>Should choose an attribute whose value never, or very rarely, changes.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altLang="en-US" sz="1700" dirty="0">
                <a:sym typeface="Symbol" panose="05050102010706020507" pitchFamily="18" charset="2"/>
              </a:rPr>
              <a:t>E.g. email address is unique, but may change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altLang="en-US" sz="1700" dirty="0">
              <a:sym typeface="Symbol" panose="05050102010706020507" pitchFamily="18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The main difference between the primary key and the candidate key </a:t>
            </a:r>
            <a:r>
              <a:rPr lang="en-US" sz="1600"/>
              <a:t>is that </a:t>
            </a:r>
            <a:r>
              <a:rPr lang="en-US" sz="1600" dirty="0"/>
              <a:t>primary key does not contain NULL values. </a:t>
            </a:r>
          </a:p>
          <a:p>
            <a:pPr>
              <a:lnSpc>
                <a:spcPct val="120000"/>
              </a:lnSpc>
            </a:pP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600" dirty="0"/>
              <a:t>✓ Primary Key must be UNIQUE and NOT NULL.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7098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D86C-1014-BF12-B9B3-1D9E7A0D3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8B7787-EF20-40E2-AACC-B63403DA7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Foreign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986A76-C9E7-46E5-054D-A95270CAFEE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F3403-7EEA-4EFB-7DCF-BFD89B62DF3E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DDFB8-5401-DAE3-A554-AA7C207A35F2}"/>
              </a:ext>
            </a:extLst>
          </p:cNvPr>
          <p:cNvSpPr txBox="1"/>
          <p:nvPr/>
        </p:nvSpPr>
        <p:spPr>
          <a:xfrm>
            <a:off x="1066800" y="1210741"/>
            <a:ext cx="7391400" cy="188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 foreign key is a set of attributes in a table that refers to the primary key of another table.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US" altLang="en-US" sz="1700" dirty="0">
              <a:sym typeface="Symbol" panose="05050102010706020507" pitchFamily="18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Only values occurring in the primary key attribute of the referenced relation may occur in the foreign key attribute of the referencing relation.</a:t>
            </a:r>
          </a:p>
          <a:p>
            <a:pPr lvl="1">
              <a:lnSpc>
                <a:spcPct val="120000"/>
              </a:lnSpc>
            </a:pPr>
            <a:endParaRPr lang="en-US" altLang="en-US" sz="1700" dirty="0">
              <a:sym typeface="Symbol" panose="05050102010706020507" pitchFamily="18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6ECF3-23CA-F8ED-C8A1-5E061FFA1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52750"/>
            <a:ext cx="6552199" cy="15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57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1BF4-F244-A18D-3B6C-341E108F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1FE8DB-693D-32F0-544E-B5521EFFE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Unique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E40BE48-0E5F-5098-75AA-3A6A5861E99C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DAAE6-FAC5-F790-650A-F295973C4998}"/>
              </a:ext>
            </a:extLst>
          </p:cNvPr>
          <p:cNvSpPr txBox="1"/>
          <p:nvPr/>
        </p:nvSpPr>
        <p:spPr>
          <a:xfrm>
            <a:off x="685800" y="971550"/>
            <a:ext cx="8534400" cy="2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sz="1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7E417-9A08-654F-06F4-5EDBF8636F2A}"/>
              </a:ext>
            </a:extLst>
          </p:cNvPr>
          <p:cNvSpPr txBox="1"/>
          <p:nvPr/>
        </p:nvSpPr>
        <p:spPr>
          <a:xfrm>
            <a:off x="1066800" y="1091485"/>
            <a:ext cx="7391400" cy="339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Unique Key is used to prevent duplicate values in a column.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primary key cannot accept NULL values; this makes Primary Key different from unique Key, since Unique Key allows one value as NULL value.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A table can only have a single Primary Key, whereas a Unique Key can be more than</a:t>
            </a:r>
          </a:p>
          <a:p>
            <a:pPr>
              <a:lnSpc>
                <a:spcPct val="120000"/>
              </a:lnSpc>
            </a:pPr>
            <a:r>
              <a:rPr lang="en-US" dirty="0"/>
              <a:t>      one if you need it in the table.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Unique Key ensures that data is not duplicated in two rows in the database. A row in the database can have null in case of Unique Key.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/>
              <a:t>You cannot modify a Primary Key, but a Unique Key can be modified.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80907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D837-B9C1-6BDD-F280-45C512EE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02B9EB-92DF-A1D9-99CC-25EED3027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28365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Key Constraints – Composite Key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BDCD603-A6E5-2631-6DA7-0E337AD5E94A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49125-54F8-C21E-B5E3-B95C80411D1D}"/>
              </a:ext>
            </a:extLst>
          </p:cNvPr>
          <p:cNvSpPr txBox="1"/>
          <p:nvPr/>
        </p:nvSpPr>
        <p:spPr>
          <a:xfrm>
            <a:off x="1066800" y="1091485"/>
            <a:ext cx="7391400" cy="66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A primary key having two or more attributes is called composite key. It is a combination of two or more columns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E0D36-3842-31C9-F6F4-1145F9A5C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642" y="2401331"/>
            <a:ext cx="6147758" cy="23566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08844A-8E73-DBA0-4831-793A068FC042}"/>
              </a:ext>
            </a:extLst>
          </p:cNvPr>
          <p:cNvSpPr txBox="1"/>
          <p:nvPr/>
        </p:nvSpPr>
        <p:spPr>
          <a:xfrm>
            <a:off x="1089102" y="1755000"/>
            <a:ext cx="6759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1: Here our composite key is </a:t>
            </a:r>
            <a:r>
              <a:rPr lang="en-US" dirty="0" err="1"/>
              <a:t>OrderID</a:t>
            </a:r>
            <a:r>
              <a:rPr lang="en-US" dirty="0"/>
              <a:t> and </a:t>
            </a:r>
            <a:r>
              <a:rPr lang="en-US" dirty="0" err="1"/>
              <a:t>ProductID</a:t>
            </a:r>
            <a:r>
              <a:rPr lang="en-US" dirty="0"/>
              <a:t> −</a:t>
            </a:r>
          </a:p>
          <a:p>
            <a:r>
              <a:rPr lang="en-US" dirty="0"/>
              <a:t>{</a:t>
            </a:r>
            <a:r>
              <a:rPr lang="en-US" dirty="0" err="1"/>
              <a:t>OrderID</a:t>
            </a:r>
            <a:r>
              <a:rPr lang="en-US" dirty="0"/>
              <a:t>, </a:t>
            </a:r>
            <a:r>
              <a:rPr lang="en-US" dirty="0" err="1"/>
              <a:t>ProductID</a:t>
            </a: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979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076A-D849-61E7-1EC1-B6AE8119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F8C5CB-BEA0-660B-1B57-EABC44682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Relational Database Schemas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11D37C8-9097-3066-8107-1C2E97A0022B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B469A-0111-15F0-2776-7FD89187FC9C}"/>
              </a:ext>
            </a:extLst>
          </p:cNvPr>
          <p:cNvSpPr txBox="1"/>
          <p:nvPr/>
        </p:nvSpPr>
        <p:spPr>
          <a:xfrm>
            <a:off x="1066800" y="1091485"/>
            <a:ext cx="7391400" cy="66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600" dirty="0"/>
              <a:t>Relational database schema S is a set of relation schemas S = {R1, R2, ..., Rm} and a s et of integrity constraints.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B6C2AC6-7B2C-1D17-5CD4-78424057F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" t="22690" r="404" b="22958"/>
          <a:stretch>
            <a:fillRect/>
          </a:stretch>
        </p:blipFill>
        <p:spPr bwMode="auto">
          <a:xfrm>
            <a:off x="1828800" y="1784272"/>
            <a:ext cx="6019800" cy="3263069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1560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83A3-FD36-7168-1340-6F4BDE76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15F333-2CC6-EB75-5E7F-A9A7A1B33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Relational Database Schemas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5F1CBA1-FC8F-DAEB-AD61-C88711AA1405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1265CF-AF75-8C37-C328-F8A611B7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2668" y="1047750"/>
            <a:ext cx="6614532" cy="389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06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0968-EEB9-A421-5945-F81CE00C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58E3A8-E4DF-8AB0-F025-3537C1362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Referential Integrity, and Foreign Keys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9C8154-F89F-B129-0AB6-C31E07E6A9F9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98A45-DABC-EBEC-F5A6-4B636B313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505" y="1962150"/>
            <a:ext cx="6940152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3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C1224-0531-40F1-2BCB-8A1786ED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E8DBE-88FF-983D-CD0C-5AAEE0010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Referential Integrity, and Foreign Keys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E6796B-B318-2587-5F2F-386EEE8AE779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1E6AA-2E5A-2823-190E-F773F8572D70}"/>
              </a:ext>
            </a:extLst>
          </p:cNvPr>
          <p:cNvSpPr txBox="1"/>
          <p:nvPr/>
        </p:nvSpPr>
        <p:spPr>
          <a:xfrm>
            <a:off x="685800" y="1200150"/>
            <a:ext cx="8458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Domain Constraints:</a:t>
            </a:r>
          </a:p>
          <a:p>
            <a:r>
              <a:rPr lang="en-US" dirty="0"/>
              <a:t>✓ Domain constraints can be defined as the definition of a valid set of values for an</a:t>
            </a:r>
          </a:p>
          <a:p>
            <a:r>
              <a:rPr lang="en-US" dirty="0"/>
              <a:t>attribute.</a:t>
            </a:r>
          </a:p>
          <a:p>
            <a:r>
              <a:rPr lang="en-US" dirty="0"/>
              <a:t>✓ The data type of domain includes string, character, integer, time, date, currency, etc. The value of the attribute must be available in the corresponding domain.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498B5E-534D-6699-1BBC-B110D6BD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269684"/>
            <a:ext cx="4822212" cy="132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51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862D-9DF0-B57D-96A5-6065CA04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265012-8EA0-1BFB-2355-3EA1580E4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Referential Integrity, and Foreign Keys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55C2B0-18B7-D068-7589-1182871256C5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83605-4FAB-2B6D-71E4-1436E6F11779}"/>
              </a:ext>
            </a:extLst>
          </p:cNvPr>
          <p:cNvSpPr txBox="1"/>
          <p:nvPr/>
        </p:nvSpPr>
        <p:spPr>
          <a:xfrm>
            <a:off x="685800" y="1123950"/>
            <a:ext cx="8569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Entity integrity constraints</a:t>
            </a:r>
          </a:p>
          <a:p>
            <a:r>
              <a:rPr lang="en-US" sz="1600" dirty="0"/>
              <a:t>✓ </a:t>
            </a:r>
            <a:r>
              <a:rPr lang="en-US" dirty="0"/>
              <a:t>The entity integrity constraint states that primary key value can't be null.</a:t>
            </a:r>
          </a:p>
          <a:p>
            <a:r>
              <a:rPr lang="en-US" dirty="0"/>
              <a:t>✓ This is because the primary key value is used to identify individual rows in relation and if</a:t>
            </a:r>
          </a:p>
          <a:p>
            <a:r>
              <a:rPr lang="en-US" dirty="0"/>
              <a:t>the primary key has a null value, then we can't identify those rows.</a:t>
            </a:r>
          </a:p>
          <a:p>
            <a:r>
              <a:rPr lang="en-US" dirty="0"/>
              <a:t>✓ A table can contain a null value other than the primary key field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85A39-675E-EF2A-5BD3-C9A0226EF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95" y="3105151"/>
            <a:ext cx="4841405" cy="170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59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5ABA-56F0-84F8-23A0-A5EAF76E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5733CC-ED3E-C28F-8D1E-3BC06EE9B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Integrity, Referential Integrity Constraints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A1344F-361F-2166-F07C-920FA8420536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2C027-A376-9D4B-7B10-381086C0E055}"/>
              </a:ext>
            </a:extLst>
          </p:cNvPr>
          <p:cNvSpPr txBox="1"/>
          <p:nvPr/>
        </p:nvSpPr>
        <p:spPr>
          <a:xfrm>
            <a:off x="237844" y="1581150"/>
            <a:ext cx="372660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 Referential Integrity Constraints</a:t>
            </a:r>
          </a:p>
          <a:p>
            <a:r>
              <a:rPr lang="en-US" dirty="0"/>
              <a:t>✓ A referential integrity constraint is specified between two tables.</a:t>
            </a:r>
          </a:p>
          <a:p>
            <a:r>
              <a:rPr lang="en-US" dirty="0"/>
              <a:t>✓ In the Referential integrity constraints, if a foreign key in Table 1 refers to the</a:t>
            </a:r>
          </a:p>
          <a:p>
            <a:r>
              <a:rPr lang="en-US" dirty="0"/>
              <a:t>Primary Key of Table 2, then every value of the Foreign Key in Table 1 must be null or be available in Table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717E3-4A84-F64C-F338-E61E9D7A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448" y="1202641"/>
            <a:ext cx="4926467" cy="365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43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567B-6C23-8F81-242A-74B125CB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5AF24E-C290-32E9-90C1-6967F24D40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SQL vs MYSQL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427296A-05BD-3022-C002-386D638FB892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AEEB82-EDDB-E536-F95E-352C3B25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666" b="5556"/>
          <a:stretch/>
        </p:blipFill>
        <p:spPr>
          <a:xfrm>
            <a:off x="1840184" y="1428750"/>
            <a:ext cx="5463631" cy="30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26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641C-BDF4-2DE5-7564-5C860145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AE9A6A-CE24-5A83-C079-F44336D48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SQL Commands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1E3DAA-88D9-A156-24C0-EB37D3E150E0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1026" name="Picture 2" descr="SQL Commands: DDL, DML, DCL, TCL, DQL - javatpoint">
            <a:extLst>
              <a:ext uri="{FF2B5EF4-FFF2-40B4-BE49-F238E27FC236}">
                <a16:creationId xmlns:a16="http://schemas.microsoft.com/office/drawing/2014/main" id="{91BB6346-4847-ED52-53F5-8A763A65F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10"/>
          <a:stretch/>
        </p:blipFill>
        <p:spPr bwMode="auto">
          <a:xfrm>
            <a:off x="990600" y="1047750"/>
            <a:ext cx="6572250" cy="291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942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6DAC-EB4B-8D69-C55D-44DA376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E3F05B-EAB8-F2F5-C4F3-D6429913D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Table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7B4DB9-2FC7-CAF3-B253-3F7AAD0622D6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86D5C-3906-16E9-F181-E07DF1BCFDB1}"/>
              </a:ext>
            </a:extLst>
          </p:cNvPr>
          <p:cNvSpPr txBox="1"/>
          <p:nvPr/>
        </p:nvSpPr>
        <p:spPr>
          <a:xfrm>
            <a:off x="990600" y="1276350"/>
            <a:ext cx="6763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</a:t>
            </a:r>
            <a:r>
              <a:rPr lang="en-US" sz="1800" b="1" dirty="0"/>
              <a:t>table</a:t>
            </a:r>
            <a:r>
              <a:rPr lang="en-US" sz="1800" dirty="0"/>
              <a:t> is an organized arrangement of data and information in the tabular form containing rows and columns, making it easier to understand and compare data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3FBA088-253B-321D-F258-239FC77D4736}"/>
              </a:ext>
            </a:extLst>
          </p:cNvPr>
          <p:cNvGraphicFramePr>
            <a:graphicFrameLocks/>
          </p:cNvGraphicFramePr>
          <p:nvPr/>
        </p:nvGraphicFramePr>
        <p:xfrm>
          <a:off x="1066801" y="3028950"/>
          <a:ext cx="6934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939935386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169365634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619025336"/>
                    </a:ext>
                  </a:extLst>
                </a:gridCol>
              </a:tblGrid>
              <a:tr h="3466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155097"/>
                  </a:ext>
                </a:extLst>
              </a:tr>
              <a:tr h="35148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695448"/>
                  </a:ext>
                </a:extLst>
              </a:tr>
              <a:tr h="35148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73445"/>
                  </a:ext>
                </a:extLst>
              </a:tr>
              <a:tr h="35148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718633"/>
                  </a:ext>
                </a:extLst>
              </a:tr>
              <a:tr h="35148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729884"/>
                  </a:ext>
                </a:extLst>
              </a:tr>
            </a:tbl>
          </a:graphicData>
        </a:graphic>
      </p:graphicFrame>
      <p:sp>
        <p:nvSpPr>
          <p:cNvPr id="11" name="Arrow: Down 10">
            <a:extLst>
              <a:ext uri="{FF2B5EF4-FFF2-40B4-BE49-F238E27FC236}">
                <a16:creationId xmlns:a16="http://schemas.microsoft.com/office/drawing/2014/main" id="{1E84B310-B4FD-ED69-384F-ED07A1547B2A}"/>
              </a:ext>
            </a:extLst>
          </p:cNvPr>
          <p:cNvSpPr/>
          <p:nvPr/>
        </p:nvSpPr>
        <p:spPr>
          <a:xfrm flipH="1">
            <a:off x="1447800" y="2740612"/>
            <a:ext cx="296658" cy="267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6EBEFFC-4737-AB3A-F8D1-FDD7DB512896}"/>
              </a:ext>
            </a:extLst>
          </p:cNvPr>
          <p:cNvSpPr/>
          <p:nvPr/>
        </p:nvSpPr>
        <p:spPr>
          <a:xfrm flipH="1">
            <a:off x="4268415" y="2740612"/>
            <a:ext cx="296658" cy="267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65286B2-0A4B-6AC3-37DF-ECB60FF625B0}"/>
              </a:ext>
            </a:extLst>
          </p:cNvPr>
          <p:cNvSpPr/>
          <p:nvPr/>
        </p:nvSpPr>
        <p:spPr>
          <a:xfrm flipH="1">
            <a:off x="6781800" y="2740612"/>
            <a:ext cx="296658" cy="267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2D0D5-56DF-5882-8253-2C89DF9239D0}"/>
              </a:ext>
            </a:extLst>
          </p:cNvPr>
          <p:cNvSpPr txBox="1"/>
          <p:nvPr/>
        </p:nvSpPr>
        <p:spPr>
          <a:xfrm flipH="1">
            <a:off x="2849118" y="2214205"/>
            <a:ext cx="8162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Columns/ Fields / Attributes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BC68DC6F-C92E-DAFE-76C0-5A1719F064C7}"/>
              </a:ext>
            </a:extLst>
          </p:cNvPr>
          <p:cNvSpPr/>
          <p:nvPr/>
        </p:nvSpPr>
        <p:spPr>
          <a:xfrm>
            <a:off x="8084287" y="3425429"/>
            <a:ext cx="208629" cy="1223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64250224-D810-6896-762D-F2313ECA22F1}"/>
              </a:ext>
            </a:extLst>
          </p:cNvPr>
          <p:cNvSpPr/>
          <p:nvPr/>
        </p:nvSpPr>
        <p:spPr>
          <a:xfrm>
            <a:off x="8084287" y="3868442"/>
            <a:ext cx="208629" cy="1223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62720085-C66F-4BFE-13C5-8D2EFAC2F2DF}"/>
              </a:ext>
            </a:extLst>
          </p:cNvPr>
          <p:cNvSpPr/>
          <p:nvPr/>
        </p:nvSpPr>
        <p:spPr>
          <a:xfrm>
            <a:off x="8084287" y="4311455"/>
            <a:ext cx="208629" cy="1223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4F111462-A751-7B96-D89F-0F2D8EF95E2A}"/>
              </a:ext>
            </a:extLst>
          </p:cNvPr>
          <p:cNvSpPr/>
          <p:nvPr/>
        </p:nvSpPr>
        <p:spPr>
          <a:xfrm>
            <a:off x="8084287" y="4742914"/>
            <a:ext cx="208629" cy="1223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02A621-6421-B286-3FD9-50B76E69436D}"/>
              </a:ext>
            </a:extLst>
          </p:cNvPr>
          <p:cNvSpPr txBox="1"/>
          <p:nvPr/>
        </p:nvSpPr>
        <p:spPr>
          <a:xfrm rot="5400000">
            <a:off x="7760768" y="4007146"/>
            <a:ext cx="160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Rows/Records</a:t>
            </a:r>
          </a:p>
        </p:txBody>
      </p:sp>
    </p:spTree>
    <p:extLst>
      <p:ext uri="{BB962C8B-B14F-4D97-AF65-F5344CB8AC3E}">
        <p14:creationId xmlns:p14="http://schemas.microsoft.com/office/powerpoint/2010/main" val="783265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B9F2-E31F-F49F-90A1-150E46F9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74B6CC-A175-59A8-724B-D585089A2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Database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B8B865-3F2F-A7CC-E8E8-7B31458D1418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A4085-B054-C522-E723-803314A67183}"/>
              </a:ext>
            </a:extLst>
          </p:cNvPr>
          <p:cNvSpPr txBox="1"/>
          <p:nvPr/>
        </p:nvSpPr>
        <p:spPr>
          <a:xfrm>
            <a:off x="1190847" y="1123950"/>
            <a:ext cx="685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 database is a large collection of data or  information, specifically, a large collection of tables organized in a way in which it can be easily updated or accessed with a computer system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878068-1F09-4843-1D87-E850BE0EE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032" y="2114550"/>
            <a:ext cx="6475935" cy="27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0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E98C-4E31-8718-DF0E-DFA45A1F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4CE27B-C965-F375-C4B0-8E2454779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Relational Database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667D53-C50B-86C3-987F-46E268EE9357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D4B77FC-34D9-7532-3BAA-42BB80D90E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937" r="124"/>
          <a:stretch/>
        </p:blipFill>
        <p:spPr>
          <a:xfrm>
            <a:off x="1798858" y="1581150"/>
            <a:ext cx="5692418" cy="2375917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B0D91D2-B9DD-F3FD-A2AF-C8A5B0E14299}"/>
              </a:ext>
            </a:extLst>
          </p:cNvPr>
          <p:cNvSpPr/>
          <p:nvPr/>
        </p:nvSpPr>
        <p:spPr>
          <a:xfrm>
            <a:off x="4419600" y="1581150"/>
            <a:ext cx="3533313" cy="2946676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nual Operation 5">
            <a:extLst>
              <a:ext uri="{FF2B5EF4-FFF2-40B4-BE49-F238E27FC236}">
                <a16:creationId xmlns:a16="http://schemas.microsoft.com/office/drawing/2014/main" id="{8E8D4673-5EAC-2190-3B85-CF1F4042B71E}"/>
              </a:ext>
            </a:extLst>
          </p:cNvPr>
          <p:cNvSpPr/>
          <p:nvPr/>
        </p:nvSpPr>
        <p:spPr>
          <a:xfrm rot="5400000">
            <a:off x="3316550" y="2528131"/>
            <a:ext cx="1278385" cy="1291701"/>
          </a:xfrm>
          <a:prstGeom prst="flowChartManualOperation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62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7389-FE5C-B6FB-85BD-79B8A418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905E98-A967-C022-C583-B9E0CF316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Relational Database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BF4EF89-85B2-EEFD-D32D-4918A0594193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619EBD8-E70D-6450-7E59-5E3217F43046}"/>
              </a:ext>
            </a:extLst>
          </p:cNvPr>
          <p:cNvGraphicFramePr>
            <a:graphicFrameLocks noGrp="1"/>
          </p:cNvGraphicFramePr>
          <p:nvPr/>
        </p:nvGraphicFramePr>
        <p:xfrm>
          <a:off x="291096" y="1148080"/>
          <a:ext cx="2425699" cy="1842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Student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student_id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ABC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2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DEF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GHI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22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2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JKL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A259056-D063-D4FA-9FEF-EC9C32541D4A}"/>
              </a:ext>
            </a:extLst>
          </p:cNvPr>
          <p:cNvGraphicFramePr>
            <a:graphicFrameLocks noGrp="1"/>
          </p:cNvGraphicFramePr>
          <p:nvPr/>
        </p:nvGraphicFramePr>
        <p:xfrm>
          <a:off x="6241669" y="1148080"/>
          <a:ext cx="2633980" cy="1842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course_id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faculty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2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Java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22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Python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0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CPP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22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5" dirty="0">
                          <a:latin typeface="Arial"/>
                          <a:cs typeface="Arial"/>
                        </a:rPr>
                        <a:t>JS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0B1EA21B-56EE-0F31-9634-2C1FE258168E}"/>
              </a:ext>
            </a:extLst>
          </p:cNvPr>
          <p:cNvGraphicFramePr>
            <a:graphicFrameLocks noGrp="1"/>
          </p:cNvGraphicFramePr>
          <p:nvPr/>
        </p:nvGraphicFramePr>
        <p:xfrm>
          <a:off x="3124073" y="2990469"/>
          <a:ext cx="2868295" cy="1842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marL="7473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Student_Course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28575">
                      <a:solidFill>
                        <a:srgbClr val="3981B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student_id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course_Id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marks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28575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1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90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67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981B9"/>
                      </a:solidFill>
                      <a:prstDash val="solid"/>
                    </a:lnL>
                    <a:lnR w="12700">
                      <a:solidFill>
                        <a:srgbClr val="3981B9"/>
                      </a:solidFill>
                      <a:prstDash val="solid"/>
                    </a:lnR>
                    <a:lnT w="12700">
                      <a:solidFill>
                        <a:srgbClr val="3981B9"/>
                      </a:solidFill>
                      <a:prstDash val="solid"/>
                    </a:lnT>
                    <a:lnB w="12700">
                      <a:solidFill>
                        <a:srgbClr val="3981B9"/>
                      </a:solidFill>
                      <a:prstDash val="solid"/>
                    </a:lnB>
                    <a:solidFill>
                      <a:srgbClr val="D7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7">
            <a:extLst>
              <a:ext uri="{FF2B5EF4-FFF2-40B4-BE49-F238E27FC236}">
                <a16:creationId xmlns:a16="http://schemas.microsoft.com/office/drawing/2014/main" id="{E195F983-D157-5FF6-6A68-D456AE0FD139}"/>
              </a:ext>
            </a:extLst>
          </p:cNvPr>
          <p:cNvSpPr/>
          <p:nvPr/>
        </p:nvSpPr>
        <p:spPr>
          <a:xfrm>
            <a:off x="1444752" y="2990595"/>
            <a:ext cx="1685925" cy="927100"/>
          </a:xfrm>
          <a:custGeom>
            <a:avLst/>
            <a:gdLst/>
            <a:ahLst/>
            <a:cxnLst/>
            <a:rect l="l" t="t" r="r" b="b"/>
            <a:pathLst>
              <a:path w="1685925" h="927100">
                <a:moveTo>
                  <a:pt x="1615800" y="895754"/>
                </a:moveTo>
                <a:lnTo>
                  <a:pt x="1600580" y="923556"/>
                </a:lnTo>
                <a:lnTo>
                  <a:pt x="1685671" y="926731"/>
                </a:lnTo>
                <a:lnTo>
                  <a:pt x="1668399" y="901814"/>
                </a:lnTo>
                <a:lnTo>
                  <a:pt x="1626870" y="901814"/>
                </a:lnTo>
                <a:lnTo>
                  <a:pt x="1615800" y="895754"/>
                </a:lnTo>
                <a:close/>
              </a:path>
              <a:path w="1685925" h="927100">
                <a:moveTo>
                  <a:pt x="1621897" y="884616"/>
                </a:moveTo>
                <a:lnTo>
                  <a:pt x="1615800" y="895754"/>
                </a:lnTo>
                <a:lnTo>
                  <a:pt x="1626870" y="901814"/>
                </a:lnTo>
                <a:lnTo>
                  <a:pt x="1632965" y="890676"/>
                </a:lnTo>
                <a:lnTo>
                  <a:pt x="1621897" y="884616"/>
                </a:lnTo>
                <a:close/>
              </a:path>
              <a:path w="1685925" h="927100">
                <a:moveTo>
                  <a:pt x="1637156" y="856742"/>
                </a:moveTo>
                <a:lnTo>
                  <a:pt x="1621897" y="884616"/>
                </a:lnTo>
                <a:lnTo>
                  <a:pt x="1632965" y="890676"/>
                </a:lnTo>
                <a:lnTo>
                  <a:pt x="1626870" y="901814"/>
                </a:lnTo>
                <a:lnTo>
                  <a:pt x="1668399" y="901814"/>
                </a:lnTo>
                <a:lnTo>
                  <a:pt x="1637156" y="856742"/>
                </a:lnTo>
                <a:close/>
              </a:path>
              <a:path w="1685925" h="927100">
                <a:moveTo>
                  <a:pt x="6095" y="0"/>
                </a:moveTo>
                <a:lnTo>
                  <a:pt x="0" y="11176"/>
                </a:lnTo>
                <a:lnTo>
                  <a:pt x="1615800" y="895754"/>
                </a:lnTo>
                <a:lnTo>
                  <a:pt x="1621897" y="884616"/>
                </a:lnTo>
                <a:lnTo>
                  <a:pt x="6095" y="0"/>
                </a:lnTo>
                <a:close/>
              </a:path>
            </a:pathLst>
          </a:custGeom>
          <a:solidFill>
            <a:srgbClr val="9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EB9C7B6-6390-D727-3A04-D11A549968E8}"/>
              </a:ext>
            </a:extLst>
          </p:cNvPr>
          <p:cNvSpPr/>
          <p:nvPr/>
        </p:nvSpPr>
        <p:spPr>
          <a:xfrm>
            <a:off x="5998464" y="2990595"/>
            <a:ext cx="1659255" cy="927100"/>
          </a:xfrm>
          <a:custGeom>
            <a:avLst/>
            <a:gdLst/>
            <a:ahLst/>
            <a:cxnLst/>
            <a:rect l="l" t="t" r="r" b="b"/>
            <a:pathLst>
              <a:path w="1659254" h="927100">
                <a:moveTo>
                  <a:pt x="48006" y="856361"/>
                </a:moveTo>
                <a:lnTo>
                  <a:pt x="0" y="926731"/>
                </a:lnTo>
                <a:lnTo>
                  <a:pt x="85089" y="922972"/>
                </a:lnTo>
                <a:lnTo>
                  <a:pt x="73084" y="901407"/>
                </a:lnTo>
                <a:lnTo>
                  <a:pt x="58547" y="901407"/>
                </a:lnTo>
                <a:lnTo>
                  <a:pt x="52450" y="890308"/>
                </a:lnTo>
                <a:lnTo>
                  <a:pt x="63486" y="884167"/>
                </a:lnTo>
                <a:lnTo>
                  <a:pt x="48006" y="856361"/>
                </a:lnTo>
                <a:close/>
              </a:path>
              <a:path w="1659254" h="927100">
                <a:moveTo>
                  <a:pt x="63486" y="884167"/>
                </a:moveTo>
                <a:lnTo>
                  <a:pt x="52450" y="890308"/>
                </a:lnTo>
                <a:lnTo>
                  <a:pt x="58547" y="901407"/>
                </a:lnTo>
                <a:lnTo>
                  <a:pt x="69646" y="895232"/>
                </a:lnTo>
                <a:lnTo>
                  <a:pt x="63486" y="884167"/>
                </a:lnTo>
                <a:close/>
              </a:path>
              <a:path w="1659254" h="927100">
                <a:moveTo>
                  <a:pt x="69646" y="895232"/>
                </a:moveTo>
                <a:lnTo>
                  <a:pt x="58547" y="901407"/>
                </a:lnTo>
                <a:lnTo>
                  <a:pt x="73084" y="901407"/>
                </a:lnTo>
                <a:lnTo>
                  <a:pt x="69646" y="895232"/>
                </a:lnTo>
                <a:close/>
              </a:path>
              <a:path w="1659254" h="927100">
                <a:moveTo>
                  <a:pt x="1652524" y="0"/>
                </a:moveTo>
                <a:lnTo>
                  <a:pt x="63486" y="884167"/>
                </a:lnTo>
                <a:lnTo>
                  <a:pt x="69646" y="895232"/>
                </a:lnTo>
                <a:lnTo>
                  <a:pt x="1658746" y="11176"/>
                </a:lnTo>
                <a:lnTo>
                  <a:pt x="1652524" y="0"/>
                </a:lnTo>
                <a:close/>
              </a:path>
            </a:pathLst>
          </a:custGeom>
          <a:solidFill>
            <a:srgbClr val="942E2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9518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EB89-7634-2B46-8654-C88A2364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53800A-06FC-C479-E3DF-399135844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Primary Key 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F29CB86-F086-4116-BE96-426C226445D6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8C60A8-874F-7460-A457-6F2A097E92CC}"/>
              </a:ext>
            </a:extLst>
          </p:cNvPr>
          <p:cNvSpPr txBox="1">
            <a:spLocks/>
          </p:cNvSpPr>
          <p:nvPr/>
        </p:nvSpPr>
        <p:spPr>
          <a:xfrm>
            <a:off x="1219200" y="1428750"/>
            <a:ext cx="6300370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 primary key is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field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in a table which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uniquely identifies each row/record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in a database table.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Primary keys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must contain UNIQUE values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cannot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contain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NULL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values.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Primary key can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NOT BE DUPLICATE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 table can have only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ONE primary 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; and in the table, this primary key can consist of single or multiple columns (fields).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08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7A90-A935-F77E-F807-DBFD8464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93065C-7ECE-11ED-2DAE-9FC165443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Primary Key - Example 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D791417-60C2-5223-8BBD-60614E38CB56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E364A23-CF70-8B13-F554-13B435482BC0}"/>
              </a:ext>
            </a:extLst>
          </p:cNvPr>
          <p:cNvGraphicFramePr>
            <a:graphicFrameLocks/>
          </p:cNvGraphicFramePr>
          <p:nvPr/>
        </p:nvGraphicFramePr>
        <p:xfrm>
          <a:off x="1197768" y="1733550"/>
          <a:ext cx="5063511" cy="1828800"/>
        </p:xfrm>
        <a:graphic>
          <a:graphicData uri="http://schemas.openxmlformats.org/drawingml/2006/table">
            <a:tbl>
              <a:tblPr firstCol="1" bandRow="1"/>
              <a:tblGrid>
                <a:gridCol w="1687837">
                  <a:extLst>
                    <a:ext uri="{9D8B030D-6E8A-4147-A177-3AD203B41FA5}">
                      <a16:colId xmlns:a16="http://schemas.microsoft.com/office/drawing/2014/main" val="2359132922"/>
                    </a:ext>
                  </a:extLst>
                </a:gridCol>
                <a:gridCol w="1687837">
                  <a:extLst>
                    <a:ext uri="{9D8B030D-6E8A-4147-A177-3AD203B41FA5}">
                      <a16:colId xmlns:a16="http://schemas.microsoft.com/office/drawing/2014/main" val="539530614"/>
                    </a:ext>
                  </a:extLst>
                </a:gridCol>
                <a:gridCol w="1687837">
                  <a:extLst>
                    <a:ext uri="{9D8B030D-6E8A-4147-A177-3AD203B41FA5}">
                      <a16:colId xmlns:a16="http://schemas.microsoft.com/office/drawing/2014/main" val="2064835578"/>
                    </a:ext>
                  </a:extLst>
                </a:gridCol>
              </a:tblGrid>
              <a:tr h="243421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Student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41310"/>
                  </a:ext>
                </a:extLst>
              </a:tr>
              <a:tr h="24680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21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38928"/>
                  </a:ext>
                </a:extLst>
              </a:tr>
              <a:tr h="24680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22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69083"/>
                  </a:ext>
                </a:extLst>
              </a:tr>
              <a:tr h="24680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22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00064"/>
                  </a:ext>
                </a:extLst>
              </a:tr>
              <a:tr h="24680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2346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03B421-8D2A-C705-ADAD-05ACA1B6430E}"/>
              </a:ext>
            </a:extLst>
          </p:cNvPr>
          <p:cNvSpPr/>
          <p:nvPr/>
        </p:nvSpPr>
        <p:spPr>
          <a:xfrm>
            <a:off x="838200" y="3172420"/>
            <a:ext cx="24163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2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w Cen MT" panose="020B0602020104020603"/>
              </a:rPr>
              <a:t>Primary</a:t>
            </a:r>
            <a:r>
              <a:rPr lang="en-US" sz="5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w Cen MT" panose="020B0602020104020603"/>
              </a:rPr>
              <a:t> </a:t>
            </a:r>
            <a:r>
              <a:rPr lang="en-US" sz="2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w Cen MT" panose="020B0602020104020603"/>
              </a:rPr>
              <a:t>key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7FE04D-988F-7F1C-5735-B47517E8508A}"/>
              </a:ext>
            </a:extLst>
          </p:cNvPr>
          <p:cNvSpPr/>
          <p:nvPr/>
        </p:nvSpPr>
        <p:spPr>
          <a:xfrm>
            <a:off x="4419600" y="1200150"/>
            <a:ext cx="155562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2400" dirty="0">
                <a:ln w="0"/>
                <a:solidFill>
                  <a:srgbClr val="1CADE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w Cen MT" panose="020B0602020104020603"/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071438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506E3-D242-6E32-8A90-25106E69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7CED8E-A520-944A-080F-3626501E7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Foreign key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834F251-6475-EE10-3781-89E830691472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D967FC-A09B-42E7-8081-DA13169819E0}"/>
              </a:ext>
            </a:extLst>
          </p:cNvPr>
          <p:cNvSpPr txBox="1">
            <a:spLocks/>
          </p:cNvSpPr>
          <p:nvPr/>
        </p:nvSpPr>
        <p:spPr>
          <a:xfrm>
            <a:off x="1143000" y="1352550"/>
            <a:ext cx="7205472" cy="2743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 FOREIGN KEY is a field (or collection of fields) in one table, that refers to the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PRIMARY KEY in another table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 foreign key is a key used to link two tables together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Foreign key also called referencing key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Foreign key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CAN BE DUPLICATE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To create foreign key,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primary key of another table must be created FIRST.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302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FD5A9-9FC7-27B6-909E-5329B16A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2AED1D-F542-2BE1-A91C-FE2BD1B58E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Foreign key - Example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247423F-E35C-C4C0-77A7-AAA290127AA6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454F628-7F49-500C-9D33-366AE576CABF}"/>
              </a:ext>
            </a:extLst>
          </p:cNvPr>
          <p:cNvGraphicFramePr>
            <a:graphicFrameLocks/>
          </p:cNvGraphicFramePr>
          <p:nvPr/>
        </p:nvGraphicFramePr>
        <p:xfrm>
          <a:off x="276650" y="1388965"/>
          <a:ext cx="4572000" cy="2268036"/>
        </p:xfrm>
        <a:graphic>
          <a:graphicData uri="http://schemas.openxmlformats.org/drawingml/2006/table">
            <a:tbl>
              <a:tblPr lastCol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73015479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01776325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22940963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76992665"/>
                    </a:ext>
                  </a:extLst>
                </a:gridCol>
              </a:tblGrid>
              <a:tr h="690272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dirty="0">
                          <a:solidFill>
                            <a:srgbClr val="FFFFFF"/>
                          </a:solidFill>
                          <a:effectLst/>
                        </a:rPr>
                        <a:t>Student Name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>
                          <a:solidFill>
                            <a:srgbClr val="FFFFFF"/>
                          </a:solidFill>
                          <a:effectLst/>
                        </a:rPr>
                        <a:t>Age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dirty="0">
                          <a:solidFill>
                            <a:srgbClr val="FFFFFF"/>
                          </a:solidFill>
                          <a:effectLst/>
                        </a:rPr>
                        <a:t>Course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077649"/>
                  </a:ext>
                </a:extLst>
              </a:tr>
              <a:tr h="394441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A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CSE 3522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51464"/>
                  </a:ext>
                </a:extLst>
              </a:tr>
              <a:tr h="394441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CSE 1110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3214"/>
                  </a:ext>
                </a:extLst>
              </a:tr>
              <a:tr h="394441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CSE 3522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822770"/>
                  </a:ext>
                </a:extLst>
              </a:tr>
              <a:tr h="394441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CSI 212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388722"/>
                  </a:ext>
                </a:extLst>
              </a:tr>
            </a:tbl>
          </a:graphicData>
        </a:graphic>
      </p:graphicFrame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6B3A1EA1-B5B9-0E53-F576-117A493BDFD5}"/>
              </a:ext>
            </a:extLst>
          </p:cNvPr>
          <p:cNvGraphicFramePr>
            <a:graphicFrameLocks noGrp="1"/>
          </p:cNvGraphicFramePr>
          <p:nvPr/>
        </p:nvGraphicFramePr>
        <p:xfrm>
          <a:off x="5008261" y="1388965"/>
          <a:ext cx="3864405" cy="2207076"/>
        </p:xfrm>
        <a:graphic>
          <a:graphicData uri="http://schemas.openxmlformats.org/drawingml/2006/table">
            <a:tbl>
              <a:tblPr firstCol="1" bandRow="1"/>
              <a:tblGrid>
                <a:gridCol w="1288135">
                  <a:extLst>
                    <a:ext uri="{9D8B030D-6E8A-4147-A177-3AD203B41FA5}">
                      <a16:colId xmlns:a16="http://schemas.microsoft.com/office/drawing/2014/main" val="2945196871"/>
                    </a:ext>
                  </a:extLst>
                </a:gridCol>
                <a:gridCol w="1288135">
                  <a:extLst>
                    <a:ext uri="{9D8B030D-6E8A-4147-A177-3AD203B41FA5}">
                      <a16:colId xmlns:a16="http://schemas.microsoft.com/office/drawing/2014/main" val="2476612072"/>
                    </a:ext>
                  </a:extLst>
                </a:gridCol>
                <a:gridCol w="1288135">
                  <a:extLst>
                    <a:ext uri="{9D8B030D-6E8A-4147-A177-3AD203B41FA5}">
                      <a16:colId xmlns:a16="http://schemas.microsoft.com/office/drawing/2014/main" val="3240764490"/>
                    </a:ext>
                  </a:extLst>
                </a:gridCol>
              </a:tblGrid>
              <a:tr h="483741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Course Code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Course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Credit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10927"/>
                  </a:ext>
                </a:extLst>
              </a:tr>
              <a:tr h="54265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CSE 3522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DBMS Lab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031127"/>
                  </a:ext>
                </a:extLst>
              </a:tr>
              <a:tr h="54265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CSE 1110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Intro To CS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89279"/>
                  </a:ext>
                </a:extLst>
              </a:tr>
              <a:tr h="542652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CSE 212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OOP Lab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885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184597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588EF5E-0922-669D-6D98-68BDAF75CFF2}"/>
              </a:ext>
            </a:extLst>
          </p:cNvPr>
          <p:cNvSpPr/>
          <p:nvPr/>
        </p:nvSpPr>
        <p:spPr>
          <a:xfrm>
            <a:off x="4497495" y="3607219"/>
            <a:ext cx="2354999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w Cen MT" panose="020B0602020104020603"/>
              </a:rPr>
              <a:t>Primary key</a:t>
            </a:r>
          </a:p>
        </p:txBody>
      </p: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178E0608-D7FD-93A7-88D8-0EF12B5017ED}"/>
              </a:ext>
            </a:extLst>
          </p:cNvPr>
          <p:cNvSpPr/>
          <p:nvPr/>
        </p:nvSpPr>
        <p:spPr>
          <a:xfrm rot="10800000">
            <a:off x="3830761" y="3096338"/>
            <a:ext cx="2355000" cy="1831084"/>
          </a:xfrm>
          <a:prstGeom prst="circularArrow">
            <a:avLst/>
          </a:prstGeom>
          <a:solidFill>
            <a:srgbClr val="1CADE4"/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11E0B2-2DF6-DF78-77E4-8CFC4285CDB9}"/>
              </a:ext>
            </a:extLst>
          </p:cNvPr>
          <p:cNvSpPr/>
          <p:nvPr/>
        </p:nvSpPr>
        <p:spPr>
          <a:xfrm>
            <a:off x="3676254" y="3642548"/>
            <a:ext cx="125220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w Cen MT" panose="020B0602020104020603"/>
              </a:rPr>
              <a:t>Foreign key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CB910-D470-B581-3E46-91516E76BA7A}"/>
              </a:ext>
            </a:extLst>
          </p:cNvPr>
          <p:cNvSpPr/>
          <p:nvPr/>
        </p:nvSpPr>
        <p:spPr>
          <a:xfrm>
            <a:off x="1844761" y="1004640"/>
            <a:ext cx="143577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dirty="0">
                <a:ln w="0"/>
                <a:solidFill>
                  <a:srgbClr val="1CADE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w Cen MT" panose="020B0602020104020603"/>
              </a:rPr>
              <a:t>Student Table</a:t>
            </a:r>
          </a:p>
        </p:txBody>
      </p:sp>
    </p:spTree>
    <p:extLst>
      <p:ext uri="{BB962C8B-B14F-4D97-AF65-F5344CB8AC3E}">
        <p14:creationId xmlns:p14="http://schemas.microsoft.com/office/powerpoint/2010/main" val="2575787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6F17-C255-570D-16EA-1E02F578C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B267DD-2B9C-6756-DAB4-EA8F01561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25" dirty="0"/>
              <a:t>SQL Commands Cont’d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9B4CA2-DB6C-ABFC-33A4-53E41B5C86F5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25047-9DD1-F806-85E2-09F8379F39DC}"/>
              </a:ext>
            </a:extLst>
          </p:cNvPr>
          <p:cNvSpPr txBox="1"/>
          <p:nvPr/>
        </p:nvSpPr>
        <p:spPr>
          <a:xfrm>
            <a:off x="1104900" y="1276350"/>
            <a:ext cx="6934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 DDL is a SQL (Structured Query Language) command which is used to create and modify the structure of database objects in a database. Also known as Data Description language.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D82C500-ED3B-84E2-AE27-A0E639D91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838" y="2286000"/>
            <a:ext cx="3874362" cy="21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97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ACC7-39C6-BD02-CB5C-894C2D16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980DAE-FBC3-B9A8-62C3-D3FF09C78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37249"/>
            <a:ext cx="4303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DDL Command -create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B88F9C-A7CA-A4D9-9606-BD12D2516D33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C765ADDB-8566-D4D9-5734-FE629FCD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515" y="1200150"/>
            <a:ext cx="3069840" cy="1600200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E42AD10A-746F-50B7-7491-8E5279C7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57" y="2886110"/>
            <a:ext cx="3500943" cy="182880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12B74632-A509-4B40-DB83-4A2070ECA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912918"/>
            <a:ext cx="3069840" cy="167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81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66B3-BF4D-D41D-E568-3AD42109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F6EC911-6BFA-E6A7-1969-2715D73C82C7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EA2CBB-CBAF-746A-B480-61044E48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/>
              <a:t>Common DATA TYPES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84AF89-4500-158C-DB12-F6A58E6631B4}"/>
              </a:ext>
            </a:extLst>
          </p:cNvPr>
          <p:cNvGraphicFramePr>
            <a:graphicFrameLocks/>
          </p:cNvGraphicFramePr>
          <p:nvPr/>
        </p:nvGraphicFramePr>
        <p:xfrm>
          <a:off x="1203988" y="1894206"/>
          <a:ext cx="6596061" cy="1885950"/>
        </p:xfrm>
        <a:graphic>
          <a:graphicData uri="http://schemas.openxmlformats.org/drawingml/2006/table">
            <a:tbl>
              <a:tblPr firstRow="1" bandRow="1"/>
              <a:tblGrid>
                <a:gridCol w="2198687">
                  <a:extLst>
                    <a:ext uri="{9D8B030D-6E8A-4147-A177-3AD203B41FA5}">
                      <a16:colId xmlns:a16="http://schemas.microsoft.com/office/drawing/2014/main" val="4206227692"/>
                    </a:ext>
                  </a:extLst>
                </a:gridCol>
                <a:gridCol w="2198687">
                  <a:extLst>
                    <a:ext uri="{9D8B030D-6E8A-4147-A177-3AD203B41FA5}">
                      <a16:colId xmlns:a16="http://schemas.microsoft.com/office/drawing/2014/main" val="4046352941"/>
                    </a:ext>
                  </a:extLst>
                </a:gridCol>
                <a:gridCol w="2198687">
                  <a:extLst>
                    <a:ext uri="{9D8B030D-6E8A-4147-A177-3AD203B41FA5}">
                      <a16:colId xmlns:a16="http://schemas.microsoft.com/office/drawing/2014/main" val="1988465160"/>
                    </a:ext>
                  </a:extLst>
                </a:gridCol>
              </a:tblGrid>
              <a:tr h="377190"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Keywords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Datatypes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 b="1">
                          <a:solidFill>
                            <a:schemeClr val="lt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Example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35737"/>
                  </a:ext>
                </a:extLst>
              </a:tr>
              <a:tr h="377190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INT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Whole number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1, 2., 172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150733"/>
                  </a:ext>
                </a:extLst>
              </a:tr>
              <a:tr h="377190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FLOAT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Fraction number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3.1416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210972"/>
                  </a:ext>
                </a:extLst>
              </a:tr>
              <a:tr h="377190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VARCHAR (x)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string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“CSE 3522”, “EEE”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720394"/>
                  </a:ext>
                </a:extLst>
              </a:tr>
              <a:tr h="377190"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Date (YYYY-MM-DD)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1pPr>
                      <a:lvl2pPr marL="457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2pPr>
                      <a:lvl3pPr marL="914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3pPr>
                      <a:lvl4pPr marL="1371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4pPr>
                      <a:lvl5pPr marL="18288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5pPr>
                      <a:lvl6pPr marL="22860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6pPr>
                      <a:lvl7pPr marL="27432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7pPr>
                      <a:lvl8pPr marL="32004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8pPr>
                      <a:lvl9pPr marL="3657600" eaLnBrk="1" hangingPunct="1">
                        <a:defRPr>
                          <a:solidFill>
                            <a:schemeClr val="dk1"/>
                          </a:solidFill>
                          <a:latin typeface="Tw Cen MT" panose="020B0602020104020603"/>
                        </a:defRPr>
                      </a:lvl9pPr>
                    </a:lstStyle>
                    <a:p>
                      <a:r>
                        <a:rPr lang="en-US" dirty="0"/>
                        <a:t>2021-07-10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ADE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35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156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B017-4E71-E8BC-9744-580AD76D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0911F3B-4C70-A838-699E-2D0FA4FF73A2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2C836A-3E43-C75F-C090-02538265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 – Alter TABLE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2ABC32-F0E0-DEAA-F4F0-82A198F5EBD3}"/>
              </a:ext>
            </a:extLst>
          </p:cNvPr>
          <p:cNvSpPr txBox="1">
            <a:spLocks/>
          </p:cNvSpPr>
          <p:nvPr/>
        </p:nvSpPr>
        <p:spPr>
          <a:xfrm>
            <a:off x="990600" y="1108017"/>
            <a:ext cx="7772400" cy="3825933"/>
          </a:xfrm>
          <a:prstGeom prst="rect">
            <a:avLst/>
          </a:prstGeom>
        </p:spPr>
        <p:txBody>
          <a:bodyPr vert="horz" lIns="45720" tIns="45720" rIns="4572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dirty="0">
                <a:latin typeface="Tw Cen MT" panose="020B0602020104020603" pitchFamily="34" charset="0"/>
              </a:rPr>
              <a:t>Create a database: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CREATE DATABASE &lt;</a:t>
            </a:r>
            <a:r>
              <a:rPr lang="en-US" sz="1400" dirty="0" err="1">
                <a:latin typeface="Tw Cen MT" panose="020B0602020104020603" pitchFamily="34" charset="0"/>
              </a:rPr>
              <a:t>database_name</a:t>
            </a:r>
            <a:r>
              <a:rPr lang="en-US" sz="1400" b="1" dirty="0">
                <a:latin typeface="Tw Cen MT" panose="020B0602020104020603" pitchFamily="34" charset="0"/>
              </a:rPr>
              <a:t>&gt;;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dirty="0">
                <a:latin typeface="Tw Cen MT" panose="020B0602020104020603" pitchFamily="34" charset="0"/>
              </a:rPr>
              <a:t>Example: </a:t>
            </a:r>
            <a:r>
              <a:rPr lang="en-US" sz="1400" b="1" dirty="0">
                <a:latin typeface="Tw Cen MT" panose="020B0602020104020603" pitchFamily="34" charset="0"/>
              </a:rPr>
              <a:t>CREATE DATABASE </a:t>
            </a:r>
            <a:r>
              <a:rPr lang="en-US" sz="1400" dirty="0">
                <a:latin typeface="Tw Cen MT" panose="020B0602020104020603" pitchFamily="34" charset="0"/>
              </a:rPr>
              <a:t>university;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dirty="0">
                <a:latin typeface="Tw Cen MT" panose="020B0602020104020603" pitchFamily="34" charset="0"/>
              </a:rPr>
              <a:t>Create a table inside a database: (Click on the database in which you want create a table, then in SQL editor)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CREATE TABLE </a:t>
            </a:r>
            <a:r>
              <a:rPr lang="en-US" sz="1400" dirty="0">
                <a:latin typeface="Tw Cen MT" panose="020B0602020104020603" pitchFamily="34" charset="0"/>
              </a:rPr>
              <a:t>&lt;</a:t>
            </a:r>
            <a:r>
              <a:rPr lang="en-US" sz="1400" dirty="0" err="1">
                <a:latin typeface="Tw Cen MT" panose="020B0602020104020603" pitchFamily="34" charset="0"/>
              </a:rPr>
              <a:t>table_name</a:t>
            </a:r>
            <a:r>
              <a:rPr lang="en-US" sz="1400" dirty="0">
                <a:latin typeface="Tw Cen MT" panose="020B0602020104020603" pitchFamily="34" charset="0"/>
              </a:rPr>
              <a:t>&gt; </a:t>
            </a:r>
            <a:r>
              <a:rPr lang="en-US" sz="1400" b="1" dirty="0">
                <a:latin typeface="Tw Cen MT" panose="020B0602020104020603" pitchFamily="34" charset="0"/>
              </a:rPr>
              <a:t>(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	&lt;</a:t>
            </a:r>
            <a:r>
              <a:rPr lang="en-US" sz="1400" dirty="0">
                <a:latin typeface="Tw Cen MT" panose="020B0602020104020603" pitchFamily="34" charset="0"/>
              </a:rPr>
              <a:t>attribute1</a:t>
            </a:r>
            <a:r>
              <a:rPr lang="en-US" sz="1400" b="1" dirty="0">
                <a:latin typeface="Tw Cen MT" panose="020B0602020104020603" pitchFamily="34" charset="0"/>
              </a:rPr>
              <a:t>&gt; &lt;</a:t>
            </a:r>
            <a:r>
              <a:rPr lang="en-US" sz="1400" dirty="0">
                <a:latin typeface="Tw Cen MT" panose="020B0602020104020603" pitchFamily="34" charset="0"/>
              </a:rPr>
              <a:t>datatype</a:t>
            </a:r>
            <a:r>
              <a:rPr lang="en-US" sz="1400" b="1" dirty="0">
                <a:latin typeface="Tw Cen MT" panose="020B0602020104020603" pitchFamily="34" charset="0"/>
              </a:rPr>
              <a:t>&gt;(&lt;</a:t>
            </a:r>
            <a:r>
              <a:rPr lang="en-US" sz="1400" dirty="0">
                <a:latin typeface="Tw Cen MT" panose="020B0602020104020603" pitchFamily="34" charset="0"/>
              </a:rPr>
              <a:t>size</a:t>
            </a:r>
            <a:r>
              <a:rPr lang="en-US" sz="1400" b="1" dirty="0">
                <a:latin typeface="Tw Cen MT" panose="020B0602020104020603" pitchFamily="34" charset="0"/>
              </a:rPr>
              <a:t>&gt;),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	&lt;</a:t>
            </a:r>
            <a:r>
              <a:rPr lang="en-US" sz="1400" dirty="0">
                <a:latin typeface="Tw Cen MT" panose="020B0602020104020603" pitchFamily="34" charset="0"/>
              </a:rPr>
              <a:t>attribute2</a:t>
            </a:r>
            <a:r>
              <a:rPr lang="en-US" sz="1400" b="1" dirty="0">
                <a:latin typeface="Tw Cen MT" panose="020B0602020104020603" pitchFamily="34" charset="0"/>
              </a:rPr>
              <a:t>&gt; &lt;</a:t>
            </a:r>
            <a:r>
              <a:rPr lang="en-US" sz="1400" dirty="0">
                <a:latin typeface="Tw Cen MT" panose="020B0602020104020603" pitchFamily="34" charset="0"/>
              </a:rPr>
              <a:t>datatype</a:t>
            </a:r>
            <a:r>
              <a:rPr lang="en-US" sz="1400" b="1" dirty="0">
                <a:latin typeface="Tw Cen MT" panose="020B0602020104020603" pitchFamily="34" charset="0"/>
              </a:rPr>
              <a:t>&gt;(&lt;</a:t>
            </a:r>
            <a:r>
              <a:rPr lang="en-US" sz="1400" dirty="0">
                <a:latin typeface="Tw Cen MT" panose="020B0602020104020603" pitchFamily="34" charset="0"/>
              </a:rPr>
              <a:t>size</a:t>
            </a:r>
            <a:r>
              <a:rPr lang="en-US" sz="1400" b="1" dirty="0">
                <a:latin typeface="Tw Cen MT" panose="020B0602020104020603" pitchFamily="34" charset="0"/>
              </a:rPr>
              <a:t>&gt;),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	.......................,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	&lt;</a:t>
            </a:r>
            <a:r>
              <a:rPr lang="en-US" sz="1400" dirty="0">
                <a:latin typeface="Tw Cen MT" panose="020B0602020104020603" pitchFamily="34" charset="0"/>
              </a:rPr>
              <a:t>constraint1</a:t>
            </a:r>
            <a:r>
              <a:rPr lang="en-US" sz="1400" b="1" dirty="0">
                <a:latin typeface="Tw Cen MT" panose="020B0602020104020603" pitchFamily="34" charset="0"/>
              </a:rPr>
              <a:t>&gt; &lt;</a:t>
            </a:r>
            <a:r>
              <a:rPr lang="en-US" sz="1400" dirty="0">
                <a:latin typeface="Tw Cen MT" panose="020B0602020104020603" pitchFamily="34" charset="0"/>
              </a:rPr>
              <a:t>constraint</a:t>
            </a:r>
            <a:r>
              <a:rPr lang="en-US" sz="1400" b="1" dirty="0">
                <a:latin typeface="Tw Cen MT" panose="020B0602020104020603" pitchFamily="34" charset="0"/>
              </a:rPr>
              <a:t> </a:t>
            </a:r>
            <a:r>
              <a:rPr lang="en-US" sz="1400" dirty="0">
                <a:latin typeface="Tw Cen MT" panose="020B0602020104020603" pitchFamily="34" charset="0"/>
              </a:rPr>
              <a:t>name</a:t>
            </a:r>
            <a:r>
              <a:rPr lang="en-US" sz="1400" b="1" dirty="0">
                <a:latin typeface="Tw Cen MT" panose="020B0602020104020603" pitchFamily="34" charset="0"/>
              </a:rPr>
              <a:t>&gt; &lt;</a:t>
            </a:r>
            <a:r>
              <a:rPr lang="en-US" sz="1400" dirty="0">
                <a:latin typeface="Tw Cen MT" panose="020B0602020104020603" pitchFamily="34" charset="0"/>
              </a:rPr>
              <a:t>constraint</a:t>
            </a:r>
            <a:r>
              <a:rPr lang="en-US" sz="1400" b="1" dirty="0">
                <a:latin typeface="Tw Cen MT" panose="020B0602020104020603" pitchFamily="34" charset="0"/>
              </a:rPr>
              <a:t> </a:t>
            </a:r>
            <a:r>
              <a:rPr lang="en-US" sz="1400" dirty="0">
                <a:latin typeface="Tw Cen MT" panose="020B0602020104020603" pitchFamily="34" charset="0"/>
              </a:rPr>
              <a:t>parameter</a:t>
            </a:r>
            <a:r>
              <a:rPr lang="en-US" sz="1400" b="1" dirty="0">
                <a:latin typeface="Tw Cen MT" panose="020B0602020104020603" pitchFamily="34" charset="0"/>
              </a:rPr>
              <a:t>&gt;,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	&lt;</a:t>
            </a:r>
            <a:r>
              <a:rPr lang="en-US" sz="1400" dirty="0">
                <a:latin typeface="Tw Cen MT" panose="020B0602020104020603" pitchFamily="34" charset="0"/>
              </a:rPr>
              <a:t>constraint2</a:t>
            </a:r>
            <a:r>
              <a:rPr lang="en-US" sz="1400" b="1" dirty="0">
                <a:latin typeface="Tw Cen MT" panose="020B0602020104020603" pitchFamily="34" charset="0"/>
              </a:rPr>
              <a:t>&gt; &lt;</a:t>
            </a:r>
            <a:r>
              <a:rPr lang="en-US" sz="1400" dirty="0">
                <a:latin typeface="Tw Cen MT" panose="020B0602020104020603" pitchFamily="34" charset="0"/>
              </a:rPr>
              <a:t>constraint</a:t>
            </a:r>
            <a:r>
              <a:rPr lang="en-US" sz="1400" b="1" dirty="0">
                <a:latin typeface="Tw Cen MT" panose="020B0602020104020603" pitchFamily="34" charset="0"/>
              </a:rPr>
              <a:t> </a:t>
            </a:r>
            <a:r>
              <a:rPr lang="en-US" sz="1400" dirty="0">
                <a:latin typeface="Tw Cen MT" panose="020B0602020104020603" pitchFamily="34" charset="0"/>
              </a:rPr>
              <a:t>name</a:t>
            </a:r>
            <a:r>
              <a:rPr lang="en-US" sz="1400" b="1" dirty="0">
                <a:latin typeface="Tw Cen MT" panose="020B0602020104020603" pitchFamily="34" charset="0"/>
              </a:rPr>
              <a:t>&gt; &lt;</a:t>
            </a:r>
            <a:r>
              <a:rPr lang="en-US" sz="1400" dirty="0">
                <a:latin typeface="Tw Cen MT" panose="020B0602020104020603" pitchFamily="34" charset="0"/>
              </a:rPr>
              <a:t>constraint</a:t>
            </a:r>
            <a:r>
              <a:rPr lang="en-US" sz="1400" b="1" dirty="0">
                <a:latin typeface="Tw Cen MT" panose="020B0602020104020603" pitchFamily="34" charset="0"/>
              </a:rPr>
              <a:t> </a:t>
            </a:r>
            <a:r>
              <a:rPr lang="en-US" sz="1400" dirty="0">
                <a:latin typeface="Tw Cen MT" panose="020B0602020104020603" pitchFamily="34" charset="0"/>
              </a:rPr>
              <a:t>parameter</a:t>
            </a:r>
            <a:r>
              <a:rPr lang="en-US" sz="1400" b="1" dirty="0">
                <a:latin typeface="Tw Cen MT" panose="020B0602020104020603" pitchFamily="34" charset="0"/>
              </a:rPr>
              <a:t>&gt;,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	......................................................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b="1" dirty="0">
                <a:latin typeface="Tw Cen MT" panose="020B0602020104020603" pitchFamily="34" charset="0"/>
              </a:rPr>
              <a:t>);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1076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B017-4E71-E8BC-9744-580AD76D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0911F3B-4C70-A838-699E-2D0FA4FF73A2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2C836A-3E43-C75F-C090-02538265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 – Alter TABLE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2ABC32-F0E0-DEAA-F4F0-82A198F5EBD3}"/>
              </a:ext>
            </a:extLst>
          </p:cNvPr>
          <p:cNvSpPr txBox="1">
            <a:spLocks/>
          </p:cNvSpPr>
          <p:nvPr/>
        </p:nvSpPr>
        <p:spPr>
          <a:xfrm>
            <a:off x="990600" y="1108017"/>
            <a:ext cx="7772400" cy="382593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lang="en-US" sz="1400" dirty="0"/>
              <a:t>Alter commands are used when we want to modify or change the filed or column related stuff of a table after they have been already created. In other words, ALTER commands works on the existing table set.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ADD </a:t>
            </a:r>
            <a:r>
              <a:rPr lang="en-US" sz="1800" b="1" i="1" dirty="0">
                <a:solidFill>
                  <a:sysClr val="windowText" lastClr="000000"/>
                </a:solidFill>
                <a:latin typeface="Tw Cen MT" panose="020B0602020104020603"/>
              </a:rPr>
              <a:t>a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newcolumn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to an existing table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ALTER TABLE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&lt;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table_name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&gt;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ADD COLUMN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&lt;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column_name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&gt; &lt;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data_type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&gt; (&lt;size&gt;)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Example: add a column “Email” to the student table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ALTER TABLE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student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ADD column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Email VARCHAR(20);</a:t>
            </a:r>
          </a:p>
        </p:txBody>
      </p:sp>
    </p:spTree>
    <p:extLst>
      <p:ext uri="{BB962C8B-B14F-4D97-AF65-F5344CB8AC3E}">
        <p14:creationId xmlns:p14="http://schemas.microsoft.com/office/powerpoint/2010/main" val="3794505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B475-2C0E-F176-1479-F494E102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60E9F7D-60C3-551B-0B7A-75855EEDD936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D5458F-D27E-D9F2-36C3-CC09F607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944" y="447243"/>
            <a:ext cx="6776110" cy="369332"/>
          </a:xfrm>
        </p:spPr>
        <p:txBody>
          <a:bodyPr/>
          <a:lstStyle/>
          <a:p>
            <a:r>
              <a:rPr lang="en-US" dirty="0" err="1"/>
              <a:t>DDl</a:t>
            </a:r>
            <a:r>
              <a:rPr lang="en-US" dirty="0"/>
              <a:t> Command – Alter TABLE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450AD2-180B-FE80-4B20-CD56CCB39E18}"/>
              </a:ext>
            </a:extLst>
          </p:cNvPr>
          <p:cNvSpPr txBox="1">
            <a:spLocks/>
          </p:cNvSpPr>
          <p:nvPr/>
        </p:nvSpPr>
        <p:spPr>
          <a:xfrm>
            <a:off x="914401" y="1120140"/>
            <a:ext cx="7619999" cy="373761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ADD multiple columns to an existing table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b="1" dirty="0"/>
              <a:t>ALTER TABLE </a:t>
            </a:r>
            <a:r>
              <a:rPr lang="en-US" sz="1800" dirty="0"/>
              <a:t>&lt;</a:t>
            </a:r>
            <a:r>
              <a:rPr lang="en-US" sz="1800" dirty="0" err="1"/>
              <a:t>table_name</a:t>
            </a:r>
            <a:r>
              <a:rPr lang="en-US" sz="1800" dirty="0"/>
              <a:t>&gt; </a:t>
            </a:r>
            <a:r>
              <a:rPr lang="en-US" sz="1800" b="1" dirty="0"/>
              <a:t>ADD COLUMN </a:t>
            </a:r>
            <a:r>
              <a:rPr lang="en-US" sz="1800" dirty="0"/>
              <a:t>( (&lt;</a:t>
            </a:r>
            <a:r>
              <a:rPr lang="en-US" sz="1800" dirty="0" err="1"/>
              <a:t>col_name</a:t>
            </a:r>
            <a:r>
              <a:rPr lang="en-US" sz="1800" dirty="0"/>
              <a:t>&gt; &lt;</a:t>
            </a:r>
            <a:r>
              <a:rPr lang="en-US" sz="1800" dirty="0" err="1"/>
              <a:t>data_type</a:t>
            </a:r>
            <a:r>
              <a:rPr lang="en-US" sz="1800" dirty="0"/>
              <a:t>&gt;,(&lt;size&gt;),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 (), ....................... ); 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Example: add two columns “CGPA” &amp; “Hobby” in the student table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 </a:t>
            </a:r>
            <a:r>
              <a:rPr lang="en-US" sz="1800" b="1" dirty="0"/>
              <a:t>ALTER TABLE student ADD COLUMN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 ( 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CGPA FLOAT(3,2), 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Hobby Varchar(20) 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dirty="0"/>
              <a:t>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73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B841-38DA-7C0E-8571-782A1311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02EE843-3076-B25B-C414-D9A7955E2974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39DAC-516B-BDC5-2E93-718B8F3B6524}"/>
              </a:ext>
            </a:extLst>
          </p:cNvPr>
          <p:cNvSpPr txBox="1">
            <a:spLocks/>
          </p:cNvSpPr>
          <p:nvPr/>
        </p:nvSpPr>
        <p:spPr>
          <a:xfrm>
            <a:off x="1143000" y="470154"/>
            <a:ext cx="97200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defRPr sz="2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kern="0" dirty="0" err="1"/>
              <a:t>DDl</a:t>
            </a:r>
            <a:r>
              <a:rPr lang="en-US" kern="0" dirty="0"/>
              <a:t> Command – ALTER TABLE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C9822A3-3142-E326-D69C-3D155FBB3A4A}"/>
              </a:ext>
            </a:extLst>
          </p:cNvPr>
          <p:cNvSpPr txBox="1">
            <a:spLocks/>
          </p:cNvSpPr>
          <p:nvPr/>
        </p:nvSpPr>
        <p:spPr>
          <a:xfrm>
            <a:off x="990601" y="1352550"/>
            <a:ext cx="7924800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dirty="0"/>
              <a:t>CHANGE/MODIFY the Datatype of a field (or, column) 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sz="1800" b="1" dirty="0"/>
              <a:t>ALTER TABLE </a:t>
            </a:r>
            <a:r>
              <a:rPr lang="en-US" sz="1800" dirty="0"/>
              <a:t>&lt;</a:t>
            </a:r>
            <a:r>
              <a:rPr lang="en-US" sz="1800" dirty="0" err="1"/>
              <a:t>table_name</a:t>
            </a:r>
            <a:r>
              <a:rPr lang="en-US" sz="1800" dirty="0"/>
              <a:t>&gt; </a:t>
            </a:r>
            <a:r>
              <a:rPr lang="en-US" sz="1800" b="1" dirty="0"/>
              <a:t>MODIFY COLUMN </a:t>
            </a:r>
            <a:r>
              <a:rPr lang="en-US" sz="1800" dirty="0"/>
              <a:t>&lt;</a:t>
            </a:r>
            <a:r>
              <a:rPr lang="en-US" sz="1800" dirty="0" err="1"/>
              <a:t>column_name</a:t>
            </a:r>
            <a:r>
              <a:rPr lang="en-US" sz="1800" dirty="0"/>
              <a:t>&gt;&lt;</a:t>
            </a:r>
            <a:r>
              <a:rPr lang="en-US" sz="1800" dirty="0" err="1"/>
              <a:t>new_datatype</a:t>
            </a:r>
            <a:r>
              <a:rPr lang="en-US" sz="1800" dirty="0"/>
              <a:t>&gt; ;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dirty="0"/>
              <a:t> Example: Change the credit field’s type to FLOAT from INT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US" dirty="0"/>
              <a:t> </a:t>
            </a:r>
            <a:r>
              <a:rPr lang="en-US" b="1" dirty="0"/>
              <a:t>ALTER TABLE </a:t>
            </a:r>
            <a:r>
              <a:rPr lang="en-US" dirty="0"/>
              <a:t>course </a:t>
            </a:r>
            <a:r>
              <a:rPr lang="en-US" b="1" dirty="0"/>
              <a:t>MODIFY COLUMN</a:t>
            </a:r>
            <a:r>
              <a:rPr lang="en-US" dirty="0"/>
              <a:t> credit FLOAT(2,1);</a:t>
            </a:r>
            <a:endParaRPr kumimoji="0" lang="en-US" sz="22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86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809B-82FE-9BA0-E6FD-90B8E968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58FC39B-A3C3-4865-409C-EE6EA2653F7A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649A7-6BA1-2A4B-0288-7AACD7A6518E}"/>
              </a:ext>
            </a:extLst>
          </p:cNvPr>
          <p:cNvSpPr txBox="1">
            <a:spLocks/>
          </p:cNvSpPr>
          <p:nvPr/>
        </p:nvSpPr>
        <p:spPr>
          <a:xfrm>
            <a:off x="1143000" y="470154"/>
            <a:ext cx="97200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defRPr sz="2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dirty="0" err="1"/>
              <a:t>DDl</a:t>
            </a:r>
            <a:r>
              <a:rPr lang="en-US" dirty="0"/>
              <a:t> Command – ALTER 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6F6779-9FB0-8DE9-9AED-8A9B4EAE645C}"/>
              </a:ext>
            </a:extLst>
          </p:cNvPr>
          <p:cNvSpPr txBox="1">
            <a:spLocks/>
          </p:cNvSpPr>
          <p:nvPr/>
        </p:nvSpPr>
        <p:spPr>
          <a:xfrm>
            <a:off x="990600" y="135255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DROP(DELETE) A COLUMN </a:t>
            </a:r>
          </a:p>
          <a:p>
            <a:pPr algn="l"/>
            <a:r>
              <a:rPr lang="en-US" sz="2000" dirty="0"/>
              <a:t>ALTER TABLE &lt;</a:t>
            </a:r>
            <a:r>
              <a:rPr lang="en-US" sz="2000" dirty="0" err="1"/>
              <a:t>table_name</a:t>
            </a:r>
            <a:r>
              <a:rPr lang="en-US" sz="2000" dirty="0"/>
              <a:t>&gt; DROP COLUMN &lt;</a:t>
            </a:r>
            <a:r>
              <a:rPr lang="en-US" sz="2000" dirty="0" err="1"/>
              <a:t>col_name</a:t>
            </a:r>
            <a:r>
              <a:rPr lang="en-US" sz="2000" dirty="0"/>
              <a:t>&gt;</a:t>
            </a:r>
          </a:p>
          <a:p>
            <a:pPr algn="l"/>
            <a:r>
              <a:rPr lang="en-US" sz="2000" dirty="0"/>
              <a:t>Example: Delete “hobby” filed from student table </a:t>
            </a:r>
          </a:p>
          <a:p>
            <a:pPr algn="l"/>
            <a:r>
              <a:rPr lang="en-US" sz="2000" dirty="0"/>
              <a:t>ALTER TABLE student DROP COLUMN Hobby;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57436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93294-5B04-7244-7281-84023B3D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A180A7B-7E89-09FF-40B6-3AC05E0B70DC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36160-17AC-2F68-481C-E886D1C64B79}"/>
              </a:ext>
            </a:extLst>
          </p:cNvPr>
          <p:cNvSpPr txBox="1">
            <a:spLocks/>
          </p:cNvSpPr>
          <p:nvPr/>
        </p:nvSpPr>
        <p:spPr>
          <a:xfrm>
            <a:off x="1143000" y="470154"/>
            <a:ext cx="97200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defRPr sz="2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dirty="0" err="1"/>
              <a:t>DDl</a:t>
            </a:r>
            <a:r>
              <a:rPr lang="en-US" dirty="0"/>
              <a:t> Command – ALTER 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64D086-7F74-2E72-3664-A6A51DCD0803}"/>
              </a:ext>
            </a:extLst>
          </p:cNvPr>
          <p:cNvSpPr txBox="1">
            <a:spLocks/>
          </p:cNvSpPr>
          <p:nvPr/>
        </p:nvSpPr>
        <p:spPr>
          <a:xfrm>
            <a:off x="990600" y="135255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RENAME A TABLE </a:t>
            </a:r>
          </a:p>
          <a:p>
            <a:pPr algn="l"/>
            <a:r>
              <a:rPr lang="en-US" sz="1600" b="1" dirty="0"/>
              <a:t>ALTER TABLE </a:t>
            </a:r>
            <a:r>
              <a:rPr lang="en-US" sz="1600" dirty="0"/>
              <a:t>&lt;</a:t>
            </a:r>
            <a:r>
              <a:rPr lang="en-US" sz="1600" dirty="0" err="1"/>
              <a:t>old_tablename</a:t>
            </a:r>
            <a:r>
              <a:rPr lang="en-US" sz="1600" dirty="0"/>
              <a:t>&gt; </a:t>
            </a:r>
            <a:r>
              <a:rPr lang="en-US" sz="1600" b="1" dirty="0"/>
              <a:t>RENAME</a:t>
            </a:r>
            <a:r>
              <a:rPr lang="en-US" sz="1600" dirty="0"/>
              <a:t>  &lt;</a:t>
            </a:r>
            <a:r>
              <a:rPr lang="en-US" sz="1600" dirty="0" err="1"/>
              <a:t>new_tablename</a:t>
            </a:r>
            <a:r>
              <a:rPr lang="en-US" sz="1600" dirty="0"/>
              <a:t>&gt;</a:t>
            </a:r>
          </a:p>
          <a:p>
            <a:pPr algn="l"/>
            <a:r>
              <a:rPr lang="en-US" sz="1600" dirty="0"/>
              <a:t>Example: Rename “course” table to “</a:t>
            </a:r>
            <a:r>
              <a:rPr lang="en-US" sz="1600" dirty="0" err="1"/>
              <a:t>University_courses</a:t>
            </a:r>
            <a:r>
              <a:rPr lang="en-US" sz="1600" dirty="0"/>
              <a:t>” </a:t>
            </a:r>
          </a:p>
          <a:p>
            <a:pPr algn="l"/>
            <a:r>
              <a:rPr lang="en-US" sz="1600" b="1" dirty="0"/>
              <a:t>ALTER TABLE </a:t>
            </a:r>
            <a:r>
              <a:rPr lang="en-US" sz="1600" dirty="0"/>
              <a:t>course </a:t>
            </a:r>
            <a:r>
              <a:rPr lang="en-US" sz="1600" b="1" dirty="0"/>
              <a:t>RENAME</a:t>
            </a:r>
            <a:r>
              <a:rPr lang="en-US" sz="1600" dirty="0"/>
              <a:t> </a:t>
            </a:r>
            <a:r>
              <a:rPr lang="en-US" sz="1600" dirty="0" err="1"/>
              <a:t>university_courses</a:t>
            </a:r>
            <a:r>
              <a:rPr lang="en-US" sz="1600" dirty="0"/>
              <a:t>;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61162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5183-C758-F2CC-13D6-BF65F6ED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9684987-2F65-C0C6-D864-F748296AB163}"/>
              </a:ext>
            </a:extLst>
          </p:cNvPr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D5DA0-F302-F508-B46F-18D0C9A37D22}"/>
              </a:ext>
            </a:extLst>
          </p:cNvPr>
          <p:cNvSpPr txBox="1">
            <a:spLocks/>
          </p:cNvSpPr>
          <p:nvPr/>
        </p:nvSpPr>
        <p:spPr>
          <a:xfrm>
            <a:off x="1143000" y="470154"/>
            <a:ext cx="97200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defRPr sz="24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dirty="0" err="1"/>
              <a:t>DDl</a:t>
            </a:r>
            <a:r>
              <a:rPr lang="en-US" dirty="0"/>
              <a:t> Command – DROP TABLE</a:t>
            </a: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466D93-1DB4-E3F4-445F-7B54D45EC319}"/>
              </a:ext>
            </a:extLst>
          </p:cNvPr>
          <p:cNvSpPr txBox="1">
            <a:spLocks/>
          </p:cNvSpPr>
          <p:nvPr/>
        </p:nvSpPr>
        <p:spPr>
          <a:xfrm>
            <a:off x="990600" y="135255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0" i="0" u="none" strike="noStrike" baseline="0" dirty="0">
                <a:latin typeface="Cascadia Mono PL ExtraLight" panose="020B0609020000020004" pitchFamily="49" charset="0"/>
                <a:cs typeface="Cascadia Mono PL ExtraLight" panose="020B0609020000020004" pitchFamily="49" charset="0"/>
              </a:rPr>
              <a:t>Drop table &lt;</a:t>
            </a:r>
            <a:r>
              <a:rPr lang="en-US" sz="2400" b="0" i="0" u="none" strike="noStrike" baseline="0" dirty="0" err="1">
                <a:latin typeface="Cascadia Mono PL ExtraLight" panose="020B0609020000020004" pitchFamily="49" charset="0"/>
                <a:cs typeface="Cascadia Mono PL ExtraLight" panose="020B0609020000020004" pitchFamily="49" charset="0"/>
              </a:rPr>
              <a:t>tablename</a:t>
            </a:r>
            <a:r>
              <a:rPr lang="en-US" sz="2400" b="0" i="0" u="none" strike="noStrike" baseline="0" dirty="0">
                <a:latin typeface="Cascadia Mono PL ExtraLight" panose="020B0609020000020004" pitchFamily="49" charset="0"/>
                <a:cs typeface="Cascadia Mono PL ExtraLight" panose="020B0609020000020004" pitchFamily="49" charset="0"/>
              </a:rPr>
              <a:t>&gt;;</a:t>
            </a:r>
          </a:p>
          <a:p>
            <a:pPr algn="l"/>
            <a:r>
              <a:rPr lang="en-US" sz="2400" b="0" i="1" u="none" strike="noStrike" baseline="0" dirty="0">
                <a:latin typeface="cmr10" panose="020B0500000000000000" pitchFamily="34" charset="0"/>
              </a:rPr>
              <a:t>Example:</a:t>
            </a:r>
          </a:p>
          <a:p>
            <a:pPr algn="l"/>
            <a:r>
              <a:rPr lang="en-US" sz="2400" b="0" i="1" u="none" strike="noStrike" baseline="0" dirty="0">
                <a:latin typeface="CMTT10"/>
              </a:rPr>
              <a:t>Drop table </a:t>
            </a:r>
            <a:r>
              <a:rPr lang="en-US" sz="2400" b="0" i="1" u="none" strike="noStrike" baseline="0" dirty="0" err="1">
                <a:latin typeface="CMTT10"/>
              </a:rPr>
              <a:t>university_department</a:t>
            </a:r>
            <a:r>
              <a:rPr lang="en-US" sz="2400" b="0" i="1" u="none" strike="noStrike" baseline="0" dirty="0">
                <a:latin typeface="CMTT10"/>
              </a:rPr>
              <a:t>;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29728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5ABA-56F0-84F8-23A0-A5EAF76E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5733CC-ED3E-C28F-8D1E-3BC06EE9B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Starting with MySQL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A1344F-361F-2166-F07C-920FA8420536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1276350"/>
            <a:ext cx="701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Installation</a:t>
            </a:r>
          </a:p>
          <a:p>
            <a:r>
              <a:rPr lang="en-US" dirty="0"/>
              <a:t>    </a:t>
            </a:r>
            <a:r>
              <a:rPr lang="en-US" dirty="0">
                <a:hlinkClick r:id="rId2"/>
              </a:rPr>
              <a:t>https://www.temok.com/blog/xampp-installation-on-windows/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480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981C-769C-ECA6-4DCC-2D7C5BAB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6A41BDC-C1C7-3A21-0203-5B21330451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MySQL Constraints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B77530A-57A3-A08C-3F35-3CE33A6F670F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62186-DB5E-3941-874B-3708535F9B82}"/>
              </a:ext>
            </a:extLst>
          </p:cNvPr>
          <p:cNvSpPr txBox="1"/>
          <p:nvPr/>
        </p:nvSpPr>
        <p:spPr>
          <a:xfrm>
            <a:off x="1295400" y="1276350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hlinkClick r:id="rId2"/>
              </a:rPr>
              <a:t>https://www.w3schools.com/MySQL/mysql_constraints.asp</a:t>
            </a: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94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CD19A-D579-6EB1-E21A-76E3DEAA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FBE4E7-2670-674D-FD59-75E2188ABE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MySQL Constraints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A0F43D-E895-ADBD-4552-C1FCB1BED338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1F524-ADBE-08B5-83BD-30226D438DE4}"/>
              </a:ext>
            </a:extLst>
          </p:cNvPr>
          <p:cNvSpPr txBox="1"/>
          <p:nvPr/>
        </p:nvSpPr>
        <p:spPr>
          <a:xfrm>
            <a:off x="1295400" y="127635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to pdf DDL Commands</a:t>
            </a:r>
          </a:p>
        </p:txBody>
      </p:sp>
    </p:spTree>
    <p:extLst>
      <p:ext uri="{BB962C8B-B14F-4D97-AF65-F5344CB8AC3E}">
        <p14:creationId xmlns:p14="http://schemas.microsoft.com/office/powerpoint/2010/main" val="10605542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ABAF-46D8-2B8E-E731-F7CF2869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E19816-00DD-A9E8-F4FC-C88074022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3944" y="436416"/>
            <a:ext cx="677324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pc="-165" dirty="0">
                <a:latin typeface="Arial" panose="020B0604020202020204" pitchFamily="34" charset="0"/>
                <a:cs typeface="Arial" panose="020B0604020202020204" pitchFamily="34" charset="0"/>
              </a:rPr>
              <a:t> Practice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360E95E-432E-B43A-9F48-A8A27528E572}"/>
              </a:ext>
            </a:extLst>
          </p:cNvPr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2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35F28E-BC3A-446C-E160-C294651B9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999" y="1307495"/>
            <a:ext cx="124819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3316" name="Picture 4" descr="Database schema: SQL schema examples and best practices">
            <a:extLst>
              <a:ext uri="{FF2B5EF4-FFF2-40B4-BE49-F238E27FC236}">
                <a16:creationId xmlns:a16="http://schemas.microsoft.com/office/drawing/2014/main" id="{69604ADA-B02A-6D41-A9AE-F74E51254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57350"/>
            <a:ext cx="5111535" cy="269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6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1212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Relational Model part - 1</Template>
  <TotalTime>131</TotalTime>
  <Words>2221</Words>
  <Application>Microsoft Office PowerPoint</Application>
  <PresentationFormat>On-screen Show (16:9)</PresentationFormat>
  <Paragraphs>402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Aptos</vt:lpstr>
      <vt:lpstr>Arial</vt:lpstr>
      <vt:lpstr>Calibri</vt:lpstr>
      <vt:lpstr>Cascadia Mono PL ExtraLight</vt:lpstr>
      <vt:lpstr>cmr10</vt:lpstr>
      <vt:lpstr>CMTT10</vt:lpstr>
      <vt:lpstr>Monotype Sorts</vt:lpstr>
      <vt:lpstr>Trebuchet MS</vt:lpstr>
      <vt:lpstr>Tw Cen MT</vt:lpstr>
      <vt:lpstr>Wingdings</vt:lpstr>
      <vt:lpstr>Office Theme</vt:lpstr>
      <vt:lpstr>PowerPoint Presentation</vt:lpstr>
      <vt:lpstr>Relational Model Concepts</vt:lpstr>
      <vt:lpstr>Relational Model Concepts</vt:lpstr>
      <vt:lpstr>Domains, Attributes, Tuples, and Relations </vt:lpstr>
      <vt:lpstr>Relations are Unordered</vt:lpstr>
      <vt:lpstr>Relation Schema</vt:lpstr>
      <vt:lpstr>Database</vt:lpstr>
      <vt:lpstr>Database</vt:lpstr>
      <vt:lpstr>Key Constraints and Constraints on NULL Values</vt:lpstr>
      <vt:lpstr>Key Constraints – Super Key</vt:lpstr>
      <vt:lpstr>Key Constraints – Super Key</vt:lpstr>
      <vt:lpstr>Key Constraints – Candidate Key</vt:lpstr>
      <vt:lpstr>Key Constraints – Primary Key</vt:lpstr>
      <vt:lpstr>Key Constraints – Foreign Key</vt:lpstr>
      <vt:lpstr>Key Constraints – Unique Key</vt:lpstr>
      <vt:lpstr>Key Constraints – Composite Key</vt:lpstr>
      <vt:lpstr>Relational Database Schemas</vt:lpstr>
      <vt:lpstr>Relational Database Schemas</vt:lpstr>
      <vt:lpstr> Integrity, Referential Integrity, and Foreign Keys</vt:lpstr>
      <vt:lpstr> Integrity, Referential Integrity, and Foreign Keys</vt:lpstr>
      <vt:lpstr> Integrity, Referential Integrity, and Foreign Keys</vt:lpstr>
      <vt:lpstr> Integrity, Referential Integrity Constraints</vt:lpstr>
      <vt:lpstr>SQL vs MYSQL</vt:lpstr>
      <vt:lpstr>SQL Commands</vt:lpstr>
      <vt:lpstr>Table</vt:lpstr>
      <vt:lpstr>Database</vt:lpstr>
      <vt:lpstr>Relational Database</vt:lpstr>
      <vt:lpstr>Relational Database</vt:lpstr>
      <vt:lpstr>Primary Key </vt:lpstr>
      <vt:lpstr>Primary Key - Example </vt:lpstr>
      <vt:lpstr>Foreign key</vt:lpstr>
      <vt:lpstr>Foreign key - Example</vt:lpstr>
      <vt:lpstr>SQL Commands Cont’d</vt:lpstr>
      <vt:lpstr>DDL Command -create</vt:lpstr>
      <vt:lpstr>Common DATA TYPES</vt:lpstr>
      <vt:lpstr>DDl Command – Alter TABLE</vt:lpstr>
      <vt:lpstr>DDl Command – Alter TABLE</vt:lpstr>
      <vt:lpstr>DDl Command – Alter TABLE</vt:lpstr>
      <vt:lpstr>PowerPoint Presentation</vt:lpstr>
      <vt:lpstr>PowerPoint Presentation</vt:lpstr>
      <vt:lpstr>PowerPoint Presentation</vt:lpstr>
      <vt:lpstr>PowerPoint Presentation</vt:lpstr>
      <vt:lpstr> Starting with MySQL</vt:lpstr>
      <vt:lpstr> MySQL Constraints</vt:lpstr>
      <vt:lpstr> MySQL Constraints</vt:lpstr>
      <vt:lpstr>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social</dc:creator>
  <cp:lastModifiedBy>Mahmudul Rakib</cp:lastModifiedBy>
  <cp:revision>21</cp:revision>
  <dcterms:created xsi:type="dcterms:W3CDTF">2024-11-09T08:16:57Z</dcterms:created>
  <dcterms:modified xsi:type="dcterms:W3CDTF">2025-07-25T16:30:26Z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2023-02-14T00:00:00Z</vt:filetime>
  </property>
</Properties>
</file>