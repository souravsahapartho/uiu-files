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9144000" cy="514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804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/>
              <a:t>Mohammad</a:t>
            </a:r>
            <a:r>
              <a:rPr lang="en-US" spc="-60"/>
              <a:t> </a:t>
            </a:r>
            <a:r>
              <a:rPr lang="en-US"/>
              <a:t>Imam</a:t>
            </a:r>
            <a:r>
              <a:rPr lang="en-US" spc="-30"/>
              <a:t> </a:t>
            </a:r>
            <a:r>
              <a:rPr lang="en-US"/>
              <a:t>Hossain,</a:t>
            </a:r>
            <a:r>
              <a:rPr lang="en-US" spc="-20"/>
              <a:t> </a:t>
            </a:r>
            <a:r>
              <a:rPr lang="en-US"/>
              <a:t>Lecturer,</a:t>
            </a:r>
            <a:r>
              <a:rPr lang="en-US" spc="-30"/>
              <a:t> </a:t>
            </a:r>
            <a:r>
              <a:rPr lang="en-US"/>
              <a:t>Dept.</a:t>
            </a:r>
            <a:r>
              <a:rPr lang="en-US" spc="-30"/>
              <a:t> </a:t>
            </a:r>
            <a:r>
              <a:rPr lang="en-US"/>
              <a:t>of</a:t>
            </a:r>
            <a:r>
              <a:rPr lang="en-US" spc="-30"/>
              <a:t> </a:t>
            </a:r>
            <a:r>
              <a:rPr lang="en-US"/>
              <a:t>CSE,</a:t>
            </a:r>
            <a:r>
              <a:rPr lang="en-US" spc="-10"/>
              <a:t> </a:t>
            </a:r>
            <a:r>
              <a:rPr lang="en-US" spc="-25"/>
              <a:t>UIU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725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/>
              <a:t>Mohammad</a:t>
            </a:r>
            <a:r>
              <a:rPr lang="en-US" spc="-60"/>
              <a:t> </a:t>
            </a:r>
            <a:r>
              <a:rPr lang="en-US"/>
              <a:t>Imam</a:t>
            </a:r>
            <a:r>
              <a:rPr lang="en-US" spc="-30"/>
              <a:t> </a:t>
            </a:r>
            <a:r>
              <a:rPr lang="en-US"/>
              <a:t>Hossain,</a:t>
            </a:r>
            <a:r>
              <a:rPr lang="en-US" spc="-20"/>
              <a:t> </a:t>
            </a:r>
            <a:r>
              <a:rPr lang="en-US"/>
              <a:t>Lecturer,</a:t>
            </a:r>
            <a:r>
              <a:rPr lang="en-US" spc="-30"/>
              <a:t> </a:t>
            </a:r>
            <a:r>
              <a:rPr lang="en-US"/>
              <a:t>Dept.</a:t>
            </a:r>
            <a:r>
              <a:rPr lang="en-US" spc="-30"/>
              <a:t> </a:t>
            </a:r>
            <a:r>
              <a:rPr lang="en-US"/>
              <a:t>of</a:t>
            </a:r>
            <a:r>
              <a:rPr lang="en-US" spc="-30"/>
              <a:t> </a:t>
            </a:r>
            <a:r>
              <a:rPr lang="en-US"/>
              <a:t>CSE,</a:t>
            </a:r>
            <a:r>
              <a:rPr lang="en-US" spc="-10"/>
              <a:t> </a:t>
            </a:r>
            <a:r>
              <a:rPr lang="en-US" spc="-25"/>
              <a:t>UIU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028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/>
              <a:t>Mohammad</a:t>
            </a:r>
            <a:r>
              <a:rPr lang="en-US" spc="-60"/>
              <a:t> </a:t>
            </a:r>
            <a:r>
              <a:rPr lang="en-US"/>
              <a:t>Imam</a:t>
            </a:r>
            <a:r>
              <a:rPr lang="en-US" spc="-30"/>
              <a:t> </a:t>
            </a:r>
            <a:r>
              <a:rPr lang="en-US"/>
              <a:t>Hossain,</a:t>
            </a:r>
            <a:r>
              <a:rPr lang="en-US" spc="-20"/>
              <a:t> </a:t>
            </a:r>
            <a:r>
              <a:rPr lang="en-US"/>
              <a:t>Lecturer,</a:t>
            </a:r>
            <a:r>
              <a:rPr lang="en-US" spc="-30"/>
              <a:t> </a:t>
            </a:r>
            <a:r>
              <a:rPr lang="en-US"/>
              <a:t>Dept.</a:t>
            </a:r>
            <a:r>
              <a:rPr lang="en-US" spc="-30"/>
              <a:t> </a:t>
            </a:r>
            <a:r>
              <a:rPr lang="en-US"/>
              <a:t>of</a:t>
            </a:r>
            <a:r>
              <a:rPr lang="en-US" spc="-30"/>
              <a:t> </a:t>
            </a:r>
            <a:r>
              <a:rPr lang="en-US"/>
              <a:t>CSE,</a:t>
            </a:r>
            <a:r>
              <a:rPr lang="en-US" spc="-10"/>
              <a:t> </a:t>
            </a:r>
            <a:r>
              <a:rPr lang="en-US" spc="-25"/>
              <a:t>UIU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979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/>
              <a:t>Mohammad</a:t>
            </a:r>
            <a:r>
              <a:rPr lang="en-US" spc="-60"/>
              <a:t> </a:t>
            </a:r>
            <a:r>
              <a:rPr lang="en-US"/>
              <a:t>Imam</a:t>
            </a:r>
            <a:r>
              <a:rPr lang="en-US" spc="-30"/>
              <a:t> </a:t>
            </a:r>
            <a:r>
              <a:rPr lang="en-US"/>
              <a:t>Hossain,</a:t>
            </a:r>
            <a:r>
              <a:rPr lang="en-US" spc="-20"/>
              <a:t> </a:t>
            </a:r>
            <a:r>
              <a:rPr lang="en-US"/>
              <a:t>Lecturer,</a:t>
            </a:r>
            <a:r>
              <a:rPr lang="en-US" spc="-30"/>
              <a:t> </a:t>
            </a:r>
            <a:r>
              <a:rPr lang="en-US"/>
              <a:t>Dept.</a:t>
            </a:r>
            <a:r>
              <a:rPr lang="en-US" spc="-30"/>
              <a:t> </a:t>
            </a:r>
            <a:r>
              <a:rPr lang="en-US"/>
              <a:t>of</a:t>
            </a:r>
            <a:r>
              <a:rPr lang="en-US" spc="-30"/>
              <a:t> </a:t>
            </a:r>
            <a:r>
              <a:rPr lang="en-US"/>
              <a:t>CSE,</a:t>
            </a:r>
            <a:r>
              <a:rPr lang="en-US" spc="-10"/>
              <a:t> </a:t>
            </a:r>
            <a:r>
              <a:rPr lang="en-US" spc="-25"/>
              <a:t>UIU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91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/>
              <a:t>Mohammad</a:t>
            </a:r>
            <a:r>
              <a:rPr lang="en-US" spc="-60"/>
              <a:t> </a:t>
            </a:r>
            <a:r>
              <a:rPr lang="en-US"/>
              <a:t>Imam</a:t>
            </a:r>
            <a:r>
              <a:rPr lang="en-US" spc="-30"/>
              <a:t> </a:t>
            </a:r>
            <a:r>
              <a:rPr lang="en-US"/>
              <a:t>Hossain,</a:t>
            </a:r>
            <a:r>
              <a:rPr lang="en-US" spc="-20"/>
              <a:t> </a:t>
            </a:r>
            <a:r>
              <a:rPr lang="en-US"/>
              <a:t>Lecturer,</a:t>
            </a:r>
            <a:r>
              <a:rPr lang="en-US" spc="-30"/>
              <a:t> </a:t>
            </a:r>
            <a:r>
              <a:rPr lang="en-US"/>
              <a:t>Dept.</a:t>
            </a:r>
            <a:r>
              <a:rPr lang="en-US" spc="-30"/>
              <a:t> </a:t>
            </a:r>
            <a:r>
              <a:rPr lang="en-US"/>
              <a:t>of</a:t>
            </a:r>
            <a:r>
              <a:rPr lang="en-US" spc="-30"/>
              <a:t> </a:t>
            </a:r>
            <a:r>
              <a:rPr lang="en-US"/>
              <a:t>CSE,</a:t>
            </a:r>
            <a:r>
              <a:rPr lang="en-US" spc="-10"/>
              <a:t> </a:t>
            </a:r>
            <a:r>
              <a:rPr lang="en-US" spc="-25"/>
              <a:t>UIU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57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/>
              <a:t>Mohammad</a:t>
            </a:r>
            <a:r>
              <a:rPr lang="en-US" spc="-60"/>
              <a:t> </a:t>
            </a:r>
            <a:r>
              <a:rPr lang="en-US"/>
              <a:t>Imam</a:t>
            </a:r>
            <a:r>
              <a:rPr lang="en-US" spc="-30"/>
              <a:t> </a:t>
            </a:r>
            <a:r>
              <a:rPr lang="en-US"/>
              <a:t>Hossain,</a:t>
            </a:r>
            <a:r>
              <a:rPr lang="en-US" spc="-20"/>
              <a:t> </a:t>
            </a:r>
            <a:r>
              <a:rPr lang="en-US"/>
              <a:t>Lecturer,</a:t>
            </a:r>
            <a:r>
              <a:rPr lang="en-US" spc="-30"/>
              <a:t> </a:t>
            </a:r>
            <a:r>
              <a:rPr lang="en-US"/>
              <a:t>Dept.</a:t>
            </a:r>
            <a:r>
              <a:rPr lang="en-US" spc="-30"/>
              <a:t> </a:t>
            </a:r>
            <a:r>
              <a:rPr lang="en-US"/>
              <a:t>of</a:t>
            </a:r>
            <a:r>
              <a:rPr lang="en-US" spc="-30"/>
              <a:t> </a:t>
            </a:r>
            <a:r>
              <a:rPr lang="en-US"/>
              <a:t>CSE,</a:t>
            </a:r>
            <a:r>
              <a:rPr lang="en-US" spc="-10"/>
              <a:t> </a:t>
            </a:r>
            <a:r>
              <a:rPr lang="en-US" spc="-25"/>
              <a:t>UIU</a:t>
            </a:r>
            <a:endParaRPr lang="en-U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81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en-US"/>
              <a:t>Mohammad</a:t>
            </a:r>
            <a:r>
              <a:rPr lang="en-US" spc="-60"/>
              <a:t> </a:t>
            </a:r>
            <a:r>
              <a:rPr lang="en-US"/>
              <a:t>Imam</a:t>
            </a:r>
            <a:r>
              <a:rPr lang="en-US" spc="-30"/>
              <a:t> </a:t>
            </a:r>
            <a:r>
              <a:rPr lang="en-US"/>
              <a:t>Hossain,</a:t>
            </a:r>
            <a:r>
              <a:rPr lang="en-US" spc="-20"/>
              <a:t> </a:t>
            </a:r>
            <a:r>
              <a:rPr lang="en-US"/>
              <a:t>Lecturer,</a:t>
            </a:r>
            <a:r>
              <a:rPr lang="en-US" spc="-30"/>
              <a:t> </a:t>
            </a:r>
            <a:r>
              <a:rPr lang="en-US"/>
              <a:t>Dept.</a:t>
            </a:r>
            <a:r>
              <a:rPr lang="en-US" spc="-30"/>
              <a:t> </a:t>
            </a:r>
            <a:r>
              <a:rPr lang="en-US"/>
              <a:t>of</a:t>
            </a:r>
            <a:r>
              <a:rPr lang="en-US" spc="-30"/>
              <a:t> </a:t>
            </a:r>
            <a:r>
              <a:rPr lang="en-US"/>
              <a:t>CSE,</a:t>
            </a:r>
            <a:r>
              <a:rPr lang="en-US" spc="-10"/>
              <a:t> </a:t>
            </a:r>
            <a:r>
              <a:rPr lang="en-US" spc="-25"/>
              <a:t>UIU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5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en-US"/>
              <a:t>Mohammad</a:t>
            </a:r>
            <a:r>
              <a:rPr lang="en-US" spc="-60"/>
              <a:t> </a:t>
            </a:r>
            <a:r>
              <a:rPr lang="en-US"/>
              <a:t>Imam</a:t>
            </a:r>
            <a:r>
              <a:rPr lang="en-US" spc="-30"/>
              <a:t> </a:t>
            </a:r>
            <a:r>
              <a:rPr lang="en-US"/>
              <a:t>Hossain,</a:t>
            </a:r>
            <a:r>
              <a:rPr lang="en-US" spc="-20"/>
              <a:t> </a:t>
            </a:r>
            <a:r>
              <a:rPr lang="en-US"/>
              <a:t>Lecturer,</a:t>
            </a:r>
            <a:r>
              <a:rPr lang="en-US" spc="-30"/>
              <a:t> </a:t>
            </a:r>
            <a:r>
              <a:rPr lang="en-US"/>
              <a:t>Dept.</a:t>
            </a:r>
            <a:r>
              <a:rPr lang="en-US" spc="-30"/>
              <a:t> </a:t>
            </a:r>
            <a:r>
              <a:rPr lang="en-US"/>
              <a:t>of</a:t>
            </a:r>
            <a:r>
              <a:rPr lang="en-US" spc="-30"/>
              <a:t> </a:t>
            </a:r>
            <a:r>
              <a:rPr lang="en-US"/>
              <a:t>CSE,</a:t>
            </a:r>
            <a:r>
              <a:rPr lang="en-US" spc="-10"/>
              <a:t> </a:t>
            </a:r>
            <a:r>
              <a:rPr lang="en-US" spc="-25"/>
              <a:t>UIU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8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/>
              <a:t>Mohammad</a:t>
            </a:r>
            <a:r>
              <a:rPr lang="en-US" spc="-60"/>
              <a:t> </a:t>
            </a:r>
            <a:r>
              <a:rPr lang="en-US"/>
              <a:t>Imam</a:t>
            </a:r>
            <a:r>
              <a:rPr lang="en-US" spc="-30"/>
              <a:t> </a:t>
            </a:r>
            <a:r>
              <a:rPr lang="en-US"/>
              <a:t>Hossain,</a:t>
            </a:r>
            <a:r>
              <a:rPr lang="en-US" spc="-20"/>
              <a:t> </a:t>
            </a:r>
            <a:r>
              <a:rPr lang="en-US"/>
              <a:t>Lecturer,</a:t>
            </a:r>
            <a:r>
              <a:rPr lang="en-US" spc="-30"/>
              <a:t> </a:t>
            </a:r>
            <a:r>
              <a:rPr lang="en-US"/>
              <a:t>Dept.</a:t>
            </a:r>
            <a:r>
              <a:rPr lang="en-US" spc="-30"/>
              <a:t> </a:t>
            </a:r>
            <a:r>
              <a:rPr lang="en-US"/>
              <a:t>of</a:t>
            </a:r>
            <a:r>
              <a:rPr lang="en-US" spc="-30"/>
              <a:t> </a:t>
            </a:r>
            <a:r>
              <a:rPr lang="en-US"/>
              <a:t>CSE,</a:t>
            </a:r>
            <a:r>
              <a:rPr lang="en-US" spc="-10"/>
              <a:t> </a:t>
            </a:r>
            <a:r>
              <a:rPr lang="en-US" spc="-25"/>
              <a:t>UIU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09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/>
              <a:t>Mohammad</a:t>
            </a:r>
            <a:r>
              <a:rPr lang="en-US" spc="-60"/>
              <a:t> </a:t>
            </a:r>
            <a:r>
              <a:rPr lang="en-US"/>
              <a:t>Imam</a:t>
            </a:r>
            <a:r>
              <a:rPr lang="en-US" spc="-30"/>
              <a:t> </a:t>
            </a:r>
            <a:r>
              <a:rPr lang="en-US"/>
              <a:t>Hossain,</a:t>
            </a:r>
            <a:r>
              <a:rPr lang="en-US" spc="-20"/>
              <a:t> </a:t>
            </a:r>
            <a:r>
              <a:rPr lang="en-US"/>
              <a:t>Lecturer,</a:t>
            </a:r>
            <a:r>
              <a:rPr lang="en-US" spc="-30"/>
              <a:t> </a:t>
            </a:r>
            <a:r>
              <a:rPr lang="en-US"/>
              <a:t>Dept.</a:t>
            </a:r>
            <a:r>
              <a:rPr lang="en-US" spc="-30"/>
              <a:t> </a:t>
            </a:r>
            <a:r>
              <a:rPr lang="en-US"/>
              <a:t>of</a:t>
            </a:r>
            <a:r>
              <a:rPr lang="en-US" spc="-30"/>
              <a:t> </a:t>
            </a:r>
            <a:r>
              <a:rPr lang="en-US"/>
              <a:t>CSE,</a:t>
            </a:r>
            <a:r>
              <a:rPr lang="en-US" spc="-10"/>
              <a:t> </a:t>
            </a:r>
            <a:r>
              <a:rPr lang="en-US" spc="-25"/>
              <a:t>UIU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3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/>
              <a:t>Mohammad</a:t>
            </a:r>
            <a:r>
              <a:rPr lang="en-US" spc="-60"/>
              <a:t> </a:t>
            </a:r>
            <a:r>
              <a:rPr lang="en-US"/>
              <a:t>Imam</a:t>
            </a:r>
            <a:r>
              <a:rPr lang="en-US" spc="-30"/>
              <a:t> </a:t>
            </a:r>
            <a:r>
              <a:rPr lang="en-US"/>
              <a:t>Hossain,</a:t>
            </a:r>
            <a:r>
              <a:rPr lang="en-US" spc="-20"/>
              <a:t> </a:t>
            </a:r>
            <a:r>
              <a:rPr lang="en-US"/>
              <a:t>Lecturer,</a:t>
            </a:r>
            <a:r>
              <a:rPr lang="en-US" spc="-30"/>
              <a:t> </a:t>
            </a:r>
            <a:r>
              <a:rPr lang="en-US"/>
              <a:t>Dept.</a:t>
            </a:r>
            <a:r>
              <a:rPr lang="en-US" spc="-30"/>
              <a:t> </a:t>
            </a:r>
            <a:r>
              <a:rPr lang="en-US"/>
              <a:t>of</a:t>
            </a:r>
            <a:r>
              <a:rPr lang="en-US" spc="-30"/>
              <a:t> </a:t>
            </a:r>
            <a:r>
              <a:rPr lang="en-US"/>
              <a:t>CSE,</a:t>
            </a:r>
            <a:r>
              <a:rPr lang="en-US" spc="-10"/>
              <a:t> </a:t>
            </a:r>
            <a:r>
              <a:rPr lang="en-US" spc="-25"/>
              <a:t>UIU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24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en-US"/>
              <a:t>Mohammad</a:t>
            </a:r>
            <a:r>
              <a:rPr lang="en-US" spc="-60"/>
              <a:t> </a:t>
            </a:r>
            <a:r>
              <a:rPr lang="en-US"/>
              <a:t>Imam</a:t>
            </a:r>
            <a:r>
              <a:rPr lang="en-US" spc="-30"/>
              <a:t> </a:t>
            </a:r>
            <a:r>
              <a:rPr lang="en-US"/>
              <a:t>Hossain,</a:t>
            </a:r>
            <a:r>
              <a:rPr lang="en-US" spc="-20"/>
              <a:t> </a:t>
            </a:r>
            <a:r>
              <a:rPr lang="en-US"/>
              <a:t>Lecturer,</a:t>
            </a:r>
            <a:r>
              <a:rPr lang="en-US" spc="-30"/>
              <a:t> </a:t>
            </a:r>
            <a:r>
              <a:rPr lang="en-US"/>
              <a:t>Dept.</a:t>
            </a:r>
            <a:r>
              <a:rPr lang="en-US" spc="-30"/>
              <a:t> </a:t>
            </a:r>
            <a:r>
              <a:rPr lang="en-US"/>
              <a:t>of</a:t>
            </a:r>
            <a:r>
              <a:rPr lang="en-US" spc="-30"/>
              <a:t> </a:t>
            </a:r>
            <a:r>
              <a:rPr lang="en-US"/>
              <a:t>CSE,</a:t>
            </a:r>
            <a:r>
              <a:rPr lang="en-US" spc="-10"/>
              <a:t> </a:t>
            </a:r>
            <a:r>
              <a:rPr lang="en-US" spc="-25"/>
              <a:t>UIU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146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rtabelo.com/blog/chen-erd-notation/" TargetMode="External"/><Relationship Id="rId2" Type="http://schemas.openxmlformats.org/officeDocument/2006/relationships/hyperlink" Target="https://www.lucidchart.com/pages/er-diagram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0608CB-F960-3585-657C-B92A1722EA65}"/>
              </a:ext>
            </a:extLst>
          </p:cNvPr>
          <p:cNvSpPr txBox="1"/>
          <p:nvPr/>
        </p:nvSpPr>
        <p:spPr>
          <a:xfrm>
            <a:off x="762000" y="1428750"/>
            <a:ext cx="73468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entury" panose="02040604050505020304" pitchFamily="18" charset="0"/>
              </a:rPr>
              <a:t>Database Management System (CSE 3521)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75E611-0C74-FC6F-95E1-C0DF295C3CFC}"/>
              </a:ext>
            </a:extLst>
          </p:cNvPr>
          <p:cNvSpPr txBox="1"/>
          <p:nvPr/>
        </p:nvSpPr>
        <p:spPr>
          <a:xfrm>
            <a:off x="762000" y="1951970"/>
            <a:ext cx="5085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entury" panose="02040604050505020304" pitchFamily="18" charset="0"/>
              </a:rPr>
              <a:t>ER Diagram to Relational Schema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Design</a:t>
            </a:r>
            <a:r>
              <a:rPr spc="-220" dirty="0"/>
              <a:t> </a:t>
            </a:r>
            <a:r>
              <a:rPr spc="-145" dirty="0"/>
              <a:t>Phases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Gill Sans MT"/>
                <a:cs typeface="Gill Sans MT"/>
              </a:rPr>
              <a:t>2</a:t>
            </a:r>
            <a:endParaRPr sz="13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28614" y="3423158"/>
            <a:ext cx="1284605" cy="853440"/>
            <a:chOff x="5928614" y="3423158"/>
            <a:chExt cx="1284605" cy="853440"/>
          </a:xfrm>
        </p:grpSpPr>
        <p:sp>
          <p:nvSpPr>
            <p:cNvPr id="5" name="object 5"/>
            <p:cNvSpPr/>
            <p:nvPr/>
          </p:nvSpPr>
          <p:spPr>
            <a:xfrm>
              <a:off x="5941314" y="3435350"/>
              <a:ext cx="1259205" cy="828040"/>
            </a:xfrm>
            <a:custGeom>
              <a:avLst/>
              <a:gdLst/>
              <a:ahLst/>
              <a:cxnLst/>
              <a:rect l="l" t="t" r="r" b="b"/>
              <a:pathLst>
                <a:path w="1259204" h="828039">
                  <a:moveTo>
                    <a:pt x="1258824" y="0"/>
                  </a:moveTo>
                  <a:lnTo>
                    <a:pt x="0" y="0"/>
                  </a:lnTo>
                  <a:lnTo>
                    <a:pt x="0" y="133350"/>
                  </a:lnTo>
                  <a:lnTo>
                    <a:pt x="1125474" y="133350"/>
                  </a:lnTo>
                  <a:lnTo>
                    <a:pt x="1125474" y="828040"/>
                  </a:lnTo>
                  <a:lnTo>
                    <a:pt x="1258824" y="828040"/>
                  </a:lnTo>
                  <a:lnTo>
                    <a:pt x="1258824" y="133350"/>
                  </a:lnTo>
                  <a:lnTo>
                    <a:pt x="1258824" y="0"/>
                  </a:lnTo>
                  <a:close/>
                </a:path>
              </a:pathLst>
            </a:custGeom>
            <a:solidFill>
              <a:srgbClr val="862C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41314" y="3435858"/>
              <a:ext cx="1259205" cy="828040"/>
            </a:xfrm>
            <a:custGeom>
              <a:avLst/>
              <a:gdLst/>
              <a:ahLst/>
              <a:cxnLst/>
              <a:rect l="l" t="t" r="r" b="b"/>
              <a:pathLst>
                <a:path w="1259204" h="828039">
                  <a:moveTo>
                    <a:pt x="1258824" y="827532"/>
                  </a:moveTo>
                  <a:lnTo>
                    <a:pt x="1125474" y="827532"/>
                  </a:lnTo>
                  <a:lnTo>
                    <a:pt x="1125474" y="133350"/>
                  </a:lnTo>
                  <a:lnTo>
                    <a:pt x="0" y="133350"/>
                  </a:lnTo>
                  <a:lnTo>
                    <a:pt x="0" y="0"/>
                  </a:lnTo>
                  <a:lnTo>
                    <a:pt x="1258824" y="0"/>
                  </a:lnTo>
                  <a:lnTo>
                    <a:pt x="1258824" y="827532"/>
                  </a:lnTo>
                  <a:close/>
                </a:path>
              </a:pathLst>
            </a:custGeom>
            <a:ln w="25400">
              <a:solidFill>
                <a:srgbClr val="862C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802248" y="3642486"/>
            <a:ext cx="1238250" cy="451484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337185">
              <a:lnSpc>
                <a:spcPts val="1080"/>
              </a:lnSpc>
              <a:spcBef>
                <a:spcPts val="229"/>
              </a:spcBef>
            </a:pPr>
            <a:r>
              <a:rPr sz="1000" dirty="0">
                <a:latin typeface="Gill Sans MT"/>
                <a:cs typeface="Gill Sans MT"/>
              </a:rPr>
              <a:t>Physical-</a:t>
            </a:r>
            <a:r>
              <a:rPr sz="1000" spc="55" dirty="0">
                <a:latin typeface="Gill Sans MT"/>
                <a:cs typeface="Gill Sans MT"/>
              </a:rPr>
              <a:t>design </a:t>
            </a:r>
            <a:r>
              <a:rPr sz="1000" spc="75" dirty="0">
                <a:latin typeface="Gill Sans MT"/>
                <a:cs typeface="Gill Sans MT"/>
              </a:rPr>
              <a:t>Phase</a:t>
            </a:r>
            <a:endParaRPr sz="1000">
              <a:latin typeface="Gill Sans MT"/>
              <a:cs typeface="Gill Sans MT"/>
            </a:endParaRPr>
          </a:p>
          <a:p>
            <a:pPr marL="12700">
              <a:lnSpc>
                <a:spcPts val="1065"/>
              </a:lnSpc>
            </a:pPr>
            <a:r>
              <a:rPr sz="1000" spc="10" dirty="0">
                <a:latin typeface="Gill Sans MT"/>
                <a:cs typeface="Gill Sans MT"/>
              </a:rPr>
              <a:t>(Relational</a:t>
            </a:r>
            <a:r>
              <a:rPr sz="1000" spc="240" dirty="0">
                <a:latin typeface="Gill Sans MT"/>
                <a:cs typeface="Gill Sans MT"/>
              </a:rPr>
              <a:t> </a:t>
            </a:r>
            <a:r>
              <a:rPr sz="1000" spc="35" dirty="0">
                <a:latin typeface="Gill Sans MT"/>
                <a:cs typeface="Gill Sans MT"/>
              </a:rPr>
              <a:t>Database)</a:t>
            </a:r>
            <a:endParaRPr sz="1000">
              <a:latin typeface="Gill Sans MT"/>
              <a:cs typeface="Gill Sans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29938" y="3045205"/>
            <a:ext cx="1834514" cy="853440"/>
            <a:chOff x="4329938" y="3045205"/>
            <a:chExt cx="1834514" cy="85344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2330" y="3121405"/>
              <a:ext cx="221996" cy="23571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342638" y="3058159"/>
              <a:ext cx="1379220" cy="826769"/>
            </a:xfrm>
            <a:custGeom>
              <a:avLst/>
              <a:gdLst/>
              <a:ahLst/>
              <a:cxnLst/>
              <a:rect l="l" t="t" r="r" b="b"/>
              <a:pathLst>
                <a:path w="1379220" h="826770">
                  <a:moveTo>
                    <a:pt x="1379220" y="0"/>
                  </a:moveTo>
                  <a:lnTo>
                    <a:pt x="0" y="0"/>
                  </a:lnTo>
                  <a:lnTo>
                    <a:pt x="0" y="133350"/>
                  </a:lnTo>
                  <a:lnTo>
                    <a:pt x="1245870" y="133350"/>
                  </a:lnTo>
                  <a:lnTo>
                    <a:pt x="1245870" y="826770"/>
                  </a:lnTo>
                  <a:lnTo>
                    <a:pt x="1379220" y="826770"/>
                  </a:lnTo>
                  <a:lnTo>
                    <a:pt x="1379220" y="133350"/>
                  </a:lnTo>
                  <a:lnTo>
                    <a:pt x="1379220" y="0"/>
                  </a:lnTo>
                  <a:close/>
                </a:path>
              </a:pathLst>
            </a:custGeom>
            <a:solidFill>
              <a:srgbClr val="A4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42638" y="3057905"/>
              <a:ext cx="1379220" cy="828040"/>
            </a:xfrm>
            <a:custGeom>
              <a:avLst/>
              <a:gdLst/>
              <a:ahLst/>
              <a:cxnLst/>
              <a:rect l="l" t="t" r="r" b="b"/>
              <a:pathLst>
                <a:path w="1379220" h="828039">
                  <a:moveTo>
                    <a:pt x="1379220" y="827532"/>
                  </a:moveTo>
                  <a:lnTo>
                    <a:pt x="1245870" y="827532"/>
                  </a:lnTo>
                  <a:lnTo>
                    <a:pt x="1245870" y="133350"/>
                  </a:lnTo>
                  <a:lnTo>
                    <a:pt x="0" y="133350"/>
                  </a:lnTo>
                  <a:lnTo>
                    <a:pt x="0" y="0"/>
                  </a:lnTo>
                  <a:lnTo>
                    <a:pt x="1379220" y="0"/>
                  </a:lnTo>
                  <a:lnTo>
                    <a:pt x="1379220" y="827532"/>
                  </a:lnTo>
                  <a:close/>
                </a:path>
              </a:pathLst>
            </a:custGeom>
            <a:ln w="25400">
              <a:solidFill>
                <a:srgbClr val="A4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309998" y="3251072"/>
            <a:ext cx="1252602" cy="593751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1080"/>
              </a:lnSpc>
              <a:spcBef>
                <a:spcPts val="229"/>
              </a:spcBef>
            </a:pPr>
            <a:r>
              <a:rPr sz="1000" b="1" dirty="0">
                <a:latin typeface="Gill Sans MT"/>
                <a:cs typeface="Gill Sans MT"/>
              </a:rPr>
              <a:t>Logical-</a:t>
            </a:r>
            <a:r>
              <a:rPr sz="1000" b="1" spc="65" dirty="0">
                <a:latin typeface="Gill Sans MT"/>
                <a:cs typeface="Gill Sans MT"/>
              </a:rPr>
              <a:t>design</a:t>
            </a:r>
            <a:r>
              <a:rPr sz="1000" b="1" spc="340" dirty="0">
                <a:latin typeface="Gill Sans MT"/>
                <a:cs typeface="Gill Sans MT"/>
              </a:rPr>
              <a:t> </a:t>
            </a:r>
            <a:r>
              <a:rPr sz="1000" b="1" spc="65" dirty="0">
                <a:latin typeface="Gill Sans MT"/>
                <a:cs typeface="Gill Sans MT"/>
              </a:rPr>
              <a:t>Phase </a:t>
            </a:r>
            <a:br>
              <a:rPr lang="en-US" sz="1000" b="1" spc="65" dirty="0">
                <a:latin typeface="Gill Sans MT"/>
                <a:cs typeface="Gill Sans MT"/>
              </a:rPr>
            </a:br>
            <a:r>
              <a:rPr sz="1000" b="1" spc="10" dirty="0">
                <a:latin typeface="Gill Sans MT"/>
                <a:cs typeface="Gill Sans MT"/>
              </a:rPr>
              <a:t>(Relational</a:t>
            </a:r>
            <a:r>
              <a:rPr sz="1000" b="1" spc="240" dirty="0">
                <a:latin typeface="Gill Sans MT"/>
                <a:cs typeface="Gill Sans MT"/>
              </a:rPr>
              <a:t> </a:t>
            </a:r>
            <a:r>
              <a:rPr sz="1000" b="1" spc="60" dirty="0">
                <a:latin typeface="Gill Sans MT"/>
                <a:cs typeface="Gill Sans MT"/>
              </a:rPr>
              <a:t>Schema)</a:t>
            </a:r>
            <a:endParaRPr sz="1000" b="1" dirty="0">
              <a:latin typeface="Gill Sans MT"/>
              <a:cs typeface="Gill Sans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787650" y="2748026"/>
            <a:ext cx="1714500" cy="853440"/>
            <a:chOff x="2787650" y="2748026"/>
            <a:chExt cx="1714500" cy="85344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19269" y="2790698"/>
              <a:ext cx="182371" cy="18541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800350" y="2760979"/>
              <a:ext cx="1394460" cy="826769"/>
            </a:xfrm>
            <a:custGeom>
              <a:avLst/>
              <a:gdLst/>
              <a:ahLst/>
              <a:cxnLst/>
              <a:rect l="l" t="t" r="r" b="b"/>
              <a:pathLst>
                <a:path w="1394460" h="826770">
                  <a:moveTo>
                    <a:pt x="1394460" y="0"/>
                  </a:moveTo>
                  <a:lnTo>
                    <a:pt x="0" y="0"/>
                  </a:lnTo>
                  <a:lnTo>
                    <a:pt x="0" y="133350"/>
                  </a:lnTo>
                  <a:lnTo>
                    <a:pt x="1261110" y="133350"/>
                  </a:lnTo>
                  <a:lnTo>
                    <a:pt x="1261110" y="826770"/>
                  </a:lnTo>
                  <a:lnTo>
                    <a:pt x="1394460" y="826770"/>
                  </a:lnTo>
                  <a:lnTo>
                    <a:pt x="1394460" y="133350"/>
                  </a:lnTo>
                  <a:lnTo>
                    <a:pt x="1394460" y="0"/>
                  </a:lnTo>
                  <a:close/>
                </a:path>
              </a:pathLst>
            </a:custGeom>
            <a:solidFill>
              <a:srgbClr val="B36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00350" y="2760726"/>
              <a:ext cx="1394460" cy="828040"/>
            </a:xfrm>
            <a:custGeom>
              <a:avLst/>
              <a:gdLst/>
              <a:ahLst/>
              <a:cxnLst/>
              <a:rect l="l" t="t" r="r" b="b"/>
              <a:pathLst>
                <a:path w="1394460" h="828039">
                  <a:moveTo>
                    <a:pt x="1394460" y="827532"/>
                  </a:moveTo>
                  <a:lnTo>
                    <a:pt x="1261110" y="827532"/>
                  </a:lnTo>
                  <a:lnTo>
                    <a:pt x="1261110" y="133350"/>
                  </a:lnTo>
                  <a:lnTo>
                    <a:pt x="0" y="133350"/>
                  </a:lnTo>
                  <a:lnTo>
                    <a:pt x="0" y="0"/>
                  </a:lnTo>
                  <a:lnTo>
                    <a:pt x="1394460" y="0"/>
                  </a:lnTo>
                  <a:lnTo>
                    <a:pt x="1394460" y="827532"/>
                  </a:lnTo>
                  <a:close/>
                </a:path>
              </a:pathLst>
            </a:custGeom>
            <a:ln w="25400">
              <a:solidFill>
                <a:srgbClr val="B36E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831973" y="2928873"/>
            <a:ext cx="1075055" cy="45212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1080"/>
              </a:lnSpc>
              <a:spcBef>
                <a:spcPts val="229"/>
              </a:spcBef>
            </a:pPr>
            <a:r>
              <a:rPr sz="1000" dirty="0">
                <a:latin typeface="Gill Sans MT"/>
                <a:cs typeface="Gill Sans MT"/>
              </a:rPr>
              <a:t>Conceptual-</a:t>
            </a:r>
            <a:r>
              <a:rPr sz="1000" spc="55" dirty="0">
                <a:latin typeface="Gill Sans MT"/>
                <a:cs typeface="Gill Sans MT"/>
              </a:rPr>
              <a:t>design </a:t>
            </a:r>
            <a:r>
              <a:rPr sz="1000" spc="75" dirty="0">
                <a:latin typeface="Gill Sans MT"/>
                <a:cs typeface="Gill Sans MT"/>
              </a:rPr>
              <a:t>Phase</a:t>
            </a:r>
            <a:endParaRPr sz="1000">
              <a:latin typeface="Gill Sans MT"/>
              <a:cs typeface="Gill Sans MT"/>
            </a:endParaRPr>
          </a:p>
          <a:p>
            <a:pPr marL="12700">
              <a:lnSpc>
                <a:spcPts val="1065"/>
              </a:lnSpc>
            </a:pPr>
            <a:r>
              <a:rPr sz="1000" dirty="0">
                <a:latin typeface="Gill Sans MT"/>
                <a:cs typeface="Gill Sans MT"/>
              </a:rPr>
              <a:t>(ER</a:t>
            </a:r>
            <a:r>
              <a:rPr sz="1000" spc="45" dirty="0">
                <a:latin typeface="Gill Sans MT"/>
                <a:cs typeface="Gill Sans MT"/>
              </a:rPr>
              <a:t> </a:t>
            </a:r>
            <a:r>
              <a:rPr sz="1000" spc="-10" dirty="0">
                <a:latin typeface="Gill Sans MT"/>
                <a:cs typeface="Gill Sans MT"/>
              </a:rPr>
              <a:t>Diagram)</a:t>
            </a:r>
            <a:endParaRPr sz="1000">
              <a:latin typeface="Gill Sans MT"/>
              <a:cs typeface="Gill Sans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594358" y="2395982"/>
            <a:ext cx="1336040" cy="695960"/>
            <a:chOff x="1594358" y="2395982"/>
            <a:chExt cx="1336040" cy="69596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5458" y="2510282"/>
              <a:ext cx="154940" cy="1778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607058" y="2409189"/>
              <a:ext cx="1068705" cy="670560"/>
            </a:xfrm>
            <a:custGeom>
              <a:avLst/>
              <a:gdLst/>
              <a:ahLst/>
              <a:cxnLst/>
              <a:rect l="l" t="t" r="r" b="b"/>
              <a:pathLst>
                <a:path w="1068705" h="670560">
                  <a:moveTo>
                    <a:pt x="1068324" y="0"/>
                  </a:moveTo>
                  <a:lnTo>
                    <a:pt x="0" y="0"/>
                  </a:lnTo>
                  <a:lnTo>
                    <a:pt x="0" y="107950"/>
                  </a:lnTo>
                  <a:lnTo>
                    <a:pt x="960247" y="107950"/>
                  </a:lnTo>
                  <a:lnTo>
                    <a:pt x="960247" y="670560"/>
                  </a:lnTo>
                  <a:lnTo>
                    <a:pt x="1068324" y="670560"/>
                  </a:lnTo>
                  <a:lnTo>
                    <a:pt x="1068324" y="107950"/>
                  </a:lnTo>
                  <a:lnTo>
                    <a:pt x="1068324" y="0"/>
                  </a:lnTo>
                  <a:close/>
                </a:path>
              </a:pathLst>
            </a:custGeom>
            <a:solidFill>
              <a:srgbClr val="BD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07058" y="2408682"/>
              <a:ext cx="1068705" cy="670560"/>
            </a:xfrm>
            <a:custGeom>
              <a:avLst/>
              <a:gdLst/>
              <a:ahLst/>
              <a:cxnLst/>
              <a:rect l="l" t="t" r="r" b="b"/>
              <a:pathLst>
                <a:path w="1068705" h="670560">
                  <a:moveTo>
                    <a:pt x="1068323" y="670560"/>
                  </a:moveTo>
                  <a:lnTo>
                    <a:pt x="960247" y="670560"/>
                  </a:lnTo>
                  <a:lnTo>
                    <a:pt x="960247" y="108076"/>
                  </a:lnTo>
                  <a:lnTo>
                    <a:pt x="0" y="108076"/>
                  </a:lnTo>
                  <a:lnTo>
                    <a:pt x="0" y="0"/>
                  </a:lnTo>
                  <a:lnTo>
                    <a:pt x="1068323" y="0"/>
                  </a:lnTo>
                  <a:lnTo>
                    <a:pt x="1068323" y="670560"/>
                  </a:lnTo>
                  <a:close/>
                </a:path>
              </a:pathLst>
            </a:custGeom>
            <a:ln w="25399">
              <a:solidFill>
                <a:srgbClr val="BD9A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579625" y="2566542"/>
            <a:ext cx="807720" cy="45212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1080"/>
              </a:lnSpc>
              <a:spcBef>
                <a:spcPts val="229"/>
              </a:spcBef>
            </a:pPr>
            <a:r>
              <a:rPr sz="1000" spc="-20" dirty="0">
                <a:latin typeface="Gill Sans MT"/>
                <a:cs typeface="Gill Sans MT"/>
              </a:rPr>
              <a:t>User </a:t>
            </a:r>
            <a:r>
              <a:rPr sz="1000" spc="-10" dirty="0">
                <a:latin typeface="Gill Sans MT"/>
                <a:cs typeface="Gill Sans MT"/>
              </a:rPr>
              <a:t>Requirements </a:t>
            </a:r>
            <a:r>
              <a:rPr sz="1000" spc="35" dirty="0">
                <a:latin typeface="Gill Sans MT"/>
                <a:cs typeface="Gill Sans MT"/>
              </a:rPr>
              <a:t>Specification</a:t>
            </a:r>
            <a:endParaRPr sz="1000">
              <a:latin typeface="Gill Sans MT"/>
              <a:cs typeface="Gill Sans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92245" y="1733941"/>
            <a:ext cx="1159421" cy="1370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561743"/>
            <a:ext cx="620745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Database</a:t>
            </a:r>
            <a:r>
              <a:rPr spc="-240" dirty="0"/>
              <a:t> </a:t>
            </a:r>
            <a:r>
              <a:rPr spc="-175" dirty="0"/>
              <a:t>Schema</a:t>
            </a:r>
            <a:r>
              <a:rPr spc="-240" dirty="0"/>
              <a:t> </a:t>
            </a:r>
            <a:r>
              <a:rPr spc="-170" dirty="0">
                <a:solidFill>
                  <a:srgbClr val="00AFEF"/>
                </a:solidFill>
              </a:rPr>
              <a:t>&amp;</a:t>
            </a:r>
            <a:r>
              <a:rPr spc="-245" dirty="0">
                <a:solidFill>
                  <a:srgbClr val="00AFEF"/>
                </a:solidFill>
              </a:rPr>
              <a:t> </a:t>
            </a:r>
            <a:r>
              <a:rPr spc="-204" dirty="0"/>
              <a:t>Data</a:t>
            </a:r>
            <a:r>
              <a:rPr spc="-225" dirty="0"/>
              <a:t> </a:t>
            </a:r>
            <a:r>
              <a:rPr spc="-135" dirty="0"/>
              <a:t>Model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504950"/>
            <a:ext cx="8364855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65" dirty="0">
                <a:solidFill>
                  <a:srgbClr val="FF6600"/>
                </a:solidFill>
                <a:latin typeface="Gill Sans MT"/>
                <a:cs typeface="Gill Sans MT"/>
              </a:rPr>
              <a:t>Database</a:t>
            </a:r>
            <a:r>
              <a:rPr sz="1600" spc="-10" dirty="0">
                <a:solidFill>
                  <a:srgbClr val="FF6600"/>
                </a:solidFill>
                <a:latin typeface="Gill Sans MT"/>
                <a:cs typeface="Gill Sans MT"/>
              </a:rPr>
              <a:t> </a:t>
            </a:r>
            <a:r>
              <a:rPr sz="1600" spc="90" dirty="0">
                <a:solidFill>
                  <a:srgbClr val="FF6600"/>
                </a:solidFill>
                <a:latin typeface="Gill Sans MT"/>
                <a:cs typeface="Gill Sans MT"/>
              </a:rPr>
              <a:t>Schema</a:t>
            </a:r>
            <a:endParaRPr lang="en-US" sz="160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45" dirty="0">
                <a:solidFill>
                  <a:srgbClr val="212121"/>
                </a:solidFill>
                <a:latin typeface="Gill Sans MT"/>
                <a:cs typeface="Gill Sans MT"/>
              </a:rPr>
              <a:t>Describes</a:t>
            </a:r>
            <a:r>
              <a:rPr sz="16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2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6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20" dirty="0">
                <a:solidFill>
                  <a:srgbClr val="212121"/>
                </a:solidFill>
                <a:latin typeface="Gill Sans MT"/>
                <a:cs typeface="Gill Sans MT"/>
              </a:rPr>
              <a:t>overall</a:t>
            </a:r>
            <a:r>
              <a:rPr sz="16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85" dirty="0">
                <a:solidFill>
                  <a:srgbClr val="212121"/>
                </a:solidFill>
                <a:latin typeface="Gill Sans MT"/>
                <a:cs typeface="Gill Sans MT"/>
              </a:rPr>
              <a:t>design</a:t>
            </a:r>
            <a:r>
              <a:rPr sz="16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65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6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2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6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90" dirty="0">
                <a:solidFill>
                  <a:srgbClr val="212121"/>
                </a:solidFill>
                <a:latin typeface="Gill Sans MT"/>
                <a:cs typeface="Gill Sans MT"/>
              </a:rPr>
              <a:t>database</a:t>
            </a:r>
            <a:r>
              <a:rPr sz="16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60" dirty="0">
                <a:solidFill>
                  <a:srgbClr val="212121"/>
                </a:solidFill>
                <a:latin typeface="Gill Sans MT"/>
                <a:cs typeface="Gill Sans MT"/>
              </a:rPr>
              <a:t>at</a:t>
            </a:r>
            <a:r>
              <a:rPr sz="16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20" dirty="0">
                <a:solidFill>
                  <a:srgbClr val="212121"/>
                </a:solidFill>
                <a:latin typeface="Gill Sans MT"/>
                <a:cs typeface="Gill Sans MT"/>
              </a:rPr>
              <a:t>different</a:t>
            </a:r>
            <a:r>
              <a:rPr sz="16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Gill Sans MT"/>
                <a:cs typeface="Gill Sans MT"/>
              </a:rPr>
              <a:t>levels(physical,</a:t>
            </a:r>
            <a:r>
              <a:rPr sz="16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50" dirty="0">
                <a:solidFill>
                  <a:srgbClr val="212121"/>
                </a:solidFill>
                <a:latin typeface="Gill Sans MT"/>
                <a:cs typeface="Gill Sans MT"/>
              </a:rPr>
              <a:t>logical,</a:t>
            </a:r>
            <a:r>
              <a:rPr sz="16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-10" dirty="0">
                <a:solidFill>
                  <a:srgbClr val="212121"/>
                </a:solidFill>
                <a:latin typeface="Gill Sans MT"/>
                <a:cs typeface="Gill Sans MT"/>
              </a:rPr>
              <a:t>view)</a:t>
            </a:r>
            <a:endParaRPr sz="1600" dirty="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160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FF6600"/>
                </a:solidFill>
                <a:latin typeface="Gill Sans MT"/>
                <a:cs typeface="Gill Sans MT"/>
              </a:rPr>
              <a:t>Data</a:t>
            </a:r>
            <a:r>
              <a:rPr sz="1600" spc="90" dirty="0">
                <a:solidFill>
                  <a:srgbClr val="FF6600"/>
                </a:solidFill>
                <a:latin typeface="Gill Sans MT"/>
                <a:cs typeface="Gill Sans MT"/>
              </a:rPr>
              <a:t> </a:t>
            </a:r>
            <a:r>
              <a:rPr sz="1600" spc="-10" dirty="0">
                <a:solidFill>
                  <a:srgbClr val="FF6600"/>
                </a:solidFill>
                <a:latin typeface="Gill Sans MT"/>
                <a:cs typeface="Gill Sans MT"/>
              </a:rPr>
              <a:t>Model</a:t>
            </a:r>
            <a:endParaRPr lang="en-US" sz="160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</a:pPr>
            <a:r>
              <a:rPr sz="1600" spc="10" dirty="0">
                <a:solidFill>
                  <a:srgbClr val="212121"/>
                </a:solidFill>
                <a:latin typeface="Gill Sans MT"/>
                <a:cs typeface="Gill Sans MT"/>
              </a:rPr>
              <a:t>Describes</a:t>
            </a:r>
            <a:r>
              <a:rPr sz="16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6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70" dirty="0">
                <a:solidFill>
                  <a:srgbClr val="212121"/>
                </a:solidFill>
                <a:latin typeface="Gill Sans MT"/>
                <a:cs typeface="Gill Sans MT"/>
              </a:rPr>
              <a:t>way</a:t>
            </a:r>
            <a:r>
              <a:rPr sz="1600" spc="10" dirty="0">
                <a:solidFill>
                  <a:srgbClr val="212121"/>
                </a:solidFill>
                <a:latin typeface="Gill Sans MT"/>
                <a:cs typeface="Gill Sans MT"/>
              </a:rPr>
              <a:t> to </a:t>
            </a:r>
            <a:r>
              <a:rPr sz="1600" spc="80" dirty="0">
                <a:solidFill>
                  <a:srgbClr val="212121"/>
                </a:solidFill>
                <a:latin typeface="Gill Sans MT"/>
                <a:cs typeface="Gill Sans MT"/>
              </a:rPr>
              <a:t>design</a:t>
            </a:r>
            <a:r>
              <a:rPr sz="16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85" dirty="0">
                <a:solidFill>
                  <a:srgbClr val="212121"/>
                </a:solidFill>
                <a:latin typeface="Gill Sans MT"/>
                <a:cs typeface="Gill Sans MT"/>
              </a:rPr>
              <a:t>database</a:t>
            </a:r>
            <a:r>
              <a:rPr sz="16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60" dirty="0">
                <a:solidFill>
                  <a:srgbClr val="212121"/>
                </a:solidFill>
                <a:latin typeface="Gill Sans MT"/>
                <a:cs typeface="Gill Sans MT"/>
              </a:rPr>
              <a:t>at</a:t>
            </a:r>
            <a:r>
              <a:rPr sz="16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60" dirty="0">
                <a:solidFill>
                  <a:srgbClr val="212121"/>
                </a:solidFill>
                <a:latin typeface="Gill Sans MT"/>
                <a:cs typeface="Gill Sans MT"/>
              </a:rPr>
              <a:t>physical,</a:t>
            </a:r>
            <a:r>
              <a:rPr sz="16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65" dirty="0">
                <a:solidFill>
                  <a:srgbClr val="212121"/>
                </a:solidFill>
                <a:latin typeface="Gill Sans MT"/>
                <a:cs typeface="Gill Sans MT"/>
              </a:rPr>
              <a:t>logical</a:t>
            </a:r>
            <a:r>
              <a:rPr sz="16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6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10" dirty="0">
                <a:solidFill>
                  <a:srgbClr val="212121"/>
                </a:solidFill>
                <a:latin typeface="Gill Sans MT"/>
                <a:cs typeface="Gill Sans MT"/>
              </a:rPr>
              <a:t>view</a:t>
            </a:r>
            <a:r>
              <a:rPr sz="16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10" dirty="0">
                <a:solidFill>
                  <a:srgbClr val="212121"/>
                </a:solidFill>
                <a:latin typeface="Gill Sans MT"/>
                <a:cs typeface="Gill Sans MT"/>
              </a:rPr>
              <a:t>level.</a:t>
            </a:r>
            <a:r>
              <a:rPr sz="16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10" dirty="0">
                <a:solidFill>
                  <a:srgbClr val="212121"/>
                </a:solidFill>
                <a:latin typeface="Gill Sans MT"/>
                <a:cs typeface="Gill Sans MT"/>
              </a:rPr>
              <a:t>It</a:t>
            </a:r>
            <a:r>
              <a:rPr sz="16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85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6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6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10" dirty="0">
                <a:solidFill>
                  <a:srgbClr val="212121"/>
                </a:solidFill>
                <a:latin typeface="Gill Sans MT"/>
                <a:cs typeface="Gill Sans MT"/>
              </a:rPr>
              <a:t>collection</a:t>
            </a:r>
            <a:r>
              <a:rPr sz="16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65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6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Gill Sans MT"/>
                <a:cs typeface="Gill Sans MT"/>
              </a:rPr>
              <a:t>conceptual</a:t>
            </a:r>
            <a:r>
              <a:rPr sz="16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10" dirty="0">
                <a:solidFill>
                  <a:srgbClr val="212121"/>
                </a:solidFill>
                <a:latin typeface="Gill Sans MT"/>
                <a:cs typeface="Gill Sans MT"/>
              </a:rPr>
              <a:t>tools</a:t>
            </a:r>
            <a:r>
              <a:rPr sz="16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lang="en-US" sz="1600" dirty="0">
                <a:latin typeface="Gill Sans MT"/>
                <a:cs typeface="Gill Sans MT"/>
              </a:rPr>
              <a:t> </a:t>
            </a:r>
            <a:r>
              <a:rPr sz="1600" spc="100" dirty="0">
                <a:solidFill>
                  <a:srgbClr val="212121"/>
                </a:solidFill>
                <a:latin typeface="Gill Sans MT"/>
                <a:cs typeface="Gill Sans MT"/>
              </a:rPr>
              <a:t>languages</a:t>
            </a:r>
            <a:r>
              <a:rPr sz="16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dirty="0">
                <a:solidFill>
                  <a:srgbClr val="212121"/>
                </a:solidFill>
                <a:latin typeface="Gill Sans MT"/>
                <a:cs typeface="Gill Sans MT"/>
              </a:rPr>
              <a:t>for</a:t>
            </a:r>
            <a:r>
              <a:rPr sz="16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Gill Sans MT"/>
                <a:cs typeface="Gill Sans MT"/>
              </a:rPr>
              <a:t>describing</a:t>
            </a:r>
            <a:r>
              <a:rPr sz="16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Gill Sans MT"/>
                <a:cs typeface="Gill Sans MT"/>
              </a:rPr>
              <a:t>data,</a:t>
            </a:r>
            <a:r>
              <a:rPr sz="16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80" dirty="0">
                <a:solidFill>
                  <a:srgbClr val="212121"/>
                </a:solidFill>
                <a:latin typeface="Gill Sans MT"/>
                <a:cs typeface="Gill Sans MT"/>
              </a:rPr>
              <a:t>data</a:t>
            </a:r>
            <a:r>
              <a:rPr sz="16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45" dirty="0">
                <a:solidFill>
                  <a:srgbClr val="212121"/>
                </a:solidFill>
                <a:latin typeface="Gill Sans MT"/>
                <a:cs typeface="Gill Sans MT"/>
              </a:rPr>
              <a:t>relationships,</a:t>
            </a:r>
            <a:r>
              <a:rPr sz="16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80" dirty="0">
                <a:solidFill>
                  <a:srgbClr val="212121"/>
                </a:solidFill>
                <a:latin typeface="Gill Sans MT"/>
                <a:cs typeface="Gill Sans MT"/>
              </a:rPr>
              <a:t>data</a:t>
            </a:r>
            <a:r>
              <a:rPr sz="16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70" dirty="0">
                <a:solidFill>
                  <a:srgbClr val="212121"/>
                </a:solidFill>
                <a:latin typeface="Gill Sans MT"/>
                <a:cs typeface="Gill Sans MT"/>
              </a:rPr>
              <a:t>semantics,</a:t>
            </a:r>
            <a:r>
              <a:rPr sz="16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6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65" dirty="0">
                <a:solidFill>
                  <a:srgbClr val="212121"/>
                </a:solidFill>
                <a:latin typeface="Gill Sans MT"/>
                <a:cs typeface="Gill Sans MT"/>
              </a:rPr>
              <a:t>consistency</a:t>
            </a:r>
            <a:r>
              <a:rPr sz="16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40" dirty="0">
                <a:solidFill>
                  <a:srgbClr val="212121"/>
                </a:solidFill>
                <a:latin typeface="Gill Sans MT"/>
                <a:cs typeface="Gill Sans MT"/>
              </a:rPr>
              <a:t>constraints.</a:t>
            </a:r>
            <a:endParaRPr sz="1600" dirty="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0" y="3562350"/>
            <a:ext cx="5357141" cy="659796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600" dirty="0">
                <a:solidFill>
                  <a:srgbClr val="212121"/>
                </a:solidFill>
                <a:latin typeface="Gill Sans MT"/>
                <a:cs typeface="Gill Sans MT"/>
              </a:rPr>
              <a:t>High-level</a:t>
            </a:r>
            <a:r>
              <a:rPr sz="16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Gill Sans MT"/>
                <a:cs typeface="Gill Sans MT"/>
              </a:rPr>
              <a:t>conceptual</a:t>
            </a:r>
            <a:r>
              <a:rPr sz="16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75" dirty="0">
                <a:solidFill>
                  <a:srgbClr val="212121"/>
                </a:solidFill>
                <a:latin typeface="Gill Sans MT"/>
                <a:cs typeface="Gill Sans MT"/>
              </a:rPr>
              <a:t>data</a:t>
            </a:r>
            <a:r>
              <a:rPr sz="16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55" dirty="0">
                <a:solidFill>
                  <a:srgbClr val="212121"/>
                </a:solidFill>
                <a:latin typeface="Gill Sans MT"/>
                <a:cs typeface="Gill Sans MT"/>
              </a:rPr>
              <a:t>model</a:t>
            </a:r>
            <a:r>
              <a:rPr sz="1600" spc="39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dirty="0">
                <a:solidFill>
                  <a:srgbClr val="FF6600"/>
                </a:solidFill>
                <a:latin typeface="Wingdings"/>
                <a:cs typeface="Wingdings"/>
              </a:rPr>
              <a:t></a:t>
            </a:r>
            <a:r>
              <a:rPr sz="1600" spc="6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212121"/>
                </a:solidFill>
                <a:latin typeface="Gill Sans MT"/>
                <a:cs typeface="Gill Sans MT"/>
              </a:rPr>
              <a:t>ER</a:t>
            </a:r>
            <a:r>
              <a:rPr sz="16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-20" dirty="0">
                <a:solidFill>
                  <a:srgbClr val="212121"/>
                </a:solidFill>
                <a:latin typeface="Gill Sans MT"/>
                <a:cs typeface="Gill Sans MT"/>
              </a:rPr>
              <a:t>Model</a:t>
            </a:r>
            <a:endParaRPr sz="1600" dirty="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600" spc="20" dirty="0">
                <a:solidFill>
                  <a:srgbClr val="212121"/>
                </a:solidFill>
                <a:latin typeface="Gill Sans MT"/>
                <a:cs typeface="Gill Sans MT"/>
              </a:rPr>
              <a:t>Record</a:t>
            </a:r>
            <a:r>
              <a:rPr sz="16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90" dirty="0">
                <a:solidFill>
                  <a:srgbClr val="212121"/>
                </a:solidFill>
                <a:latin typeface="Gill Sans MT"/>
                <a:cs typeface="Gill Sans MT"/>
              </a:rPr>
              <a:t>based</a:t>
            </a:r>
            <a:r>
              <a:rPr sz="16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65" dirty="0">
                <a:solidFill>
                  <a:srgbClr val="212121"/>
                </a:solidFill>
                <a:latin typeface="Gill Sans MT"/>
                <a:cs typeface="Gill Sans MT"/>
              </a:rPr>
              <a:t>logical</a:t>
            </a:r>
            <a:r>
              <a:rPr sz="16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80" dirty="0">
                <a:solidFill>
                  <a:srgbClr val="212121"/>
                </a:solidFill>
                <a:latin typeface="Gill Sans MT"/>
                <a:cs typeface="Gill Sans MT"/>
              </a:rPr>
              <a:t>data</a:t>
            </a:r>
            <a:r>
              <a:rPr sz="16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50" dirty="0">
                <a:solidFill>
                  <a:srgbClr val="212121"/>
                </a:solidFill>
                <a:latin typeface="Gill Sans MT"/>
                <a:cs typeface="Gill Sans MT"/>
              </a:rPr>
              <a:t>model</a:t>
            </a:r>
            <a:r>
              <a:rPr sz="1600" spc="180" dirty="0">
                <a:solidFill>
                  <a:srgbClr val="212121"/>
                </a:solidFill>
                <a:latin typeface="Gill Sans MT"/>
                <a:cs typeface="Gill Sans MT"/>
              </a:rPr>
              <a:t>  </a:t>
            </a:r>
            <a:r>
              <a:rPr sz="1600" spc="20" dirty="0">
                <a:solidFill>
                  <a:srgbClr val="FF6600"/>
                </a:solidFill>
                <a:latin typeface="Wingdings"/>
                <a:cs typeface="Wingdings"/>
              </a:rPr>
              <a:t></a:t>
            </a:r>
            <a:r>
              <a:rPr sz="1600" spc="3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600" spc="20" dirty="0">
                <a:solidFill>
                  <a:srgbClr val="212121"/>
                </a:solidFill>
                <a:latin typeface="Gill Sans MT"/>
                <a:cs typeface="Gill Sans MT"/>
              </a:rPr>
              <a:t>Relational</a:t>
            </a:r>
            <a:r>
              <a:rPr sz="16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600" spc="-10" dirty="0">
                <a:solidFill>
                  <a:srgbClr val="212121"/>
                </a:solidFill>
                <a:latin typeface="Gill Sans MT"/>
                <a:cs typeface="Gill Sans MT"/>
              </a:rPr>
              <a:t>Model</a:t>
            </a:r>
            <a:endParaRPr sz="1600" dirty="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Gill Sans MT"/>
                <a:cs typeface="Gill Sans MT"/>
              </a:rPr>
              <a:t>3</a:t>
            </a:r>
            <a:endParaRPr sz="13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-73880"/>
            <a:ext cx="7543800" cy="10880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E-</a:t>
            </a:r>
            <a:r>
              <a:rPr spc="-229" dirty="0"/>
              <a:t>R</a:t>
            </a:r>
            <a:r>
              <a:rPr spc="-250" dirty="0"/>
              <a:t> </a:t>
            </a:r>
            <a:r>
              <a:rPr spc="-190" dirty="0"/>
              <a:t>Diagram</a:t>
            </a:r>
            <a:r>
              <a:rPr spc="-220" dirty="0"/>
              <a:t> </a:t>
            </a:r>
            <a:r>
              <a:rPr spc="-180" dirty="0">
                <a:solidFill>
                  <a:srgbClr val="00AFEF"/>
                </a:solidFill>
              </a:rPr>
              <a:t>vs</a:t>
            </a:r>
            <a:r>
              <a:rPr spc="-240" dirty="0">
                <a:solidFill>
                  <a:srgbClr val="00AFEF"/>
                </a:solidFill>
              </a:rPr>
              <a:t> </a:t>
            </a:r>
            <a:r>
              <a:rPr spc="-150" dirty="0"/>
              <a:t>Relational</a:t>
            </a:r>
            <a:r>
              <a:rPr spc="-220" dirty="0"/>
              <a:t> </a:t>
            </a:r>
            <a:r>
              <a:rPr spc="-135" dirty="0"/>
              <a:t>Schema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Gill Sans MT"/>
                <a:cs typeface="Gill Sans MT"/>
              </a:rPr>
              <a:t>4</a:t>
            </a:r>
            <a:endParaRPr sz="1300">
              <a:latin typeface="Gill Sans MT"/>
              <a:cs typeface="Gill Sans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900113"/>
              </p:ext>
            </p:extLst>
          </p:nvPr>
        </p:nvGraphicFramePr>
        <p:xfrm>
          <a:off x="457201" y="1363063"/>
          <a:ext cx="8305800" cy="31329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806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9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158">
                <a:tc>
                  <a:txBody>
                    <a:bodyPr/>
                    <a:lstStyle/>
                    <a:p>
                      <a:pPr marL="35242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spc="-75" dirty="0"/>
                        <a:t>ER</a:t>
                      </a:r>
                      <a:r>
                        <a:rPr sz="1600" b="1" spc="-30" dirty="0"/>
                        <a:t> </a:t>
                      </a:r>
                      <a:r>
                        <a:rPr sz="1600" b="1" spc="-10" dirty="0"/>
                        <a:t>Diagram</a:t>
                      </a:r>
                      <a:endParaRPr sz="1600">
                        <a:latin typeface="Gill Sans MT"/>
                        <a:cs typeface="Gill Sans MT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L="35496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spc="-30" dirty="0"/>
                        <a:t>Relational</a:t>
                      </a:r>
                      <a:r>
                        <a:rPr sz="1600" b="1" spc="-10" dirty="0"/>
                        <a:t> Schema</a:t>
                      </a:r>
                      <a:endParaRPr sz="1600">
                        <a:latin typeface="Gill Sans MT"/>
                        <a:cs typeface="Gill Sans MT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744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/>
                        <a:t>The</a:t>
                      </a:r>
                      <a:r>
                        <a:rPr sz="1600" spc="35" dirty="0"/>
                        <a:t> </a:t>
                      </a:r>
                      <a:r>
                        <a:rPr sz="1600" spc="80" dirty="0"/>
                        <a:t>main</a:t>
                      </a:r>
                      <a:r>
                        <a:rPr sz="1600" spc="35" dirty="0"/>
                        <a:t> </a:t>
                      </a:r>
                      <a:r>
                        <a:rPr sz="1600" spc="60" dirty="0"/>
                        <a:t>components</a:t>
                      </a:r>
                      <a:r>
                        <a:rPr sz="1600" spc="40" dirty="0"/>
                        <a:t> </a:t>
                      </a:r>
                      <a:r>
                        <a:rPr sz="1600" spc="65" dirty="0"/>
                        <a:t>of</a:t>
                      </a:r>
                      <a:r>
                        <a:rPr sz="1600" spc="40" dirty="0"/>
                        <a:t> </a:t>
                      </a:r>
                      <a:r>
                        <a:rPr sz="1600" dirty="0"/>
                        <a:t>ER</a:t>
                      </a:r>
                      <a:r>
                        <a:rPr sz="1600" spc="30" dirty="0"/>
                        <a:t> </a:t>
                      </a:r>
                      <a:r>
                        <a:rPr sz="1600" dirty="0"/>
                        <a:t>Model</a:t>
                      </a:r>
                      <a:r>
                        <a:rPr sz="1600" spc="50" dirty="0"/>
                        <a:t> </a:t>
                      </a:r>
                      <a:r>
                        <a:rPr sz="1600" spc="-20" dirty="0"/>
                        <a:t>are:</a:t>
                      </a:r>
                      <a:endParaRPr sz="1600" dirty="0"/>
                    </a:p>
                    <a:p>
                      <a:pPr marL="377825" indent="-286385">
                        <a:lnSpc>
                          <a:spcPct val="100000"/>
                        </a:lnSpc>
                        <a:buClr>
                          <a:srgbClr val="FF6600"/>
                        </a:buClr>
                        <a:buFont typeface="Arial"/>
                        <a:buChar char="•"/>
                        <a:tabLst>
                          <a:tab pos="377825" algn="l"/>
                        </a:tabLst>
                      </a:pPr>
                      <a:r>
                        <a:rPr sz="1600" dirty="0"/>
                        <a:t>Entity</a:t>
                      </a:r>
                      <a:r>
                        <a:rPr sz="1600" spc="-20" dirty="0"/>
                        <a:t> </a:t>
                      </a:r>
                      <a:r>
                        <a:rPr sz="1600" spc="65" dirty="0"/>
                        <a:t>Set</a:t>
                      </a:r>
                      <a:r>
                        <a:rPr sz="1600" spc="5" dirty="0"/>
                        <a:t> </a:t>
                      </a:r>
                      <a:r>
                        <a:rPr sz="1600" spc="185" dirty="0"/>
                        <a:t>–</a:t>
                      </a:r>
                      <a:r>
                        <a:rPr sz="1600" spc="-15" dirty="0"/>
                        <a:t> </a:t>
                      </a:r>
                      <a:r>
                        <a:rPr sz="1600" spc="65" dirty="0"/>
                        <a:t>set</a:t>
                      </a:r>
                      <a:r>
                        <a:rPr sz="1600" spc="5" dirty="0"/>
                        <a:t> </a:t>
                      </a:r>
                      <a:r>
                        <a:rPr sz="1600" spc="65" dirty="0"/>
                        <a:t>of</a:t>
                      </a:r>
                      <a:r>
                        <a:rPr sz="1600" spc="-15" dirty="0"/>
                        <a:t> </a:t>
                      </a:r>
                      <a:r>
                        <a:rPr sz="1600" spc="55" dirty="0"/>
                        <a:t>similar</a:t>
                      </a:r>
                      <a:r>
                        <a:rPr sz="1600" spc="10" dirty="0"/>
                        <a:t> </a:t>
                      </a:r>
                      <a:r>
                        <a:rPr sz="1600" spc="-10" dirty="0"/>
                        <a:t>entities</a:t>
                      </a:r>
                      <a:endParaRPr sz="1600" dirty="0"/>
                    </a:p>
                    <a:p>
                      <a:pPr marL="377825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Clr>
                          <a:srgbClr val="FF6600"/>
                        </a:buClr>
                        <a:buFont typeface="Arial"/>
                        <a:buChar char="•"/>
                        <a:tabLst>
                          <a:tab pos="377825" algn="l"/>
                        </a:tabLst>
                      </a:pPr>
                      <a:r>
                        <a:rPr sz="1600" spc="50" dirty="0"/>
                        <a:t>Relationship</a:t>
                      </a:r>
                      <a:r>
                        <a:rPr sz="1600" spc="-35" dirty="0"/>
                        <a:t> </a:t>
                      </a:r>
                      <a:r>
                        <a:rPr sz="1600" spc="65" dirty="0"/>
                        <a:t>Set</a:t>
                      </a:r>
                      <a:r>
                        <a:rPr sz="1600" spc="-25" dirty="0"/>
                        <a:t> </a:t>
                      </a:r>
                      <a:r>
                        <a:rPr sz="1600" spc="185" dirty="0"/>
                        <a:t>–</a:t>
                      </a:r>
                      <a:r>
                        <a:rPr sz="1600" spc="-40" dirty="0"/>
                        <a:t> </a:t>
                      </a:r>
                      <a:r>
                        <a:rPr sz="1600" spc="65" dirty="0"/>
                        <a:t>set</a:t>
                      </a:r>
                      <a:r>
                        <a:rPr sz="1600" spc="-25" dirty="0"/>
                        <a:t> </a:t>
                      </a:r>
                      <a:r>
                        <a:rPr sz="1600" spc="65" dirty="0"/>
                        <a:t>of</a:t>
                      </a:r>
                      <a:r>
                        <a:rPr sz="1600" spc="-30" dirty="0"/>
                        <a:t> </a:t>
                      </a:r>
                      <a:r>
                        <a:rPr sz="1600" spc="55" dirty="0"/>
                        <a:t>similar</a:t>
                      </a:r>
                      <a:r>
                        <a:rPr sz="1600" spc="-25" dirty="0"/>
                        <a:t> </a:t>
                      </a:r>
                      <a:r>
                        <a:rPr sz="1600" spc="40" dirty="0"/>
                        <a:t>relationships</a:t>
                      </a:r>
                      <a:endParaRPr sz="1600" dirty="0"/>
                    </a:p>
                    <a:p>
                      <a:pPr marL="377825" indent="-286385">
                        <a:lnSpc>
                          <a:spcPct val="100000"/>
                        </a:lnSpc>
                        <a:buClr>
                          <a:srgbClr val="FF6600"/>
                        </a:buClr>
                        <a:buFont typeface="Arial"/>
                        <a:buChar char="•"/>
                        <a:tabLst>
                          <a:tab pos="377825" algn="l"/>
                        </a:tabLst>
                      </a:pPr>
                      <a:r>
                        <a:rPr sz="1600" spc="20" dirty="0"/>
                        <a:t>Attributes</a:t>
                      </a:r>
                      <a:r>
                        <a:rPr sz="1600" dirty="0"/>
                        <a:t> </a:t>
                      </a:r>
                      <a:r>
                        <a:rPr sz="1600" spc="185" dirty="0"/>
                        <a:t>–</a:t>
                      </a:r>
                      <a:r>
                        <a:rPr sz="1600" spc="10" dirty="0"/>
                        <a:t> </a:t>
                      </a:r>
                      <a:r>
                        <a:rPr sz="1600" spc="60" dirty="0"/>
                        <a:t>including</a:t>
                      </a:r>
                      <a:r>
                        <a:rPr sz="1600" spc="15" dirty="0"/>
                        <a:t> </a:t>
                      </a:r>
                      <a:r>
                        <a:rPr sz="1600" spc="20" dirty="0"/>
                        <a:t>different</a:t>
                      </a:r>
                      <a:r>
                        <a:rPr sz="1600" spc="-5" dirty="0"/>
                        <a:t> </a:t>
                      </a:r>
                      <a:r>
                        <a:rPr sz="1600" spc="60" dirty="0"/>
                        <a:t>types</a:t>
                      </a:r>
                      <a:r>
                        <a:rPr sz="1600" spc="10" dirty="0"/>
                        <a:t> </a:t>
                      </a:r>
                      <a:r>
                        <a:rPr sz="1600" spc="65" dirty="0"/>
                        <a:t>of</a:t>
                      </a:r>
                      <a:r>
                        <a:rPr sz="1600" spc="5" dirty="0"/>
                        <a:t> </a:t>
                      </a:r>
                      <a:r>
                        <a:rPr sz="1600" spc="45" dirty="0"/>
                        <a:t>keys</a:t>
                      </a:r>
                      <a:endParaRPr sz="1600" dirty="0">
                        <a:latin typeface="Gill Sans MT"/>
                        <a:cs typeface="Gill Sans MT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L="4457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20" dirty="0"/>
                        <a:t>The</a:t>
                      </a:r>
                      <a:r>
                        <a:rPr sz="1600" spc="35" dirty="0"/>
                        <a:t> </a:t>
                      </a:r>
                      <a:r>
                        <a:rPr sz="1600" spc="80" dirty="0"/>
                        <a:t>main</a:t>
                      </a:r>
                      <a:r>
                        <a:rPr sz="1600" spc="45" dirty="0"/>
                        <a:t> </a:t>
                      </a:r>
                      <a:r>
                        <a:rPr sz="1600" spc="60" dirty="0"/>
                        <a:t>components</a:t>
                      </a:r>
                      <a:r>
                        <a:rPr sz="1600" spc="50" dirty="0"/>
                        <a:t> </a:t>
                      </a:r>
                      <a:r>
                        <a:rPr sz="1600" spc="65" dirty="0"/>
                        <a:t>of</a:t>
                      </a:r>
                      <a:r>
                        <a:rPr sz="1600" spc="45" dirty="0"/>
                        <a:t> </a:t>
                      </a:r>
                      <a:r>
                        <a:rPr sz="1600" spc="20" dirty="0"/>
                        <a:t>Relational</a:t>
                      </a:r>
                      <a:r>
                        <a:rPr sz="1600" spc="25" dirty="0"/>
                        <a:t> </a:t>
                      </a:r>
                      <a:r>
                        <a:rPr sz="1600" spc="20" dirty="0"/>
                        <a:t>Model</a:t>
                      </a:r>
                      <a:r>
                        <a:rPr sz="1600" spc="50" dirty="0"/>
                        <a:t> </a:t>
                      </a:r>
                      <a:r>
                        <a:rPr sz="1600" spc="-20" dirty="0"/>
                        <a:t>are:</a:t>
                      </a:r>
                      <a:endParaRPr sz="1600" dirty="0"/>
                    </a:p>
                    <a:p>
                      <a:pPr marL="732155" indent="-286385">
                        <a:lnSpc>
                          <a:spcPct val="100000"/>
                        </a:lnSpc>
                        <a:buClr>
                          <a:srgbClr val="FF6600"/>
                        </a:buClr>
                        <a:buFont typeface="Arial"/>
                        <a:buChar char="•"/>
                        <a:tabLst>
                          <a:tab pos="732155" algn="l"/>
                        </a:tabLst>
                      </a:pPr>
                      <a:r>
                        <a:rPr sz="1600" spc="20" dirty="0"/>
                        <a:t>Relations</a:t>
                      </a:r>
                      <a:r>
                        <a:rPr sz="1600" spc="225" dirty="0"/>
                        <a:t> </a:t>
                      </a:r>
                      <a:r>
                        <a:rPr sz="1600" spc="45" dirty="0"/>
                        <a:t>(tables)</a:t>
                      </a:r>
                      <a:endParaRPr sz="1600" dirty="0"/>
                    </a:p>
                    <a:p>
                      <a:pPr marL="732155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Clr>
                          <a:srgbClr val="FF6600"/>
                        </a:buClr>
                        <a:buFont typeface="Arial"/>
                        <a:buChar char="•"/>
                        <a:tabLst>
                          <a:tab pos="732155" algn="l"/>
                        </a:tabLst>
                      </a:pPr>
                      <a:r>
                        <a:rPr sz="1600" dirty="0"/>
                        <a:t>Tuple</a:t>
                      </a:r>
                      <a:r>
                        <a:rPr sz="1600" spc="35" dirty="0"/>
                        <a:t> </a:t>
                      </a:r>
                      <a:r>
                        <a:rPr sz="1600" dirty="0"/>
                        <a:t>(row,</a:t>
                      </a:r>
                      <a:r>
                        <a:rPr sz="1600" spc="60" dirty="0"/>
                        <a:t> </a:t>
                      </a:r>
                      <a:r>
                        <a:rPr sz="1600" spc="-10" dirty="0"/>
                        <a:t>unordered)</a:t>
                      </a:r>
                      <a:endParaRPr sz="1600" dirty="0"/>
                    </a:p>
                    <a:p>
                      <a:pPr marL="732155" indent="-286385">
                        <a:lnSpc>
                          <a:spcPct val="100000"/>
                        </a:lnSpc>
                        <a:buClr>
                          <a:srgbClr val="FF6600"/>
                        </a:buClr>
                        <a:buFont typeface="Arial"/>
                        <a:buChar char="•"/>
                        <a:tabLst>
                          <a:tab pos="732155" algn="l"/>
                        </a:tabLst>
                      </a:pPr>
                      <a:r>
                        <a:rPr sz="1600" dirty="0"/>
                        <a:t>Attributes</a:t>
                      </a:r>
                      <a:r>
                        <a:rPr sz="1600" spc="80" dirty="0"/>
                        <a:t> </a:t>
                      </a:r>
                      <a:r>
                        <a:rPr sz="1600" spc="50" dirty="0"/>
                        <a:t>(columns,</a:t>
                      </a:r>
                      <a:r>
                        <a:rPr sz="1600" spc="110" dirty="0"/>
                        <a:t> </a:t>
                      </a:r>
                      <a:r>
                        <a:rPr sz="1600" spc="-10" dirty="0"/>
                        <a:t>unordered)</a:t>
                      </a:r>
                      <a:endParaRPr sz="1600" dirty="0"/>
                    </a:p>
                    <a:p>
                      <a:pPr marL="732155" indent="-286385">
                        <a:lnSpc>
                          <a:spcPct val="100000"/>
                        </a:lnSpc>
                        <a:buClr>
                          <a:srgbClr val="FF6600"/>
                        </a:buClr>
                        <a:buFont typeface="Arial"/>
                        <a:buChar char="•"/>
                        <a:tabLst>
                          <a:tab pos="732155" algn="l"/>
                        </a:tabLst>
                      </a:pPr>
                      <a:r>
                        <a:rPr sz="1600" dirty="0"/>
                        <a:t>Domain</a:t>
                      </a:r>
                      <a:r>
                        <a:rPr sz="1600" spc="80" dirty="0"/>
                        <a:t> </a:t>
                      </a:r>
                      <a:r>
                        <a:rPr sz="1600" spc="50" dirty="0"/>
                        <a:t>(column</a:t>
                      </a:r>
                      <a:r>
                        <a:rPr sz="1600" spc="90" dirty="0"/>
                        <a:t> </a:t>
                      </a:r>
                      <a:r>
                        <a:rPr sz="1600" spc="-20" dirty="0"/>
                        <a:t>type)</a:t>
                      </a:r>
                      <a:endParaRPr sz="1600" dirty="0"/>
                    </a:p>
                    <a:p>
                      <a:pPr marL="732155" indent="-286385">
                        <a:lnSpc>
                          <a:spcPct val="100000"/>
                        </a:lnSpc>
                        <a:buClr>
                          <a:srgbClr val="FF6600"/>
                        </a:buClr>
                        <a:buFont typeface="Arial"/>
                        <a:buChar char="•"/>
                        <a:tabLst>
                          <a:tab pos="732155" algn="l"/>
                        </a:tabLst>
                      </a:pPr>
                      <a:r>
                        <a:rPr sz="1600" spc="45" dirty="0"/>
                        <a:t>Primary</a:t>
                      </a:r>
                      <a:r>
                        <a:rPr sz="1600" spc="-25" dirty="0"/>
                        <a:t> Key</a:t>
                      </a:r>
                      <a:endParaRPr sz="1600" dirty="0"/>
                    </a:p>
                    <a:p>
                      <a:pPr marL="732155" indent="-286385">
                        <a:lnSpc>
                          <a:spcPct val="100000"/>
                        </a:lnSpc>
                        <a:buClr>
                          <a:srgbClr val="FF6600"/>
                        </a:buClr>
                        <a:buFont typeface="Arial"/>
                        <a:buChar char="•"/>
                        <a:tabLst>
                          <a:tab pos="732155" algn="l"/>
                        </a:tabLst>
                      </a:pPr>
                      <a:r>
                        <a:rPr sz="1600" spc="10" dirty="0"/>
                        <a:t>Foreign</a:t>
                      </a:r>
                      <a:r>
                        <a:rPr sz="1600" spc="210" dirty="0"/>
                        <a:t> </a:t>
                      </a:r>
                      <a:r>
                        <a:rPr sz="1600" spc="-25" dirty="0"/>
                        <a:t>Key</a:t>
                      </a:r>
                      <a:endParaRPr sz="1600" dirty="0">
                        <a:latin typeface="Gill Sans MT"/>
                        <a:cs typeface="Gill Sans MT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437">
                <a:tc>
                  <a:txBody>
                    <a:bodyPr/>
                    <a:lstStyle/>
                    <a:p>
                      <a:pPr marL="91440">
                        <a:lnSpc>
                          <a:spcPts val="1395"/>
                        </a:lnSpc>
                        <a:spcBef>
                          <a:spcPts val="305"/>
                        </a:spcBef>
                      </a:pPr>
                      <a:endParaRPr lang="en-US" sz="1600" dirty="0"/>
                    </a:p>
                    <a:p>
                      <a:pPr marL="91440">
                        <a:lnSpc>
                          <a:spcPts val="1395"/>
                        </a:lnSpc>
                        <a:spcBef>
                          <a:spcPts val="305"/>
                        </a:spcBef>
                      </a:pPr>
                      <a:r>
                        <a:rPr sz="1600" dirty="0"/>
                        <a:t>ER</a:t>
                      </a:r>
                      <a:r>
                        <a:rPr sz="1600" spc="50" dirty="0"/>
                        <a:t> </a:t>
                      </a:r>
                      <a:r>
                        <a:rPr sz="1600" dirty="0"/>
                        <a:t>Model</a:t>
                      </a:r>
                      <a:r>
                        <a:rPr sz="1600" spc="65" dirty="0"/>
                        <a:t> describes</a:t>
                      </a:r>
                      <a:r>
                        <a:rPr sz="1600" spc="70" dirty="0"/>
                        <a:t> </a:t>
                      </a:r>
                      <a:r>
                        <a:rPr sz="1600" spc="85" dirty="0"/>
                        <a:t>Mapping</a:t>
                      </a:r>
                      <a:r>
                        <a:rPr sz="1600" spc="80" dirty="0"/>
                        <a:t> </a:t>
                      </a:r>
                      <a:r>
                        <a:rPr sz="1600" spc="-10" dirty="0"/>
                        <a:t>Cardinality.</a:t>
                      </a:r>
                      <a:endParaRPr sz="1600" dirty="0">
                        <a:latin typeface="Gill Sans MT"/>
                        <a:cs typeface="Gill Sans MT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445770">
                        <a:lnSpc>
                          <a:spcPts val="1395"/>
                        </a:lnSpc>
                        <a:spcBef>
                          <a:spcPts val="305"/>
                        </a:spcBef>
                      </a:pPr>
                      <a:endParaRPr lang="en-US" sz="1600" spc="20" dirty="0"/>
                    </a:p>
                    <a:p>
                      <a:pPr marL="445770">
                        <a:lnSpc>
                          <a:spcPts val="1395"/>
                        </a:lnSpc>
                        <a:spcBef>
                          <a:spcPts val="305"/>
                        </a:spcBef>
                      </a:pPr>
                      <a:r>
                        <a:rPr sz="1600" spc="20" dirty="0"/>
                        <a:t>Relational</a:t>
                      </a:r>
                      <a:r>
                        <a:rPr sz="1600" spc="30" dirty="0"/>
                        <a:t> </a:t>
                      </a:r>
                      <a:r>
                        <a:rPr sz="1600" spc="20" dirty="0"/>
                        <a:t>Model</a:t>
                      </a:r>
                      <a:r>
                        <a:rPr sz="1600" spc="45" dirty="0"/>
                        <a:t> </a:t>
                      </a:r>
                      <a:r>
                        <a:rPr sz="1600" spc="70" dirty="0"/>
                        <a:t>does</a:t>
                      </a:r>
                      <a:r>
                        <a:rPr sz="1600" spc="40" dirty="0"/>
                        <a:t> </a:t>
                      </a:r>
                      <a:r>
                        <a:rPr sz="1600" spc="20" dirty="0"/>
                        <a:t>not</a:t>
                      </a:r>
                      <a:r>
                        <a:rPr sz="1600" spc="35" dirty="0"/>
                        <a:t> </a:t>
                      </a:r>
                      <a:r>
                        <a:rPr sz="1600" spc="50" dirty="0"/>
                        <a:t>describe</a:t>
                      </a:r>
                      <a:r>
                        <a:rPr sz="1600" spc="65" dirty="0"/>
                        <a:t> </a:t>
                      </a:r>
                      <a:r>
                        <a:rPr sz="1600" spc="85" dirty="0"/>
                        <a:t>Mapping</a:t>
                      </a:r>
                      <a:r>
                        <a:rPr sz="1600" spc="45" dirty="0"/>
                        <a:t> </a:t>
                      </a:r>
                      <a:r>
                        <a:rPr sz="1600" spc="-10" dirty="0"/>
                        <a:t>Cardinality.</a:t>
                      </a:r>
                      <a:endParaRPr sz="1600" dirty="0">
                        <a:latin typeface="Gill Sans MT"/>
                        <a:cs typeface="Gill Sans MT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100" y="98490"/>
            <a:ext cx="7543800" cy="10880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E-</a:t>
            </a:r>
            <a:r>
              <a:rPr spc="-229" dirty="0"/>
              <a:t>R</a:t>
            </a:r>
            <a:r>
              <a:rPr spc="-250" dirty="0"/>
              <a:t> </a:t>
            </a:r>
            <a:r>
              <a:rPr spc="-190" dirty="0"/>
              <a:t>Diagram</a:t>
            </a:r>
            <a:r>
              <a:rPr spc="-220" dirty="0"/>
              <a:t> </a:t>
            </a:r>
            <a:r>
              <a:rPr spc="-180" dirty="0">
                <a:solidFill>
                  <a:srgbClr val="00AFEF"/>
                </a:solidFill>
              </a:rPr>
              <a:t>vs</a:t>
            </a:r>
            <a:r>
              <a:rPr spc="-240" dirty="0">
                <a:solidFill>
                  <a:srgbClr val="00AFEF"/>
                </a:solidFill>
              </a:rPr>
              <a:t> </a:t>
            </a:r>
            <a:r>
              <a:rPr spc="-150" dirty="0"/>
              <a:t>Relational</a:t>
            </a:r>
            <a:r>
              <a:rPr spc="-220" dirty="0"/>
              <a:t> </a:t>
            </a:r>
            <a:r>
              <a:rPr spc="-135" dirty="0"/>
              <a:t>Schema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Gill Sans MT"/>
                <a:cs typeface="Gill Sans MT"/>
              </a:rPr>
              <a:t>5</a:t>
            </a:r>
            <a:endParaRPr sz="13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47801" y="1369653"/>
            <a:ext cx="6400800" cy="3259497"/>
            <a:chOff x="998219" y="1312163"/>
            <a:chExt cx="6937375" cy="36074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8219" y="1312163"/>
              <a:ext cx="6937248" cy="19522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4059" y="3363468"/>
              <a:ext cx="5718047" cy="155600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57859" y="1512750"/>
            <a:ext cx="114236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6600"/>
                </a:solidFill>
                <a:latin typeface="Arial"/>
                <a:cs typeface="Arial"/>
              </a:rPr>
              <a:t>ER</a:t>
            </a:r>
            <a:r>
              <a:rPr sz="1400" b="1" spc="-15" dirty="0">
                <a:solidFill>
                  <a:srgbClr val="FF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6600"/>
                </a:solidFill>
                <a:latin typeface="Arial"/>
                <a:cs typeface="Arial"/>
              </a:rPr>
              <a:t>Diagram</a:t>
            </a:r>
            <a:r>
              <a:rPr sz="1400" b="1" spc="-30" dirty="0">
                <a:solidFill>
                  <a:srgbClr val="FF6600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FF6600"/>
                </a:solidFill>
                <a:latin typeface="Arial"/>
                <a:cs typeface="Arial"/>
              </a:rPr>
              <a:t>: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9110" y="3242894"/>
            <a:ext cx="17113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6600"/>
                </a:solidFill>
                <a:latin typeface="Arial"/>
                <a:cs typeface="Arial"/>
              </a:rPr>
              <a:t>Relational</a:t>
            </a:r>
            <a:r>
              <a:rPr sz="1400" b="1" spc="-70" dirty="0">
                <a:solidFill>
                  <a:srgbClr val="FF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FF6600"/>
                </a:solidFill>
                <a:latin typeface="Arial"/>
                <a:cs typeface="Arial"/>
              </a:rPr>
              <a:t>Schema</a:t>
            </a:r>
            <a:r>
              <a:rPr sz="1400" b="1" spc="-30" dirty="0">
                <a:solidFill>
                  <a:srgbClr val="FF6600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FF6600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595372"/>
            <a:ext cx="674085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Relational</a:t>
            </a:r>
            <a:r>
              <a:rPr spc="-225" dirty="0"/>
              <a:t> </a:t>
            </a:r>
            <a:r>
              <a:rPr spc="-175" dirty="0"/>
              <a:t>Schema</a:t>
            </a:r>
            <a:r>
              <a:rPr spc="-215" dirty="0"/>
              <a:t> </a:t>
            </a:r>
            <a:r>
              <a:rPr spc="-805" dirty="0">
                <a:solidFill>
                  <a:srgbClr val="00AFEF"/>
                </a:solidFill>
              </a:rPr>
              <a:t>&gt;&gt;</a:t>
            </a:r>
            <a:r>
              <a:rPr spc="-225" dirty="0">
                <a:solidFill>
                  <a:srgbClr val="00AFEF"/>
                </a:solidFill>
              </a:rPr>
              <a:t> </a:t>
            </a:r>
            <a:r>
              <a:rPr spc="-165" dirty="0"/>
              <a:t>Strong</a:t>
            </a:r>
            <a:r>
              <a:rPr spc="-220" dirty="0"/>
              <a:t> </a:t>
            </a:r>
            <a:r>
              <a:rPr spc="-135" dirty="0"/>
              <a:t>Entity</a:t>
            </a:r>
            <a:r>
              <a:rPr spc="-220" dirty="0"/>
              <a:t> </a:t>
            </a:r>
            <a:r>
              <a:rPr spc="-45" dirty="0"/>
              <a:t>Set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Gill Sans MT"/>
                <a:cs typeface="Gill Sans MT"/>
              </a:rPr>
              <a:t>6</a:t>
            </a:r>
            <a:endParaRPr sz="13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82417" y="1352550"/>
            <a:ext cx="3979165" cy="3336798"/>
            <a:chOff x="1888235" y="1063752"/>
            <a:chExt cx="4357370" cy="38557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8235" y="1063752"/>
              <a:ext cx="4357116" cy="19095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2551" y="3645408"/>
              <a:ext cx="2348483" cy="12740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52671" y="3084537"/>
              <a:ext cx="233172" cy="62183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932808" y="3106674"/>
              <a:ext cx="76200" cy="464820"/>
            </a:xfrm>
            <a:custGeom>
              <a:avLst/>
              <a:gdLst/>
              <a:ahLst/>
              <a:cxnLst/>
              <a:rect l="l" t="t" r="r" b="b"/>
              <a:pathLst>
                <a:path w="76200" h="464820">
                  <a:moveTo>
                    <a:pt x="25470" y="388619"/>
                  </a:moveTo>
                  <a:lnTo>
                    <a:pt x="0" y="388746"/>
                  </a:lnTo>
                  <a:lnTo>
                    <a:pt x="38480" y="464819"/>
                  </a:lnTo>
                  <a:lnTo>
                    <a:pt x="69809" y="401319"/>
                  </a:lnTo>
                  <a:lnTo>
                    <a:pt x="25526" y="401319"/>
                  </a:lnTo>
                  <a:lnTo>
                    <a:pt x="25470" y="388619"/>
                  </a:lnTo>
                  <a:close/>
                </a:path>
                <a:path w="76200" h="464820">
                  <a:moveTo>
                    <a:pt x="49149" y="0"/>
                  </a:moveTo>
                  <a:lnTo>
                    <a:pt x="23749" y="0"/>
                  </a:lnTo>
                  <a:lnTo>
                    <a:pt x="25470" y="388619"/>
                  </a:lnTo>
                  <a:lnTo>
                    <a:pt x="25526" y="401319"/>
                  </a:lnTo>
                  <a:lnTo>
                    <a:pt x="50927" y="401319"/>
                  </a:lnTo>
                  <a:lnTo>
                    <a:pt x="49149" y="0"/>
                  </a:lnTo>
                  <a:close/>
                </a:path>
                <a:path w="76200" h="464820">
                  <a:moveTo>
                    <a:pt x="76074" y="388619"/>
                  </a:moveTo>
                  <a:lnTo>
                    <a:pt x="50871" y="388619"/>
                  </a:lnTo>
                  <a:lnTo>
                    <a:pt x="50927" y="401319"/>
                  </a:lnTo>
                  <a:lnTo>
                    <a:pt x="69809" y="401319"/>
                  </a:lnTo>
                  <a:lnTo>
                    <a:pt x="76012" y="388746"/>
                  </a:lnTo>
                  <a:lnTo>
                    <a:pt x="76074" y="388619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96792"/>
            <a:ext cx="635985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Relational</a:t>
            </a:r>
            <a:r>
              <a:rPr spc="-229" dirty="0"/>
              <a:t> </a:t>
            </a:r>
            <a:r>
              <a:rPr spc="-175" dirty="0"/>
              <a:t>Schema</a:t>
            </a:r>
            <a:r>
              <a:rPr spc="-225" dirty="0"/>
              <a:t> </a:t>
            </a:r>
            <a:r>
              <a:rPr spc="-805" dirty="0">
                <a:solidFill>
                  <a:srgbClr val="00AFEF"/>
                </a:solidFill>
              </a:rPr>
              <a:t>&gt;&gt;</a:t>
            </a:r>
            <a:r>
              <a:rPr spc="-225" dirty="0">
                <a:solidFill>
                  <a:srgbClr val="00AFEF"/>
                </a:solidFill>
              </a:rPr>
              <a:t> </a:t>
            </a:r>
            <a:r>
              <a:rPr spc="-200" dirty="0"/>
              <a:t>Weak</a:t>
            </a:r>
            <a:r>
              <a:rPr spc="-245" dirty="0"/>
              <a:t> </a:t>
            </a:r>
            <a:r>
              <a:rPr spc="-135" dirty="0"/>
              <a:t>Entity</a:t>
            </a:r>
            <a:r>
              <a:rPr spc="-215" dirty="0"/>
              <a:t> </a:t>
            </a:r>
            <a:r>
              <a:rPr spc="-55" dirty="0"/>
              <a:t>Set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Gill Sans MT"/>
                <a:cs typeface="Gill Sans MT"/>
              </a:rPr>
              <a:t>7</a:t>
            </a:r>
            <a:endParaRPr sz="13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75181" y="1352550"/>
            <a:ext cx="6993637" cy="3366878"/>
            <a:chOff x="245363" y="1008888"/>
            <a:chExt cx="8598535" cy="39109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6470" y="3107430"/>
              <a:ext cx="126361" cy="3554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33849" y="3120389"/>
              <a:ext cx="76200" cy="299720"/>
            </a:xfrm>
            <a:custGeom>
              <a:avLst/>
              <a:gdLst/>
              <a:ahLst/>
              <a:cxnLst/>
              <a:rect l="l" t="t" r="r" b="b"/>
              <a:pathLst>
                <a:path w="76200" h="299720">
                  <a:moveTo>
                    <a:pt x="25400" y="223266"/>
                  </a:moveTo>
                  <a:lnTo>
                    <a:pt x="0" y="223266"/>
                  </a:lnTo>
                  <a:lnTo>
                    <a:pt x="38100" y="299466"/>
                  </a:lnTo>
                  <a:lnTo>
                    <a:pt x="69850" y="235966"/>
                  </a:lnTo>
                  <a:lnTo>
                    <a:pt x="25400" y="235966"/>
                  </a:lnTo>
                  <a:lnTo>
                    <a:pt x="25400" y="223266"/>
                  </a:lnTo>
                  <a:close/>
                </a:path>
                <a:path w="76200" h="299720">
                  <a:moveTo>
                    <a:pt x="50800" y="0"/>
                  </a:moveTo>
                  <a:lnTo>
                    <a:pt x="25400" y="0"/>
                  </a:lnTo>
                  <a:lnTo>
                    <a:pt x="25400" y="235966"/>
                  </a:lnTo>
                  <a:lnTo>
                    <a:pt x="50800" y="235966"/>
                  </a:lnTo>
                  <a:lnTo>
                    <a:pt x="50800" y="0"/>
                  </a:lnTo>
                  <a:close/>
                </a:path>
                <a:path w="76200" h="299720">
                  <a:moveTo>
                    <a:pt x="76200" y="223266"/>
                  </a:moveTo>
                  <a:lnTo>
                    <a:pt x="50800" y="223266"/>
                  </a:lnTo>
                  <a:lnTo>
                    <a:pt x="50800" y="235966"/>
                  </a:lnTo>
                  <a:lnTo>
                    <a:pt x="69850" y="235966"/>
                  </a:lnTo>
                  <a:lnTo>
                    <a:pt x="76200" y="223266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5363" y="1008888"/>
              <a:ext cx="8598407" cy="21137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359" y="3544823"/>
              <a:ext cx="7377683" cy="13746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100" y="24817"/>
            <a:ext cx="7543800" cy="10880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Relational</a:t>
            </a:r>
            <a:r>
              <a:rPr spc="-225" dirty="0"/>
              <a:t> </a:t>
            </a:r>
            <a:r>
              <a:rPr spc="-175" dirty="0"/>
              <a:t>Schema</a:t>
            </a:r>
            <a:r>
              <a:rPr spc="-210" dirty="0"/>
              <a:t> </a:t>
            </a:r>
            <a:r>
              <a:rPr spc="-805" dirty="0">
                <a:solidFill>
                  <a:srgbClr val="00AFEF"/>
                </a:solidFill>
              </a:rPr>
              <a:t>&gt;&gt;</a:t>
            </a:r>
            <a:r>
              <a:rPr spc="-225" dirty="0">
                <a:solidFill>
                  <a:srgbClr val="00AFEF"/>
                </a:solidFill>
              </a:rPr>
              <a:t> </a:t>
            </a:r>
            <a:r>
              <a:rPr spc="-160" dirty="0"/>
              <a:t>Composite</a:t>
            </a:r>
            <a:r>
              <a:rPr spc="-235" dirty="0"/>
              <a:t> </a:t>
            </a:r>
            <a:r>
              <a:rPr spc="-95" dirty="0"/>
              <a:t>Attribute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Gill Sans MT"/>
                <a:cs typeface="Gill Sans MT"/>
              </a:rPr>
              <a:t>8</a:t>
            </a:r>
            <a:endParaRPr sz="13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27168" y="1298508"/>
            <a:ext cx="4089663" cy="3429000"/>
            <a:chOff x="1949195" y="999744"/>
            <a:chExt cx="4680585" cy="391985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6470" y="3107430"/>
              <a:ext cx="126361" cy="3554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33850" y="3120389"/>
              <a:ext cx="76200" cy="299720"/>
            </a:xfrm>
            <a:custGeom>
              <a:avLst/>
              <a:gdLst/>
              <a:ahLst/>
              <a:cxnLst/>
              <a:rect l="l" t="t" r="r" b="b"/>
              <a:pathLst>
                <a:path w="76200" h="299720">
                  <a:moveTo>
                    <a:pt x="25400" y="223266"/>
                  </a:moveTo>
                  <a:lnTo>
                    <a:pt x="0" y="223266"/>
                  </a:lnTo>
                  <a:lnTo>
                    <a:pt x="38100" y="299466"/>
                  </a:lnTo>
                  <a:lnTo>
                    <a:pt x="69850" y="235966"/>
                  </a:lnTo>
                  <a:lnTo>
                    <a:pt x="25400" y="235966"/>
                  </a:lnTo>
                  <a:lnTo>
                    <a:pt x="25400" y="223266"/>
                  </a:lnTo>
                  <a:close/>
                </a:path>
                <a:path w="76200" h="299720">
                  <a:moveTo>
                    <a:pt x="50800" y="0"/>
                  </a:moveTo>
                  <a:lnTo>
                    <a:pt x="25400" y="0"/>
                  </a:lnTo>
                  <a:lnTo>
                    <a:pt x="25400" y="235966"/>
                  </a:lnTo>
                  <a:lnTo>
                    <a:pt x="50800" y="235966"/>
                  </a:lnTo>
                  <a:lnTo>
                    <a:pt x="50800" y="0"/>
                  </a:lnTo>
                  <a:close/>
                </a:path>
                <a:path w="76200" h="299720">
                  <a:moveTo>
                    <a:pt x="76200" y="223266"/>
                  </a:moveTo>
                  <a:lnTo>
                    <a:pt x="50800" y="223266"/>
                  </a:lnTo>
                  <a:lnTo>
                    <a:pt x="50800" y="235966"/>
                  </a:lnTo>
                  <a:lnTo>
                    <a:pt x="69850" y="235966"/>
                  </a:lnTo>
                  <a:lnTo>
                    <a:pt x="76200" y="223266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9167" y="3410711"/>
              <a:ext cx="2081783" cy="15087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49195" y="999744"/>
              <a:ext cx="4680204" cy="233476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Relational</a:t>
            </a:r>
            <a:r>
              <a:rPr spc="-220" dirty="0"/>
              <a:t> </a:t>
            </a:r>
            <a:r>
              <a:rPr spc="-175" dirty="0"/>
              <a:t>Schema</a:t>
            </a:r>
            <a:r>
              <a:rPr spc="-215" dirty="0"/>
              <a:t> </a:t>
            </a:r>
            <a:r>
              <a:rPr spc="-805" dirty="0">
                <a:solidFill>
                  <a:srgbClr val="00AFEF"/>
                </a:solidFill>
              </a:rPr>
              <a:t>&gt;&gt;</a:t>
            </a:r>
            <a:r>
              <a:rPr spc="-220" dirty="0">
                <a:solidFill>
                  <a:srgbClr val="00AFEF"/>
                </a:solidFill>
              </a:rPr>
              <a:t> </a:t>
            </a:r>
            <a:r>
              <a:rPr spc="-155" dirty="0"/>
              <a:t>Multivalued</a:t>
            </a:r>
            <a:r>
              <a:rPr spc="-220" dirty="0"/>
              <a:t> </a:t>
            </a:r>
            <a:r>
              <a:rPr spc="-95" dirty="0"/>
              <a:t>Attribute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Gill Sans MT"/>
                <a:cs typeface="Gill Sans MT"/>
              </a:rPr>
              <a:t>9</a:t>
            </a:r>
            <a:endParaRPr sz="13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72681" y="1332854"/>
            <a:ext cx="3909061" cy="3374898"/>
            <a:chOff x="1882139" y="1025652"/>
            <a:chExt cx="4762500" cy="38938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6470" y="3107430"/>
              <a:ext cx="126361" cy="3554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33850" y="3120390"/>
              <a:ext cx="76200" cy="299720"/>
            </a:xfrm>
            <a:custGeom>
              <a:avLst/>
              <a:gdLst/>
              <a:ahLst/>
              <a:cxnLst/>
              <a:rect l="l" t="t" r="r" b="b"/>
              <a:pathLst>
                <a:path w="76200" h="299720">
                  <a:moveTo>
                    <a:pt x="25400" y="223266"/>
                  </a:moveTo>
                  <a:lnTo>
                    <a:pt x="0" y="223266"/>
                  </a:lnTo>
                  <a:lnTo>
                    <a:pt x="38100" y="299466"/>
                  </a:lnTo>
                  <a:lnTo>
                    <a:pt x="69850" y="235966"/>
                  </a:lnTo>
                  <a:lnTo>
                    <a:pt x="25400" y="235966"/>
                  </a:lnTo>
                  <a:lnTo>
                    <a:pt x="25400" y="223266"/>
                  </a:lnTo>
                  <a:close/>
                </a:path>
                <a:path w="76200" h="299720">
                  <a:moveTo>
                    <a:pt x="50800" y="0"/>
                  </a:moveTo>
                  <a:lnTo>
                    <a:pt x="25400" y="0"/>
                  </a:lnTo>
                  <a:lnTo>
                    <a:pt x="25400" y="235966"/>
                  </a:lnTo>
                  <a:lnTo>
                    <a:pt x="50800" y="235966"/>
                  </a:lnTo>
                  <a:lnTo>
                    <a:pt x="50800" y="0"/>
                  </a:lnTo>
                  <a:close/>
                </a:path>
                <a:path w="76200" h="299720">
                  <a:moveTo>
                    <a:pt x="76200" y="223266"/>
                  </a:moveTo>
                  <a:lnTo>
                    <a:pt x="50800" y="223266"/>
                  </a:lnTo>
                  <a:lnTo>
                    <a:pt x="50800" y="235966"/>
                  </a:lnTo>
                  <a:lnTo>
                    <a:pt x="69850" y="235966"/>
                  </a:lnTo>
                  <a:lnTo>
                    <a:pt x="76200" y="223266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2139" y="1025652"/>
              <a:ext cx="4578096" cy="218236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43099" y="3732275"/>
              <a:ext cx="4701540" cy="11871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Relational</a:t>
            </a:r>
            <a:r>
              <a:rPr spc="-225" dirty="0"/>
              <a:t> </a:t>
            </a:r>
            <a:r>
              <a:rPr spc="-175" dirty="0"/>
              <a:t>Schema</a:t>
            </a:r>
            <a:r>
              <a:rPr spc="-215" dirty="0"/>
              <a:t> </a:t>
            </a:r>
            <a:r>
              <a:rPr spc="-805" dirty="0">
                <a:solidFill>
                  <a:srgbClr val="00AFEF"/>
                </a:solidFill>
              </a:rPr>
              <a:t>&gt;&gt;</a:t>
            </a:r>
            <a:r>
              <a:rPr spc="-220" dirty="0">
                <a:solidFill>
                  <a:srgbClr val="00AFEF"/>
                </a:solidFill>
              </a:rPr>
              <a:t> </a:t>
            </a:r>
            <a:r>
              <a:rPr spc="-170" dirty="0"/>
              <a:t>Derived</a:t>
            </a:r>
            <a:r>
              <a:rPr spc="-210" dirty="0"/>
              <a:t> </a:t>
            </a:r>
            <a:r>
              <a:rPr spc="-100" dirty="0"/>
              <a:t>Attribute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10</a:t>
            </a:r>
            <a:endParaRPr sz="13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14600" y="1433724"/>
            <a:ext cx="3867142" cy="3280411"/>
            <a:chOff x="2308860" y="967739"/>
            <a:chExt cx="4064000" cy="38512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1345" y="2996039"/>
              <a:ext cx="125554" cy="47834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988180" y="3009138"/>
              <a:ext cx="76200" cy="421005"/>
            </a:xfrm>
            <a:custGeom>
              <a:avLst/>
              <a:gdLst/>
              <a:ahLst/>
              <a:cxnLst/>
              <a:rect l="l" t="t" r="r" b="b"/>
              <a:pathLst>
                <a:path w="76200" h="421004">
                  <a:moveTo>
                    <a:pt x="25377" y="344678"/>
                  </a:moveTo>
                  <a:lnTo>
                    <a:pt x="0" y="344678"/>
                  </a:lnTo>
                  <a:lnTo>
                    <a:pt x="38227" y="420750"/>
                  </a:lnTo>
                  <a:lnTo>
                    <a:pt x="69871" y="357250"/>
                  </a:lnTo>
                  <a:lnTo>
                    <a:pt x="25400" y="357250"/>
                  </a:lnTo>
                  <a:lnTo>
                    <a:pt x="25377" y="344678"/>
                  </a:lnTo>
                  <a:close/>
                </a:path>
                <a:path w="76200" h="421004">
                  <a:moveTo>
                    <a:pt x="50165" y="0"/>
                  </a:moveTo>
                  <a:lnTo>
                    <a:pt x="24765" y="0"/>
                  </a:lnTo>
                  <a:lnTo>
                    <a:pt x="25377" y="344678"/>
                  </a:lnTo>
                  <a:lnTo>
                    <a:pt x="25400" y="357250"/>
                  </a:lnTo>
                  <a:lnTo>
                    <a:pt x="50800" y="357250"/>
                  </a:lnTo>
                  <a:lnTo>
                    <a:pt x="50165" y="0"/>
                  </a:lnTo>
                  <a:close/>
                </a:path>
                <a:path w="76200" h="421004">
                  <a:moveTo>
                    <a:pt x="76136" y="344678"/>
                  </a:moveTo>
                  <a:lnTo>
                    <a:pt x="50777" y="344678"/>
                  </a:lnTo>
                  <a:lnTo>
                    <a:pt x="50800" y="357250"/>
                  </a:lnTo>
                  <a:lnTo>
                    <a:pt x="69871" y="357250"/>
                  </a:lnTo>
                  <a:lnTo>
                    <a:pt x="76136" y="344678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08860" y="967739"/>
              <a:ext cx="3977640" cy="23073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03220" y="3531107"/>
              <a:ext cx="2374392" cy="12877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0584" y="2868866"/>
              <a:ext cx="171830" cy="17843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391013"/>
            <a:ext cx="818865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Relational</a:t>
            </a:r>
            <a:r>
              <a:rPr spc="-225" dirty="0"/>
              <a:t> </a:t>
            </a:r>
            <a:r>
              <a:rPr spc="-175" dirty="0"/>
              <a:t>Schema</a:t>
            </a:r>
            <a:r>
              <a:rPr spc="-220" dirty="0"/>
              <a:t> </a:t>
            </a:r>
            <a:r>
              <a:rPr spc="-805" dirty="0">
                <a:solidFill>
                  <a:srgbClr val="00AFEF"/>
                </a:solidFill>
              </a:rPr>
              <a:t>&gt;&gt;</a:t>
            </a:r>
            <a:r>
              <a:rPr spc="-225" dirty="0">
                <a:solidFill>
                  <a:srgbClr val="00AFEF"/>
                </a:solidFill>
              </a:rPr>
              <a:t> </a:t>
            </a:r>
            <a:r>
              <a:rPr spc="-250" dirty="0"/>
              <a:t>One</a:t>
            </a:r>
            <a:r>
              <a:rPr spc="-235" dirty="0"/>
              <a:t> </a:t>
            </a:r>
            <a:r>
              <a:rPr spc="-145" dirty="0"/>
              <a:t>to</a:t>
            </a:r>
            <a:r>
              <a:rPr spc="-220" dirty="0"/>
              <a:t> </a:t>
            </a:r>
            <a:r>
              <a:rPr spc="-240" dirty="0"/>
              <a:t>One</a:t>
            </a:r>
            <a:r>
              <a:rPr spc="-225" dirty="0"/>
              <a:t> </a:t>
            </a:r>
            <a:r>
              <a:rPr spc="-160" dirty="0"/>
              <a:t>Relationship</a:t>
            </a:r>
            <a:r>
              <a:rPr spc="-225" dirty="0"/>
              <a:t> </a:t>
            </a:r>
            <a:r>
              <a:rPr spc="-25" dirty="0"/>
              <a:t>Set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11</a:t>
            </a:r>
            <a:endParaRPr sz="13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41157" y="1350156"/>
            <a:ext cx="6103620" cy="3402331"/>
            <a:chOff x="830580" y="1074419"/>
            <a:chExt cx="6681470" cy="38455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6470" y="3107430"/>
              <a:ext cx="126361" cy="3554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33850" y="3120390"/>
              <a:ext cx="76200" cy="299720"/>
            </a:xfrm>
            <a:custGeom>
              <a:avLst/>
              <a:gdLst/>
              <a:ahLst/>
              <a:cxnLst/>
              <a:rect l="l" t="t" r="r" b="b"/>
              <a:pathLst>
                <a:path w="76200" h="299720">
                  <a:moveTo>
                    <a:pt x="25400" y="223266"/>
                  </a:moveTo>
                  <a:lnTo>
                    <a:pt x="0" y="223266"/>
                  </a:lnTo>
                  <a:lnTo>
                    <a:pt x="38100" y="299466"/>
                  </a:lnTo>
                  <a:lnTo>
                    <a:pt x="69850" y="235966"/>
                  </a:lnTo>
                  <a:lnTo>
                    <a:pt x="25400" y="235966"/>
                  </a:lnTo>
                  <a:lnTo>
                    <a:pt x="25400" y="223266"/>
                  </a:lnTo>
                  <a:close/>
                </a:path>
                <a:path w="76200" h="299720">
                  <a:moveTo>
                    <a:pt x="50800" y="0"/>
                  </a:moveTo>
                  <a:lnTo>
                    <a:pt x="25400" y="0"/>
                  </a:lnTo>
                  <a:lnTo>
                    <a:pt x="25400" y="235966"/>
                  </a:lnTo>
                  <a:lnTo>
                    <a:pt x="50800" y="235966"/>
                  </a:lnTo>
                  <a:lnTo>
                    <a:pt x="50800" y="0"/>
                  </a:lnTo>
                  <a:close/>
                </a:path>
                <a:path w="76200" h="299720">
                  <a:moveTo>
                    <a:pt x="76200" y="223266"/>
                  </a:moveTo>
                  <a:lnTo>
                    <a:pt x="50800" y="223266"/>
                  </a:lnTo>
                  <a:lnTo>
                    <a:pt x="50800" y="235966"/>
                  </a:lnTo>
                  <a:lnTo>
                    <a:pt x="69850" y="235966"/>
                  </a:lnTo>
                  <a:lnTo>
                    <a:pt x="76200" y="223266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0580" y="1074419"/>
              <a:ext cx="6681216" cy="17998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31620" y="3581399"/>
              <a:ext cx="5279135" cy="133807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81074" y="3790950"/>
            <a:ext cx="939165" cy="276225"/>
          </a:xfrm>
          <a:prstGeom prst="rect">
            <a:avLst/>
          </a:prstGeom>
          <a:ln w="9525">
            <a:solidFill>
              <a:srgbClr val="953334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210"/>
              </a:spcBef>
            </a:pPr>
            <a:r>
              <a:rPr sz="1400" spc="-10" dirty="0">
                <a:solidFill>
                  <a:srgbClr val="953334"/>
                </a:solidFill>
                <a:latin typeface="Arial"/>
                <a:cs typeface="Arial"/>
              </a:rPr>
              <a:t>Nullable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02986" y="4152643"/>
            <a:ext cx="381000" cy="430530"/>
          </a:xfrm>
          <a:custGeom>
            <a:avLst/>
            <a:gdLst/>
            <a:ahLst/>
            <a:cxnLst/>
            <a:rect l="l" t="t" r="r" b="b"/>
            <a:pathLst>
              <a:path w="381000" h="430529">
                <a:moveTo>
                  <a:pt x="325395" y="377130"/>
                </a:moveTo>
                <a:lnTo>
                  <a:pt x="301561" y="398157"/>
                </a:lnTo>
                <a:lnTo>
                  <a:pt x="380555" y="430085"/>
                </a:lnTo>
                <a:lnTo>
                  <a:pt x="369040" y="386676"/>
                </a:lnTo>
                <a:lnTo>
                  <a:pt x="333819" y="386676"/>
                </a:lnTo>
                <a:lnTo>
                  <a:pt x="325395" y="377130"/>
                </a:lnTo>
                <a:close/>
              </a:path>
              <a:path w="381000" h="430529">
                <a:moveTo>
                  <a:pt x="334922" y="368725"/>
                </a:moveTo>
                <a:lnTo>
                  <a:pt x="325395" y="377130"/>
                </a:lnTo>
                <a:lnTo>
                  <a:pt x="333819" y="386676"/>
                </a:lnTo>
                <a:lnTo>
                  <a:pt x="343344" y="378269"/>
                </a:lnTo>
                <a:lnTo>
                  <a:pt x="334922" y="368725"/>
                </a:lnTo>
                <a:close/>
              </a:path>
              <a:path w="381000" h="430529">
                <a:moveTo>
                  <a:pt x="358711" y="347738"/>
                </a:moveTo>
                <a:lnTo>
                  <a:pt x="334922" y="368725"/>
                </a:lnTo>
                <a:lnTo>
                  <a:pt x="343344" y="378269"/>
                </a:lnTo>
                <a:lnTo>
                  <a:pt x="333819" y="386676"/>
                </a:lnTo>
                <a:lnTo>
                  <a:pt x="369040" y="386676"/>
                </a:lnTo>
                <a:lnTo>
                  <a:pt x="358711" y="347738"/>
                </a:lnTo>
                <a:close/>
              </a:path>
              <a:path w="381000" h="430529">
                <a:moveTo>
                  <a:pt x="9525" y="0"/>
                </a:moveTo>
                <a:lnTo>
                  <a:pt x="0" y="8407"/>
                </a:lnTo>
                <a:lnTo>
                  <a:pt x="325395" y="377130"/>
                </a:lnTo>
                <a:lnTo>
                  <a:pt x="334922" y="368725"/>
                </a:lnTo>
                <a:lnTo>
                  <a:pt x="9525" y="0"/>
                </a:lnTo>
                <a:close/>
              </a:path>
            </a:pathLst>
          </a:custGeom>
          <a:solidFill>
            <a:srgbClr val="942E2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611" y="605945"/>
            <a:ext cx="83210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Relational</a:t>
            </a:r>
            <a:r>
              <a:rPr spc="-225" dirty="0"/>
              <a:t> </a:t>
            </a:r>
            <a:r>
              <a:rPr spc="-175" dirty="0"/>
              <a:t>Schema</a:t>
            </a:r>
            <a:r>
              <a:rPr spc="-215" dirty="0"/>
              <a:t> </a:t>
            </a:r>
            <a:r>
              <a:rPr spc="-805" dirty="0">
                <a:solidFill>
                  <a:srgbClr val="00AFEF"/>
                </a:solidFill>
              </a:rPr>
              <a:t>&gt;&gt;</a:t>
            </a:r>
            <a:r>
              <a:rPr spc="-225" dirty="0">
                <a:solidFill>
                  <a:srgbClr val="00AFEF"/>
                </a:solidFill>
              </a:rPr>
              <a:t> </a:t>
            </a:r>
            <a:r>
              <a:rPr spc="-250" dirty="0"/>
              <a:t>One</a:t>
            </a:r>
            <a:r>
              <a:rPr spc="-235" dirty="0"/>
              <a:t> </a:t>
            </a:r>
            <a:r>
              <a:rPr spc="-145" dirty="0"/>
              <a:t>to</a:t>
            </a:r>
            <a:r>
              <a:rPr spc="-220" dirty="0"/>
              <a:t> Many</a:t>
            </a:r>
            <a:r>
              <a:rPr spc="-240" dirty="0"/>
              <a:t> </a:t>
            </a:r>
            <a:r>
              <a:rPr spc="-160" dirty="0"/>
              <a:t>Relationship</a:t>
            </a:r>
            <a:r>
              <a:rPr spc="-215" dirty="0"/>
              <a:t> </a:t>
            </a:r>
            <a:r>
              <a:rPr spc="-25" dirty="0"/>
              <a:t>Set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12</a:t>
            </a:r>
            <a:endParaRPr sz="13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08986" y="1333795"/>
            <a:ext cx="5811013" cy="3363349"/>
            <a:chOff x="757427" y="1025652"/>
            <a:chExt cx="6827520" cy="38938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6470" y="3107430"/>
              <a:ext cx="126361" cy="3554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33849" y="3120390"/>
              <a:ext cx="76200" cy="299720"/>
            </a:xfrm>
            <a:custGeom>
              <a:avLst/>
              <a:gdLst/>
              <a:ahLst/>
              <a:cxnLst/>
              <a:rect l="l" t="t" r="r" b="b"/>
              <a:pathLst>
                <a:path w="76200" h="299720">
                  <a:moveTo>
                    <a:pt x="25400" y="223266"/>
                  </a:moveTo>
                  <a:lnTo>
                    <a:pt x="0" y="223266"/>
                  </a:lnTo>
                  <a:lnTo>
                    <a:pt x="38100" y="299466"/>
                  </a:lnTo>
                  <a:lnTo>
                    <a:pt x="69850" y="235966"/>
                  </a:lnTo>
                  <a:lnTo>
                    <a:pt x="25400" y="235966"/>
                  </a:lnTo>
                  <a:lnTo>
                    <a:pt x="25400" y="223266"/>
                  </a:lnTo>
                  <a:close/>
                </a:path>
                <a:path w="76200" h="299720">
                  <a:moveTo>
                    <a:pt x="50800" y="0"/>
                  </a:moveTo>
                  <a:lnTo>
                    <a:pt x="25400" y="0"/>
                  </a:lnTo>
                  <a:lnTo>
                    <a:pt x="25400" y="235966"/>
                  </a:lnTo>
                  <a:lnTo>
                    <a:pt x="50800" y="235966"/>
                  </a:lnTo>
                  <a:lnTo>
                    <a:pt x="50800" y="0"/>
                  </a:lnTo>
                  <a:close/>
                </a:path>
                <a:path w="76200" h="299720">
                  <a:moveTo>
                    <a:pt x="76200" y="223266"/>
                  </a:moveTo>
                  <a:lnTo>
                    <a:pt x="50800" y="223266"/>
                  </a:lnTo>
                  <a:lnTo>
                    <a:pt x="50800" y="235966"/>
                  </a:lnTo>
                  <a:lnTo>
                    <a:pt x="69850" y="235966"/>
                  </a:lnTo>
                  <a:lnTo>
                    <a:pt x="76200" y="223266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7427" y="1025652"/>
              <a:ext cx="6827520" cy="18928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9219" y="3496056"/>
              <a:ext cx="5583935" cy="142341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114054" y="3790690"/>
            <a:ext cx="939165" cy="276225"/>
          </a:xfrm>
          <a:prstGeom prst="rect">
            <a:avLst/>
          </a:prstGeom>
          <a:ln w="9525">
            <a:solidFill>
              <a:srgbClr val="953334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210"/>
              </a:spcBef>
            </a:pPr>
            <a:r>
              <a:rPr sz="1400" spc="-10" dirty="0">
                <a:solidFill>
                  <a:srgbClr val="953334"/>
                </a:solidFill>
                <a:latin typeface="Arial"/>
                <a:cs typeface="Arial"/>
              </a:rPr>
              <a:t>Nullable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47377" y="4063282"/>
            <a:ext cx="281305" cy="466725"/>
          </a:xfrm>
          <a:custGeom>
            <a:avLst/>
            <a:gdLst/>
            <a:ahLst/>
            <a:cxnLst/>
            <a:rect l="l" t="t" r="r" b="b"/>
            <a:pathLst>
              <a:path w="281305" h="466725">
                <a:moveTo>
                  <a:pt x="236592" y="404468"/>
                </a:moveTo>
                <a:lnTo>
                  <a:pt x="209296" y="420687"/>
                </a:lnTo>
                <a:lnTo>
                  <a:pt x="281051" y="466712"/>
                </a:lnTo>
                <a:lnTo>
                  <a:pt x="277291" y="415378"/>
                </a:lnTo>
                <a:lnTo>
                  <a:pt x="243078" y="415378"/>
                </a:lnTo>
                <a:lnTo>
                  <a:pt x="236592" y="404468"/>
                </a:lnTo>
                <a:close/>
              </a:path>
              <a:path w="281305" h="466725">
                <a:moveTo>
                  <a:pt x="247514" y="397978"/>
                </a:moveTo>
                <a:lnTo>
                  <a:pt x="236592" y="404468"/>
                </a:lnTo>
                <a:lnTo>
                  <a:pt x="243078" y="415378"/>
                </a:lnTo>
                <a:lnTo>
                  <a:pt x="254000" y="408889"/>
                </a:lnTo>
                <a:lnTo>
                  <a:pt x="247514" y="397978"/>
                </a:lnTo>
                <a:close/>
              </a:path>
              <a:path w="281305" h="466725">
                <a:moveTo>
                  <a:pt x="274828" y="381749"/>
                </a:moveTo>
                <a:lnTo>
                  <a:pt x="247514" y="397978"/>
                </a:lnTo>
                <a:lnTo>
                  <a:pt x="254000" y="408889"/>
                </a:lnTo>
                <a:lnTo>
                  <a:pt x="243078" y="415378"/>
                </a:lnTo>
                <a:lnTo>
                  <a:pt x="277291" y="415378"/>
                </a:lnTo>
                <a:lnTo>
                  <a:pt x="274828" y="381749"/>
                </a:lnTo>
                <a:close/>
              </a:path>
              <a:path w="281305" h="466725">
                <a:moveTo>
                  <a:pt x="10921" y="0"/>
                </a:moveTo>
                <a:lnTo>
                  <a:pt x="0" y="6489"/>
                </a:lnTo>
                <a:lnTo>
                  <a:pt x="236592" y="404468"/>
                </a:lnTo>
                <a:lnTo>
                  <a:pt x="247514" y="397978"/>
                </a:lnTo>
                <a:lnTo>
                  <a:pt x="10921" y="0"/>
                </a:lnTo>
                <a:close/>
              </a:path>
            </a:pathLst>
          </a:custGeom>
          <a:solidFill>
            <a:srgbClr val="942E2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858" y="445114"/>
            <a:ext cx="88544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Relational</a:t>
            </a:r>
            <a:r>
              <a:rPr spc="-235" dirty="0"/>
              <a:t> </a:t>
            </a:r>
            <a:r>
              <a:rPr spc="-175" dirty="0"/>
              <a:t>Schema</a:t>
            </a:r>
            <a:r>
              <a:rPr spc="-215" dirty="0"/>
              <a:t> </a:t>
            </a:r>
            <a:r>
              <a:rPr spc="-805" dirty="0">
                <a:solidFill>
                  <a:srgbClr val="00AFEF"/>
                </a:solidFill>
              </a:rPr>
              <a:t>&gt;&gt;</a:t>
            </a:r>
            <a:r>
              <a:rPr spc="-220" dirty="0">
                <a:solidFill>
                  <a:srgbClr val="00AFEF"/>
                </a:solidFill>
              </a:rPr>
              <a:t> </a:t>
            </a:r>
            <a:r>
              <a:rPr spc="-220" dirty="0"/>
              <a:t>Many</a:t>
            </a:r>
            <a:r>
              <a:rPr spc="-250" dirty="0"/>
              <a:t> </a:t>
            </a:r>
            <a:r>
              <a:rPr spc="-145" dirty="0"/>
              <a:t>to</a:t>
            </a:r>
            <a:r>
              <a:rPr spc="-225" dirty="0"/>
              <a:t> </a:t>
            </a:r>
            <a:r>
              <a:rPr spc="-220" dirty="0"/>
              <a:t>Many</a:t>
            </a:r>
            <a:r>
              <a:rPr spc="-235" dirty="0"/>
              <a:t> </a:t>
            </a:r>
            <a:r>
              <a:rPr spc="-160" dirty="0"/>
              <a:t>Relationship</a:t>
            </a:r>
            <a:r>
              <a:rPr spc="-215" dirty="0"/>
              <a:t> </a:t>
            </a:r>
            <a:r>
              <a:rPr spc="-25" dirty="0"/>
              <a:t>Set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13</a:t>
            </a:r>
            <a:endParaRPr sz="13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00200" y="1276350"/>
            <a:ext cx="6131624" cy="3441594"/>
            <a:chOff x="801623" y="1011936"/>
            <a:chExt cx="7164705" cy="37858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4862" y="3169914"/>
              <a:ext cx="126361" cy="3554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222241" y="3182874"/>
              <a:ext cx="76200" cy="299720"/>
            </a:xfrm>
            <a:custGeom>
              <a:avLst/>
              <a:gdLst/>
              <a:ahLst/>
              <a:cxnLst/>
              <a:rect l="l" t="t" r="r" b="b"/>
              <a:pathLst>
                <a:path w="76200" h="299720">
                  <a:moveTo>
                    <a:pt x="25400" y="223265"/>
                  </a:moveTo>
                  <a:lnTo>
                    <a:pt x="0" y="223265"/>
                  </a:lnTo>
                  <a:lnTo>
                    <a:pt x="38100" y="299465"/>
                  </a:lnTo>
                  <a:lnTo>
                    <a:pt x="69850" y="235965"/>
                  </a:lnTo>
                  <a:lnTo>
                    <a:pt x="25400" y="235965"/>
                  </a:lnTo>
                  <a:lnTo>
                    <a:pt x="25400" y="223265"/>
                  </a:lnTo>
                  <a:close/>
                </a:path>
                <a:path w="76200" h="299720">
                  <a:moveTo>
                    <a:pt x="50800" y="0"/>
                  </a:moveTo>
                  <a:lnTo>
                    <a:pt x="25400" y="0"/>
                  </a:lnTo>
                  <a:lnTo>
                    <a:pt x="25400" y="235965"/>
                  </a:lnTo>
                  <a:lnTo>
                    <a:pt x="50800" y="235965"/>
                  </a:lnTo>
                  <a:lnTo>
                    <a:pt x="50800" y="0"/>
                  </a:lnTo>
                  <a:close/>
                </a:path>
                <a:path w="76200" h="299720">
                  <a:moveTo>
                    <a:pt x="76200" y="223265"/>
                  </a:moveTo>
                  <a:lnTo>
                    <a:pt x="50800" y="223265"/>
                  </a:lnTo>
                  <a:lnTo>
                    <a:pt x="50800" y="235965"/>
                  </a:lnTo>
                  <a:lnTo>
                    <a:pt x="69850" y="235965"/>
                  </a:lnTo>
                  <a:lnTo>
                    <a:pt x="76200" y="223265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5504" y="3753612"/>
              <a:ext cx="6600444" cy="10439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1623" y="1011936"/>
              <a:ext cx="6525768" cy="1941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40743"/>
            <a:ext cx="776945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Relational</a:t>
            </a:r>
            <a:r>
              <a:rPr spc="-210" dirty="0"/>
              <a:t> </a:t>
            </a:r>
            <a:r>
              <a:rPr spc="-175" dirty="0"/>
              <a:t>Schema</a:t>
            </a:r>
            <a:r>
              <a:rPr spc="-200" dirty="0"/>
              <a:t> </a:t>
            </a:r>
            <a:r>
              <a:rPr spc="-805" dirty="0">
                <a:solidFill>
                  <a:srgbClr val="00AFEF"/>
                </a:solidFill>
              </a:rPr>
              <a:t>&gt;&gt;</a:t>
            </a:r>
            <a:r>
              <a:rPr spc="-210" dirty="0">
                <a:solidFill>
                  <a:srgbClr val="00AFEF"/>
                </a:solidFill>
              </a:rPr>
              <a:t> </a:t>
            </a:r>
            <a:r>
              <a:rPr spc="-160" dirty="0"/>
              <a:t>Recursive</a:t>
            </a:r>
            <a:r>
              <a:rPr spc="-195" dirty="0"/>
              <a:t> </a:t>
            </a:r>
            <a:r>
              <a:rPr spc="-160" dirty="0"/>
              <a:t>Relationship</a:t>
            </a:r>
            <a:r>
              <a:rPr spc="-204" dirty="0"/>
              <a:t> </a:t>
            </a:r>
            <a:r>
              <a:rPr spc="-25" dirty="0"/>
              <a:t>Set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14</a:t>
            </a:r>
            <a:endParaRPr sz="13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47800" y="1733550"/>
            <a:ext cx="6424295" cy="2682240"/>
            <a:chOff x="1630679" y="1155191"/>
            <a:chExt cx="6424295" cy="26822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70163" y="2267028"/>
              <a:ext cx="715698" cy="1353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304537" y="2273934"/>
              <a:ext cx="657860" cy="76200"/>
            </a:xfrm>
            <a:custGeom>
              <a:avLst/>
              <a:gdLst/>
              <a:ahLst/>
              <a:cxnLst/>
              <a:rect l="l" t="t" r="r" b="b"/>
              <a:pathLst>
                <a:path w="657860" h="76200">
                  <a:moveTo>
                    <a:pt x="581787" y="0"/>
                  </a:moveTo>
                  <a:lnTo>
                    <a:pt x="581710" y="22987"/>
                  </a:lnTo>
                  <a:lnTo>
                    <a:pt x="581659" y="38353"/>
                  </a:lnTo>
                  <a:lnTo>
                    <a:pt x="581533" y="76200"/>
                  </a:lnTo>
                  <a:lnTo>
                    <a:pt x="632759" y="50800"/>
                  </a:lnTo>
                  <a:lnTo>
                    <a:pt x="594360" y="50800"/>
                  </a:lnTo>
                  <a:lnTo>
                    <a:pt x="594360" y="25400"/>
                  </a:lnTo>
                  <a:lnTo>
                    <a:pt x="632166" y="25400"/>
                  </a:lnTo>
                  <a:lnTo>
                    <a:pt x="581787" y="0"/>
                  </a:lnTo>
                  <a:close/>
                </a:path>
                <a:path w="657860" h="76200">
                  <a:moveTo>
                    <a:pt x="0" y="22987"/>
                  </a:moveTo>
                  <a:lnTo>
                    <a:pt x="0" y="48387"/>
                  </a:lnTo>
                  <a:lnTo>
                    <a:pt x="594359" y="50800"/>
                  </a:lnTo>
                  <a:lnTo>
                    <a:pt x="581617" y="50800"/>
                  </a:lnTo>
                  <a:lnTo>
                    <a:pt x="581702" y="25400"/>
                  </a:lnTo>
                  <a:lnTo>
                    <a:pt x="594360" y="25400"/>
                  </a:lnTo>
                  <a:lnTo>
                    <a:pt x="0" y="22987"/>
                  </a:lnTo>
                  <a:close/>
                </a:path>
                <a:path w="657860" h="76200">
                  <a:moveTo>
                    <a:pt x="632166" y="25400"/>
                  </a:moveTo>
                  <a:lnTo>
                    <a:pt x="594360" y="25400"/>
                  </a:lnTo>
                  <a:lnTo>
                    <a:pt x="594360" y="50800"/>
                  </a:lnTo>
                  <a:lnTo>
                    <a:pt x="632759" y="50800"/>
                  </a:lnTo>
                  <a:lnTo>
                    <a:pt x="657860" y="38353"/>
                  </a:lnTo>
                  <a:lnTo>
                    <a:pt x="632166" y="25400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0679" y="1155191"/>
              <a:ext cx="2519172" cy="268223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8582" y="1847592"/>
              <a:ext cx="2366387" cy="7865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9787" y="470154"/>
            <a:ext cx="82448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Relational</a:t>
            </a:r>
            <a:r>
              <a:rPr spc="-210" dirty="0"/>
              <a:t> </a:t>
            </a:r>
            <a:r>
              <a:rPr spc="-175" dirty="0"/>
              <a:t>Schema</a:t>
            </a:r>
            <a:r>
              <a:rPr spc="-200" dirty="0"/>
              <a:t> </a:t>
            </a:r>
            <a:r>
              <a:rPr spc="-805" dirty="0">
                <a:solidFill>
                  <a:srgbClr val="00AFEF"/>
                </a:solidFill>
              </a:rPr>
              <a:t>&gt;&gt;</a:t>
            </a:r>
            <a:r>
              <a:rPr spc="-210" dirty="0">
                <a:solidFill>
                  <a:srgbClr val="00AFEF"/>
                </a:solidFill>
              </a:rPr>
              <a:t> </a:t>
            </a:r>
            <a:r>
              <a:rPr spc="-170" dirty="0"/>
              <a:t>Identifying</a:t>
            </a:r>
            <a:r>
              <a:rPr spc="-210" dirty="0"/>
              <a:t> </a:t>
            </a:r>
            <a:r>
              <a:rPr spc="-160" dirty="0"/>
              <a:t>Relationship</a:t>
            </a:r>
            <a:r>
              <a:rPr spc="-200" dirty="0"/>
              <a:t> </a:t>
            </a:r>
            <a:r>
              <a:rPr spc="-25" dirty="0"/>
              <a:t>Set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15</a:t>
            </a:r>
            <a:endParaRPr sz="1300">
              <a:latin typeface="Gill Sans MT"/>
              <a:cs typeface="Gill Sans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19120" y="1406652"/>
            <a:ext cx="5186173" cy="3374898"/>
            <a:chOff x="1595627" y="1025652"/>
            <a:chExt cx="6233160" cy="39065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68954" y="3214110"/>
              <a:ext cx="126361" cy="3554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96333" y="3227069"/>
              <a:ext cx="76200" cy="299720"/>
            </a:xfrm>
            <a:custGeom>
              <a:avLst/>
              <a:gdLst/>
              <a:ahLst/>
              <a:cxnLst/>
              <a:rect l="l" t="t" r="r" b="b"/>
              <a:pathLst>
                <a:path w="76200" h="299720">
                  <a:moveTo>
                    <a:pt x="25400" y="223266"/>
                  </a:moveTo>
                  <a:lnTo>
                    <a:pt x="0" y="223266"/>
                  </a:lnTo>
                  <a:lnTo>
                    <a:pt x="38100" y="299466"/>
                  </a:lnTo>
                  <a:lnTo>
                    <a:pt x="69850" y="235966"/>
                  </a:lnTo>
                  <a:lnTo>
                    <a:pt x="25400" y="235966"/>
                  </a:lnTo>
                  <a:lnTo>
                    <a:pt x="25400" y="223266"/>
                  </a:lnTo>
                  <a:close/>
                </a:path>
                <a:path w="76200" h="299720">
                  <a:moveTo>
                    <a:pt x="50800" y="0"/>
                  </a:moveTo>
                  <a:lnTo>
                    <a:pt x="25400" y="0"/>
                  </a:lnTo>
                  <a:lnTo>
                    <a:pt x="25400" y="235966"/>
                  </a:lnTo>
                  <a:lnTo>
                    <a:pt x="50800" y="235966"/>
                  </a:lnTo>
                  <a:lnTo>
                    <a:pt x="50800" y="0"/>
                  </a:lnTo>
                  <a:close/>
                </a:path>
                <a:path w="76200" h="299720">
                  <a:moveTo>
                    <a:pt x="76200" y="223266"/>
                  </a:moveTo>
                  <a:lnTo>
                    <a:pt x="50800" y="223266"/>
                  </a:lnTo>
                  <a:lnTo>
                    <a:pt x="50800" y="235966"/>
                  </a:lnTo>
                  <a:lnTo>
                    <a:pt x="69850" y="235966"/>
                  </a:lnTo>
                  <a:lnTo>
                    <a:pt x="76200" y="223266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5627" y="1025652"/>
              <a:ext cx="6233160" cy="19888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5543" y="3526536"/>
              <a:ext cx="5562600" cy="140512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181081"/>
            <a:ext cx="651225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E-</a:t>
            </a:r>
            <a:r>
              <a:rPr spc="-229" dirty="0"/>
              <a:t>R</a:t>
            </a:r>
            <a:r>
              <a:rPr spc="-254" dirty="0"/>
              <a:t> </a:t>
            </a:r>
            <a:r>
              <a:rPr spc="-190" dirty="0"/>
              <a:t>Diagram</a:t>
            </a:r>
            <a:r>
              <a:rPr spc="-220" dirty="0"/>
              <a:t> </a:t>
            </a:r>
            <a:r>
              <a:rPr spc="-555" dirty="0">
                <a:solidFill>
                  <a:srgbClr val="00AFEF"/>
                </a:solidFill>
              </a:rPr>
              <a:t>→</a:t>
            </a:r>
            <a:r>
              <a:rPr spc="-240" dirty="0">
                <a:solidFill>
                  <a:srgbClr val="00AFEF"/>
                </a:solidFill>
              </a:rPr>
              <a:t> </a:t>
            </a:r>
            <a:r>
              <a:rPr spc="-150" dirty="0"/>
              <a:t>Relational</a:t>
            </a:r>
            <a:r>
              <a:rPr spc="-225" dirty="0"/>
              <a:t> </a:t>
            </a:r>
            <a:r>
              <a:rPr spc="-135" dirty="0"/>
              <a:t>Schema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16</a:t>
            </a:r>
            <a:endParaRPr sz="1300">
              <a:latin typeface="Gill Sans MT"/>
              <a:cs typeface="Gill Sans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352550"/>
            <a:ext cx="7738872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17</a:t>
            </a:r>
            <a:endParaRPr sz="13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62633" y="797509"/>
            <a:ext cx="260858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60" dirty="0">
                <a:solidFill>
                  <a:srgbClr val="FF8600"/>
                </a:solidFill>
              </a:rPr>
              <a:t>THANKS!</a:t>
            </a:r>
            <a:endParaRPr sz="6000"/>
          </a:p>
        </p:txBody>
      </p:sp>
      <p:sp>
        <p:nvSpPr>
          <p:cNvPr id="11" name="object 11"/>
          <p:cNvSpPr txBox="1"/>
          <p:nvPr/>
        </p:nvSpPr>
        <p:spPr>
          <a:xfrm>
            <a:off x="1415033" y="1752600"/>
            <a:ext cx="4912360" cy="81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40" dirty="0">
                <a:solidFill>
                  <a:srgbClr val="FF6600"/>
                </a:solidFill>
                <a:latin typeface="Gill Sans MT"/>
                <a:cs typeface="Gill Sans MT"/>
              </a:rPr>
              <a:t>References:</a:t>
            </a:r>
            <a:endParaRPr sz="1200" dirty="0">
              <a:latin typeface="Gill Sans MT"/>
              <a:cs typeface="Gill Sans MT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lr>
                <a:srgbClr val="FF6600"/>
              </a:buClr>
              <a:buSzPct val="90000"/>
              <a:buFont typeface="Wingdings"/>
              <a:buChar char=""/>
              <a:tabLst>
                <a:tab pos="240665" algn="l"/>
              </a:tabLst>
            </a:pPr>
            <a:r>
              <a:rPr sz="1000" spc="50" dirty="0">
                <a:solidFill>
                  <a:srgbClr val="00AFEF"/>
                </a:solidFill>
                <a:latin typeface="Gill Sans MT"/>
                <a:cs typeface="Gill Sans MT"/>
              </a:rPr>
              <a:t>Database</a:t>
            </a:r>
            <a:r>
              <a:rPr sz="1000" spc="85" dirty="0">
                <a:solidFill>
                  <a:srgbClr val="00AFEF"/>
                </a:solidFill>
                <a:latin typeface="Gill Sans MT"/>
                <a:cs typeface="Gill Sans MT"/>
              </a:rPr>
              <a:t> </a:t>
            </a:r>
            <a:r>
              <a:rPr sz="1000" spc="65" dirty="0">
                <a:solidFill>
                  <a:srgbClr val="00AFEF"/>
                </a:solidFill>
                <a:latin typeface="Gill Sans MT"/>
                <a:cs typeface="Gill Sans MT"/>
              </a:rPr>
              <a:t>System</a:t>
            </a:r>
            <a:r>
              <a:rPr sz="1000" spc="60" dirty="0">
                <a:solidFill>
                  <a:srgbClr val="00AFEF"/>
                </a:solidFill>
                <a:latin typeface="Gill Sans MT"/>
                <a:cs typeface="Gill Sans MT"/>
              </a:rPr>
              <a:t> </a:t>
            </a:r>
            <a:r>
              <a:rPr sz="1000" dirty="0">
                <a:solidFill>
                  <a:srgbClr val="00AFEF"/>
                </a:solidFill>
                <a:latin typeface="Gill Sans MT"/>
                <a:cs typeface="Gill Sans MT"/>
              </a:rPr>
              <a:t>Concepts</a:t>
            </a:r>
            <a:r>
              <a:rPr sz="1000" spc="55" dirty="0">
                <a:solidFill>
                  <a:srgbClr val="00AFEF"/>
                </a:solidFill>
                <a:latin typeface="Gill Sans MT"/>
                <a:cs typeface="Gill Sans MT"/>
              </a:rPr>
              <a:t> </a:t>
            </a:r>
            <a:r>
              <a:rPr sz="1000" dirty="0">
                <a:solidFill>
                  <a:srgbClr val="00AFEF"/>
                </a:solidFill>
                <a:latin typeface="Gill Sans MT"/>
                <a:cs typeface="Gill Sans MT"/>
              </a:rPr>
              <a:t>by</a:t>
            </a:r>
            <a:r>
              <a:rPr sz="1000" spc="40" dirty="0">
                <a:solidFill>
                  <a:srgbClr val="00AFEF"/>
                </a:solidFill>
                <a:latin typeface="Gill Sans MT"/>
                <a:cs typeface="Gill Sans MT"/>
              </a:rPr>
              <a:t> </a:t>
            </a:r>
            <a:r>
              <a:rPr sz="1000" spc="75" dirty="0">
                <a:solidFill>
                  <a:srgbClr val="00AFEF"/>
                </a:solidFill>
                <a:latin typeface="Gill Sans MT"/>
                <a:cs typeface="Gill Sans MT"/>
              </a:rPr>
              <a:t>S.</a:t>
            </a:r>
            <a:r>
              <a:rPr sz="1000" spc="55" dirty="0">
                <a:solidFill>
                  <a:srgbClr val="00AFEF"/>
                </a:solidFill>
                <a:latin typeface="Gill Sans MT"/>
                <a:cs typeface="Gill Sans MT"/>
              </a:rPr>
              <a:t> Sudarshan,</a:t>
            </a:r>
            <a:r>
              <a:rPr sz="1000" spc="65" dirty="0">
                <a:solidFill>
                  <a:srgbClr val="00AFEF"/>
                </a:solidFill>
                <a:latin typeface="Gill Sans MT"/>
                <a:cs typeface="Gill Sans MT"/>
              </a:rPr>
              <a:t> </a:t>
            </a:r>
            <a:r>
              <a:rPr sz="1000" dirty="0">
                <a:solidFill>
                  <a:srgbClr val="00AFEF"/>
                </a:solidFill>
                <a:latin typeface="Gill Sans MT"/>
                <a:cs typeface="Gill Sans MT"/>
              </a:rPr>
              <a:t>Henry</a:t>
            </a:r>
            <a:r>
              <a:rPr sz="1000" spc="50" dirty="0">
                <a:solidFill>
                  <a:srgbClr val="00AFEF"/>
                </a:solidFill>
                <a:latin typeface="Gill Sans MT"/>
                <a:cs typeface="Gill Sans MT"/>
              </a:rPr>
              <a:t> </a:t>
            </a:r>
            <a:r>
              <a:rPr sz="1000" spc="55" dirty="0">
                <a:solidFill>
                  <a:srgbClr val="00AFEF"/>
                </a:solidFill>
                <a:latin typeface="Gill Sans MT"/>
                <a:cs typeface="Gill Sans MT"/>
              </a:rPr>
              <a:t>F.</a:t>
            </a:r>
            <a:r>
              <a:rPr sz="1000" spc="50" dirty="0">
                <a:solidFill>
                  <a:srgbClr val="00AFEF"/>
                </a:solidFill>
                <a:latin typeface="Gill Sans MT"/>
                <a:cs typeface="Gill Sans MT"/>
              </a:rPr>
              <a:t> </a:t>
            </a:r>
            <a:r>
              <a:rPr sz="1000" spc="-10" dirty="0">
                <a:solidFill>
                  <a:srgbClr val="00AFEF"/>
                </a:solidFill>
                <a:latin typeface="Gill Sans MT"/>
                <a:cs typeface="Gill Sans MT"/>
              </a:rPr>
              <a:t>Korth,</a:t>
            </a:r>
            <a:r>
              <a:rPr sz="1000" spc="60" dirty="0">
                <a:solidFill>
                  <a:srgbClr val="00AFEF"/>
                </a:solidFill>
                <a:latin typeface="Gill Sans MT"/>
                <a:cs typeface="Gill Sans MT"/>
              </a:rPr>
              <a:t> </a:t>
            </a:r>
            <a:r>
              <a:rPr sz="1000" dirty="0">
                <a:solidFill>
                  <a:srgbClr val="00AFEF"/>
                </a:solidFill>
                <a:latin typeface="Gill Sans MT"/>
                <a:cs typeface="Gill Sans MT"/>
              </a:rPr>
              <a:t>Abraham</a:t>
            </a:r>
            <a:r>
              <a:rPr sz="1000" spc="65" dirty="0">
                <a:solidFill>
                  <a:srgbClr val="00AFEF"/>
                </a:solidFill>
                <a:latin typeface="Gill Sans MT"/>
                <a:cs typeface="Gill Sans MT"/>
              </a:rPr>
              <a:t> </a:t>
            </a:r>
            <a:r>
              <a:rPr sz="1000" spc="-10" dirty="0">
                <a:solidFill>
                  <a:srgbClr val="00AFEF"/>
                </a:solidFill>
                <a:latin typeface="Gill Sans MT"/>
                <a:cs typeface="Gill Sans MT"/>
              </a:rPr>
              <a:t>Silberschatz</a:t>
            </a:r>
            <a:endParaRPr sz="1000" dirty="0">
              <a:latin typeface="Gill Sans MT"/>
              <a:cs typeface="Gill Sans MT"/>
            </a:endParaRPr>
          </a:p>
          <a:p>
            <a:pPr marL="240665" indent="-227965">
              <a:lnSpc>
                <a:spcPct val="100000"/>
              </a:lnSpc>
              <a:buClr>
                <a:srgbClr val="FF6600"/>
              </a:buClr>
              <a:buSzPct val="90000"/>
              <a:buFont typeface="Wingdings"/>
              <a:buChar char=""/>
              <a:tabLst>
                <a:tab pos="240665" algn="l"/>
              </a:tabLst>
            </a:pPr>
            <a:r>
              <a:rPr sz="1000" spc="50" dirty="0">
                <a:solidFill>
                  <a:srgbClr val="00AFEF"/>
                </a:solidFill>
                <a:latin typeface="Gill Sans MT"/>
                <a:cs typeface="Gill Sans MT"/>
              </a:rPr>
              <a:t>Database</a:t>
            </a:r>
            <a:r>
              <a:rPr sz="1000" spc="90" dirty="0">
                <a:solidFill>
                  <a:srgbClr val="00AFEF"/>
                </a:solidFill>
                <a:latin typeface="Gill Sans MT"/>
                <a:cs typeface="Gill Sans MT"/>
              </a:rPr>
              <a:t> </a:t>
            </a:r>
            <a:r>
              <a:rPr sz="1000" spc="75" dirty="0">
                <a:solidFill>
                  <a:srgbClr val="00AFEF"/>
                </a:solidFill>
                <a:latin typeface="Gill Sans MT"/>
                <a:cs typeface="Gill Sans MT"/>
              </a:rPr>
              <a:t>Systems</a:t>
            </a:r>
            <a:r>
              <a:rPr sz="1000" spc="65" dirty="0">
                <a:solidFill>
                  <a:srgbClr val="00AFEF"/>
                </a:solidFill>
                <a:latin typeface="Gill Sans MT"/>
                <a:cs typeface="Gill Sans MT"/>
              </a:rPr>
              <a:t> </a:t>
            </a:r>
            <a:r>
              <a:rPr sz="1000" dirty="0">
                <a:solidFill>
                  <a:srgbClr val="00AFEF"/>
                </a:solidFill>
                <a:latin typeface="Gill Sans MT"/>
                <a:cs typeface="Gill Sans MT"/>
              </a:rPr>
              <a:t>The</a:t>
            </a:r>
            <a:r>
              <a:rPr sz="1000" spc="30" dirty="0">
                <a:solidFill>
                  <a:srgbClr val="00AFEF"/>
                </a:solidFill>
                <a:latin typeface="Gill Sans MT"/>
                <a:cs typeface="Gill Sans MT"/>
              </a:rPr>
              <a:t> </a:t>
            </a:r>
            <a:r>
              <a:rPr sz="1000" dirty="0">
                <a:solidFill>
                  <a:srgbClr val="00AFEF"/>
                </a:solidFill>
                <a:latin typeface="Gill Sans MT"/>
                <a:cs typeface="Gill Sans MT"/>
              </a:rPr>
              <a:t>Complete</a:t>
            </a:r>
            <a:r>
              <a:rPr sz="1000" spc="40" dirty="0">
                <a:solidFill>
                  <a:srgbClr val="00AFEF"/>
                </a:solidFill>
                <a:latin typeface="Gill Sans MT"/>
                <a:cs typeface="Gill Sans MT"/>
              </a:rPr>
              <a:t> </a:t>
            </a:r>
            <a:r>
              <a:rPr sz="1000" dirty="0">
                <a:solidFill>
                  <a:srgbClr val="00AFEF"/>
                </a:solidFill>
                <a:latin typeface="Gill Sans MT"/>
                <a:cs typeface="Gill Sans MT"/>
              </a:rPr>
              <a:t>Book</a:t>
            </a:r>
            <a:r>
              <a:rPr sz="1000" spc="90" dirty="0">
                <a:solidFill>
                  <a:srgbClr val="00AFEF"/>
                </a:solidFill>
                <a:latin typeface="Gill Sans MT"/>
                <a:cs typeface="Gill Sans MT"/>
              </a:rPr>
              <a:t> </a:t>
            </a:r>
            <a:r>
              <a:rPr sz="1000" dirty="0">
                <a:solidFill>
                  <a:srgbClr val="00AFEF"/>
                </a:solidFill>
                <a:latin typeface="Gill Sans MT"/>
                <a:cs typeface="Gill Sans MT"/>
              </a:rPr>
              <a:t>by</a:t>
            </a:r>
            <a:r>
              <a:rPr sz="1000" spc="45" dirty="0">
                <a:solidFill>
                  <a:srgbClr val="00AFEF"/>
                </a:solidFill>
                <a:latin typeface="Gill Sans MT"/>
                <a:cs typeface="Gill Sans MT"/>
              </a:rPr>
              <a:t> </a:t>
            </a:r>
            <a:r>
              <a:rPr sz="1000" dirty="0">
                <a:solidFill>
                  <a:srgbClr val="00AFEF"/>
                </a:solidFill>
                <a:latin typeface="Gill Sans MT"/>
                <a:cs typeface="Gill Sans MT"/>
              </a:rPr>
              <a:t>Ullman,</a:t>
            </a:r>
            <a:r>
              <a:rPr sz="1000" spc="75" dirty="0">
                <a:solidFill>
                  <a:srgbClr val="00AFEF"/>
                </a:solidFill>
                <a:latin typeface="Gill Sans MT"/>
                <a:cs typeface="Gill Sans MT"/>
              </a:rPr>
              <a:t> </a:t>
            </a:r>
            <a:r>
              <a:rPr sz="1000" dirty="0">
                <a:solidFill>
                  <a:srgbClr val="00AFEF"/>
                </a:solidFill>
                <a:latin typeface="Gill Sans MT"/>
                <a:cs typeface="Gill Sans MT"/>
              </a:rPr>
              <a:t>Widom</a:t>
            </a:r>
            <a:r>
              <a:rPr sz="1000" spc="50" dirty="0">
                <a:solidFill>
                  <a:srgbClr val="00AFEF"/>
                </a:solidFill>
                <a:latin typeface="Gill Sans MT"/>
                <a:cs typeface="Gill Sans MT"/>
              </a:rPr>
              <a:t> </a:t>
            </a:r>
            <a:r>
              <a:rPr sz="1000" spc="70" dirty="0">
                <a:solidFill>
                  <a:srgbClr val="00AFEF"/>
                </a:solidFill>
                <a:latin typeface="Gill Sans MT"/>
                <a:cs typeface="Gill Sans MT"/>
              </a:rPr>
              <a:t>and</a:t>
            </a:r>
            <a:r>
              <a:rPr sz="1000" spc="45" dirty="0">
                <a:solidFill>
                  <a:srgbClr val="00AFEF"/>
                </a:solidFill>
                <a:latin typeface="Gill Sans MT"/>
                <a:cs typeface="Gill Sans MT"/>
              </a:rPr>
              <a:t> </a:t>
            </a:r>
            <a:r>
              <a:rPr sz="1000" spc="-10" dirty="0">
                <a:solidFill>
                  <a:srgbClr val="00AFEF"/>
                </a:solidFill>
                <a:latin typeface="Gill Sans MT"/>
                <a:cs typeface="Gill Sans MT"/>
              </a:rPr>
              <a:t>Hector</a:t>
            </a:r>
            <a:endParaRPr sz="1000" dirty="0">
              <a:latin typeface="Gill Sans MT"/>
              <a:cs typeface="Gill Sans MT"/>
            </a:endParaRPr>
          </a:p>
          <a:p>
            <a:pPr marL="240665" indent="-227965">
              <a:lnSpc>
                <a:spcPct val="100000"/>
              </a:lnSpc>
              <a:buClr>
                <a:srgbClr val="FF6600"/>
              </a:buClr>
              <a:buSzPct val="90000"/>
              <a:buFont typeface="Wingdings"/>
              <a:buChar char=""/>
              <a:tabLst>
                <a:tab pos="240665" algn="l"/>
              </a:tabLst>
            </a:pPr>
            <a:r>
              <a:rPr sz="1000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Gill Sans MT"/>
                <a:cs typeface="Gill Sans MT"/>
                <a:hlinkClick r:id="rId2"/>
              </a:rPr>
              <a:t>https://www.lucidchart.com/pages/er-</a:t>
            </a:r>
            <a:r>
              <a:rPr sz="1000" u="sng" spc="6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Gill Sans MT"/>
                <a:cs typeface="Gill Sans MT"/>
                <a:hlinkClick r:id="rId2"/>
              </a:rPr>
              <a:t>diagrams</a:t>
            </a:r>
            <a:endParaRPr sz="1000" dirty="0">
              <a:latin typeface="Gill Sans MT"/>
              <a:cs typeface="Gill Sans MT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lr>
                <a:srgbClr val="FF6600"/>
              </a:buClr>
              <a:buSzPct val="90000"/>
              <a:buFont typeface="Wingdings"/>
              <a:buChar char=""/>
              <a:tabLst>
                <a:tab pos="240665" algn="l"/>
              </a:tabLst>
            </a:pPr>
            <a:r>
              <a:rPr sz="1000" u="sng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Gill Sans MT"/>
                <a:cs typeface="Gill Sans MT"/>
                <a:hlinkClick r:id="rId3"/>
              </a:rPr>
              <a:t>https://www.vertabelo.com/blog/chen-</a:t>
            </a:r>
            <a:r>
              <a:rPr sz="1000" u="sng" spc="-1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Gill Sans MT"/>
                <a:cs typeface="Gill Sans MT"/>
                <a:hlinkClick r:id="rId3"/>
              </a:rPr>
              <a:t>erd-notation/</a:t>
            </a:r>
            <a:endParaRPr sz="1000" dirty="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</TotalTime>
  <Words>529</Words>
  <Application>Microsoft Office PowerPoint</Application>
  <PresentationFormat>On-screen Show (16:9)</PresentationFormat>
  <Paragraphs>88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Century</vt:lpstr>
      <vt:lpstr>Gill Sans MT</vt:lpstr>
      <vt:lpstr>Times New Roman</vt:lpstr>
      <vt:lpstr>Wingdings</vt:lpstr>
      <vt:lpstr>Retrospect</vt:lpstr>
      <vt:lpstr>PowerPoint Presentation</vt:lpstr>
      <vt:lpstr>Design Phases</vt:lpstr>
      <vt:lpstr>Database Schema &amp; Data Model</vt:lpstr>
      <vt:lpstr>E-R Diagram vs Relational Schema</vt:lpstr>
      <vt:lpstr>E-R Diagram vs Relational Schema</vt:lpstr>
      <vt:lpstr>Relational Schema &gt;&gt; Strong Entity Set</vt:lpstr>
      <vt:lpstr>Relational Schema &gt;&gt; Weak Entity Set</vt:lpstr>
      <vt:lpstr>Relational Schema &gt;&gt; Composite Attribute</vt:lpstr>
      <vt:lpstr>Relational Schema &gt;&gt; Multivalued Attribute</vt:lpstr>
      <vt:lpstr>Relational Schema &gt;&gt; Derived Attribute</vt:lpstr>
      <vt:lpstr>Relational Schema &gt;&gt; One to One Relationship Set</vt:lpstr>
      <vt:lpstr>Relational Schema &gt;&gt; One to Many Relationship Set</vt:lpstr>
      <vt:lpstr>Relational Schema &gt;&gt; Many to Many Relationship Set</vt:lpstr>
      <vt:lpstr>Relational Schema &gt;&gt; Recursive Relationship Set</vt:lpstr>
      <vt:lpstr>Relational Schema &gt;&gt; Identifying Relationship Set</vt:lpstr>
      <vt:lpstr>E-R Diagram → Relational Schema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 : CSI 217</dc:title>
  <dc:creator>Mohammad Imam Hossain</dc:creator>
  <cp:lastModifiedBy>Enamul Rafti</cp:lastModifiedBy>
  <cp:revision>18</cp:revision>
  <dcterms:created xsi:type="dcterms:W3CDTF">2025-11-23T18:23:35Z</dcterms:created>
  <dcterms:modified xsi:type="dcterms:W3CDTF">2025-11-23T18:44:34Z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2021-07-26T00:00:00Z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2025-11-23T00:00:00Z</vt:filetime>
  </property>
  <property fmtid="{D5CDD505-2E9C-101B-9397-08002B2CF9AE}" pid="5" name="Producer">
    <vt:lpwstr>3-Heights(TM) PDF Security Shell 4.8.25.2 (http://www.pdf-tools.com)</vt:lpwstr>
  </property>
</Properties>
</file>