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5" r:id="rId17"/>
    <p:sldId id="286" r:id="rId18"/>
    <p:sldId id="288" r:id="rId19"/>
    <p:sldId id="289" r:id="rId20"/>
    <p:sldId id="287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-816" y="-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93341" y="1246123"/>
            <a:ext cx="3154679" cy="93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21212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02527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21212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02527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02527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3258185" cy="5143500"/>
          </a:xfrm>
          <a:custGeom>
            <a:avLst/>
            <a:gdLst/>
            <a:ahLst/>
            <a:cxnLst/>
            <a:rect l="l" t="t" r="r" b="b"/>
            <a:pathLst>
              <a:path w="3258185" h="5143500">
                <a:moveTo>
                  <a:pt x="591569" y="0"/>
                </a:moveTo>
                <a:lnTo>
                  <a:pt x="0" y="0"/>
                </a:lnTo>
                <a:lnTo>
                  <a:pt x="0" y="5143500"/>
                </a:lnTo>
                <a:lnTo>
                  <a:pt x="3258065" y="5143500"/>
                </a:lnTo>
                <a:lnTo>
                  <a:pt x="591569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855344" cy="731520"/>
          </a:xfrm>
          <a:custGeom>
            <a:avLst/>
            <a:gdLst/>
            <a:ahLst/>
            <a:cxnLst/>
            <a:rect l="l" t="t" r="r" b="b"/>
            <a:pathLst>
              <a:path w="855344" h="731520">
                <a:moveTo>
                  <a:pt x="477928" y="0"/>
                </a:moveTo>
                <a:lnTo>
                  <a:pt x="0" y="0"/>
                </a:lnTo>
                <a:lnTo>
                  <a:pt x="0" y="731520"/>
                </a:lnTo>
                <a:lnTo>
                  <a:pt x="854963" y="731520"/>
                </a:lnTo>
                <a:lnTo>
                  <a:pt x="477928" y="0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77189" y="0"/>
            <a:ext cx="513715" cy="739140"/>
          </a:xfrm>
          <a:custGeom>
            <a:avLst/>
            <a:gdLst/>
            <a:ahLst/>
            <a:cxnLst/>
            <a:rect l="l" t="t" r="r" b="b"/>
            <a:pathLst>
              <a:path w="513715" h="739140">
                <a:moveTo>
                  <a:pt x="129489" y="0"/>
                </a:moveTo>
                <a:lnTo>
                  <a:pt x="0" y="0"/>
                </a:lnTo>
                <a:lnTo>
                  <a:pt x="383921" y="739139"/>
                </a:lnTo>
                <a:lnTo>
                  <a:pt x="513410" y="739139"/>
                </a:lnTo>
                <a:lnTo>
                  <a:pt x="129489" y="0"/>
                </a:lnTo>
                <a:close/>
              </a:path>
            </a:pathLst>
          </a:custGeom>
          <a:solidFill>
            <a:srgbClr val="FF8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743712" y="272795"/>
            <a:ext cx="7505700" cy="749935"/>
          </a:xfrm>
          <a:custGeom>
            <a:avLst/>
            <a:gdLst/>
            <a:ahLst/>
            <a:cxnLst/>
            <a:rect l="l" t="t" r="r" b="b"/>
            <a:pathLst>
              <a:path w="7505700" h="749935">
                <a:moveTo>
                  <a:pt x="7119238" y="0"/>
                </a:moveTo>
                <a:lnTo>
                  <a:pt x="0" y="0"/>
                </a:lnTo>
                <a:lnTo>
                  <a:pt x="386460" y="749807"/>
                </a:lnTo>
                <a:lnTo>
                  <a:pt x="7505700" y="749807"/>
                </a:lnTo>
                <a:lnTo>
                  <a:pt x="7119238" y="0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90600" y="272795"/>
            <a:ext cx="8153400" cy="4871085"/>
          </a:xfrm>
          <a:custGeom>
            <a:avLst/>
            <a:gdLst/>
            <a:ahLst/>
            <a:cxnLst/>
            <a:rect l="l" t="t" r="r" b="b"/>
            <a:pathLst>
              <a:path w="8153400" h="4871085">
                <a:moveTo>
                  <a:pt x="8153400" y="4652772"/>
                </a:moveTo>
                <a:lnTo>
                  <a:pt x="0" y="4652772"/>
                </a:lnTo>
                <a:lnTo>
                  <a:pt x="112318" y="4870704"/>
                </a:lnTo>
                <a:lnTo>
                  <a:pt x="8153400" y="4870704"/>
                </a:lnTo>
                <a:lnTo>
                  <a:pt x="8153400" y="4652772"/>
                </a:lnTo>
                <a:close/>
              </a:path>
              <a:path w="8153400" h="4871085">
                <a:moveTo>
                  <a:pt x="8153400" y="0"/>
                </a:moveTo>
                <a:lnTo>
                  <a:pt x="6871716" y="0"/>
                </a:lnTo>
                <a:lnTo>
                  <a:pt x="7258177" y="749808"/>
                </a:lnTo>
                <a:lnTo>
                  <a:pt x="8153400" y="749808"/>
                </a:lnTo>
                <a:lnTo>
                  <a:pt x="8153400" y="0"/>
                </a:lnTo>
                <a:close/>
              </a:path>
            </a:pathLst>
          </a:custGeom>
          <a:solidFill>
            <a:srgbClr val="FF8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02527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9133840" cy="5133340"/>
          </a:xfrm>
          <a:custGeom>
            <a:avLst/>
            <a:gdLst/>
            <a:ahLst/>
            <a:cxnLst/>
            <a:rect l="l" t="t" r="r" b="b"/>
            <a:pathLst>
              <a:path w="9133840" h="5133340">
                <a:moveTo>
                  <a:pt x="0" y="5132831"/>
                </a:moveTo>
                <a:lnTo>
                  <a:pt x="9133332" y="5132831"/>
                </a:lnTo>
                <a:lnTo>
                  <a:pt x="9133332" y="0"/>
                </a:lnTo>
                <a:lnTo>
                  <a:pt x="0" y="0"/>
                </a:lnTo>
                <a:lnTo>
                  <a:pt x="0" y="5132831"/>
                </a:lnTo>
                <a:close/>
              </a:path>
            </a:pathLst>
          </a:custGeom>
          <a:solidFill>
            <a:srgbClr val="212121">
              <a:alpha val="6470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5087111" y="0"/>
            <a:ext cx="4057015" cy="5143500"/>
          </a:xfrm>
          <a:custGeom>
            <a:avLst/>
            <a:gdLst/>
            <a:ahLst/>
            <a:cxnLst/>
            <a:rect l="l" t="t" r="r" b="b"/>
            <a:pathLst>
              <a:path w="4057015" h="5143500">
                <a:moveTo>
                  <a:pt x="4056888" y="0"/>
                </a:moveTo>
                <a:lnTo>
                  <a:pt x="0" y="0"/>
                </a:lnTo>
                <a:lnTo>
                  <a:pt x="2666299" y="5143500"/>
                </a:lnTo>
                <a:lnTo>
                  <a:pt x="4056888" y="5143500"/>
                </a:lnTo>
                <a:lnTo>
                  <a:pt x="4056888" y="0"/>
                </a:lnTo>
                <a:close/>
              </a:path>
            </a:pathLst>
          </a:custGeom>
          <a:solidFill>
            <a:srgbClr val="FF8600">
              <a:alpha val="8548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4393691"/>
            <a:ext cx="7754620" cy="749935"/>
          </a:xfrm>
          <a:custGeom>
            <a:avLst/>
            <a:gdLst/>
            <a:ahLst/>
            <a:cxnLst/>
            <a:rect l="l" t="t" r="r" b="b"/>
            <a:pathLst>
              <a:path w="7754620" h="749935">
                <a:moveTo>
                  <a:pt x="7367651" y="0"/>
                </a:moveTo>
                <a:lnTo>
                  <a:pt x="0" y="0"/>
                </a:lnTo>
                <a:lnTo>
                  <a:pt x="0" y="749808"/>
                </a:lnTo>
                <a:lnTo>
                  <a:pt x="7754111" y="749808"/>
                </a:lnTo>
                <a:lnTo>
                  <a:pt x="7367651" y="0"/>
                </a:lnTo>
                <a:close/>
              </a:path>
            </a:pathLst>
          </a:custGeom>
          <a:solidFill>
            <a:srgbClr val="FFFFFF">
              <a:alpha val="17646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1028700" y="4166615"/>
            <a:ext cx="8115300" cy="227329"/>
          </a:xfrm>
          <a:custGeom>
            <a:avLst/>
            <a:gdLst/>
            <a:ahLst/>
            <a:cxnLst/>
            <a:rect l="l" t="t" r="r" b="b"/>
            <a:pathLst>
              <a:path w="8115300" h="227329">
                <a:moveTo>
                  <a:pt x="8115300" y="0"/>
                </a:moveTo>
                <a:lnTo>
                  <a:pt x="0" y="0"/>
                </a:lnTo>
                <a:lnTo>
                  <a:pt x="117043" y="227076"/>
                </a:lnTo>
                <a:lnTo>
                  <a:pt x="8115300" y="227076"/>
                </a:lnTo>
                <a:lnTo>
                  <a:pt x="81153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rgbClr val="702527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3258185" cy="5143500"/>
          </a:xfrm>
          <a:custGeom>
            <a:avLst/>
            <a:gdLst/>
            <a:ahLst/>
            <a:cxnLst/>
            <a:rect l="l" t="t" r="r" b="b"/>
            <a:pathLst>
              <a:path w="3258185" h="5143500">
                <a:moveTo>
                  <a:pt x="591569" y="0"/>
                </a:moveTo>
                <a:lnTo>
                  <a:pt x="0" y="0"/>
                </a:lnTo>
                <a:lnTo>
                  <a:pt x="0" y="5143500"/>
                </a:lnTo>
                <a:lnTo>
                  <a:pt x="3258065" y="5143500"/>
                </a:lnTo>
                <a:lnTo>
                  <a:pt x="591569" y="0"/>
                </a:lnTo>
                <a:close/>
              </a:path>
            </a:pathLst>
          </a:custGeom>
          <a:solidFill>
            <a:srgbClr val="F3F3F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855344" cy="731520"/>
          </a:xfrm>
          <a:custGeom>
            <a:avLst/>
            <a:gdLst/>
            <a:ahLst/>
            <a:cxnLst/>
            <a:rect l="l" t="t" r="r" b="b"/>
            <a:pathLst>
              <a:path w="855344" h="731520">
                <a:moveTo>
                  <a:pt x="477928" y="0"/>
                </a:moveTo>
                <a:lnTo>
                  <a:pt x="0" y="0"/>
                </a:lnTo>
                <a:lnTo>
                  <a:pt x="0" y="731520"/>
                </a:lnTo>
                <a:lnTo>
                  <a:pt x="854963" y="731520"/>
                </a:lnTo>
                <a:lnTo>
                  <a:pt x="477928" y="0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77189" y="0"/>
            <a:ext cx="513715" cy="739140"/>
          </a:xfrm>
          <a:custGeom>
            <a:avLst/>
            <a:gdLst/>
            <a:ahLst/>
            <a:cxnLst/>
            <a:rect l="l" t="t" r="r" b="b"/>
            <a:pathLst>
              <a:path w="513715" h="739140">
                <a:moveTo>
                  <a:pt x="129489" y="0"/>
                </a:moveTo>
                <a:lnTo>
                  <a:pt x="0" y="0"/>
                </a:lnTo>
                <a:lnTo>
                  <a:pt x="383921" y="739139"/>
                </a:lnTo>
                <a:lnTo>
                  <a:pt x="513410" y="739139"/>
                </a:lnTo>
                <a:lnTo>
                  <a:pt x="129489" y="0"/>
                </a:lnTo>
                <a:close/>
              </a:path>
            </a:pathLst>
          </a:custGeom>
          <a:solidFill>
            <a:srgbClr val="FF8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743712" y="272795"/>
            <a:ext cx="7505700" cy="749935"/>
          </a:xfrm>
          <a:custGeom>
            <a:avLst/>
            <a:gdLst/>
            <a:ahLst/>
            <a:cxnLst/>
            <a:rect l="l" t="t" r="r" b="b"/>
            <a:pathLst>
              <a:path w="7505700" h="749935">
                <a:moveTo>
                  <a:pt x="7119238" y="0"/>
                </a:moveTo>
                <a:lnTo>
                  <a:pt x="0" y="0"/>
                </a:lnTo>
                <a:lnTo>
                  <a:pt x="386460" y="749807"/>
                </a:lnTo>
                <a:lnTo>
                  <a:pt x="7505700" y="749807"/>
                </a:lnTo>
                <a:lnTo>
                  <a:pt x="7119238" y="0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7862316" y="272795"/>
            <a:ext cx="1282065" cy="749935"/>
          </a:xfrm>
          <a:custGeom>
            <a:avLst/>
            <a:gdLst/>
            <a:ahLst/>
            <a:cxnLst/>
            <a:rect l="l" t="t" r="r" b="b"/>
            <a:pathLst>
              <a:path w="1282065" h="749935">
                <a:moveTo>
                  <a:pt x="1281683" y="0"/>
                </a:moveTo>
                <a:lnTo>
                  <a:pt x="0" y="0"/>
                </a:lnTo>
                <a:lnTo>
                  <a:pt x="386460" y="749807"/>
                </a:lnTo>
                <a:lnTo>
                  <a:pt x="1281683" y="749807"/>
                </a:lnTo>
                <a:lnTo>
                  <a:pt x="1281683" y="0"/>
                </a:lnTo>
                <a:close/>
              </a:path>
            </a:pathLst>
          </a:custGeom>
          <a:solidFill>
            <a:srgbClr val="FF8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990600" y="4925567"/>
            <a:ext cx="8153400" cy="218440"/>
          </a:xfrm>
          <a:custGeom>
            <a:avLst/>
            <a:gdLst/>
            <a:ahLst/>
            <a:cxnLst/>
            <a:rect l="l" t="t" r="r" b="b"/>
            <a:pathLst>
              <a:path w="8153400" h="218439">
                <a:moveTo>
                  <a:pt x="8153400" y="0"/>
                </a:moveTo>
                <a:lnTo>
                  <a:pt x="0" y="0"/>
                </a:lnTo>
                <a:lnTo>
                  <a:pt x="112319" y="217932"/>
                </a:lnTo>
                <a:lnTo>
                  <a:pt x="8153400" y="217932"/>
                </a:lnTo>
                <a:lnTo>
                  <a:pt x="8153400" y="0"/>
                </a:lnTo>
                <a:close/>
              </a:path>
            </a:pathLst>
          </a:custGeom>
          <a:solidFill>
            <a:srgbClr val="FF8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00734" y="447243"/>
            <a:ext cx="3725951" cy="3945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77495" y="1172971"/>
            <a:ext cx="8650605" cy="1092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212121"/>
                </a:solidFill>
                <a:latin typeface="Gill Sans MT"/>
                <a:cs typeface="Gill Sans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5908928" y="4937651"/>
            <a:ext cx="3165475" cy="1670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rgbClr val="702527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devimam.github.io/dbtxn/" TargetMode="Externa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mailto:imam@cse.uiu.ac.bd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07439" y="3106877"/>
            <a:ext cx="555180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295" dirty="0">
                <a:solidFill>
                  <a:srgbClr val="FFFFFF"/>
                </a:solidFill>
                <a:latin typeface="Tahoma"/>
                <a:cs typeface="Tahoma"/>
              </a:rPr>
              <a:t>Database</a:t>
            </a:r>
            <a:r>
              <a:rPr sz="3600" spc="-3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600" spc="-285" dirty="0">
                <a:solidFill>
                  <a:srgbClr val="FFFFFF"/>
                </a:solidFill>
                <a:latin typeface="Tahoma"/>
                <a:cs typeface="Tahoma"/>
              </a:rPr>
              <a:t>Management</a:t>
            </a:r>
            <a:r>
              <a:rPr sz="3600" spc="-3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600" spc="-190" dirty="0">
                <a:solidFill>
                  <a:srgbClr val="FFFFFF"/>
                </a:solidFill>
                <a:latin typeface="Tahoma"/>
                <a:cs typeface="Tahoma"/>
              </a:rPr>
              <a:t>Systems</a:t>
            </a:r>
            <a:endParaRPr sz="3600">
              <a:latin typeface="Tahoma"/>
              <a:cs typeface="Tahom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07439" y="3543420"/>
            <a:ext cx="7847330" cy="813435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sz="3200" spc="-130" dirty="0">
                <a:solidFill>
                  <a:srgbClr val="FF6600"/>
                </a:solidFill>
                <a:latin typeface="Tahoma"/>
                <a:cs typeface="Tahoma"/>
              </a:rPr>
              <a:t>Transactions</a:t>
            </a:r>
            <a:endParaRPr sz="3200">
              <a:latin typeface="Tahoma"/>
              <a:cs typeface="Tahoma"/>
            </a:endParaRPr>
          </a:p>
          <a:p>
            <a:pPr marL="4694555">
              <a:lnSpc>
                <a:spcPct val="100000"/>
              </a:lnSpc>
              <a:spcBef>
                <a:spcPts val="275"/>
              </a:spcBef>
            </a:pPr>
            <a:r>
              <a:rPr sz="1000" dirty="0">
                <a:solidFill>
                  <a:srgbClr val="702527"/>
                </a:solidFill>
                <a:latin typeface="Arial"/>
                <a:cs typeface="Arial"/>
              </a:rPr>
              <a:t>Mohammad</a:t>
            </a:r>
            <a:r>
              <a:rPr sz="1000" spc="-60" dirty="0">
                <a:solidFill>
                  <a:srgbClr val="70252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702527"/>
                </a:solidFill>
                <a:latin typeface="Arial"/>
                <a:cs typeface="Arial"/>
              </a:rPr>
              <a:t>Imam</a:t>
            </a:r>
            <a:r>
              <a:rPr sz="1000" spc="-30" dirty="0">
                <a:solidFill>
                  <a:srgbClr val="70252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702527"/>
                </a:solidFill>
                <a:latin typeface="Arial"/>
                <a:cs typeface="Arial"/>
              </a:rPr>
              <a:t>Hossain,</a:t>
            </a:r>
            <a:r>
              <a:rPr sz="1000" spc="-20" dirty="0">
                <a:solidFill>
                  <a:srgbClr val="70252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702527"/>
                </a:solidFill>
                <a:latin typeface="Arial"/>
                <a:cs typeface="Arial"/>
              </a:rPr>
              <a:t>Lecturer,</a:t>
            </a:r>
            <a:r>
              <a:rPr sz="1000" spc="-30" dirty="0">
                <a:solidFill>
                  <a:srgbClr val="70252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702527"/>
                </a:solidFill>
                <a:latin typeface="Arial"/>
                <a:cs typeface="Arial"/>
              </a:rPr>
              <a:t>Dept.</a:t>
            </a:r>
            <a:r>
              <a:rPr sz="1000" spc="-30" dirty="0">
                <a:solidFill>
                  <a:srgbClr val="70252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702527"/>
                </a:solidFill>
                <a:latin typeface="Arial"/>
                <a:cs typeface="Arial"/>
              </a:rPr>
              <a:t>of</a:t>
            </a:r>
            <a:r>
              <a:rPr sz="1000" spc="-30" dirty="0">
                <a:solidFill>
                  <a:srgbClr val="702527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702527"/>
                </a:solidFill>
                <a:latin typeface="Arial"/>
                <a:cs typeface="Arial"/>
              </a:rPr>
              <a:t>CSE,</a:t>
            </a:r>
            <a:r>
              <a:rPr sz="1000" spc="-10" dirty="0">
                <a:solidFill>
                  <a:srgbClr val="702527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702527"/>
                </a:solidFill>
                <a:latin typeface="Arial"/>
                <a:cs typeface="Arial"/>
              </a:rPr>
              <a:t>UIU</a:t>
            </a:r>
            <a:endParaRPr sz="1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spc="-155" dirty="0"/>
              <a:t>Transactions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5206" y="1087882"/>
            <a:ext cx="8526145" cy="34855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1945" indent="-309245">
              <a:lnSpc>
                <a:spcPct val="100000"/>
              </a:lnSpc>
              <a:spcBef>
                <a:spcPts val="100"/>
              </a:spcBef>
              <a:buClr>
                <a:srgbClr val="FF8600"/>
              </a:buClr>
              <a:buSzPct val="129166"/>
              <a:buFont typeface="Cambria Math"/>
              <a:buChar char="◗"/>
              <a:tabLst>
                <a:tab pos="321945" algn="l"/>
              </a:tabLst>
            </a:pPr>
            <a:r>
              <a:rPr sz="1200" spc="20" dirty="0">
                <a:latin typeface="Gill Sans MT"/>
                <a:cs typeface="Gill Sans MT"/>
              </a:rPr>
              <a:t>A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20" dirty="0">
                <a:highlight>
                  <a:srgbClr val="FFFF00"/>
                </a:highlight>
                <a:latin typeface="Gill Sans MT"/>
                <a:cs typeface="Gill Sans MT"/>
              </a:rPr>
              <a:t>collection</a:t>
            </a:r>
            <a:r>
              <a:rPr sz="1200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spc="60" dirty="0">
                <a:highlight>
                  <a:srgbClr val="FFFF00"/>
                </a:highlight>
                <a:latin typeface="Gill Sans MT"/>
                <a:cs typeface="Gill Sans MT"/>
              </a:rPr>
              <a:t>of</a:t>
            </a:r>
            <a:r>
              <a:rPr sz="1200" spc="5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spc="55" dirty="0">
                <a:highlight>
                  <a:srgbClr val="FFFF00"/>
                </a:highlight>
                <a:latin typeface="Gill Sans MT"/>
                <a:cs typeface="Gill Sans MT"/>
              </a:rPr>
              <a:t>several</a:t>
            </a:r>
            <a:r>
              <a:rPr sz="1200" spc="-10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spc="20" dirty="0">
                <a:highlight>
                  <a:srgbClr val="FFFF00"/>
                </a:highlight>
                <a:latin typeface="Gill Sans MT"/>
                <a:cs typeface="Gill Sans MT"/>
              </a:rPr>
              <a:t>operation</a:t>
            </a:r>
            <a:r>
              <a:rPr sz="1200" spc="20" dirty="0">
                <a:latin typeface="Gill Sans MT"/>
                <a:cs typeface="Gill Sans MT"/>
              </a:rPr>
              <a:t>s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on the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spc="90" dirty="0">
                <a:latin typeface="Gill Sans MT"/>
                <a:cs typeface="Gill Sans MT"/>
              </a:rPr>
              <a:t>database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75" dirty="0">
                <a:highlight>
                  <a:srgbClr val="FFFF00"/>
                </a:highlight>
                <a:latin typeface="Gill Sans MT"/>
                <a:cs typeface="Gill Sans MT"/>
              </a:rPr>
              <a:t>appears</a:t>
            </a:r>
            <a:r>
              <a:rPr sz="1200" spc="15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spc="20" dirty="0">
                <a:highlight>
                  <a:srgbClr val="FFFF00"/>
                </a:highlight>
                <a:latin typeface="Gill Sans MT"/>
                <a:cs typeface="Gill Sans MT"/>
              </a:rPr>
              <a:t>to</a:t>
            </a:r>
            <a:r>
              <a:rPr sz="1200" spc="-5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spc="60" dirty="0">
                <a:highlight>
                  <a:srgbClr val="FFFF00"/>
                </a:highlight>
                <a:latin typeface="Gill Sans MT"/>
                <a:cs typeface="Gill Sans MT"/>
              </a:rPr>
              <a:t>be</a:t>
            </a:r>
            <a:r>
              <a:rPr sz="1200" spc="5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spc="135" dirty="0">
                <a:highlight>
                  <a:srgbClr val="FFFF00"/>
                </a:highlight>
                <a:latin typeface="Gill Sans MT"/>
                <a:cs typeface="Gill Sans MT"/>
              </a:rPr>
              <a:t>a</a:t>
            </a:r>
            <a:r>
              <a:rPr sz="1200" spc="-5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spc="75" dirty="0">
                <a:highlight>
                  <a:srgbClr val="FFFF00"/>
                </a:highlight>
                <a:latin typeface="Gill Sans MT"/>
                <a:cs typeface="Gill Sans MT"/>
              </a:rPr>
              <a:t>single</a:t>
            </a:r>
            <a:r>
              <a:rPr sz="1200" spc="15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spc="20" dirty="0">
                <a:highlight>
                  <a:srgbClr val="FFFF00"/>
                </a:highlight>
                <a:latin typeface="Gill Sans MT"/>
                <a:cs typeface="Gill Sans MT"/>
              </a:rPr>
              <a:t>unit</a:t>
            </a:r>
            <a:r>
              <a:rPr sz="1200" spc="5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spc="20" dirty="0">
                <a:highlight>
                  <a:srgbClr val="FFFF00"/>
                </a:highlight>
                <a:latin typeface="Gill Sans MT"/>
                <a:cs typeface="Gill Sans MT"/>
              </a:rPr>
              <a:t>from</a:t>
            </a:r>
            <a:r>
              <a:rPr sz="1200" spc="-15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spc="20" dirty="0">
                <a:highlight>
                  <a:srgbClr val="FFFF00"/>
                </a:highlight>
                <a:latin typeface="Gill Sans MT"/>
                <a:cs typeface="Gill Sans MT"/>
              </a:rPr>
              <a:t>the</a:t>
            </a:r>
            <a:r>
              <a:rPr sz="1200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spc="20" dirty="0">
                <a:highlight>
                  <a:srgbClr val="FFFF00"/>
                </a:highlight>
                <a:latin typeface="Gill Sans MT"/>
                <a:cs typeface="Gill Sans MT"/>
              </a:rPr>
              <a:t>point</a:t>
            </a:r>
            <a:r>
              <a:rPr sz="1200" spc="5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spc="60" dirty="0">
                <a:highlight>
                  <a:srgbClr val="FFFF00"/>
                </a:highlight>
                <a:latin typeface="Gill Sans MT"/>
                <a:cs typeface="Gill Sans MT"/>
              </a:rPr>
              <a:t>of</a:t>
            </a:r>
            <a:r>
              <a:rPr sz="1200" spc="-10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spc="20" dirty="0">
                <a:highlight>
                  <a:srgbClr val="FFFF00"/>
                </a:highlight>
                <a:latin typeface="Gill Sans MT"/>
                <a:cs typeface="Gill Sans MT"/>
              </a:rPr>
              <a:t>view</a:t>
            </a:r>
            <a:r>
              <a:rPr sz="1200" spc="30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spc="60" dirty="0">
                <a:highlight>
                  <a:srgbClr val="FFFF00"/>
                </a:highlight>
                <a:latin typeface="Gill Sans MT"/>
                <a:cs typeface="Gill Sans MT"/>
              </a:rPr>
              <a:t>of</a:t>
            </a:r>
            <a:r>
              <a:rPr sz="1200" spc="-5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spc="20" dirty="0">
                <a:highlight>
                  <a:srgbClr val="FFFF00"/>
                </a:highlight>
                <a:latin typeface="Gill Sans MT"/>
                <a:cs typeface="Gill Sans MT"/>
              </a:rPr>
              <a:t>the</a:t>
            </a:r>
            <a:r>
              <a:rPr sz="1200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spc="90" dirty="0">
                <a:highlight>
                  <a:srgbClr val="FFFF00"/>
                </a:highlight>
                <a:latin typeface="Gill Sans MT"/>
                <a:cs typeface="Gill Sans MT"/>
              </a:rPr>
              <a:t>database</a:t>
            </a:r>
            <a:r>
              <a:rPr sz="1200" spc="-5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spc="-10" dirty="0">
                <a:highlight>
                  <a:srgbClr val="FFFF00"/>
                </a:highlight>
                <a:latin typeface="Gill Sans MT"/>
                <a:cs typeface="Gill Sans MT"/>
              </a:rPr>
              <a:t>user.</a:t>
            </a:r>
            <a:endParaRPr sz="1200" dirty="0">
              <a:highlight>
                <a:srgbClr val="FFFF00"/>
              </a:highlight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FF8600"/>
              </a:buClr>
              <a:buFont typeface="Cambria Math"/>
              <a:buChar char="◗"/>
            </a:pPr>
            <a:endParaRPr sz="1200" dirty="0">
              <a:latin typeface="Gill Sans MT"/>
              <a:cs typeface="Gill Sans MT"/>
            </a:endParaRPr>
          </a:p>
          <a:p>
            <a:pPr marL="321945" marR="68580" algn="just">
              <a:lnSpc>
                <a:spcPct val="100000"/>
              </a:lnSpc>
            </a:pPr>
            <a:r>
              <a:rPr sz="1200" spc="20" dirty="0">
                <a:solidFill>
                  <a:srgbClr val="006FC0"/>
                </a:solidFill>
                <a:latin typeface="Gill Sans MT"/>
                <a:cs typeface="Gill Sans MT"/>
              </a:rPr>
              <a:t>For</a:t>
            </a:r>
            <a:r>
              <a:rPr sz="1200" spc="-10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006FC0"/>
                </a:solidFill>
                <a:latin typeface="Gill Sans MT"/>
                <a:cs typeface="Gill Sans MT"/>
              </a:rPr>
              <a:t>example,</a:t>
            </a:r>
            <a:r>
              <a:rPr sz="1200" spc="5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200" spc="135" dirty="0">
                <a:latin typeface="Gill Sans MT"/>
                <a:cs typeface="Gill Sans MT"/>
              </a:rPr>
              <a:t>a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transfer</a:t>
            </a:r>
            <a:r>
              <a:rPr sz="1200" spc="-30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of</a:t>
            </a:r>
            <a:r>
              <a:rPr sz="1200" dirty="0">
                <a:latin typeface="Gill Sans MT"/>
                <a:cs typeface="Gill Sans MT"/>
              </a:rPr>
              <a:t> </a:t>
            </a:r>
            <a:r>
              <a:rPr sz="1200" spc="85" dirty="0">
                <a:latin typeface="Gill Sans MT"/>
                <a:cs typeface="Gill Sans MT"/>
              </a:rPr>
              <a:t>funds</a:t>
            </a:r>
            <a:r>
              <a:rPr sz="1200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from</a:t>
            </a:r>
            <a:r>
              <a:rPr sz="1200" spc="-25" dirty="0">
                <a:latin typeface="Gill Sans MT"/>
                <a:cs typeface="Gill Sans MT"/>
              </a:rPr>
              <a:t> </a:t>
            </a:r>
            <a:r>
              <a:rPr sz="1200" spc="135" dirty="0">
                <a:latin typeface="Gill Sans MT"/>
                <a:cs typeface="Gill Sans MT"/>
              </a:rPr>
              <a:t>a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checking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account</a:t>
            </a:r>
            <a:r>
              <a:rPr sz="1200" spc="20" dirty="0">
                <a:latin typeface="Gill Sans MT"/>
                <a:cs typeface="Gill Sans MT"/>
              </a:rPr>
              <a:t> to</a:t>
            </a:r>
            <a:r>
              <a:rPr sz="1200" spc="-20" dirty="0">
                <a:latin typeface="Gill Sans MT"/>
                <a:cs typeface="Gill Sans MT"/>
              </a:rPr>
              <a:t> </a:t>
            </a:r>
            <a:r>
              <a:rPr sz="1200" spc="135" dirty="0">
                <a:latin typeface="Gill Sans MT"/>
                <a:cs typeface="Gill Sans MT"/>
              </a:rPr>
              <a:t>a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spc="100" dirty="0">
                <a:latin typeface="Gill Sans MT"/>
                <a:cs typeface="Gill Sans MT"/>
              </a:rPr>
              <a:t>savings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account</a:t>
            </a:r>
            <a:r>
              <a:rPr sz="1200" dirty="0">
                <a:latin typeface="Gill Sans MT"/>
                <a:cs typeface="Gill Sans MT"/>
              </a:rPr>
              <a:t> </a:t>
            </a:r>
            <a:r>
              <a:rPr sz="1200" spc="90" dirty="0">
                <a:latin typeface="Gill Sans MT"/>
                <a:cs typeface="Gill Sans MT"/>
              </a:rPr>
              <a:t>is</a:t>
            </a:r>
            <a:r>
              <a:rPr sz="1200" dirty="0">
                <a:latin typeface="Gill Sans MT"/>
                <a:cs typeface="Gill Sans MT"/>
              </a:rPr>
              <a:t> </a:t>
            </a:r>
            <a:r>
              <a:rPr sz="1200" spc="135" dirty="0">
                <a:latin typeface="Gill Sans MT"/>
                <a:cs typeface="Gill Sans MT"/>
              </a:rPr>
              <a:t>a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75" dirty="0">
                <a:latin typeface="Gill Sans MT"/>
                <a:cs typeface="Gill Sans MT"/>
              </a:rPr>
              <a:t>single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operation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from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the</a:t>
            </a:r>
            <a:r>
              <a:rPr sz="1200" spc="-20" dirty="0">
                <a:latin typeface="Gill Sans MT"/>
                <a:cs typeface="Gill Sans MT"/>
              </a:rPr>
              <a:t> </a:t>
            </a:r>
            <a:r>
              <a:rPr sz="1200" spc="45" dirty="0">
                <a:latin typeface="Gill Sans MT"/>
                <a:cs typeface="Gill Sans MT"/>
              </a:rPr>
              <a:t>customer’s </a:t>
            </a:r>
            <a:r>
              <a:rPr sz="1200" spc="20" dirty="0">
                <a:latin typeface="Gill Sans MT"/>
                <a:cs typeface="Gill Sans MT"/>
              </a:rPr>
              <a:t>standpoint;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within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the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90" dirty="0">
                <a:latin typeface="Gill Sans MT"/>
                <a:cs typeface="Gill Sans MT"/>
              </a:rPr>
              <a:t>database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system,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however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it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80" dirty="0">
                <a:latin typeface="Gill Sans MT"/>
                <a:cs typeface="Gill Sans MT"/>
              </a:rPr>
              <a:t>consists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of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several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operations.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It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85" dirty="0">
                <a:latin typeface="Gill Sans MT"/>
                <a:cs typeface="Gill Sans MT"/>
              </a:rPr>
              <a:t>is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essential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that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all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these</a:t>
            </a:r>
            <a:r>
              <a:rPr sz="1200" dirty="0">
                <a:latin typeface="Gill Sans MT"/>
                <a:cs typeface="Gill Sans MT"/>
              </a:rPr>
              <a:t> </a:t>
            </a:r>
            <a:r>
              <a:rPr sz="1200" spc="-10" dirty="0">
                <a:latin typeface="Gill Sans MT"/>
                <a:cs typeface="Gill Sans MT"/>
              </a:rPr>
              <a:t>operations </a:t>
            </a:r>
            <a:r>
              <a:rPr sz="1200" dirty="0">
                <a:latin typeface="Gill Sans MT"/>
                <a:cs typeface="Gill Sans MT"/>
              </a:rPr>
              <a:t>occur,</a:t>
            </a:r>
            <a:r>
              <a:rPr sz="1200" spc="60" dirty="0">
                <a:latin typeface="Gill Sans MT"/>
                <a:cs typeface="Gill Sans MT"/>
              </a:rPr>
              <a:t> </a:t>
            </a:r>
            <a:r>
              <a:rPr sz="1200" spc="-30" dirty="0">
                <a:latin typeface="Gill Sans MT"/>
                <a:cs typeface="Gill Sans MT"/>
              </a:rPr>
              <a:t>or</a:t>
            </a:r>
            <a:r>
              <a:rPr sz="1200" spc="5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that,</a:t>
            </a:r>
            <a:r>
              <a:rPr sz="1200" spc="5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in</a:t>
            </a:r>
            <a:r>
              <a:rPr sz="1200" spc="55" dirty="0">
                <a:latin typeface="Gill Sans MT"/>
                <a:cs typeface="Gill Sans MT"/>
              </a:rPr>
              <a:t> </a:t>
            </a:r>
            <a:r>
              <a:rPr sz="1200" spc="105" dirty="0">
                <a:latin typeface="Gill Sans MT"/>
                <a:cs typeface="Gill Sans MT"/>
              </a:rPr>
              <a:t>case</a:t>
            </a:r>
            <a:r>
              <a:rPr sz="1200" spc="80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of</a:t>
            </a:r>
            <a:r>
              <a:rPr sz="1200" spc="50" dirty="0">
                <a:latin typeface="Gill Sans MT"/>
                <a:cs typeface="Gill Sans MT"/>
              </a:rPr>
              <a:t> </a:t>
            </a:r>
            <a:r>
              <a:rPr sz="1200" spc="135" dirty="0">
                <a:latin typeface="Gill Sans MT"/>
                <a:cs typeface="Gill Sans MT"/>
              </a:rPr>
              <a:t>a</a:t>
            </a:r>
            <a:r>
              <a:rPr sz="1200" spc="7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failure,</a:t>
            </a:r>
            <a:r>
              <a:rPr sz="1200" spc="5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none</a:t>
            </a:r>
            <a:r>
              <a:rPr sz="1200" spc="55" dirty="0">
                <a:latin typeface="Gill Sans MT"/>
                <a:cs typeface="Gill Sans MT"/>
              </a:rPr>
              <a:t> </a:t>
            </a:r>
            <a:r>
              <a:rPr sz="1200" spc="-10" dirty="0">
                <a:latin typeface="Gill Sans MT"/>
                <a:cs typeface="Gill Sans MT"/>
              </a:rPr>
              <a:t>occur.</a:t>
            </a:r>
            <a:endParaRPr sz="1200" dirty="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200" dirty="0">
              <a:latin typeface="Gill Sans MT"/>
              <a:cs typeface="Gill Sans MT"/>
            </a:endParaRPr>
          </a:p>
          <a:p>
            <a:pPr marL="321945" indent="-309245">
              <a:lnSpc>
                <a:spcPct val="100000"/>
              </a:lnSpc>
              <a:spcBef>
                <a:spcPts val="5"/>
              </a:spcBef>
              <a:buClr>
                <a:srgbClr val="FF8600"/>
              </a:buClr>
              <a:buSzPct val="129166"/>
              <a:buFont typeface="Cambria Math"/>
              <a:buChar char="◗"/>
              <a:tabLst>
                <a:tab pos="321945" algn="l"/>
              </a:tabLst>
            </a:pPr>
            <a:r>
              <a:rPr sz="1200" spc="20" dirty="0">
                <a:highlight>
                  <a:srgbClr val="FFFF00"/>
                </a:highlight>
                <a:latin typeface="Gill Sans MT"/>
                <a:cs typeface="Gill Sans MT"/>
              </a:rPr>
              <a:t>Collections </a:t>
            </a:r>
            <a:r>
              <a:rPr sz="1200" spc="60" dirty="0">
                <a:highlight>
                  <a:srgbClr val="FFFF00"/>
                </a:highlight>
                <a:latin typeface="Gill Sans MT"/>
                <a:cs typeface="Gill Sans MT"/>
              </a:rPr>
              <a:t>of</a:t>
            </a:r>
            <a:r>
              <a:rPr sz="1200" spc="10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spc="20" dirty="0">
                <a:highlight>
                  <a:srgbClr val="FFFF00"/>
                </a:highlight>
                <a:latin typeface="Gill Sans MT"/>
                <a:cs typeface="Gill Sans MT"/>
              </a:rPr>
              <a:t>operations</a:t>
            </a:r>
            <a:r>
              <a:rPr sz="1200" spc="40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spc="20" dirty="0">
                <a:highlight>
                  <a:srgbClr val="FFFF00"/>
                </a:highlight>
                <a:latin typeface="Gill Sans MT"/>
                <a:cs typeface="Gill Sans MT"/>
              </a:rPr>
              <a:t>that</a:t>
            </a:r>
            <a:r>
              <a:rPr sz="1200" spc="-5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spc="20" dirty="0">
                <a:highlight>
                  <a:srgbClr val="FFFF00"/>
                </a:highlight>
                <a:latin typeface="Gill Sans MT"/>
                <a:cs typeface="Gill Sans MT"/>
              </a:rPr>
              <a:t>form</a:t>
            </a:r>
            <a:r>
              <a:rPr sz="1200" spc="10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spc="135" dirty="0">
                <a:highlight>
                  <a:srgbClr val="FFFF00"/>
                </a:highlight>
                <a:latin typeface="Gill Sans MT"/>
                <a:cs typeface="Gill Sans MT"/>
              </a:rPr>
              <a:t>a</a:t>
            </a:r>
            <a:r>
              <a:rPr sz="1200" spc="10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spc="75" dirty="0">
                <a:highlight>
                  <a:srgbClr val="FFFF00"/>
                </a:highlight>
                <a:latin typeface="Gill Sans MT"/>
                <a:cs typeface="Gill Sans MT"/>
              </a:rPr>
              <a:t>single</a:t>
            </a:r>
            <a:r>
              <a:rPr sz="1200" spc="35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spc="65" dirty="0">
                <a:highlight>
                  <a:srgbClr val="FFFF00"/>
                </a:highlight>
                <a:latin typeface="Gill Sans MT"/>
                <a:cs typeface="Gill Sans MT"/>
              </a:rPr>
              <a:t>logical</a:t>
            </a:r>
            <a:r>
              <a:rPr sz="1200" spc="15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spc="20" dirty="0">
                <a:highlight>
                  <a:srgbClr val="FFFF00"/>
                </a:highlight>
                <a:latin typeface="Gill Sans MT"/>
                <a:cs typeface="Gill Sans MT"/>
              </a:rPr>
              <a:t>unit</a:t>
            </a:r>
            <a:r>
              <a:rPr sz="1200" spc="25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spc="60" dirty="0">
                <a:highlight>
                  <a:srgbClr val="FFFF00"/>
                </a:highlight>
                <a:latin typeface="Gill Sans MT"/>
                <a:cs typeface="Gill Sans MT"/>
              </a:rPr>
              <a:t>of</a:t>
            </a:r>
            <a:r>
              <a:rPr sz="1200" spc="20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spc="10" dirty="0">
                <a:highlight>
                  <a:srgbClr val="FFFF00"/>
                </a:highlight>
                <a:latin typeface="Gill Sans MT"/>
                <a:cs typeface="Gill Sans MT"/>
              </a:rPr>
              <a:t>work</a:t>
            </a:r>
            <a:r>
              <a:rPr sz="1200" spc="15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spc="20" dirty="0">
                <a:highlight>
                  <a:srgbClr val="FFFF00"/>
                </a:highlight>
                <a:latin typeface="Gill Sans MT"/>
                <a:cs typeface="Gill Sans MT"/>
              </a:rPr>
              <a:t>are </a:t>
            </a:r>
            <a:r>
              <a:rPr sz="1200" spc="60" dirty="0">
                <a:highlight>
                  <a:srgbClr val="FFFF00"/>
                </a:highlight>
                <a:latin typeface="Gill Sans MT"/>
                <a:cs typeface="Gill Sans MT"/>
              </a:rPr>
              <a:t>called</a:t>
            </a:r>
            <a:r>
              <a:rPr sz="1200" spc="30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spc="45" dirty="0">
                <a:highlight>
                  <a:srgbClr val="FFFF00"/>
                </a:highlight>
                <a:latin typeface="Gill Sans MT"/>
                <a:cs typeface="Gill Sans MT"/>
              </a:rPr>
              <a:t>transactions.</a:t>
            </a:r>
            <a:endParaRPr sz="1200" dirty="0">
              <a:highlight>
                <a:srgbClr val="FFFF00"/>
              </a:highlight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FF8600"/>
              </a:buClr>
              <a:buFont typeface="Cambria Math"/>
              <a:buChar char="◗"/>
            </a:pPr>
            <a:endParaRPr sz="1200" dirty="0">
              <a:latin typeface="Gill Sans MT"/>
              <a:cs typeface="Gill Sans MT"/>
            </a:endParaRPr>
          </a:p>
          <a:p>
            <a:pPr marL="321945">
              <a:lnSpc>
                <a:spcPct val="100000"/>
              </a:lnSpc>
            </a:pPr>
            <a:r>
              <a:rPr sz="1200" dirty="0">
                <a:latin typeface="Gill Sans MT"/>
                <a:cs typeface="Gill Sans MT"/>
              </a:rPr>
              <a:t>A</a:t>
            </a:r>
            <a:r>
              <a:rPr sz="1200" spc="-45" dirty="0">
                <a:latin typeface="Gill Sans MT"/>
                <a:cs typeface="Gill Sans MT"/>
              </a:rPr>
              <a:t> </a:t>
            </a:r>
            <a:r>
              <a:rPr sz="1200" spc="90" dirty="0">
                <a:latin typeface="Gill Sans MT"/>
                <a:cs typeface="Gill Sans MT"/>
              </a:rPr>
              <a:t>database</a:t>
            </a:r>
            <a:r>
              <a:rPr sz="1200" spc="-50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system</a:t>
            </a:r>
            <a:endParaRPr sz="1200" dirty="0">
              <a:latin typeface="Gill Sans MT"/>
              <a:cs typeface="Gill Sans MT"/>
            </a:endParaRPr>
          </a:p>
          <a:p>
            <a:pPr marL="400685" lvl="1" indent="-78740">
              <a:lnSpc>
                <a:spcPct val="100000"/>
              </a:lnSpc>
              <a:buChar char="-"/>
              <a:tabLst>
                <a:tab pos="400685" algn="l"/>
              </a:tabLst>
            </a:pPr>
            <a:r>
              <a:rPr sz="1200" spc="80" dirty="0">
                <a:latin typeface="Gill Sans MT"/>
                <a:cs typeface="Gill Sans MT"/>
              </a:rPr>
              <a:t>must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ensure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proper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execution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of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transactions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despite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failures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either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entire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transaction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45" dirty="0">
                <a:latin typeface="Gill Sans MT"/>
                <a:cs typeface="Gill Sans MT"/>
              </a:rPr>
              <a:t>executes,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spc="-20" dirty="0">
                <a:latin typeface="Gill Sans MT"/>
                <a:cs typeface="Gill Sans MT"/>
              </a:rPr>
              <a:t>or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none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of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it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does.</a:t>
            </a:r>
            <a:endParaRPr sz="1200" dirty="0">
              <a:latin typeface="Gill Sans MT"/>
              <a:cs typeface="Gill Sans MT"/>
            </a:endParaRPr>
          </a:p>
          <a:p>
            <a:pPr marL="400685" lvl="1" indent="-78740">
              <a:lnSpc>
                <a:spcPct val="100000"/>
              </a:lnSpc>
              <a:buChar char="-"/>
              <a:tabLst>
                <a:tab pos="400685" algn="l"/>
              </a:tabLst>
            </a:pPr>
            <a:r>
              <a:rPr sz="1200" spc="80" dirty="0">
                <a:latin typeface="Gill Sans MT"/>
                <a:cs typeface="Gill Sans MT"/>
              </a:rPr>
              <a:t>must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spc="110" dirty="0">
                <a:latin typeface="Gill Sans MT"/>
                <a:cs typeface="Gill Sans MT"/>
              </a:rPr>
              <a:t>manage</a:t>
            </a:r>
            <a:r>
              <a:rPr sz="1200" spc="50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concurrent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execution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of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transactions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that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avoids</a:t>
            </a:r>
            <a:r>
              <a:rPr sz="1200" spc="7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inconsistency.</a:t>
            </a:r>
            <a:endParaRPr sz="1200" dirty="0">
              <a:latin typeface="Gill Sans MT"/>
              <a:cs typeface="Gill Sans MT"/>
            </a:endParaRPr>
          </a:p>
          <a:p>
            <a:pPr lvl="1">
              <a:lnSpc>
                <a:spcPct val="100000"/>
              </a:lnSpc>
              <a:spcBef>
                <a:spcPts val="650"/>
              </a:spcBef>
              <a:buFont typeface="Gill Sans MT"/>
              <a:buChar char="-"/>
            </a:pPr>
            <a:endParaRPr sz="1200" dirty="0">
              <a:latin typeface="Gill Sans MT"/>
              <a:cs typeface="Gill Sans MT"/>
            </a:endParaRPr>
          </a:p>
          <a:p>
            <a:pPr marL="321945" indent="-309245">
              <a:lnSpc>
                <a:spcPct val="100000"/>
              </a:lnSpc>
              <a:buClr>
                <a:srgbClr val="FF8600"/>
              </a:buClr>
              <a:buSzPct val="129166"/>
              <a:buFont typeface="Cambria Math"/>
              <a:buChar char="◗"/>
              <a:tabLst>
                <a:tab pos="321945" algn="l"/>
              </a:tabLst>
            </a:pPr>
            <a:r>
              <a:rPr sz="1200" spc="10" dirty="0">
                <a:latin typeface="Gill Sans MT"/>
                <a:cs typeface="Gill Sans MT"/>
              </a:rPr>
              <a:t>A </a:t>
            </a:r>
            <a:r>
              <a:rPr sz="1200" spc="50" dirty="0">
                <a:latin typeface="Gill Sans MT"/>
                <a:cs typeface="Gill Sans MT"/>
              </a:rPr>
              <a:t>transaction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spc="85" dirty="0">
                <a:latin typeface="Gill Sans MT"/>
                <a:cs typeface="Gill Sans MT"/>
              </a:rPr>
              <a:t>is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135" dirty="0">
                <a:latin typeface="Gill Sans MT"/>
                <a:cs typeface="Gill Sans MT"/>
              </a:rPr>
              <a:t>a</a:t>
            </a:r>
            <a:r>
              <a:rPr sz="1200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unit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of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45" dirty="0">
                <a:latin typeface="Gill Sans MT"/>
                <a:cs typeface="Gill Sans MT"/>
              </a:rPr>
              <a:t>program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execution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that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spc="110" dirty="0">
                <a:latin typeface="Gill Sans MT"/>
                <a:cs typeface="Gill Sans MT"/>
              </a:rPr>
              <a:t>accesses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85" dirty="0">
                <a:latin typeface="Gill Sans MT"/>
                <a:cs typeface="Gill Sans MT"/>
              </a:rPr>
              <a:t>and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possibly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updates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various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75" dirty="0">
                <a:latin typeface="Gill Sans MT"/>
                <a:cs typeface="Gill Sans MT"/>
              </a:rPr>
              <a:t>data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items.</a:t>
            </a:r>
            <a:endParaRPr sz="1200" dirty="0">
              <a:latin typeface="Gill Sans MT"/>
              <a:cs typeface="Gill Sans MT"/>
            </a:endParaRPr>
          </a:p>
          <a:p>
            <a:pPr marL="321945" marR="156845" indent="-309880">
              <a:lnSpc>
                <a:spcPct val="100000"/>
              </a:lnSpc>
              <a:spcBef>
                <a:spcPts val="600"/>
              </a:spcBef>
              <a:buClr>
                <a:srgbClr val="FF8600"/>
              </a:buClr>
              <a:buSzPct val="129166"/>
              <a:buFont typeface="Cambria Math"/>
              <a:buChar char="◗"/>
              <a:tabLst>
                <a:tab pos="321945" algn="l"/>
              </a:tabLst>
            </a:pPr>
            <a:r>
              <a:rPr sz="1200" spc="10" dirty="0">
                <a:latin typeface="Gill Sans MT"/>
                <a:cs typeface="Gill Sans MT"/>
              </a:rPr>
              <a:t>Usually,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135" dirty="0">
                <a:latin typeface="Gill Sans MT"/>
                <a:cs typeface="Gill Sans MT"/>
              </a:rPr>
              <a:t>a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transaction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85" dirty="0">
                <a:latin typeface="Gill Sans MT"/>
                <a:cs typeface="Gill Sans MT"/>
              </a:rPr>
              <a:t>is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initiated</a:t>
            </a:r>
            <a:r>
              <a:rPr sz="1200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by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135" dirty="0">
                <a:latin typeface="Gill Sans MT"/>
                <a:cs typeface="Gill Sans MT"/>
              </a:rPr>
              <a:t>a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user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45" dirty="0">
                <a:latin typeface="Gill Sans MT"/>
                <a:cs typeface="Gill Sans MT"/>
              </a:rPr>
              <a:t>program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written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in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135" dirty="0">
                <a:latin typeface="Gill Sans MT"/>
                <a:cs typeface="Gill Sans MT"/>
              </a:rPr>
              <a:t>a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high-</a:t>
            </a:r>
            <a:r>
              <a:rPr sz="1200" spc="10" dirty="0">
                <a:latin typeface="Gill Sans MT"/>
                <a:cs typeface="Gill Sans MT"/>
              </a:rPr>
              <a:t>level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data-</a:t>
            </a:r>
            <a:r>
              <a:rPr sz="1200" spc="55" dirty="0">
                <a:latin typeface="Gill Sans MT"/>
                <a:cs typeface="Gill Sans MT"/>
              </a:rPr>
              <a:t>manipulation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90" dirty="0">
                <a:latin typeface="Gill Sans MT"/>
                <a:cs typeface="Gill Sans MT"/>
              </a:rPr>
              <a:t>language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spc="45" dirty="0">
                <a:latin typeface="Gill Sans MT"/>
                <a:cs typeface="Gill Sans MT"/>
              </a:rPr>
              <a:t>(typically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SQL),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-25" dirty="0">
                <a:latin typeface="Gill Sans MT"/>
                <a:cs typeface="Gill Sans MT"/>
              </a:rPr>
              <a:t>or </a:t>
            </a:r>
            <a:r>
              <a:rPr sz="1200" spc="65" dirty="0">
                <a:latin typeface="Gill Sans MT"/>
                <a:cs typeface="Gill Sans MT"/>
              </a:rPr>
              <a:t>programming</a:t>
            </a:r>
            <a:r>
              <a:rPr sz="1200" spc="-30" dirty="0">
                <a:latin typeface="Gill Sans MT"/>
                <a:cs typeface="Gill Sans MT"/>
              </a:rPr>
              <a:t> </a:t>
            </a:r>
            <a:r>
              <a:rPr sz="1200" spc="90" dirty="0">
                <a:latin typeface="Gill Sans MT"/>
                <a:cs typeface="Gill Sans MT"/>
              </a:rPr>
              <a:t>language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(e.g.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-45" dirty="0">
                <a:latin typeface="Gill Sans MT"/>
                <a:cs typeface="Gill Sans MT"/>
              </a:rPr>
              <a:t>C++</a:t>
            </a:r>
            <a:r>
              <a:rPr sz="1200" spc="-35" dirty="0">
                <a:latin typeface="Gill Sans MT"/>
                <a:cs typeface="Gill Sans MT"/>
              </a:rPr>
              <a:t> </a:t>
            </a:r>
            <a:r>
              <a:rPr sz="1200" spc="-20" dirty="0">
                <a:latin typeface="Gill Sans MT"/>
                <a:cs typeface="Gill Sans MT"/>
              </a:rPr>
              <a:t>or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spc="105" dirty="0">
                <a:latin typeface="Gill Sans MT"/>
                <a:cs typeface="Gill Sans MT"/>
              </a:rPr>
              <a:t>Java),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with</a:t>
            </a:r>
            <a:r>
              <a:rPr sz="1200" spc="-30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embedded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90" dirty="0">
                <a:latin typeface="Gill Sans MT"/>
                <a:cs typeface="Gill Sans MT"/>
              </a:rPr>
              <a:t>database</a:t>
            </a:r>
            <a:r>
              <a:rPr sz="1200" spc="-20" dirty="0">
                <a:latin typeface="Gill Sans MT"/>
                <a:cs typeface="Gill Sans MT"/>
              </a:rPr>
              <a:t> </a:t>
            </a:r>
            <a:r>
              <a:rPr sz="1200" spc="110" dirty="0">
                <a:latin typeface="Gill Sans MT"/>
                <a:cs typeface="Gill Sans MT"/>
              </a:rPr>
              <a:t>accesses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in</a:t>
            </a:r>
            <a:r>
              <a:rPr sz="1200" spc="-20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JDBC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spc="-20" dirty="0">
                <a:latin typeface="Gill Sans MT"/>
                <a:cs typeface="Gill Sans MT"/>
              </a:rPr>
              <a:t>or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spc="-10" dirty="0">
                <a:latin typeface="Gill Sans MT"/>
                <a:cs typeface="Gill Sans MT"/>
              </a:rPr>
              <a:t>ODBC.</a:t>
            </a:r>
            <a:endParaRPr sz="1200" dirty="0">
              <a:latin typeface="Gill Sans MT"/>
              <a:cs typeface="Gill Sans MT"/>
            </a:endParaRPr>
          </a:p>
          <a:p>
            <a:pPr marL="321945" indent="-309245">
              <a:lnSpc>
                <a:spcPct val="100000"/>
              </a:lnSpc>
              <a:spcBef>
                <a:spcPts val="600"/>
              </a:spcBef>
              <a:buClr>
                <a:srgbClr val="FF8600"/>
              </a:buClr>
              <a:buSzPct val="129166"/>
              <a:buFont typeface="Cambria Math"/>
              <a:buChar char="◗"/>
              <a:tabLst>
                <a:tab pos="321945" algn="l"/>
              </a:tabLst>
            </a:pPr>
            <a:r>
              <a:rPr sz="1200" dirty="0">
                <a:highlight>
                  <a:srgbClr val="FFFF00"/>
                </a:highlight>
                <a:latin typeface="Gill Sans MT"/>
                <a:cs typeface="Gill Sans MT"/>
              </a:rPr>
              <a:t>A</a:t>
            </a:r>
            <a:r>
              <a:rPr sz="1200" spc="20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spc="50" dirty="0">
                <a:highlight>
                  <a:srgbClr val="FFFF00"/>
                </a:highlight>
                <a:latin typeface="Gill Sans MT"/>
                <a:cs typeface="Gill Sans MT"/>
              </a:rPr>
              <a:t>transaction</a:t>
            </a:r>
            <a:r>
              <a:rPr sz="1200" spc="-5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spc="90" dirty="0">
                <a:highlight>
                  <a:srgbClr val="FFFF00"/>
                </a:highlight>
                <a:latin typeface="Gill Sans MT"/>
                <a:cs typeface="Gill Sans MT"/>
              </a:rPr>
              <a:t>is</a:t>
            </a:r>
            <a:r>
              <a:rPr sz="1200" spc="15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dirty="0">
                <a:highlight>
                  <a:srgbClr val="FFFF00"/>
                </a:highlight>
                <a:latin typeface="Gill Sans MT"/>
                <a:cs typeface="Gill Sans MT"/>
              </a:rPr>
              <a:t>delimited</a:t>
            </a:r>
            <a:r>
              <a:rPr sz="1200" spc="-5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spc="50" dirty="0">
                <a:highlight>
                  <a:srgbClr val="FFFF00"/>
                </a:highlight>
                <a:latin typeface="Gill Sans MT"/>
                <a:cs typeface="Gill Sans MT"/>
              </a:rPr>
              <a:t>by</a:t>
            </a:r>
            <a:r>
              <a:rPr sz="1200" spc="5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spc="70" dirty="0">
                <a:highlight>
                  <a:srgbClr val="FFFF00"/>
                </a:highlight>
                <a:latin typeface="Gill Sans MT"/>
                <a:cs typeface="Gill Sans MT"/>
              </a:rPr>
              <a:t>statements</a:t>
            </a:r>
            <a:r>
              <a:rPr sz="1200" spc="-5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dirty="0">
                <a:highlight>
                  <a:srgbClr val="FFFF00"/>
                </a:highlight>
                <a:latin typeface="Gill Sans MT"/>
                <a:cs typeface="Gill Sans MT"/>
              </a:rPr>
              <a:t>(or</a:t>
            </a:r>
            <a:r>
              <a:rPr sz="1200" spc="10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spc="50" dirty="0">
                <a:highlight>
                  <a:srgbClr val="FFFF00"/>
                </a:highlight>
                <a:latin typeface="Gill Sans MT"/>
                <a:cs typeface="Gill Sans MT"/>
              </a:rPr>
              <a:t>function</a:t>
            </a:r>
            <a:r>
              <a:rPr sz="1200" spc="5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spc="75" dirty="0">
                <a:highlight>
                  <a:srgbClr val="FFFF00"/>
                </a:highlight>
                <a:latin typeface="Gill Sans MT"/>
                <a:cs typeface="Gill Sans MT"/>
              </a:rPr>
              <a:t>calls)</a:t>
            </a:r>
            <a:r>
              <a:rPr sz="1200" spc="20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spc="60" dirty="0">
                <a:highlight>
                  <a:srgbClr val="FFFF00"/>
                </a:highlight>
                <a:latin typeface="Gill Sans MT"/>
                <a:cs typeface="Gill Sans MT"/>
              </a:rPr>
              <a:t>of</a:t>
            </a:r>
            <a:r>
              <a:rPr sz="1200" spc="5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dirty="0">
                <a:highlight>
                  <a:srgbClr val="FFFF00"/>
                </a:highlight>
                <a:latin typeface="Gill Sans MT"/>
                <a:cs typeface="Gill Sans MT"/>
              </a:rPr>
              <a:t>the</a:t>
            </a:r>
            <a:r>
              <a:rPr sz="1200" spc="15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dirty="0">
                <a:highlight>
                  <a:srgbClr val="FFFF00"/>
                </a:highlight>
                <a:latin typeface="Gill Sans MT"/>
                <a:cs typeface="Gill Sans MT"/>
              </a:rPr>
              <a:t>form</a:t>
            </a:r>
            <a:r>
              <a:rPr sz="1200" spc="20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b="1" spc="-10" dirty="0">
                <a:highlight>
                  <a:srgbClr val="FFFF00"/>
                </a:highlight>
                <a:latin typeface="Gill Sans MT"/>
                <a:cs typeface="Gill Sans MT"/>
              </a:rPr>
              <a:t>begin</a:t>
            </a:r>
            <a:r>
              <a:rPr sz="1200" b="1" spc="15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b="1" spc="-30" dirty="0">
                <a:highlight>
                  <a:srgbClr val="FFFF00"/>
                </a:highlight>
                <a:latin typeface="Gill Sans MT"/>
                <a:cs typeface="Gill Sans MT"/>
              </a:rPr>
              <a:t>transaction</a:t>
            </a:r>
            <a:r>
              <a:rPr sz="1200" b="1" spc="-25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spc="80" dirty="0">
                <a:highlight>
                  <a:srgbClr val="FFFF00"/>
                </a:highlight>
                <a:latin typeface="Gill Sans MT"/>
                <a:cs typeface="Gill Sans MT"/>
              </a:rPr>
              <a:t>and</a:t>
            </a:r>
            <a:r>
              <a:rPr sz="1200" spc="15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b="1" spc="-20" dirty="0">
                <a:highlight>
                  <a:srgbClr val="FFFF00"/>
                </a:highlight>
                <a:latin typeface="Gill Sans MT"/>
                <a:cs typeface="Gill Sans MT"/>
              </a:rPr>
              <a:t>end</a:t>
            </a:r>
            <a:r>
              <a:rPr sz="1200" b="1" spc="20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b="1" spc="-25" dirty="0">
                <a:highlight>
                  <a:srgbClr val="FFFF00"/>
                </a:highlight>
                <a:latin typeface="Gill Sans MT"/>
                <a:cs typeface="Gill Sans MT"/>
              </a:rPr>
              <a:t>transaction</a:t>
            </a:r>
            <a:r>
              <a:rPr sz="1200" spc="-25" dirty="0">
                <a:highlight>
                  <a:srgbClr val="FFFF00"/>
                </a:highlight>
                <a:latin typeface="Gill Sans MT"/>
                <a:cs typeface="Gill Sans MT"/>
              </a:rPr>
              <a:t>.</a:t>
            </a:r>
            <a:r>
              <a:rPr sz="1200" spc="-30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spc="-25" dirty="0">
                <a:highlight>
                  <a:srgbClr val="FFFF00"/>
                </a:highlight>
                <a:latin typeface="Gill Sans MT"/>
                <a:cs typeface="Gill Sans MT"/>
              </a:rPr>
              <a:t>The</a:t>
            </a:r>
            <a:endParaRPr sz="1200" dirty="0">
              <a:highlight>
                <a:srgbClr val="FFFF00"/>
              </a:highlight>
              <a:latin typeface="Gill Sans MT"/>
              <a:cs typeface="Gill Sans MT"/>
            </a:endParaRPr>
          </a:p>
          <a:p>
            <a:pPr marL="321945">
              <a:lnSpc>
                <a:spcPct val="100000"/>
              </a:lnSpc>
              <a:spcBef>
                <a:spcPts val="5"/>
              </a:spcBef>
            </a:pPr>
            <a:r>
              <a:rPr sz="1200" spc="50" dirty="0">
                <a:highlight>
                  <a:srgbClr val="FFFF00"/>
                </a:highlight>
                <a:latin typeface="Gill Sans MT"/>
                <a:cs typeface="Gill Sans MT"/>
              </a:rPr>
              <a:t>transaction</a:t>
            </a:r>
            <a:r>
              <a:rPr sz="1200" spc="55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spc="80" dirty="0">
                <a:highlight>
                  <a:srgbClr val="FFFF00"/>
                </a:highlight>
                <a:latin typeface="Gill Sans MT"/>
                <a:cs typeface="Gill Sans MT"/>
              </a:rPr>
              <a:t>consists</a:t>
            </a:r>
            <a:r>
              <a:rPr sz="1200" spc="75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spc="60" dirty="0">
                <a:highlight>
                  <a:srgbClr val="FFFF00"/>
                </a:highlight>
                <a:latin typeface="Gill Sans MT"/>
                <a:cs typeface="Gill Sans MT"/>
              </a:rPr>
              <a:t>of</a:t>
            </a:r>
            <a:r>
              <a:rPr sz="1200" spc="80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spc="55" dirty="0">
                <a:highlight>
                  <a:srgbClr val="FFFF00"/>
                </a:highlight>
                <a:latin typeface="Gill Sans MT"/>
                <a:cs typeface="Gill Sans MT"/>
              </a:rPr>
              <a:t>all</a:t>
            </a:r>
            <a:r>
              <a:rPr sz="1200" spc="70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dirty="0">
                <a:highlight>
                  <a:srgbClr val="FFFF00"/>
                </a:highlight>
                <a:latin typeface="Gill Sans MT"/>
                <a:cs typeface="Gill Sans MT"/>
              </a:rPr>
              <a:t>operations</a:t>
            </a:r>
            <a:r>
              <a:rPr sz="1200" spc="75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dirty="0">
                <a:highlight>
                  <a:srgbClr val="FFFF00"/>
                </a:highlight>
                <a:latin typeface="Gill Sans MT"/>
                <a:cs typeface="Gill Sans MT"/>
              </a:rPr>
              <a:t>executed</a:t>
            </a:r>
            <a:r>
              <a:rPr sz="1200" spc="70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dirty="0">
                <a:highlight>
                  <a:srgbClr val="FFFF00"/>
                </a:highlight>
                <a:latin typeface="Gill Sans MT"/>
                <a:cs typeface="Gill Sans MT"/>
              </a:rPr>
              <a:t>between</a:t>
            </a:r>
            <a:r>
              <a:rPr sz="1200" spc="70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dirty="0">
                <a:highlight>
                  <a:srgbClr val="FFFF00"/>
                </a:highlight>
                <a:latin typeface="Gill Sans MT"/>
                <a:cs typeface="Gill Sans MT"/>
              </a:rPr>
              <a:t>the</a:t>
            </a:r>
            <a:r>
              <a:rPr sz="1200" spc="100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b="1" spc="-10" dirty="0">
                <a:highlight>
                  <a:srgbClr val="FFFF00"/>
                </a:highlight>
                <a:latin typeface="Gill Sans MT"/>
                <a:cs typeface="Gill Sans MT"/>
              </a:rPr>
              <a:t>begin</a:t>
            </a:r>
            <a:r>
              <a:rPr sz="1200" b="1" spc="75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b="1" spc="-30" dirty="0">
                <a:highlight>
                  <a:srgbClr val="FFFF00"/>
                </a:highlight>
                <a:latin typeface="Gill Sans MT"/>
                <a:cs typeface="Gill Sans MT"/>
              </a:rPr>
              <a:t>transaction</a:t>
            </a:r>
            <a:r>
              <a:rPr sz="1200" b="1" spc="35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spc="80" dirty="0">
                <a:highlight>
                  <a:srgbClr val="FFFF00"/>
                </a:highlight>
                <a:latin typeface="Gill Sans MT"/>
                <a:cs typeface="Gill Sans MT"/>
              </a:rPr>
              <a:t>and</a:t>
            </a:r>
            <a:r>
              <a:rPr sz="1200" spc="85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b="1" spc="-25" dirty="0">
                <a:highlight>
                  <a:srgbClr val="FFFF00"/>
                </a:highlight>
                <a:latin typeface="Gill Sans MT"/>
                <a:cs typeface="Gill Sans MT"/>
              </a:rPr>
              <a:t>end</a:t>
            </a:r>
            <a:r>
              <a:rPr sz="1200" b="1" spc="70" dirty="0">
                <a:highlight>
                  <a:srgbClr val="FFFF00"/>
                </a:highlight>
                <a:latin typeface="Gill Sans MT"/>
                <a:cs typeface="Gill Sans MT"/>
              </a:rPr>
              <a:t> </a:t>
            </a:r>
            <a:r>
              <a:rPr sz="1200" b="1" spc="-10" dirty="0">
                <a:highlight>
                  <a:srgbClr val="FFFF00"/>
                </a:highlight>
                <a:latin typeface="Gill Sans MT"/>
                <a:cs typeface="Gill Sans MT"/>
              </a:rPr>
              <a:t>transaction</a:t>
            </a:r>
            <a:r>
              <a:rPr sz="1200" spc="-10" dirty="0">
                <a:highlight>
                  <a:srgbClr val="FFFF00"/>
                </a:highlight>
                <a:latin typeface="Gill Sans MT"/>
                <a:cs typeface="Gill Sans MT"/>
              </a:rPr>
              <a:t>.</a:t>
            </a:r>
            <a:endParaRPr sz="1200" dirty="0">
              <a:highlight>
                <a:srgbClr val="FFFF00"/>
              </a:highlight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0" dirty="0">
                <a:solidFill>
                  <a:srgbClr val="FFFFFF"/>
                </a:solidFill>
                <a:latin typeface="Gill Sans MT"/>
                <a:cs typeface="Gill Sans MT"/>
              </a:rPr>
              <a:t>2</a:t>
            </a:r>
            <a:endParaRPr sz="13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spc="-165" dirty="0">
                <a:latin typeface="+mj-lt"/>
              </a:rPr>
              <a:t>Transaction</a:t>
            </a:r>
            <a:r>
              <a:rPr spc="-229" dirty="0">
                <a:latin typeface="+mj-lt"/>
              </a:rPr>
              <a:t> </a:t>
            </a:r>
            <a:r>
              <a:rPr spc="-135" dirty="0">
                <a:latin typeface="+mj-lt"/>
              </a:rPr>
              <a:t>Properties</a:t>
            </a:r>
            <a:r>
              <a:rPr spc="-245" dirty="0">
                <a:latin typeface="+mj-lt"/>
              </a:rPr>
              <a:t> </a:t>
            </a:r>
            <a:r>
              <a:rPr spc="-210" dirty="0">
                <a:solidFill>
                  <a:srgbClr val="00AFEF"/>
                </a:solidFill>
                <a:latin typeface="+mj-lt"/>
              </a:rPr>
              <a:t>–</a:t>
            </a:r>
            <a:r>
              <a:rPr spc="-235" dirty="0">
                <a:solidFill>
                  <a:srgbClr val="00AFEF"/>
                </a:solidFill>
                <a:latin typeface="+mj-lt"/>
              </a:rPr>
              <a:t> </a:t>
            </a:r>
            <a:r>
              <a:rPr lang="en-US" spc="-280" dirty="0">
                <a:solidFill>
                  <a:srgbClr val="00AFEF"/>
                </a:solidFill>
                <a:latin typeface="+mj-lt"/>
              </a:rPr>
              <a:t>A C I D</a:t>
            </a:r>
            <a:endParaRPr spc="-280" dirty="0">
              <a:latin typeface="+mj-l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47700" y="1172971"/>
            <a:ext cx="8609330" cy="32855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2745" indent="-309245">
              <a:lnSpc>
                <a:spcPct val="100000"/>
              </a:lnSpc>
              <a:spcBef>
                <a:spcPts val="100"/>
              </a:spcBef>
              <a:buClr>
                <a:srgbClr val="FF8600"/>
              </a:buClr>
              <a:buSzPct val="129166"/>
              <a:buFont typeface="Cambria Math"/>
              <a:buChar char="◗"/>
              <a:tabLst>
                <a:tab pos="372745" algn="l"/>
              </a:tabLst>
            </a:pPr>
            <a:r>
              <a:rPr sz="1400" dirty="0">
                <a:solidFill>
                  <a:srgbClr val="006FC0"/>
                </a:solidFill>
                <a:latin typeface="Gill Sans MT"/>
                <a:cs typeface="Gill Sans MT"/>
              </a:rPr>
              <a:t>Atomicity</a:t>
            </a:r>
            <a:r>
              <a:rPr sz="1400" spc="65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400" spc="185" dirty="0">
                <a:solidFill>
                  <a:srgbClr val="006FC0"/>
                </a:solidFill>
                <a:latin typeface="Gill Sans MT"/>
                <a:cs typeface="Gill Sans MT"/>
              </a:rPr>
              <a:t>–</a:t>
            </a:r>
            <a:r>
              <a:rPr sz="1400" spc="75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400" dirty="0">
                <a:latin typeface="Gill Sans MT"/>
                <a:cs typeface="Gill Sans MT"/>
              </a:rPr>
              <a:t>Either</a:t>
            </a:r>
            <a:r>
              <a:rPr sz="1400" spc="90" dirty="0">
                <a:latin typeface="Gill Sans MT"/>
                <a:cs typeface="Gill Sans MT"/>
              </a:rPr>
              <a:t> </a:t>
            </a:r>
            <a:r>
              <a:rPr sz="1400" spc="55" dirty="0">
                <a:latin typeface="Gill Sans MT"/>
                <a:cs typeface="Gill Sans MT"/>
              </a:rPr>
              <a:t>all</a:t>
            </a:r>
            <a:r>
              <a:rPr sz="1400" spc="80" dirty="0">
                <a:latin typeface="Gill Sans MT"/>
                <a:cs typeface="Gill Sans MT"/>
              </a:rPr>
              <a:t> </a:t>
            </a:r>
            <a:r>
              <a:rPr sz="1400" dirty="0">
                <a:latin typeface="Gill Sans MT"/>
                <a:cs typeface="Gill Sans MT"/>
              </a:rPr>
              <a:t>operations</a:t>
            </a:r>
            <a:r>
              <a:rPr sz="1400" spc="90" dirty="0">
                <a:latin typeface="Gill Sans MT"/>
                <a:cs typeface="Gill Sans MT"/>
              </a:rPr>
              <a:t> </a:t>
            </a:r>
            <a:r>
              <a:rPr sz="1400" spc="60" dirty="0">
                <a:latin typeface="Gill Sans MT"/>
                <a:cs typeface="Gill Sans MT"/>
              </a:rPr>
              <a:t>of</a:t>
            </a:r>
            <a:r>
              <a:rPr sz="1400" spc="75" dirty="0">
                <a:latin typeface="Gill Sans MT"/>
                <a:cs typeface="Gill Sans MT"/>
              </a:rPr>
              <a:t> </a:t>
            </a:r>
            <a:r>
              <a:rPr sz="1400" dirty="0">
                <a:latin typeface="Gill Sans MT"/>
                <a:cs typeface="Gill Sans MT"/>
              </a:rPr>
              <a:t>the</a:t>
            </a:r>
            <a:r>
              <a:rPr sz="1400" spc="80" dirty="0">
                <a:latin typeface="Gill Sans MT"/>
                <a:cs typeface="Gill Sans MT"/>
              </a:rPr>
              <a:t> </a:t>
            </a:r>
            <a:r>
              <a:rPr sz="1400" spc="50" dirty="0">
                <a:latin typeface="Gill Sans MT"/>
                <a:cs typeface="Gill Sans MT"/>
              </a:rPr>
              <a:t>transaction</a:t>
            </a:r>
            <a:r>
              <a:rPr sz="1400" spc="70" dirty="0">
                <a:latin typeface="Gill Sans MT"/>
                <a:cs typeface="Gill Sans MT"/>
              </a:rPr>
              <a:t> </a:t>
            </a:r>
            <a:r>
              <a:rPr sz="1400" dirty="0">
                <a:latin typeface="Gill Sans MT"/>
                <a:cs typeface="Gill Sans MT"/>
              </a:rPr>
              <a:t>are</a:t>
            </a:r>
            <a:r>
              <a:rPr sz="1400" spc="85" dirty="0">
                <a:latin typeface="Gill Sans MT"/>
                <a:cs typeface="Gill Sans MT"/>
              </a:rPr>
              <a:t> </a:t>
            </a:r>
            <a:r>
              <a:rPr sz="1400" dirty="0">
                <a:latin typeface="Gill Sans MT"/>
                <a:cs typeface="Gill Sans MT"/>
              </a:rPr>
              <a:t>reflected</a:t>
            </a:r>
            <a:r>
              <a:rPr sz="1400" spc="50" dirty="0">
                <a:latin typeface="Gill Sans MT"/>
                <a:cs typeface="Gill Sans MT"/>
              </a:rPr>
              <a:t> </a:t>
            </a:r>
            <a:r>
              <a:rPr sz="1400" dirty="0">
                <a:latin typeface="Gill Sans MT"/>
                <a:cs typeface="Gill Sans MT"/>
              </a:rPr>
              <a:t>properly</a:t>
            </a:r>
            <a:r>
              <a:rPr sz="1400" spc="75" dirty="0">
                <a:latin typeface="Gill Sans MT"/>
                <a:cs typeface="Gill Sans MT"/>
              </a:rPr>
              <a:t> </a:t>
            </a:r>
            <a:r>
              <a:rPr sz="1400" dirty="0">
                <a:latin typeface="Gill Sans MT"/>
                <a:cs typeface="Gill Sans MT"/>
              </a:rPr>
              <a:t>in</a:t>
            </a:r>
            <a:r>
              <a:rPr sz="1400" spc="80" dirty="0">
                <a:latin typeface="Gill Sans MT"/>
                <a:cs typeface="Gill Sans MT"/>
              </a:rPr>
              <a:t> </a:t>
            </a:r>
            <a:r>
              <a:rPr sz="1400" dirty="0">
                <a:latin typeface="Gill Sans MT"/>
                <a:cs typeface="Gill Sans MT"/>
              </a:rPr>
              <a:t>the</a:t>
            </a:r>
            <a:r>
              <a:rPr sz="1400" spc="80" dirty="0">
                <a:latin typeface="Gill Sans MT"/>
                <a:cs typeface="Gill Sans MT"/>
              </a:rPr>
              <a:t> </a:t>
            </a:r>
            <a:r>
              <a:rPr sz="1400" spc="75" dirty="0">
                <a:latin typeface="Gill Sans MT"/>
                <a:cs typeface="Gill Sans MT"/>
              </a:rPr>
              <a:t>database,</a:t>
            </a:r>
            <a:r>
              <a:rPr sz="1400" spc="90" dirty="0">
                <a:latin typeface="Gill Sans MT"/>
                <a:cs typeface="Gill Sans MT"/>
              </a:rPr>
              <a:t> </a:t>
            </a:r>
            <a:r>
              <a:rPr sz="1400" spc="-20" dirty="0">
                <a:latin typeface="Gill Sans MT"/>
                <a:cs typeface="Gill Sans MT"/>
              </a:rPr>
              <a:t>or</a:t>
            </a:r>
            <a:r>
              <a:rPr sz="1400" spc="90" dirty="0">
                <a:latin typeface="Gill Sans MT"/>
                <a:cs typeface="Gill Sans MT"/>
              </a:rPr>
              <a:t> </a:t>
            </a:r>
            <a:r>
              <a:rPr sz="1400" dirty="0">
                <a:latin typeface="Gill Sans MT"/>
                <a:cs typeface="Gill Sans MT"/>
              </a:rPr>
              <a:t>none</a:t>
            </a:r>
            <a:r>
              <a:rPr sz="1400" spc="80" dirty="0">
                <a:latin typeface="Gill Sans MT"/>
                <a:cs typeface="Gill Sans MT"/>
              </a:rPr>
              <a:t> </a:t>
            </a:r>
            <a:r>
              <a:rPr sz="1400" spc="-20" dirty="0">
                <a:latin typeface="Gill Sans MT"/>
                <a:cs typeface="Gill Sans MT"/>
              </a:rPr>
              <a:t>are.</a:t>
            </a:r>
            <a:endParaRPr sz="1400" dirty="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645"/>
              </a:spcBef>
              <a:buClr>
                <a:srgbClr val="FF8600"/>
              </a:buClr>
              <a:buFont typeface="Cambria Math"/>
              <a:buChar char="◗"/>
            </a:pPr>
            <a:endParaRPr sz="1400" dirty="0">
              <a:latin typeface="Gill Sans MT"/>
              <a:cs typeface="Gill Sans MT"/>
            </a:endParaRPr>
          </a:p>
          <a:p>
            <a:pPr marL="372745" marR="44450" indent="-309880">
              <a:lnSpc>
                <a:spcPct val="100000"/>
              </a:lnSpc>
              <a:buClr>
                <a:srgbClr val="FF8600"/>
              </a:buClr>
              <a:buSzPct val="129166"/>
              <a:buFont typeface="Cambria Math"/>
              <a:buChar char="◗"/>
              <a:tabLst>
                <a:tab pos="372745" algn="l"/>
              </a:tabLst>
            </a:pPr>
            <a:r>
              <a:rPr sz="1400" spc="50" dirty="0">
                <a:solidFill>
                  <a:srgbClr val="006FC0"/>
                </a:solidFill>
                <a:latin typeface="Gill Sans MT"/>
                <a:cs typeface="Gill Sans MT"/>
              </a:rPr>
              <a:t>Consistency</a:t>
            </a:r>
            <a:r>
              <a:rPr sz="1400" spc="15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400" spc="185" dirty="0">
                <a:solidFill>
                  <a:srgbClr val="006FC0"/>
                </a:solidFill>
                <a:latin typeface="Gill Sans MT"/>
                <a:cs typeface="Gill Sans MT"/>
              </a:rPr>
              <a:t>–</a:t>
            </a:r>
            <a:r>
              <a:rPr sz="1400" spc="5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400" spc="10" dirty="0">
                <a:latin typeface="Gill Sans MT"/>
                <a:cs typeface="Gill Sans MT"/>
              </a:rPr>
              <a:t>Execution</a:t>
            </a:r>
            <a:r>
              <a:rPr sz="1400" spc="20" dirty="0">
                <a:latin typeface="Gill Sans MT"/>
                <a:cs typeface="Gill Sans MT"/>
              </a:rPr>
              <a:t> </a:t>
            </a:r>
            <a:r>
              <a:rPr sz="1400" spc="60" dirty="0">
                <a:latin typeface="Gill Sans MT"/>
                <a:cs typeface="Gill Sans MT"/>
              </a:rPr>
              <a:t>of</a:t>
            </a:r>
            <a:r>
              <a:rPr sz="1400" spc="15" dirty="0">
                <a:latin typeface="Gill Sans MT"/>
                <a:cs typeface="Gill Sans MT"/>
              </a:rPr>
              <a:t> </a:t>
            </a:r>
            <a:r>
              <a:rPr sz="1400" spc="135" dirty="0">
                <a:latin typeface="Gill Sans MT"/>
                <a:cs typeface="Gill Sans MT"/>
              </a:rPr>
              <a:t>a</a:t>
            </a:r>
            <a:r>
              <a:rPr sz="1400" spc="5" dirty="0">
                <a:latin typeface="Gill Sans MT"/>
                <a:cs typeface="Gill Sans MT"/>
              </a:rPr>
              <a:t> </a:t>
            </a:r>
            <a:r>
              <a:rPr sz="1400" spc="50" dirty="0">
                <a:latin typeface="Gill Sans MT"/>
                <a:cs typeface="Gill Sans MT"/>
              </a:rPr>
              <a:t>transaction</a:t>
            </a:r>
            <a:r>
              <a:rPr sz="1400" spc="5" dirty="0">
                <a:latin typeface="Gill Sans MT"/>
                <a:cs typeface="Gill Sans MT"/>
              </a:rPr>
              <a:t> </a:t>
            </a:r>
            <a:r>
              <a:rPr sz="1400" i="1" spc="85" dirty="0">
                <a:latin typeface="Gill Sans MT"/>
                <a:cs typeface="Gill Sans MT"/>
              </a:rPr>
              <a:t>atomically</a:t>
            </a:r>
            <a:r>
              <a:rPr sz="1400" i="1" spc="25" dirty="0">
                <a:latin typeface="Gill Sans MT"/>
                <a:cs typeface="Gill Sans MT"/>
              </a:rPr>
              <a:t> </a:t>
            </a:r>
            <a:r>
              <a:rPr sz="1400" i="1" spc="70" dirty="0">
                <a:latin typeface="Gill Sans MT"/>
                <a:cs typeface="Gill Sans MT"/>
              </a:rPr>
              <a:t>in</a:t>
            </a:r>
            <a:r>
              <a:rPr sz="1400" i="1" spc="15" dirty="0">
                <a:latin typeface="Gill Sans MT"/>
                <a:cs typeface="Gill Sans MT"/>
              </a:rPr>
              <a:t> </a:t>
            </a:r>
            <a:r>
              <a:rPr sz="1400" i="1" spc="90" dirty="0">
                <a:latin typeface="Gill Sans MT"/>
                <a:cs typeface="Gill Sans MT"/>
              </a:rPr>
              <a:t>isolation</a:t>
            </a:r>
            <a:r>
              <a:rPr sz="1400" i="1" spc="35" dirty="0">
                <a:latin typeface="Gill Sans MT"/>
                <a:cs typeface="Gill Sans MT"/>
              </a:rPr>
              <a:t> </a:t>
            </a:r>
            <a:r>
              <a:rPr sz="1400" spc="50" dirty="0">
                <a:latin typeface="Gill Sans MT"/>
                <a:cs typeface="Gill Sans MT"/>
              </a:rPr>
              <a:t>preserves</a:t>
            </a:r>
            <a:r>
              <a:rPr sz="1400" spc="15" dirty="0">
                <a:latin typeface="Gill Sans MT"/>
                <a:cs typeface="Gill Sans MT"/>
              </a:rPr>
              <a:t> </a:t>
            </a:r>
            <a:r>
              <a:rPr sz="1400" spc="10" dirty="0">
                <a:latin typeface="Gill Sans MT"/>
                <a:cs typeface="Gill Sans MT"/>
              </a:rPr>
              <a:t>the </a:t>
            </a:r>
            <a:r>
              <a:rPr sz="1400" spc="65" dirty="0">
                <a:latin typeface="Gill Sans MT"/>
                <a:cs typeface="Gill Sans MT"/>
              </a:rPr>
              <a:t>consistency</a:t>
            </a:r>
            <a:r>
              <a:rPr sz="1400" spc="10" dirty="0">
                <a:latin typeface="Gill Sans MT"/>
                <a:cs typeface="Gill Sans MT"/>
              </a:rPr>
              <a:t> (both</a:t>
            </a:r>
            <a:r>
              <a:rPr sz="1400" spc="30" dirty="0">
                <a:latin typeface="Gill Sans MT"/>
                <a:cs typeface="Gill Sans MT"/>
              </a:rPr>
              <a:t> </a:t>
            </a:r>
            <a:r>
              <a:rPr sz="1400" spc="75" dirty="0">
                <a:latin typeface="Gill Sans MT"/>
                <a:cs typeface="Gill Sans MT"/>
              </a:rPr>
              <a:t>data</a:t>
            </a:r>
            <a:r>
              <a:rPr sz="1400" spc="5" dirty="0">
                <a:latin typeface="Gill Sans MT"/>
                <a:cs typeface="Gill Sans MT"/>
              </a:rPr>
              <a:t> </a:t>
            </a:r>
            <a:r>
              <a:rPr sz="1400" spc="10" dirty="0">
                <a:latin typeface="Gill Sans MT"/>
                <a:cs typeface="Gill Sans MT"/>
              </a:rPr>
              <a:t>integrity</a:t>
            </a:r>
            <a:r>
              <a:rPr sz="1400" spc="-15" dirty="0">
                <a:latin typeface="Gill Sans MT"/>
                <a:cs typeface="Gill Sans MT"/>
              </a:rPr>
              <a:t> </a:t>
            </a:r>
            <a:r>
              <a:rPr sz="1400" spc="45" dirty="0">
                <a:latin typeface="Gill Sans MT"/>
                <a:cs typeface="Gill Sans MT"/>
              </a:rPr>
              <a:t>constraints </a:t>
            </a:r>
            <a:r>
              <a:rPr sz="1400" spc="80" dirty="0">
                <a:latin typeface="Gill Sans MT"/>
                <a:cs typeface="Gill Sans MT"/>
              </a:rPr>
              <a:t>and</a:t>
            </a:r>
            <a:r>
              <a:rPr sz="1400" spc="10" dirty="0">
                <a:latin typeface="Gill Sans MT"/>
                <a:cs typeface="Gill Sans MT"/>
              </a:rPr>
              <a:t> </a:t>
            </a:r>
            <a:r>
              <a:rPr sz="1400" spc="45" dirty="0">
                <a:latin typeface="Gill Sans MT"/>
                <a:cs typeface="Gill Sans MT"/>
              </a:rPr>
              <a:t>application-</a:t>
            </a:r>
            <a:r>
              <a:rPr sz="1400" spc="50" dirty="0">
                <a:latin typeface="Gill Sans MT"/>
                <a:cs typeface="Gill Sans MT"/>
              </a:rPr>
              <a:t>dependent</a:t>
            </a:r>
            <a:r>
              <a:rPr sz="1400" dirty="0">
                <a:latin typeface="Gill Sans MT"/>
                <a:cs typeface="Gill Sans MT"/>
              </a:rPr>
              <a:t> </a:t>
            </a:r>
            <a:r>
              <a:rPr sz="1400" spc="50" dirty="0">
                <a:latin typeface="Gill Sans MT"/>
                <a:cs typeface="Gill Sans MT"/>
              </a:rPr>
              <a:t>constraints)</a:t>
            </a:r>
            <a:r>
              <a:rPr sz="1400" spc="-10" dirty="0">
                <a:latin typeface="Gill Sans MT"/>
                <a:cs typeface="Gill Sans MT"/>
              </a:rPr>
              <a:t> </a:t>
            </a:r>
            <a:r>
              <a:rPr sz="1400" spc="60" dirty="0">
                <a:latin typeface="Gill Sans MT"/>
                <a:cs typeface="Gill Sans MT"/>
              </a:rPr>
              <a:t>of</a:t>
            </a:r>
            <a:r>
              <a:rPr sz="1400" spc="-5" dirty="0">
                <a:latin typeface="Gill Sans MT"/>
                <a:cs typeface="Gill Sans MT"/>
              </a:rPr>
              <a:t> </a:t>
            </a:r>
            <a:r>
              <a:rPr sz="1400" dirty="0">
                <a:latin typeface="Gill Sans MT"/>
                <a:cs typeface="Gill Sans MT"/>
              </a:rPr>
              <a:t>the </a:t>
            </a:r>
            <a:r>
              <a:rPr sz="1400" spc="70" dirty="0">
                <a:latin typeface="Gill Sans MT"/>
                <a:cs typeface="Gill Sans MT"/>
              </a:rPr>
              <a:t>database.</a:t>
            </a:r>
            <a:endParaRPr sz="1400" dirty="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650"/>
              </a:spcBef>
              <a:buClr>
                <a:srgbClr val="FF8600"/>
              </a:buClr>
              <a:buFont typeface="Cambria Math"/>
              <a:buChar char="◗"/>
            </a:pPr>
            <a:endParaRPr sz="1400" dirty="0">
              <a:latin typeface="Gill Sans MT"/>
              <a:cs typeface="Gill Sans MT"/>
            </a:endParaRPr>
          </a:p>
          <a:p>
            <a:pPr marL="372745" marR="68580" indent="-309880">
              <a:lnSpc>
                <a:spcPct val="100000"/>
              </a:lnSpc>
              <a:buClr>
                <a:srgbClr val="FF8600"/>
              </a:buClr>
              <a:buSzPct val="129166"/>
              <a:buFont typeface="Cambria Math"/>
              <a:buChar char="◗"/>
              <a:tabLst>
                <a:tab pos="372745" algn="l"/>
              </a:tabLst>
            </a:pPr>
            <a:r>
              <a:rPr sz="1400" spc="45" dirty="0">
                <a:solidFill>
                  <a:srgbClr val="006FC0"/>
                </a:solidFill>
                <a:latin typeface="Gill Sans MT"/>
                <a:cs typeface="Gill Sans MT"/>
              </a:rPr>
              <a:t>Isolation</a:t>
            </a:r>
            <a:r>
              <a:rPr sz="1400" spc="-20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400" spc="185" dirty="0">
                <a:solidFill>
                  <a:srgbClr val="006FC0"/>
                </a:solidFill>
                <a:latin typeface="Gill Sans MT"/>
                <a:cs typeface="Gill Sans MT"/>
              </a:rPr>
              <a:t>–</a:t>
            </a:r>
            <a:r>
              <a:rPr sz="1400" spc="-10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400" spc="60" dirty="0">
                <a:latin typeface="Gill Sans MT"/>
                <a:cs typeface="Gill Sans MT"/>
              </a:rPr>
              <a:t>Even</a:t>
            </a:r>
            <a:r>
              <a:rPr sz="1400" dirty="0">
                <a:latin typeface="Gill Sans MT"/>
                <a:cs typeface="Gill Sans MT"/>
              </a:rPr>
              <a:t> </a:t>
            </a:r>
            <a:r>
              <a:rPr sz="1400" spc="135" dirty="0">
                <a:latin typeface="Gill Sans MT"/>
                <a:cs typeface="Gill Sans MT"/>
              </a:rPr>
              <a:t>a</a:t>
            </a:r>
            <a:r>
              <a:rPr sz="1400" spc="-25" dirty="0">
                <a:latin typeface="Gill Sans MT"/>
                <a:cs typeface="Gill Sans MT"/>
              </a:rPr>
              <a:t> </a:t>
            </a:r>
            <a:r>
              <a:rPr sz="1400" spc="75" dirty="0">
                <a:latin typeface="Gill Sans MT"/>
                <a:cs typeface="Gill Sans MT"/>
              </a:rPr>
              <a:t>single</a:t>
            </a:r>
            <a:r>
              <a:rPr sz="1400" spc="-25" dirty="0">
                <a:latin typeface="Gill Sans MT"/>
                <a:cs typeface="Gill Sans MT"/>
              </a:rPr>
              <a:t> </a:t>
            </a:r>
            <a:r>
              <a:rPr sz="1400" dirty="0">
                <a:latin typeface="Gill Sans MT"/>
                <a:cs typeface="Gill Sans MT"/>
              </a:rPr>
              <a:t>SQL </a:t>
            </a:r>
            <a:r>
              <a:rPr sz="1400" spc="60" dirty="0">
                <a:latin typeface="Gill Sans MT"/>
                <a:cs typeface="Gill Sans MT"/>
              </a:rPr>
              <a:t>statement</a:t>
            </a:r>
            <a:r>
              <a:rPr sz="1400" spc="-40" dirty="0">
                <a:latin typeface="Gill Sans MT"/>
                <a:cs typeface="Gill Sans MT"/>
              </a:rPr>
              <a:t> </a:t>
            </a:r>
            <a:r>
              <a:rPr sz="1400" spc="50" dirty="0">
                <a:latin typeface="Gill Sans MT"/>
                <a:cs typeface="Gill Sans MT"/>
              </a:rPr>
              <a:t>involves</a:t>
            </a:r>
            <a:r>
              <a:rPr sz="1400" spc="10" dirty="0">
                <a:latin typeface="Gill Sans MT"/>
                <a:cs typeface="Gill Sans MT"/>
              </a:rPr>
              <a:t> </a:t>
            </a:r>
            <a:r>
              <a:rPr sz="1400" spc="85" dirty="0">
                <a:latin typeface="Gill Sans MT"/>
                <a:cs typeface="Gill Sans MT"/>
              </a:rPr>
              <a:t>many</a:t>
            </a:r>
            <a:r>
              <a:rPr sz="1400" spc="-25" dirty="0">
                <a:latin typeface="Gill Sans MT"/>
                <a:cs typeface="Gill Sans MT"/>
              </a:rPr>
              <a:t> </a:t>
            </a:r>
            <a:r>
              <a:rPr sz="1400" spc="65" dirty="0">
                <a:latin typeface="Gill Sans MT"/>
                <a:cs typeface="Gill Sans MT"/>
              </a:rPr>
              <a:t>separate</a:t>
            </a:r>
            <a:r>
              <a:rPr sz="1400" spc="-20" dirty="0">
                <a:latin typeface="Gill Sans MT"/>
                <a:cs typeface="Gill Sans MT"/>
              </a:rPr>
              <a:t> </a:t>
            </a:r>
            <a:r>
              <a:rPr sz="1400" spc="110" dirty="0">
                <a:latin typeface="Gill Sans MT"/>
                <a:cs typeface="Gill Sans MT"/>
              </a:rPr>
              <a:t>accesses</a:t>
            </a:r>
            <a:r>
              <a:rPr sz="1400" spc="-15" dirty="0">
                <a:latin typeface="Gill Sans MT"/>
                <a:cs typeface="Gill Sans MT"/>
              </a:rPr>
              <a:t> </a:t>
            </a:r>
            <a:r>
              <a:rPr sz="1400" dirty="0">
                <a:latin typeface="Gill Sans MT"/>
                <a:cs typeface="Gill Sans MT"/>
              </a:rPr>
              <a:t>to</a:t>
            </a:r>
            <a:r>
              <a:rPr sz="1400" spc="-20" dirty="0">
                <a:latin typeface="Gill Sans MT"/>
                <a:cs typeface="Gill Sans MT"/>
              </a:rPr>
              <a:t> </a:t>
            </a:r>
            <a:r>
              <a:rPr sz="1400" dirty="0">
                <a:latin typeface="Gill Sans MT"/>
                <a:cs typeface="Gill Sans MT"/>
              </a:rPr>
              <a:t>the</a:t>
            </a:r>
            <a:r>
              <a:rPr sz="1400" spc="-25" dirty="0">
                <a:latin typeface="Gill Sans MT"/>
                <a:cs typeface="Gill Sans MT"/>
              </a:rPr>
              <a:t> </a:t>
            </a:r>
            <a:r>
              <a:rPr sz="1400" spc="75" dirty="0">
                <a:latin typeface="Gill Sans MT"/>
                <a:cs typeface="Gill Sans MT"/>
              </a:rPr>
              <a:t>database,</a:t>
            </a:r>
            <a:r>
              <a:rPr sz="1400" spc="-15" dirty="0">
                <a:latin typeface="Gill Sans MT"/>
                <a:cs typeface="Gill Sans MT"/>
              </a:rPr>
              <a:t> </a:t>
            </a:r>
            <a:r>
              <a:rPr sz="1400" spc="85" dirty="0">
                <a:latin typeface="Gill Sans MT"/>
                <a:cs typeface="Gill Sans MT"/>
              </a:rPr>
              <a:t>and</a:t>
            </a:r>
            <a:r>
              <a:rPr sz="1400" spc="-25" dirty="0">
                <a:latin typeface="Gill Sans MT"/>
                <a:cs typeface="Gill Sans MT"/>
              </a:rPr>
              <a:t> </a:t>
            </a:r>
            <a:r>
              <a:rPr sz="1400" spc="135" dirty="0">
                <a:latin typeface="Gill Sans MT"/>
                <a:cs typeface="Gill Sans MT"/>
              </a:rPr>
              <a:t>a</a:t>
            </a:r>
            <a:r>
              <a:rPr sz="1400" spc="-5" dirty="0">
                <a:latin typeface="Gill Sans MT"/>
                <a:cs typeface="Gill Sans MT"/>
              </a:rPr>
              <a:t> </a:t>
            </a:r>
            <a:r>
              <a:rPr sz="1400" spc="50" dirty="0">
                <a:latin typeface="Gill Sans MT"/>
                <a:cs typeface="Gill Sans MT"/>
              </a:rPr>
              <a:t>transaction</a:t>
            </a:r>
            <a:r>
              <a:rPr sz="1400" spc="-35" dirty="0">
                <a:latin typeface="Gill Sans MT"/>
                <a:cs typeface="Gill Sans MT"/>
              </a:rPr>
              <a:t> </a:t>
            </a:r>
            <a:r>
              <a:rPr sz="1400" spc="70" dirty="0">
                <a:latin typeface="Gill Sans MT"/>
                <a:cs typeface="Gill Sans MT"/>
              </a:rPr>
              <a:t>may</a:t>
            </a:r>
            <a:r>
              <a:rPr sz="1400" spc="500" dirty="0">
                <a:latin typeface="Gill Sans MT"/>
                <a:cs typeface="Gill Sans MT"/>
              </a:rPr>
              <a:t> </a:t>
            </a:r>
            <a:r>
              <a:rPr sz="1400" spc="70" dirty="0">
                <a:latin typeface="Gill Sans MT"/>
                <a:cs typeface="Gill Sans MT"/>
              </a:rPr>
              <a:t>consist</a:t>
            </a:r>
            <a:r>
              <a:rPr sz="1400" dirty="0">
                <a:latin typeface="Gill Sans MT"/>
                <a:cs typeface="Gill Sans MT"/>
              </a:rPr>
              <a:t> </a:t>
            </a:r>
            <a:r>
              <a:rPr sz="1400" spc="60" dirty="0">
                <a:latin typeface="Gill Sans MT"/>
                <a:cs typeface="Gill Sans MT"/>
              </a:rPr>
              <a:t>of</a:t>
            </a:r>
            <a:r>
              <a:rPr sz="1400" spc="5" dirty="0">
                <a:latin typeface="Gill Sans MT"/>
                <a:cs typeface="Gill Sans MT"/>
              </a:rPr>
              <a:t> </a:t>
            </a:r>
            <a:r>
              <a:rPr sz="1400" spc="55" dirty="0">
                <a:latin typeface="Gill Sans MT"/>
                <a:cs typeface="Gill Sans MT"/>
              </a:rPr>
              <a:t>several</a:t>
            </a:r>
            <a:r>
              <a:rPr sz="1400" spc="-5" dirty="0">
                <a:latin typeface="Gill Sans MT"/>
                <a:cs typeface="Gill Sans MT"/>
              </a:rPr>
              <a:t> </a:t>
            </a:r>
            <a:r>
              <a:rPr sz="1400" dirty="0">
                <a:latin typeface="Gill Sans MT"/>
                <a:cs typeface="Gill Sans MT"/>
              </a:rPr>
              <a:t>SQL</a:t>
            </a:r>
            <a:r>
              <a:rPr sz="1400" spc="15" dirty="0">
                <a:latin typeface="Gill Sans MT"/>
                <a:cs typeface="Gill Sans MT"/>
              </a:rPr>
              <a:t> </a:t>
            </a:r>
            <a:r>
              <a:rPr sz="1400" spc="65" dirty="0">
                <a:latin typeface="Gill Sans MT"/>
                <a:cs typeface="Gill Sans MT"/>
              </a:rPr>
              <a:t>statements.</a:t>
            </a:r>
            <a:r>
              <a:rPr sz="1400" spc="-30" dirty="0">
                <a:latin typeface="Gill Sans MT"/>
                <a:cs typeface="Gill Sans MT"/>
              </a:rPr>
              <a:t> </a:t>
            </a:r>
            <a:r>
              <a:rPr sz="1400" dirty="0">
                <a:latin typeface="Gill Sans MT"/>
                <a:cs typeface="Gill Sans MT"/>
              </a:rPr>
              <a:t>Therefore,</a:t>
            </a:r>
            <a:r>
              <a:rPr sz="1400" spc="-20" dirty="0">
                <a:latin typeface="Gill Sans MT"/>
                <a:cs typeface="Gill Sans MT"/>
              </a:rPr>
              <a:t> </a:t>
            </a:r>
            <a:r>
              <a:rPr sz="1400" dirty="0">
                <a:latin typeface="Gill Sans MT"/>
                <a:cs typeface="Gill Sans MT"/>
              </a:rPr>
              <a:t>the </a:t>
            </a:r>
            <a:r>
              <a:rPr sz="1400" spc="90" dirty="0">
                <a:latin typeface="Gill Sans MT"/>
                <a:cs typeface="Gill Sans MT"/>
              </a:rPr>
              <a:t>database</a:t>
            </a:r>
            <a:r>
              <a:rPr sz="1400" spc="-5" dirty="0">
                <a:latin typeface="Gill Sans MT"/>
                <a:cs typeface="Gill Sans MT"/>
              </a:rPr>
              <a:t> </a:t>
            </a:r>
            <a:r>
              <a:rPr sz="1400" spc="85" dirty="0">
                <a:latin typeface="Gill Sans MT"/>
                <a:cs typeface="Gill Sans MT"/>
              </a:rPr>
              <a:t>system</a:t>
            </a:r>
            <a:r>
              <a:rPr sz="1400" spc="-5" dirty="0">
                <a:latin typeface="Gill Sans MT"/>
                <a:cs typeface="Gill Sans MT"/>
              </a:rPr>
              <a:t> </a:t>
            </a:r>
            <a:r>
              <a:rPr sz="1400" spc="80" dirty="0">
                <a:latin typeface="Gill Sans MT"/>
                <a:cs typeface="Gill Sans MT"/>
              </a:rPr>
              <a:t>must</a:t>
            </a:r>
            <a:r>
              <a:rPr sz="1400" spc="-10" dirty="0">
                <a:latin typeface="Gill Sans MT"/>
                <a:cs typeface="Gill Sans MT"/>
              </a:rPr>
              <a:t> </a:t>
            </a:r>
            <a:r>
              <a:rPr sz="1400" spc="50" dirty="0">
                <a:latin typeface="Gill Sans MT"/>
                <a:cs typeface="Gill Sans MT"/>
              </a:rPr>
              <a:t>take</a:t>
            </a:r>
            <a:r>
              <a:rPr sz="1400" spc="5" dirty="0">
                <a:latin typeface="Gill Sans MT"/>
                <a:cs typeface="Gill Sans MT"/>
              </a:rPr>
              <a:t> </a:t>
            </a:r>
            <a:r>
              <a:rPr sz="1400" spc="75" dirty="0">
                <a:latin typeface="Gill Sans MT"/>
                <a:cs typeface="Gill Sans MT"/>
              </a:rPr>
              <a:t>special</a:t>
            </a:r>
            <a:r>
              <a:rPr sz="1400" dirty="0">
                <a:latin typeface="Gill Sans MT"/>
                <a:cs typeface="Gill Sans MT"/>
              </a:rPr>
              <a:t> </a:t>
            </a:r>
            <a:r>
              <a:rPr sz="1400" spc="65" dirty="0">
                <a:latin typeface="Gill Sans MT"/>
                <a:cs typeface="Gill Sans MT"/>
              </a:rPr>
              <a:t>actions</a:t>
            </a:r>
            <a:r>
              <a:rPr sz="1400" spc="20" dirty="0">
                <a:latin typeface="Gill Sans MT"/>
                <a:cs typeface="Gill Sans MT"/>
              </a:rPr>
              <a:t> </a:t>
            </a:r>
            <a:r>
              <a:rPr sz="1400" dirty="0">
                <a:latin typeface="Gill Sans MT"/>
                <a:cs typeface="Gill Sans MT"/>
              </a:rPr>
              <a:t>to</a:t>
            </a:r>
            <a:r>
              <a:rPr sz="1400" spc="-10" dirty="0">
                <a:latin typeface="Gill Sans MT"/>
                <a:cs typeface="Gill Sans MT"/>
              </a:rPr>
              <a:t> </a:t>
            </a:r>
            <a:r>
              <a:rPr sz="1400" spc="50" dirty="0">
                <a:latin typeface="Gill Sans MT"/>
                <a:cs typeface="Gill Sans MT"/>
              </a:rPr>
              <a:t>ensure</a:t>
            </a:r>
            <a:r>
              <a:rPr sz="1400" dirty="0">
                <a:latin typeface="Gill Sans MT"/>
                <a:cs typeface="Gill Sans MT"/>
              </a:rPr>
              <a:t> that</a:t>
            </a:r>
            <a:r>
              <a:rPr sz="1400" spc="-5" dirty="0">
                <a:latin typeface="Gill Sans MT"/>
                <a:cs typeface="Gill Sans MT"/>
              </a:rPr>
              <a:t> </a:t>
            </a:r>
            <a:r>
              <a:rPr sz="1400" spc="50" dirty="0">
                <a:latin typeface="Gill Sans MT"/>
                <a:cs typeface="Gill Sans MT"/>
              </a:rPr>
              <a:t>transactions </a:t>
            </a:r>
            <a:r>
              <a:rPr sz="1400" spc="20" dirty="0">
                <a:latin typeface="Gill Sans MT"/>
                <a:cs typeface="Gill Sans MT"/>
              </a:rPr>
              <a:t>operate</a:t>
            </a:r>
            <a:r>
              <a:rPr sz="1400" spc="15" dirty="0">
                <a:latin typeface="Gill Sans MT"/>
                <a:cs typeface="Gill Sans MT"/>
              </a:rPr>
              <a:t> </a:t>
            </a:r>
            <a:r>
              <a:rPr sz="1400" spc="10" dirty="0">
                <a:latin typeface="Gill Sans MT"/>
                <a:cs typeface="Gill Sans MT"/>
              </a:rPr>
              <a:t>properly</a:t>
            </a:r>
            <a:r>
              <a:rPr sz="1400" dirty="0">
                <a:latin typeface="Gill Sans MT"/>
                <a:cs typeface="Gill Sans MT"/>
              </a:rPr>
              <a:t> </a:t>
            </a:r>
            <a:r>
              <a:rPr sz="1400" spc="20" dirty="0">
                <a:latin typeface="Gill Sans MT"/>
                <a:cs typeface="Gill Sans MT"/>
              </a:rPr>
              <a:t>without</a:t>
            </a:r>
            <a:r>
              <a:rPr sz="1400" spc="10" dirty="0">
                <a:latin typeface="Gill Sans MT"/>
                <a:cs typeface="Gill Sans MT"/>
              </a:rPr>
              <a:t> </a:t>
            </a:r>
            <a:r>
              <a:rPr sz="1400" spc="20" dirty="0">
                <a:latin typeface="Gill Sans MT"/>
                <a:cs typeface="Gill Sans MT"/>
              </a:rPr>
              <a:t>interference</a:t>
            </a:r>
            <a:r>
              <a:rPr sz="1400" spc="5" dirty="0">
                <a:latin typeface="Gill Sans MT"/>
                <a:cs typeface="Gill Sans MT"/>
              </a:rPr>
              <a:t> </a:t>
            </a:r>
            <a:r>
              <a:rPr sz="1400" spc="20" dirty="0">
                <a:latin typeface="Gill Sans MT"/>
                <a:cs typeface="Gill Sans MT"/>
              </a:rPr>
              <a:t>from</a:t>
            </a:r>
            <a:r>
              <a:rPr sz="1400" dirty="0">
                <a:latin typeface="Gill Sans MT"/>
                <a:cs typeface="Gill Sans MT"/>
              </a:rPr>
              <a:t> </a:t>
            </a:r>
            <a:r>
              <a:rPr sz="1400" spc="20" dirty="0">
                <a:latin typeface="Gill Sans MT"/>
                <a:cs typeface="Gill Sans MT"/>
              </a:rPr>
              <a:t>concurrently</a:t>
            </a:r>
            <a:r>
              <a:rPr sz="1400" spc="-5" dirty="0">
                <a:latin typeface="Gill Sans MT"/>
                <a:cs typeface="Gill Sans MT"/>
              </a:rPr>
              <a:t> </a:t>
            </a:r>
            <a:r>
              <a:rPr sz="1400" spc="50" dirty="0">
                <a:latin typeface="Gill Sans MT"/>
                <a:cs typeface="Gill Sans MT"/>
              </a:rPr>
              <a:t>executing</a:t>
            </a:r>
            <a:r>
              <a:rPr sz="1400" spc="20" dirty="0">
                <a:latin typeface="Gill Sans MT"/>
                <a:cs typeface="Gill Sans MT"/>
              </a:rPr>
              <a:t> </a:t>
            </a:r>
            <a:r>
              <a:rPr sz="1400" spc="90" dirty="0">
                <a:latin typeface="Gill Sans MT"/>
                <a:cs typeface="Gill Sans MT"/>
              </a:rPr>
              <a:t>database</a:t>
            </a:r>
            <a:r>
              <a:rPr sz="1400" spc="35" dirty="0">
                <a:latin typeface="Gill Sans MT"/>
                <a:cs typeface="Gill Sans MT"/>
              </a:rPr>
              <a:t> </a:t>
            </a:r>
            <a:r>
              <a:rPr sz="1400" spc="65" dirty="0">
                <a:latin typeface="Gill Sans MT"/>
                <a:cs typeface="Gill Sans MT"/>
              </a:rPr>
              <a:t>statements.</a:t>
            </a:r>
            <a:r>
              <a:rPr sz="1400" spc="-15" dirty="0">
                <a:latin typeface="Gill Sans MT"/>
                <a:cs typeface="Gill Sans MT"/>
              </a:rPr>
              <a:t> </a:t>
            </a:r>
            <a:r>
              <a:rPr sz="1400" spc="20" dirty="0">
                <a:latin typeface="Gill Sans MT"/>
                <a:cs typeface="Gill Sans MT"/>
              </a:rPr>
              <a:t>The</a:t>
            </a:r>
            <a:r>
              <a:rPr sz="1400" spc="15" dirty="0">
                <a:latin typeface="Gill Sans MT"/>
                <a:cs typeface="Gill Sans MT"/>
              </a:rPr>
              <a:t> </a:t>
            </a:r>
            <a:r>
              <a:rPr sz="1400" spc="85" dirty="0">
                <a:latin typeface="Gill Sans MT"/>
                <a:cs typeface="Gill Sans MT"/>
              </a:rPr>
              <a:t>system</a:t>
            </a:r>
            <a:r>
              <a:rPr sz="1400" spc="15" dirty="0">
                <a:latin typeface="Gill Sans MT"/>
                <a:cs typeface="Gill Sans MT"/>
              </a:rPr>
              <a:t> </a:t>
            </a:r>
            <a:r>
              <a:rPr sz="1400" spc="80" dirty="0">
                <a:latin typeface="Gill Sans MT"/>
                <a:cs typeface="Gill Sans MT"/>
              </a:rPr>
              <a:t>must</a:t>
            </a:r>
            <a:r>
              <a:rPr sz="1400" spc="10" dirty="0">
                <a:latin typeface="Gill Sans MT"/>
                <a:cs typeface="Gill Sans MT"/>
              </a:rPr>
              <a:t> </a:t>
            </a:r>
            <a:r>
              <a:rPr sz="1400" spc="50" dirty="0">
                <a:latin typeface="Gill Sans MT"/>
                <a:cs typeface="Gill Sans MT"/>
              </a:rPr>
              <a:t>guarantee</a:t>
            </a:r>
            <a:r>
              <a:rPr sz="1400" spc="500" dirty="0">
                <a:latin typeface="Gill Sans MT"/>
                <a:cs typeface="Gill Sans MT"/>
              </a:rPr>
              <a:t>  </a:t>
            </a:r>
            <a:r>
              <a:rPr sz="1400" dirty="0">
                <a:latin typeface="Gill Sans MT"/>
                <a:cs typeface="Gill Sans MT"/>
              </a:rPr>
              <a:t>that,</a:t>
            </a:r>
            <a:r>
              <a:rPr sz="1400" spc="25" dirty="0">
                <a:latin typeface="Gill Sans MT"/>
                <a:cs typeface="Gill Sans MT"/>
              </a:rPr>
              <a:t> </a:t>
            </a:r>
            <a:r>
              <a:rPr sz="1400" dirty="0">
                <a:latin typeface="Gill Sans MT"/>
                <a:cs typeface="Gill Sans MT"/>
              </a:rPr>
              <a:t>for</a:t>
            </a:r>
            <a:r>
              <a:rPr sz="1400" spc="25" dirty="0">
                <a:latin typeface="Gill Sans MT"/>
                <a:cs typeface="Gill Sans MT"/>
              </a:rPr>
              <a:t> </a:t>
            </a:r>
            <a:r>
              <a:rPr sz="1400" dirty="0">
                <a:latin typeface="Gill Sans MT"/>
                <a:cs typeface="Gill Sans MT"/>
              </a:rPr>
              <a:t>every</a:t>
            </a:r>
            <a:r>
              <a:rPr sz="1400" spc="35" dirty="0">
                <a:latin typeface="Gill Sans MT"/>
                <a:cs typeface="Gill Sans MT"/>
              </a:rPr>
              <a:t> </a:t>
            </a:r>
            <a:r>
              <a:rPr sz="1400" dirty="0">
                <a:latin typeface="Gill Sans MT"/>
                <a:cs typeface="Gill Sans MT"/>
              </a:rPr>
              <a:t>pair</a:t>
            </a:r>
            <a:r>
              <a:rPr sz="1400" spc="35" dirty="0">
                <a:latin typeface="Gill Sans MT"/>
                <a:cs typeface="Gill Sans MT"/>
              </a:rPr>
              <a:t> </a:t>
            </a:r>
            <a:r>
              <a:rPr sz="1400" spc="60" dirty="0">
                <a:latin typeface="Gill Sans MT"/>
                <a:cs typeface="Gill Sans MT"/>
              </a:rPr>
              <a:t>of</a:t>
            </a:r>
            <a:r>
              <a:rPr sz="1400" spc="40" dirty="0">
                <a:latin typeface="Gill Sans MT"/>
                <a:cs typeface="Gill Sans MT"/>
              </a:rPr>
              <a:t> </a:t>
            </a:r>
            <a:r>
              <a:rPr sz="1400" spc="60" dirty="0">
                <a:latin typeface="Gill Sans MT"/>
                <a:cs typeface="Gill Sans MT"/>
              </a:rPr>
              <a:t>transactions</a:t>
            </a:r>
            <a:r>
              <a:rPr sz="1400" spc="45" dirty="0">
                <a:latin typeface="Gill Sans MT"/>
                <a:cs typeface="Gill Sans MT"/>
              </a:rPr>
              <a:t> </a:t>
            </a:r>
            <a:r>
              <a:rPr sz="1400" dirty="0">
                <a:latin typeface="Gill Sans MT"/>
                <a:cs typeface="Gill Sans MT"/>
              </a:rPr>
              <a:t>T</a:t>
            </a:r>
            <a:r>
              <a:rPr sz="1400" baseline="-20833" dirty="0">
                <a:latin typeface="Gill Sans MT"/>
                <a:cs typeface="Gill Sans MT"/>
              </a:rPr>
              <a:t>i</a:t>
            </a:r>
            <a:r>
              <a:rPr sz="1400" spc="217" baseline="-20833" dirty="0">
                <a:latin typeface="Gill Sans MT"/>
                <a:cs typeface="Gill Sans MT"/>
              </a:rPr>
              <a:t> </a:t>
            </a:r>
            <a:r>
              <a:rPr sz="1400" spc="80" dirty="0">
                <a:latin typeface="Gill Sans MT"/>
                <a:cs typeface="Gill Sans MT"/>
              </a:rPr>
              <a:t>and</a:t>
            </a:r>
            <a:r>
              <a:rPr sz="1400" spc="25" dirty="0">
                <a:latin typeface="Gill Sans MT"/>
                <a:cs typeface="Gill Sans MT"/>
              </a:rPr>
              <a:t> </a:t>
            </a:r>
            <a:r>
              <a:rPr sz="1400" dirty="0">
                <a:latin typeface="Gill Sans MT"/>
                <a:cs typeface="Gill Sans MT"/>
              </a:rPr>
              <a:t>T</a:t>
            </a:r>
            <a:r>
              <a:rPr sz="1400" baseline="-20833" dirty="0">
                <a:latin typeface="Gill Sans MT"/>
                <a:cs typeface="Gill Sans MT"/>
              </a:rPr>
              <a:t>j</a:t>
            </a:r>
            <a:r>
              <a:rPr sz="1400" dirty="0">
                <a:latin typeface="Gill Sans MT"/>
                <a:cs typeface="Gill Sans MT"/>
              </a:rPr>
              <a:t>,</a:t>
            </a:r>
            <a:r>
              <a:rPr sz="1400" spc="25" dirty="0">
                <a:latin typeface="Gill Sans MT"/>
                <a:cs typeface="Gill Sans MT"/>
              </a:rPr>
              <a:t> </a:t>
            </a:r>
            <a:r>
              <a:rPr sz="1400" dirty="0">
                <a:latin typeface="Gill Sans MT"/>
                <a:cs typeface="Gill Sans MT"/>
              </a:rPr>
              <a:t>it</a:t>
            </a:r>
            <a:r>
              <a:rPr sz="1400" spc="30" dirty="0">
                <a:latin typeface="Gill Sans MT"/>
                <a:cs typeface="Gill Sans MT"/>
              </a:rPr>
              <a:t> </a:t>
            </a:r>
            <a:r>
              <a:rPr sz="1400" spc="75" dirty="0">
                <a:latin typeface="Gill Sans MT"/>
                <a:cs typeface="Gill Sans MT"/>
              </a:rPr>
              <a:t>appears</a:t>
            </a:r>
            <a:r>
              <a:rPr sz="1400" spc="55" dirty="0">
                <a:latin typeface="Gill Sans MT"/>
                <a:cs typeface="Gill Sans MT"/>
              </a:rPr>
              <a:t> </a:t>
            </a:r>
            <a:r>
              <a:rPr sz="1400" dirty="0">
                <a:latin typeface="Gill Sans MT"/>
                <a:cs typeface="Gill Sans MT"/>
              </a:rPr>
              <a:t>to</a:t>
            </a:r>
            <a:r>
              <a:rPr sz="1400" spc="35" dirty="0">
                <a:latin typeface="Gill Sans MT"/>
                <a:cs typeface="Gill Sans MT"/>
              </a:rPr>
              <a:t> </a:t>
            </a:r>
            <a:r>
              <a:rPr sz="1400" dirty="0">
                <a:latin typeface="Gill Sans MT"/>
                <a:cs typeface="Gill Sans MT"/>
              </a:rPr>
              <a:t>T</a:t>
            </a:r>
            <a:r>
              <a:rPr sz="1400" baseline="-20833" dirty="0">
                <a:latin typeface="Gill Sans MT"/>
                <a:cs typeface="Gill Sans MT"/>
              </a:rPr>
              <a:t>i</a:t>
            </a:r>
            <a:r>
              <a:rPr sz="1400" spc="209" baseline="-20833" dirty="0">
                <a:latin typeface="Gill Sans MT"/>
                <a:cs typeface="Gill Sans MT"/>
              </a:rPr>
              <a:t> </a:t>
            </a:r>
            <a:r>
              <a:rPr sz="1400" dirty="0">
                <a:latin typeface="Gill Sans MT"/>
                <a:cs typeface="Gill Sans MT"/>
              </a:rPr>
              <a:t>that</a:t>
            </a:r>
            <a:r>
              <a:rPr sz="1400" spc="25" dirty="0">
                <a:latin typeface="Gill Sans MT"/>
                <a:cs typeface="Gill Sans MT"/>
              </a:rPr>
              <a:t> </a:t>
            </a:r>
            <a:r>
              <a:rPr sz="1400" dirty="0">
                <a:latin typeface="Gill Sans MT"/>
                <a:cs typeface="Gill Sans MT"/>
              </a:rPr>
              <a:t>either</a:t>
            </a:r>
            <a:r>
              <a:rPr sz="1400" spc="35" dirty="0">
                <a:latin typeface="Gill Sans MT"/>
                <a:cs typeface="Gill Sans MT"/>
              </a:rPr>
              <a:t> </a:t>
            </a:r>
            <a:r>
              <a:rPr sz="1400" dirty="0">
                <a:latin typeface="Gill Sans MT"/>
                <a:cs typeface="Gill Sans MT"/>
              </a:rPr>
              <a:t>T</a:t>
            </a:r>
            <a:r>
              <a:rPr sz="1400" baseline="-20833" dirty="0">
                <a:latin typeface="Gill Sans MT"/>
                <a:cs typeface="Gill Sans MT"/>
              </a:rPr>
              <a:t>j</a:t>
            </a:r>
            <a:r>
              <a:rPr sz="1400" spc="202" baseline="-20833" dirty="0">
                <a:latin typeface="Gill Sans MT"/>
                <a:cs typeface="Gill Sans MT"/>
              </a:rPr>
              <a:t> </a:t>
            </a:r>
            <a:r>
              <a:rPr sz="1400" spc="65" dirty="0">
                <a:latin typeface="Gill Sans MT"/>
                <a:cs typeface="Gill Sans MT"/>
              </a:rPr>
              <a:t>finished</a:t>
            </a:r>
            <a:r>
              <a:rPr sz="1400" spc="45" dirty="0">
                <a:latin typeface="Gill Sans MT"/>
                <a:cs typeface="Gill Sans MT"/>
              </a:rPr>
              <a:t> </a:t>
            </a:r>
            <a:r>
              <a:rPr sz="1400" dirty="0">
                <a:latin typeface="Gill Sans MT"/>
                <a:cs typeface="Gill Sans MT"/>
              </a:rPr>
              <a:t>execution</a:t>
            </a:r>
            <a:r>
              <a:rPr sz="1400" spc="35" dirty="0">
                <a:latin typeface="Gill Sans MT"/>
                <a:cs typeface="Gill Sans MT"/>
              </a:rPr>
              <a:t> </a:t>
            </a:r>
            <a:r>
              <a:rPr sz="1400" dirty="0">
                <a:latin typeface="Gill Sans MT"/>
                <a:cs typeface="Gill Sans MT"/>
              </a:rPr>
              <a:t>before</a:t>
            </a:r>
            <a:r>
              <a:rPr sz="1400" spc="30" dirty="0">
                <a:latin typeface="Gill Sans MT"/>
                <a:cs typeface="Gill Sans MT"/>
              </a:rPr>
              <a:t> </a:t>
            </a:r>
            <a:r>
              <a:rPr sz="1400" dirty="0">
                <a:latin typeface="Gill Sans MT"/>
                <a:cs typeface="Gill Sans MT"/>
              </a:rPr>
              <a:t>T</a:t>
            </a:r>
            <a:r>
              <a:rPr sz="1400" baseline="-20833" dirty="0">
                <a:latin typeface="Gill Sans MT"/>
                <a:cs typeface="Gill Sans MT"/>
              </a:rPr>
              <a:t>i</a:t>
            </a:r>
            <a:r>
              <a:rPr sz="1400" spc="217" baseline="-20833" dirty="0">
                <a:latin typeface="Gill Sans MT"/>
                <a:cs typeface="Gill Sans MT"/>
              </a:rPr>
              <a:t> </a:t>
            </a:r>
            <a:r>
              <a:rPr sz="1400" dirty="0">
                <a:latin typeface="Gill Sans MT"/>
                <a:cs typeface="Gill Sans MT"/>
              </a:rPr>
              <a:t>started</a:t>
            </a:r>
            <a:r>
              <a:rPr sz="1400" spc="10" dirty="0">
                <a:latin typeface="Gill Sans MT"/>
                <a:cs typeface="Gill Sans MT"/>
              </a:rPr>
              <a:t> </a:t>
            </a:r>
            <a:r>
              <a:rPr sz="1400" spc="-10" dirty="0">
                <a:latin typeface="Gill Sans MT"/>
                <a:cs typeface="Gill Sans MT"/>
              </a:rPr>
              <a:t>or</a:t>
            </a:r>
            <a:r>
              <a:rPr sz="1400" spc="50" dirty="0">
                <a:latin typeface="Gill Sans MT"/>
                <a:cs typeface="Gill Sans MT"/>
              </a:rPr>
              <a:t> </a:t>
            </a:r>
            <a:r>
              <a:rPr sz="1400" dirty="0">
                <a:latin typeface="Gill Sans MT"/>
                <a:cs typeface="Gill Sans MT"/>
              </a:rPr>
              <a:t>T</a:t>
            </a:r>
            <a:r>
              <a:rPr sz="1400" baseline="-20833" dirty="0">
                <a:latin typeface="Gill Sans MT"/>
                <a:cs typeface="Gill Sans MT"/>
              </a:rPr>
              <a:t>j</a:t>
            </a:r>
            <a:r>
              <a:rPr sz="1400" spc="202" baseline="-20833" dirty="0">
                <a:latin typeface="Gill Sans MT"/>
                <a:cs typeface="Gill Sans MT"/>
              </a:rPr>
              <a:t> </a:t>
            </a:r>
            <a:r>
              <a:rPr sz="1400" spc="-10" dirty="0">
                <a:latin typeface="Gill Sans MT"/>
                <a:cs typeface="Gill Sans MT"/>
              </a:rPr>
              <a:t>started </a:t>
            </a:r>
            <a:r>
              <a:rPr sz="1400" spc="10" dirty="0">
                <a:latin typeface="Gill Sans MT"/>
                <a:cs typeface="Gill Sans MT"/>
              </a:rPr>
              <a:t>execution</a:t>
            </a:r>
            <a:r>
              <a:rPr sz="1400" spc="30" dirty="0">
                <a:latin typeface="Gill Sans MT"/>
                <a:cs typeface="Gill Sans MT"/>
              </a:rPr>
              <a:t> </a:t>
            </a:r>
            <a:r>
              <a:rPr sz="1400" spc="10" dirty="0">
                <a:latin typeface="Gill Sans MT"/>
                <a:cs typeface="Gill Sans MT"/>
              </a:rPr>
              <a:t>after</a:t>
            </a:r>
            <a:r>
              <a:rPr sz="1400" spc="25" dirty="0">
                <a:latin typeface="Gill Sans MT"/>
                <a:cs typeface="Gill Sans MT"/>
              </a:rPr>
              <a:t> </a:t>
            </a:r>
            <a:r>
              <a:rPr sz="1400" spc="10" dirty="0">
                <a:latin typeface="Gill Sans MT"/>
                <a:cs typeface="Gill Sans MT"/>
              </a:rPr>
              <a:t>T</a:t>
            </a:r>
            <a:r>
              <a:rPr sz="1400" spc="15" baseline="-20833" dirty="0">
                <a:latin typeface="Gill Sans MT"/>
                <a:cs typeface="Gill Sans MT"/>
              </a:rPr>
              <a:t>i</a:t>
            </a:r>
            <a:r>
              <a:rPr sz="1400" spc="209" baseline="-20833" dirty="0">
                <a:latin typeface="Gill Sans MT"/>
                <a:cs typeface="Gill Sans MT"/>
              </a:rPr>
              <a:t> </a:t>
            </a:r>
            <a:r>
              <a:rPr sz="1400" spc="65" dirty="0">
                <a:latin typeface="Gill Sans MT"/>
                <a:cs typeface="Gill Sans MT"/>
              </a:rPr>
              <a:t>finished.</a:t>
            </a:r>
            <a:r>
              <a:rPr sz="1400" spc="25" dirty="0">
                <a:latin typeface="Gill Sans MT"/>
                <a:cs typeface="Gill Sans MT"/>
              </a:rPr>
              <a:t> </a:t>
            </a:r>
            <a:r>
              <a:rPr sz="1400" spc="10" dirty="0">
                <a:latin typeface="Gill Sans MT"/>
                <a:cs typeface="Gill Sans MT"/>
              </a:rPr>
              <a:t>Thus,</a:t>
            </a:r>
            <a:r>
              <a:rPr sz="1400" spc="35" dirty="0">
                <a:latin typeface="Gill Sans MT"/>
                <a:cs typeface="Gill Sans MT"/>
              </a:rPr>
              <a:t> </a:t>
            </a:r>
            <a:r>
              <a:rPr sz="1400" spc="85" dirty="0">
                <a:latin typeface="Gill Sans MT"/>
                <a:cs typeface="Gill Sans MT"/>
              </a:rPr>
              <a:t>each</a:t>
            </a:r>
            <a:r>
              <a:rPr sz="1400" spc="30" dirty="0">
                <a:latin typeface="Gill Sans MT"/>
                <a:cs typeface="Gill Sans MT"/>
              </a:rPr>
              <a:t> </a:t>
            </a:r>
            <a:r>
              <a:rPr sz="1400" spc="50" dirty="0">
                <a:latin typeface="Gill Sans MT"/>
                <a:cs typeface="Gill Sans MT"/>
              </a:rPr>
              <a:t>transaction</a:t>
            </a:r>
            <a:r>
              <a:rPr sz="1400" spc="25" dirty="0">
                <a:latin typeface="Gill Sans MT"/>
                <a:cs typeface="Gill Sans MT"/>
              </a:rPr>
              <a:t> </a:t>
            </a:r>
            <a:r>
              <a:rPr sz="1400" spc="85" dirty="0">
                <a:latin typeface="Gill Sans MT"/>
                <a:cs typeface="Gill Sans MT"/>
              </a:rPr>
              <a:t>is</a:t>
            </a:r>
            <a:r>
              <a:rPr sz="1400" spc="45" dirty="0">
                <a:latin typeface="Gill Sans MT"/>
                <a:cs typeface="Gill Sans MT"/>
              </a:rPr>
              <a:t> </a:t>
            </a:r>
            <a:r>
              <a:rPr sz="1400" spc="55" dirty="0">
                <a:latin typeface="Gill Sans MT"/>
                <a:cs typeface="Gill Sans MT"/>
              </a:rPr>
              <a:t>unaware</a:t>
            </a:r>
            <a:r>
              <a:rPr sz="1400" spc="35" dirty="0">
                <a:latin typeface="Gill Sans MT"/>
                <a:cs typeface="Gill Sans MT"/>
              </a:rPr>
              <a:t> </a:t>
            </a:r>
            <a:r>
              <a:rPr sz="1400" spc="65" dirty="0">
                <a:latin typeface="Gill Sans MT"/>
                <a:cs typeface="Gill Sans MT"/>
              </a:rPr>
              <a:t>of</a:t>
            </a:r>
            <a:r>
              <a:rPr sz="1400" spc="35" dirty="0">
                <a:latin typeface="Gill Sans MT"/>
                <a:cs typeface="Gill Sans MT"/>
              </a:rPr>
              <a:t> </a:t>
            </a:r>
            <a:r>
              <a:rPr sz="1400" spc="10" dirty="0">
                <a:latin typeface="Gill Sans MT"/>
                <a:cs typeface="Gill Sans MT"/>
              </a:rPr>
              <a:t>other</a:t>
            </a:r>
            <a:r>
              <a:rPr sz="1400" spc="25" dirty="0">
                <a:latin typeface="Gill Sans MT"/>
                <a:cs typeface="Gill Sans MT"/>
              </a:rPr>
              <a:t> </a:t>
            </a:r>
            <a:r>
              <a:rPr sz="1400" spc="60" dirty="0">
                <a:latin typeface="Gill Sans MT"/>
                <a:cs typeface="Gill Sans MT"/>
              </a:rPr>
              <a:t>transactions</a:t>
            </a:r>
            <a:r>
              <a:rPr sz="1400" spc="45" dirty="0">
                <a:latin typeface="Gill Sans MT"/>
                <a:cs typeface="Gill Sans MT"/>
              </a:rPr>
              <a:t> </a:t>
            </a:r>
            <a:r>
              <a:rPr sz="1400" spc="55" dirty="0">
                <a:latin typeface="Gill Sans MT"/>
                <a:cs typeface="Gill Sans MT"/>
              </a:rPr>
              <a:t>executing</a:t>
            </a:r>
            <a:r>
              <a:rPr sz="1400" spc="35" dirty="0">
                <a:latin typeface="Gill Sans MT"/>
                <a:cs typeface="Gill Sans MT"/>
              </a:rPr>
              <a:t> </a:t>
            </a:r>
            <a:r>
              <a:rPr sz="1400" spc="10" dirty="0">
                <a:latin typeface="Gill Sans MT"/>
                <a:cs typeface="Gill Sans MT"/>
              </a:rPr>
              <a:t>concurrently</a:t>
            </a:r>
            <a:r>
              <a:rPr sz="1400" spc="20" dirty="0">
                <a:latin typeface="Gill Sans MT"/>
                <a:cs typeface="Gill Sans MT"/>
              </a:rPr>
              <a:t> </a:t>
            </a:r>
            <a:r>
              <a:rPr sz="1400" spc="10" dirty="0">
                <a:latin typeface="Gill Sans MT"/>
                <a:cs typeface="Gill Sans MT"/>
              </a:rPr>
              <a:t>in</a:t>
            </a:r>
            <a:r>
              <a:rPr sz="1400" spc="30" dirty="0">
                <a:latin typeface="Gill Sans MT"/>
                <a:cs typeface="Gill Sans MT"/>
              </a:rPr>
              <a:t> </a:t>
            </a:r>
            <a:r>
              <a:rPr sz="1400" spc="10" dirty="0">
                <a:latin typeface="Gill Sans MT"/>
                <a:cs typeface="Gill Sans MT"/>
              </a:rPr>
              <a:t>the</a:t>
            </a:r>
            <a:r>
              <a:rPr sz="1400" spc="35" dirty="0">
                <a:latin typeface="Gill Sans MT"/>
                <a:cs typeface="Gill Sans MT"/>
              </a:rPr>
              <a:t> </a:t>
            </a:r>
            <a:r>
              <a:rPr sz="1400" spc="70" dirty="0">
                <a:latin typeface="Gill Sans MT"/>
                <a:cs typeface="Gill Sans MT"/>
              </a:rPr>
              <a:t>system.</a:t>
            </a:r>
            <a:endParaRPr sz="1400" dirty="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655"/>
              </a:spcBef>
              <a:buClr>
                <a:srgbClr val="FF8600"/>
              </a:buClr>
              <a:buFont typeface="Cambria Math"/>
              <a:buChar char="◗"/>
            </a:pPr>
            <a:endParaRPr sz="1400" dirty="0">
              <a:latin typeface="Gill Sans MT"/>
              <a:cs typeface="Gill Sans MT"/>
            </a:endParaRPr>
          </a:p>
          <a:p>
            <a:pPr marL="372745" marR="60325" indent="-309880">
              <a:lnSpc>
                <a:spcPct val="100000"/>
              </a:lnSpc>
              <a:buClr>
                <a:srgbClr val="FF8600"/>
              </a:buClr>
              <a:buSzPct val="129166"/>
              <a:buFont typeface="Cambria Math"/>
              <a:buChar char="◗"/>
              <a:tabLst>
                <a:tab pos="372745" algn="l"/>
              </a:tabLst>
            </a:pPr>
            <a:r>
              <a:rPr sz="1400" spc="10" dirty="0">
                <a:solidFill>
                  <a:srgbClr val="006FC0"/>
                </a:solidFill>
                <a:latin typeface="Gill Sans MT"/>
                <a:cs typeface="Gill Sans MT"/>
              </a:rPr>
              <a:t>Durability</a:t>
            </a:r>
            <a:r>
              <a:rPr sz="1400" spc="-15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400" spc="185" dirty="0">
                <a:solidFill>
                  <a:srgbClr val="006FC0"/>
                </a:solidFill>
                <a:latin typeface="Gill Sans MT"/>
                <a:cs typeface="Gill Sans MT"/>
              </a:rPr>
              <a:t>–</a:t>
            </a:r>
            <a:r>
              <a:rPr sz="1400" spc="-10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400" spc="10" dirty="0">
                <a:latin typeface="Gill Sans MT"/>
                <a:cs typeface="Gill Sans MT"/>
              </a:rPr>
              <a:t>After</a:t>
            </a:r>
            <a:r>
              <a:rPr sz="1400" spc="-10" dirty="0">
                <a:latin typeface="Gill Sans MT"/>
                <a:cs typeface="Gill Sans MT"/>
              </a:rPr>
              <a:t> </a:t>
            </a:r>
            <a:r>
              <a:rPr sz="1400" spc="135" dirty="0">
                <a:latin typeface="Gill Sans MT"/>
                <a:cs typeface="Gill Sans MT"/>
              </a:rPr>
              <a:t>a</a:t>
            </a:r>
            <a:r>
              <a:rPr sz="1400" spc="-10" dirty="0">
                <a:latin typeface="Gill Sans MT"/>
                <a:cs typeface="Gill Sans MT"/>
              </a:rPr>
              <a:t> </a:t>
            </a:r>
            <a:r>
              <a:rPr sz="1400" spc="50" dirty="0">
                <a:latin typeface="Gill Sans MT"/>
                <a:cs typeface="Gill Sans MT"/>
              </a:rPr>
              <a:t>transaction</a:t>
            </a:r>
            <a:r>
              <a:rPr sz="1400" spc="-15" dirty="0">
                <a:latin typeface="Gill Sans MT"/>
                <a:cs typeface="Gill Sans MT"/>
              </a:rPr>
              <a:t> </a:t>
            </a:r>
            <a:r>
              <a:rPr sz="1400" spc="60" dirty="0">
                <a:latin typeface="Gill Sans MT"/>
                <a:cs typeface="Gill Sans MT"/>
              </a:rPr>
              <a:t>completes</a:t>
            </a:r>
            <a:r>
              <a:rPr sz="1400" spc="5" dirty="0">
                <a:latin typeface="Gill Sans MT"/>
                <a:cs typeface="Gill Sans MT"/>
              </a:rPr>
              <a:t> </a:t>
            </a:r>
            <a:r>
              <a:rPr sz="1400" spc="75" dirty="0">
                <a:latin typeface="Gill Sans MT"/>
                <a:cs typeface="Gill Sans MT"/>
              </a:rPr>
              <a:t>successfully,</a:t>
            </a:r>
            <a:r>
              <a:rPr sz="1400" dirty="0">
                <a:latin typeface="Gill Sans MT"/>
                <a:cs typeface="Gill Sans MT"/>
              </a:rPr>
              <a:t> </a:t>
            </a:r>
            <a:r>
              <a:rPr sz="1400" spc="10" dirty="0">
                <a:latin typeface="Gill Sans MT"/>
                <a:cs typeface="Gill Sans MT"/>
              </a:rPr>
              <a:t>the</a:t>
            </a:r>
            <a:r>
              <a:rPr sz="1400" dirty="0">
                <a:latin typeface="Gill Sans MT"/>
                <a:cs typeface="Gill Sans MT"/>
              </a:rPr>
              <a:t> </a:t>
            </a:r>
            <a:r>
              <a:rPr sz="1400" spc="100" dirty="0">
                <a:latin typeface="Gill Sans MT"/>
                <a:cs typeface="Gill Sans MT"/>
              </a:rPr>
              <a:t>changes</a:t>
            </a:r>
            <a:r>
              <a:rPr sz="1400" spc="10" dirty="0">
                <a:latin typeface="Gill Sans MT"/>
                <a:cs typeface="Gill Sans MT"/>
              </a:rPr>
              <a:t> it</a:t>
            </a:r>
            <a:r>
              <a:rPr sz="1400" spc="-5" dirty="0">
                <a:latin typeface="Gill Sans MT"/>
                <a:cs typeface="Gill Sans MT"/>
              </a:rPr>
              <a:t> </a:t>
            </a:r>
            <a:r>
              <a:rPr sz="1400" spc="110" dirty="0">
                <a:latin typeface="Gill Sans MT"/>
                <a:cs typeface="Gill Sans MT"/>
              </a:rPr>
              <a:t>has</a:t>
            </a:r>
            <a:r>
              <a:rPr sz="1400" dirty="0">
                <a:latin typeface="Gill Sans MT"/>
                <a:cs typeface="Gill Sans MT"/>
              </a:rPr>
              <a:t> </a:t>
            </a:r>
            <a:r>
              <a:rPr sz="1400" spc="90" dirty="0">
                <a:latin typeface="Gill Sans MT"/>
                <a:cs typeface="Gill Sans MT"/>
              </a:rPr>
              <a:t>made</a:t>
            </a:r>
            <a:r>
              <a:rPr sz="1400" spc="-5" dirty="0">
                <a:latin typeface="Gill Sans MT"/>
                <a:cs typeface="Gill Sans MT"/>
              </a:rPr>
              <a:t> </a:t>
            </a:r>
            <a:r>
              <a:rPr sz="1400" spc="10" dirty="0">
                <a:latin typeface="Gill Sans MT"/>
                <a:cs typeface="Gill Sans MT"/>
              </a:rPr>
              <a:t>to</a:t>
            </a:r>
            <a:r>
              <a:rPr sz="1400" dirty="0">
                <a:latin typeface="Gill Sans MT"/>
                <a:cs typeface="Gill Sans MT"/>
              </a:rPr>
              <a:t> </a:t>
            </a:r>
            <a:r>
              <a:rPr sz="1400" spc="10" dirty="0">
                <a:latin typeface="Gill Sans MT"/>
                <a:cs typeface="Gill Sans MT"/>
              </a:rPr>
              <a:t>the</a:t>
            </a:r>
            <a:r>
              <a:rPr sz="1400" spc="-5" dirty="0">
                <a:latin typeface="Gill Sans MT"/>
                <a:cs typeface="Gill Sans MT"/>
              </a:rPr>
              <a:t> </a:t>
            </a:r>
            <a:r>
              <a:rPr sz="1400" spc="90" dirty="0">
                <a:latin typeface="Gill Sans MT"/>
                <a:cs typeface="Gill Sans MT"/>
              </a:rPr>
              <a:t>database</a:t>
            </a:r>
            <a:r>
              <a:rPr sz="1400" spc="-5" dirty="0">
                <a:latin typeface="Gill Sans MT"/>
                <a:cs typeface="Gill Sans MT"/>
              </a:rPr>
              <a:t> </a:t>
            </a:r>
            <a:r>
              <a:rPr sz="1400" spc="10" dirty="0">
                <a:latin typeface="Gill Sans MT"/>
                <a:cs typeface="Gill Sans MT"/>
              </a:rPr>
              <a:t>persist,</a:t>
            </a:r>
            <a:r>
              <a:rPr sz="1400" spc="-5" dirty="0">
                <a:latin typeface="Gill Sans MT"/>
                <a:cs typeface="Gill Sans MT"/>
              </a:rPr>
              <a:t> </a:t>
            </a:r>
            <a:r>
              <a:rPr sz="1400" spc="50" dirty="0">
                <a:latin typeface="Gill Sans MT"/>
                <a:cs typeface="Gill Sans MT"/>
              </a:rPr>
              <a:t>even</a:t>
            </a:r>
            <a:r>
              <a:rPr sz="1400" spc="10" dirty="0">
                <a:latin typeface="Gill Sans MT"/>
                <a:cs typeface="Gill Sans MT"/>
              </a:rPr>
              <a:t> </a:t>
            </a:r>
            <a:r>
              <a:rPr sz="1400" spc="65" dirty="0">
                <a:latin typeface="Gill Sans MT"/>
                <a:cs typeface="Gill Sans MT"/>
              </a:rPr>
              <a:t>if</a:t>
            </a:r>
            <a:r>
              <a:rPr sz="1400" spc="5" dirty="0">
                <a:latin typeface="Gill Sans MT"/>
                <a:cs typeface="Gill Sans MT"/>
              </a:rPr>
              <a:t> </a:t>
            </a:r>
            <a:r>
              <a:rPr sz="1400" spc="10" dirty="0">
                <a:latin typeface="Gill Sans MT"/>
                <a:cs typeface="Gill Sans MT"/>
              </a:rPr>
              <a:t>there</a:t>
            </a:r>
            <a:r>
              <a:rPr sz="1400" spc="-10" dirty="0">
                <a:latin typeface="Gill Sans MT"/>
                <a:cs typeface="Gill Sans MT"/>
              </a:rPr>
              <a:t> </a:t>
            </a:r>
            <a:r>
              <a:rPr sz="1400" spc="-25" dirty="0">
                <a:latin typeface="Gill Sans MT"/>
                <a:cs typeface="Gill Sans MT"/>
              </a:rPr>
              <a:t>are </a:t>
            </a:r>
            <a:r>
              <a:rPr sz="1400" spc="80" dirty="0">
                <a:latin typeface="Gill Sans MT"/>
                <a:cs typeface="Gill Sans MT"/>
              </a:rPr>
              <a:t>system</a:t>
            </a:r>
            <a:r>
              <a:rPr sz="1400" spc="-20" dirty="0">
                <a:latin typeface="Gill Sans MT"/>
                <a:cs typeface="Gill Sans MT"/>
              </a:rPr>
              <a:t> </a:t>
            </a:r>
            <a:r>
              <a:rPr sz="1400" spc="50" dirty="0">
                <a:latin typeface="Gill Sans MT"/>
                <a:cs typeface="Gill Sans MT"/>
              </a:rPr>
              <a:t>failures.</a:t>
            </a:r>
            <a:endParaRPr sz="1400" dirty="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0" dirty="0">
                <a:solidFill>
                  <a:srgbClr val="FFFFFF"/>
                </a:solidFill>
                <a:latin typeface="Gill Sans MT"/>
                <a:cs typeface="Gill Sans MT"/>
              </a:rPr>
              <a:t>3</a:t>
            </a:r>
            <a:endParaRPr sz="13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3944" y="447243"/>
            <a:ext cx="21323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5" dirty="0"/>
              <a:t>Transaction</a:t>
            </a:r>
            <a:r>
              <a:rPr spc="-200" dirty="0"/>
              <a:t> </a:t>
            </a:r>
            <a:r>
              <a:rPr spc="-145" dirty="0"/>
              <a:t>Model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0882" y="1047750"/>
            <a:ext cx="8501380" cy="38882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045" marR="143510" indent="-309880">
              <a:lnSpc>
                <a:spcPct val="100000"/>
              </a:lnSpc>
              <a:spcBef>
                <a:spcPts val="100"/>
              </a:spcBef>
              <a:buClr>
                <a:srgbClr val="FF8600"/>
              </a:buClr>
              <a:buSzPct val="129166"/>
              <a:buFont typeface="Cambria Math"/>
              <a:buChar char="◗"/>
              <a:tabLst>
                <a:tab pos="360045" algn="l"/>
              </a:tabLst>
            </a:pPr>
            <a:r>
              <a:rPr sz="1300" spc="65" dirty="0">
                <a:latin typeface="Gill Sans MT"/>
                <a:cs typeface="Gill Sans MT"/>
              </a:rPr>
              <a:t>As</a:t>
            </a:r>
            <a:r>
              <a:rPr sz="1300" spc="20" dirty="0">
                <a:latin typeface="Gill Sans MT"/>
                <a:cs typeface="Gill Sans MT"/>
              </a:rPr>
              <a:t> </a:t>
            </a:r>
            <a:r>
              <a:rPr sz="1300" spc="10" dirty="0">
                <a:latin typeface="Gill Sans MT"/>
                <a:cs typeface="Gill Sans MT"/>
              </a:rPr>
              <a:t>SQL</a:t>
            </a:r>
            <a:r>
              <a:rPr sz="1300" spc="5" dirty="0">
                <a:latin typeface="Gill Sans MT"/>
                <a:cs typeface="Gill Sans MT"/>
              </a:rPr>
              <a:t> </a:t>
            </a:r>
            <a:r>
              <a:rPr sz="1300" spc="85" dirty="0">
                <a:latin typeface="Gill Sans MT"/>
                <a:cs typeface="Gill Sans MT"/>
              </a:rPr>
              <a:t>is</a:t>
            </a:r>
            <a:r>
              <a:rPr sz="1300" dirty="0">
                <a:latin typeface="Gill Sans MT"/>
                <a:cs typeface="Gill Sans MT"/>
              </a:rPr>
              <a:t> </a:t>
            </a:r>
            <a:r>
              <a:rPr sz="1300" spc="135" dirty="0">
                <a:latin typeface="Gill Sans MT"/>
                <a:cs typeface="Gill Sans MT"/>
              </a:rPr>
              <a:t>a</a:t>
            </a:r>
            <a:r>
              <a:rPr sz="1300" dirty="0">
                <a:latin typeface="Gill Sans MT"/>
                <a:cs typeface="Gill Sans MT"/>
              </a:rPr>
              <a:t> </a:t>
            </a:r>
            <a:r>
              <a:rPr sz="1300" spc="10" dirty="0">
                <a:latin typeface="Gill Sans MT"/>
                <a:cs typeface="Gill Sans MT"/>
              </a:rPr>
              <a:t>powerful</a:t>
            </a:r>
            <a:r>
              <a:rPr sz="1300" dirty="0">
                <a:latin typeface="Gill Sans MT"/>
                <a:cs typeface="Gill Sans MT"/>
              </a:rPr>
              <a:t> </a:t>
            </a:r>
            <a:r>
              <a:rPr sz="1300" spc="80" dirty="0">
                <a:latin typeface="Gill Sans MT"/>
                <a:cs typeface="Gill Sans MT"/>
              </a:rPr>
              <a:t>and</a:t>
            </a:r>
            <a:r>
              <a:rPr sz="1300" spc="-10" dirty="0">
                <a:latin typeface="Gill Sans MT"/>
                <a:cs typeface="Gill Sans MT"/>
              </a:rPr>
              <a:t> </a:t>
            </a:r>
            <a:r>
              <a:rPr sz="1300" spc="50" dirty="0">
                <a:latin typeface="Gill Sans MT"/>
                <a:cs typeface="Gill Sans MT"/>
              </a:rPr>
              <a:t>complex</a:t>
            </a:r>
            <a:r>
              <a:rPr sz="1300" spc="25" dirty="0">
                <a:latin typeface="Gill Sans MT"/>
                <a:cs typeface="Gill Sans MT"/>
              </a:rPr>
              <a:t> </a:t>
            </a:r>
            <a:r>
              <a:rPr sz="1300" spc="80" dirty="0">
                <a:latin typeface="Gill Sans MT"/>
                <a:cs typeface="Gill Sans MT"/>
              </a:rPr>
              <a:t>language,</a:t>
            </a:r>
            <a:r>
              <a:rPr sz="1300" spc="15" dirty="0">
                <a:latin typeface="Gill Sans MT"/>
                <a:cs typeface="Gill Sans MT"/>
              </a:rPr>
              <a:t> </a:t>
            </a:r>
            <a:r>
              <a:rPr sz="1300" spc="10" dirty="0">
                <a:latin typeface="Gill Sans MT"/>
                <a:cs typeface="Gill Sans MT"/>
              </a:rPr>
              <a:t>we</a:t>
            </a:r>
            <a:r>
              <a:rPr sz="1300" dirty="0">
                <a:latin typeface="Gill Sans MT"/>
                <a:cs typeface="Gill Sans MT"/>
              </a:rPr>
              <a:t> </a:t>
            </a:r>
            <a:r>
              <a:rPr sz="1300" spc="70" dirty="0">
                <a:latin typeface="Gill Sans MT"/>
                <a:cs typeface="Gill Sans MT"/>
              </a:rPr>
              <a:t>begin</a:t>
            </a:r>
            <a:r>
              <a:rPr sz="1300" spc="15" dirty="0">
                <a:latin typeface="Gill Sans MT"/>
                <a:cs typeface="Gill Sans MT"/>
              </a:rPr>
              <a:t> </a:t>
            </a:r>
            <a:r>
              <a:rPr sz="1300" spc="10" dirty="0">
                <a:latin typeface="Gill Sans MT"/>
                <a:cs typeface="Gill Sans MT"/>
              </a:rPr>
              <a:t>with</a:t>
            </a:r>
            <a:r>
              <a:rPr sz="1300" spc="-15" dirty="0">
                <a:latin typeface="Gill Sans MT"/>
                <a:cs typeface="Gill Sans MT"/>
              </a:rPr>
              <a:t> </a:t>
            </a:r>
            <a:r>
              <a:rPr sz="1300" spc="135" dirty="0">
                <a:latin typeface="Gill Sans MT"/>
                <a:cs typeface="Gill Sans MT"/>
              </a:rPr>
              <a:t>a</a:t>
            </a:r>
            <a:r>
              <a:rPr sz="1300" spc="-5" dirty="0">
                <a:latin typeface="Gill Sans MT"/>
                <a:cs typeface="Gill Sans MT"/>
              </a:rPr>
              <a:t> </a:t>
            </a:r>
            <a:r>
              <a:rPr sz="1300" spc="70" dirty="0">
                <a:latin typeface="Gill Sans MT"/>
                <a:cs typeface="Gill Sans MT"/>
              </a:rPr>
              <a:t>simple</a:t>
            </a:r>
            <a:r>
              <a:rPr sz="1300" spc="-5" dirty="0">
                <a:latin typeface="Gill Sans MT"/>
                <a:cs typeface="Gill Sans MT"/>
              </a:rPr>
              <a:t> </a:t>
            </a:r>
            <a:r>
              <a:rPr sz="1300" spc="90" dirty="0">
                <a:latin typeface="Gill Sans MT"/>
                <a:cs typeface="Gill Sans MT"/>
              </a:rPr>
              <a:t>database</a:t>
            </a:r>
            <a:r>
              <a:rPr sz="1300" spc="20" dirty="0">
                <a:latin typeface="Gill Sans MT"/>
                <a:cs typeface="Gill Sans MT"/>
              </a:rPr>
              <a:t> </a:t>
            </a:r>
            <a:r>
              <a:rPr sz="1300" spc="90" dirty="0">
                <a:latin typeface="Gill Sans MT"/>
                <a:cs typeface="Gill Sans MT"/>
              </a:rPr>
              <a:t>language</a:t>
            </a:r>
            <a:r>
              <a:rPr sz="1300" spc="15" dirty="0">
                <a:latin typeface="Gill Sans MT"/>
                <a:cs typeface="Gill Sans MT"/>
              </a:rPr>
              <a:t> </a:t>
            </a:r>
            <a:r>
              <a:rPr sz="1300" spc="10" dirty="0">
                <a:latin typeface="Gill Sans MT"/>
                <a:cs typeface="Gill Sans MT"/>
              </a:rPr>
              <a:t>that</a:t>
            </a:r>
            <a:r>
              <a:rPr sz="1300" spc="-10" dirty="0">
                <a:latin typeface="Gill Sans MT"/>
                <a:cs typeface="Gill Sans MT"/>
              </a:rPr>
              <a:t> </a:t>
            </a:r>
            <a:r>
              <a:rPr sz="1300" spc="95" dirty="0">
                <a:latin typeface="Gill Sans MT"/>
                <a:cs typeface="Gill Sans MT"/>
              </a:rPr>
              <a:t>focuses</a:t>
            </a:r>
            <a:r>
              <a:rPr sz="1300" spc="5" dirty="0">
                <a:latin typeface="Gill Sans MT"/>
                <a:cs typeface="Gill Sans MT"/>
              </a:rPr>
              <a:t> </a:t>
            </a:r>
            <a:r>
              <a:rPr sz="1300" spc="10" dirty="0">
                <a:latin typeface="Gill Sans MT"/>
                <a:cs typeface="Gill Sans MT"/>
              </a:rPr>
              <a:t>on</a:t>
            </a:r>
            <a:r>
              <a:rPr sz="1300" spc="15" dirty="0">
                <a:latin typeface="Gill Sans MT"/>
                <a:cs typeface="Gill Sans MT"/>
              </a:rPr>
              <a:t> </a:t>
            </a:r>
            <a:r>
              <a:rPr sz="1300" spc="50" dirty="0">
                <a:latin typeface="Gill Sans MT"/>
                <a:cs typeface="Gill Sans MT"/>
              </a:rPr>
              <a:t>when</a:t>
            </a:r>
            <a:r>
              <a:rPr sz="1300" spc="-5" dirty="0">
                <a:latin typeface="Gill Sans MT"/>
                <a:cs typeface="Gill Sans MT"/>
              </a:rPr>
              <a:t> </a:t>
            </a:r>
            <a:r>
              <a:rPr sz="1300" spc="10" dirty="0">
                <a:latin typeface="Gill Sans MT"/>
                <a:cs typeface="Gill Sans MT"/>
              </a:rPr>
              <a:t>the</a:t>
            </a:r>
            <a:r>
              <a:rPr sz="1300" spc="-5" dirty="0">
                <a:latin typeface="Gill Sans MT"/>
                <a:cs typeface="Gill Sans MT"/>
              </a:rPr>
              <a:t> </a:t>
            </a:r>
            <a:r>
              <a:rPr sz="1300" spc="55" dirty="0">
                <a:latin typeface="Gill Sans MT"/>
                <a:cs typeface="Gill Sans MT"/>
              </a:rPr>
              <a:t>data </a:t>
            </a:r>
            <a:r>
              <a:rPr sz="1300" dirty="0">
                <a:latin typeface="Gill Sans MT"/>
                <a:cs typeface="Gill Sans MT"/>
              </a:rPr>
              <a:t>are</a:t>
            </a:r>
            <a:r>
              <a:rPr sz="1300" spc="55" dirty="0">
                <a:latin typeface="Gill Sans MT"/>
                <a:cs typeface="Gill Sans MT"/>
              </a:rPr>
              <a:t> moved</a:t>
            </a:r>
            <a:r>
              <a:rPr sz="1300" spc="70" dirty="0">
                <a:latin typeface="Gill Sans MT"/>
                <a:cs typeface="Gill Sans MT"/>
              </a:rPr>
              <a:t> </a:t>
            </a:r>
            <a:r>
              <a:rPr sz="1300" dirty="0">
                <a:latin typeface="Gill Sans MT"/>
                <a:cs typeface="Gill Sans MT"/>
              </a:rPr>
              <a:t>from</a:t>
            </a:r>
            <a:r>
              <a:rPr sz="1300" spc="30" dirty="0">
                <a:latin typeface="Gill Sans MT"/>
                <a:cs typeface="Gill Sans MT"/>
              </a:rPr>
              <a:t> </a:t>
            </a:r>
            <a:r>
              <a:rPr sz="1300" spc="60" dirty="0">
                <a:latin typeface="Gill Sans MT"/>
                <a:cs typeface="Gill Sans MT"/>
              </a:rPr>
              <a:t>disk</a:t>
            </a:r>
            <a:r>
              <a:rPr sz="1300" spc="80" dirty="0">
                <a:latin typeface="Gill Sans MT"/>
                <a:cs typeface="Gill Sans MT"/>
              </a:rPr>
              <a:t> </a:t>
            </a:r>
            <a:r>
              <a:rPr sz="1300" dirty="0">
                <a:latin typeface="Gill Sans MT"/>
                <a:cs typeface="Gill Sans MT"/>
              </a:rPr>
              <a:t>to</a:t>
            </a:r>
            <a:r>
              <a:rPr sz="1300" spc="40" dirty="0">
                <a:latin typeface="Gill Sans MT"/>
                <a:cs typeface="Gill Sans MT"/>
              </a:rPr>
              <a:t> </a:t>
            </a:r>
            <a:r>
              <a:rPr sz="1300" spc="80" dirty="0">
                <a:latin typeface="Gill Sans MT"/>
                <a:cs typeface="Gill Sans MT"/>
              </a:rPr>
              <a:t>main</a:t>
            </a:r>
            <a:r>
              <a:rPr sz="1300" spc="50" dirty="0">
                <a:latin typeface="Gill Sans MT"/>
                <a:cs typeface="Gill Sans MT"/>
              </a:rPr>
              <a:t> </a:t>
            </a:r>
            <a:r>
              <a:rPr sz="1300" dirty="0">
                <a:latin typeface="Gill Sans MT"/>
                <a:cs typeface="Gill Sans MT"/>
              </a:rPr>
              <a:t>memory</a:t>
            </a:r>
            <a:r>
              <a:rPr sz="1300" spc="40" dirty="0">
                <a:latin typeface="Gill Sans MT"/>
                <a:cs typeface="Gill Sans MT"/>
              </a:rPr>
              <a:t> </a:t>
            </a:r>
            <a:r>
              <a:rPr sz="1300" spc="80" dirty="0">
                <a:latin typeface="Gill Sans MT"/>
                <a:cs typeface="Gill Sans MT"/>
              </a:rPr>
              <a:t>and</a:t>
            </a:r>
            <a:r>
              <a:rPr sz="1300" spc="50" dirty="0">
                <a:latin typeface="Gill Sans MT"/>
                <a:cs typeface="Gill Sans MT"/>
              </a:rPr>
              <a:t> </a:t>
            </a:r>
            <a:r>
              <a:rPr sz="1300" dirty="0">
                <a:latin typeface="Gill Sans MT"/>
                <a:cs typeface="Gill Sans MT"/>
              </a:rPr>
              <a:t>from</a:t>
            </a:r>
            <a:r>
              <a:rPr sz="1300" spc="50" dirty="0">
                <a:latin typeface="Gill Sans MT"/>
                <a:cs typeface="Gill Sans MT"/>
              </a:rPr>
              <a:t> </a:t>
            </a:r>
            <a:r>
              <a:rPr sz="1300" spc="80" dirty="0">
                <a:latin typeface="Gill Sans MT"/>
                <a:cs typeface="Gill Sans MT"/>
              </a:rPr>
              <a:t>main</a:t>
            </a:r>
            <a:r>
              <a:rPr sz="1300" spc="55" dirty="0">
                <a:latin typeface="Gill Sans MT"/>
                <a:cs typeface="Gill Sans MT"/>
              </a:rPr>
              <a:t> </a:t>
            </a:r>
            <a:r>
              <a:rPr sz="1300" dirty="0">
                <a:latin typeface="Gill Sans MT"/>
                <a:cs typeface="Gill Sans MT"/>
              </a:rPr>
              <a:t>memory</a:t>
            </a:r>
            <a:r>
              <a:rPr sz="1300" spc="25" dirty="0">
                <a:latin typeface="Gill Sans MT"/>
                <a:cs typeface="Gill Sans MT"/>
              </a:rPr>
              <a:t> </a:t>
            </a:r>
            <a:r>
              <a:rPr sz="1300" dirty="0">
                <a:latin typeface="Gill Sans MT"/>
                <a:cs typeface="Gill Sans MT"/>
              </a:rPr>
              <a:t>to</a:t>
            </a:r>
            <a:r>
              <a:rPr sz="1300" spc="50" dirty="0">
                <a:latin typeface="Gill Sans MT"/>
                <a:cs typeface="Gill Sans MT"/>
              </a:rPr>
              <a:t> disk.</a:t>
            </a:r>
            <a:endParaRPr sz="1300" dirty="0">
              <a:latin typeface="Gill Sans MT"/>
              <a:cs typeface="Gill Sans MT"/>
            </a:endParaRPr>
          </a:p>
          <a:p>
            <a:pPr marL="360045" marR="64769" indent="-309880">
              <a:lnSpc>
                <a:spcPct val="100000"/>
              </a:lnSpc>
              <a:spcBef>
                <a:spcPts val="600"/>
              </a:spcBef>
              <a:buClr>
                <a:srgbClr val="FF8600"/>
              </a:buClr>
              <a:buSzPct val="129166"/>
              <a:buFont typeface="Cambria Math"/>
              <a:buChar char="◗"/>
              <a:tabLst>
                <a:tab pos="360045" algn="l"/>
              </a:tabLst>
            </a:pPr>
            <a:r>
              <a:rPr sz="1300" dirty="0">
                <a:latin typeface="Gill Sans MT"/>
                <a:cs typeface="Gill Sans MT"/>
              </a:rPr>
              <a:t>The</a:t>
            </a:r>
            <a:r>
              <a:rPr sz="1300" spc="5" dirty="0">
                <a:latin typeface="Gill Sans MT"/>
                <a:cs typeface="Gill Sans MT"/>
              </a:rPr>
              <a:t> </a:t>
            </a:r>
            <a:r>
              <a:rPr sz="1300" spc="75" dirty="0">
                <a:latin typeface="Gill Sans MT"/>
                <a:cs typeface="Gill Sans MT"/>
              </a:rPr>
              <a:t>data</a:t>
            </a:r>
            <a:r>
              <a:rPr sz="1300" dirty="0">
                <a:latin typeface="Gill Sans MT"/>
                <a:cs typeface="Gill Sans MT"/>
              </a:rPr>
              <a:t> </a:t>
            </a:r>
            <a:r>
              <a:rPr sz="1300" spc="65" dirty="0">
                <a:latin typeface="Gill Sans MT"/>
                <a:cs typeface="Gill Sans MT"/>
              </a:rPr>
              <a:t>items</a:t>
            </a:r>
            <a:r>
              <a:rPr sz="1300" spc="5" dirty="0">
                <a:latin typeface="Gill Sans MT"/>
                <a:cs typeface="Gill Sans MT"/>
              </a:rPr>
              <a:t> </a:t>
            </a:r>
            <a:r>
              <a:rPr sz="1300" dirty="0">
                <a:latin typeface="Gill Sans MT"/>
                <a:cs typeface="Gill Sans MT"/>
              </a:rPr>
              <a:t>in</a:t>
            </a:r>
            <a:r>
              <a:rPr sz="1300" spc="5" dirty="0">
                <a:latin typeface="Gill Sans MT"/>
                <a:cs typeface="Gill Sans MT"/>
              </a:rPr>
              <a:t> </a:t>
            </a:r>
            <a:r>
              <a:rPr sz="1300" dirty="0">
                <a:latin typeface="Gill Sans MT"/>
                <a:cs typeface="Gill Sans MT"/>
              </a:rPr>
              <a:t>our</a:t>
            </a:r>
            <a:r>
              <a:rPr sz="1300" spc="15" dirty="0">
                <a:latin typeface="Gill Sans MT"/>
                <a:cs typeface="Gill Sans MT"/>
              </a:rPr>
              <a:t> </a:t>
            </a:r>
            <a:r>
              <a:rPr sz="1300" spc="65" dirty="0">
                <a:latin typeface="Gill Sans MT"/>
                <a:cs typeface="Gill Sans MT"/>
              </a:rPr>
              <a:t>simplified</a:t>
            </a:r>
            <a:r>
              <a:rPr sz="1300" spc="-10" dirty="0">
                <a:latin typeface="Gill Sans MT"/>
                <a:cs typeface="Gill Sans MT"/>
              </a:rPr>
              <a:t> </a:t>
            </a:r>
            <a:r>
              <a:rPr sz="1300" spc="55" dirty="0">
                <a:latin typeface="Gill Sans MT"/>
                <a:cs typeface="Gill Sans MT"/>
              </a:rPr>
              <a:t>model</a:t>
            </a:r>
            <a:r>
              <a:rPr sz="1300" spc="10" dirty="0">
                <a:latin typeface="Gill Sans MT"/>
                <a:cs typeface="Gill Sans MT"/>
              </a:rPr>
              <a:t> </a:t>
            </a:r>
            <a:r>
              <a:rPr sz="1300" spc="50" dirty="0">
                <a:latin typeface="Gill Sans MT"/>
                <a:cs typeface="Gill Sans MT"/>
              </a:rPr>
              <a:t>contain</a:t>
            </a:r>
            <a:r>
              <a:rPr sz="1300" spc="5" dirty="0">
                <a:latin typeface="Gill Sans MT"/>
                <a:cs typeface="Gill Sans MT"/>
              </a:rPr>
              <a:t> </a:t>
            </a:r>
            <a:r>
              <a:rPr sz="1300" spc="135" dirty="0">
                <a:latin typeface="Gill Sans MT"/>
                <a:cs typeface="Gill Sans MT"/>
              </a:rPr>
              <a:t>a</a:t>
            </a:r>
            <a:r>
              <a:rPr sz="1300" spc="5" dirty="0">
                <a:latin typeface="Gill Sans MT"/>
                <a:cs typeface="Gill Sans MT"/>
              </a:rPr>
              <a:t> </a:t>
            </a:r>
            <a:r>
              <a:rPr sz="1300" spc="75" dirty="0">
                <a:latin typeface="Gill Sans MT"/>
                <a:cs typeface="Gill Sans MT"/>
              </a:rPr>
              <a:t>single</a:t>
            </a:r>
            <a:r>
              <a:rPr sz="1300" spc="25" dirty="0">
                <a:latin typeface="Gill Sans MT"/>
                <a:cs typeface="Gill Sans MT"/>
              </a:rPr>
              <a:t> </a:t>
            </a:r>
            <a:r>
              <a:rPr sz="1300" spc="75" dirty="0">
                <a:latin typeface="Gill Sans MT"/>
                <a:cs typeface="Gill Sans MT"/>
              </a:rPr>
              <a:t>data</a:t>
            </a:r>
            <a:r>
              <a:rPr sz="1300" dirty="0">
                <a:latin typeface="Gill Sans MT"/>
                <a:cs typeface="Gill Sans MT"/>
              </a:rPr>
              <a:t> </a:t>
            </a:r>
            <a:r>
              <a:rPr sz="1300" spc="60" dirty="0">
                <a:latin typeface="Gill Sans MT"/>
                <a:cs typeface="Gill Sans MT"/>
              </a:rPr>
              <a:t>value</a:t>
            </a:r>
            <a:r>
              <a:rPr sz="1300" spc="25" dirty="0">
                <a:latin typeface="Gill Sans MT"/>
                <a:cs typeface="Gill Sans MT"/>
              </a:rPr>
              <a:t> </a:t>
            </a:r>
            <a:r>
              <a:rPr sz="1300" spc="80" dirty="0">
                <a:latin typeface="Gill Sans MT"/>
                <a:cs typeface="Gill Sans MT"/>
              </a:rPr>
              <a:t>and</a:t>
            </a:r>
            <a:r>
              <a:rPr sz="1300" spc="20" dirty="0">
                <a:latin typeface="Gill Sans MT"/>
                <a:cs typeface="Gill Sans MT"/>
              </a:rPr>
              <a:t> </a:t>
            </a:r>
            <a:r>
              <a:rPr sz="1300" spc="85" dirty="0">
                <a:latin typeface="Gill Sans MT"/>
                <a:cs typeface="Gill Sans MT"/>
              </a:rPr>
              <a:t>each</a:t>
            </a:r>
            <a:r>
              <a:rPr sz="1300" spc="25" dirty="0">
                <a:latin typeface="Gill Sans MT"/>
                <a:cs typeface="Gill Sans MT"/>
              </a:rPr>
              <a:t> </a:t>
            </a:r>
            <a:r>
              <a:rPr sz="1300" spc="75" dirty="0">
                <a:latin typeface="Gill Sans MT"/>
                <a:cs typeface="Gill Sans MT"/>
              </a:rPr>
              <a:t>data</a:t>
            </a:r>
            <a:r>
              <a:rPr sz="1300" spc="-10" dirty="0">
                <a:latin typeface="Gill Sans MT"/>
                <a:cs typeface="Gill Sans MT"/>
              </a:rPr>
              <a:t> </a:t>
            </a:r>
            <a:r>
              <a:rPr sz="1300" dirty="0">
                <a:latin typeface="Gill Sans MT"/>
                <a:cs typeface="Gill Sans MT"/>
              </a:rPr>
              <a:t>item</a:t>
            </a:r>
            <a:r>
              <a:rPr sz="1300" spc="5" dirty="0">
                <a:latin typeface="Gill Sans MT"/>
                <a:cs typeface="Gill Sans MT"/>
              </a:rPr>
              <a:t> </a:t>
            </a:r>
            <a:r>
              <a:rPr sz="1300" spc="85" dirty="0">
                <a:latin typeface="Gill Sans MT"/>
                <a:cs typeface="Gill Sans MT"/>
              </a:rPr>
              <a:t>is</a:t>
            </a:r>
            <a:r>
              <a:rPr sz="1300" spc="15" dirty="0">
                <a:latin typeface="Gill Sans MT"/>
                <a:cs typeface="Gill Sans MT"/>
              </a:rPr>
              <a:t> </a:t>
            </a:r>
            <a:r>
              <a:rPr sz="1300" dirty="0">
                <a:latin typeface="Gill Sans MT"/>
                <a:cs typeface="Gill Sans MT"/>
              </a:rPr>
              <a:t>identified </a:t>
            </a:r>
            <a:r>
              <a:rPr sz="1300" spc="50" dirty="0">
                <a:latin typeface="Gill Sans MT"/>
                <a:cs typeface="Gill Sans MT"/>
              </a:rPr>
              <a:t>by</a:t>
            </a:r>
            <a:r>
              <a:rPr sz="1300" spc="10" dirty="0">
                <a:latin typeface="Gill Sans MT"/>
                <a:cs typeface="Gill Sans MT"/>
              </a:rPr>
              <a:t> </a:t>
            </a:r>
            <a:r>
              <a:rPr sz="1300" spc="135" dirty="0">
                <a:latin typeface="Gill Sans MT"/>
                <a:cs typeface="Gill Sans MT"/>
              </a:rPr>
              <a:t>a</a:t>
            </a:r>
            <a:r>
              <a:rPr sz="1300" dirty="0">
                <a:latin typeface="Gill Sans MT"/>
                <a:cs typeface="Gill Sans MT"/>
              </a:rPr>
              <a:t> </a:t>
            </a:r>
            <a:r>
              <a:rPr sz="1300" spc="90" dirty="0">
                <a:latin typeface="Gill Sans MT"/>
                <a:cs typeface="Gill Sans MT"/>
              </a:rPr>
              <a:t>name</a:t>
            </a:r>
            <a:r>
              <a:rPr sz="1300" spc="10" dirty="0">
                <a:latin typeface="Gill Sans MT"/>
                <a:cs typeface="Gill Sans MT"/>
              </a:rPr>
              <a:t> </a:t>
            </a:r>
            <a:r>
              <a:rPr sz="1300" dirty="0">
                <a:latin typeface="Gill Sans MT"/>
                <a:cs typeface="Gill Sans MT"/>
              </a:rPr>
              <a:t>(ex.</a:t>
            </a:r>
            <a:r>
              <a:rPr sz="1300" spc="15" dirty="0">
                <a:latin typeface="Gill Sans MT"/>
                <a:cs typeface="Gill Sans MT"/>
              </a:rPr>
              <a:t> </a:t>
            </a:r>
            <a:r>
              <a:rPr sz="1300" spc="-10" dirty="0">
                <a:latin typeface="Gill Sans MT"/>
                <a:cs typeface="Gill Sans MT"/>
              </a:rPr>
              <a:t>A,</a:t>
            </a:r>
            <a:r>
              <a:rPr sz="1300" spc="15" dirty="0">
                <a:latin typeface="Gill Sans MT"/>
                <a:cs typeface="Gill Sans MT"/>
              </a:rPr>
              <a:t> </a:t>
            </a:r>
            <a:r>
              <a:rPr sz="1300" dirty="0">
                <a:latin typeface="Gill Sans MT"/>
                <a:cs typeface="Gill Sans MT"/>
              </a:rPr>
              <a:t>B,</a:t>
            </a:r>
            <a:r>
              <a:rPr sz="1300" spc="15" dirty="0">
                <a:latin typeface="Gill Sans MT"/>
                <a:cs typeface="Gill Sans MT"/>
              </a:rPr>
              <a:t> </a:t>
            </a:r>
            <a:r>
              <a:rPr sz="1300" spc="-50" dirty="0">
                <a:latin typeface="Gill Sans MT"/>
                <a:cs typeface="Gill Sans MT"/>
              </a:rPr>
              <a:t>X </a:t>
            </a:r>
            <a:r>
              <a:rPr sz="1300" spc="-10" dirty="0">
                <a:latin typeface="Gill Sans MT"/>
                <a:cs typeface="Gill Sans MT"/>
              </a:rPr>
              <a:t>etc.)</a:t>
            </a:r>
            <a:endParaRPr sz="1300" dirty="0">
              <a:latin typeface="Gill Sans MT"/>
              <a:cs typeface="Gill Sans MT"/>
            </a:endParaRPr>
          </a:p>
          <a:p>
            <a:pPr marL="360045" indent="-309245">
              <a:lnSpc>
                <a:spcPct val="100000"/>
              </a:lnSpc>
              <a:spcBef>
                <a:spcPts val="600"/>
              </a:spcBef>
              <a:buClr>
                <a:srgbClr val="FF8600"/>
              </a:buClr>
              <a:buSzPct val="129166"/>
              <a:buFont typeface="Cambria Math"/>
              <a:buChar char="◗"/>
              <a:tabLst>
                <a:tab pos="360045" algn="l"/>
              </a:tabLst>
            </a:pPr>
            <a:r>
              <a:rPr sz="1300" spc="55" dirty="0">
                <a:latin typeface="Gill Sans MT"/>
                <a:cs typeface="Gill Sans MT"/>
              </a:rPr>
              <a:t>Transactions</a:t>
            </a:r>
            <a:r>
              <a:rPr sz="1300" spc="-20" dirty="0">
                <a:latin typeface="Gill Sans MT"/>
                <a:cs typeface="Gill Sans MT"/>
              </a:rPr>
              <a:t> </a:t>
            </a:r>
            <a:r>
              <a:rPr sz="1300" spc="110" dirty="0">
                <a:latin typeface="Gill Sans MT"/>
                <a:cs typeface="Gill Sans MT"/>
              </a:rPr>
              <a:t>access</a:t>
            </a:r>
            <a:r>
              <a:rPr sz="1300" spc="5" dirty="0">
                <a:latin typeface="Gill Sans MT"/>
                <a:cs typeface="Gill Sans MT"/>
              </a:rPr>
              <a:t> </a:t>
            </a:r>
            <a:r>
              <a:rPr sz="1300" spc="75" dirty="0">
                <a:latin typeface="Gill Sans MT"/>
                <a:cs typeface="Gill Sans MT"/>
              </a:rPr>
              <a:t>data</a:t>
            </a:r>
            <a:r>
              <a:rPr sz="1300" spc="-15" dirty="0">
                <a:latin typeface="Gill Sans MT"/>
                <a:cs typeface="Gill Sans MT"/>
              </a:rPr>
              <a:t> </a:t>
            </a:r>
            <a:r>
              <a:rPr sz="1300" spc="85" dirty="0">
                <a:latin typeface="Gill Sans MT"/>
                <a:cs typeface="Gill Sans MT"/>
              </a:rPr>
              <a:t>using</a:t>
            </a:r>
            <a:r>
              <a:rPr sz="1300" spc="-15" dirty="0">
                <a:latin typeface="Gill Sans MT"/>
                <a:cs typeface="Gill Sans MT"/>
              </a:rPr>
              <a:t> </a:t>
            </a:r>
            <a:r>
              <a:rPr sz="1300" dirty="0">
                <a:latin typeface="Gill Sans MT"/>
                <a:cs typeface="Gill Sans MT"/>
              </a:rPr>
              <a:t>two</a:t>
            </a:r>
            <a:r>
              <a:rPr sz="1300" spc="-15" dirty="0">
                <a:latin typeface="Gill Sans MT"/>
                <a:cs typeface="Gill Sans MT"/>
              </a:rPr>
              <a:t> </a:t>
            </a:r>
            <a:r>
              <a:rPr sz="1300" spc="-10" dirty="0">
                <a:latin typeface="Gill Sans MT"/>
                <a:cs typeface="Gill Sans MT"/>
              </a:rPr>
              <a:t>operations:</a:t>
            </a:r>
            <a:endParaRPr sz="1300" dirty="0">
              <a:latin typeface="Gill Sans MT"/>
              <a:cs typeface="Gill Sans MT"/>
            </a:endParaRPr>
          </a:p>
          <a:p>
            <a:pPr marL="360045" marR="17780">
              <a:lnSpc>
                <a:spcPct val="100000"/>
              </a:lnSpc>
            </a:pPr>
            <a:r>
              <a:rPr sz="1300" dirty="0">
                <a:solidFill>
                  <a:srgbClr val="006FC0"/>
                </a:solidFill>
                <a:latin typeface="Gill Sans MT"/>
                <a:cs typeface="Gill Sans MT"/>
              </a:rPr>
              <a:t>read(X)</a:t>
            </a:r>
            <a:r>
              <a:rPr sz="1300" spc="25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300" dirty="0">
                <a:solidFill>
                  <a:srgbClr val="006FC0"/>
                </a:solidFill>
                <a:latin typeface="Gill Sans MT"/>
                <a:cs typeface="Gill Sans MT"/>
              </a:rPr>
              <a:t>:</a:t>
            </a:r>
            <a:r>
              <a:rPr sz="1300" spc="35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300" spc="55" dirty="0">
                <a:latin typeface="Gill Sans MT"/>
                <a:cs typeface="Gill Sans MT"/>
              </a:rPr>
              <a:t>transfers</a:t>
            </a:r>
            <a:r>
              <a:rPr sz="1300" spc="10" dirty="0">
                <a:latin typeface="Gill Sans MT"/>
                <a:cs typeface="Gill Sans MT"/>
              </a:rPr>
              <a:t> </a:t>
            </a:r>
            <a:r>
              <a:rPr sz="1300" dirty="0">
                <a:latin typeface="Gill Sans MT"/>
                <a:cs typeface="Gill Sans MT"/>
              </a:rPr>
              <a:t>the</a:t>
            </a:r>
            <a:r>
              <a:rPr sz="1300" spc="35" dirty="0">
                <a:latin typeface="Gill Sans MT"/>
                <a:cs typeface="Gill Sans MT"/>
              </a:rPr>
              <a:t> </a:t>
            </a:r>
            <a:r>
              <a:rPr sz="1300" spc="75" dirty="0">
                <a:latin typeface="Gill Sans MT"/>
                <a:cs typeface="Gill Sans MT"/>
              </a:rPr>
              <a:t>data</a:t>
            </a:r>
            <a:r>
              <a:rPr sz="1300" spc="25" dirty="0">
                <a:latin typeface="Gill Sans MT"/>
                <a:cs typeface="Gill Sans MT"/>
              </a:rPr>
              <a:t> </a:t>
            </a:r>
            <a:r>
              <a:rPr sz="1300" dirty="0">
                <a:latin typeface="Gill Sans MT"/>
                <a:cs typeface="Gill Sans MT"/>
              </a:rPr>
              <a:t>item</a:t>
            </a:r>
            <a:r>
              <a:rPr sz="1300" spc="15" dirty="0">
                <a:latin typeface="Gill Sans MT"/>
                <a:cs typeface="Gill Sans MT"/>
              </a:rPr>
              <a:t> </a:t>
            </a:r>
            <a:r>
              <a:rPr sz="1300" spc="-110" dirty="0">
                <a:latin typeface="Gill Sans MT"/>
                <a:cs typeface="Gill Sans MT"/>
              </a:rPr>
              <a:t>X</a:t>
            </a:r>
            <a:r>
              <a:rPr sz="1300" spc="40" dirty="0">
                <a:latin typeface="Gill Sans MT"/>
                <a:cs typeface="Gill Sans MT"/>
              </a:rPr>
              <a:t> </a:t>
            </a:r>
            <a:r>
              <a:rPr sz="1300" dirty="0">
                <a:latin typeface="Gill Sans MT"/>
                <a:cs typeface="Gill Sans MT"/>
              </a:rPr>
              <a:t>from</a:t>
            </a:r>
            <a:r>
              <a:rPr sz="1300" spc="15" dirty="0">
                <a:latin typeface="Gill Sans MT"/>
                <a:cs typeface="Gill Sans MT"/>
              </a:rPr>
              <a:t> </a:t>
            </a:r>
            <a:r>
              <a:rPr sz="1300" dirty="0">
                <a:latin typeface="Gill Sans MT"/>
                <a:cs typeface="Gill Sans MT"/>
              </a:rPr>
              <a:t>the</a:t>
            </a:r>
            <a:r>
              <a:rPr sz="1300" spc="35" dirty="0">
                <a:latin typeface="Gill Sans MT"/>
                <a:cs typeface="Gill Sans MT"/>
              </a:rPr>
              <a:t> </a:t>
            </a:r>
            <a:r>
              <a:rPr sz="1300" spc="90" dirty="0">
                <a:latin typeface="Gill Sans MT"/>
                <a:cs typeface="Gill Sans MT"/>
              </a:rPr>
              <a:t>database</a:t>
            </a:r>
            <a:r>
              <a:rPr sz="1300" spc="50" dirty="0">
                <a:latin typeface="Gill Sans MT"/>
                <a:cs typeface="Gill Sans MT"/>
              </a:rPr>
              <a:t> </a:t>
            </a:r>
            <a:r>
              <a:rPr sz="1300" dirty="0">
                <a:latin typeface="Gill Sans MT"/>
                <a:cs typeface="Gill Sans MT"/>
              </a:rPr>
              <a:t>to</a:t>
            </a:r>
            <a:r>
              <a:rPr sz="1300" spc="20" dirty="0">
                <a:latin typeface="Gill Sans MT"/>
                <a:cs typeface="Gill Sans MT"/>
              </a:rPr>
              <a:t> </a:t>
            </a:r>
            <a:r>
              <a:rPr sz="1300" spc="135" dirty="0">
                <a:latin typeface="Gill Sans MT"/>
                <a:cs typeface="Gill Sans MT"/>
              </a:rPr>
              <a:t>a</a:t>
            </a:r>
            <a:r>
              <a:rPr sz="1300" spc="30" dirty="0">
                <a:latin typeface="Gill Sans MT"/>
                <a:cs typeface="Gill Sans MT"/>
              </a:rPr>
              <a:t> </a:t>
            </a:r>
            <a:r>
              <a:rPr sz="1300" dirty="0">
                <a:latin typeface="Gill Sans MT"/>
                <a:cs typeface="Gill Sans MT"/>
              </a:rPr>
              <a:t>variable,</a:t>
            </a:r>
            <a:r>
              <a:rPr sz="1300" spc="55" dirty="0">
                <a:latin typeface="Gill Sans MT"/>
                <a:cs typeface="Gill Sans MT"/>
              </a:rPr>
              <a:t> </a:t>
            </a:r>
            <a:r>
              <a:rPr sz="1300" spc="80" dirty="0">
                <a:latin typeface="Gill Sans MT"/>
                <a:cs typeface="Gill Sans MT"/>
              </a:rPr>
              <a:t>also</a:t>
            </a:r>
            <a:r>
              <a:rPr sz="1300" spc="55" dirty="0">
                <a:latin typeface="Gill Sans MT"/>
                <a:cs typeface="Gill Sans MT"/>
              </a:rPr>
              <a:t> </a:t>
            </a:r>
            <a:r>
              <a:rPr sz="1300" spc="60" dirty="0">
                <a:latin typeface="Gill Sans MT"/>
                <a:cs typeface="Gill Sans MT"/>
              </a:rPr>
              <a:t>called</a:t>
            </a:r>
            <a:r>
              <a:rPr sz="1300" spc="25" dirty="0">
                <a:latin typeface="Gill Sans MT"/>
                <a:cs typeface="Gill Sans MT"/>
              </a:rPr>
              <a:t> </a:t>
            </a:r>
            <a:r>
              <a:rPr sz="1300" spc="-75" dirty="0">
                <a:latin typeface="Gill Sans MT"/>
                <a:cs typeface="Gill Sans MT"/>
              </a:rPr>
              <a:t>X,</a:t>
            </a:r>
            <a:r>
              <a:rPr sz="1300" spc="25" dirty="0">
                <a:latin typeface="Gill Sans MT"/>
                <a:cs typeface="Gill Sans MT"/>
              </a:rPr>
              <a:t> </a:t>
            </a:r>
            <a:r>
              <a:rPr sz="1300" dirty="0">
                <a:latin typeface="Gill Sans MT"/>
                <a:cs typeface="Gill Sans MT"/>
              </a:rPr>
              <a:t>in</a:t>
            </a:r>
            <a:r>
              <a:rPr sz="1300" spc="55" dirty="0">
                <a:latin typeface="Gill Sans MT"/>
                <a:cs typeface="Gill Sans MT"/>
              </a:rPr>
              <a:t> </a:t>
            </a:r>
            <a:r>
              <a:rPr sz="1300" spc="135" dirty="0">
                <a:latin typeface="Gill Sans MT"/>
                <a:cs typeface="Gill Sans MT"/>
              </a:rPr>
              <a:t>a</a:t>
            </a:r>
            <a:r>
              <a:rPr sz="1300" spc="25" dirty="0">
                <a:latin typeface="Gill Sans MT"/>
                <a:cs typeface="Gill Sans MT"/>
              </a:rPr>
              <a:t> </a:t>
            </a:r>
            <a:r>
              <a:rPr sz="1300" spc="55" dirty="0">
                <a:latin typeface="Gill Sans MT"/>
                <a:cs typeface="Gill Sans MT"/>
              </a:rPr>
              <a:t>buffer</a:t>
            </a:r>
            <a:r>
              <a:rPr sz="1300" spc="10" dirty="0">
                <a:latin typeface="Gill Sans MT"/>
                <a:cs typeface="Gill Sans MT"/>
              </a:rPr>
              <a:t> </a:t>
            </a:r>
            <a:r>
              <a:rPr sz="1300" dirty="0">
                <a:latin typeface="Gill Sans MT"/>
                <a:cs typeface="Gill Sans MT"/>
              </a:rPr>
              <a:t>in</a:t>
            </a:r>
            <a:r>
              <a:rPr sz="1300" spc="50" dirty="0">
                <a:latin typeface="Gill Sans MT"/>
                <a:cs typeface="Gill Sans MT"/>
              </a:rPr>
              <a:t> </a:t>
            </a:r>
            <a:r>
              <a:rPr sz="1300" spc="80" dirty="0">
                <a:latin typeface="Gill Sans MT"/>
                <a:cs typeface="Gill Sans MT"/>
              </a:rPr>
              <a:t>main</a:t>
            </a:r>
            <a:r>
              <a:rPr sz="1300" spc="20" dirty="0">
                <a:latin typeface="Gill Sans MT"/>
                <a:cs typeface="Gill Sans MT"/>
              </a:rPr>
              <a:t> </a:t>
            </a:r>
            <a:r>
              <a:rPr sz="1300" dirty="0">
                <a:latin typeface="Gill Sans MT"/>
                <a:cs typeface="Gill Sans MT"/>
              </a:rPr>
              <a:t>memory</a:t>
            </a:r>
            <a:r>
              <a:rPr sz="1300" spc="20" dirty="0">
                <a:latin typeface="Gill Sans MT"/>
                <a:cs typeface="Gill Sans MT"/>
              </a:rPr>
              <a:t> </a:t>
            </a:r>
            <a:r>
              <a:rPr sz="1300" spc="70" dirty="0">
                <a:latin typeface="Gill Sans MT"/>
                <a:cs typeface="Gill Sans MT"/>
              </a:rPr>
              <a:t>belonging</a:t>
            </a:r>
            <a:r>
              <a:rPr sz="1300" spc="65" dirty="0">
                <a:latin typeface="Gill Sans MT"/>
                <a:cs typeface="Gill Sans MT"/>
              </a:rPr>
              <a:t> </a:t>
            </a:r>
            <a:r>
              <a:rPr sz="1300" spc="-25" dirty="0">
                <a:latin typeface="Gill Sans MT"/>
                <a:cs typeface="Gill Sans MT"/>
              </a:rPr>
              <a:t>to </a:t>
            </a:r>
            <a:r>
              <a:rPr sz="1300" spc="10" dirty="0">
                <a:latin typeface="Gill Sans MT"/>
                <a:cs typeface="Gill Sans MT"/>
              </a:rPr>
              <a:t>the</a:t>
            </a:r>
            <a:r>
              <a:rPr sz="1300" spc="85" dirty="0">
                <a:latin typeface="Gill Sans MT"/>
                <a:cs typeface="Gill Sans MT"/>
              </a:rPr>
              <a:t> </a:t>
            </a:r>
            <a:r>
              <a:rPr sz="1300" spc="50" dirty="0">
                <a:latin typeface="Gill Sans MT"/>
                <a:cs typeface="Gill Sans MT"/>
              </a:rPr>
              <a:t>transaction</a:t>
            </a:r>
            <a:r>
              <a:rPr sz="1300" spc="70" dirty="0">
                <a:latin typeface="Gill Sans MT"/>
                <a:cs typeface="Gill Sans MT"/>
              </a:rPr>
              <a:t> </a:t>
            </a:r>
            <a:r>
              <a:rPr sz="1300" spc="10" dirty="0">
                <a:latin typeface="Gill Sans MT"/>
                <a:cs typeface="Gill Sans MT"/>
              </a:rPr>
              <a:t>that</a:t>
            </a:r>
            <a:r>
              <a:rPr sz="1300" spc="80" dirty="0">
                <a:latin typeface="Gill Sans MT"/>
                <a:cs typeface="Gill Sans MT"/>
              </a:rPr>
              <a:t> </a:t>
            </a:r>
            <a:r>
              <a:rPr sz="1300" spc="10" dirty="0">
                <a:latin typeface="Gill Sans MT"/>
                <a:cs typeface="Gill Sans MT"/>
              </a:rPr>
              <a:t>executed</a:t>
            </a:r>
            <a:r>
              <a:rPr sz="1300" spc="85" dirty="0">
                <a:latin typeface="Gill Sans MT"/>
                <a:cs typeface="Gill Sans MT"/>
              </a:rPr>
              <a:t> </a:t>
            </a:r>
            <a:r>
              <a:rPr sz="1300" spc="10" dirty="0">
                <a:latin typeface="Gill Sans MT"/>
                <a:cs typeface="Gill Sans MT"/>
              </a:rPr>
              <a:t>the</a:t>
            </a:r>
            <a:r>
              <a:rPr sz="1300" spc="85" dirty="0">
                <a:latin typeface="Gill Sans MT"/>
                <a:cs typeface="Gill Sans MT"/>
              </a:rPr>
              <a:t> </a:t>
            </a:r>
            <a:r>
              <a:rPr sz="1300" spc="10" dirty="0">
                <a:latin typeface="Gill Sans MT"/>
                <a:cs typeface="Gill Sans MT"/>
              </a:rPr>
              <a:t>read</a:t>
            </a:r>
            <a:r>
              <a:rPr sz="1300" spc="65" dirty="0">
                <a:latin typeface="Gill Sans MT"/>
                <a:cs typeface="Gill Sans MT"/>
              </a:rPr>
              <a:t> </a:t>
            </a:r>
            <a:r>
              <a:rPr sz="1300" spc="-10" dirty="0">
                <a:latin typeface="Gill Sans MT"/>
                <a:cs typeface="Gill Sans MT"/>
              </a:rPr>
              <a:t>operation.</a:t>
            </a:r>
            <a:endParaRPr sz="1300" dirty="0">
              <a:latin typeface="Gill Sans MT"/>
              <a:cs typeface="Gill Sans MT"/>
            </a:endParaRPr>
          </a:p>
          <a:p>
            <a:pPr marL="360045" marR="46355">
              <a:lnSpc>
                <a:spcPct val="100000"/>
              </a:lnSpc>
            </a:pPr>
            <a:r>
              <a:rPr sz="1300" dirty="0">
                <a:solidFill>
                  <a:srgbClr val="006FC0"/>
                </a:solidFill>
                <a:latin typeface="Gill Sans MT"/>
                <a:cs typeface="Gill Sans MT"/>
              </a:rPr>
              <a:t>write(X)</a:t>
            </a:r>
            <a:r>
              <a:rPr sz="1300" spc="20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300" dirty="0">
                <a:solidFill>
                  <a:srgbClr val="006FC0"/>
                </a:solidFill>
                <a:latin typeface="Gill Sans MT"/>
                <a:cs typeface="Gill Sans MT"/>
              </a:rPr>
              <a:t>:</a:t>
            </a:r>
            <a:r>
              <a:rPr sz="1300" spc="45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300" spc="55" dirty="0">
                <a:latin typeface="Gill Sans MT"/>
                <a:cs typeface="Gill Sans MT"/>
              </a:rPr>
              <a:t>transfers</a:t>
            </a:r>
            <a:r>
              <a:rPr sz="1300" spc="25" dirty="0">
                <a:latin typeface="Gill Sans MT"/>
                <a:cs typeface="Gill Sans MT"/>
              </a:rPr>
              <a:t> </a:t>
            </a:r>
            <a:r>
              <a:rPr sz="1300" dirty="0">
                <a:latin typeface="Gill Sans MT"/>
                <a:cs typeface="Gill Sans MT"/>
              </a:rPr>
              <a:t>the</a:t>
            </a:r>
            <a:r>
              <a:rPr sz="1300" spc="40" dirty="0">
                <a:latin typeface="Gill Sans MT"/>
                <a:cs typeface="Gill Sans MT"/>
              </a:rPr>
              <a:t> </a:t>
            </a:r>
            <a:r>
              <a:rPr sz="1300" spc="60" dirty="0">
                <a:latin typeface="Gill Sans MT"/>
                <a:cs typeface="Gill Sans MT"/>
              </a:rPr>
              <a:t>value</a:t>
            </a:r>
            <a:r>
              <a:rPr sz="1300" spc="65" dirty="0">
                <a:latin typeface="Gill Sans MT"/>
                <a:cs typeface="Gill Sans MT"/>
              </a:rPr>
              <a:t> </a:t>
            </a:r>
            <a:r>
              <a:rPr sz="1300" dirty="0">
                <a:latin typeface="Gill Sans MT"/>
                <a:cs typeface="Gill Sans MT"/>
              </a:rPr>
              <a:t>in</a:t>
            </a:r>
            <a:r>
              <a:rPr sz="1300" spc="40" dirty="0">
                <a:latin typeface="Gill Sans MT"/>
                <a:cs typeface="Gill Sans MT"/>
              </a:rPr>
              <a:t> </a:t>
            </a:r>
            <a:r>
              <a:rPr sz="1300" dirty="0">
                <a:latin typeface="Gill Sans MT"/>
                <a:cs typeface="Gill Sans MT"/>
              </a:rPr>
              <a:t>the</a:t>
            </a:r>
            <a:r>
              <a:rPr sz="1300" spc="45" dirty="0">
                <a:latin typeface="Gill Sans MT"/>
                <a:cs typeface="Gill Sans MT"/>
              </a:rPr>
              <a:t> </a:t>
            </a:r>
            <a:r>
              <a:rPr sz="1300" spc="50" dirty="0">
                <a:latin typeface="Gill Sans MT"/>
                <a:cs typeface="Gill Sans MT"/>
              </a:rPr>
              <a:t>variable</a:t>
            </a:r>
            <a:r>
              <a:rPr sz="1300" spc="65" dirty="0">
                <a:latin typeface="Gill Sans MT"/>
                <a:cs typeface="Gill Sans MT"/>
              </a:rPr>
              <a:t> </a:t>
            </a:r>
            <a:r>
              <a:rPr sz="1300" spc="-110" dirty="0">
                <a:latin typeface="Gill Sans MT"/>
                <a:cs typeface="Gill Sans MT"/>
              </a:rPr>
              <a:t>X</a:t>
            </a:r>
            <a:r>
              <a:rPr sz="1300" spc="35" dirty="0">
                <a:latin typeface="Gill Sans MT"/>
                <a:cs typeface="Gill Sans MT"/>
              </a:rPr>
              <a:t> </a:t>
            </a:r>
            <a:r>
              <a:rPr sz="1300" dirty="0">
                <a:latin typeface="Gill Sans MT"/>
                <a:cs typeface="Gill Sans MT"/>
              </a:rPr>
              <a:t>in</a:t>
            </a:r>
            <a:r>
              <a:rPr sz="1300" spc="40" dirty="0">
                <a:latin typeface="Gill Sans MT"/>
                <a:cs typeface="Gill Sans MT"/>
              </a:rPr>
              <a:t> </a:t>
            </a:r>
            <a:r>
              <a:rPr sz="1300" dirty="0">
                <a:latin typeface="Gill Sans MT"/>
                <a:cs typeface="Gill Sans MT"/>
              </a:rPr>
              <a:t>the</a:t>
            </a:r>
            <a:r>
              <a:rPr sz="1300" spc="45" dirty="0">
                <a:latin typeface="Gill Sans MT"/>
                <a:cs typeface="Gill Sans MT"/>
              </a:rPr>
              <a:t> </a:t>
            </a:r>
            <a:r>
              <a:rPr sz="1300" spc="55" dirty="0">
                <a:latin typeface="Gill Sans MT"/>
                <a:cs typeface="Gill Sans MT"/>
              </a:rPr>
              <a:t>main-</a:t>
            </a:r>
            <a:r>
              <a:rPr sz="1300" dirty="0">
                <a:latin typeface="Gill Sans MT"/>
                <a:cs typeface="Gill Sans MT"/>
              </a:rPr>
              <a:t>memory</a:t>
            </a:r>
            <a:r>
              <a:rPr sz="1300" spc="20" dirty="0">
                <a:latin typeface="Gill Sans MT"/>
                <a:cs typeface="Gill Sans MT"/>
              </a:rPr>
              <a:t> </a:t>
            </a:r>
            <a:r>
              <a:rPr sz="1300" spc="50" dirty="0">
                <a:latin typeface="Gill Sans MT"/>
                <a:cs typeface="Gill Sans MT"/>
              </a:rPr>
              <a:t>buffer</a:t>
            </a:r>
            <a:r>
              <a:rPr sz="1300" spc="15" dirty="0">
                <a:latin typeface="Gill Sans MT"/>
                <a:cs typeface="Gill Sans MT"/>
              </a:rPr>
              <a:t> </a:t>
            </a:r>
            <a:r>
              <a:rPr sz="1300" spc="60" dirty="0">
                <a:latin typeface="Gill Sans MT"/>
                <a:cs typeface="Gill Sans MT"/>
              </a:rPr>
              <a:t>of</a:t>
            </a:r>
            <a:r>
              <a:rPr sz="1300" spc="50" dirty="0">
                <a:latin typeface="Gill Sans MT"/>
                <a:cs typeface="Gill Sans MT"/>
              </a:rPr>
              <a:t> </a:t>
            </a:r>
            <a:r>
              <a:rPr sz="1300" dirty="0">
                <a:latin typeface="Gill Sans MT"/>
                <a:cs typeface="Gill Sans MT"/>
              </a:rPr>
              <a:t>the</a:t>
            </a:r>
            <a:r>
              <a:rPr sz="1300" spc="30" dirty="0">
                <a:latin typeface="Gill Sans MT"/>
                <a:cs typeface="Gill Sans MT"/>
              </a:rPr>
              <a:t> </a:t>
            </a:r>
            <a:r>
              <a:rPr sz="1300" spc="50" dirty="0">
                <a:latin typeface="Gill Sans MT"/>
                <a:cs typeface="Gill Sans MT"/>
              </a:rPr>
              <a:t>transaction</a:t>
            </a:r>
            <a:r>
              <a:rPr sz="1300" spc="45" dirty="0">
                <a:latin typeface="Gill Sans MT"/>
                <a:cs typeface="Gill Sans MT"/>
              </a:rPr>
              <a:t> </a:t>
            </a:r>
            <a:r>
              <a:rPr sz="1300" dirty="0">
                <a:latin typeface="Gill Sans MT"/>
                <a:cs typeface="Gill Sans MT"/>
              </a:rPr>
              <a:t>that</a:t>
            </a:r>
            <a:r>
              <a:rPr sz="1300" spc="35" dirty="0">
                <a:latin typeface="Gill Sans MT"/>
                <a:cs typeface="Gill Sans MT"/>
              </a:rPr>
              <a:t> </a:t>
            </a:r>
            <a:r>
              <a:rPr sz="1300" dirty="0">
                <a:latin typeface="Gill Sans MT"/>
                <a:cs typeface="Gill Sans MT"/>
              </a:rPr>
              <a:t>executed</a:t>
            </a:r>
            <a:r>
              <a:rPr sz="1300" spc="45" dirty="0">
                <a:latin typeface="Gill Sans MT"/>
                <a:cs typeface="Gill Sans MT"/>
              </a:rPr>
              <a:t> </a:t>
            </a:r>
            <a:r>
              <a:rPr sz="1300" dirty="0">
                <a:latin typeface="Gill Sans MT"/>
                <a:cs typeface="Gill Sans MT"/>
              </a:rPr>
              <a:t>the</a:t>
            </a:r>
            <a:r>
              <a:rPr sz="1300" spc="30" dirty="0">
                <a:latin typeface="Gill Sans MT"/>
                <a:cs typeface="Gill Sans MT"/>
              </a:rPr>
              <a:t> </a:t>
            </a:r>
            <a:r>
              <a:rPr sz="1300" dirty="0">
                <a:latin typeface="Gill Sans MT"/>
                <a:cs typeface="Gill Sans MT"/>
              </a:rPr>
              <a:t>write</a:t>
            </a:r>
            <a:r>
              <a:rPr sz="1300" spc="35" dirty="0">
                <a:latin typeface="Gill Sans MT"/>
                <a:cs typeface="Gill Sans MT"/>
              </a:rPr>
              <a:t> </a:t>
            </a:r>
            <a:r>
              <a:rPr sz="1300" dirty="0">
                <a:latin typeface="Gill Sans MT"/>
                <a:cs typeface="Gill Sans MT"/>
              </a:rPr>
              <a:t>to</a:t>
            </a:r>
            <a:r>
              <a:rPr sz="1300" spc="45" dirty="0">
                <a:latin typeface="Gill Sans MT"/>
                <a:cs typeface="Gill Sans MT"/>
              </a:rPr>
              <a:t> </a:t>
            </a:r>
            <a:r>
              <a:rPr sz="1300" spc="-25" dirty="0">
                <a:latin typeface="Gill Sans MT"/>
                <a:cs typeface="Gill Sans MT"/>
              </a:rPr>
              <a:t>the </a:t>
            </a:r>
            <a:r>
              <a:rPr sz="1300" spc="75" dirty="0">
                <a:latin typeface="Gill Sans MT"/>
                <a:cs typeface="Gill Sans MT"/>
              </a:rPr>
              <a:t>data</a:t>
            </a:r>
            <a:r>
              <a:rPr sz="1300" spc="30" dirty="0">
                <a:latin typeface="Gill Sans MT"/>
                <a:cs typeface="Gill Sans MT"/>
              </a:rPr>
              <a:t> </a:t>
            </a:r>
            <a:r>
              <a:rPr sz="1300" dirty="0">
                <a:latin typeface="Gill Sans MT"/>
                <a:cs typeface="Gill Sans MT"/>
              </a:rPr>
              <a:t>item</a:t>
            </a:r>
            <a:r>
              <a:rPr sz="1300" spc="40" dirty="0">
                <a:latin typeface="Gill Sans MT"/>
                <a:cs typeface="Gill Sans MT"/>
              </a:rPr>
              <a:t> </a:t>
            </a:r>
            <a:r>
              <a:rPr sz="1300" spc="-110" dirty="0">
                <a:latin typeface="Gill Sans MT"/>
                <a:cs typeface="Gill Sans MT"/>
              </a:rPr>
              <a:t>X</a:t>
            </a:r>
            <a:r>
              <a:rPr sz="1300" spc="30" dirty="0">
                <a:latin typeface="Gill Sans MT"/>
                <a:cs typeface="Gill Sans MT"/>
              </a:rPr>
              <a:t> </a:t>
            </a:r>
            <a:r>
              <a:rPr sz="1300" dirty="0">
                <a:latin typeface="Gill Sans MT"/>
                <a:cs typeface="Gill Sans MT"/>
              </a:rPr>
              <a:t>in</a:t>
            </a:r>
            <a:r>
              <a:rPr sz="1300" spc="40" dirty="0">
                <a:latin typeface="Gill Sans MT"/>
                <a:cs typeface="Gill Sans MT"/>
              </a:rPr>
              <a:t> </a:t>
            </a:r>
            <a:r>
              <a:rPr sz="1300" dirty="0">
                <a:latin typeface="Gill Sans MT"/>
                <a:cs typeface="Gill Sans MT"/>
              </a:rPr>
              <a:t>the</a:t>
            </a:r>
            <a:r>
              <a:rPr sz="1300" spc="40" dirty="0">
                <a:latin typeface="Gill Sans MT"/>
                <a:cs typeface="Gill Sans MT"/>
              </a:rPr>
              <a:t> </a:t>
            </a:r>
            <a:r>
              <a:rPr sz="1300" spc="70" dirty="0">
                <a:latin typeface="Gill Sans MT"/>
                <a:cs typeface="Gill Sans MT"/>
              </a:rPr>
              <a:t>database.</a:t>
            </a:r>
            <a:endParaRPr sz="1300" dirty="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650"/>
              </a:spcBef>
            </a:pPr>
            <a:endParaRPr sz="1300" dirty="0">
              <a:latin typeface="Gill Sans MT"/>
              <a:cs typeface="Gill Sans MT"/>
            </a:endParaRPr>
          </a:p>
          <a:p>
            <a:pPr marL="360045" indent="-309245">
              <a:lnSpc>
                <a:spcPct val="100000"/>
              </a:lnSpc>
              <a:buClr>
                <a:srgbClr val="FF8600"/>
              </a:buClr>
              <a:buSzPct val="129166"/>
              <a:buFont typeface="Cambria Math"/>
              <a:buChar char="◗"/>
              <a:tabLst>
                <a:tab pos="360045" algn="l"/>
              </a:tabLst>
            </a:pPr>
            <a:r>
              <a:rPr sz="1300" dirty="0">
                <a:latin typeface="Gill Sans MT"/>
                <a:cs typeface="Gill Sans MT"/>
              </a:rPr>
              <a:t>Let,</a:t>
            </a:r>
            <a:r>
              <a:rPr sz="1300" spc="-15" dirty="0">
                <a:latin typeface="Gill Sans MT"/>
                <a:cs typeface="Gill Sans MT"/>
              </a:rPr>
              <a:t> </a:t>
            </a:r>
            <a:r>
              <a:rPr sz="1300" dirty="0">
                <a:latin typeface="Gill Sans MT"/>
                <a:cs typeface="Gill Sans MT"/>
              </a:rPr>
              <a:t>T</a:t>
            </a:r>
            <a:r>
              <a:rPr sz="1300" baseline="-20833" dirty="0">
                <a:latin typeface="Gill Sans MT"/>
                <a:cs typeface="Gill Sans MT"/>
              </a:rPr>
              <a:t>i</a:t>
            </a:r>
            <a:r>
              <a:rPr sz="1300" spc="150" baseline="-20833" dirty="0">
                <a:latin typeface="Gill Sans MT"/>
                <a:cs typeface="Gill Sans MT"/>
              </a:rPr>
              <a:t> </a:t>
            </a:r>
            <a:r>
              <a:rPr sz="1300" spc="60" dirty="0">
                <a:latin typeface="Gill Sans MT"/>
                <a:cs typeface="Gill Sans MT"/>
              </a:rPr>
              <a:t>be</a:t>
            </a:r>
            <a:r>
              <a:rPr sz="1300" spc="5" dirty="0">
                <a:latin typeface="Gill Sans MT"/>
                <a:cs typeface="Gill Sans MT"/>
              </a:rPr>
              <a:t> </a:t>
            </a:r>
            <a:r>
              <a:rPr sz="1300" spc="135" dirty="0">
                <a:latin typeface="Gill Sans MT"/>
                <a:cs typeface="Gill Sans MT"/>
              </a:rPr>
              <a:t>a</a:t>
            </a:r>
            <a:r>
              <a:rPr sz="1300" spc="-15" dirty="0">
                <a:latin typeface="Gill Sans MT"/>
                <a:cs typeface="Gill Sans MT"/>
              </a:rPr>
              <a:t> </a:t>
            </a:r>
            <a:r>
              <a:rPr sz="1300" spc="50" dirty="0">
                <a:latin typeface="Gill Sans MT"/>
                <a:cs typeface="Gill Sans MT"/>
              </a:rPr>
              <a:t>transaction</a:t>
            </a:r>
            <a:r>
              <a:rPr sz="1300" spc="-20" dirty="0">
                <a:latin typeface="Gill Sans MT"/>
                <a:cs typeface="Gill Sans MT"/>
              </a:rPr>
              <a:t> </a:t>
            </a:r>
            <a:r>
              <a:rPr sz="1300" dirty="0">
                <a:latin typeface="Gill Sans MT"/>
                <a:cs typeface="Gill Sans MT"/>
              </a:rPr>
              <a:t>that</a:t>
            </a:r>
            <a:r>
              <a:rPr sz="1300" spc="-10" dirty="0">
                <a:latin typeface="Gill Sans MT"/>
                <a:cs typeface="Gill Sans MT"/>
              </a:rPr>
              <a:t> </a:t>
            </a:r>
            <a:r>
              <a:rPr sz="1300" spc="55" dirty="0">
                <a:latin typeface="Gill Sans MT"/>
                <a:cs typeface="Gill Sans MT"/>
              </a:rPr>
              <a:t>transfers</a:t>
            </a:r>
            <a:r>
              <a:rPr sz="1300" spc="-25" dirty="0">
                <a:latin typeface="Gill Sans MT"/>
                <a:cs typeface="Gill Sans MT"/>
              </a:rPr>
              <a:t> </a:t>
            </a:r>
            <a:r>
              <a:rPr sz="1300" spc="50" dirty="0">
                <a:latin typeface="Gill Sans MT"/>
                <a:cs typeface="Gill Sans MT"/>
              </a:rPr>
              <a:t>$50</a:t>
            </a:r>
            <a:r>
              <a:rPr sz="1300" spc="5" dirty="0">
                <a:latin typeface="Gill Sans MT"/>
                <a:cs typeface="Gill Sans MT"/>
              </a:rPr>
              <a:t> </a:t>
            </a:r>
            <a:r>
              <a:rPr sz="1300" dirty="0">
                <a:latin typeface="Gill Sans MT"/>
                <a:cs typeface="Gill Sans MT"/>
              </a:rPr>
              <a:t>from</a:t>
            </a:r>
            <a:r>
              <a:rPr sz="1300" spc="-25" dirty="0">
                <a:latin typeface="Gill Sans MT"/>
                <a:cs typeface="Gill Sans MT"/>
              </a:rPr>
              <a:t> </a:t>
            </a:r>
            <a:r>
              <a:rPr sz="1300" spc="60" dirty="0">
                <a:latin typeface="Gill Sans MT"/>
                <a:cs typeface="Gill Sans MT"/>
              </a:rPr>
              <a:t>account</a:t>
            </a:r>
            <a:r>
              <a:rPr sz="1300" spc="15" dirty="0">
                <a:latin typeface="Gill Sans MT"/>
                <a:cs typeface="Gill Sans MT"/>
              </a:rPr>
              <a:t> </a:t>
            </a:r>
            <a:r>
              <a:rPr sz="1300" dirty="0">
                <a:latin typeface="Gill Sans MT"/>
                <a:cs typeface="Gill Sans MT"/>
              </a:rPr>
              <a:t>A</a:t>
            </a:r>
            <a:r>
              <a:rPr sz="1300" spc="-10" dirty="0">
                <a:latin typeface="Gill Sans MT"/>
                <a:cs typeface="Gill Sans MT"/>
              </a:rPr>
              <a:t> </a:t>
            </a:r>
            <a:r>
              <a:rPr sz="1300" dirty="0">
                <a:latin typeface="Gill Sans MT"/>
                <a:cs typeface="Gill Sans MT"/>
              </a:rPr>
              <a:t>to</a:t>
            </a:r>
            <a:r>
              <a:rPr sz="1300" spc="-10" dirty="0">
                <a:latin typeface="Gill Sans MT"/>
                <a:cs typeface="Gill Sans MT"/>
              </a:rPr>
              <a:t> </a:t>
            </a:r>
            <a:r>
              <a:rPr sz="1300" spc="60" dirty="0">
                <a:latin typeface="Gill Sans MT"/>
                <a:cs typeface="Gill Sans MT"/>
              </a:rPr>
              <a:t>account</a:t>
            </a:r>
            <a:r>
              <a:rPr sz="1300" spc="-5" dirty="0">
                <a:latin typeface="Gill Sans MT"/>
                <a:cs typeface="Gill Sans MT"/>
              </a:rPr>
              <a:t> </a:t>
            </a:r>
            <a:r>
              <a:rPr sz="1300" spc="55" dirty="0">
                <a:latin typeface="Gill Sans MT"/>
                <a:cs typeface="Gill Sans MT"/>
              </a:rPr>
              <a:t>B.</a:t>
            </a:r>
            <a:r>
              <a:rPr sz="1300" spc="5" dirty="0">
                <a:latin typeface="Gill Sans MT"/>
                <a:cs typeface="Gill Sans MT"/>
              </a:rPr>
              <a:t> </a:t>
            </a:r>
            <a:r>
              <a:rPr sz="1300" spc="50" dirty="0">
                <a:latin typeface="Gill Sans MT"/>
                <a:cs typeface="Gill Sans MT"/>
              </a:rPr>
              <a:t>This</a:t>
            </a:r>
            <a:r>
              <a:rPr sz="1300" spc="-15" dirty="0">
                <a:latin typeface="Gill Sans MT"/>
                <a:cs typeface="Gill Sans MT"/>
              </a:rPr>
              <a:t> </a:t>
            </a:r>
            <a:r>
              <a:rPr sz="1300" spc="50" dirty="0">
                <a:latin typeface="Gill Sans MT"/>
                <a:cs typeface="Gill Sans MT"/>
              </a:rPr>
              <a:t>transaction</a:t>
            </a:r>
            <a:r>
              <a:rPr sz="1300" spc="-20" dirty="0">
                <a:latin typeface="Gill Sans MT"/>
                <a:cs typeface="Gill Sans MT"/>
              </a:rPr>
              <a:t> </a:t>
            </a:r>
            <a:r>
              <a:rPr sz="1300" spc="95" dirty="0">
                <a:latin typeface="Gill Sans MT"/>
                <a:cs typeface="Gill Sans MT"/>
              </a:rPr>
              <a:t>can</a:t>
            </a:r>
            <a:r>
              <a:rPr sz="1300" spc="5" dirty="0">
                <a:latin typeface="Gill Sans MT"/>
                <a:cs typeface="Gill Sans MT"/>
              </a:rPr>
              <a:t> </a:t>
            </a:r>
            <a:r>
              <a:rPr sz="1300" spc="60" dirty="0">
                <a:latin typeface="Gill Sans MT"/>
                <a:cs typeface="Gill Sans MT"/>
              </a:rPr>
              <a:t>be</a:t>
            </a:r>
            <a:r>
              <a:rPr sz="1300" spc="-5" dirty="0">
                <a:latin typeface="Gill Sans MT"/>
                <a:cs typeface="Gill Sans MT"/>
              </a:rPr>
              <a:t> </a:t>
            </a:r>
            <a:r>
              <a:rPr sz="1300" spc="60" dirty="0">
                <a:latin typeface="Gill Sans MT"/>
                <a:cs typeface="Gill Sans MT"/>
              </a:rPr>
              <a:t>defined</a:t>
            </a:r>
            <a:r>
              <a:rPr sz="1300" dirty="0">
                <a:latin typeface="Gill Sans MT"/>
                <a:cs typeface="Gill Sans MT"/>
              </a:rPr>
              <a:t> </a:t>
            </a:r>
            <a:r>
              <a:rPr sz="1300" spc="75" dirty="0">
                <a:latin typeface="Gill Sans MT"/>
                <a:cs typeface="Gill Sans MT"/>
              </a:rPr>
              <a:t>as:</a:t>
            </a:r>
            <a:endParaRPr sz="1300" dirty="0">
              <a:latin typeface="Gill Sans MT"/>
              <a:cs typeface="Gill Sans MT"/>
            </a:endParaRPr>
          </a:p>
          <a:p>
            <a:pPr marL="578485" lvl="1" indent="-226060">
              <a:lnSpc>
                <a:spcPct val="100000"/>
              </a:lnSpc>
              <a:spcBef>
                <a:spcPts val="300"/>
              </a:spcBef>
              <a:buClr>
                <a:srgbClr val="FF8600"/>
              </a:buClr>
              <a:buSzPct val="79166"/>
              <a:buAutoNum type="arabicPeriod"/>
              <a:tabLst>
                <a:tab pos="578485" algn="l"/>
              </a:tabLst>
            </a:pPr>
            <a:r>
              <a:rPr sz="1300" spc="-10" dirty="0">
                <a:latin typeface="Gill Sans MT"/>
                <a:cs typeface="Gill Sans MT"/>
              </a:rPr>
              <a:t>read(A);</a:t>
            </a:r>
            <a:endParaRPr sz="1300" dirty="0">
              <a:latin typeface="Gill Sans MT"/>
              <a:cs typeface="Gill Sans MT"/>
            </a:endParaRPr>
          </a:p>
          <a:p>
            <a:pPr marL="578485" lvl="1" indent="-226060">
              <a:lnSpc>
                <a:spcPct val="100000"/>
              </a:lnSpc>
              <a:spcBef>
                <a:spcPts val="300"/>
              </a:spcBef>
              <a:buClr>
                <a:srgbClr val="FF8600"/>
              </a:buClr>
              <a:buSzPct val="79166"/>
              <a:buAutoNum type="arabicPeriod"/>
              <a:tabLst>
                <a:tab pos="578485" algn="l"/>
              </a:tabLst>
            </a:pPr>
            <a:r>
              <a:rPr sz="1300" dirty="0">
                <a:latin typeface="Gill Sans MT"/>
                <a:cs typeface="Gill Sans MT"/>
              </a:rPr>
              <a:t>A</a:t>
            </a:r>
            <a:r>
              <a:rPr sz="1300" spc="-50" dirty="0">
                <a:latin typeface="Gill Sans MT"/>
                <a:cs typeface="Gill Sans MT"/>
              </a:rPr>
              <a:t> </a:t>
            </a:r>
            <a:r>
              <a:rPr sz="1300" dirty="0">
                <a:latin typeface="Gill Sans MT"/>
                <a:cs typeface="Gill Sans MT"/>
              </a:rPr>
              <a:t>:=</a:t>
            </a:r>
            <a:r>
              <a:rPr sz="1300" spc="-55" dirty="0">
                <a:latin typeface="Gill Sans MT"/>
                <a:cs typeface="Gill Sans MT"/>
              </a:rPr>
              <a:t> </a:t>
            </a:r>
            <a:r>
              <a:rPr sz="1300" dirty="0">
                <a:latin typeface="Gill Sans MT"/>
                <a:cs typeface="Gill Sans MT"/>
              </a:rPr>
              <a:t>A</a:t>
            </a:r>
            <a:r>
              <a:rPr sz="1300" spc="-50" dirty="0">
                <a:latin typeface="Gill Sans MT"/>
                <a:cs typeface="Gill Sans MT"/>
              </a:rPr>
              <a:t> </a:t>
            </a:r>
            <a:r>
              <a:rPr sz="1300" spc="185" dirty="0">
                <a:latin typeface="Gill Sans MT"/>
                <a:cs typeface="Gill Sans MT"/>
              </a:rPr>
              <a:t>–</a:t>
            </a:r>
            <a:r>
              <a:rPr sz="1300" spc="-50" dirty="0">
                <a:latin typeface="Gill Sans MT"/>
                <a:cs typeface="Gill Sans MT"/>
              </a:rPr>
              <a:t> </a:t>
            </a:r>
            <a:r>
              <a:rPr sz="1300" spc="-25" dirty="0">
                <a:latin typeface="Gill Sans MT"/>
                <a:cs typeface="Gill Sans MT"/>
              </a:rPr>
              <a:t>50;</a:t>
            </a:r>
            <a:endParaRPr sz="1300" dirty="0">
              <a:latin typeface="Gill Sans MT"/>
              <a:cs typeface="Gill Sans MT"/>
            </a:endParaRPr>
          </a:p>
          <a:p>
            <a:pPr marL="578485" lvl="1" indent="-226060">
              <a:lnSpc>
                <a:spcPct val="100000"/>
              </a:lnSpc>
              <a:spcBef>
                <a:spcPts val="300"/>
              </a:spcBef>
              <a:buClr>
                <a:srgbClr val="FF8600"/>
              </a:buClr>
              <a:buSzPct val="79166"/>
              <a:buAutoNum type="arabicPeriod"/>
              <a:tabLst>
                <a:tab pos="578485" algn="l"/>
              </a:tabLst>
            </a:pPr>
            <a:r>
              <a:rPr sz="1300" spc="-10" dirty="0">
                <a:latin typeface="Gill Sans MT"/>
                <a:cs typeface="Gill Sans MT"/>
              </a:rPr>
              <a:t>write(A);</a:t>
            </a:r>
            <a:endParaRPr sz="1300" dirty="0">
              <a:latin typeface="Gill Sans MT"/>
              <a:cs typeface="Gill Sans MT"/>
            </a:endParaRPr>
          </a:p>
          <a:p>
            <a:pPr marL="577215" lvl="1" indent="-224790">
              <a:lnSpc>
                <a:spcPct val="100000"/>
              </a:lnSpc>
              <a:spcBef>
                <a:spcPts val="300"/>
              </a:spcBef>
              <a:buClr>
                <a:srgbClr val="FF8600"/>
              </a:buClr>
              <a:buSzPct val="79166"/>
              <a:buAutoNum type="arabicPeriod"/>
              <a:tabLst>
                <a:tab pos="577215" algn="l"/>
              </a:tabLst>
            </a:pPr>
            <a:r>
              <a:rPr sz="1300" spc="-10" dirty="0">
                <a:latin typeface="Gill Sans MT"/>
                <a:cs typeface="Gill Sans MT"/>
              </a:rPr>
              <a:t>read(B);</a:t>
            </a:r>
            <a:endParaRPr sz="1300" dirty="0">
              <a:latin typeface="Gill Sans MT"/>
              <a:cs typeface="Gill Sans MT"/>
            </a:endParaRPr>
          </a:p>
          <a:p>
            <a:pPr marL="578485" lvl="1" indent="-226060">
              <a:lnSpc>
                <a:spcPct val="100000"/>
              </a:lnSpc>
              <a:spcBef>
                <a:spcPts val="305"/>
              </a:spcBef>
              <a:buClr>
                <a:srgbClr val="FF8600"/>
              </a:buClr>
              <a:buSzPct val="79166"/>
              <a:buAutoNum type="arabicPeriod"/>
              <a:tabLst>
                <a:tab pos="578485" algn="l"/>
              </a:tabLst>
            </a:pPr>
            <a:r>
              <a:rPr sz="1300" spc="65" dirty="0">
                <a:latin typeface="Gill Sans MT"/>
                <a:cs typeface="Gill Sans MT"/>
              </a:rPr>
              <a:t>B</a:t>
            </a:r>
            <a:r>
              <a:rPr sz="1300" spc="-50" dirty="0">
                <a:latin typeface="Gill Sans MT"/>
                <a:cs typeface="Gill Sans MT"/>
              </a:rPr>
              <a:t> </a:t>
            </a:r>
            <a:r>
              <a:rPr sz="1300" dirty="0">
                <a:latin typeface="Gill Sans MT"/>
                <a:cs typeface="Gill Sans MT"/>
              </a:rPr>
              <a:t>:=</a:t>
            </a:r>
            <a:r>
              <a:rPr sz="1300" spc="-35" dirty="0">
                <a:latin typeface="Gill Sans MT"/>
                <a:cs typeface="Gill Sans MT"/>
              </a:rPr>
              <a:t> </a:t>
            </a:r>
            <a:r>
              <a:rPr sz="1300" spc="65" dirty="0">
                <a:latin typeface="Gill Sans MT"/>
                <a:cs typeface="Gill Sans MT"/>
              </a:rPr>
              <a:t>B</a:t>
            </a:r>
            <a:r>
              <a:rPr sz="1300" spc="-50" dirty="0">
                <a:latin typeface="Gill Sans MT"/>
                <a:cs typeface="Gill Sans MT"/>
              </a:rPr>
              <a:t> </a:t>
            </a:r>
            <a:r>
              <a:rPr sz="1300" dirty="0">
                <a:latin typeface="Gill Sans MT"/>
                <a:cs typeface="Gill Sans MT"/>
              </a:rPr>
              <a:t>+</a:t>
            </a:r>
            <a:r>
              <a:rPr sz="1300" spc="-55" dirty="0">
                <a:latin typeface="Gill Sans MT"/>
                <a:cs typeface="Gill Sans MT"/>
              </a:rPr>
              <a:t> </a:t>
            </a:r>
            <a:r>
              <a:rPr sz="1300" spc="-25" dirty="0">
                <a:latin typeface="Gill Sans MT"/>
                <a:cs typeface="Gill Sans MT"/>
              </a:rPr>
              <a:t>50;</a:t>
            </a:r>
            <a:endParaRPr sz="1300" dirty="0">
              <a:latin typeface="Gill Sans MT"/>
              <a:cs typeface="Gill Sans MT"/>
            </a:endParaRPr>
          </a:p>
          <a:p>
            <a:pPr marL="578485" lvl="1" indent="-226060">
              <a:lnSpc>
                <a:spcPct val="100000"/>
              </a:lnSpc>
              <a:spcBef>
                <a:spcPts val="300"/>
              </a:spcBef>
              <a:buClr>
                <a:srgbClr val="FF8600"/>
              </a:buClr>
              <a:buSzPct val="79166"/>
              <a:buAutoNum type="arabicPeriod"/>
              <a:tabLst>
                <a:tab pos="578485" algn="l"/>
              </a:tabLst>
            </a:pPr>
            <a:r>
              <a:rPr sz="1300" spc="-10" dirty="0">
                <a:latin typeface="Gill Sans MT"/>
                <a:cs typeface="Gill Sans MT"/>
              </a:rPr>
              <a:t>write(B);</a:t>
            </a:r>
            <a:endParaRPr sz="1300" dirty="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0" dirty="0">
                <a:solidFill>
                  <a:srgbClr val="FFFFFF"/>
                </a:solidFill>
                <a:latin typeface="Gill Sans MT"/>
                <a:cs typeface="Gill Sans MT"/>
              </a:rPr>
              <a:t>4</a:t>
            </a:r>
            <a:endParaRPr sz="13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811" y="1172971"/>
            <a:ext cx="72637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ill Sans MT"/>
                <a:cs typeface="Gill Sans MT"/>
              </a:rPr>
              <a:t>Let,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</a:t>
            </a:r>
            <a:r>
              <a:rPr sz="1200" baseline="-20833" dirty="0">
                <a:latin typeface="Gill Sans MT"/>
                <a:cs typeface="Gill Sans MT"/>
              </a:rPr>
              <a:t>i</a:t>
            </a:r>
            <a:r>
              <a:rPr sz="1200" spc="150" baseline="-20833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be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135" dirty="0">
                <a:latin typeface="Gill Sans MT"/>
                <a:cs typeface="Gill Sans MT"/>
              </a:rPr>
              <a:t>a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transaction</a:t>
            </a:r>
            <a:r>
              <a:rPr sz="1200" spc="-2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that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transfers</a:t>
            </a:r>
            <a:r>
              <a:rPr sz="1200" spc="-2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$50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from</a:t>
            </a:r>
            <a:r>
              <a:rPr sz="1200" spc="-2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account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A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to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account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B.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This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transaction</a:t>
            </a:r>
            <a:r>
              <a:rPr sz="1200" spc="-20" dirty="0">
                <a:latin typeface="Gill Sans MT"/>
                <a:cs typeface="Gill Sans MT"/>
              </a:rPr>
              <a:t> </a:t>
            </a:r>
            <a:r>
              <a:rPr sz="1200" spc="95" dirty="0">
                <a:latin typeface="Gill Sans MT"/>
                <a:cs typeface="Gill Sans MT"/>
              </a:rPr>
              <a:t>can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be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defined</a:t>
            </a:r>
            <a:r>
              <a:rPr sz="1200" dirty="0">
                <a:latin typeface="Gill Sans MT"/>
                <a:cs typeface="Gill Sans MT"/>
              </a:rPr>
              <a:t> </a:t>
            </a:r>
            <a:r>
              <a:rPr sz="1200" spc="75" dirty="0">
                <a:latin typeface="Gill Sans MT"/>
                <a:cs typeface="Gill Sans MT"/>
              </a:rPr>
              <a:t>as: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6212" y="1615388"/>
            <a:ext cx="1143635" cy="157988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95"/>
              </a:spcBef>
              <a:buClr>
                <a:srgbClr val="FF8600"/>
              </a:buClr>
              <a:buSzPct val="79166"/>
              <a:buAutoNum type="arabicPeriod"/>
              <a:tabLst>
                <a:tab pos="354965" algn="l"/>
              </a:tabLst>
            </a:pPr>
            <a:r>
              <a:rPr sz="1200" spc="-10" dirty="0">
                <a:latin typeface="Gill Sans MT"/>
                <a:cs typeface="Gill Sans MT"/>
              </a:rPr>
              <a:t>read(A);</a:t>
            </a:r>
            <a:endParaRPr sz="1200">
              <a:latin typeface="Gill Sans MT"/>
              <a:cs typeface="Gill Sans MT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Clr>
                <a:srgbClr val="FF8600"/>
              </a:buClr>
              <a:buSzPct val="79166"/>
              <a:buAutoNum type="arabicPeriod"/>
              <a:tabLst>
                <a:tab pos="354965" algn="l"/>
              </a:tabLst>
            </a:pPr>
            <a:r>
              <a:rPr sz="1200" dirty="0">
                <a:latin typeface="Gill Sans MT"/>
                <a:cs typeface="Gill Sans MT"/>
              </a:rPr>
              <a:t>A</a:t>
            </a:r>
            <a:r>
              <a:rPr sz="1200" spc="-4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:=</a:t>
            </a:r>
            <a:r>
              <a:rPr sz="1200" spc="-5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A</a:t>
            </a:r>
            <a:r>
              <a:rPr sz="1200" spc="-50" dirty="0">
                <a:latin typeface="Gill Sans MT"/>
                <a:cs typeface="Gill Sans MT"/>
              </a:rPr>
              <a:t> </a:t>
            </a:r>
            <a:r>
              <a:rPr sz="1200" spc="185" dirty="0">
                <a:latin typeface="Gill Sans MT"/>
                <a:cs typeface="Gill Sans MT"/>
              </a:rPr>
              <a:t>–</a:t>
            </a:r>
            <a:r>
              <a:rPr sz="1200" spc="-50" dirty="0">
                <a:latin typeface="Gill Sans MT"/>
                <a:cs typeface="Gill Sans MT"/>
              </a:rPr>
              <a:t> </a:t>
            </a:r>
            <a:r>
              <a:rPr sz="1200" spc="-25" dirty="0">
                <a:latin typeface="Gill Sans MT"/>
                <a:cs typeface="Gill Sans MT"/>
              </a:rPr>
              <a:t>50;</a:t>
            </a:r>
            <a:endParaRPr sz="1200">
              <a:latin typeface="Gill Sans MT"/>
              <a:cs typeface="Gill Sans MT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Clr>
                <a:srgbClr val="FF8600"/>
              </a:buClr>
              <a:buSzPct val="79166"/>
              <a:buAutoNum type="arabicPeriod"/>
              <a:tabLst>
                <a:tab pos="354965" algn="l"/>
              </a:tabLst>
            </a:pPr>
            <a:r>
              <a:rPr sz="1200" spc="-10" dirty="0">
                <a:latin typeface="Gill Sans MT"/>
                <a:cs typeface="Gill Sans MT"/>
              </a:rPr>
              <a:t>write(A);</a:t>
            </a:r>
            <a:endParaRPr sz="1200">
              <a:latin typeface="Gill Sans MT"/>
              <a:cs typeface="Gill Sans MT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Clr>
                <a:srgbClr val="FF8600"/>
              </a:buClr>
              <a:buSzPct val="79166"/>
              <a:buAutoNum type="arabicPeriod"/>
              <a:tabLst>
                <a:tab pos="354965" algn="l"/>
              </a:tabLst>
            </a:pPr>
            <a:r>
              <a:rPr sz="1200" spc="-10" dirty="0">
                <a:latin typeface="Gill Sans MT"/>
                <a:cs typeface="Gill Sans MT"/>
              </a:rPr>
              <a:t>read(B);</a:t>
            </a:r>
            <a:endParaRPr sz="1200">
              <a:latin typeface="Gill Sans MT"/>
              <a:cs typeface="Gill Sans MT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Clr>
                <a:srgbClr val="FF8600"/>
              </a:buClr>
              <a:buSzPct val="79166"/>
              <a:buAutoNum type="arabicPeriod"/>
              <a:tabLst>
                <a:tab pos="354965" algn="l"/>
              </a:tabLst>
            </a:pPr>
            <a:r>
              <a:rPr sz="1200" spc="65" dirty="0">
                <a:latin typeface="Gill Sans MT"/>
                <a:cs typeface="Gill Sans MT"/>
              </a:rPr>
              <a:t>B</a:t>
            </a:r>
            <a:r>
              <a:rPr sz="1200" spc="-5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:=</a:t>
            </a:r>
            <a:r>
              <a:rPr sz="1200" spc="-35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B</a:t>
            </a:r>
            <a:r>
              <a:rPr sz="1200" spc="-5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+</a:t>
            </a:r>
            <a:r>
              <a:rPr sz="1200" spc="-55" dirty="0">
                <a:latin typeface="Gill Sans MT"/>
                <a:cs typeface="Gill Sans MT"/>
              </a:rPr>
              <a:t> </a:t>
            </a:r>
            <a:r>
              <a:rPr sz="1200" spc="-25" dirty="0">
                <a:latin typeface="Gill Sans MT"/>
                <a:cs typeface="Gill Sans MT"/>
              </a:rPr>
              <a:t>50;</a:t>
            </a:r>
            <a:endParaRPr sz="1200">
              <a:latin typeface="Gill Sans MT"/>
              <a:cs typeface="Gill Sans MT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Clr>
                <a:srgbClr val="FF8600"/>
              </a:buClr>
              <a:buSzPct val="79166"/>
              <a:buAutoNum type="arabicPeriod"/>
              <a:tabLst>
                <a:tab pos="354965" algn="l"/>
              </a:tabLst>
            </a:pPr>
            <a:r>
              <a:rPr sz="1200" spc="-10" dirty="0">
                <a:latin typeface="Gill Sans MT"/>
                <a:cs typeface="Gill Sans MT"/>
              </a:rPr>
              <a:t>write(B);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spc="-165" dirty="0"/>
              <a:t>Transaction</a:t>
            </a:r>
            <a:r>
              <a:rPr spc="-229" dirty="0"/>
              <a:t> </a:t>
            </a:r>
            <a:r>
              <a:rPr spc="-135" dirty="0"/>
              <a:t>Properties</a:t>
            </a:r>
            <a:r>
              <a:rPr spc="-245" dirty="0"/>
              <a:t> </a:t>
            </a:r>
            <a:r>
              <a:rPr spc="-210" dirty="0">
                <a:solidFill>
                  <a:srgbClr val="00AFEF"/>
                </a:solidFill>
              </a:rPr>
              <a:t>–</a:t>
            </a:r>
            <a:r>
              <a:rPr spc="-235" dirty="0">
                <a:solidFill>
                  <a:srgbClr val="00AFEF"/>
                </a:solidFill>
              </a:rPr>
              <a:t> </a:t>
            </a:r>
            <a:r>
              <a:rPr spc="-280" dirty="0"/>
              <a:t>ACID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0" dirty="0">
                <a:solidFill>
                  <a:srgbClr val="FFFFFF"/>
                </a:solidFill>
                <a:latin typeface="Gill Sans MT"/>
                <a:cs typeface="Gill Sans MT"/>
              </a:rPr>
              <a:t>5</a:t>
            </a:r>
            <a:endParaRPr sz="1300">
              <a:latin typeface="Gill Sans MT"/>
              <a:cs typeface="Gill Sans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43757" y="1603822"/>
            <a:ext cx="2777872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006FC0"/>
                </a:solidFill>
                <a:latin typeface="Gill Sans MT"/>
                <a:cs typeface="Gill Sans MT"/>
              </a:rPr>
              <a:t>A</a:t>
            </a:r>
            <a:r>
              <a:rPr sz="1400" spc="-65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400" dirty="0">
                <a:solidFill>
                  <a:srgbClr val="006FC0"/>
                </a:solidFill>
                <a:latin typeface="Gill Sans MT"/>
                <a:cs typeface="Gill Sans MT"/>
              </a:rPr>
              <a:t>=</a:t>
            </a:r>
            <a:r>
              <a:rPr sz="1400" spc="-75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400" spc="-10" dirty="0" smtClean="0">
                <a:solidFill>
                  <a:srgbClr val="006FC0"/>
                </a:solidFill>
                <a:latin typeface="Gill Sans MT"/>
                <a:cs typeface="Gill Sans MT"/>
              </a:rPr>
              <a:t>Atomicity</a:t>
            </a:r>
            <a:r>
              <a:rPr lang="en-US" sz="1400" spc="-10" dirty="0" smtClean="0">
                <a:solidFill>
                  <a:srgbClr val="006FC0"/>
                </a:solidFill>
                <a:latin typeface="Gill Sans MT"/>
                <a:cs typeface="Gill Sans MT"/>
              </a:rPr>
              <a:t> (all or nothing)</a:t>
            </a:r>
            <a:endParaRPr sz="1400" dirty="0">
              <a:latin typeface="Gill Sans MT"/>
              <a:cs typeface="Gill Sans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32329" y="1882851"/>
            <a:ext cx="601345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sz="1200" spc="65" dirty="0">
                <a:latin typeface="Gill Sans MT"/>
                <a:cs typeface="Gill Sans MT"/>
              </a:rPr>
              <a:t>If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transaction</a:t>
            </a:r>
            <a:r>
              <a:rPr sz="1200" dirty="0">
                <a:latin typeface="Gill Sans MT"/>
                <a:cs typeface="Gill Sans MT"/>
              </a:rPr>
              <a:t> </a:t>
            </a:r>
            <a:r>
              <a:rPr sz="1200" spc="90" dirty="0">
                <a:latin typeface="Gill Sans MT"/>
                <a:cs typeface="Gill Sans MT"/>
              </a:rPr>
              <a:t>fails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after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step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3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80" dirty="0">
                <a:latin typeface="Gill Sans MT"/>
                <a:cs typeface="Gill Sans MT"/>
              </a:rPr>
              <a:t>and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before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step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6,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money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will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be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lost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leading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to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an</a:t>
            </a:r>
            <a:endParaRPr sz="1200" dirty="0">
              <a:latin typeface="Gill Sans MT"/>
              <a:cs typeface="Gill Sans MT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sz="1200" spc="55" dirty="0">
                <a:latin typeface="Gill Sans MT"/>
                <a:cs typeface="Gill Sans MT"/>
              </a:rPr>
              <a:t>inconsistent</a:t>
            </a:r>
            <a:r>
              <a:rPr sz="1200" spc="-35" dirty="0">
                <a:latin typeface="Gill Sans MT"/>
                <a:cs typeface="Gill Sans MT"/>
              </a:rPr>
              <a:t> </a:t>
            </a:r>
            <a:r>
              <a:rPr sz="1200" spc="90" dirty="0">
                <a:latin typeface="Gill Sans MT"/>
                <a:cs typeface="Gill Sans MT"/>
              </a:rPr>
              <a:t>database</a:t>
            </a:r>
            <a:r>
              <a:rPr sz="1200" spc="-3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state.</a:t>
            </a:r>
            <a:r>
              <a:rPr sz="1200" spc="-45" dirty="0">
                <a:latin typeface="Gill Sans MT"/>
                <a:cs typeface="Gill Sans MT"/>
              </a:rPr>
              <a:t> </a:t>
            </a:r>
            <a:r>
              <a:rPr sz="1200" spc="45" dirty="0">
                <a:latin typeface="Gill Sans MT"/>
                <a:cs typeface="Gill Sans MT"/>
              </a:rPr>
              <a:t>Failure</a:t>
            </a:r>
            <a:r>
              <a:rPr sz="1200" spc="-30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could</a:t>
            </a:r>
            <a:r>
              <a:rPr sz="1200" spc="-2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be</a:t>
            </a:r>
            <a:r>
              <a:rPr sz="1200" spc="-35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due</a:t>
            </a:r>
            <a:r>
              <a:rPr sz="1200" spc="-2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to</a:t>
            </a:r>
            <a:r>
              <a:rPr sz="1200" spc="-35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software</a:t>
            </a:r>
            <a:r>
              <a:rPr sz="1200" spc="-50" dirty="0">
                <a:latin typeface="Gill Sans MT"/>
                <a:cs typeface="Gill Sans MT"/>
              </a:rPr>
              <a:t> </a:t>
            </a:r>
            <a:r>
              <a:rPr sz="1200" spc="-20" dirty="0">
                <a:latin typeface="Gill Sans MT"/>
                <a:cs typeface="Gill Sans MT"/>
              </a:rPr>
              <a:t>or</a:t>
            </a:r>
            <a:r>
              <a:rPr sz="1200" spc="-30" dirty="0">
                <a:latin typeface="Gill Sans MT"/>
                <a:cs typeface="Gill Sans MT"/>
              </a:rPr>
              <a:t> </a:t>
            </a:r>
            <a:r>
              <a:rPr sz="1200" spc="-10" dirty="0">
                <a:latin typeface="Gill Sans MT"/>
                <a:cs typeface="Gill Sans MT"/>
              </a:rPr>
              <a:t>hardware.</a:t>
            </a:r>
            <a:endParaRPr sz="1200" dirty="0">
              <a:latin typeface="Gill Sans MT"/>
              <a:cs typeface="Gill Sans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32329" y="2432050"/>
            <a:ext cx="58191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sz="1200" spc="10" dirty="0">
                <a:latin typeface="Gill Sans MT"/>
                <a:cs typeface="Gill Sans MT"/>
              </a:rPr>
              <a:t>The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spc="85" dirty="0">
                <a:latin typeface="Gill Sans MT"/>
                <a:cs typeface="Gill Sans MT"/>
              </a:rPr>
              <a:t>system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should</a:t>
            </a:r>
            <a:r>
              <a:rPr sz="1200" spc="50" dirty="0">
                <a:latin typeface="Gill Sans MT"/>
                <a:cs typeface="Gill Sans MT"/>
              </a:rPr>
              <a:t> ensure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that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updates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of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spc="135" dirty="0">
                <a:latin typeface="Gill Sans MT"/>
                <a:cs typeface="Gill Sans MT"/>
              </a:rPr>
              <a:t>a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partially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executed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transaction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are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spc="-25" dirty="0">
                <a:latin typeface="Gill Sans MT"/>
                <a:cs typeface="Gill Sans MT"/>
              </a:rPr>
              <a:t>not </a:t>
            </a:r>
            <a:r>
              <a:rPr sz="1200" spc="10" dirty="0">
                <a:latin typeface="Gill Sans MT"/>
                <a:cs typeface="Gill Sans MT"/>
              </a:rPr>
              <a:t>reflected</a:t>
            </a:r>
            <a:r>
              <a:rPr sz="1200" spc="80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in</a:t>
            </a:r>
            <a:r>
              <a:rPr sz="1200" spc="100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the</a:t>
            </a:r>
            <a:r>
              <a:rPr sz="1200" spc="90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database.</a:t>
            </a:r>
            <a:endParaRPr sz="1200" dirty="0">
              <a:latin typeface="Gill Sans MT"/>
              <a:cs typeface="Gill Sans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32329" y="2980385"/>
            <a:ext cx="583882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95" dirty="0">
                <a:latin typeface="Gill Sans MT"/>
                <a:cs typeface="Gill Sans MT"/>
              </a:rPr>
              <a:t>basic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idea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behind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ensuring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45" dirty="0">
                <a:latin typeface="Gill Sans MT"/>
                <a:cs typeface="Gill Sans MT"/>
              </a:rPr>
              <a:t>atomicity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is: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85" dirty="0">
                <a:latin typeface="Gill Sans MT"/>
                <a:cs typeface="Gill Sans MT"/>
              </a:rPr>
              <a:t>database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85" dirty="0">
                <a:latin typeface="Gill Sans MT"/>
                <a:cs typeface="Gill Sans MT"/>
              </a:rPr>
              <a:t>system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75" dirty="0">
                <a:latin typeface="Gill Sans MT"/>
                <a:cs typeface="Gill Sans MT"/>
              </a:rPr>
              <a:t>keeps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track </a:t>
            </a:r>
            <a:r>
              <a:rPr sz="1200" spc="-25" dirty="0">
                <a:latin typeface="Gill Sans MT"/>
                <a:cs typeface="Gill Sans MT"/>
              </a:rPr>
              <a:t>(on </a:t>
            </a:r>
            <a:r>
              <a:rPr sz="1200" spc="55" dirty="0">
                <a:latin typeface="Gill Sans MT"/>
                <a:cs typeface="Gill Sans MT"/>
              </a:rPr>
              <a:t>disk)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of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old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spc="75" dirty="0">
                <a:latin typeface="Gill Sans MT"/>
                <a:cs typeface="Gill Sans MT"/>
              </a:rPr>
              <a:t>values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of</a:t>
            </a:r>
            <a:r>
              <a:rPr sz="1200" dirty="0">
                <a:latin typeface="Gill Sans MT"/>
                <a:cs typeface="Gill Sans MT"/>
              </a:rPr>
              <a:t> </a:t>
            </a:r>
            <a:r>
              <a:rPr sz="1200" spc="75" dirty="0">
                <a:latin typeface="Gill Sans MT"/>
                <a:cs typeface="Gill Sans MT"/>
              </a:rPr>
              <a:t>any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spc="75" dirty="0">
                <a:latin typeface="Gill Sans MT"/>
                <a:cs typeface="Gill Sans MT"/>
              </a:rPr>
              <a:t>data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on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which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135" dirty="0">
                <a:latin typeface="Gill Sans MT"/>
                <a:cs typeface="Gill Sans MT"/>
              </a:rPr>
              <a:t>a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transaction</a:t>
            </a:r>
            <a:r>
              <a:rPr sz="1200" spc="-20" dirty="0">
                <a:latin typeface="Gill Sans MT"/>
                <a:cs typeface="Gill Sans MT"/>
              </a:rPr>
              <a:t> </a:t>
            </a:r>
            <a:r>
              <a:rPr sz="1200" spc="45" dirty="0">
                <a:latin typeface="Gill Sans MT"/>
                <a:cs typeface="Gill Sans MT"/>
              </a:rPr>
              <a:t>performs</a:t>
            </a:r>
            <a:r>
              <a:rPr sz="1200" spc="-20" dirty="0">
                <a:latin typeface="Gill Sans MT"/>
                <a:cs typeface="Gill Sans MT"/>
              </a:rPr>
              <a:t> </a:t>
            </a:r>
            <a:r>
              <a:rPr sz="1200" spc="135" dirty="0">
                <a:latin typeface="Gill Sans MT"/>
                <a:cs typeface="Gill Sans MT"/>
              </a:rPr>
              <a:t>a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write.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spc="30" dirty="0">
                <a:latin typeface="Gill Sans MT"/>
                <a:cs typeface="Gill Sans MT"/>
              </a:rPr>
              <a:t>This </a:t>
            </a:r>
            <a:r>
              <a:rPr sz="1200" spc="20" dirty="0">
                <a:latin typeface="Gill Sans MT"/>
                <a:cs typeface="Gill Sans MT"/>
              </a:rPr>
              <a:t>information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spc="85" dirty="0">
                <a:latin typeface="Gill Sans MT"/>
                <a:cs typeface="Gill Sans MT"/>
              </a:rPr>
              <a:t>is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written</a:t>
            </a:r>
            <a:r>
              <a:rPr sz="1200" spc="-25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to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spc="135" dirty="0">
                <a:latin typeface="Gill Sans MT"/>
                <a:cs typeface="Gill Sans MT"/>
              </a:rPr>
              <a:t>a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file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called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the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i="1" spc="70" dirty="0">
                <a:latin typeface="Gill Sans MT"/>
                <a:cs typeface="Gill Sans MT"/>
              </a:rPr>
              <a:t>log</a:t>
            </a:r>
            <a:r>
              <a:rPr sz="1200" spc="70" dirty="0">
                <a:latin typeface="Gill Sans MT"/>
                <a:cs typeface="Gill Sans MT"/>
              </a:rPr>
              <a:t>.</a:t>
            </a:r>
            <a:endParaRPr sz="12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811" y="1172971"/>
            <a:ext cx="72637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ill Sans MT"/>
                <a:cs typeface="Gill Sans MT"/>
              </a:rPr>
              <a:t>Let,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</a:t>
            </a:r>
            <a:r>
              <a:rPr sz="1200" baseline="-20833" dirty="0">
                <a:latin typeface="Gill Sans MT"/>
                <a:cs typeface="Gill Sans MT"/>
              </a:rPr>
              <a:t>i</a:t>
            </a:r>
            <a:r>
              <a:rPr sz="1200" spc="150" baseline="-20833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be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135" dirty="0">
                <a:latin typeface="Gill Sans MT"/>
                <a:cs typeface="Gill Sans MT"/>
              </a:rPr>
              <a:t>a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transaction</a:t>
            </a:r>
            <a:r>
              <a:rPr sz="1200" spc="-2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that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transfers</a:t>
            </a:r>
            <a:r>
              <a:rPr sz="1200" spc="-2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$50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from</a:t>
            </a:r>
            <a:r>
              <a:rPr sz="1200" spc="-2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account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A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to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account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B.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This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transaction</a:t>
            </a:r>
            <a:r>
              <a:rPr sz="1200" spc="-20" dirty="0">
                <a:latin typeface="Gill Sans MT"/>
                <a:cs typeface="Gill Sans MT"/>
              </a:rPr>
              <a:t> </a:t>
            </a:r>
            <a:r>
              <a:rPr sz="1200" spc="95" dirty="0">
                <a:latin typeface="Gill Sans MT"/>
                <a:cs typeface="Gill Sans MT"/>
              </a:rPr>
              <a:t>can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be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defined</a:t>
            </a:r>
            <a:r>
              <a:rPr sz="1200" dirty="0">
                <a:latin typeface="Gill Sans MT"/>
                <a:cs typeface="Gill Sans MT"/>
              </a:rPr>
              <a:t> </a:t>
            </a:r>
            <a:r>
              <a:rPr sz="1200" spc="75" dirty="0">
                <a:latin typeface="Gill Sans MT"/>
                <a:cs typeface="Gill Sans MT"/>
              </a:rPr>
              <a:t>as: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6212" y="1615388"/>
            <a:ext cx="1143635" cy="157988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95"/>
              </a:spcBef>
              <a:buClr>
                <a:srgbClr val="FF8600"/>
              </a:buClr>
              <a:buSzPct val="79166"/>
              <a:buAutoNum type="arabicPeriod"/>
              <a:tabLst>
                <a:tab pos="354965" algn="l"/>
              </a:tabLst>
            </a:pPr>
            <a:r>
              <a:rPr sz="1200" spc="-10" dirty="0">
                <a:latin typeface="Gill Sans MT"/>
                <a:cs typeface="Gill Sans MT"/>
              </a:rPr>
              <a:t>read(A);</a:t>
            </a:r>
            <a:endParaRPr sz="1200">
              <a:latin typeface="Gill Sans MT"/>
              <a:cs typeface="Gill Sans MT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Clr>
                <a:srgbClr val="FF8600"/>
              </a:buClr>
              <a:buSzPct val="79166"/>
              <a:buAutoNum type="arabicPeriod"/>
              <a:tabLst>
                <a:tab pos="354965" algn="l"/>
              </a:tabLst>
            </a:pPr>
            <a:r>
              <a:rPr sz="1200" dirty="0">
                <a:latin typeface="Gill Sans MT"/>
                <a:cs typeface="Gill Sans MT"/>
              </a:rPr>
              <a:t>A</a:t>
            </a:r>
            <a:r>
              <a:rPr sz="1200" spc="-4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:=</a:t>
            </a:r>
            <a:r>
              <a:rPr sz="1200" spc="-5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A</a:t>
            </a:r>
            <a:r>
              <a:rPr sz="1200" spc="-50" dirty="0">
                <a:latin typeface="Gill Sans MT"/>
                <a:cs typeface="Gill Sans MT"/>
              </a:rPr>
              <a:t> </a:t>
            </a:r>
            <a:r>
              <a:rPr sz="1200" spc="185" dirty="0">
                <a:latin typeface="Gill Sans MT"/>
                <a:cs typeface="Gill Sans MT"/>
              </a:rPr>
              <a:t>–</a:t>
            </a:r>
            <a:r>
              <a:rPr sz="1200" spc="-50" dirty="0">
                <a:latin typeface="Gill Sans MT"/>
                <a:cs typeface="Gill Sans MT"/>
              </a:rPr>
              <a:t> </a:t>
            </a:r>
            <a:r>
              <a:rPr sz="1200" spc="-25" dirty="0">
                <a:latin typeface="Gill Sans MT"/>
                <a:cs typeface="Gill Sans MT"/>
              </a:rPr>
              <a:t>50;</a:t>
            </a:r>
            <a:endParaRPr sz="1200">
              <a:latin typeface="Gill Sans MT"/>
              <a:cs typeface="Gill Sans MT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Clr>
                <a:srgbClr val="FF8600"/>
              </a:buClr>
              <a:buSzPct val="79166"/>
              <a:buAutoNum type="arabicPeriod"/>
              <a:tabLst>
                <a:tab pos="354965" algn="l"/>
              </a:tabLst>
            </a:pPr>
            <a:r>
              <a:rPr sz="1200" spc="-10" dirty="0">
                <a:latin typeface="Gill Sans MT"/>
                <a:cs typeface="Gill Sans MT"/>
              </a:rPr>
              <a:t>write(A);</a:t>
            </a:r>
            <a:endParaRPr sz="1200">
              <a:latin typeface="Gill Sans MT"/>
              <a:cs typeface="Gill Sans MT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Clr>
                <a:srgbClr val="FF8600"/>
              </a:buClr>
              <a:buSzPct val="79166"/>
              <a:buAutoNum type="arabicPeriod"/>
              <a:tabLst>
                <a:tab pos="354965" algn="l"/>
              </a:tabLst>
            </a:pPr>
            <a:r>
              <a:rPr sz="1200" spc="-10" dirty="0">
                <a:latin typeface="Gill Sans MT"/>
                <a:cs typeface="Gill Sans MT"/>
              </a:rPr>
              <a:t>read(B);</a:t>
            </a:r>
            <a:endParaRPr sz="1200">
              <a:latin typeface="Gill Sans MT"/>
              <a:cs typeface="Gill Sans MT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Clr>
                <a:srgbClr val="FF8600"/>
              </a:buClr>
              <a:buSzPct val="79166"/>
              <a:buAutoNum type="arabicPeriod"/>
              <a:tabLst>
                <a:tab pos="354965" algn="l"/>
              </a:tabLst>
            </a:pPr>
            <a:r>
              <a:rPr sz="1200" spc="65" dirty="0">
                <a:latin typeface="Gill Sans MT"/>
                <a:cs typeface="Gill Sans MT"/>
              </a:rPr>
              <a:t>B</a:t>
            </a:r>
            <a:r>
              <a:rPr sz="1200" spc="-5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:=</a:t>
            </a:r>
            <a:r>
              <a:rPr sz="1200" spc="-35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B</a:t>
            </a:r>
            <a:r>
              <a:rPr sz="1200" spc="-5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+</a:t>
            </a:r>
            <a:r>
              <a:rPr sz="1200" spc="-55" dirty="0">
                <a:latin typeface="Gill Sans MT"/>
                <a:cs typeface="Gill Sans MT"/>
              </a:rPr>
              <a:t> </a:t>
            </a:r>
            <a:r>
              <a:rPr sz="1200" spc="-25" dirty="0">
                <a:latin typeface="Gill Sans MT"/>
                <a:cs typeface="Gill Sans MT"/>
              </a:rPr>
              <a:t>50;</a:t>
            </a:r>
            <a:endParaRPr sz="1200">
              <a:latin typeface="Gill Sans MT"/>
              <a:cs typeface="Gill Sans MT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Clr>
                <a:srgbClr val="FF8600"/>
              </a:buClr>
              <a:buSzPct val="79166"/>
              <a:buAutoNum type="arabicPeriod"/>
              <a:tabLst>
                <a:tab pos="354965" algn="l"/>
              </a:tabLst>
            </a:pPr>
            <a:r>
              <a:rPr sz="1200" spc="-10" dirty="0">
                <a:latin typeface="Gill Sans MT"/>
                <a:cs typeface="Gill Sans MT"/>
              </a:rPr>
              <a:t>write(B);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spc="-165" dirty="0"/>
              <a:t>Transaction</a:t>
            </a:r>
            <a:r>
              <a:rPr spc="-229" dirty="0"/>
              <a:t> </a:t>
            </a:r>
            <a:r>
              <a:rPr spc="-135" dirty="0"/>
              <a:t>Properties</a:t>
            </a:r>
            <a:r>
              <a:rPr spc="-245" dirty="0"/>
              <a:t> </a:t>
            </a:r>
            <a:r>
              <a:rPr spc="-210" dirty="0">
                <a:solidFill>
                  <a:srgbClr val="00AFEF"/>
                </a:solidFill>
              </a:rPr>
              <a:t>–</a:t>
            </a:r>
            <a:r>
              <a:rPr spc="-235" dirty="0">
                <a:solidFill>
                  <a:srgbClr val="00AFEF"/>
                </a:solidFill>
              </a:rPr>
              <a:t> </a:t>
            </a:r>
            <a:r>
              <a:rPr spc="-280" dirty="0"/>
              <a:t>ACID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0" dirty="0">
                <a:solidFill>
                  <a:srgbClr val="FFFFFF"/>
                </a:solidFill>
                <a:latin typeface="Gill Sans MT"/>
                <a:cs typeface="Gill Sans MT"/>
              </a:rPr>
              <a:t>6</a:t>
            </a:r>
            <a:endParaRPr sz="1300">
              <a:latin typeface="Gill Sans MT"/>
              <a:cs typeface="Gill Sans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32328" y="1625087"/>
            <a:ext cx="2396871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25" dirty="0">
                <a:solidFill>
                  <a:srgbClr val="006FC0"/>
                </a:solidFill>
                <a:latin typeface="Gill Sans MT"/>
                <a:cs typeface="Gill Sans MT"/>
              </a:rPr>
              <a:t>D</a:t>
            </a:r>
            <a:r>
              <a:rPr sz="1400" spc="-35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400" dirty="0">
                <a:solidFill>
                  <a:srgbClr val="006FC0"/>
                </a:solidFill>
                <a:latin typeface="Gill Sans MT"/>
                <a:cs typeface="Gill Sans MT"/>
              </a:rPr>
              <a:t>=</a:t>
            </a:r>
            <a:r>
              <a:rPr sz="1400" spc="-70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400" spc="-10" dirty="0" smtClean="0">
                <a:solidFill>
                  <a:srgbClr val="006FC0"/>
                </a:solidFill>
                <a:latin typeface="Gill Sans MT"/>
                <a:cs typeface="Gill Sans MT"/>
              </a:rPr>
              <a:t>Durability</a:t>
            </a:r>
            <a:r>
              <a:rPr lang="en-US" sz="1400" spc="-10" dirty="0" smtClean="0">
                <a:solidFill>
                  <a:srgbClr val="006FC0"/>
                </a:solidFill>
                <a:latin typeface="Gill Sans MT"/>
                <a:cs typeface="Gill Sans MT"/>
              </a:rPr>
              <a:t> (changes stay)</a:t>
            </a:r>
            <a:endParaRPr sz="1400" dirty="0">
              <a:latin typeface="Gill Sans MT"/>
              <a:cs typeface="Gill Sans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632329" y="1882851"/>
            <a:ext cx="611759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sz="1200" spc="10" dirty="0">
                <a:latin typeface="Gill Sans MT"/>
                <a:cs typeface="Gill Sans MT"/>
              </a:rPr>
              <a:t>Once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the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user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spc="114" dirty="0">
                <a:latin typeface="Gill Sans MT"/>
                <a:cs typeface="Gill Sans MT"/>
              </a:rPr>
              <a:t>has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been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notified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that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the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transaction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114" dirty="0">
                <a:latin typeface="Gill Sans MT"/>
                <a:cs typeface="Gill Sans MT"/>
              </a:rPr>
              <a:t>has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completed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the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updates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to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-25" dirty="0">
                <a:latin typeface="Gill Sans MT"/>
                <a:cs typeface="Gill Sans MT"/>
              </a:rPr>
              <a:t>the </a:t>
            </a:r>
            <a:r>
              <a:rPr sz="1200" spc="75" dirty="0">
                <a:latin typeface="Gill Sans MT"/>
                <a:cs typeface="Gill Sans MT"/>
              </a:rPr>
              <a:t>database,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it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80" dirty="0">
                <a:latin typeface="Gill Sans MT"/>
                <a:cs typeface="Gill Sans MT"/>
              </a:rPr>
              <a:t>must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be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105" dirty="0">
                <a:latin typeface="Gill Sans MT"/>
                <a:cs typeface="Gill Sans MT"/>
              </a:rPr>
              <a:t>case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that no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80" dirty="0">
                <a:latin typeface="Gill Sans MT"/>
                <a:cs typeface="Gill Sans MT"/>
              </a:rPr>
              <a:t>system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45" dirty="0">
                <a:latin typeface="Gill Sans MT"/>
                <a:cs typeface="Gill Sans MT"/>
              </a:rPr>
              <a:t>failure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95" dirty="0">
                <a:latin typeface="Gill Sans MT"/>
                <a:cs typeface="Gill Sans MT"/>
              </a:rPr>
              <a:t>can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result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in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135" dirty="0">
                <a:latin typeface="Gill Sans MT"/>
                <a:cs typeface="Gill Sans MT"/>
              </a:rPr>
              <a:t>a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85" dirty="0">
                <a:latin typeface="Gill Sans MT"/>
                <a:cs typeface="Gill Sans MT"/>
              </a:rPr>
              <a:t>loss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of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data </a:t>
            </a:r>
            <a:r>
              <a:rPr sz="1200" spc="45" dirty="0">
                <a:latin typeface="Gill Sans MT"/>
                <a:cs typeface="Gill Sans MT"/>
              </a:rPr>
              <a:t>corresponding</a:t>
            </a:r>
            <a:r>
              <a:rPr sz="1200" spc="-2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to</a:t>
            </a:r>
            <a:r>
              <a:rPr sz="1200" spc="-40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this</a:t>
            </a:r>
            <a:r>
              <a:rPr sz="1200" spc="-25" dirty="0">
                <a:latin typeface="Gill Sans MT"/>
                <a:cs typeface="Gill Sans MT"/>
              </a:rPr>
              <a:t> </a:t>
            </a:r>
            <a:r>
              <a:rPr sz="1200" spc="40" dirty="0">
                <a:latin typeface="Gill Sans MT"/>
                <a:cs typeface="Gill Sans MT"/>
              </a:rPr>
              <a:t>transaction.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32329" y="2614929"/>
            <a:ext cx="4409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sz="1200" spc="-65" dirty="0">
                <a:latin typeface="Gill Sans MT"/>
                <a:cs typeface="Gill Sans MT"/>
              </a:rPr>
              <a:t>We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95" dirty="0">
                <a:latin typeface="Gill Sans MT"/>
                <a:cs typeface="Gill Sans MT"/>
              </a:rPr>
              <a:t>can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guarantee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durability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by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ensuring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spc="75" dirty="0">
                <a:latin typeface="Gill Sans MT"/>
                <a:cs typeface="Gill Sans MT"/>
              </a:rPr>
              <a:t>any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of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40" dirty="0">
                <a:latin typeface="Gill Sans MT"/>
                <a:cs typeface="Gill Sans MT"/>
              </a:rPr>
              <a:t>following: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18841" y="2980385"/>
            <a:ext cx="5463540" cy="39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006FC0"/>
                </a:solidFill>
                <a:latin typeface="Gill Sans MT"/>
                <a:cs typeface="Gill Sans MT"/>
              </a:rPr>
              <a:t>i)</a:t>
            </a:r>
            <a:r>
              <a:rPr sz="1200" spc="20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updates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carried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out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by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transaction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have</a:t>
            </a:r>
            <a:r>
              <a:rPr sz="1200" spc="60" dirty="0">
                <a:latin typeface="Gill Sans MT"/>
                <a:cs typeface="Gill Sans MT"/>
              </a:rPr>
              <a:t> been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written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to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disk</a:t>
            </a:r>
            <a:r>
              <a:rPr sz="1200" spc="5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before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-25" dirty="0">
                <a:latin typeface="Gill Sans MT"/>
                <a:cs typeface="Gill Sans MT"/>
              </a:rPr>
              <a:t>the</a:t>
            </a:r>
            <a:endParaRPr sz="120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50" dirty="0">
                <a:latin typeface="Gill Sans MT"/>
                <a:cs typeface="Gill Sans MT"/>
              </a:rPr>
              <a:t>transaction</a:t>
            </a:r>
            <a:r>
              <a:rPr sz="1200" spc="-2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completes.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18841" y="3529710"/>
            <a:ext cx="58604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spc="20" dirty="0">
                <a:solidFill>
                  <a:srgbClr val="006FC0"/>
                </a:solidFill>
                <a:latin typeface="Gill Sans MT"/>
                <a:cs typeface="Gill Sans MT"/>
              </a:rPr>
              <a:t>ii)</a:t>
            </a:r>
            <a:r>
              <a:rPr sz="1200" spc="-5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Information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about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the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updates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carried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out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by</a:t>
            </a:r>
            <a:r>
              <a:rPr sz="1200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the</a:t>
            </a:r>
            <a:r>
              <a:rPr sz="1200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transaction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85" dirty="0">
                <a:latin typeface="Gill Sans MT"/>
                <a:cs typeface="Gill Sans MT"/>
              </a:rPr>
              <a:t>is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written</a:t>
            </a:r>
            <a:r>
              <a:rPr sz="1200" spc="-20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to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disk,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and </a:t>
            </a:r>
            <a:r>
              <a:rPr sz="1200" spc="85" dirty="0">
                <a:latin typeface="Gill Sans MT"/>
                <a:cs typeface="Gill Sans MT"/>
              </a:rPr>
              <a:t>such</a:t>
            </a:r>
            <a:r>
              <a:rPr sz="1200" spc="20" dirty="0">
                <a:latin typeface="Gill Sans MT"/>
                <a:cs typeface="Gill Sans MT"/>
              </a:rPr>
              <a:t> information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spc="85" dirty="0">
                <a:latin typeface="Gill Sans MT"/>
                <a:cs typeface="Gill Sans MT"/>
              </a:rPr>
              <a:t>is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sufficient</a:t>
            </a:r>
            <a:r>
              <a:rPr sz="1200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to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enable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that</a:t>
            </a:r>
            <a:r>
              <a:rPr sz="1200" dirty="0">
                <a:latin typeface="Gill Sans MT"/>
                <a:cs typeface="Gill Sans MT"/>
              </a:rPr>
              <a:t> </a:t>
            </a:r>
            <a:r>
              <a:rPr sz="1200" spc="90" dirty="0">
                <a:latin typeface="Gill Sans MT"/>
                <a:cs typeface="Gill Sans MT"/>
              </a:rPr>
              <a:t>database</a:t>
            </a:r>
            <a:r>
              <a:rPr sz="1200" spc="20" dirty="0">
                <a:latin typeface="Gill Sans MT"/>
                <a:cs typeface="Gill Sans MT"/>
              </a:rPr>
              <a:t> to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reconstruct</a:t>
            </a:r>
            <a:r>
              <a:rPr sz="1200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the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updates</a:t>
            </a:r>
            <a:r>
              <a:rPr sz="1200" spc="30" dirty="0">
                <a:latin typeface="Gill Sans MT"/>
                <a:cs typeface="Gill Sans MT"/>
              </a:rPr>
              <a:t> when </a:t>
            </a:r>
            <a:r>
              <a:rPr sz="1200" spc="10" dirty="0">
                <a:latin typeface="Gill Sans MT"/>
                <a:cs typeface="Gill Sans MT"/>
              </a:rPr>
              <a:t>the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spc="90" dirty="0">
                <a:latin typeface="Gill Sans MT"/>
                <a:cs typeface="Gill Sans MT"/>
              </a:rPr>
              <a:t>database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spc="85" dirty="0">
                <a:latin typeface="Gill Sans MT"/>
                <a:cs typeface="Gill Sans MT"/>
              </a:rPr>
              <a:t>system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spc="85" dirty="0">
                <a:latin typeface="Gill Sans MT"/>
                <a:cs typeface="Gill Sans MT"/>
              </a:rPr>
              <a:t>is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restarted after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the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spc="-10" dirty="0">
                <a:latin typeface="Gill Sans MT"/>
                <a:cs typeface="Gill Sans MT"/>
              </a:rPr>
              <a:t>failure.</a:t>
            </a:r>
            <a:endParaRPr sz="12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00811" y="1172971"/>
            <a:ext cx="72637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Gill Sans MT"/>
                <a:cs typeface="Gill Sans MT"/>
              </a:rPr>
              <a:t>Let,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</a:t>
            </a:r>
            <a:r>
              <a:rPr sz="1200" baseline="-20833" dirty="0">
                <a:latin typeface="Gill Sans MT"/>
                <a:cs typeface="Gill Sans MT"/>
              </a:rPr>
              <a:t>i</a:t>
            </a:r>
            <a:r>
              <a:rPr sz="1200" spc="150" baseline="-20833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be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135" dirty="0">
                <a:latin typeface="Gill Sans MT"/>
                <a:cs typeface="Gill Sans MT"/>
              </a:rPr>
              <a:t>a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transaction</a:t>
            </a:r>
            <a:r>
              <a:rPr sz="1200" spc="-2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that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transfers</a:t>
            </a:r>
            <a:r>
              <a:rPr sz="1200" spc="-2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$50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from</a:t>
            </a:r>
            <a:r>
              <a:rPr sz="1200" spc="-2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account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A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to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account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B.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This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transaction</a:t>
            </a:r>
            <a:r>
              <a:rPr sz="1200" spc="-20" dirty="0">
                <a:latin typeface="Gill Sans MT"/>
                <a:cs typeface="Gill Sans MT"/>
              </a:rPr>
              <a:t> </a:t>
            </a:r>
            <a:r>
              <a:rPr sz="1200" spc="95" dirty="0">
                <a:latin typeface="Gill Sans MT"/>
                <a:cs typeface="Gill Sans MT"/>
              </a:rPr>
              <a:t>can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be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defined</a:t>
            </a:r>
            <a:r>
              <a:rPr sz="1200" dirty="0">
                <a:latin typeface="Gill Sans MT"/>
                <a:cs typeface="Gill Sans MT"/>
              </a:rPr>
              <a:t> </a:t>
            </a:r>
            <a:r>
              <a:rPr sz="1200" spc="75" dirty="0">
                <a:latin typeface="Gill Sans MT"/>
                <a:cs typeface="Gill Sans MT"/>
              </a:rPr>
              <a:t>as: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6212" y="1615388"/>
            <a:ext cx="1143635" cy="157988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95"/>
              </a:spcBef>
              <a:buClr>
                <a:srgbClr val="FF8600"/>
              </a:buClr>
              <a:buSzPct val="79166"/>
              <a:buAutoNum type="arabicPeriod"/>
              <a:tabLst>
                <a:tab pos="354965" algn="l"/>
              </a:tabLst>
            </a:pPr>
            <a:r>
              <a:rPr sz="1200" spc="-10" dirty="0">
                <a:latin typeface="Gill Sans MT"/>
                <a:cs typeface="Gill Sans MT"/>
              </a:rPr>
              <a:t>read(A);</a:t>
            </a:r>
            <a:endParaRPr sz="1200">
              <a:latin typeface="Gill Sans MT"/>
              <a:cs typeface="Gill Sans MT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Clr>
                <a:srgbClr val="FF8600"/>
              </a:buClr>
              <a:buSzPct val="79166"/>
              <a:buAutoNum type="arabicPeriod"/>
              <a:tabLst>
                <a:tab pos="354965" algn="l"/>
              </a:tabLst>
            </a:pPr>
            <a:r>
              <a:rPr sz="1200" dirty="0">
                <a:latin typeface="Gill Sans MT"/>
                <a:cs typeface="Gill Sans MT"/>
              </a:rPr>
              <a:t>A</a:t>
            </a:r>
            <a:r>
              <a:rPr sz="1200" spc="-4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:=</a:t>
            </a:r>
            <a:r>
              <a:rPr sz="1200" spc="-5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A</a:t>
            </a:r>
            <a:r>
              <a:rPr sz="1200" spc="-50" dirty="0">
                <a:latin typeface="Gill Sans MT"/>
                <a:cs typeface="Gill Sans MT"/>
              </a:rPr>
              <a:t> </a:t>
            </a:r>
            <a:r>
              <a:rPr sz="1200" spc="185" dirty="0">
                <a:latin typeface="Gill Sans MT"/>
                <a:cs typeface="Gill Sans MT"/>
              </a:rPr>
              <a:t>–</a:t>
            </a:r>
            <a:r>
              <a:rPr sz="1200" spc="-50" dirty="0">
                <a:latin typeface="Gill Sans MT"/>
                <a:cs typeface="Gill Sans MT"/>
              </a:rPr>
              <a:t> </a:t>
            </a:r>
            <a:r>
              <a:rPr sz="1200" spc="-25" dirty="0">
                <a:latin typeface="Gill Sans MT"/>
                <a:cs typeface="Gill Sans MT"/>
              </a:rPr>
              <a:t>50;</a:t>
            </a:r>
            <a:endParaRPr sz="1200">
              <a:latin typeface="Gill Sans MT"/>
              <a:cs typeface="Gill Sans MT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Clr>
                <a:srgbClr val="FF8600"/>
              </a:buClr>
              <a:buSzPct val="79166"/>
              <a:buAutoNum type="arabicPeriod"/>
              <a:tabLst>
                <a:tab pos="354965" algn="l"/>
              </a:tabLst>
            </a:pPr>
            <a:r>
              <a:rPr sz="1200" spc="-10" dirty="0">
                <a:latin typeface="Gill Sans MT"/>
                <a:cs typeface="Gill Sans MT"/>
              </a:rPr>
              <a:t>write(A);</a:t>
            </a:r>
            <a:endParaRPr sz="1200">
              <a:latin typeface="Gill Sans MT"/>
              <a:cs typeface="Gill Sans MT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Clr>
                <a:srgbClr val="FF8600"/>
              </a:buClr>
              <a:buSzPct val="79166"/>
              <a:buAutoNum type="arabicPeriod"/>
              <a:tabLst>
                <a:tab pos="354965" algn="l"/>
              </a:tabLst>
            </a:pPr>
            <a:r>
              <a:rPr sz="1200" spc="-10" dirty="0">
                <a:latin typeface="Gill Sans MT"/>
                <a:cs typeface="Gill Sans MT"/>
              </a:rPr>
              <a:t>read(B);</a:t>
            </a:r>
            <a:endParaRPr sz="1200">
              <a:latin typeface="Gill Sans MT"/>
              <a:cs typeface="Gill Sans MT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Clr>
                <a:srgbClr val="FF8600"/>
              </a:buClr>
              <a:buSzPct val="79166"/>
              <a:buAutoNum type="arabicPeriod"/>
              <a:tabLst>
                <a:tab pos="354965" algn="l"/>
              </a:tabLst>
            </a:pPr>
            <a:r>
              <a:rPr sz="1200" spc="65" dirty="0">
                <a:latin typeface="Gill Sans MT"/>
                <a:cs typeface="Gill Sans MT"/>
              </a:rPr>
              <a:t>B</a:t>
            </a:r>
            <a:r>
              <a:rPr sz="1200" spc="-5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:=</a:t>
            </a:r>
            <a:r>
              <a:rPr sz="1200" spc="-35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B</a:t>
            </a:r>
            <a:r>
              <a:rPr sz="1200" spc="-5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+</a:t>
            </a:r>
            <a:r>
              <a:rPr sz="1200" spc="-55" dirty="0">
                <a:latin typeface="Gill Sans MT"/>
                <a:cs typeface="Gill Sans MT"/>
              </a:rPr>
              <a:t> </a:t>
            </a:r>
            <a:r>
              <a:rPr sz="1200" spc="-25" dirty="0">
                <a:latin typeface="Gill Sans MT"/>
                <a:cs typeface="Gill Sans MT"/>
              </a:rPr>
              <a:t>50;</a:t>
            </a:r>
            <a:endParaRPr sz="1200">
              <a:latin typeface="Gill Sans MT"/>
              <a:cs typeface="Gill Sans MT"/>
            </a:endParaRPr>
          </a:p>
          <a:p>
            <a:pPr marL="354965" indent="-342265">
              <a:lnSpc>
                <a:spcPct val="100000"/>
              </a:lnSpc>
              <a:spcBef>
                <a:spcPts val="600"/>
              </a:spcBef>
              <a:buClr>
                <a:srgbClr val="FF8600"/>
              </a:buClr>
              <a:buSzPct val="79166"/>
              <a:buAutoNum type="arabicPeriod"/>
              <a:tabLst>
                <a:tab pos="354965" algn="l"/>
              </a:tabLst>
            </a:pPr>
            <a:r>
              <a:rPr sz="1200" spc="-10" dirty="0">
                <a:latin typeface="Gill Sans MT"/>
                <a:cs typeface="Gill Sans MT"/>
              </a:rPr>
              <a:t>write(B);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spc="-165" dirty="0"/>
              <a:t>Transaction</a:t>
            </a:r>
            <a:r>
              <a:rPr spc="-229" dirty="0"/>
              <a:t> </a:t>
            </a:r>
            <a:r>
              <a:rPr spc="-135" dirty="0"/>
              <a:t>Properties</a:t>
            </a:r>
            <a:r>
              <a:rPr spc="-245" dirty="0"/>
              <a:t> </a:t>
            </a:r>
            <a:r>
              <a:rPr spc="-210" dirty="0">
                <a:solidFill>
                  <a:srgbClr val="00AFEF"/>
                </a:solidFill>
              </a:rPr>
              <a:t>–</a:t>
            </a:r>
            <a:r>
              <a:rPr spc="-235" dirty="0">
                <a:solidFill>
                  <a:srgbClr val="00AFEF"/>
                </a:solidFill>
              </a:rPr>
              <a:t> </a:t>
            </a:r>
            <a:r>
              <a:rPr spc="-280" dirty="0"/>
              <a:t>ACID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0" dirty="0">
                <a:solidFill>
                  <a:srgbClr val="FFFFFF"/>
                </a:solidFill>
                <a:latin typeface="Gill Sans MT"/>
                <a:cs typeface="Gill Sans MT"/>
              </a:rPr>
              <a:t>7</a:t>
            </a:r>
            <a:endParaRPr sz="1300">
              <a:latin typeface="Gill Sans MT"/>
              <a:cs typeface="Gill Sans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32329" y="1615388"/>
            <a:ext cx="3082671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85" dirty="0">
                <a:solidFill>
                  <a:srgbClr val="006FC0"/>
                </a:solidFill>
                <a:latin typeface="Gill Sans MT"/>
                <a:cs typeface="Gill Sans MT"/>
              </a:rPr>
              <a:t>C</a:t>
            </a:r>
            <a:r>
              <a:rPr sz="1400" spc="-40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400" dirty="0">
                <a:solidFill>
                  <a:srgbClr val="006FC0"/>
                </a:solidFill>
                <a:latin typeface="Gill Sans MT"/>
                <a:cs typeface="Gill Sans MT"/>
              </a:rPr>
              <a:t>=</a:t>
            </a:r>
            <a:r>
              <a:rPr sz="1400" spc="-70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400" spc="40" dirty="0" smtClean="0">
                <a:solidFill>
                  <a:srgbClr val="006FC0"/>
                </a:solidFill>
                <a:latin typeface="Gill Sans MT"/>
                <a:cs typeface="Gill Sans MT"/>
              </a:rPr>
              <a:t>Consistency</a:t>
            </a:r>
            <a:r>
              <a:rPr lang="en-US" sz="1400" spc="40" dirty="0" smtClean="0">
                <a:solidFill>
                  <a:srgbClr val="006FC0"/>
                </a:solidFill>
                <a:latin typeface="Gill Sans MT"/>
                <a:cs typeface="Gill Sans MT"/>
              </a:rPr>
              <a:t> (Rules are preserved)</a:t>
            </a:r>
            <a:endParaRPr sz="1400" dirty="0">
              <a:latin typeface="Gill Sans MT"/>
              <a:cs typeface="Gill Sans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94229" y="1882851"/>
            <a:ext cx="5766435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7185" indent="-28638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37185" algn="l"/>
              </a:tabLst>
            </a:pPr>
            <a:r>
              <a:rPr sz="1200" spc="20" dirty="0">
                <a:latin typeface="Gill Sans MT"/>
                <a:cs typeface="Gill Sans MT"/>
              </a:rPr>
              <a:t>In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general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consistency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requirements</a:t>
            </a:r>
            <a:r>
              <a:rPr sz="1200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are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of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2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45" dirty="0">
                <a:latin typeface="Gill Sans MT"/>
                <a:cs typeface="Gill Sans MT"/>
              </a:rPr>
              <a:t>kinds:</a:t>
            </a:r>
            <a:endParaRPr sz="1200">
              <a:latin typeface="Gill Sans MT"/>
              <a:cs typeface="Gill Sans MT"/>
            </a:endParaRPr>
          </a:p>
          <a:p>
            <a:pPr marL="463550" lvl="1" indent="-126364">
              <a:lnSpc>
                <a:spcPct val="100000"/>
              </a:lnSpc>
              <a:spcBef>
                <a:spcPts val="5"/>
              </a:spcBef>
              <a:buAutoNum type="romanLcParenR"/>
              <a:tabLst>
                <a:tab pos="463550" algn="l"/>
              </a:tabLst>
            </a:pPr>
            <a:r>
              <a:rPr sz="1200" dirty="0">
                <a:solidFill>
                  <a:srgbClr val="006FC0"/>
                </a:solidFill>
                <a:latin typeface="Gill Sans MT"/>
                <a:cs typeface="Gill Sans MT"/>
              </a:rPr>
              <a:t>Explicit</a:t>
            </a:r>
            <a:r>
              <a:rPr sz="1200" spc="55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006FC0"/>
                </a:solidFill>
                <a:latin typeface="Gill Sans MT"/>
                <a:cs typeface="Gill Sans MT"/>
              </a:rPr>
              <a:t>integrity</a:t>
            </a:r>
            <a:r>
              <a:rPr sz="1200" spc="25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006FC0"/>
                </a:solidFill>
                <a:latin typeface="Gill Sans MT"/>
                <a:cs typeface="Gill Sans MT"/>
              </a:rPr>
              <a:t>constraints</a:t>
            </a:r>
            <a:r>
              <a:rPr sz="1200" spc="60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200" spc="85" dirty="0">
                <a:latin typeface="Gill Sans MT"/>
                <a:cs typeface="Gill Sans MT"/>
              </a:rPr>
              <a:t>such</a:t>
            </a:r>
            <a:r>
              <a:rPr sz="1200" spc="75" dirty="0">
                <a:latin typeface="Gill Sans MT"/>
                <a:cs typeface="Gill Sans MT"/>
              </a:rPr>
              <a:t> </a:t>
            </a:r>
            <a:r>
              <a:rPr sz="1200" spc="140" dirty="0">
                <a:latin typeface="Gill Sans MT"/>
                <a:cs typeface="Gill Sans MT"/>
              </a:rPr>
              <a:t>as</a:t>
            </a:r>
            <a:r>
              <a:rPr sz="1200" spc="5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primary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keys</a:t>
            </a:r>
            <a:r>
              <a:rPr sz="1200" spc="60" dirty="0">
                <a:latin typeface="Gill Sans MT"/>
                <a:cs typeface="Gill Sans MT"/>
              </a:rPr>
              <a:t> </a:t>
            </a:r>
            <a:r>
              <a:rPr sz="1200" spc="80" dirty="0">
                <a:latin typeface="Gill Sans MT"/>
                <a:cs typeface="Gill Sans MT"/>
              </a:rPr>
              <a:t>and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foreign</a:t>
            </a:r>
            <a:r>
              <a:rPr sz="1200" spc="45" dirty="0">
                <a:latin typeface="Gill Sans MT"/>
                <a:cs typeface="Gill Sans MT"/>
              </a:rPr>
              <a:t> keys</a:t>
            </a:r>
            <a:endParaRPr sz="1200">
              <a:latin typeface="Gill Sans MT"/>
              <a:cs typeface="Gill Sans MT"/>
            </a:endParaRPr>
          </a:p>
          <a:p>
            <a:pPr marL="337185" marR="143510" lvl="1" indent="162560">
              <a:lnSpc>
                <a:spcPct val="100000"/>
              </a:lnSpc>
              <a:buAutoNum type="romanLcParenR"/>
              <a:tabLst>
                <a:tab pos="499745" algn="l"/>
              </a:tabLst>
            </a:pPr>
            <a:r>
              <a:rPr sz="1200" spc="45" dirty="0">
                <a:solidFill>
                  <a:srgbClr val="006FC0"/>
                </a:solidFill>
                <a:latin typeface="Gill Sans MT"/>
                <a:cs typeface="Gill Sans MT"/>
              </a:rPr>
              <a:t>Implicit</a:t>
            </a:r>
            <a:r>
              <a:rPr sz="1200" spc="-15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006FC0"/>
                </a:solidFill>
                <a:latin typeface="Gill Sans MT"/>
                <a:cs typeface="Gill Sans MT"/>
              </a:rPr>
              <a:t>integrity</a:t>
            </a:r>
            <a:r>
              <a:rPr sz="1200" spc="-20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006FC0"/>
                </a:solidFill>
                <a:latin typeface="Gill Sans MT"/>
                <a:cs typeface="Gill Sans MT"/>
              </a:rPr>
              <a:t>constrains</a:t>
            </a:r>
            <a:r>
              <a:rPr sz="1200" spc="-10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200" spc="85" dirty="0">
                <a:latin typeface="Gill Sans MT"/>
                <a:cs typeface="Gill Sans MT"/>
              </a:rPr>
              <a:t>such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140" dirty="0">
                <a:latin typeface="Gill Sans MT"/>
                <a:cs typeface="Gill Sans MT"/>
              </a:rPr>
              <a:t>as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110" dirty="0">
                <a:latin typeface="Gill Sans MT"/>
                <a:cs typeface="Gill Sans MT"/>
              </a:rPr>
              <a:t>sum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of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A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80" dirty="0">
                <a:latin typeface="Gill Sans MT"/>
                <a:cs typeface="Gill Sans MT"/>
              </a:rPr>
              <a:t>and</a:t>
            </a:r>
            <a:r>
              <a:rPr sz="1200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B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90" dirty="0">
                <a:latin typeface="Gill Sans MT"/>
                <a:cs typeface="Gill Sans MT"/>
              </a:rPr>
              <a:t>is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80" dirty="0">
                <a:latin typeface="Gill Sans MT"/>
                <a:cs typeface="Gill Sans MT"/>
              </a:rPr>
              <a:t>unchanged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by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spc="-25" dirty="0">
                <a:latin typeface="Gill Sans MT"/>
                <a:cs typeface="Gill Sans MT"/>
              </a:rPr>
              <a:t>the </a:t>
            </a:r>
            <a:r>
              <a:rPr sz="1200" spc="10" dirty="0">
                <a:latin typeface="Gill Sans MT"/>
                <a:cs typeface="Gill Sans MT"/>
              </a:rPr>
              <a:t>execution</a:t>
            </a:r>
            <a:r>
              <a:rPr sz="1200" spc="50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of </a:t>
            </a:r>
            <a:r>
              <a:rPr sz="1200" spc="10" dirty="0">
                <a:latin typeface="Gill Sans MT"/>
                <a:cs typeface="Gill Sans MT"/>
              </a:rPr>
              <a:t>the</a:t>
            </a:r>
            <a:r>
              <a:rPr sz="1200" spc="50" dirty="0">
                <a:latin typeface="Gill Sans MT"/>
                <a:cs typeface="Gill Sans MT"/>
              </a:rPr>
              <a:t> transaction </a:t>
            </a:r>
            <a:r>
              <a:rPr sz="1200" spc="-25" dirty="0">
                <a:latin typeface="Gill Sans MT"/>
                <a:cs typeface="Gill Sans MT"/>
              </a:rPr>
              <a:t>T</a:t>
            </a:r>
            <a:r>
              <a:rPr sz="1200" spc="-37" baseline="-20833" dirty="0">
                <a:latin typeface="Gill Sans MT"/>
                <a:cs typeface="Gill Sans MT"/>
              </a:rPr>
              <a:t>i</a:t>
            </a:r>
            <a:endParaRPr sz="1200" baseline="-20833">
              <a:latin typeface="Gill Sans MT"/>
              <a:cs typeface="Gill Sans MT"/>
            </a:endParaRPr>
          </a:p>
          <a:p>
            <a:pPr lvl="1">
              <a:lnSpc>
                <a:spcPct val="100000"/>
              </a:lnSpc>
              <a:spcBef>
                <a:spcPts val="45"/>
              </a:spcBef>
              <a:buClr>
                <a:srgbClr val="006FC0"/>
              </a:buClr>
              <a:buFont typeface="Gill Sans MT"/>
              <a:buAutoNum type="romanLcParenR"/>
            </a:pPr>
            <a:endParaRPr sz="1200">
              <a:latin typeface="Gill Sans MT"/>
              <a:cs typeface="Gill Sans MT"/>
            </a:endParaRPr>
          </a:p>
          <a:p>
            <a:pPr marL="337185" indent="-286385">
              <a:lnSpc>
                <a:spcPct val="100000"/>
              </a:lnSpc>
              <a:buFont typeface="Arial"/>
              <a:buChar char="•"/>
              <a:tabLst>
                <a:tab pos="337185" algn="l"/>
              </a:tabLst>
            </a:pPr>
            <a:r>
              <a:rPr sz="1200" dirty="0">
                <a:latin typeface="Gill Sans MT"/>
                <a:cs typeface="Gill Sans MT"/>
              </a:rPr>
              <a:t>A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transaction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when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starting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to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execute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80" dirty="0">
                <a:latin typeface="Gill Sans MT"/>
                <a:cs typeface="Gill Sans MT"/>
              </a:rPr>
              <a:t>must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85" dirty="0">
                <a:latin typeface="Gill Sans MT"/>
                <a:cs typeface="Gill Sans MT"/>
              </a:rPr>
              <a:t>see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135" dirty="0">
                <a:latin typeface="Gill Sans MT"/>
                <a:cs typeface="Gill Sans MT"/>
              </a:rPr>
              <a:t>a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consistent</a:t>
            </a:r>
            <a:r>
              <a:rPr sz="1200" dirty="0">
                <a:latin typeface="Gill Sans MT"/>
                <a:cs typeface="Gill Sans MT"/>
              </a:rPr>
              <a:t> </a:t>
            </a:r>
            <a:r>
              <a:rPr sz="1200" spc="75" dirty="0">
                <a:latin typeface="Gill Sans MT"/>
                <a:cs typeface="Gill Sans MT"/>
              </a:rPr>
              <a:t>database.</a:t>
            </a:r>
            <a:endParaRPr sz="1200">
              <a:latin typeface="Gill Sans MT"/>
              <a:cs typeface="Gill Sans MT"/>
            </a:endParaRPr>
          </a:p>
          <a:p>
            <a:pPr marL="337185">
              <a:lnSpc>
                <a:spcPct val="100000"/>
              </a:lnSpc>
            </a:pPr>
            <a:r>
              <a:rPr sz="1200" spc="10" dirty="0">
                <a:latin typeface="Gill Sans MT"/>
                <a:cs typeface="Gill Sans MT"/>
              </a:rPr>
              <a:t>During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transaction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execution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the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spc="85" dirty="0">
                <a:latin typeface="Gill Sans MT"/>
                <a:cs typeface="Gill Sans MT"/>
              </a:rPr>
              <a:t>database</a:t>
            </a:r>
            <a:r>
              <a:rPr sz="1200" spc="50" dirty="0">
                <a:latin typeface="Gill Sans MT"/>
                <a:cs typeface="Gill Sans MT"/>
              </a:rPr>
              <a:t> </a:t>
            </a:r>
            <a:r>
              <a:rPr sz="1200" spc="100" dirty="0">
                <a:latin typeface="Gill Sans MT"/>
                <a:cs typeface="Gill Sans MT"/>
              </a:rPr>
              <a:t>may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be</a:t>
            </a:r>
            <a:r>
              <a:rPr sz="1200" spc="50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temporarily </a:t>
            </a:r>
            <a:r>
              <a:rPr sz="1200" spc="45" dirty="0">
                <a:latin typeface="Gill Sans MT"/>
                <a:cs typeface="Gill Sans MT"/>
              </a:rPr>
              <a:t>inconsistent.</a:t>
            </a:r>
            <a:endParaRPr sz="1200">
              <a:latin typeface="Gill Sans MT"/>
              <a:cs typeface="Gill Sans MT"/>
            </a:endParaRPr>
          </a:p>
          <a:p>
            <a:pPr marL="337185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latin typeface="Gill Sans MT"/>
                <a:cs typeface="Gill Sans MT"/>
              </a:rPr>
              <a:t>When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transaction</a:t>
            </a:r>
            <a:r>
              <a:rPr sz="1200" spc="-20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completes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85" dirty="0">
                <a:latin typeface="Gill Sans MT"/>
                <a:cs typeface="Gill Sans MT"/>
              </a:rPr>
              <a:t>successfully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spc="90" dirty="0">
                <a:latin typeface="Gill Sans MT"/>
                <a:cs typeface="Gill Sans MT"/>
              </a:rPr>
              <a:t>database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80" dirty="0">
                <a:latin typeface="Gill Sans MT"/>
                <a:cs typeface="Gill Sans MT"/>
              </a:rPr>
              <a:t>must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be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spc="45" dirty="0">
                <a:latin typeface="Gill Sans MT"/>
                <a:cs typeface="Gill Sans MT"/>
              </a:rPr>
              <a:t>consistent.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32329" y="3529710"/>
            <a:ext cx="58972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sz="1200" spc="65" dirty="0">
                <a:latin typeface="Gill Sans MT"/>
                <a:cs typeface="Gill Sans MT"/>
              </a:rPr>
              <a:t>Ensuring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consistency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for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spc="95" dirty="0">
                <a:latin typeface="Gill Sans MT"/>
                <a:cs typeface="Gill Sans MT"/>
              </a:rPr>
              <a:t>an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45" dirty="0">
                <a:latin typeface="Gill Sans MT"/>
                <a:cs typeface="Gill Sans MT"/>
              </a:rPr>
              <a:t>individual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transaction</a:t>
            </a:r>
            <a:r>
              <a:rPr sz="1200" spc="-20" dirty="0">
                <a:latin typeface="Gill Sans MT"/>
                <a:cs typeface="Gill Sans MT"/>
              </a:rPr>
              <a:t> </a:t>
            </a:r>
            <a:r>
              <a:rPr sz="1200" spc="85" dirty="0">
                <a:latin typeface="Gill Sans MT"/>
                <a:cs typeface="Gill Sans MT"/>
              </a:rPr>
              <a:t>is</a:t>
            </a:r>
            <a:r>
              <a:rPr sz="1200" dirty="0">
                <a:latin typeface="Gill Sans MT"/>
                <a:cs typeface="Gill Sans MT"/>
              </a:rPr>
              <a:t> </a:t>
            </a:r>
            <a:r>
              <a:rPr sz="1200" spc="30" dirty="0">
                <a:latin typeface="Gill Sans MT"/>
                <a:cs typeface="Gill Sans MT"/>
              </a:rPr>
              <a:t>the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30" dirty="0">
                <a:latin typeface="Gill Sans MT"/>
                <a:cs typeface="Gill Sans MT"/>
              </a:rPr>
              <a:t>responsibility</a:t>
            </a:r>
            <a:r>
              <a:rPr sz="1200" spc="-20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of</a:t>
            </a:r>
            <a:r>
              <a:rPr sz="1200" dirty="0">
                <a:latin typeface="Gill Sans MT"/>
                <a:cs typeface="Gill Sans MT"/>
              </a:rPr>
              <a:t> </a:t>
            </a:r>
            <a:r>
              <a:rPr sz="1200" spc="-25" dirty="0">
                <a:latin typeface="Gill Sans MT"/>
                <a:cs typeface="Gill Sans MT"/>
              </a:rPr>
              <a:t>the </a:t>
            </a:r>
            <a:r>
              <a:rPr sz="1200" spc="55" dirty="0">
                <a:latin typeface="Gill Sans MT"/>
                <a:cs typeface="Gill Sans MT"/>
              </a:rPr>
              <a:t>application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programmer</a:t>
            </a:r>
            <a:r>
              <a:rPr sz="1200" spc="-20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who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codes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the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transaction.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This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75" dirty="0">
                <a:latin typeface="Gill Sans MT"/>
                <a:cs typeface="Gill Sans MT"/>
              </a:rPr>
              <a:t>task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95" dirty="0">
                <a:latin typeface="Gill Sans MT"/>
                <a:cs typeface="Gill Sans MT"/>
              </a:rPr>
              <a:t>may</a:t>
            </a:r>
            <a:r>
              <a:rPr sz="1200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be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facilitated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spc="25" dirty="0">
                <a:latin typeface="Gill Sans MT"/>
                <a:cs typeface="Gill Sans MT"/>
              </a:rPr>
              <a:t>by </a:t>
            </a:r>
            <a:r>
              <a:rPr sz="1200" spc="60" dirty="0">
                <a:latin typeface="Gill Sans MT"/>
                <a:cs typeface="Gill Sans MT"/>
              </a:rPr>
              <a:t>automatic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testing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of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integrity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45" dirty="0">
                <a:latin typeface="Gill Sans MT"/>
                <a:cs typeface="Gill Sans MT"/>
              </a:rPr>
              <a:t>constraints.</a:t>
            </a:r>
            <a:endParaRPr sz="12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spc="-165" dirty="0"/>
              <a:t>Transaction</a:t>
            </a:r>
            <a:r>
              <a:rPr spc="-229" dirty="0"/>
              <a:t> </a:t>
            </a:r>
            <a:r>
              <a:rPr spc="-135" dirty="0"/>
              <a:t>Properties</a:t>
            </a:r>
            <a:r>
              <a:rPr spc="-245" dirty="0"/>
              <a:t> </a:t>
            </a:r>
            <a:r>
              <a:rPr spc="-210" dirty="0">
                <a:solidFill>
                  <a:srgbClr val="00AFEF"/>
                </a:solidFill>
              </a:rPr>
              <a:t>–</a:t>
            </a:r>
            <a:r>
              <a:rPr spc="-235" dirty="0">
                <a:solidFill>
                  <a:srgbClr val="00AFEF"/>
                </a:solidFill>
              </a:rPr>
              <a:t> </a:t>
            </a:r>
            <a:r>
              <a:rPr spc="-280" dirty="0"/>
              <a:t>ACID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5323" y="1015938"/>
            <a:ext cx="8303259" cy="3960058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400" dirty="0">
                <a:solidFill>
                  <a:srgbClr val="006FC0"/>
                </a:solidFill>
                <a:latin typeface="Gill Sans MT"/>
                <a:cs typeface="Gill Sans MT"/>
              </a:rPr>
              <a:t>I</a:t>
            </a:r>
            <a:r>
              <a:rPr sz="1400" spc="-50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400" dirty="0">
                <a:solidFill>
                  <a:srgbClr val="006FC0"/>
                </a:solidFill>
                <a:latin typeface="Gill Sans MT"/>
                <a:cs typeface="Gill Sans MT"/>
              </a:rPr>
              <a:t>=</a:t>
            </a:r>
            <a:r>
              <a:rPr sz="1400" spc="-50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400" spc="35" dirty="0" smtClean="0">
                <a:solidFill>
                  <a:srgbClr val="006FC0"/>
                </a:solidFill>
                <a:latin typeface="Gill Sans MT"/>
                <a:cs typeface="Gill Sans MT"/>
              </a:rPr>
              <a:t>Isolation</a:t>
            </a:r>
            <a:r>
              <a:rPr lang="en-US" sz="1400" spc="35" dirty="0" smtClean="0">
                <a:solidFill>
                  <a:srgbClr val="006FC0"/>
                </a:solidFill>
                <a:latin typeface="Gill Sans MT"/>
                <a:cs typeface="Gill Sans MT"/>
              </a:rPr>
              <a:t> (No interference)</a:t>
            </a:r>
            <a:endParaRPr sz="1400" dirty="0">
              <a:latin typeface="Gill Sans MT"/>
              <a:cs typeface="Gill Sans MT"/>
            </a:endParaRPr>
          </a:p>
          <a:p>
            <a:pPr marL="321945" indent="-309245">
              <a:lnSpc>
                <a:spcPct val="100000"/>
              </a:lnSpc>
              <a:spcBef>
                <a:spcPts val="600"/>
              </a:spcBef>
              <a:buClr>
                <a:srgbClr val="FF8600"/>
              </a:buClr>
              <a:buSzPct val="129166"/>
              <a:buFont typeface="Cambria Math"/>
              <a:buChar char="◗"/>
              <a:tabLst>
                <a:tab pos="321945" algn="l"/>
              </a:tabLst>
            </a:pP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Even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if</a:t>
            </a:r>
            <a:r>
              <a:rPr sz="1200" spc="-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the</a:t>
            </a:r>
            <a:r>
              <a:rPr sz="1200" spc="-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consistency</a:t>
            </a:r>
            <a:r>
              <a:rPr sz="1200" spc="-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0" dirty="0">
                <a:solidFill>
                  <a:srgbClr val="212121"/>
                </a:solidFill>
                <a:latin typeface="Gill Sans MT"/>
                <a:cs typeface="Gill Sans MT"/>
              </a:rPr>
              <a:t>and</a:t>
            </a:r>
            <a:r>
              <a:rPr sz="1200" spc="-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45" dirty="0">
                <a:solidFill>
                  <a:srgbClr val="212121"/>
                </a:solidFill>
                <a:latin typeface="Gill Sans MT"/>
                <a:cs typeface="Gill Sans MT"/>
              </a:rPr>
              <a:t>atomicity</a:t>
            </a:r>
            <a:r>
              <a:rPr sz="1200" spc="-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properties</a:t>
            </a:r>
            <a:r>
              <a:rPr sz="1200" spc="-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are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ensured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for</a:t>
            </a:r>
            <a:r>
              <a:rPr sz="1200" spc="-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5" dirty="0">
                <a:solidFill>
                  <a:srgbClr val="212121"/>
                </a:solidFill>
                <a:latin typeface="Gill Sans MT"/>
                <a:cs typeface="Gill Sans MT"/>
              </a:rPr>
              <a:t>each</a:t>
            </a:r>
            <a:r>
              <a:rPr sz="1200" spc="-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transaction,</a:t>
            </a:r>
            <a:r>
              <a:rPr sz="1200" spc="-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if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several</a:t>
            </a:r>
            <a:r>
              <a:rPr sz="1200" spc="-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transactions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are</a:t>
            </a:r>
            <a:r>
              <a:rPr sz="1200" spc="-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executed</a:t>
            </a:r>
            <a:endParaRPr sz="1200" dirty="0">
              <a:latin typeface="Gill Sans MT"/>
              <a:cs typeface="Gill Sans MT"/>
            </a:endParaRPr>
          </a:p>
          <a:p>
            <a:pPr marL="321945">
              <a:lnSpc>
                <a:spcPct val="100000"/>
              </a:lnSpc>
            </a:pP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concurrently,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their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operations </a:t>
            </a:r>
            <a:r>
              <a:rPr sz="1200" spc="100" dirty="0">
                <a:solidFill>
                  <a:srgbClr val="212121"/>
                </a:solidFill>
                <a:latin typeface="Gill Sans MT"/>
                <a:cs typeface="Gill Sans MT"/>
              </a:rPr>
              <a:t>may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interleave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in</a:t>
            </a:r>
            <a:r>
              <a:rPr sz="1200" spc="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5" dirty="0">
                <a:solidFill>
                  <a:srgbClr val="212121"/>
                </a:solidFill>
                <a:latin typeface="Gill Sans MT"/>
                <a:cs typeface="Gill Sans MT"/>
              </a:rPr>
              <a:t>some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undesirable</a:t>
            </a:r>
            <a:r>
              <a:rPr sz="1200" spc="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way,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resulting</a:t>
            </a:r>
            <a:r>
              <a:rPr sz="1200" spc="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in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95" dirty="0">
                <a:solidFill>
                  <a:srgbClr val="212121"/>
                </a:solidFill>
                <a:latin typeface="Gill Sans MT"/>
                <a:cs typeface="Gill Sans MT"/>
              </a:rPr>
              <a:t>an</a:t>
            </a:r>
            <a:r>
              <a:rPr sz="1200" spc="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inconsistent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state.</a:t>
            </a:r>
            <a:endParaRPr sz="1200" dirty="0">
              <a:latin typeface="Gill Sans MT"/>
              <a:cs typeface="Gill Sans MT"/>
            </a:endParaRPr>
          </a:p>
          <a:p>
            <a:pPr marL="321945" marR="50800" indent="-309880">
              <a:lnSpc>
                <a:spcPct val="100000"/>
              </a:lnSpc>
              <a:spcBef>
                <a:spcPts val="605"/>
              </a:spcBef>
              <a:buClr>
                <a:srgbClr val="FF8600"/>
              </a:buClr>
              <a:buSzPct val="129166"/>
              <a:buFont typeface="Cambria Math"/>
              <a:buChar char="◗"/>
              <a:tabLst>
                <a:tab pos="321945" algn="l"/>
              </a:tabLst>
            </a:pP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The</a:t>
            </a:r>
            <a:r>
              <a:rPr sz="1200" spc="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45" dirty="0">
                <a:solidFill>
                  <a:srgbClr val="212121"/>
                </a:solidFill>
                <a:latin typeface="Gill Sans MT"/>
                <a:cs typeface="Gill Sans MT"/>
              </a:rPr>
              <a:t>isolation</a:t>
            </a:r>
            <a:r>
              <a:rPr sz="1200" spc="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property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of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35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transaction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ensures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that the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concurrent</a:t>
            </a:r>
            <a:r>
              <a:rPr sz="1200" spc="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execution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of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transactions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results</a:t>
            </a:r>
            <a:r>
              <a:rPr sz="1200" spc="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in</a:t>
            </a:r>
            <a:r>
              <a:rPr sz="1200" spc="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35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5" dirty="0">
                <a:solidFill>
                  <a:srgbClr val="212121"/>
                </a:solidFill>
                <a:latin typeface="Gill Sans MT"/>
                <a:cs typeface="Gill Sans MT"/>
              </a:rPr>
              <a:t>system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state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that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5" dirty="0">
                <a:solidFill>
                  <a:srgbClr val="212121"/>
                </a:solidFill>
                <a:latin typeface="Gill Sans MT"/>
                <a:cs typeface="Gill Sans MT"/>
              </a:rPr>
              <a:t>is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equivalent</a:t>
            </a:r>
            <a:r>
              <a:rPr sz="12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to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35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state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that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could</a:t>
            </a:r>
            <a:r>
              <a:rPr sz="1200" spc="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70" dirty="0">
                <a:solidFill>
                  <a:srgbClr val="212121"/>
                </a:solidFill>
                <a:latin typeface="Gill Sans MT"/>
                <a:cs typeface="Gill Sans MT"/>
              </a:rPr>
              <a:t>have</a:t>
            </a:r>
            <a:r>
              <a:rPr sz="12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been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obtained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if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these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transactions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executed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one</a:t>
            </a:r>
            <a:r>
              <a:rPr sz="12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at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35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time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in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5" dirty="0">
                <a:solidFill>
                  <a:srgbClr val="212121"/>
                </a:solidFill>
                <a:latin typeface="Gill Sans MT"/>
                <a:cs typeface="Gill Sans MT"/>
              </a:rPr>
              <a:t>some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order.</a:t>
            </a:r>
            <a:endParaRPr sz="1200" dirty="0">
              <a:latin typeface="Gill Sans MT"/>
              <a:cs typeface="Gill Sans MT"/>
            </a:endParaRPr>
          </a:p>
          <a:p>
            <a:pPr marL="321945" marR="218440" indent="-309880">
              <a:lnSpc>
                <a:spcPct val="100000"/>
              </a:lnSpc>
              <a:spcBef>
                <a:spcPts val="600"/>
              </a:spcBef>
              <a:buClr>
                <a:srgbClr val="FF8600"/>
              </a:buClr>
              <a:buSzPct val="129166"/>
              <a:buFont typeface="Cambria Math"/>
              <a:buChar char="◗"/>
              <a:tabLst>
                <a:tab pos="321945" algn="l"/>
              </a:tabLst>
            </a:pP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If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between</a:t>
            </a:r>
            <a:r>
              <a:rPr sz="1200" spc="8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0" dirty="0">
                <a:solidFill>
                  <a:srgbClr val="212121"/>
                </a:solidFill>
                <a:latin typeface="Gill Sans MT"/>
                <a:cs typeface="Gill Sans MT"/>
              </a:rPr>
              <a:t>steps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70" dirty="0">
                <a:solidFill>
                  <a:srgbClr val="212121"/>
                </a:solidFill>
                <a:latin typeface="Gill Sans MT"/>
                <a:cs typeface="Gill Sans MT"/>
              </a:rPr>
              <a:t>3</a:t>
            </a:r>
            <a:r>
              <a:rPr sz="1200" spc="80" dirty="0">
                <a:solidFill>
                  <a:srgbClr val="212121"/>
                </a:solidFill>
                <a:latin typeface="Gill Sans MT"/>
                <a:cs typeface="Gill Sans MT"/>
              </a:rPr>
              <a:t> and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70" dirty="0">
                <a:solidFill>
                  <a:srgbClr val="212121"/>
                </a:solidFill>
                <a:latin typeface="Gill Sans MT"/>
                <a:cs typeface="Gill Sans MT"/>
              </a:rPr>
              <a:t>6</a:t>
            </a:r>
            <a:r>
              <a:rPr sz="1200" spc="8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(of</a:t>
            </a: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the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70" dirty="0">
                <a:solidFill>
                  <a:srgbClr val="212121"/>
                </a:solidFill>
                <a:latin typeface="Gill Sans MT"/>
                <a:cs typeface="Gill Sans MT"/>
              </a:rPr>
              <a:t>fund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transfer</a:t>
            </a:r>
            <a:r>
              <a:rPr sz="1200" spc="4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transaction),</a:t>
            </a:r>
            <a:r>
              <a:rPr sz="1200" spc="4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another</a:t>
            </a:r>
            <a:r>
              <a:rPr sz="1200" spc="7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transaction</a:t>
            </a:r>
            <a:r>
              <a:rPr sz="1200" spc="9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b="1" spc="-55" dirty="0">
                <a:solidFill>
                  <a:srgbClr val="212121"/>
                </a:solidFill>
                <a:latin typeface="Gill Sans MT"/>
                <a:cs typeface="Gill Sans MT"/>
              </a:rPr>
              <a:t>T2</a:t>
            </a:r>
            <a:r>
              <a:rPr sz="1200" b="1" spc="6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5" dirty="0">
                <a:solidFill>
                  <a:srgbClr val="212121"/>
                </a:solidFill>
                <a:latin typeface="Gill Sans MT"/>
                <a:cs typeface="Gill Sans MT"/>
              </a:rPr>
              <a:t>is</a:t>
            </a:r>
            <a:r>
              <a:rPr sz="1200" spc="7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45" dirty="0">
                <a:solidFill>
                  <a:srgbClr val="212121"/>
                </a:solidFill>
                <a:latin typeface="Gill Sans MT"/>
                <a:cs typeface="Gill Sans MT"/>
              </a:rPr>
              <a:t>allowed</a:t>
            </a:r>
            <a:r>
              <a:rPr sz="1200" spc="7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to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10" dirty="0">
                <a:solidFill>
                  <a:srgbClr val="212121"/>
                </a:solidFill>
                <a:latin typeface="Gill Sans MT"/>
                <a:cs typeface="Gill Sans MT"/>
              </a:rPr>
              <a:t>access</a:t>
            </a:r>
            <a:r>
              <a:rPr sz="1200" spc="9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the</a:t>
            </a: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partially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updated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75" dirty="0">
                <a:solidFill>
                  <a:srgbClr val="212121"/>
                </a:solidFill>
                <a:latin typeface="Gill Sans MT"/>
                <a:cs typeface="Gill Sans MT"/>
              </a:rPr>
              <a:t>database,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it</a:t>
            </a:r>
            <a:r>
              <a:rPr sz="1200" spc="-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will</a:t>
            </a:r>
            <a:r>
              <a:rPr sz="1200" spc="-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90" dirty="0">
                <a:solidFill>
                  <a:srgbClr val="212121"/>
                </a:solidFill>
                <a:latin typeface="Gill Sans MT"/>
                <a:cs typeface="Gill Sans MT"/>
              </a:rPr>
              <a:t>see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0" dirty="0">
                <a:solidFill>
                  <a:srgbClr val="212121"/>
                </a:solidFill>
                <a:latin typeface="Gill Sans MT"/>
                <a:cs typeface="Gill Sans MT"/>
              </a:rPr>
              <a:t>an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inconsistent</a:t>
            </a:r>
            <a:r>
              <a:rPr sz="1200" spc="-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90" dirty="0">
                <a:solidFill>
                  <a:srgbClr val="212121"/>
                </a:solidFill>
                <a:latin typeface="Gill Sans MT"/>
                <a:cs typeface="Gill Sans MT"/>
              </a:rPr>
              <a:t>database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(the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10" dirty="0">
                <a:solidFill>
                  <a:srgbClr val="212121"/>
                </a:solidFill>
                <a:latin typeface="Gill Sans MT"/>
                <a:cs typeface="Gill Sans MT"/>
              </a:rPr>
              <a:t>sum</a:t>
            </a:r>
            <a:r>
              <a:rPr sz="1200" spc="33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135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i="1" spc="-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dirty="0">
                <a:solidFill>
                  <a:srgbClr val="212121"/>
                </a:solidFill>
                <a:latin typeface="Gill Sans MT"/>
                <a:cs typeface="Gill Sans MT"/>
              </a:rPr>
              <a:t>+</a:t>
            </a:r>
            <a:r>
              <a:rPr sz="1200" i="1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114" dirty="0">
                <a:solidFill>
                  <a:srgbClr val="212121"/>
                </a:solidFill>
                <a:latin typeface="Gill Sans MT"/>
                <a:cs typeface="Gill Sans MT"/>
              </a:rPr>
              <a:t>B</a:t>
            </a:r>
            <a:r>
              <a:rPr sz="1200" i="1" spc="-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will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be</a:t>
            </a:r>
            <a:r>
              <a:rPr sz="1200" spc="-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95" dirty="0">
                <a:solidFill>
                  <a:srgbClr val="212121"/>
                </a:solidFill>
                <a:latin typeface="Gill Sans MT"/>
                <a:cs typeface="Gill Sans MT"/>
              </a:rPr>
              <a:t>less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than</a:t>
            </a:r>
            <a:r>
              <a:rPr sz="1200" spc="-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it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should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-20" dirty="0">
                <a:solidFill>
                  <a:srgbClr val="212121"/>
                </a:solidFill>
                <a:latin typeface="Gill Sans MT"/>
                <a:cs typeface="Gill Sans MT"/>
              </a:rPr>
              <a:t>be).</a:t>
            </a:r>
            <a:endParaRPr sz="1200" dirty="0">
              <a:latin typeface="Gill Sans MT"/>
              <a:cs typeface="Gill Sans MT"/>
            </a:endParaRPr>
          </a:p>
          <a:p>
            <a:pPr marL="889000">
              <a:lnSpc>
                <a:spcPct val="100000"/>
              </a:lnSpc>
              <a:spcBef>
                <a:spcPts val="600"/>
              </a:spcBef>
              <a:tabLst>
                <a:tab pos="2592070" algn="l"/>
              </a:tabLst>
            </a:pPr>
            <a:r>
              <a:rPr sz="1200" b="1" spc="-25" dirty="0">
                <a:solidFill>
                  <a:srgbClr val="212121"/>
                </a:solidFill>
                <a:latin typeface="Gill Sans MT"/>
                <a:cs typeface="Gill Sans MT"/>
              </a:rPr>
              <a:t>T1</a:t>
            </a:r>
            <a:r>
              <a:rPr sz="1200" b="1" dirty="0">
                <a:solidFill>
                  <a:srgbClr val="212121"/>
                </a:solidFill>
                <a:latin typeface="Gill Sans MT"/>
                <a:cs typeface="Gill Sans MT"/>
              </a:rPr>
              <a:t>	</a:t>
            </a:r>
            <a:r>
              <a:rPr sz="1200" b="1" spc="-25" dirty="0">
                <a:solidFill>
                  <a:srgbClr val="212121"/>
                </a:solidFill>
                <a:latin typeface="Gill Sans MT"/>
                <a:cs typeface="Gill Sans MT"/>
              </a:rPr>
              <a:t>T2</a:t>
            </a:r>
            <a:endParaRPr sz="1200" dirty="0">
              <a:latin typeface="Gill Sans MT"/>
              <a:cs typeface="Gill Sans MT"/>
            </a:endParaRPr>
          </a:p>
          <a:p>
            <a:pPr marL="321945">
              <a:lnSpc>
                <a:spcPct val="100000"/>
              </a:lnSpc>
            </a:pPr>
            <a:r>
              <a:rPr sz="1200" b="1" spc="60" dirty="0">
                <a:solidFill>
                  <a:srgbClr val="212121"/>
                </a:solidFill>
                <a:latin typeface="Gill Sans MT"/>
                <a:cs typeface="Gill Sans MT"/>
              </a:rPr>
              <a:t>-------</a:t>
            </a:r>
            <a:r>
              <a:rPr sz="1200" b="1" spc="50" dirty="0">
                <a:solidFill>
                  <a:srgbClr val="212121"/>
                </a:solidFill>
                <a:latin typeface="Gill Sans MT"/>
                <a:cs typeface="Gill Sans MT"/>
              </a:rPr>
              <a:t>-</a:t>
            </a:r>
            <a:r>
              <a:rPr sz="1200" b="1" spc="60" dirty="0">
                <a:solidFill>
                  <a:srgbClr val="212121"/>
                </a:solidFill>
                <a:latin typeface="Gill Sans MT"/>
                <a:cs typeface="Gill Sans MT"/>
              </a:rPr>
              <a:t>-</a:t>
            </a:r>
            <a:r>
              <a:rPr sz="1200" b="1" spc="50" dirty="0">
                <a:solidFill>
                  <a:srgbClr val="212121"/>
                </a:solidFill>
                <a:latin typeface="Gill Sans MT"/>
                <a:cs typeface="Gill Sans MT"/>
              </a:rPr>
              <a:t>-</a:t>
            </a:r>
            <a:r>
              <a:rPr sz="1200" b="1" spc="60" dirty="0">
                <a:solidFill>
                  <a:srgbClr val="212121"/>
                </a:solidFill>
                <a:latin typeface="Gill Sans MT"/>
                <a:cs typeface="Gill Sans MT"/>
              </a:rPr>
              <a:t>-</a:t>
            </a:r>
            <a:r>
              <a:rPr sz="1200" b="1" spc="50" dirty="0">
                <a:solidFill>
                  <a:srgbClr val="212121"/>
                </a:solidFill>
                <a:latin typeface="Gill Sans MT"/>
                <a:cs typeface="Gill Sans MT"/>
              </a:rPr>
              <a:t>-</a:t>
            </a:r>
            <a:r>
              <a:rPr sz="1200" b="1" spc="60" dirty="0">
                <a:solidFill>
                  <a:srgbClr val="212121"/>
                </a:solidFill>
                <a:latin typeface="Gill Sans MT"/>
                <a:cs typeface="Gill Sans MT"/>
              </a:rPr>
              <a:t>--</a:t>
            </a:r>
            <a:r>
              <a:rPr sz="1200" b="1" spc="50" dirty="0">
                <a:solidFill>
                  <a:srgbClr val="212121"/>
                </a:solidFill>
                <a:latin typeface="Gill Sans MT"/>
                <a:cs typeface="Gill Sans MT"/>
              </a:rPr>
              <a:t>-</a:t>
            </a:r>
            <a:r>
              <a:rPr sz="1200" b="1" spc="60" dirty="0">
                <a:solidFill>
                  <a:srgbClr val="212121"/>
                </a:solidFill>
                <a:latin typeface="Gill Sans MT"/>
                <a:cs typeface="Gill Sans MT"/>
              </a:rPr>
              <a:t>-</a:t>
            </a:r>
            <a:r>
              <a:rPr sz="1200" b="1" spc="50" dirty="0">
                <a:solidFill>
                  <a:srgbClr val="212121"/>
                </a:solidFill>
                <a:latin typeface="Gill Sans MT"/>
                <a:cs typeface="Gill Sans MT"/>
              </a:rPr>
              <a:t>-</a:t>
            </a:r>
            <a:r>
              <a:rPr sz="1200" b="1" spc="60" dirty="0">
                <a:solidFill>
                  <a:srgbClr val="212121"/>
                </a:solidFill>
                <a:latin typeface="Gill Sans MT"/>
                <a:cs typeface="Gill Sans MT"/>
              </a:rPr>
              <a:t>-</a:t>
            </a:r>
            <a:r>
              <a:rPr sz="1200" b="1" spc="50" dirty="0">
                <a:solidFill>
                  <a:srgbClr val="212121"/>
                </a:solidFill>
                <a:latin typeface="Gill Sans MT"/>
                <a:cs typeface="Gill Sans MT"/>
              </a:rPr>
              <a:t>-</a:t>
            </a:r>
            <a:r>
              <a:rPr sz="1200" b="1" spc="60" dirty="0">
                <a:solidFill>
                  <a:srgbClr val="212121"/>
                </a:solidFill>
                <a:latin typeface="Gill Sans MT"/>
                <a:cs typeface="Gill Sans MT"/>
              </a:rPr>
              <a:t>-</a:t>
            </a:r>
            <a:r>
              <a:rPr sz="1200" b="1" spc="50" dirty="0">
                <a:solidFill>
                  <a:srgbClr val="212121"/>
                </a:solidFill>
                <a:latin typeface="Gill Sans MT"/>
                <a:cs typeface="Gill Sans MT"/>
              </a:rPr>
              <a:t>-</a:t>
            </a:r>
            <a:r>
              <a:rPr sz="1200" b="1" spc="60" dirty="0">
                <a:solidFill>
                  <a:srgbClr val="212121"/>
                </a:solidFill>
                <a:latin typeface="Gill Sans MT"/>
                <a:cs typeface="Gill Sans MT"/>
              </a:rPr>
              <a:t>-</a:t>
            </a:r>
            <a:r>
              <a:rPr sz="1200" b="1" spc="50" dirty="0">
                <a:solidFill>
                  <a:srgbClr val="212121"/>
                </a:solidFill>
                <a:latin typeface="Gill Sans MT"/>
                <a:cs typeface="Gill Sans MT"/>
              </a:rPr>
              <a:t>-</a:t>
            </a:r>
            <a:r>
              <a:rPr sz="1200" b="1" spc="60" dirty="0">
                <a:solidFill>
                  <a:srgbClr val="212121"/>
                </a:solidFill>
                <a:latin typeface="Gill Sans MT"/>
                <a:cs typeface="Gill Sans MT"/>
              </a:rPr>
              <a:t>--</a:t>
            </a:r>
            <a:r>
              <a:rPr sz="1200" b="1" spc="50" dirty="0">
                <a:solidFill>
                  <a:srgbClr val="212121"/>
                </a:solidFill>
                <a:latin typeface="Gill Sans MT"/>
                <a:cs typeface="Gill Sans MT"/>
              </a:rPr>
              <a:t>-</a:t>
            </a:r>
            <a:r>
              <a:rPr sz="1200" b="1" spc="60" dirty="0">
                <a:solidFill>
                  <a:srgbClr val="212121"/>
                </a:solidFill>
                <a:latin typeface="Gill Sans MT"/>
                <a:cs typeface="Gill Sans MT"/>
              </a:rPr>
              <a:t>-</a:t>
            </a:r>
            <a:r>
              <a:rPr sz="1200" b="1" spc="50" dirty="0">
                <a:solidFill>
                  <a:srgbClr val="212121"/>
                </a:solidFill>
                <a:latin typeface="Gill Sans MT"/>
                <a:cs typeface="Gill Sans MT"/>
              </a:rPr>
              <a:t>-</a:t>
            </a:r>
            <a:r>
              <a:rPr sz="1200" b="1" spc="60" dirty="0">
                <a:solidFill>
                  <a:srgbClr val="212121"/>
                </a:solidFill>
                <a:latin typeface="Gill Sans MT"/>
                <a:cs typeface="Gill Sans MT"/>
              </a:rPr>
              <a:t>-</a:t>
            </a:r>
            <a:r>
              <a:rPr sz="1200" b="1" spc="50" dirty="0">
                <a:solidFill>
                  <a:srgbClr val="212121"/>
                </a:solidFill>
                <a:latin typeface="Gill Sans MT"/>
                <a:cs typeface="Gill Sans MT"/>
              </a:rPr>
              <a:t>-</a:t>
            </a:r>
            <a:r>
              <a:rPr sz="1200" b="1" spc="60" dirty="0">
                <a:solidFill>
                  <a:srgbClr val="212121"/>
                </a:solidFill>
                <a:latin typeface="Gill Sans MT"/>
                <a:cs typeface="Gill Sans MT"/>
              </a:rPr>
              <a:t>-</a:t>
            </a:r>
            <a:r>
              <a:rPr sz="1200" b="1" spc="50" dirty="0">
                <a:solidFill>
                  <a:srgbClr val="212121"/>
                </a:solidFill>
                <a:latin typeface="Gill Sans MT"/>
                <a:cs typeface="Gill Sans MT"/>
              </a:rPr>
              <a:t>-</a:t>
            </a:r>
            <a:r>
              <a:rPr sz="1200" b="1" spc="60" dirty="0">
                <a:solidFill>
                  <a:srgbClr val="212121"/>
                </a:solidFill>
                <a:latin typeface="Gill Sans MT"/>
                <a:cs typeface="Gill Sans MT"/>
              </a:rPr>
              <a:t>-</a:t>
            </a:r>
            <a:r>
              <a:rPr sz="1200" b="1" spc="50" dirty="0">
                <a:solidFill>
                  <a:srgbClr val="212121"/>
                </a:solidFill>
                <a:latin typeface="Gill Sans MT"/>
                <a:cs typeface="Gill Sans MT"/>
              </a:rPr>
              <a:t>-</a:t>
            </a:r>
            <a:r>
              <a:rPr sz="1200" b="1" spc="60" dirty="0">
                <a:solidFill>
                  <a:srgbClr val="212121"/>
                </a:solidFill>
                <a:latin typeface="Gill Sans MT"/>
                <a:cs typeface="Gill Sans MT"/>
              </a:rPr>
              <a:t>--</a:t>
            </a:r>
            <a:r>
              <a:rPr sz="1200" b="1" spc="50" dirty="0">
                <a:solidFill>
                  <a:srgbClr val="212121"/>
                </a:solidFill>
                <a:latin typeface="Gill Sans MT"/>
                <a:cs typeface="Gill Sans MT"/>
              </a:rPr>
              <a:t>-</a:t>
            </a:r>
            <a:r>
              <a:rPr sz="1200" b="1" spc="60" dirty="0">
                <a:solidFill>
                  <a:srgbClr val="212121"/>
                </a:solidFill>
                <a:latin typeface="Gill Sans MT"/>
                <a:cs typeface="Gill Sans MT"/>
              </a:rPr>
              <a:t>-</a:t>
            </a:r>
            <a:r>
              <a:rPr sz="1200" b="1" spc="50" dirty="0">
                <a:solidFill>
                  <a:srgbClr val="212121"/>
                </a:solidFill>
                <a:latin typeface="Gill Sans MT"/>
                <a:cs typeface="Gill Sans MT"/>
              </a:rPr>
              <a:t>-</a:t>
            </a:r>
            <a:r>
              <a:rPr sz="1200" b="1" spc="60" dirty="0">
                <a:solidFill>
                  <a:srgbClr val="212121"/>
                </a:solidFill>
                <a:latin typeface="Gill Sans MT"/>
                <a:cs typeface="Gill Sans MT"/>
              </a:rPr>
              <a:t>-</a:t>
            </a:r>
            <a:r>
              <a:rPr sz="1200" b="1" spc="50" dirty="0">
                <a:solidFill>
                  <a:srgbClr val="212121"/>
                </a:solidFill>
                <a:latin typeface="Gill Sans MT"/>
                <a:cs typeface="Gill Sans MT"/>
              </a:rPr>
              <a:t>-</a:t>
            </a:r>
            <a:r>
              <a:rPr sz="1200" b="1" spc="60" dirty="0">
                <a:solidFill>
                  <a:srgbClr val="212121"/>
                </a:solidFill>
                <a:latin typeface="Gill Sans MT"/>
                <a:cs typeface="Gill Sans MT"/>
              </a:rPr>
              <a:t>-</a:t>
            </a:r>
            <a:r>
              <a:rPr sz="1200" b="1" spc="50" dirty="0">
                <a:solidFill>
                  <a:srgbClr val="212121"/>
                </a:solidFill>
                <a:latin typeface="Gill Sans MT"/>
                <a:cs typeface="Gill Sans MT"/>
              </a:rPr>
              <a:t>-</a:t>
            </a:r>
            <a:r>
              <a:rPr sz="1200" b="1" spc="60" dirty="0">
                <a:solidFill>
                  <a:srgbClr val="212121"/>
                </a:solidFill>
                <a:latin typeface="Gill Sans MT"/>
                <a:cs typeface="Gill Sans MT"/>
              </a:rPr>
              <a:t>-</a:t>
            </a:r>
            <a:r>
              <a:rPr sz="1200" b="1" spc="50" dirty="0">
                <a:solidFill>
                  <a:srgbClr val="212121"/>
                </a:solidFill>
                <a:latin typeface="Gill Sans MT"/>
                <a:cs typeface="Gill Sans MT"/>
              </a:rPr>
              <a:t>-</a:t>
            </a:r>
            <a:r>
              <a:rPr sz="1200" b="1" spc="60" dirty="0">
                <a:solidFill>
                  <a:srgbClr val="212121"/>
                </a:solidFill>
                <a:latin typeface="Gill Sans MT"/>
                <a:cs typeface="Gill Sans MT"/>
              </a:rPr>
              <a:t>-</a:t>
            </a:r>
            <a:r>
              <a:rPr sz="1200" b="1" spc="50" dirty="0">
                <a:solidFill>
                  <a:srgbClr val="212121"/>
                </a:solidFill>
                <a:latin typeface="Gill Sans MT"/>
                <a:cs typeface="Gill Sans MT"/>
              </a:rPr>
              <a:t>-</a:t>
            </a:r>
            <a:r>
              <a:rPr sz="1200" b="1" spc="60" dirty="0">
                <a:solidFill>
                  <a:srgbClr val="212121"/>
                </a:solidFill>
                <a:latin typeface="Gill Sans MT"/>
                <a:cs typeface="Gill Sans MT"/>
              </a:rPr>
              <a:t>--</a:t>
            </a:r>
            <a:r>
              <a:rPr sz="1200" b="1" spc="50" dirty="0">
                <a:solidFill>
                  <a:srgbClr val="212121"/>
                </a:solidFill>
                <a:latin typeface="Gill Sans MT"/>
                <a:cs typeface="Gill Sans MT"/>
              </a:rPr>
              <a:t>-</a:t>
            </a:r>
            <a:r>
              <a:rPr sz="1200" b="1" spc="60" dirty="0">
                <a:solidFill>
                  <a:srgbClr val="212121"/>
                </a:solidFill>
                <a:latin typeface="Gill Sans MT"/>
                <a:cs typeface="Gill Sans MT"/>
              </a:rPr>
              <a:t>-</a:t>
            </a:r>
            <a:r>
              <a:rPr sz="1200" b="1" spc="50" dirty="0">
                <a:solidFill>
                  <a:srgbClr val="212121"/>
                </a:solidFill>
                <a:latin typeface="Gill Sans MT"/>
                <a:cs typeface="Gill Sans MT"/>
              </a:rPr>
              <a:t>-</a:t>
            </a:r>
            <a:r>
              <a:rPr sz="1200" b="1" spc="60" dirty="0">
                <a:solidFill>
                  <a:srgbClr val="212121"/>
                </a:solidFill>
                <a:latin typeface="Gill Sans MT"/>
                <a:cs typeface="Gill Sans MT"/>
              </a:rPr>
              <a:t>-</a:t>
            </a:r>
            <a:r>
              <a:rPr sz="1200" b="1" spc="50" dirty="0">
                <a:solidFill>
                  <a:srgbClr val="212121"/>
                </a:solidFill>
                <a:latin typeface="Gill Sans MT"/>
                <a:cs typeface="Gill Sans MT"/>
              </a:rPr>
              <a:t>-</a:t>
            </a:r>
            <a:r>
              <a:rPr sz="1200" b="1" spc="60" dirty="0">
                <a:solidFill>
                  <a:srgbClr val="212121"/>
                </a:solidFill>
                <a:latin typeface="Gill Sans MT"/>
                <a:cs typeface="Gill Sans MT"/>
              </a:rPr>
              <a:t>-</a:t>
            </a:r>
            <a:r>
              <a:rPr sz="1200" b="1" spc="50" dirty="0">
                <a:solidFill>
                  <a:srgbClr val="212121"/>
                </a:solidFill>
                <a:latin typeface="Gill Sans MT"/>
                <a:cs typeface="Gill Sans MT"/>
              </a:rPr>
              <a:t>-</a:t>
            </a:r>
            <a:r>
              <a:rPr sz="1200" b="1" spc="60" dirty="0">
                <a:solidFill>
                  <a:srgbClr val="212121"/>
                </a:solidFill>
                <a:latin typeface="Gill Sans MT"/>
                <a:cs typeface="Gill Sans MT"/>
              </a:rPr>
              <a:t>-</a:t>
            </a:r>
            <a:r>
              <a:rPr sz="1200" b="1" spc="50" dirty="0">
                <a:solidFill>
                  <a:srgbClr val="212121"/>
                </a:solidFill>
                <a:latin typeface="Gill Sans MT"/>
                <a:cs typeface="Gill Sans MT"/>
              </a:rPr>
              <a:t>-</a:t>
            </a:r>
            <a:r>
              <a:rPr sz="1200" b="1" spc="60" dirty="0">
                <a:solidFill>
                  <a:srgbClr val="212121"/>
                </a:solidFill>
                <a:latin typeface="Gill Sans MT"/>
                <a:cs typeface="Gill Sans MT"/>
              </a:rPr>
              <a:t>--</a:t>
            </a:r>
            <a:r>
              <a:rPr sz="1200" b="1" spc="50" dirty="0">
                <a:solidFill>
                  <a:srgbClr val="212121"/>
                </a:solidFill>
                <a:latin typeface="Gill Sans MT"/>
                <a:cs typeface="Gill Sans MT"/>
              </a:rPr>
              <a:t>-</a:t>
            </a:r>
            <a:r>
              <a:rPr sz="1200" b="1" spc="10" dirty="0">
                <a:solidFill>
                  <a:srgbClr val="212121"/>
                </a:solidFill>
                <a:latin typeface="Gill Sans MT"/>
                <a:cs typeface="Gill Sans MT"/>
              </a:rPr>
              <a:t>-</a:t>
            </a:r>
            <a:endParaRPr sz="1200" dirty="0">
              <a:latin typeface="Gill Sans MT"/>
              <a:cs typeface="Gill Sans MT"/>
            </a:endParaRPr>
          </a:p>
          <a:p>
            <a:pPr marL="657225" lvl="1" indent="-309245">
              <a:lnSpc>
                <a:spcPct val="100000"/>
              </a:lnSpc>
              <a:buClr>
                <a:srgbClr val="FF6600"/>
              </a:buClr>
              <a:buAutoNum type="arabicPeriod"/>
              <a:tabLst>
                <a:tab pos="657225" algn="l"/>
              </a:tabLst>
            </a:pPr>
            <a:r>
              <a:rPr sz="1200" spc="40" dirty="0">
                <a:solidFill>
                  <a:srgbClr val="212121"/>
                </a:solidFill>
                <a:latin typeface="Gill Sans MT"/>
                <a:cs typeface="Gill Sans MT"/>
              </a:rPr>
              <a:t>read(</a:t>
            </a:r>
            <a:r>
              <a:rPr sz="1200" i="1" spc="40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spc="40" dirty="0">
                <a:solidFill>
                  <a:srgbClr val="212121"/>
                </a:solidFill>
                <a:latin typeface="Gill Sans MT"/>
                <a:cs typeface="Gill Sans MT"/>
              </a:rPr>
              <a:t>)</a:t>
            </a:r>
            <a:endParaRPr sz="1200" dirty="0">
              <a:latin typeface="Gill Sans MT"/>
              <a:cs typeface="Gill Sans MT"/>
            </a:endParaRPr>
          </a:p>
          <a:p>
            <a:pPr marL="657225" lvl="1" indent="-309245">
              <a:lnSpc>
                <a:spcPct val="100000"/>
              </a:lnSpc>
              <a:buClr>
                <a:srgbClr val="FF6600"/>
              </a:buClr>
              <a:buFont typeface="Gill Sans MT"/>
              <a:buAutoNum type="arabicPeriod"/>
              <a:tabLst>
                <a:tab pos="657225" algn="l"/>
              </a:tabLst>
            </a:pPr>
            <a:r>
              <a:rPr sz="1200" i="1" spc="135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i="1" spc="-4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:=</a:t>
            </a:r>
            <a:r>
              <a:rPr sz="1200" spc="-4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135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i="1" spc="-4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165" dirty="0">
                <a:solidFill>
                  <a:srgbClr val="212121"/>
                </a:solidFill>
                <a:latin typeface="Gill Sans MT"/>
                <a:cs typeface="Gill Sans MT"/>
              </a:rPr>
              <a:t>–</a:t>
            </a:r>
            <a:r>
              <a:rPr sz="1200" i="1" spc="-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40" dirty="0">
                <a:solidFill>
                  <a:srgbClr val="212121"/>
                </a:solidFill>
                <a:latin typeface="Gill Sans MT"/>
                <a:cs typeface="Gill Sans MT"/>
              </a:rPr>
              <a:t>50</a:t>
            </a:r>
            <a:endParaRPr sz="1200" dirty="0">
              <a:latin typeface="Gill Sans MT"/>
              <a:cs typeface="Gill Sans MT"/>
            </a:endParaRPr>
          </a:p>
          <a:p>
            <a:pPr marL="657225" lvl="1" indent="-309245">
              <a:lnSpc>
                <a:spcPct val="100000"/>
              </a:lnSpc>
              <a:buClr>
                <a:srgbClr val="FF6600"/>
              </a:buClr>
              <a:buAutoNum type="arabicPeriod"/>
              <a:tabLst>
                <a:tab pos="657225" algn="l"/>
              </a:tabLst>
            </a:pP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write(</a:t>
            </a:r>
            <a:r>
              <a:rPr sz="1200" i="1" spc="-10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)</a:t>
            </a:r>
            <a:endParaRPr sz="1200" dirty="0">
              <a:latin typeface="Gill Sans MT"/>
              <a:cs typeface="Gill Sans MT"/>
            </a:endParaRPr>
          </a:p>
          <a:p>
            <a:pPr marL="2105025">
              <a:lnSpc>
                <a:spcPct val="100000"/>
              </a:lnSpc>
            </a:pP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read(A),</a:t>
            </a:r>
            <a:r>
              <a:rPr sz="1200" spc="16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read(B),</a:t>
            </a:r>
            <a:r>
              <a:rPr sz="1200" spc="16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print(A+B)</a:t>
            </a:r>
            <a:endParaRPr sz="1200" dirty="0">
              <a:latin typeface="Gill Sans MT"/>
              <a:cs typeface="Gill Sans MT"/>
            </a:endParaRPr>
          </a:p>
          <a:p>
            <a:pPr marL="657225" lvl="1" indent="-309245">
              <a:lnSpc>
                <a:spcPct val="100000"/>
              </a:lnSpc>
              <a:spcBef>
                <a:spcPts val="5"/>
              </a:spcBef>
              <a:buClr>
                <a:srgbClr val="FF6600"/>
              </a:buClr>
              <a:buAutoNum type="arabicPeriod" startAt="4"/>
              <a:tabLst>
                <a:tab pos="657225" algn="l"/>
              </a:tabLst>
            </a:pPr>
            <a:r>
              <a:rPr sz="1200" spc="35" dirty="0">
                <a:solidFill>
                  <a:srgbClr val="212121"/>
                </a:solidFill>
                <a:latin typeface="Gill Sans MT"/>
                <a:cs typeface="Gill Sans MT"/>
              </a:rPr>
              <a:t>read(</a:t>
            </a:r>
            <a:r>
              <a:rPr sz="1200" i="1" spc="35" dirty="0">
                <a:solidFill>
                  <a:srgbClr val="212121"/>
                </a:solidFill>
                <a:latin typeface="Gill Sans MT"/>
                <a:cs typeface="Gill Sans MT"/>
              </a:rPr>
              <a:t>B</a:t>
            </a:r>
            <a:r>
              <a:rPr sz="1200" spc="35" dirty="0">
                <a:solidFill>
                  <a:srgbClr val="212121"/>
                </a:solidFill>
                <a:latin typeface="Gill Sans MT"/>
                <a:cs typeface="Gill Sans MT"/>
              </a:rPr>
              <a:t>)</a:t>
            </a:r>
            <a:endParaRPr sz="1200" dirty="0">
              <a:latin typeface="Gill Sans MT"/>
              <a:cs typeface="Gill Sans MT"/>
            </a:endParaRPr>
          </a:p>
          <a:p>
            <a:pPr marL="657225" lvl="1" indent="-309245">
              <a:lnSpc>
                <a:spcPct val="100000"/>
              </a:lnSpc>
              <a:buClr>
                <a:srgbClr val="FF6600"/>
              </a:buClr>
              <a:buFont typeface="Gill Sans MT"/>
              <a:buAutoNum type="arabicPeriod" startAt="4"/>
              <a:tabLst>
                <a:tab pos="657225" algn="l"/>
              </a:tabLst>
            </a:pPr>
            <a:r>
              <a:rPr sz="1200" i="1" spc="114" dirty="0">
                <a:solidFill>
                  <a:srgbClr val="212121"/>
                </a:solidFill>
                <a:latin typeface="Gill Sans MT"/>
                <a:cs typeface="Gill Sans MT"/>
              </a:rPr>
              <a:t>B</a:t>
            </a:r>
            <a:r>
              <a:rPr sz="1200" i="1" spc="-6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:=</a:t>
            </a:r>
            <a:r>
              <a:rPr sz="1200" spc="-4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114" dirty="0">
                <a:solidFill>
                  <a:srgbClr val="212121"/>
                </a:solidFill>
                <a:latin typeface="Gill Sans MT"/>
                <a:cs typeface="Gill Sans MT"/>
              </a:rPr>
              <a:t>B</a:t>
            </a:r>
            <a:r>
              <a:rPr sz="1200" i="1" spc="-5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dirty="0">
                <a:solidFill>
                  <a:srgbClr val="212121"/>
                </a:solidFill>
                <a:latin typeface="Gill Sans MT"/>
                <a:cs typeface="Gill Sans MT"/>
              </a:rPr>
              <a:t>+</a:t>
            </a:r>
            <a:r>
              <a:rPr sz="1200" i="1" spc="-5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40" dirty="0">
                <a:solidFill>
                  <a:srgbClr val="212121"/>
                </a:solidFill>
                <a:latin typeface="Gill Sans MT"/>
                <a:cs typeface="Gill Sans MT"/>
              </a:rPr>
              <a:t>50</a:t>
            </a:r>
            <a:endParaRPr sz="1200" dirty="0">
              <a:latin typeface="Gill Sans MT"/>
              <a:cs typeface="Gill Sans MT"/>
            </a:endParaRPr>
          </a:p>
          <a:p>
            <a:pPr marL="657225" lvl="1" indent="-309245">
              <a:lnSpc>
                <a:spcPct val="100000"/>
              </a:lnSpc>
              <a:buClr>
                <a:srgbClr val="FF6600"/>
              </a:buClr>
              <a:buAutoNum type="arabicPeriod" startAt="4"/>
              <a:tabLst>
                <a:tab pos="657225" algn="l"/>
              </a:tabLst>
            </a:pP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write(</a:t>
            </a:r>
            <a:r>
              <a:rPr sz="1200" i="1" spc="-10" dirty="0">
                <a:solidFill>
                  <a:srgbClr val="212121"/>
                </a:solidFill>
                <a:latin typeface="Gill Sans MT"/>
                <a:cs typeface="Gill Sans MT"/>
              </a:rPr>
              <a:t>B)</a:t>
            </a:r>
            <a:endParaRPr sz="1200" dirty="0">
              <a:latin typeface="Gill Sans MT"/>
              <a:cs typeface="Gill Sans MT"/>
            </a:endParaRPr>
          </a:p>
          <a:p>
            <a:pPr lvl="1">
              <a:lnSpc>
                <a:spcPct val="100000"/>
              </a:lnSpc>
              <a:spcBef>
                <a:spcPts val="645"/>
              </a:spcBef>
              <a:buClr>
                <a:srgbClr val="FF6600"/>
              </a:buClr>
              <a:buFont typeface="Gill Sans MT"/>
              <a:buAutoNum type="arabicPeriod" startAt="4"/>
            </a:pPr>
            <a:endParaRPr sz="1200" dirty="0">
              <a:latin typeface="Gill Sans MT"/>
              <a:cs typeface="Gill Sans MT"/>
            </a:endParaRPr>
          </a:p>
          <a:p>
            <a:pPr marL="321945" marR="5080" indent="-309880">
              <a:lnSpc>
                <a:spcPct val="100000"/>
              </a:lnSpc>
              <a:buClr>
                <a:srgbClr val="FF8600"/>
              </a:buClr>
              <a:buSzPct val="129166"/>
              <a:buFont typeface="Cambria Math"/>
              <a:buChar char="◗"/>
              <a:tabLst>
                <a:tab pos="321945" algn="l"/>
              </a:tabLst>
            </a:pP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70" dirty="0">
                <a:solidFill>
                  <a:srgbClr val="212121"/>
                </a:solidFill>
                <a:latin typeface="Gill Sans MT"/>
                <a:cs typeface="Gill Sans MT"/>
              </a:rPr>
              <a:t>way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to</a:t>
            </a:r>
            <a:r>
              <a:rPr sz="1200" spc="4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avoid</a:t>
            </a:r>
            <a:r>
              <a:rPr sz="1200" spc="7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the</a:t>
            </a:r>
            <a:r>
              <a:rPr sz="1200" spc="3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problem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of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concurrently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executing</a:t>
            </a:r>
            <a:r>
              <a:rPr sz="1200" spc="4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transactions</a:t>
            </a:r>
            <a:r>
              <a:rPr sz="1200" spc="4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5" dirty="0">
                <a:solidFill>
                  <a:srgbClr val="212121"/>
                </a:solidFill>
                <a:latin typeface="Gill Sans MT"/>
                <a:cs typeface="Gill Sans MT"/>
              </a:rPr>
              <a:t>is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to</a:t>
            </a:r>
            <a:r>
              <a:rPr sz="1200" spc="4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execute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transactions</a:t>
            </a:r>
            <a:r>
              <a:rPr sz="1200" spc="7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b="1" spc="-10" dirty="0">
                <a:solidFill>
                  <a:srgbClr val="000099"/>
                </a:solidFill>
                <a:latin typeface="Gill Sans MT"/>
                <a:cs typeface="Gill Sans MT"/>
              </a:rPr>
              <a:t>serially</a:t>
            </a:r>
            <a:r>
              <a:rPr sz="1200" b="1" dirty="0">
                <a:solidFill>
                  <a:srgbClr val="000099"/>
                </a:solidFill>
                <a:latin typeface="Gill Sans MT"/>
                <a:cs typeface="Gill Sans MT"/>
              </a:rPr>
              <a:t> (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i.e.</a:t>
            </a:r>
            <a:r>
              <a:rPr sz="1200" spc="7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one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after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-25" dirty="0">
                <a:solidFill>
                  <a:srgbClr val="212121"/>
                </a:solidFill>
                <a:latin typeface="Gill Sans MT"/>
                <a:cs typeface="Gill Sans MT"/>
              </a:rPr>
              <a:t>the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other).</a:t>
            </a:r>
            <a:r>
              <a:rPr sz="12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However,</a:t>
            </a:r>
            <a:r>
              <a:rPr sz="1200" spc="4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executing</a:t>
            </a:r>
            <a:r>
              <a:rPr sz="1200" spc="3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multiple</a:t>
            </a:r>
            <a:r>
              <a:rPr sz="1200" spc="4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transactions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concurrently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10" dirty="0">
                <a:solidFill>
                  <a:srgbClr val="212121"/>
                </a:solidFill>
                <a:latin typeface="Gill Sans MT"/>
                <a:cs typeface="Gill Sans MT"/>
              </a:rPr>
              <a:t>has</a:t>
            </a:r>
            <a:r>
              <a:rPr sz="1200" spc="4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70" dirty="0">
                <a:solidFill>
                  <a:srgbClr val="212121"/>
                </a:solidFill>
                <a:latin typeface="Gill Sans MT"/>
                <a:cs typeface="Gill Sans MT"/>
              </a:rPr>
              <a:t>significant</a:t>
            </a:r>
            <a:r>
              <a:rPr sz="1200" spc="4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benefits.</a:t>
            </a:r>
            <a:endParaRPr sz="1200" dirty="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0" dirty="0">
                <a:solidFill>
                  <a:srgbClr val="FFFFFF"/>
                </a:solidFill>
                <a:latin typeface="Gill Sans MT"/>
                <a:cs typeface="Gill Sans MT"/>
              </a:rPr>
              <a:t>8</a:t>
            </a:r>
            <a:endParaRPr sz="13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3944" y="447243"/>
            <a:ext cx="215709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5" dirty="0"/>
              <a:t>Transaction</a:t>
            </a:r>
            <a:r>
              <a:rPr spc="-200" dirty="0"/>
              <a:t> </a:t>
            </a:r>
            <a:r>
              <a:rPr spc="-130" dirty="0"/>
              <a:t>States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37845" y="246634"/>
            <a:ext cx="120014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0" dirty="0">
                <a:solidFill>
                  <a:srgbClr val="FFFFFF"/>
                </a:solidFill>
                <a:latin typeface="Gill Sans MT"/>
                <a:cs typeface="Gill Sans MT"/>
              </a:rPr>
              <a:t>9</a:t>
            </a:r>
            <a:endParaRPr sz="1300">
              <a:latin typeface="Gill Sans MT"/>
              <a:cs typeface="Gill Sans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22976" y="1514942"/>
            <a:ext cx="3211050" cy="2214285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287223" y="1051940"/>
            <a:ext cx="4658360" cy="33185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7305">
              <a:lnSpc>
                <a:spcPct val="100000"/>
              </a:lnSpc>
              <a:spcBef>
                <a:spcPts val="100"/>
              </a:spcBef>
            </a:pPr>
            <a:r>
              <a:rPr sz="1200" spc="10" dirty="0">
                <a:solidFill>
                  <a:srgbClr val="006FC0"/>
                </a:solidFill>
                <a:latin typeface="Gill Sans MT"/>
                <a:cs typeface="Gill Sans MT"/>
              </a:rPr>
              <a:t>Active</a:t>
            </a:r>
            <a:r>
              <a:rPr sz="1200" spc="55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200" spc="185" dirty="0">
                <a:solidFill>
                  <a:srgbClr val="006FC0"/>
                </a:solidFill>
                <a:latin typeface="Gill Sans MT"/>
                <a:cs typeface="Gill Sans MT"/>
              </a:rPr>
              <a:t>–</a:t>
            </a:r>
            <a:r>
              <a:rPr sz="1200" spc="50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The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initial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state;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the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transaction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90" dirty="0">
                <a:latin typeface="Gill Sans MT"/>
                <a:cs typeface="Gill Sans MT"/>
              </a:rPr>
              <a:t>stays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in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this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state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while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it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is </a:t>
            </a:r>
            <a:r>
              <a:rPr sz="1200" spc="40" dirty="0">
                <a:latin typeface="Gill Sans MT"/>
                <a:cs typeface="Gill Sans MT"/>
              </a:rPr>
              <a:t>executing.</a:t>
            </a:r>
            <a:endParaRPr sz="120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Gill Sans MT"/>
              <a:cs typeface="Gill Sans MT"/>
            </a:endParaRPr>
          </a:p>
          <a:p>
            <a:pPr marL="12700" marR="5080">
              <a:lnSpc>
                <a:spcPct val="100000"/>
              </a:lnSpc>
            </a:pPr>
            <a:r>
              <a:rPr sz="1200" spc="20" dirty="0">
                <a:solidFill>
                  <a:srgbClr val="006FC0"/>
                </a:solidFill>
                <a:latin typeface="Gill Sans MT"/>
                <a:cs typeface="Gill Sans MT"/>
              </a:rPr>
              <a:t>Partially</a:t>
            </a:r>
            <a:r>
              <a:rPr sz="1200" spc="25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006FC0"/>
                </a:solidFill>
                <a:latin typeface="Gill Sans MT"/>
                <a:cs typeface="Gill Sans MT"/>
              </a:rPr>
              <a:t>committed</a:t>
            </a:r>
            <a:r>
              <a:rPr sz="1200" spc="35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006FC0"/>
                </a:solidFill>
                <a:latin typeface="Gill Sans MT"/>
                <a:cs typeface="Gill Sans MT"/>
              </a:rPr>
              <a:t>–</a:t>
            </a:r>
            <a:r>
              <a:rPr sz="1200" spc="20" dirty="0">
                <a:latin typeface="Gill Sans MT"/>
                <a:cs typeface="Gill Sans MT"/>
              </a:rPr>
              <a:t>After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the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final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statement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110" dirty="0">
                <a:latin typeface="Gill Sans MT"/>
                <a:cs typeface="Gill Sans MT"/>
              </a:rPr>
              <a:t>has</a:t>
            </a:r>
            <a:r>
              <a:rPr sz="1200" spc="65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been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executed.</a:t>
            </a:r>
            <a:r>
              <a:rPr sz="1200" spc="50" dirty="0">
                <a:latin typeface="Gill Sans MT"/>
                <a:cs typeface="Gill Sans MT"/>
              </a:rPr>
              <a:t> </a:t>
            </a:r>
            <a:r>
              <a:rPr sz="1200" spc="-25" dirty="0">
                <a:latin typeface="Gill Sans MT"/>
                <a:cs typeface="Gill Sans MT"/>
              </a:rPr>
              <a:t>At </a:t>
            </a:r>
            <a:r>
              <a:rPr sz="1200" spc="55" dirty="0">
                <a:latin typeface="Gill Sans MT"/>
                <a:cs typeface="Gill Sans MT"/>
              </a:rPr>
              <a:t>this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point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transaction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114" dirty="0">
                <a:latin typeface="Gill Sans MT"/>
                <a:cs typeface="Gill Sans MT"/>
              </a:rPr>
              <a:t>has</a:t>
            </a:r>
            <a:r>
              <a:rPr sz="1200" spc="50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completed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its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execution,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but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it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90" dirty="0">
                <a:latin typeface="Gill Sans MT"/>
                <a:cs typeface="Gill Sans MT"/>
              </a:rPr>
              <a:t>is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spc="-10" dirty="0">
                <a:latin typeface="Gill Sans MT"/>
                <a:cs typeface="Gill Sans MT"/>
              </a:rPr>
              <a:t>still </a:t>
            </a:r>
            <a:r>
              <a:rPr sz="1200" spc="70" dirty="0">
                <a:latin typeface="Gill Sans MT"/>
                <a:cs typeface="Gill Sans MT"/>
              </a:rPr>
              <a:t>possible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that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it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95" dirty="0">
                <a:latin typeface="Gill Sans MT"/>
                <a:cs typeface="Gill Sans MT"/>
              </a:rPr>
              <a:t>may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have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to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be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aborted,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75" dirty="0">
                <a:latin typeface="Gill Sans MT"/>
                <a:cs typeface="Gill Sans MT"/>
              </a:rPr>
              <a:t>since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actual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output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may </a:t>
            </a:r>
            <a:r>
              <a:rPr sz="1200" spc="10" dirty="0">
                <a:latin typeface="Gill Sans MT"/>
                <a:cs typeface="Gill Sans MT"/>
              </a:rPr>
              <a:t>still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be</a:t>
            </a:r>
            <a:r>
              <a:rPr sz="1200" spc="50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temporarily</a:t>
            </a:r>
            <a:r>
              <a:rPr sz="1200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residing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in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spc="80" dirty="0">
                <a:latin typeface="Gill Sans MT"/>
                <a:cs typeface="Gill Sans MT"/>
              </a:rPr>
              <a:t>main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memory,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80" dirty="0">
                <a:latin typeface="Gill Sans MT"/>
                <a:cs typeface="Gill Sans MT"/>
              </a:rPr>
              <a:t>and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thus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spc="135" dirty="0">
                <a:latin typeface="Gill Sans MT"/>
                <a:cs typeface="Gill Sans MT"/>
              </a:rPr>
              <a:t>a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-10" dirty="0">
                <a:latin typeface="Gill Sans MT"/>
                <a:cs typeface="Gill Sans MT"/>
              </a:rPr>
              <a:t>hardware </a:t>
            </a:r>
            <a:r>
              <a:rPr sz="1200" spc="45" dirty="0">
                <a:latin typeface="Gill Sans MT"/>
                <a:cs typeface="Gill Sans MT"/>
              </a:rPr>
              <a:t>failure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95" dirty="0">
                <a:latin typeface="Gill Sans MT"/>
                <a:cs typeface="Gill Sans MT"/>
              </a:rPr>
              <a:t>may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preclude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its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spc="90" dirty="0">
                <a:latin typeface="Gill Sans MT"/>
                <a:cs typeface="Gill Sans MT"/>
              </a:rPr>
              <a:t>successful</a:t>
            </a:r>
            <a:r>
              <a:rPr sz="1200" spc="55" dirty="0">
                <a:latin typeface="Gill Sans MT"/>
                <a:cs typeface="Gill Sans MT"/>
              </a:rPr>
              <a:t> </a:t>
            </a:r>
            <a:r>
              <a:rPr sz="1200" spc="-10" dirty="0">
                <a:latin typeface="Gill Sans MT"/>
                <a:cs typeface="Gill Sans MT"/>
              </a:rPr>
              <a:t>completion.</a:t>
            </a:r>
            <a:endParaRPr sz="120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200" spc="60" dirty="0">
                <a:solidFill>
                  <a:srgbClr val="006FC0"/>
                </a:solidFill>
                <a:latin typeface="Gill Sans MT"/>
                <a:cs typeface="Gill Sans MT"/>
              </a:rPr>
              <a:t>Failed</a:t>
            </a:r>
            <a:r>
              <a:rPr sz="1200" spc="80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200" spc="185" dirty="0">
                <a:solidFill>
                  <a:srgbClr val="006FC0"/>
                </a:solidFill>
                <a:latin typeface="Gill Sans MT"/>
                <a:cs typeface="Gill Sans MT"/>
              </a:rPr>
              <a:t>–</a:t>
            </a:r>
            <a:r>
              <a:rPr sz="1200" spc="60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After</a:t>
            </a:r>
            <a:r>
              <a:rPr sz="1200" spc="65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the</a:t>
            </a:r>
            <a:r>
              <a:rPr sz="1200" spc="65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discovery</a:t>
            </a:r>
            <a:r>
              <a:rPr sz="1200" spc="90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that</a:t>
            </a:r>
            <a:r>
              <a:rPr sz="1200" spc="65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normal</a:t>
            </a:r>
            <a:r>
              <a:rPr sz="1200" spc="55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execution</a:t>
            </a:r>
            <a:r>
              <a:rPr sz="1200" spc="65" dirty="0">
                <a:latin typeface="Gill Sans MT"/>
                <a:cs typeface="Gill Sans MT"/>
              </a:rPr>
              <a:t> </a:t>
            </a:r>
            <a:r>
              <a:rPr sz="1200" spc="95" dirty="0">
                <a:latin typeface="Gill Sans MT"/>
                <a:cs typeface="Gill Sans MT"/>
              </a:rPr>
              <a:t>can</a:t>
            </a:r>
            <a:r>
              <a:rPr sz="1200" spc="90" dirty="0"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no</a:t>
            </a:r>
            <a:r>
              <a:rPr sz="1200" spc="70" dirty="0">
                <a:latin typeface="Gill Sans MT"/>
                <a:cs typeface="Gill Sans MT"/>
              </a:rPr>
              <a:t> </a:t>
            </a:r>
            <a:r>
              <a:rPr sz="1200" spc="-10" dirty="0">
                <a:latin typeface="Gill Sans MT"/>
                <a:cs typeface="Gill Sans MT"/>
              </a:rPr>
              <a:t>longer</a:t>
            </a:r>
            <a:endParaRPr sz="120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latin typeface="Gill Sans MT"/>
                <a:cs typeface="Gill Sans MT"/>
              </a:rPr>
              <a:t>proceed</a:t>
            </a:r>
            <a:r>
              <a:rPr sz="1200" spc="114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with</a:t>
            </a:r>
            <a:r>
              <a:rPr sz="1200" spc="135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its</a:t>
            </a:r>
            <a:r>
              <a:rPr sz="1200" spc="12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normal</a:t>
            </a:r>
            <a:r>
              <a:rPr sz="1200" spc="120" dirty="0">
                <a:latin typeface="Gill Sans MT"/>
                <a:cs typeface="Gill Sans MT"/>
              </a:rPr>
              <a:t> </a:t>
            </a:r>
            <a:r>
              <a:rPr sz="1200" spc="-10" dirty="0">
                <a:latin typeface="Gill Sans MT"/>
                <a:cs typeface="Gill Sans MT"/>
              </a:rPr>
              <a:t>execution.</a:t>
            </a:r>
            <a:endParaRPr sz="120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ill Sans MT"/>
              <a:cs typeface="Gill Sans MT"/>
            </a:endParaRPr>
          </a:p>
          <a:p>
            <a:pPr marL="12700" marR="184150">
              <a:lnSpc>
                <a:spcPct val="100000"/>
              </a:lnSpc>
            </a:pPr>
            <a:r>
              <a:rPr sz="1200" dirty="0">
                <a:solidFill>
                  <a:srgbClr val="006FC0"/>
                </a:solidFill>
                <a:latin typeface="Gill Sans MT"/>
                <a:cs typeface="Gill Sans MT"/>
              </a:rPr>
              <a:t>Aborted</a:t>
            </a:r>
            <a:r>
              <a:rPr sz="1200" spc="40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006FC0"/>
                </a:solidFill>
                <a:latin typeface="Gill Sans MT"/>
                <a:cs typeface="Gill Sans MT"/>
              </a:rPr>
              <a:t>–</a:t>
            </a:r>
            <a:r>
              <a:rPr sz="1200" dirty="0">
                <a:latin typeface="Gill Sans MT"/>
                <a:cs typeface="Gill Sans MT"/>
              </a:rPr>
              <a:t>After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transaction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spc="110" dirty="0">
                <a:latin typeface="Gill Sans MT"/>
                <a:cs typeface="Gill Sans MT"/>
              </a:rPr>
              <a:t>has</a:t>
            </a:r>
            <a:r>
              <a:rPr sz="1200" spc="70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been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rolled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back,</a:t>
            </a:r>
            <a:r>
              <a:rPr sz="1200" spc="7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then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it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spc="-10" dirty="0">
                <a:latin typeface="Gill Sans MT"/>
                <a:cs typeface="Gill Sans MT"/>
              </a:rPr>
              <a:t>enters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aborted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state.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Two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spc="45" dirty="0">
                <a:latin typeface="Gill Sans MT"/>
                <a:cs typeface="Gill Sans MT"/>
              </a:rPr>
              <a:t>options </a:t>
            </a:r>
            <a:r>
              <a:rPr sz="1200" dirty="0">
                <a:latin typeface="Gill Sans MT"/>
                <a:cs typeface="Gill Sans MT"/>
              </a:rPr>
              <a:t>after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it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spc="110" dirty="0">
                <a:latin typeface="Gill Sans MT"/>
                <a:cs typeface="Gill Sans MT"/>
              </a:rPr>
              <a:t>has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been </a:t>
            </a:r>
            <a:r>
              <a:rPr sz="1200" spc="-10" dirty="0">
                <a:latin typeface="Gill Sans MT"/>
                <a:cs typeface="Gill Sans MT"/>
              </a:rPr>
              <a:t>aborted:</a:t>
            </a:r>
            <a:endParaRPr sz="1200">
              <a:latin typeface="Gill Sans MT"/>
              <a:cs typeface="Gill Sans MT"/>
            </a:endParaRPr>
          </a:p>
          <a:p>
            <a:pPr marL="180975" indent="-168275">
              <a:lnSpc>
                <a:spcPct val="100000"/>
              </a:lnSpc>
              <a:buAutoNum type="romanLcPeriod"/>
              <a:tabLst>
                <a:tab pos="180975" algn="l"/>
              </a:tabLst>
            </a:pPr>
            <a:r>
              <a:rPr sz="1200" dirty="0">
                <a:latin typeface="Gill Sans MT"/>
                <a:cs typeface="Gill Sans MT"/>
              </a:rPr>
              <a:t>restart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transaction </a:t>
            </a:r>
            <a:r>
              <a:rPr sz="1200" dirty="0">
                <a:latin typeface="Gill Sans MT"/>
                <a:cs typeface="Gill Sans MT"/>
              </a:rPr>
              <a:t>for</a:t>
            </a:r>
            <a:r>
              <a:rPr sz="1200" spc="5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hardware</a:t>
            </a:r>
            <a:r>
              <a:rPr sz="1200" spc="70" dirty="0">
                <a:latin typeface="Gill Sans MT"/>
                <a:cs typeface="Gill Sans MT"/>
              </a:rPr>
              <a:t> </a:t>
            </a:r>
            <a:r>
              <a:rPr sz="1200" spc="-20" dirty="0">
                <a:latin typeface="Gill Sans MT"/>
                <a:cs typeface="Gill Sans MT"/>
              </a:rPr>
              <a:t>or</a:t>
            </a:r>
            <a:r>
              <a:rPr sz="1200" spc="70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software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spc="-10" dirty="0">
                <a:latin typeface="Gill Sans MT"/>
                <a:cs typeface="Gill Sans MT"/>
              </a:rPr>
              <a:t>error.</a:t>
            </a:r>
            <a:endParaRPr sz="1200">
              <a:latin typeface="Gill Sans MT"/>
              <a:cs typeface="Gill Sans MT"/>
            </a:endParaRPr>
          </a:p>
          <a:p>
            <a:pPr marL="180340" indent="-167640">
              <a:lnSpc>
                <a:spcPct val="100000"/>
              </a:lnSpc>
              <a:buAutoNum type="romanLcPeriod"/>
              <a:tabLst>
                <a:tab pos="180340" algn="l"/>
              </a:tabLst>
            </a:pPr>
            <a:r>
              <a:rPr sz="1200" dirty="0">
                <a:latin typeface="Gill Sans MT"/>
                <a:cs typeface="Gill Sans MT"/>
              </a:rPr>
              <a:t>kill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transaction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for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logical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-10" dirty="0">
                <a:latin typeface="Gill Sans MT"/>
                <a:cs typeface="Gill Sans MT"/>
              </a:rPr>
              <a:t>error</a:t>
            </a:r>
            <a:endParaRPr sz="120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20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</a:pPr>
            <a:r>
              <a:rPr sz="1200" spc="10" dirty="0">
                <a:solidFill>
                  <a:srgbClr val="006FC0"/>
                </a:solidFill>
                <a:latin typeface="Gill Sans MT"/>
                <a:cs typeface="Gill Sans MT"/>
              </a:rPr>
              <a:t>Committed</a:t>
            </a:r>
            <a:r>
              <a:rPr sz="1200" spc="5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200" spc="185" dirty="0">
                <a:solidFill>
                  <a:srgbClr val="006FC0"/>
                </a:solidFill>
                <a:latin typeface="Gill Sans MT"/>
                <a:cs typeface="Gill Sans MT"/>
              </a:rPr>
              <a:t>–</a:t>
            </a:r>
            <a:r>
              <a:rPr sz="1200" spc="30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latin typeface="Gill Sans MT"/>
                <a:cs typeface="Gill Sans MT"/>
              </a:rPr>
              <a:t>After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95" dirty="0">
                <a:latin typeface="Gill Sans MT"/>
                <a:cs typeface="Gill Sans MT"/>
              </a:rPr>
              <a:t>successful</a:t>
            </a:r>
            <a:r>
              <a:rPr sz="1200" spc="35" dirty="0">
                <a:latin typeface="Gill Sans MT"/>
                <a:cs typeface="Gill Sans MT"/>
              </a:rPr>
              <a:t> completion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spc="-145" dirty="0"/>
              <a:t>Concurrent</a:t>
            </a:r>
            <a:r>
              <a:rPr spc="-190" dirty="0"/>
              <a:t> </a:t>
            </a:r>
            <a:r>
              <a:rPr spc="-140" dirty="0"/>
              <a:t>Execution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1345" y="1172971"/>
            <a:ext cx="8563610" cy="2007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sz="1200" spc="10" dirty="0">
                <a:solidFill>
                  <a:srgbClr val="006FC0"/>
                </a:solidFill>
                <a:latin typeface="Gill Sans MT"/>
                <a:cs typeface="Gill Sans MT"/>
              </a:rPr>
              <a:t>Transaction-</a:t>
            </a:r>
            <a:r>
              <a:rPr sz="1200" spc="70" dirty="0">
                <a:solidFill>
                  <a:srgbClr val="006FC0"/>
                </a:solidFill>
                <a:latin typeface="Gill Sans MT"/>
                <a:cs typeface="Gill Sans MT"/>
              </a:rPr>
              <a:t>processing</a:t>
            </a:r>
            <a:r>
              <a:rPr sz="1200" spc="65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200" spc="90" dirty="0">
                <a:solidFill>
                  <a:srgbClr val="006FC0"/>
                </a:solidFill>
                <a:latin typeface="Gill Sans MT"/>
                <a:cs typeface="Gill Sans MT"/>
              </a:rPr>
              <a:t>systems</a:t>
            </a:r>
            <a:r>
              <a:rPr sz="1200" spc="80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usually</a:t>
            </a:r>
            <a:r>
              <a:rPr sz="1200" spc="8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allow</a:t>
            </a:r>
            <a:r>
              <a:rPr sz="1200" spc="10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multiple</a:t>
            </a:r>
            <a:r>
              <a:rPr sz="1200" spc="7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transactions</a:t>
            </a:r>
            <a:r>
              <a:rPr sz="1200" spc="7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to</a:t>
            </a:r>
            <a:r>
              <a:rPr sz="1200" spc="8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run</a:t>
            </a:r>
            <a:r>
              <a:rPr sz="1200" spc="8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concurrently.</a:t>
            </a:r>
            <a:endParaRPr sz="120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Gill Sans MT"/>
              <a:cs typeface="Gill Sans MT"/>
            </a:endParaRPr>
          </a:p>
          <a:p>
            <a:pPr marL="63500">
              <a:lnSpc>
                <a:spcPct val="100000"/>
              </a:lnSpc>
            </a:pPr>
            <a:r>
              <a:rPr sz="1200" spc="75" dirty="0">
                <a:solidFill>
                  <a:srgbClr val="212121"/>
                </a:solidFill>
                <a:latin typeface="Gill Sans MT"/>
                <a:cs typeface="Gill Sans MT"/>
              </a:rPr>
              <a:t>Advantages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-20" dirty="0">
                <a:solidFill>
                  <a:srgbClr val="212121"/>
                </a:solidFill>
                <a:latin typeface="Gill Sans MT"/>
                <a:cs typeface="Gill Sans MT"/>
              </a:rPr>
              <a:t>are:</a:t>
            </a:r>
            <a:endParaRPr sz="1200">
              <a:latin typeface="Gill Sans MT"/>
              <a:cs typeface="Gill Sans MT"/>
            </a:endParaRPr>
          </a:p>
          <a:p>
            <a:pPr marL="372745" marR="170815" indent="-309880">
              <a:lnSpc>
                <a:spcPct val="100000"/>
              </a:lnSpc>
              <a:spcBef>
                <a:spcPts val="600"/>
              </a:spcBef>
              <a:buClr>
                <a:srgbClr val="FF8600"/>
              </a:buClr>
              <a:buSzPct val="129166"/>
              <a:buFont typeface="Cambria Math"/>
              <a:buChar char="◗"/>
              <a:tabLst>
                <a:tab pos="372745" algn="l"/>
              </a:tabLst>
            </a:pPr>
            <a:r>
              <a:rPr sz="1200" b="1" spc="-55" dirty="0">
                <a:solidFill>
                  <a:srgbClr val="212121"/>
                </a:solidFill>
                <a:latin typeface="Gill Sans MT"/>
                <a:cs typeface="Gill Sans MT"/>
              </a:rPr>
              <a:t>Improved</a:t>
            </a:r>
            <a:r>
              <a:rPr sz="1200" b="1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b="1" spc="-45" dirty="0">
                <a:solidFill>
                  <a:srgbClr val="212121"/>
                </a:solidFill>
                <a:latin typeface="Gill Sans MT"/>
                <a:cs typeface="Gill Sans MT"/>
              </a:rPr>
              <a:t>throughput</a:t>
            </a:r>
            <a:r>
              <a:rPr sz="1200" b="1" spc="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b="1" spc="-10" dirty="0">
                <a:solidFill>
                  <a:srgbClr val="212121"/>
                </a:solidFill>
                <a:latin typeface="Gill Sans MT"/>
                <a:cs typeface="Gill Sans MT"/>
              </a:rPr>
              <a:t>and</a:t>
            </a:r>
            <a:r>
              <a:rPr sz="1200" b="1" spc="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b="1" spc="-30" dirty="0">
                <a:solidFill>
                  <a:srgbClr val="212121"/>
                </a:solidFill>
                <a:latin typeface="Gill Sans MT"/>
                <a:cs typeface="Gill Sans MT"/>
              </a:rPr>
              <a:t>resource</a:t>
            </a:r>
            <a:r>
              <a:rPr sz="1200" b="1" spc="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b="1" spc="-35" dirty="0">
                <a:solidFill>
                  <a:srgbClr val="212121"/>
                </a:solidFill>
                <a:latin typeface="Gill Sans MT"/>
                <a:cs typeface="Gill Sans MT"/>
              </a:rPr>
              <a:t>utilization</a:t>
            </a:r>
            <a:r>
              <a:rPr sz="1200" spc="-35" dirty="0">
                <a:solidFill>
                  <a:srgbClr val="212121"/>
                </a:solidFill>
                <a:latin typeface="Gill Sans MT"/>
                <a:cs typeface="Gill Sans MT"/>
              </a:rPr>
              <a:t>:</a:t>
            </a:r>
            <a:r>
              <a:rPr sz="1200" spc="-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The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parallelism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of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the</a:t>
            </a:r>
            <a:r>
              <a:rPr sz="1200" spc="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CPU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0" dirty="0">
                <a:solidFill>
                  <a:srgbClr val="212121"/>
                </a:solidFill>
                <a:latin typeface="Gill Sans MT"/>
                <a:cs typeface="Gill Sans MT"/>
              </a:rPr>
              <a:t>and</a:t>
            </a:r>
            <a:r>
              <a:rPr sz="12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I/O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0" dirty="0">
                <a:solidFill>
                  <a:srgbClr val="212121"/>
                </a:solidFill>
                <a:latin typeface="Gill Sans MT"/>
                <a:cs typeface="Gill Sans MT"/>
              </a:rPr>
              <a:t>system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95" dirty="0">
                <a:solidFill>
                  <a:srgbClr val="212121"/>
                </a:solidFill>
                <a:latin typeface="Gill Sans MT"/>
                <a:cs typeface="Gill Sans MT"/>
              </a:rPr>
              <a:t>can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therefore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be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exploited</a:t>
            </a:r>
            <a:r>
              <a:rPr sz="12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-25" dirty="0">
                <a:solidFill>
                  <a:srgbClr val="212121"/>
                </a:solidFill>
                <a:latin typeface="Gill Sans MT"/>
                <a:cs typeface="Gill Sans MT"/>
              </a:rPr>
              <a:t>to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run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45" dirty="0">
                <a:solidFill>
                  <a:srgbClr val="212121"/>
                </a:solidFill>
                <a:latin typeface="Gill Sans MT"/>
                <a:cs typeface="Gill Sans MT"/>
              </a:rPr>
              <a:t>multiple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transactions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 in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45" dirty="0">
                <a:solidFill>
                  <a:srgbClr val="212121"/>
                </a:solidFill>
                <a:latin typeface="Gill Sans MT"/>
                <a:cs typeface="Gill Sans MT"/>
              </a:rPr>
              <a:t>parallel.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 While</a:t>
            </a:r>
            <a:r>
              <a:rPr sz="1200" spc="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35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 read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or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write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on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75" dirty="0">
                <a:solidFill>
                  <a:srgbClr val="212121"/>
                </a:solidFill>
                <a:latin typeface="Gill Sans MT"/>
                <a:cs typeface="Gill Sans MT"/>
              </a:rPr>
              <a:t>behalf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of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one</a:t>
            </a:r>
            <a:r>
              <a:rPr sz="1200" spc="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transaction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90" dirty="0">
                <a:solidFill>
                  <a:srgbClr val="212121"/>
                </a:solidFill>
                <a:latin typeface="Gill Sans MT"/>
                <a:cs typeface="Gill Sans MT"/>
              </a:rPr>
              <a:t>is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in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progress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 on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one</a:t>
            </a:r>
            <a:r>
              <a:rPr sz="12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disk,</a:t>
            </a:r>
            <a:r>
              <a:rPr sz="1200" spc="50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another</a:t>
            </a:r>
            <a:r>
              <a:rPr sz="1200" spc="3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transaction</a:t>
            </a:r>
            <a:r>
              <a:rPr sz="12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95" dirty="0">
                <a:solidFill>
                  <a:srgbClr val="212121"/>
                </a:solidFill>
                <a:latin typeface="Gill Sans MT"/>
                <a:cs typeface="Gill Sans MT"/>
              </a:rPr>
              <a:t>can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be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running</a:t>
            </a:r>
            <a:r>
              <a:rPr sz="1200" spc="3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in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the</a:t>
            </a:r>
            <a:r>
              <a:rPr sz="1200" spc="3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CPU,</a:t>
            </a:r>
            <a:r>
              <a:rPr sz="12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while</a:t>
            </a:r>
            <a:r>
              <a:rPr sz="1200" spc="3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another</a:t>
            </a:r>
            <a:r>
              <a:rPr sz="1200" spc="4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disk</a:t>
            </a:r>
            <a:r>
              <a:rPr sz="1200" spc="4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95" dirty="0">
                <a:solidFill>
                  <a:srgbClr val="212121"/>
                </a:solidFill>
                <a:latin typeface="Gill Sans MT"/>
                <a:cs typeface="Gill Sans MT"/>
              </a:rPr>
              <a:t>may</a:t>
            </a:r>
            <a:r>
              <a:rPr sz="1200" spc="3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be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executing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35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read/write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on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70" dirty="0">
                <a:solidFill>
                  <a:srgbClr val="212121"/>
                </a:solidFill>
                <a:latin typeface="Gill Sans MT"/>
                <a:cs typeface="Gill Sans MT"/>
              </a:rPr>
              <a:t>behalf</a:t>
            </a:r>
            <a:r>
              <a:rPr sz="1200" spc="4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of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-25" dirty="0">
                <a:solidFill>
                  <a:srgbClr val="212121"/>
                </a:solidFill>
                <a:latin typeface="Gill Sans MT"/>
                <a:cs typeface="Gill Sans MT"/>
              </a:rPr>
              <a:t>3</a:t>
            </a:r>
            <a:r>
              <a:rPr sz="1200" spc="-37" baseline="24305" dirty="0">
                <a:solidFill>
                  <a:srgbClr val="212121"/>
                </a:solidFill>
                <a:latin typeface="Gill Sans MT"/>
                <a:cs typeface="Gill Sans MT"/>
              </a:rPr>
              <a:t>rd</a:t>
            </a:r>
            <a:r>
              <a:rPr sz="1200" spc="67" baseline="2430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45" dirty="0">
                <a:solidFill>
                  <a:srgbClr val="212121"/>
                </a:solidFill>
                <a:latin typeface="Gill Sans MT"/>
                <a:cs typeface="Gill Sans MT"/>
              </a:rPr>
              <a:t>transactions.</a:t>
            </a:r>
            <a:endParaRPr sz="1200">
              <a:latin typeface="Gill Sans MT"/>
              <a:cs typeface="Gill Sans MT"/>
            </a:endParaRPr>
          </a:p>
          <a:p>
            <a:pPr marL="372745" marR="68580" indent="-309880">
              <a:lnSpc>
                <a:spcPct val="100000"/>
              </a:lnSpc>
              <a:spcBef>
                <a:spcPts val="605"/>
              </a:spcBef>
              <a:buClr>
                <a:srgbClr val="FF8600"/>
              </a:buClr>
              <a:buSzPct val="129166"/>
              <a:buFont typeface="Cambria Math"/>
              <a:buChar char="◗"/>
              <a:tabLst>
                <a:tab pos="372745" algn="l"/>
              </a:tabLst>
            </a:pPr>
            <a:r>
              <a:rPr sz="1200" b="1" spc="-25" dirty="0">
                <a:solidFill>
                  <a:srgbClr val="212121"/>
                </a:solidFill>
                <a:latin typeface="Gill Sans MT"/>
                <a:cs typeface="Gill Sans MT"/>
              </a:rPr>
              <a:t>Reduced</a:t>
            </a:r>
            <a:r>
              <a:rPr sz="1200" b="1" spc="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b="1" spc="-20" dirty="0">
                <a:solidFill>
                  <a:srgbClr val="212121"/>
                </a:solidFill>
                <a:latin typeface="Gill Sans MT"/>
                <a:cs typeface="Gill Sans MT"/>
              </a:rPr>
              <a:t>average</a:t>
            </a:r>
            <a:r>
              <a:rPr sz="1200" b="1" spc="-10" dirty="0">
                <a:solidFill>
                  <a:srgbClr val="212121"/>
                </a:solidFill>
                <a:latin typeface="Gill Sans MT"/>
                <a:cs typeface="Gill Sans MT"/>
              </a:rPr>
              <a:t> response</a:t>
            </a:r>
            <a:r>
              <a:rPr sz="1200" b="1" spc="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b="1" spc="-40" dirty="0">
                <a:solidFill>
                  <a:srgbClr val="212121"/>
                </a:solidFill>
                <a:latin typeface="Gill Sans MT"/>
                <a:cs typeface="Gill Sans MT"/>
              </a:rPr>
              <a:t>time</a:t>
            </a:r>
            <a:r>
              <a:rPr sz="1200" spc="-40" dirty="0">
                <a:solidFill>
                  <a:srgbClr val="212121"/>
                </a:solidFill>
                <a:latin typeface="Gill Sans MT"/>
                <a:cs typeface="Gill Sans MT"/>
              </a:rPr>
              <a:t>: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short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transactions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need</a:t>
            </a:r>
            <a:r>
              <a:rPr sz="12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not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wait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behind</a:t>
            </a:r>
            <a:r>
              <a:rPr sz="1200" spc="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long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ones.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If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the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transactions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 are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operating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-25" dirty="0">
                <a:solidFill>
                  <a:srgbClr val="212121"/>
                </a:solidFill>
                <a:latin typeface="Gill Sans MT"/>
                <a:cs typeface="Gill Sans MT"/>
              </a:rPr>
              <a:t>on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different</a:t>
            </a:r>
            <a:r>
              <a:rPr sz="1200" spc="-4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parts</a:t>
            </a:r>
            <a:r>
              <a:rPr sz="1200" spc="-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of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the</a:t>
            </a:r>
            <a:r>
              <a:rPr sz="1200" spc="-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75" dirty="0">
                <a:solidFill>
                  <a:srgbClr val="212121"/>
                </a:solidFill>
                <a:latin typeface="Gill Sans MT"/>
                <a:cs typeface="Gill Sans MT"/>
              </a:rPr>
              <a:t>database,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it</a:t>
            </a:r>
            <a:r>
              <a:rPr sz="1200" spc="-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5" dirty="0">
                <a:solidFill>
                  <a:srgbClr val="212121"/>
                </a:solidFill>
                <a:latin typeface="Gill Sans MT"/>
                <a:cs typeface="Gill Sans MT"/>
              </a:rPr>
              <a:t>is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better</a:t>
            </a:r>
            <a:r>
              <a:rPr sz="1200" spc="-4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to</a:t>
            </a:r>
            <a:r>
              <a:rPr sz="1200" spc="-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let</a:t>
            </a:r>
            <a:r>
              <a:rPr sz="1200" spc="-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them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run</a:t>
            </a:r>
            <a:r>
              <a:rPr sz="1200" spc="29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concurrently,</a:t>
            </a:r>
            <a:r>
              <a:rPr sz="1200" spc="-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70" dirty="0">
                <a:solidFill>
                  <a:srgbClr val="212121"/>
                </a:solidFill>
                <a:latin typeface="Gill Sans MT"/>
                <a:cs typeface="Gill Sans MT"/>
              </a:rPr>
              <a:t>sharing</a:t>
            </a:r>
            <a:r>
              <a:rPr sz="1200" spc="-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the</a:t>
            </a:r>
            <a:r>
              <a:rPr sz="1200" spc="-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CPU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70" dirty="0">
                <a:solidFill>
                  <a:srgbClr val="212121"/>
                </a:solidFill>
                <a:latin typeface="Gill Sans MT"/>
                <a:cs typeface="Gill Sans MT"/>
              </a:rPr>
              <a:t>cycles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5" dirty="0">
                <a:solidFill>
                  <a:srgbClr val="212121"/>
                </a:solidFill>
                <a:latin typeface="Gill Sans MT"/>
                <a:cs typeface="Gill Sans MT"/>
              </a:rPr>
              <a:t>and</a:t>
            </a:r>
            <a:r>
              <a:rPr sz="1200" spc="-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disk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0" dirty="0">
                <a:solidFill>
                  <a:srgbClr val="212121"/>
                </a:solidFill>
                <a:latin typeface="Gill Sans MT"/>
                <a:cs typeface="Gill Sans MT"/>
              </a:rPr>
              <a:t>accesses</a:t>
            </a:r>
            <a:r>
              <a:rPr sz="1200" spc="50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95" dirty="0">
                <a:solidFill>
                  <a:srgbClr val="212121"/>
                </a:solidFill>
                <a:latin typeface="Gill Sans MT"/>
                <a:cs typeface="Gill Sans MT"/>
              </a:rPr>
              <a:t>among</a:t>
            </a:r>
            <a:r>
              <a:rPr sz="1200" spc="-3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them.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5" dirty="0">
                <a:solidFill>
                  <a:srgbClr val="FFFFFF"/>
                </a:solidFill>
                <a:latin typeface="Gill Sans MT"/>
                <a:cs typeface="Gill Sans MT"/>
              </a:rPr>
              <a:t>10</a:t>
            </a:r>
            <a:endParaRPr sz="13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spc="-155" dirty="0"/>
              <a:t>Schedule</a:t>
            </a:r>
            <a:r>
              <a:rPr spc="-225" dirty="0"/>
              <a:t> </a:t>
            </a:r>
            <a:r>
              <a:rPr spc="-170" dirty="0">
                <a:solidFill>
                  <a:srgbClr val="00AFEF"/>
                </a:solidFill>
              </a:rPr>
              <a:t>&amp;</a:t>
            </a:r>
            <a:r>
              <a:rPr spc="-240" dirty="0">
                <a:solidFill>
                  <a:srgbClr val="00AFEF"/>
                </a:solidFill>
              </a:rPr>
              <a:t> </a:t>
            </a:r>
            <a:r>
              <a:rPr spc="-140" dirty="0"/>
              <a:t>Serial</a:t>
            </a:r>
            <a:r>
              <a:rPr spc="-250" dirty="0"/>
              <a:t> </a:t>
            </a:r>
            <a:r>
              <a:rPr spc="-125" dirty="0"/>
              <a:t>Schedule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32028" y="1096771"/>
            <a:ext cx="7858125" cy="125412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1200" spc="55" dirty="0">
                <a:solidFill>
                  <a:srgbClr val="FF6600"/>
                </a:solidFill>
                <a:latin typeface="Gill Sans MT"/>
                <a:cs typeface="Gill Sans MT"/>
              </a:rPr>
              <a:t>Schedule</a:t>
            </a:r>
            <a:endParaRPr sz="1200">
              <a:latin typeface="Gill Sans MT"/>
              <a:cs typeface="Gill Sans MT"/>
            </a:endParaRPr>
          </a:p>
          <a:p>
            <a:pPr marL="12700" marR="5080">
              <a:lnSpc>
                <a:spcPct val="100000"/>
              </a:lnSpc>
              <a:spcBef>
                <a:spcPts val="600"/>
              </a:spcBef>
            </a:pP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spc="9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0" dirty="0">
                <a:solidFill>
                  <a:srgbClr val="212121"/>
                </a:solidFill>
                <a:latin typeface="Gill Sans MT"/>
                <a:cs typeface="Gill Sans MT"/>
              </a:rPr>
              <a:t>sequences</a:t>
            </a:r>
            <a:r>
              <a:rPr sz="1200" spc="10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of</a:t>
            </a:r>
            <a:r>
              <a:rPr sz="1200" spc="8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instructions</a:t>
            </a:r>
            <a:r>
              <a:rPr sz="1200" spc="7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that</a:t>
            </a:r>
            <a:r>
              <a:rPr sz="1200" spc="7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75" dirty="0">
                <a:solidFill>
                  <a:srgbClr val="212121"/>
                </a:solidFill>
                <a:latin typeface="Gill Sans MT"/>
                <a:cs typeface="Gill Sans MT"/>
              </a:rPr>
              <a:t>specify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the</a:t>
            </a:r>
            <a:r>
              <a:rPr sz="1200" spc="7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chronological</a:t>
            </a:r>
            <a:r>
              <a:rPr sz="1200" spc="9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order</a:t>
            </a: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in</a:t>
            </a:r>
            <a:r>
              <a:rPr sz="1200" spc="9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which</a:t>
            </a:r>
            <a:r>
              <a:rPr sz="1200" spc="7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instructions</a:t>
            </a:r>
            <a:r>
              <a:rPr sz="1200" spc="7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of</a:t>
            </a:r>
            <a:r>
              <a:rPr sz="1200" spc="8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concurrent</a:t>
            </a:r>
            <a:r>
              <a:rPr sz="1200" spc="7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transactions</a:t>
            </a:r>
            <a:r>
              <a:rPr sz="1200" spc="7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-25" dirty="0">
                <a:solidFill>
                  <a:srgbClr val="212121"/>
                </a:solidFill>
                <a:latin typeface="Gill Sans MT"/>
                <a:cs typeface="Gill Sans MT"/>
              </a:rPr>
              <a:t>are 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executed.</a:t>
            </a:r>
            <a:endParaRPr sz="1200">
              <a:latin typeface="Gill Sans MT"/>
              <a:cs typeface="Gill Sans MT"/>
            </a:endParaRPr>
          </a:p>
          <a:p>
            <a:pPr marL="320675" indent="-269875">
              <a:lnSpc>
                <a:spcPct val="100000"/>
              </a:lnSpc>
              <a:spcBef>
                <a:spcPts val="600"/>
              </a:spcBef>
              <a:buClr>
                <a:srgbClr val="FF8600"/>
              </a:buClr>
              <a:buSzPct val="129166"/>
              <a:buFont typeface="Cambria Math"/>
              <a:buChar char="◗"/>
              <a:tabLst>
                <a:tab pos="320675" algn="l"/>
              </a:tabLst>
            </a:pP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spc="-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schedule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for</a:t>
            </a:r>
            <a:r>
              <a:rPr sz="1200" spc="-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35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spc="-3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set</a:t>
            </a:r>
            <a:r>
              <a:rPr sz="1200" spc="-3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of</a:t>
            </a:r>
            <a:r>
              <a:rPr sz="1200" spc="-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transactions</a:t>
            </a:r>
            <a:r>
              <a:rPr sz="1200" spc="-3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0" dirty="0">
                <a:solidFill>
                  <a:srgbClr val="212121"/>
                </a:solidFill>
                <a:latin typeface="Gill Sans MT"/>
                <a:cs typeface="Gill Sans MT"/>
              </a:rPr>
              <a:t>must</a:t>
            </a:r>
            <a:r>
              <a:rPr sz="1200" spc="-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114" dirty="0">
                <a:solidFill>
                  <a:srgbClr val="212121"/>
                </a:solidFill>
                <a:latin typeface="Gill Sans MT"/>
                <a:cs typeface="Gill Sans MT"/>
              </a:rPr>
              <a:t>consist</a:t>
            </a:r>
            <a:r>
              <a:rPr sz="1200" i="1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105" dirty="0">
                <a:solidFill>
                  <a:srgbClr val="212121"/>
                </a:solidFill>
                <a:latin typeface="Gill Sans MT"/>
                <a:cs typeface="Gill Sans MT"/>
              </a:rPr>
              <a:t>of</a:t>
            </a:r>
            <a:r>
              <a:rPr sz="1200" i="1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60" dirty="0">
                <a:solidFill>
                  <a:srgbClr val="212121"/>
                </a:solidFill>
                <a:latin typeface="Gill Sans MT"/>
                <a:cs typeface="Gill Sans MT"/>
              </a:rPr>
              <a:t>all</a:t>
            </a:r>
            <a:r>
              <a:rPr sz="1200" i="1" spc="-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90" dirty="0">
                <a:solidFill>
                  <a:srgbClr val="212121"/>
                </a:solidFill>
                <a:latin typeface="Gill Sans MT"/>
                <a:cs typeface="Gill Sans MT"/>
              </a:rPr>
              <a:t>instructions</a:t>
            </a:r>
            <a:r>
              <a:rPr sz="1200" i="1" spc="-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of</a:t>
            </a:r>
            <a:r>
              <a:rPr sz="1200" spc="-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those</a:t>
            </a:r>
            <a:r>
              <a:rPr sz="1200" spc="-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transactions</a:t>
            </a:r>
            <a:endParaRPr sz="1200">
              <a:latin typeface="Gill Sans MT"/>
              <a:cs typeface="Gill Sans MT"/>
            </a:endParaRPr>
          </a:p>
          <a:p>
            <a:pPr marL="320675" indent="-269875">
              <a:lnSpc>
                <a:spcPct val="100000"/>
              </a:lnSpc>
              <a:spcBef>
                <a:spcPts val="600"/>
              </a:spcBef>
              <a:buClr>
                <a:srgbClr val="FF8600"/>
              </a:buClr>
              <a:buSzPct val="129166"/>
              <a:buFont typeface="Cambria Math"/>
              <a:buChar char="◗"/>
              <a:tabLst>
                <a:tab pos="320675" algn="l"/>
              </a:tabLst>
            </a:pPr>
            <a:r>
              <a:rPr sz="1200" spc="70" dirty="0">
                <a:solidFill>
                  <a:srgbClr val="212121"/>
                </a:solidFill>
                <a:latin typeface="Gill Sans MT"/>
                <a:cs typeface="Gill Sans MT"/>
              </a:rPr>
              <a:t>Must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80" dirty="0">
                <a:solidFill>
                  <a:srgbClr val="212121"/>
                </a:solidFill>
                <a:latin typeface="Gill Sans MT"/>
                <a:cs typeface="Gill Sans MT"/>
              </a:rPr>
              <a:t>preserve</a:t>
            </a:r>
            <a:r>
              <a:rPr sz="1200" i="1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75" dirty="0">
                <a:solidFill>
                  <a:srgbClr val="212121"/>
                </a:solidFill>
                <a:latin typeface="Gill Sans MT"/>
                <a:cs typeface="Gill Sans MT"/>
              </a:rPr>
              <a:t>the</a:t>
            </a:r>
            <a:r>
              <a:rPr sz="1200" i="1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70" dirty="0">
                <a:solidFill>
                  <a:srgbClr val="212121"/>
                </a:solidFill>
                <a:latin typeface="Gill Sans MT"/>
                <a:cs typeface="Gill Sans MT"/>
              </a:rPr>
              <a:t>order</a:t>
            </a:r>
            <a:r>
              <a:rPr sz="1200" i="1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in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which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the</a:t>
            </a:r>
            <a:r>
              <a:rPr sz="1200" spc="-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instructions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appear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in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5" dirty="0">
                <a:solidFill>
                  <a:srgbClr val="212121"/>
                </a:solidFill>
                <a:latin typeface="Gill Sans MT"/>
                <a:cs typeface="Gill Sans MT"/>
              </a:rPr>
              <a:t>each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45" dirty="0">
                <a:solidFill>
                  <a:srgbClr val="212121"/>
                </a:solidFill>
                <a:latin typeface="Gill Sans MT"/>
                <a:cs typeface="Gill Sans MT"/>
              </a:rPr>
              <a:t>individual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40" dirty="0">
                <a:solidFill>
                  <a:srgbClr val="212121"/>
                </a:solidFill>
                <a:latin typeface="Gill Sans MT"/>
                <a:cs typeface="Gill Sans MT"/>
              </a:rPr>
              <a:t>transaction.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32028" y="2940288"/>
            <a:ext cx="7952105" cy="1169670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sz="1200" spc="50" dirty="0">
                <a:solidFill>
                  <a:srgbClr val="FF6600"/>
                </a:solidFill>
                <a:latin typeface="Gill Sans MT"/>
                <a:cs typeface="Gill Sans MT"/>
              </a:rPr>
              <a:t>Serial</a:t>
            </a:r>
            <a:r>
              <a:rPr sz="1200" spc="-30" dirty="0">
                <a:solidFill>
                  <a:srgbClr val="FF6600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FF6600"/>
                </a:solidFill>
                <a:latin typeface="Gill Sans MT"/>
                <a:cs typeface="Gill Sans MT"/>
              </a:rPr>
              <a:t>Schedule</a:t>
            </a:r>
            <a:endParaRPr sz="1200">
              <a:latin typeface="Gill Sans MT"/>
              <a:cs typeface="Gill Sans MT"/>
            </a:endParaRPr>
          </a:p>
          <a:p>
            <a:pPr marL="12700" marR="186690">
              <a:lnSpc>
                <a:spcPct val="100000"/>
              </a:lnSpc>
              <a:spcBef>
                <a:spcPts val="605"/>
              </a:spcBef>
            </a:pPr>
            <a:r>
              <a:rPr sz="1200" spc="85" dirty="0">
                <a:latin typeface="Gill Sans MT"/>
                <a:cs typeface="Gill Sans MT"/>
              </a:rPr>
              <a:t>Each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serial</a:t>
            </a:r>
            <a:r>
              <a:rPr sz="1200" spc="-25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schedule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85" dirty="0">
                <a:latin typeface="Gill Sans MT"/>
                <a:cs typeface="Gill Sans MT"/>
              </a:rPr>
              <a:t>is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135" dirty="0">
                <a:latin typeface="Gill Sans MT"/>
                <a:cs typeface="Gill Sans MT"/>
              </a:rPr>
              <a:t>a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schedule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30" dirty="0">
                <a:latin typeface="Gill Sans MT"/>
                <a:cs typeface="Gill Sans MT"/>
              </a:rPr>
              <a:t>that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spc="80" dirty="0">
                <a:latin typeface="Gill Sans MT"/>
                <a:cs typeface="Gill Sans MT"/>
              </a:rPr>
              <a:t>consists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of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spc="135" dirty="0">
                <a:latin typeface="Gill Sans MT"/>
                <a:cs typeface="Gill Sans MT"/>
              </a:rPr>
              <a:t>a</a:t>
            </a:r>
            <a:r>
              <a:rPr sz="1200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sequence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of</a:t>
            </a:r>
            <a:r>
              <a:rPr sz="1200" spc="-20" dirty="0">
                <a:latin typeface="Gill Sans MT"/>
                <a:cs typeface="Gill Sans MT"/>
              </a:rPr>
              <a:t> </a:t>
            </a:r>
            <a:r>
              <a:rPr sz="1200" spc="30" dirty="0">
                <a:latin typeface="Gill Sans MT"/>
                <a:cs typeface="Gill Sans MT"/>
              </a:rPr>
              <a:t>instructions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spc="30" dirty="0">
                <a:latin typeface="Gill Sans MT"/>
                <a:cs typeface="Gill Sans MT"/>
              </a:rPr>
              <a:t>from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various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transactions,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spc="30" dirty="0">
                <a:latin typeface="Gill Sans MT"/>
                <a:cs typeface="Gill Sans MT"/>
              </a:rPr>
              <a:t>where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spc="-25" dirty="0">
                <a:latin typeface="Gill Sans MT"/>
                <a:cs typeface="Gill Sans MT"/>
              </a:rPr>
              <a:t>the </a:t>
            </a:r>
            <a:r>
              <a:rPr sz="1200" spc="30" dirty="0">
                <a:latin typeface="Gill Sans MT"/>
                <a:cs typeface="Gill Sans MT"/>
              </a:rPr>
              <a:t>instructions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belonging</a:t>
            </a:r>
            <a:r>
              <a:rPr sz="1200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to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spc="30" dirty="0">
                <a:latin typeface="Gill Sans MT"/>
                <a:cs typeface="Gill Sans MT"/>
              </a:rPr>
              <a:t>one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75" dirty="0">
                <a:latin typeface="Gill Sans MT"/>
                <a:cs typeface="Gill Sans MT"/>
              </a:rPr>
              <a:t>single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transaction</a:t>
            </a:r>
            <a:r>
              <a:rPr sz="1200" spc="-20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appear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30" dirty="0">
                <a:latin typeface="Gill Sans MT"/>
                <a:cs typeface="Gill Sans MT"/>
              </a:rPr>
              <a:t>together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spc="30" dirty="0">
                <a:latin typeface="Gill Sans MT"/>
                <a:cs typeface="Gill Sans MT"/>
              </a:rPr>
              <a:t>in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spc="30" dirty="0">
                <a:latin typeface="Gill Sans MT"/>
                <a:cs typeface="Gill Sans MT"/>
              </a:rPr>
              <a:t>that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schedule.</a:t>
            </a:r>
            <a:endParaRPr sz="120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sz="1200" spc="20" dirty="0">
                <a:latin typeface="Gill Sans MT"/>
                <a:cs typeface="Gill Sans MT"/>
              </a:rPr>
              <a:t>For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spc="135" dirty="0">
                <a:latin typeface="Gill Sans MT"/>
                <a:cs typeface="Gill Sans MT"/>
              </a:rPr>
              <a:t>a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set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of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i="1" spc="80" dirty="0">
                <a:latin typeface="Gill Sans MT"/>
                <a:cs typeface="Gill Sans MT"/>
              </a:rPr>
              <a:t>n</a:t>
            </a:r>
            <a:r>
              <a:rPr sz="1200" i="1" spc="-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transactions</a:t>
            </a:r>
            <a:r>
              <a:rPr sz="1200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there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exists</a:t>
            </a:r>
            <a:r>
              <a:rPr sz="1200" spc="-40" dirty="0">
                <a:latin typeface="Gill Sans MT"/>
                <a:cs typeface="Gill Sans MT"/>
              </a:rPr>
              <a:t> </a:t>
            </a:r>
            <a:r>
              <a:rPr sz="1200" i="1" spc="20" dirty="0">
                <a:latin typeface="Gill Sans MT"/>
                <a:cs typeface="Gill Sans MT"/>
              </a:rPr>
              <a:t>n!</a:t>
            </a:r>
            <a:r>
              <a:rPr sz="1200" i="1" spc="-10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different</a:t>
            </a:r>
            <a:r>
              <a:rPr sz="1200" spc="-25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valid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serial</a:t>
            </a:r>
            <a:r>
              <a:rPr sz="1200" spc="-20" dirty="0">
                <a:latin typeface="Gill Sans MT"/>
                <a:cs typeface="Gill Sans MT"/>
              </a:rPr>
              <a:t> </a:t>
            </a:r>
            <a:r>
              <a:rPr sz="1200" spc="75" dirty="0">
                <a:latin typeface="Gill Sans MT"/>
                <a:cs typeface="Gill Sans MT"/>
              </a:rPr>
              <a:t>schedules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but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we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can’t</a:t>
            </a:r>
            <a:r>
              <a:rPr sz="1200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predict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spc="20" dirty="0">
                <a:latin typeface="Gill Sans MT"/>
                <a:cs typeface="Gill Sans MT"/>
              </a:rPr>
              <a:t>how</a:t>
            </a:r>
            <a:r>
              <a:rPr sz="1200" dirty="0">
                <a:latin typeface="Gill Sans MT"/>
                <a:cs typeface="Gill Sans MT"/>
              </a:rPr>
              <a:t> </a:t>
            </a:r>
            <a:r>
              <a:rPr sz="1200" spc="85" dirty="0">
                <a:latin typeface="Gill Sans MT"/>
                <a:cs typeface="Gill Sans MT"/>
              </a:rPr>
              <a:t>many</a:t>
            </a:r>
            <a:r>
              <a:rPr sz="1200" spc="-25" dirty="0">
                <a:latin typeface="Gill Sans MT"/>
                <a:cs typeface="Gill Sans MT"/>
              </a:rPr>
              <a:t> </a:t>
            </a:r>
            <a:r>
              <a:rPr sz="1200" spc="75" dirty="0">
                <a:latin typeface="Gill Sans MT"/>
                <a:cs typeface="Gill Sans MT"/>
              </a:rPr>
              <a:t>schedules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-25" dirty="0">
                <a:latin typeface="Gill Sans MT"/>
                <a:cs typeface="Gill Sans MT"/>
              </a:rPr>
              <a:t>are</a:t>
            </a:r>
            <a:endParaRPr sz="120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</a:pPr>
            <a:r>
              <a:rPr sz="1200" spc="70" dirty="0">
                <a:latin typeface="Gill Sans MT"/>
                <a:cs typeface="Gill Sans MT"/>
              </a:rPr>
              <a:t>possible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in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total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(it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depends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on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OS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80" dirty="0">
                <a:latin typeface="Gill Sans MT"/>
                <a:cs typeface="Gill Sans MT"/>
              </a:rPr>
              <a:t>and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-10" dirty="0">
                <a:latin typeface="Gill Sans MT"/>
                <a:cs typeface="Gill Sans MT"/>
              </a:rPr>
              <a:t>hardware).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5" dirty="0">
                <a:solidFill>
                  <a:srgbClr val="FFFFFF"/>
                </a:solidFill>
                <a:latin typeface="Gill Sans MT"/>
                <a:cs typeface="Gill Sans MT"/>
              </a:rPr>
              <a:t>11</a:t>
            </a:r>
            <a:endParaRPr sz="13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0600" y="1039488"/>
            <a:ext cx="8153400" cy="4104640"/>
            <a:chOff x="990600" y="1039488"/>
            <a:chExt cx="8153400" cy="41046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43628" y="1039488"/>
              <a:ext cx="3887990" cy="384188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47003" y="1930933"/>
              <a:ext cx="1107960" cy="23467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866638" y="1993645"/>
              <a:ext cx="938530" cy="76200"/>
            </a:xfrm>
            <a:custGeom>
              <a:avLst/>
              <a:gdLst/>
              <a:ahLst/>
              <a:cxnLst/>
              <a:rect l="l" t="t" r="r" b="b"/>
              <a:pathLst>
                <a:path w="938529" h="76200">
                  <a:moveTo>
                    <a:pt x="76708" y="0"/>
                  </a:moveTo>
                  <a:lnTo>
                    <a:pt x="0" y="37084"/>
                  </a:lnTo>
                  <a:lnTo>
                    <a:pt x="75691" y="76200"/>
                  </a:lnTo>
                  <a:lnTo>
                    <a:pt x="76031" y="50705"/>
                  </a:lnTo>
                  <a:lnTo>
                    <a:pt x="63373" y="50546"/>
                  </a:lnTo>
                  <a:lnTo>
                    <a:pt x="63507" y="37084"/>
                  </a:lnTo>
                  <a:lnTo>
                    <a:pt x="63626" y="25146"/>
                  </a:lnTo>
                  <a:lnTo>
                    <a:pt x="76372" y="25146"/>
                  </a:lnTo>
                  <a:lnTo>
                    <a:pt x="76708" y="0"/>
                  </a:lnTo>
                  <a:close/>
                </a:path>
                <a:path w="938529" h="76200">
                  <a:moveTo>
                    <a:pt x="76370" y="25308"/>
                  </a:moveTo>
                  <a:lnTo>
                    <a:pt x="76034" y="50546"/>
                  </a:lnTo>
                  <a:lnTo>
                    <a:pt x="76031" y="50705"/>
                  </a:lnTo>
                  <a:lnTo>
                    <a:pt x="938021" y="61595"/>
                  </a:lnTo>
                  <a:lnTo>
                    <a:pt x="938268" y="37084"/>
                  </a:lnTo>
                  <a:lnTo>
                    <a:pt x="938276" y="36322"/>
                  </a:lnTo>
                  <a:lnTo>
                    <a:pt x="76370" y="25308"/>
                  </a:lnTo>
                  <a:close/>
                </a:path>
                <a:path w="938529" h="76200">
                  <a:moveTo>
                    <a:pt x="63626" y="25146"/>
                  </a:moveTo>
                  <a:lnTo>
                    <a:pt x="63373" y="50546"/>
                  </a:lnTo>
                  <a:lnTo>
                    <a:pt x="76031" y="50705"/>
                  </a:lnTo>
                  <a:lnTo>
                    <a:pt x="76370" y="25308"/>
                  </a:lnTo>
                  <a:lnTo>
                    <a:pt x="63626" y="25146"/>
                  </a:lnTo>
                  <a:close/>
                </a:path>
                <a:path w="938529" h="76200">
                  <a:moveTo>
                    <a:pt x="76372" y="25146"/>
                  </a:moveTo>
                  <a:lnTo>
                    <a:pt x="63626" y="25146"/>
                  </a:lnTo>
                  <a:lnTo>
                    <a:pt x="76370" y="25308"/>
                  </a:lnTo>
                  <a:lnTo>
                    <a:pt x="76372" y="25146"/>
                  </a:lnTo>
                  <a:close/>
                </a:path>
              </a:pathLst>
            </a:custGeom>
            <a:solidFill>
              <a:srgbClr val="9533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47003" y="2595397"/>
              <a:ext cx="1107960" cy="23467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866638" y="2658109"/>
              <a:ext cx="938530" cy="76200"/>
            </a:xfrm>
            <a:custGeom>
              <a:avLst/>
              <a:gdLst/>
              <a:ahLst/>
              <a:cxnLst/>
              <a:rect l="l" t="t" r="r" b="b"/>
              <a:pathLst>
                <a:path w="938529" h="76200">
                  <a:moveTo>
                    <a:pt x="76708" y="0"/>
                  </a:moveTo>
                  <a:lnTo>
                    <a:pt x="0" y="37083"/>
                  </a:lnTo>
                  <a:lnTo>
                    <a:pt x="75691" y="76200"/>
                  </a:lnTo>
                  <a:lnTo>
                    <a:pt x="76031" y="50705"/>
                  </a:lnTo>
                  <a:lnTo>
                    <a:pt x="63373" y="50545"/>
                  </a:lnTo>
                  <a:lnTo>
                    <a:pt x="63507" y="37083"/>
                  </a:lnTo>
                  <a:lnTo>
                    <a:pt x="63626" y="25145"/>
                  </a:lnTo>
                  <a:lnTo>
                    <a:pt x="76372" y="25145"/>
                  </a:lnTo>
                  <a:lnTo>
                    <a:pt x="76708" y="0"/>
                  </a:lnTo>
                  <a:close/>
                </a:path>
                <a:path w="938529" h="76200">
                  <a:moveTo>
                    <a:pt x="76370" y="25308"/>
                  </a:moveTo>
                  <a:lnTo>
                    <a:pt x="76034" y="50545"/>
                  </a:lnTo>
                  <a:lnTo>
                    <a:pt x="76031" y="50705"/>
                  </a:lnTo>
                  <a:lnTo>
                    <a:pt x="938021" y="61594"/>
                  </a:lnTo>
                  <a:lnTo>
                    <a:pt x="938268" y="37083"/>
                  </a:lnTo>
                  <a:lnTo>
                    <a:pt x="938276" y="36321"/>
                  </a:lnTo>
                  <a:lnTo>
                    <a:pt x="76370" y="25308"/>
                  </a:lnTo>
                  <a:close/>
                </a:path>
                <a:path w="938529" h="76200">
                  <a:moveTo>
                    <a:pt x="63626" y="25145"/>
                  </a:moveTo>
                  <a:lnTo>
                    <a:pt x="63373" y="50545"/>
                  </a:lnTo>
                  <a:lnTo>
                    <a:pt x="76031" y="50705"/>
                  </a:lnTo>
                  <a:lnTo>
                    <a:pt x="76370" y="25308"/>
                  </a:lnTo>
                  <a:lnTo>
                    <a:pt x="63626" y="25145"/>
                  </a:lnTo>
                  <a:close/>
                </a:path>
                <a:path w="938529" h="76200">
                  <a:moveTo>
                    <a:pt x="76372" y="25145"/>
                  </a:moveTo>
                  <a:lnTo>
                    <a:pt x="63626" y="25145"/>
                  </a:lnTo>
                  <a:lnTo>
                    <a:pt x="76370" y="25308"/>
                  </a:lnTo>
                  <a:lnTo>
                    <a:pt x="76372" y="25145"/>
                  </a:lnTo>
                  <a:close/>
                </a:path>
              </a:pathLst>
            </a:custGeom>
            <a:solidFill>
              <a:srgbClr val="9533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09844" y="3700272"/>
              <a:ext cx="1095743" cy="23467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653151" y="3760723"/>
              <a:ext cx="938530" cy="76200"/>
            </a:xfrm>
            <a:custGeom>
              <a:avLst/>
              <a:gdLst/>
              <a:ahLst/>
              <a:cxnLst/>
              <a:rect l="l" t="t" r="r" b="b"/>
              <a:pathLst>
                <a:path w="938529" h="76200">
                  <a:moveTo>
                    <a:pt x="862583" y="0"/>
                  </a:moveTo>
                  <a:lnTo>
                    <a:pt x="862245" y="25367"/>
                  </a:lnTo>
                  <a:lnTo>
                    <a:pt x="874902" y="25526"/>
                  </a:lnTo>
                  <a:lnTo>
                    <a:pt x="874768" y="38988"/>
                  </a:lnTo>
                  <a:lnTo>
                    <a:pt x="874649" y="50926"/>
                  </a:lnTo>
                  <a:lnTo>
                    <a:pt x="861904" y="50926"/>
                  </a:lnTo>
                  <a:lnTo>
                    <a:pt x="861568" y="76200"/>
                  </a:lnTo>
                  <a:lnTo>
                    <a:pt x="913666" y="50926"/>
                  </a:lnTo>
                  <a:lnTo>
                    <a:pt x="874649" y="50926"/>
                  </a:lnTo>
                  <a:lnTo>
                    <a:pt x="861907" y="50766"/>
                  </a:lnTo>
                  <a:lnTo>
                    <a:pt x="913998" y="50766"/>
                  </a:lnTo>
                  <a:lnTo>
                    <a:pt x="938276" y="38988"/>
                  </a:lnTo>
                  <a:lnTo>
                    <a:pt x="862583" y="0"/>
                  </a:lnTo>
                  <a:close/>
                </a:path>
                <a:path w="938529" h="76200">
                  <a:moveTo>
                    <a:pt x="862245" y="25367"/>
                  </a:moveTo>
                  <a:lnTo>
                    <a:pt x="861907" y="50766"/>
                  </a:lnTo>
                  <a:lnTo>
                    <a:pt x="874649" y="50926"/>
                  </a:lnTo>
                  <a:lnTo>
                    <a:pt x="874902" y="25526"/>
                  </a:lnTo>
                  <a:lnTo>
                    <a:pt x="862245" y="25367"/>
                  </a:lnTo>
                  <a:close/>
                </a:path>
                <a:path w="938529" h="76200">
                  <a:moveTo>
                    <a:pt x="253" y="14478"/>
                  </a:moveTo>
                  <a:lnTo>
                    <a:pt x="8" y="38988"/>
                  </a:lnTo>
                  <a:lnTo>
                    <a:pt x="0" y="39878"/>
                  </a:lnTo>
                  <a:lnTo>
                    <a:pt x="861907" y="50766"/>
                  </a:lnTo>
                  <a:lnTo>
                    <a:pt x="862243" y="25526"/>
                  </a:lnTo>
                  <a:lnTo>
                    <a:pt x="862245" y="25367"/>
                  </a:lnTo>
                  <a:lnTo>
                    <a:pt x="253" y="14478"/>
                  </a:lnTo>
                  <a:close/>
                </a:path>
              </a:pathLst>
            </a:custGeom>
            <a:solidFill>
              <a:srgbClr val="9533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09844" y="4363212"/>
              <a:ext cx="1095743" cy="23467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653151" y="4423651"/>
              <a:ext cx="938530" cy="76200"/>
            </a:xfrm>
            <a:custGeom>
              <a:avLst/>
              <a:gdLst/>
              <a:ahLst/>
              <a:cxnLst/>
              <a:rect l="l" t="t" r="r" b="b"/>
              <a:pathLst>
                <a:path w="938529" h="76200">
                  <a:moveTo>
                    <a:pt x="862583" y="0"/>
                  </a:moveTo>
                  <a:lnTo>
                    <a:pt x="862245" y="25404"/>
                  </a:lnTo>
                  <a:lnTo>
                    <a:pt x="874902" y="25565"/>
                  </a:lnTo>
                  <a:lnTo>
                    <a:pt x="874767" y="39065"/>
                  </a:lnTo>
                  <a:lnTo>
                    <a:pt x="874649" y="50965"/>
                  </a:lnTo>
                  <a:lnTo>
                    <a:pt x="861904" y="50965"/>
                  </a:lnTo>
                  <a:lnTo>
                    <a:pt x="861568" y="76199"/>
                  </a:lnTo>
                  <a:lnTo>
                    <a:pt x="913694" y="50965"/>
                  </a:lnTo>
                  <a:lnTo>
                    <a:pt x="874649" y="50965"/>
                  </a:lnTo>
                  <a:lnTo>
                    <a:pt x="861906" y="50803"/>
                  </a:lnTo>
                  <a:lnTo>
                    <a:pt x="914028" y="50803"/>
                  </a:lnTo>
                  <a:lnTo>
                    <a:pt x="938276" y="39065"/>
                  </a:lnTo>
                  <a:lnTo>
                    <a:pt x="862583" y="0"/>
                  </a:lnTo>
                  <a:close/>
                </a:path>
                <a:path w="938529" h="76200">
                  <a:moveTo>
                    <a:pt x="862245" y="25404"/>
                  </a:moveTo>
                  <a:lnTo>
                    <a:pt x="861906" y="50803"/>
                  </a:lnTo>
                  <a:lnTo>
                    <a:pt x="874649" y="50965"/>
                  </a:lnTo>
                  <a:lnTo>
                    <a:pt x="874902" y="25565"/>
                  </a:lnTo>
                  <a:lnTo>
                    <a:pt x="862245" y="25404"/>
                  </a:lnTo>
                  <a:close/>
                </a:path>
                <a:path w="938529" h="76200">
                  <a:moveTo>
                    <a:pt x="253" y="14490"/>
                  </a:moveTo>
                  <a:lnTo>
                    <a:pt x="8" y="39065"/>
                  </a:lnTo>
                  <a:lnTo>
                    <a:pt x="0" y="39890"/>
                  </a:lnTo>
                  <a:lnTo>
                    <a:pt x="861906" y="50803"/>
                  </a:lnTo>
                  <a:lnTo>
                    <a:pt x="862243" y="25565"/>
                  </a:lnTo>
                  <a:lnTo>
                    <a:pt x="862245" y="25404"/>
                  </a:lnTo>
                  <a:lnTo>
                    <a:pt x="253" y="14490"/>
                  </a:lnTo>
                  <a:close/>
                </a:path>
              </a:pathLst>
            </a:custGeom>
            <a:solidFill>
              <a:srgbClr val="9533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spc="-155" dirty="0"/>
              <a:t>Schedule</a:t>
            </a:r>
            <a:r>
              <a:rPr spc="-200" dirty="0"/>
              <a:t> </a:t>
            </a:r>
            <a:r>
              <a:rPr spc="-815" dirty="0"/>
              <a:t>1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46989" y="1172971"/>
            <a:ext cx="4058285" cy="1016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045" marR="55880" indent="-309880">
              <a:lnSpc>
                <a:spcPct val="100000"/>
              </a:lnSpc>
              <a:spcBef>
                <a:spcPts val="100"/>
              </a:spcBef>
              <a:buClr>
                <a:srgbClr val="FF8600"/>
              </a:buClr>
              <a:buSzPct val="129166"/>
              <a:buFont typeface="Cambria Math"/>
              <a:buChar char="◗"/>
              <a:tabLst>
                <a:tab pos="360045" algn="l"/>
              </a:tabLst>
            </a:pP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Let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60" dirty="0">
                <a:solidFill>
                  <a:srgbClr val="212121"/>
                </a:solidFill>
                <a:latin typeface="Gill Sans MT"/>
                <a:cs typeface="Gill Sans MT"/>
              </a:rPr>
              <a:t>T</a:t>
            </a:r>
            <a:r>
              <a:rPr sz="1200" spc="89" baseline="-20833" dirty="0">
                <a:solidFill>
                  <a:srgbClr val="212121"/>
                </a:solidFill>
                <a:latin typeface="Gill Sans MT"/>
                <a:cs typeface="Gill Sans MT"/>
              </a:rPr>
              <a:t>1</a:t>
            </a:r>
            <a:r>
              <a:rPr sz="1200" spc="187" baseline="-20833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transfer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$50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from </a:t>
            </a:r>
            <a:r>
              <a:rPr sz="1200" i="1" spc="135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i="1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to </a:t>
            </a:r>
            <a:r>
              <a:rPr sz="1200" i="1" spc="20" dirty="0">
                <a:solidFill>
                  <a:srgbClr val="212121"/>
                </a:solidFill>
                <a:latin typeface="Gill Sans MT"/>
                <a:cs typeface="Gill Sans MT"/>
              </a:rPr>
              <a:t>B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,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0" dirty="0">
                <a:solidFill>
                  <a:srgbClr val="212121"/>
                </a:solidFill>
                <a:latin typeface="Gill Sans MT"/>
                <a:cs typeface="Gill Sans MT"/>
              </a:rPr>
              <a:t>and</a:t>
            </a:r>
            <a:r>
              <a:rPr sz="12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60" dirty="0">
                <a:solidFill>
                  <a:srgbClr val="212121"/>
                </a:solidFill>
                <a:latin typeface="Gill Sans MT"/>
                <a:cs typeface="Gill Sans MT"/>
              </a:rPr>
              <a:t>T</a:t>
            </a:r>
            <a:r>
              <a:rPr sz="1200" spc="89" baseline="-20833" dirty="0">
                <a:solidFill>
                  <a:srgbClr val="212121"/>
                </a:solidFill>
                <a:latin typeface="Gill Sans MT"/>
                <a:cs typeface="Gill Sans MT"/>
              </a:rPr>
              <a:t>2</a:t>
            </a:r>
            <a:r>
              <a:rPr sz="1200" spc="179" baseline="-20833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transfer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10%</a:t>
            </a:r>
            <a:r>
              <a:rPr sz="12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35" dirty="0">
                <a:solidFill>
                  <a:srgbClr val="212121"/>
                </a:solidFill>
                <a:latin typeface="Gill Sans MT"/>
                <a:cs typeface="Gill Sans MT"/>
              </a:rPr>
              <a:t>of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the</a:t>
            </a:r>
            <a:r>
              <a:rPr sz="1200" spc="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0" dirty="0">
                <a:solidFill>
                  <a:srgbClr val="212121"/>
                </a:solidFill>
                <a:latin typeface="Gill Sans MT"/>
                <a:cs typeface="Gill Sans MT"/>
              </a:rPr>
              <a:t>balance</a:t>
            </a:r>
            <a:r>
              <a:rPr sz="1200" spc="4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from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135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i="1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to</a:t>
            </a:r>
            <a:r>
              <a:rPr sz="1200" spc="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65" dirty="0">
                <a:solidFill>
                  <a:srgbClr val="212121"/>
                </a:solidFill>
                <a:latin typeface="Gill Sans MT"/>
                <a:cs typeface="Gill Sans MT"/>
              </a:rPr>
              <a:t>B.</a:t>
            </a:r>
            <a:endParaRPr sz="1200">
              <a:latin typeface="Gill Sans MT"/>
              <a:cs typeface="Gill Sans MT"/>
            </a:endParaRPr>
          </a:p>
          <a:p>
            <a:pPr marL="360045" indent="-309880">
              <a:lnSpc>
                <a:spcPct val="100000"/>
              </a:lnSpc>
              <a:spcBef>
                <a:spcPts val="600"/>
              </a:spcBef>
              <a:buClr>
                <a:srgbClr val="FF8600"/>
              </a:buClr>
              <a:buSzPct val="129166"/>
              <a:buFont typeface="Cambria Math"/>
              <a:buChar char="◗"/>
              <a:tabLst>
                <a:tab pos="360045" algn="l"/>
              </a:tabLst>
            </a:pP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Initial</a:t>
            </a:r>
            <a:r>
              <a:rPr sz="1200" spc="2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balance:</a:t>
            </a:r>
            <a:endParaRPr sz="1200">
              <a:latin typeface="Gill Sans MT"/>
              <a:cs typeface="Gill Sans MT"/>
            </a:endParaRPr>
          </a:p>
          <a:p>
            <a:pPr marL="360045">
              <a:lnSpc>
                <a:spcPct val="100000"/>
              </a:lnSpc>
            </a:pP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spc="-4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=</a:t>
            </a:r>
            <a:r>
              <a:rPr sz="1200" spc="-5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1000$</a:t>
            </a:r>
            <a:r>
              <a:rPr sz="1200" spc="-4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and</a:t>
            </a:r>
            <a:endParaRPr sz="1200">
              <a:latin typeface="Gill Sans MT"/>
              <a:cs typeface="Gill Sans MT"/>
            </a:endParaRPr>
          </a:p>
          <a:p>
            <a:pPr marL="360045">
              <a:lnSpc>
                <a:spcPct val="100000"/>
              </a:lnSpc>
            </a:pP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B</a:t>
            </a:r>
            <a:r>
              <a:rPr sz="1200" spc="-6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=</a:t>
            </a:r>
            <a:r>
              <a:rPr sz="1200" spc="-4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35" dirty="0">
                <a:solidFill>
                  <a:srgbClr val="212121"/>
                </a:solidFill>
                <a:latin typeface="Gill Sans MT"/>
                <a:cs typeface="Gill Sans MT"/>
              </a:rPr>
              <a:t>2000$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59689" y="2422905"/>
            <a:ext cx="41027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345" marR="43180" indent="-309880">
              <a:lnSpc>
                <a:spcPct val="100000"/>
              </a:lnSpc>
              <a:spcBef>
                <a:spcPts val="100"/>
              </a:spcBef>
              <a:buClr>
                <a:srgbClr val="FF8600"/>
              </a:buClr>
              <a:buSzPct val="129166"/>
              <a:buFont typeface="Cambria Math"/>
              <a:buChar char="◗"/>
              <a:tabLst>
                <a:tab pos="347345" algn="l"/>
              </a:tabLst>
            </a:pP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An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example</a:t>
            </a:r>
            <a:r>
              <a:rPr sz="1200" spc="-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of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35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006FC0"/>
                </a:solidFill>
                <a:latin typeface="Gill Sans MT"/>
                <a:cs typeface="Gill Sans MT"/>
              </a:rPr>
              <a:t>serial</a:t>
            </a:r>
            <a:r>
              <a:rPr sz="1200" spc="-30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200" spc="70" dirty="0">
                <a:solidFill>
                  <a:srgbClr val="212121"/>
                </a:solidFill>
                <a:latin typeface="Gill Sans MT"/>
                <a:cs typeface="Gill Sans MT"/>
              </a:rPr>
              <a:t>schedule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in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which</a:t>
            </a:r>
            <a:r>
              <a:rPr sz="1200" spc="-4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60" dirty="0">
                <a:solidFill>
                  <a:srgbClr val="212121"/>
                </a:solidFill>
                <a:latin typeface="Gill Sans MT"/>
                <a:cs typeface="Gill Sans MT"/>
              </a:rPr>
              <a:t>T</a:t>
            </a:r>
            <a:r>
              <a:rPr sz="1200" spc="89" baseline="-20833" dirty="0">
                <a:solidFill>
                  <a:srgbClr val="212121"/>
                </a:solidFill>
                <a:latin typeface="Gill Sans MT"/>
                <a:cs typeface="Gill Sans MT"/>
              </a:rPr>
              <a:t>1</a:t>
            </a:r>
            <a:r>
              <a:rPr sz="1200" spc="157" baseline="-20833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5" dirty="0">
                <a:solidFill>
                  <a:srgbClr val="212121"/>
                </a:solidFill>
                <a:latin typeface="Gill Sans MT"/>
                <a:cs typeface="Gill Sans MT"/>
              </a:rPr>
              <a:t>is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followed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by</a:t>
            </a:r>
            <a:r>
              <a:rPr sz="1200" spc="-3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60" dirty="0">
                <a:solidFill>
                  <a:srgbClr val="212121"/>
                </a:solidFill>
                <a:latin typeface="Gill Sans MT"/>
                <a:cs typeface="Gill Sans MT"/>
              </a:rPr>
              <a:t>T</a:t>
            </a:r>
            <a:r>
              <a:rPr sz="1200" spc="89" baseline="-20833" dirty="0">
                <a:solidFill>
                  <a:srgbClr val="212121"/>
                </a:solidFill>
                <a:latin typeface="Gill Sans MT"/>
                <a:cs typeface="Gill Sans MT"/>
              </a:rPr>
              <a:t>2</a:t>
            </a:r>
            <a:r>
              <a:rPr sz="1200" spc="135" baseline="-20833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-50" dirty="0">
                <a:solidFill>
                  <a:srgbClr val="212121"/>
                </a:solidFill>
                <a:latin typeface="Gill Sans MT"/>
                <a:cs typeface="Gill Sans MT"/>
              </a:rPr>
              <a:t>: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5" dirty="0">
                <a:solidFill>
                  <a:srgbClr val="FFFFFF"/>
                </a:solidFill>
                <a:latin typeface="Gill Sans MT"/>
                <a:cs typeface="Gill Sans MT"/>
              </a:rPr>
              <a:t>12</a:t>
            </a:r>
            <a:endParaRPr sz="1300">
              <a:latin typeface="Gill Sans MT"/>
              <a:cs typeface="Gill Sans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05421" y="1888998"/>
            <a:ext cx="939165" cy="273050"/>
          </a:xfrm>
          <a:prstGeom prst="rect">
            <a:avLst/>
          </a:prstGeom>
          <a:solidFill>
            <a:srgbClr val="CCCCCC"/>
          </a:solidFill>
          <a:ln w="25400">
            <a:solidFill>
              <a:srgbClr val="FFFFFF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0"/>
              </a:spcBef>
            </a:pPr>
            <a:r>
              <a:rPr sz="1400" b="1" spc="-25" dirty="0">
                <a:latin typeface="Arial"/>
                <a:cs typeface="Arial"/>
              </a:rPr>
              <a:t>950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92290" y="2558033"/>
            <a:ext cx="937260" cy="257810"/>
          </a:xfrm>
          <a:prstGeom prst="rect">
            <a:avLst/>
          </a:prstGeom>
          <a:solidFill>
            <a:srgbClr val="CCCCCC"/>
          </a:solidFill>
          <a:ln w="25400">
            <a:solidFill>
              <a:srgbClr val="FFFFFF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269875">
              <a:lnSpc>
                <a:spcPct val="100000"/>
              </a:lnSpc>
              <a:spcBef>
                <a:spcPts val="125"/>
              </a:spcBef>
            </a:pPr>
            <a:r>
              <a:rPr sz="1400" b="1" spc="-20" dirty="0">
                <a:latin typeface="Arial"/>
                <a:cs typeface="Arial"/>
              </a:rPr>
              <a:t>2050</a:t>
            </a:r>
            <a:endParaRPr sz="1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25161" y="3662934"/>
            <a:ext cx="939165" cy="273050"/>
          </a:xfrm>
          <a:prstGeom prst="rect">
            <a:avLst/>
          </a:prstGeom>
          <a:solidFill>
            <a:srgbClr val="CCCCCC"/>
          </a:solidFill>
          <a:ln w="25400">
            <a:solidFill>
              <a:srgbClr val="FFFFFF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5"/>
              </a:spcBef>
            </a:pPr>
            <a:r>
              <a:rPr sz="1400" b="1" spc="-25" dirty="0">
                <a:latin typeface="Arial"/>
                <a:cs typeface="Arial"/>
              </a:rPr>
              <a:t>855</a:t>
            </a:r>
            <a:endParaRPr sz="1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25161" y="4315205"/>
            <a:ext cx="939165" cy="273050"/>
          </a:xfrm>
          <a:prstGeom prst="rect">
            <a:avLst/>
          </a:prstGeom>
          <a:solidFill>
            <a:srgbClr val="CCCCCC"/>
          </a:solidFill>
          <a:ln w="25400">
            <a:solidFill>
              <a:srgbClr val="FFFFFF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270510">
              <a:lnSpc>
                <a:spcPct val="100000"/>
              </a:lnSpc>
              <a:spcBef>
                <a:spcPts val="190"/>
              </a:spcBef>
            </a:pPr>
            <a:r>
              <a:rPr sz="1400" b="1" spc="-20" dirty="0">
                <a:latin typeface="Arial"/>
                <a:cs typeface="Arial"/>
              </a:rPr>
              <a:t>2145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19244" y="1034278"/>
            <a:ext cx="3424034" cy="385623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183944" y="447243"/>
            <a:ext cx="129921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5" dirty="0"/>
              <a:t>Schedule</a:t>
            </a:r>
            <a:r>
              <a:rPr spc="-200" dirty="0"/>
              <a:t> </a:t>
            </a:r>
            <a:r>
              <a:rPr spc="-80" dirty="0"/>
              <a:t>2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4045" y="1172971"/>
            <a:ext cx="4058285" cy="1016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045" marR="55880" indent="-309880">
              <a:lnSpc>
                <a:spcPct val="100000"/>
              </a:lnSpc>
              <a:spcBef>
                <a:spcPts val="100"/>
              </a:spcBef>
              <a:buClr>
                <a:srgbClr val="FF8600"/>
              </a:buClr>
              <a:buSzPct val="129166"/>
              <a:buFont typeface="Cambria Math"/>
              <a:buChar char="◗"/>
              <a:tabLst>
                <a:tab pos="360045" algn="l"/>
              </a:tabLst>
            </a:pP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Let </a:t>
            </a:r>
            <a:r>
              <a:rPr sz="1200" i="1" spc="60" dirty="0">
                <a:solidFill>
                  <a:srgbClr val="212121"/>
                </a:solidFill>
                <a:latin typeface="Gill Sans MT"/>
                <a:cs typeface="Gill Sans MT"/>
              </a:rPr>
              <a:t>T</a:t>
            </a:r>
            <a:r>
              <a:rPr sz="1200" spc="89" baseline="-20833" dirty="0">
                <a:solidFill>
                  <a:srgbClr val="212121"/>
                </a:solidFill>
                <a:latin typeface="Gill Sans MT"/>
                <a:cs typeface="Gill Sans MT"/>
              </a:rPr>
              <a:t>1</a:t>
            </a:r>
            <a:r>
              <a:rPr sz="1200" spc="187" baseline="-20833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transfer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$50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from</a:t>
            </a:r>
            <a:r>
              <a:rPr sz="1200" spc="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135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i="1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to </a:t>
            </a:r>
            <a:r>
              <a:rPr sz="1200" i="1" spc="20" dirty="0">
                <a:solidFill>
                  <a:srgbClr val="212121"/>
                </a:solidFill>
                <a:latin typeface="Gill Sans MT"/>
                <a:cs typeface="Gill Sans MT"/>
              </a:rPr>
              <a:t>B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,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0" dirty="0">
                <a:solidFill>
                  <a:srgbClr val="212121"/>
                </a:solidFill>
                <a:latin typeface="Gill Sans MT"/>
                <a:cs typeface="Gill Sans MT"/>
              </a:rPr>
              <a:t>and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60" dirty="0">
                <a:solidFill>
                  <a:srgbClr val="212121"/>
                </a:solidFill>
                <a:latin typeface="Gill Sans MT"/>
                <a:cs typeface="Gill Sans MT"/>
              </a:rPr>
              <a:t>T</a:t>
            </a:r>
            <a:r>
              <a:rPr sz="1200" spc="89" baseline="-20833" dirty="0">
                <a:solidFill>
                  <a:srgbClr val="212121"/>
                </a:solidFill>
                <a:latin typeface="Gill Sans MT"/>
                <a:cs typeface="Gill Sans MT"/>
              </a:rPr>
              <a:t>2</a:t>
            </a:r>
            <a:r>
              <a:rPr sz="1200" spc="179" baseline="-20833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transfer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10%</a:t>
            </a:r>
            <a:r>
              <a:rPr sz="12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35" dirty="0">
                <a:solidFill>
                  <a:srgbClr val="212121"/>
                </a:solidFill>
                <a:latin typeface="Gill Sans MT"/>
                <a:cs typeface="Gill Sans MT"/>
              </a:rPr>
              <a:t>of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the</a:t>
            </a:r>
            <a:r>
              <a:rPr sz="1200" spc="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0" dirty="0">
                <a:solidFill>
                  <a:srgbClr val="212121"/>
                </a:solidFill>
                <a:latin typeface="Gill Sans MT"/>
                <a:cs typeface="Gill Sans MT"/>
              </a:rPr>
              <a:t>balance</a:t>
            </a:r>
            <a:r>
              <a:rPr sz="1200" spc="4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from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135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i="1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to</a:t>
            </a:r>
            <a:r>
              <a:rPr sz="1200" spc="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65" dirty="0">
                <a:solidFill>
                  <a:srgbClr val="212121"/>
                </a:solidFill>
                <a:latin typeface="Gill Sans MT"/>
                <a:cs typeface="Gill Sans MT"/>
              </a:rPr>
              <a:t>B.</a:t>
            </a:r>
            <a:endParaRPr sz="1200">
              <a:latin typeface="Gill Sans MT"/>
              <a:cs typeface="Gill Sans MT"/>
            </a:endParaRPr>
          </a:p>
          <a:p>
            <a:pPr marL="360045" indent="-309880">
              <a:lnSpc>
                <a:spcPct val="100000"/>
              </a:lnSpc>
              <a:spcBef>
                <a:spcPts val="600"/>
              </a:spcBef>
              <a:buClr>
                <a:srgbClr val="FF8600"/>
              </a:buClr>
              <a:buSzPct val="129166"/>
              <a:buFont typeface="Cambria Math"/>
              <a:buChar char="◗"/>
              <a:tabLst>
                <a:tab pos="360045" algn="l"/>
              </a:tabLst>
            </a:pP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Initial</a:t>
            </a:r>
            <a:r>
              <a:rPr sz="1200" spc="2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balance:</a:t>
            </a:r>
            <a:endParaRPr sz="1200">
              <a:latin typeface="Gill Sans MT"/>
              <a:cs typeface="Gill Sans MT"/>
            </a:endParaRPr>
          </a:p>
          <a:p>
            <a:pPr marL="360045">
              <a:lnSpc>
                <a:spcPct val="100000"/>
              </a:lnSpc>
            </a:pP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spc="-4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=</a:t>
            </a:r>
            <a:r>
              <a:rPr sz="1200" spc="-5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1000$</a:t>
            </a:r>
            <a:r>
              <a:rPr sz="1200" spc="-4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and</a:t>
            </a:r>
            <a:endParaRPr sz="1200">
              <a:latin typeface="Gill Sans MT"/>
              <a:cs typeface="Gill Sans MT"/>
            </a:endParaRPr>
          </a:p>
          <a:p>
            <a:pPr marL="360045">
              <a:lnSpc>
                <a:spcPct val="100000"/>
              </a:lnSpc>
            </a:pP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B</a:t>
            </a:r>
            <a:r>
              <a:rPr sz="1200" spc="-6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=</a:t>
            </a:r>
            <a:r>
              <a:rPr sz="1200" spc="-4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35" dirty="0">
                <a:solidFill>
                  <a:srgbClr val="212121"/>
                </a:solidFill>
                <a:latin typeface="Gill Sans MT"/>
                <a:cs typeface="Gill Sans MT"/>
              </a:rPr>
              <a:t>2000$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6745" y="2422905"/>
            <a:ext cx="41033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47345" marR="43180" indent="-309880">
              <a:lnSpc>
                <a:spcPct val="100000"/>
              </a:lnSpc>
              <a:spcBef>
                <a:spcPts val="100"/>
              </a:spcBef>
              <a:buClr>
                <a:srgbClr val="FF8600"/>
              </a:buClr>
              <a:buSzPct val="129166"/>
              <a:buFont typeface="Cambria Math"/>
              <a:buChar char="◗"/>
              <a:tabLst>
                <a:tab pos="347345" algn="l"/>
              </a:tabLst>
            </a:pP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An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example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of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35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006FC0"/>
                </a:solidFill>
                <a:latin typeface="Gill Sans MT"/>
                <a:cs typeface="Gill Sans MT"/>
              </a:rPr>
              <a:t>serial</a:t>
            </a:r>
            <a:r>
              <a:rPr sz="1200" spc="-30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schedule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 in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which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60" dirty="0">
                <a:solidFill>
                  <a:srgbClr val="212121"/>
                </a:solidFill>
                <a:latin typeface="Gill Sans MT"/>
                <a:cs typeface="Gill Sans MT"/>
              </a:rPr>
              <a:t>T</a:t>
            </a:r>
            <a:r>
              <a:rPr sz="1200" spc="89" baseline="-20833" dirty="0">
                <a:solidFill>
                  <a:srgbClr val="212121"/>
                </a:solidFill>
                <a:latin typeface="Gill Sans MT"/>
                <a:cs typeface="Gill Sans MT"/>
              </a:rPr>
              <a:t>2</a:t>
            </a:r>
            <a:r>
              <a:rPr sz="1200" spc="157" baseline="-20833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5" dirty="0">
                <a:solidFill>
                  <a:srgbClr val="212121"/>
                </a:solidFill>
                <a:latin typeface="Gill Sans MT"/>
                <a:cs typeface="Gill Sans MT"/>
              </a:rPr>
              <a:t>is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 followed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by</a:t>
            </a:r>
            <a:r>
              <a:rPr sz="1200" spc="-3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60" dirty="0">
                <a:solidFill>
                  <a:srgbClr val="212121"/>
                </a:solidFill>
                <a:latin typeface="Gill Sans MT"/>
                <a:cs typeface="Gill Sans MT"/>
              </a:rPr>
              <a:t>T</a:t>
            </a:r>
            <a:r>
              <a:rPr sz="1200" spc="89" baseline="-20833" dirty="0">
                <a:solidFill>
                  <a:srgbClr val="212121"/>
                </a:solidFill>
                <a:latin typeface="Gill Sans MT"/>
                <a:cs typeface="Gill Sans MT"/>
              </a:rPr>
              <a:t>1</a:t>
            </a:r>
            <a:r>
              <a:rPr sz="1200" spc="135" baseline="-20833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-50" dirty="0">
                <a:solidFill>
                  <a:srgbClr val="212121"/>
                </a:solidFill>
                <a:latin typeface="Gill Sans MT"/>
                <a:cs typeface="Gill Sans MT"/>
              </a:rPr>
              <a:t>: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5" dirty="0">
                <a:solidFill>
                  <a:srgbClr val="FFFFFF"/>
                </a:solidFill>
                <a:latin typeface="Gill Sans MT"/>
                <a:cs typeface="Gill Sans MT"/>
              </a:rPr>
              <a:t>13</a:t>
            </a:r>
            <a:endParaRPr sz="1300">
              <a:latin typeface="Gill Sans MT"/>
              <a:cs typeface="Gill Sans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367528" y="2167153"/>
            <a:ext cx="1250315" cy="2440305"/>
            <a:chOff x="5367528" y="2167153"/>
            <a:chExt cx="1250315" cy="2440305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09260" y="3707891"/>
              <a:ext cx="1107960" cy="23467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628894" y="3770630"/>
              <a:ext cx="938530" cy="76200"/>
            </a:xfrm>
            <a:custGeom>
              <a:avLst/>
              <a:gdLst/>
              <a:ahLst/>
              <a:cxnLst/>
              <a:rect l="l" t="t" r="r" b="b"/>
              <a:pathLst>
                <a:path w="938529" h="76200">
                  <a:moveTo>
                    <a:pt x="76707" y="0"/>
                  </a:moveTo>
                  <a:lnTo>
                    <a:pt x="0" y="37084"/>
                  </a:lnTo>
                  <a:lnTo>
                    <a:pt x="75691" y="76200"/>
                  </a:lnTo>
                  <a:lnTo>
                    <a:pt x="76031" y="50705"/>
                  </a:lnTo>
                  <a:lnTo>
                    <a:pt x="63372" y="50546"/>
                  </a:lnTo>
                  <a:lnTo>
                    <a:pt x="63507" y="37084"/>
                  </a:lnTo>
                  <a:lnTo>
                    <a:pt x="63626" y="25146"/>
                  </a:lnTo>
                  <a:lnTo>
                    <a:pt x="76372" y="25146"/>
                  </a:lnTo>
                  <a:lnTo>
                    <a:pt x="76707" y="0"/>
                  </a:lnTo>
                  <a:close/>
                </a:path>
                <a:path w="938529" h="76200">
                  <a:moveTo>
                    <a:pt x="76370" y="25308"/>
                  </a:moveTo>
                  <a:lnTo>
                    <a:pt x="76034" y="50546"/>
                  </a:lnTo>
                  <a:lnTo>
                    <a:pt x="76031" y="50705"/>
                  </a:lnTo>
                  <a:lnTo>
                    <a:pt x="938022" y="61595"/>
                  </a:lnTo>
                  <a:lnTo>
                    <a:pt x="938268" y="37084"/>
                  </a:lnTo>
                  <a:lnTo>
                    <a:pt x="938276" y="36322"/>
                  </a:lnTo>
                  <a:lnTo>
                    <a:pt x="76370" y="25308"/>
                  </a:lnTo>
                  <a:close/>
                </a:path>
                <a:path w="938529" h="76200">
                  <a:moveTo>
                    <a:pt x="63626" y="25146"/>
                  </a:moveTo>
                  <a:lnTo>
                    <a:pt x="63372" y="50546"/>
                  </a:lnTo>
                  <a:lnTo>
                    <a:pt x="76031" y="50705"/>
                  </a:lnTo>
                  <a:lnTo>
                    <a:pt x="76370" y="25308"/>
                  </a:lnTo>
                  <a:lnTo>
                    <a:pt x="63626" y="25146"/>
                  </a:lnTo>
                  <a:close/>
                </a:path>
                <a:path w="938529" h="76200">
                  <a:moveTo>
                    <a:pt x="76372" y="25146"/>
                  </a:moveTo>
                  <a:lnTo>
                    <a:pt x="63626" y="25146"/>
                  </a:lnTo>
                  <a:lnTo>
                    <a:pt x="76370" y="25308"/>
                  </a:lnTo>
                  <a:lnTo>
                    <a:pt x="76372" y="25146"/>
                  </a:lnTo>
                  <a:close/>
                </a:path>
              </a:pathLst>
            </a:custGeom>
            <a:solidFill>
              <a:srgbClr val="9533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09260" y="4372355"/>
              <a:ext cx="1107960" cy="23467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628894" y="4435043"/>
              <a:ext cx="938530" cy="76200"/>
            </a:xfrm>
            <a:custGeom>
              <a:avLst/>
              <a:gdLst/>
              <a:ahLst/>
              <a:cxnLst/>
              <a:rect l="l" t="t" r="r" b="b"/>
              <a:pathLst>
                <a:path w="938529" h="76200">
                  <a:moveTo>
                    <a:pt x="76707" y="0"/>
                  </a:moveTo>
                  <a:lnTo>
                    <a:pt x="0" y="37134"/>
                  </a:lnTo>
                  <a:lnTo>
                    <a:pt x="75691" y="76199"/>
                  </a:lnTo>
                  <a:lnTo>
                    <a:pt x="76030" y="50795"/>
                  </a:lnTo>
                  <a:lnTo>
                    <a:pt x="63372" y="50634"/>
                  </a:lnTo>
                  <a:lnTo>
                    <a:pt x="63508" y="37134"/>
                  </a:lnTo>
                  <a:lnTo>
                    <a:pt x="63626" y="25234"/>
                  </a:lnTo>
                  <a:lnTo>
                    <a:pt x="76371" y="25234"/>
                  </a:lnTo>
                  <a:lnTo>
                    <a:pt x="76707" y="0"/>
                  </a:lnTo>
                  <a:close/>
                </a:path>
                <a:path w="938529" h="76200">
                  <a:moveTo>
                    <a:pt x="76369" y="25396"/>
                  </a:moveTo>
                  <a:lnTo>
                    <a:pt x="76032" y="50634"/>
                  </a:lnTo>
                  <a:lnTo>
                    <a:pt x="76030" y="50795"/>
                  </a:lnTo>
                  <a:lnTo>
                    <a:pt x="938022" y="61709"/>
                  </a:lnTo>
                  <a:lnTo>
                    <a:pt x="938267" y="37134"/>
                  </a:lnTo>
                  <a:lnTo>
                    <a:pt x="938276" y="36309"/>
                  </a:lnTo>
                  <a:lnTo>
                    <a:pt x="76369" y="25396"/>
                  </a:lnTo>
                  <a:close/>
                </a:path>
                <a:path w="938529" h="76200">
                  <a:moveTo>
                    <a:pt x="63626" y="25234"/>
                  </a:moveTo>
                  <a:lnTo>
                    <a:pt x="63372" y="50634"/>
                  </a:lnTo>
                  <a:lnTo>
                    <a:pt x="76030" y="50795"/>
                  </a:lnTo>
                  <a:lnTo>
                    <a:pt x="76369" y="25396"/>
                  </a:lnTo>
                  <a:lnTo>
                    <a:pt x="63626" y="25234"/>
                  </a:lnTo>
                  <a:close/>
                </a:path>
                <a:path w="938529" h="76200">
                  <a:moveTo>
                    <a:pt x="76371" y="25234"/>
                  </a:moveTo>
                  <a:lnTo>
                    <a:pt x="63626" y="25234"/>
                  </a:lnTo>
                  <a:lnTo>
                    <a:pt x="76369" y="25396"/>
                  </a:lnTo>
                  <a:lnTo>
                    <a:pt x="76371" y="25234"/>
                  </a:lnTo>
                  <a:close/>
                </a:path>
              </a:pathLst>
            </a:custGeom>
            <a:solidFill>
              <a:srgbClr val="9533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67528" y="2167153"/>
              <a:ext cx="1095743" cy="23467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5410835" y="2227579"/>
              <a:ext cx="938530" cy="76200"/>
            </a:xfrm>
            <a:custGeom>
              <a:avLst/>
              <a:gdLst/>
              <a:ahLst/>
              <a:cxnLst/>
              <a:rect l="l" t="t" r="r" b="b"/>
              <a:pathLst>
                <a:path w="938529" h="76200">
                  <a:moveTo>
                    <a:pt x="862584" y="0"/>
                  </a:moveTo>
                  <a:lnTo>
                    <a:pt x="862245" y="25367"/>
                  </a:lnTo>
                  <a:lnTo>
                    <a:pt x="874902" y="25526"/>
                  </a:lnTo>
                  <a:lnTo>
                    <a:pt x="874768" y="38988"/>
                  </a:lnTo>
                  <a:lnTo>
                    <a:pt x="874649" y="50926"/>
                  </a:lnTo>
                  <a:lnTo>
                    <a:pt x="861904" y="50926"/>
                  </a:lnTo>
                  <a:lnTo>
                    <a:pt x="861567" y="76200"/>
                  </a:lnTo>
                  <a:lnTo>
                    <a:pt x="913666" y="50926"/>
                  </a:lnTo>
                  <a:lnTo>
                    <a:pt x="874649" y="50926"/>
                  </a:lnTo>
                  <a:lnTo>
                    <a:pt x="861907" y="50766"/>
                  </a:lnTo>
                  <a:lnTo>
                    <a:pt x="913998" y="50766"/>
                  </a:lnTo>
                  <a:lnTo>
                    <a:pt x="938276" y="38988"/>
                  </a:lnTo>
                  <a:lnTo>
                    <a:pt x="862584" y="0"/>
                  </a:lnTo>
                  <a:close/>
                </a:path>
                <a:path w="938529" h="76200">
                  <a:moveTo>
                    <a:pt x="862245" y="25367"/>
                  </a:moveTo>
                  <a:lnTo>
                    <a:pt x="861907" y="50766"/>
                  </a:lnTo>
                  <a:lnTo>
                    <a:pt x="874649" y="50926"/>
                  </a:lnTo>
                  <a:lnTo>
                    <a:pt x="874902" y="25526"/>
                  </a:lnTo>
                  <a:lnTo>
                    <a:pt x="862245" y="25367"/>
                  </a:lnTo>
                  <a:close/>
                </a:path>
                <a:path w="938529" h="76200">
                  <a:moveTo>
                    <a:pt x="253" y="14477"/>
                  </a:moveTo>
                  <a:lnTo>
                    <a:pt x="8" y="38988"/>
                  </a:lnTo>
                  <a:lnTo>
                    <a:pt x="0" y="39877"/>
                  </a:lnTo>
                  <a:lnTo>
                    <a:pt x="861907" y="50766"/>
                  </a:lnTo>
                  <a:lnTo>
                    <a:pt x="862243" y="25526"/>
                  </a:lnTo>
                  <a:lnTo>
                    <a:pt x="862245" y="25367"/>
                  </a:lnTo>
                  <a:lnTo>
                    <a:pt x="253" y="14477"/>
                  </a:lnTo>
                  <a:close/>
                </a:path>
              </a:pathLst>
            </a:custGeom>
            <a:solidFill>
              <a:srgbClr val="9533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67528" y="2817901"/>
              <a:ext cx="1095743" cy="23467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5410835" y="2878327"/>
              <a:ext cx="938530" cy="76200"/>
            </a:xfrm>
            <a:custGeom>
              <a:avLst/>
              <a:gdLst/>
              <a:ahLst/>
              <a:cxnLst/>
              <a:rect l="l" t="t" r="r" b="b"/>
              <a:pathLst>
                <a:path w="938529" h="76200">
                  <a:moveTo>
                    <a:pt x="862584" y="0"/>
                  </a:moveTo>
                  <a:lnTo>
                    <a:pt x="862245" y="25367"/>
                  </a:lnTo>
                  <a:lnTo>
                    <a:pt x="874902" y="25527"/>
                  </a:lnTo>
                  <a:lnTo>
                    <a:pt x="874768" y="38989"/>
                  </a:lnTo>
                  <a:lnTo>
                    <a:pt x="874649" y="50927"/>
                  </a:lnTo>
                  <a:lnTo>
                    <a:pt x="861904" y="50927"/>
                  </a:lnTo>
                  <a:lnTo>
                    <a:pt x="861567" y="76200"/>
                  </a:lnTo>
                  <a:lnTo>
                    <a:pt x="913666" y="50927"/>
                  </a:lnTo>
                  <a:lnTo>
                    <a:pt x="874649" y="50927"/>
                  </a:lnTo>
                  <a:lnTo>
                    <a:pt x="861907" y="50766"/>
                  </a:lnTo>
                  <a:lnTo>
                    <a:pt x="913998" y="50766"/>
                  </a:lnTo>
                  <a:lnTo>
                    <a:pt x="938276" y="38989"/>
                  </a:lnTo>
                  <a:lnTo>
                    <a:pt x="862584" y="0"/>
                  </a:lnTo>
                  <a:close/>
                </a:path>
                <a:path w="938529" h="76200">
                  <a:moveTo>
                    <a:pt x="862245" y="25367"/>
                  </a:moveTo>
                  <a:lnTo>
                    <a:pt x="861907" y="50766"/>
                  </a:lnTo>
                  <a:lnTo>
                    <a:pt x="874649" y="50927"/>
                  </a:lnTo>
                  <a:lnTo>
                    <a:pt x="874902" y="25527"/>
                  </a:lnTo>
                  <a:lnTo>
                    <a:pt x="862245" y="25367"/>
                  </a:lnTo>
                  <a:close/>
                </a:path>
                <a:path w="938529" h="76200">
                  <a:moveTo>
                    <a:pt x="253" y="14478"/>
                  </a:moveTo>
                  <a:lnTo>
                    <a:pt x="8" y="38989"/>
                  </a:lnTo>
                  <a:lnTo>
                    <a:pt x="0" y="39878"/>
                  </a:lnTo>
                  <a:lnTo>
                    <a:pt x="861907" y="50766"/>
                  </a:lnTo>
                  <a:lnTo>
                    <a:pt x="862243" y="25527"/>
                  </a:lnTo>
                  <a:lnTo>
                    <a:pt x="862245" y="25367"/>
                  </a:lnTo>
                  <a:lnTo>
                    <a:pt x="253" y="14478"/>
                  </a:lnTo>
                  <a:close/>
                </a:path>
              </a:pathLst>
            </a:custGeom>
            <a:solidFill>
              <a:srgbClr val="9533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6566154" y="3665982"/>
            <a:ext cx="939165" cy="273050"/>
          </a:xfrm>
          <a:prstGeom prst="rect">
            <a:avLst/>
          </a:prstGeom>
          <a:solidFill>
            <a:srgbClr val="CCCCCC"/>
          </a:solidFill>
          <a:ln w="25400">
            <a:solidFill>
              <a:srgbClr val="FFFFFF"/>
            </a:solidFill>
          </a:ln>
        </p:spPr>
        <p:txBody>
          <a:bodyPr vert="horz" wrap="square" lIns="0" tIns="247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5"/>
              </a:spcBef>
            </a:pPr>
            <a:r>
              <a:rPr sz="1400" b="1" spc="-25" dirty="0">
                <a:latin typeface="Arial"/>
                <a:cs typeface="Arial"/>
              </a:rPr>
              <a:t>850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653021" y="4335017"/>
            <a:ext cx="939165" cy="257810"/>
          </a:xfrm>
          <a:prstGeom prst="rect">
            <a:avLst/>
          </a:prstGeom>
          <a:solidFill>
            <a:srgbClr val="CCCCCC"/>
          </a:solidFill>
          <a:ln w="25400">
            <a:solidFill>
              <a:srgbClr val="FFFFFF"/>
            </a:solidFill>
          </a:ln>
        </p:spPr>
        <p:txBody>
          <a:bodyPr vert="horz" wrap="square" lIns="0" tIns="16510" rIns="0" bIns="0" rtlCol="0">
            <a:spAutoFit/>
          </a:bodyPr>
          <a:lstStyle/>
          <a:p>
            <a:pPr marL="269875">
              <a:lnSpc>
                <a:spcPct val="100000"/>
              </a:lnSpc>
              <a:spcBef>
                <a:spcPts val="130"/>
              </a:spcBef>
            </a:pPr>
            <a:r>
              <a:rPr sz="1400" b="1" spc="-20" dirty="0">
                <a:latin typeface="Arial"/>
                <a:cs typeface="Arial"/>
              </a:rPr>
              <a:t>2150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464050" y="2104898"/>
            <a:ext cx="964565" cy="298450"/>
            <a:chOff x="4464050" y="2104898"/>
            <a:chExt cx="964565" cy="298450"/>
          </a:xfrm>
        </p:grpSpPr>
        <p:sp>
          <p:nvSpPr>
            <p:cNvPr id="19" name="object 19"/>
            <p:cNvSpPr/>
            <p:nvPr/>
          </p:nvSpPr>
          <p:spPr>
            <a:xfrm>
              <a:off x="4476750" y="2117598"/>
              <a:ext cx="939165" cy="273050"/>
            </a:xfrm>
            <a:custGeom>
              <a:avLst/>
              <a:gdLst/>
              <a:ahLst/>
              <a:cxnLst/>
              <a:rect l="l" t="t" r="r" b="b"/>
              <a:pathLst>
                <a:path w="939164" h="273050">
                  <a:moveTo>
                    <a:pt x="938784" y="0"/>
                  </a:moveTo>
                  <a:lnTo>
                    <a:pt x="0" y="0"/>
                  </a:lnTo>
                  <a:lnTo>
                    <a:pt x="0" y="272795"/>
                  </a:lnTo>
                  <a:lnTo>
                    <a:pt x="938784" y="272795"/>
                  </a:lnTo>
                  <a:lnTo>
                    <a:pt x="9387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476750" y="2117598"/>
              <a:ext cx="939165" cy="273050"/>
            </a:xfrm>
            <a:custGeom>
              <a:avLst/>
              <a:gdLst/>
              <a:ahLst/>
              <a:cxnLst/>
              <a:rect l="l" t="t" r="r" b="b"/>
              <a:pathLst>
                <a:path w="939164" h="273050">
                  <a:moveTo>
                    <a:pt x="0" y="272795"/>
                  </a:moveTo>
                  <a:lnTo>
                    <a:pt x="938784" y="272795"/>
                  </a:lnTo>
                  <a:lnTo>
                    <a:pt x="938784" y="0"/>
                  </a:lnTo>
                  <a:lnTo>
                    <a:pt x="0" y="0"/>
                  </a:lnTo>
                  <a:lnTo>
                    <a:pt x="0" y="272795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476750" y="2117598"/>
            <a:ext cx="939165" cy="27305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0"/>
              </a:spcBef>
            </a:pPr>
            <a:r>
              <a:rPr sz="1400" b="1" spc="-25" dirty="0">
                <a:latin typeface="Arial"/>
                <a:cs typeface="Arial"/>
              </a:rPr>
              <a:t>900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454905" y="2755645"/>
            <a:ext cx="964565" cy="298450"/>
            <a:chOff x="4454905" y="2755645"/>
            <a:chExt cx="964565" cy="298450"/>
          </a:xfrm>
        </p:grpSpPr>
        <p:sp>
          <p:nvSpPr>
            <p:cNvPr id="23" name="object 23"/>
            <p:cNvSpPr/>
            <p:nvPr/>
          </p:nvSpPr>
          <p:spPr>
            <a:xfrm>
              <a:off x="4467605" y="2768345"/>
              <a:ext cx="939165" cy="273050"/>
            </a:xfrm>
            <a:custGeom>
              <a:avLst/>
              <a:gdLst/>
              <a:ahLst/>
              <a:cxnLst/>
              <a:rect l="l" t="t" r="r" b="b"/>
              <a:pathLst>
                <a:path w="939164" h="273050">
                  <a:moveTo>
                    <a:pt x="938784" y="0"/>
                  </a:moveTo>
                  <a:lnTo>
                    <a:pt x="0" y="0"/>
                  </a:lnTo>
                  <a:lnTo>
                    <a:pt x="0" y="272795"/>
                  </a:lnTo>
                  <a:lnTo>
                    <a:pt x="938784" y="272795"/>
                  </a:lnTo>
                  <a:lnTo>
                    <a:pt x="9387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67605" y="2768345"/>
              <a:ext cx="939165" cy="273050"/>
            </a:xfrm>
            <a:custGeom>
              <a:avLst/>
              <a:gdLst/>
              <a:ahLst/>
              <a:cxnLst/>
              <a:rect l="l" t="t" r="r" b="b"/>
              <a:pathLst>
                <a:path w="939164" h="273050">
                  <a:moveTo>
                    <a:pt x="0" y="272795"/>
                  </a:moveTo>
                  <a:lnTo>
                    <a:pt x="938784" y="272795"/>
                  </a:lnTo>
                  <a:lnTo>
                    <a:pt x="938784" y="0"/>
                  </a:lnTo>
                  <a:lnTo>
                    <a:pt x="0" y="0"/>
                  </a:lnTo>
                  <a:lnTo>
                    <a:pt x="0" y="272795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467605" y="2768345"/>
            <a:ext cx="939165" cy="27305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270510">
              <a:lnSpc>
                <a:spcPct val="100000"/>
              </a:lnSpc>
              <a:spcBef>
                <a:spcPts val="190"/>
              </a:spcBef>
            </a:pPr>
            <a:r>
              <a:rPr sz="1400" b="1" spc="-20" dirty="0">
                <a:latin typeface="Arial"/>
                <a:cs typeface="Arial"/>
              </a:rPr>
              <a:t>2100</a:t>
            </a:r>
            <a:endParaRPr sz="140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0600" y="984503"/>
            <a:ext cx="8153400" cy="4159250"/>
            <a:chOff x="990600" y="984503"/>
            <a:chExt cx="8153400" cy="41592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43628" y="984503"/>
              <a:ext cx="3479291" cy="3944112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33871" y="1938553"/>
              <a:ext cx="1107960" cy="23467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953505" y="2001265"/>
              <a:ext cx="938530" cy="76200"/>
            </a:xfrm>
            <a:custGeom>
              <a:avLst/>
              <a:gdLst/>
              <a:ahLst/>
              <a:cxnLst/>
              <a:rect l="l" t="t" r="r" b="b"/>
              <a:pathLst>
                <a:path w="938529" h="76200">
                  <a:moveTo>
                    <a:pt x="76708" y="0"/>
                  </a:moveTo>
                  <a:lnTo>
                    <a:pt x="0" y="37083"/>
                  </a:lnTo>
                  <a:lnTo>
                    <a:pt x="75692" y="76200"/>
                  </a:lnTo>
                  <a:lnTo>
                    <a:pt x="76031" y="50705"/>
                  </a:lnTo>
                  <a:lnTo>
                    <a:pt x="63373" y="50545"/>
                  </a:lnTo>
                  <a:lnTo>
                    <a:pt x="63507" y="37083"/>
                  </a:lnTo>
                  <a:lnTo>
                    <a:pt x="63627" y="25145"/>
                  </a:lnTo>
                  <a:lnTo>
                    <a:pt x="76372" y="25145"/>
                  </a:lnTo>
                  <a:lnTo>
                    <a:pt x="76708" y="0"/>
                  </a:lnTo>
                  <a:close/>
                </a:path>
                <a:path w="938529" h="76200">
                  <a:moveTo>
                    <a:pt x="76370" y="25308"/>
                  </a:moveTo>
                  <a:lnTo>
                    <a:pt x="76034" y="50545"/>
                  </a:lnTo>
                  <a:lnTo>
                    <a:pt x="76031" y="50705"/>
                  </a:lnTo>
                  <a:lnTo>
                    <a:pt x="938022" y="61594"/>
                  </a:lnTo>
                  <a:lnTo>
                    <a:pt x="938268" y="37083"/>
                  </a:lnTo>
                  <a:lnTo>
                    <a:pt x="938276" y="36321"/>
                  </a:lnTo>
                  <a:lnTo>
                    <a:pt x="76370" y="25308"/>
                  </a:lnTo>
                  <a:close/>
                </a:path>
                <a:path w="938529" h="76200">
                  <a:moveTo>
                    <a:pt x="63627" y="25145"/>
                  </a:moveTo>
                  <a:lnTo>
                    <a:pt x="63373" y="50545"/>
                  </a:lnTo>
                  <a:lnTo>
                    <a:pt x="76031" y="50705"/>
                  </a:lnTo>
                  <a:lnTo>
                    <a:pt x="76370" y="25308"/>
                  </a:lnTo>
                  <a:lnTo>
                    <a:pt x="63627" y="25145"/>
                  </a:lnTo>
                  <a:close/>
                </a:path>
                <a:path w="938529" h="76200">
                  <a:moveTo>
                    <a:pt x="76372" y="25145"/>
                  </a:moveTo>
                  <a:lnTo>
                    <a:pt x="63627" y="25145"/>
                  </a:lnTo>
                  <a:lnTo>
                    <a:pt x="76370" y="25308"/>
                  </a:lnTo>
                  <a:lnTo>
                    <a:pt x="76372" y="25145"/>
                  </a:lnTo>
                  <a:close/>
                </a:path>
              </a:pathLst>
            </a:custGeom>
            <a:solidFill>
              <a:srgbClr val="9533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04332" y="3532657"/>
              <a:ext cx="1107960" cy="23467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5823965" y="3595369"/>
              <a:ext cx="938530" cy="76200"/>
            </a:xfrm>
            <a:custGeom>
              <a:avLst/>
              <a:gdLst/>
              <a:ahLst/>
              <a:cxnLst/>
              <a:rect l="l" t="t" r="r" b="b"/>
              <a:pathLst>
                <a:path w="938529" h="76200">
                  <a:moveTo>
                    <a:pt x="76708" y="0"/>
                  </a:moveTo>
                  <a:lnTo>
                    <a:pt x="0" y="37083"/>
                  </a:lnTo>
                  <a:lnTo>
                    <a:pt x="75692" y="76199"/>
                  </a:lnTo>
                  <a:lnTo>
                    <a:pt x="76031" y="50705"/>
                  </a:lnTo>
                  <a:lnTo>
                    <a:pt x="63373" y="50545"/>
                  </a:lnTo>
                  <a:lnTo>
                    <a:pt x="63507" y="37083"/>
                  </a:lnTo>
                  <a:lnTo>
                    <a:pt x="63626" y="25145"/>
                  </a:lnTo>
                  <a:lnTo>
                    <a:pt x="76372" y="25145"/>
                  </a:lnTo>
                  <a:lnTo>
                    <a:pt x="76708" y="0"/>
                  </a:lnTo>
                  <a:close/>
                </a:path>
                <a:path w="938529" h="76200">
                  <a:moveTo>
                    <a:pt x="76370" y="25308"/>
                  </a:moveTo>
                  <a:lnTo>
                    <a:pt x="76034" y="50545"/>
                  </a:lnTo>
                  <a:lnTo>
                    <a:pt x="76031" y="50705"/>
                  </a:lnTo>
                  <a:lnTo>
                    <a:pt x="938022" y="61594"/>
                  </a:lnTo>
                  <a:lnTo>
                    <a:pt x="938268" y="37083"/>
                  </a:lnTo>
                  <a:lnTo>
                    <a:pt x="938276" y="36321"/>
                  </a:lnTo>
                  <a:lnTo>
                    <a:pt x="76370" y="25308"/>
                  </a:lnTo>
                  <a:close/>
                </a:path>
                <a:path w="938529" h="76200">
                  <a:moveTo>
                    <a:pt x="63626" y="25145"/>
                  </a:moveTo>
                  <a:lnTo>
                    <a:pt x="63373" y="50545"/>
                  </a:lnTo>
                  <a:lnTo>
                    <a:pt x="76031" y="50705"/>
                  </a:lnTo>
                  <a:lnTo>
                    <a:pt x="76370" y="25308"/>
                  </a:lnTo>
                  <a:lnTo>
                    <a:pt x="63626" y="25145"/>
                  </a:lnTo>
                  <a:close/>
                </a:path>
                <a:path w="938529" h="76200">
                  <a:moveTo>
                    <a:pt x="76372" y="25145"/>
                  </a:moveTo>
                  <a:lnTo>
                    <a:pt x="63626" y="25145"/>
                  </a:lnTo>
                  <a:lnTo>
                    <a:pt x="76370" y="25308"/>
                  </a:lnTo>
                  <a:lnTo>
                    <a:pt x="76372" y="25145"/>
                  </a:lnTo>
                  <a:close/>
                </a:path>
              </a:pathLst>
            </a:custGeom>
            <a:solidFill>
              <a:srgbClr val="9533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67528" y="2167153"/>
              <a:ext cx="1095743" cy="23467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410834" y="2227579"/>
              <a:ext cx="938530" cy="76200"/>
            </a:xfrm>
            <a:custGeom>
              <a:avLst/>
              <a:gdLst/>
              <a:ahLst/>
              <a:cxnLst/>
              <a:rect l="l" t="t" r="r" b="b"/>
              <a:pathLst>
                <a:path w="938529" h="76200">
                  <a:moveTo>
                    <a:pt x="862584" y="0"/>
                  </a:moveTo>
                  <a:lnTo>
                    <a:pt x="862245" y="25367"/>
                  </a:lnTo>
                  <a:lnTo>
                    <a:pt x="874902" y="25526"/>
                  </a:lnTo>
                  <a:lnTo>
                    <a:pt x="874768" y="38988"/>
                  </a:lnTo>
                  <a:lnTo>
                    <a:pt x="874649" y="50926"/>
                  </a:lnTo>
                  <a:lnTo>
                    <a:pt x="861904" y="50926"/>
                  </a:lnTo>
                  <a:lnTo>
                    <a:pt x="861567" y="76200"/>
                  </a:lnTo>
                  <a:lnTo>
                    <a:pt x="913666" y="50926"/>
                  </a:lnTo>
                  <a:lnTo>
                    <a:pt x="874649" y="50926"/>
                  </a:lnTo>
                  <a:lnTo>
                    <a:pt x="861907" y="50766"/>
                  </a:lnTo>
                  <a:lnTo>
                    <a:pt x="913998" y="50766"/>
                  </a:lnTo>
                  <a:lnTo>
                    <a:pt x="938276" y="38988"/>
                  </a:lnTo>
                  <a:lnTo>
                    <a:pt x="862584" y="0"/>
                  </a:lnTo>
                  <a:close/>
                </a:path>
                <a:path w="938529" h="76200">
                  <a:moveTo>
                    <a:pt x="862245" y="25367"/>
                  </a:moveTo>
                  <a:lnTo>
                    <a:pt x="861907" y="50766"/>
                  </a:lnTo>
                  <a:lnTo>
                    <a:pt x="874649" y="50926"/>
                  </a:lnTo>
                  <a:lnTo>
                    <a:pt x="874902" y="25526"/>
                  </a:lnTo>
                  <a:lnTo>
                    <a:pt x="862245" y="25367"/>
                  </a:lnTo>
                  <a:close/>
                </a:path>
                <a:path w="938529" h="76200">
                  <a:moveTo>
                    <a:pt x="253" y="14477"/>
                  </a:moveTo>
                  <a:lnTo>
                    <a:pt x="8" y="38988"/>
                  </a:lnTo>
                  <a:lnTo>
                    <a:pt x="0" y="39877"/>
                  </a:lnTo>
                  <a:lnTo>
                    <a:pt x="861907" y="50766"/>
                  </a:lnTo>
                  <a:lnTo>
                    <a:pt x="862243" y="25526"/>
                  </a:lnTo>
                  <a:lnTo>
                    <a:pt x="862245" y="25367"/>
                  </a:lnTo>
                  <a:lnTo>
                    <a:pt x="253" y="14477"/>
                  </a:lnTo>
                  <a:close/>
                </a:path>
              </a:pathLst>
            </a:custGeom>
            <a:solidFill>
              <a:srgbClr val="9533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67528" y="2817901"/>
              <a:ext cx="1095743" cy="23467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410834" y="2878327"/>
              <a:ext cx="938530" cy="76200"/>
            </a:xfrm>
            <a:custGeom>
              <a:avLst/>
              <a:gdLst/>
              <a:ahLst/>
              <a:cxnLst/>
              <a:rect l="l" t="t" r="r" b="b"/>
              <a:pathLst>
                <a:path w="938529" h="76200">
                  <a:moveTo>
                    <a:pt x="862584" y="0"/>
                  </a:moveTo>
                  <a:lnTo>
                    <a:pt x="862245" y="25367"/>
                  </a:lnTo>
                  <a:lnTo>
                    <a:pt x="874902" y="25527"/>
                  </a:lnTo>
                  <a:lnTo>
                    <a:pt x="874768" y="38989"/>
                  </a:lnTo>
                  <a:lnTo>
                    <a:pt x="874649" y="50927"/>
                  </a:lnTo>
                  <a:lnTo>
                    <a:pt x="861904" y="50927"/>
                  </a:lnTo>
                  <a:lnTo>
                    <a:pt x="861567" y="76200"/>
                  </a:lnTo>
                  <a:lnTo>
                    <a:pt x="913666" y="50927"/>
                  </a:lnTo>
                  <a:lnTo>
                    <a:pt x="874649" y="50927"/>
                  </a:lnTo>
                  <a:lnTo>
                    <a:pt x="861907" y="50766"/>
                  </a:lnTo>
                  <a:lnTo>
                    <a:pt x="913998" y="50766"/>
                  </a:lnTo>
                  <a:lnTo>
                    <a:pt x="938276" y="38989"/>
                  </a:lnTo>
                  <a:lnTo>
                    <a:pt x="862584" y="0"/>
                  </a:lnTo>
                  <a:close/>
                </a:path>
                <a:path w="938529" h="76200">
                  <a:moveTo>
                    <a:pt x="862245" y="25367"/>
                  </a:moveTo>
                  <a:lnTo>
                    <a:pt x="861907" y="50766"/>
                  </a:lnTo>
                  <a:lnTo>
                    <a:pt x="874649" y="50927"/>
                  </a:lnTo>
                  <a:lnTo>
                    <a:pt x="874902" y="25527"/>
                  </a:lnTo>
                  <a:lnTo>
                    <a:pt x="862245" y="25367"/>
                  </a:lnTo>
                  <a:close/>
                </a:path>
                <a:path w="938529" h="76200">
                  <a:moveTo>
                    <a:pt x="253" y="14478"/>
                  </a:moveTo>
                  <a:lnTo>
                    <a:pt x="8" y="38989"/>
                  </a:lnTo>
                  <a:lnTo>
                    <a:pt x="0" y="39878"/>
                  </a:lnTo>
                  <a:lnTo>
                    <a:pt x="861907" y="50766"/>
                  </a:lnTo>
                  <a:lnTo>
                    <a:pt x="862243" y="25527"/>
                  </a:lnTo>
                  <a:lnTo>
                    <a:pt x="862245" y="25367"/>
                  </a:lnTo>
                  <a:lnTo>
                    <a:pt x="253" y="14478"/>
                  </a:lnTo>
                  <a:close/>
                </a:path>
              </a:pathLst>
            </a:custGeom>
            <a:solidFill>
              <a:srgbClr val="9533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183944" y="447243"/>
            <a:ext cx="130365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5" dirty="0"/>
              <a:t>Schedule</a:t>
            </a:r>
            <a:r>
              <a:rPr spc="-200" dirty="0"/>
              <a:t> </a:t>
            </a:r>
            <a:r>
              <a:rPr spc="-50" dirty="0"/>
              <a:t>3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87223" y="1172971"/>
            <a:ext cx="4058285" cy="1016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045" marR="55880" indent="-309880">
              <a:lnSpc>
                <a:spcPct val="100000"/>
              </a:lnSpc>
              <a:spcBef>
                <a:spcPts val="100"/>
              </a:spcBef>
              <a:buClr>
                <a:srgbClr val="FF8600"/>
              </a:buClr>
              <a:buSzPct val="129166"/>
              <a:buFont typeface="Cambria Math"/>
              <a:buChar char="◗"/>
              <a:tabLst>
                <a:tab pos="360045" algn="l"/>
              </a:tabLst>
            </a:pP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Let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60" dirty="0">
                <a:solidFill>
                  <a:srgbClr val="212121"/>
                </a:solidFill>
                <a:latin typeface="Gill Sans MT"/>
                <a:cs typeface="Gill Sans MT"/>
              </a:rPr>
              <a:t>T</a:t>
            </a:r>
            <a:r>
              <a:rPr sz="1200" spc="89" baseline="-20833" dirty="0">
                <a:solidFill>
                  <a:srgbClr val="212121"/>
                </a:solidFill>
                <a:latin typeface="Gill Sans MT"/>
                <a:cs typeface="Gill Sans MT"/>
              </a:rPr>
              <a:t>1</a:t>
            </a:r>
            <a:r>
              <a:rPr sz="1200" spc="187" baseline="-20833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transfer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$50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from </a:t>
            </a:r>
            <a:r>
              <a:rPr sz="1200" i="1" spc="135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i="1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to </a:t>
            </a:r>
            <a:r>
              <a:rPr sz="1200" i="1" spc="20" dirty="0">
                <a:solidFill>
                  <a:srgbClr val="212121"/>
                </a:solidFill>
                <a:latin typeface="Gill Sans MT"/>
                <a:cs typeface="Gill Sans MT"/>
              </a:rPr>
              <a:t>B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,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0" dirty="0">
                <a:solidFill>
                  <a:srgbClr val="212121"/>
                </a:solidFill>
                <a:latin typeface="Gill Sans MT"/>
                <a:cs typeface="Gill Sans MT"/>
              </a:rPr>
              <a:t>and</a:t>
            </a:r>
            <a:r>
              <a:rPr sz="12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60" dirty="0">
                <a:solidFill>
                  <a:srgbClr val="212121"/>
                </a:solidFill>
                <a:latin typeface="Gill Sans MT"/>
                <a:cs typeface="Gill Sans MT"/>
              </a:rPr>
              <a:t>T</a:t>
            </a:r>
            <a:r>
              <a:rPr sz="1200" spc="89" baseline="-20833" dirty="0">
                <a:solidFill>
                  <a:srgbClr val="212121"/>
                </a:solidFill>
                <a:latin typeface="Gill Sans MT"/>
                <a:cs typeface="Gill Sans MT"/>
              </a:rPr>
              <a:t>2</a:t>
            </a:r>
            <a:r>
              <a:rPr sz="1200" spc="179" baseline="-20833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transfer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10%</a:t>
            </a:r>
            <a:r>
              <a:rPr sz="12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35" dirty="0">
                <a:solidFill>
                  <a:srgbClr val="212121"/>
                </a:solidFill>
                <a:latin typeface="Gill Sans MT"/>
                <a:cs typeface="Gill Sans MT"/>
              </a:rPr>
              <a:t>of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the</a:t>
            </a:r>
            <a:r>
              <a:rPr sz="1200" spc="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0" dirty="0">
                <a:solidFill>
                  <a:srgbClr val="212121"/>
                </a:solidFill>
                <a:latin typeface="Gill Sans MT"/>
                <a:cs typeface="Gill Sans MT"/>
              </a:rPr>
              <a:t>balance</a:t>
            </a:r>
            <a:r>
              <a:rPr sz="1200" spc="4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from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135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i="1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to</a:t>
            </a:r>
            <a:r>
              <a:rPr sz="1200" spc="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65" dirty="0">
                <a:solidFill>
                  <a:srgbClr val="212121"/>
                </a:solidFill>
                <a:latin typeface="Gill Sans MT"/>
                <a:cs typeface="Gill Sans MT"/>
              </a:rPr>
              <a:t>B.</a:t>
            </a:r>
            <a:endParaRPr sz="1200">
              <a:latin typeface="Gill Sans MT"/>
              <a:cs typeface="Gill Sans MT"/>
            </a:endParaRPr>
          </a:p>
          <a:p>
            <a:pPr marL="360045" indent="-309880">
              <a:lnSpc>
                <a:spcPct val="100000"/>
              </a:lnSpc>
              <a:spcBef>
                <a:spcPts val="600"/>
              </a:spcBef>
              <a:buClr>
                <a:srgbClr val="FF8600"/>
              </a:buClr>
              <a:buSzPct val="129166"/>
              <a:buFont typeface="Cambria Math"/>
              <a:buChar char="◗"/>
              <a:tabLst>
                <a:tab pos="360045" algn="l"/>
              </a:tabLst>
            </a:pP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Initial</a:t>
            </a:r>
            <a:r>
              <a:rPr sz="1200" spc="2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balance:</a:t>
            </a:r>
            <a:endParaRPr sz="1200">
              <a:latin typeface="Gill Sans MT"/>
              <a:cs typeface="Gill Sans MT"/>
            </a:endParaRPr>
          </a:p>
          <a:p>
            <a:pPr marL="360045">
              <a:lnSpc>
                <a:spcPct val="100000"/>
              </a:lnSpc>
            </a:pP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spc="-4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=</a:t>
            </a:r>
            <a:r>
              <a:rPr sz="1200" spc="-5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1000$</a:t>
            </a:r>
            <a:r>
              <a:rPr sz="1200" spc="-4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and</a:t>
            </a:r>
            <a:endParaRPr sz="1200">
              <a:latin typeface="Gill Sans MT"/>
              <a:cs typeface="Gill Sans MT"/>
            </a:endParaRPr>
          </a:p>
          <a:p>
            <a:pPr marL="360045">
              <a:lnSpc>
                <a:spcPct val="100000"/>
              </a:lnSpc>
            </a:pP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B</a:t>
            </a:r>
            <a:r>
              <a:rPr sz="1200" spc="-6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=</a:t>
            </a:r>
            <a:r>
              <a:rPr sz="1200" spc="-4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35" dirty="0">
                <a:solidFill>
                  <a:srgbClr val="212121"/>
                </a:solidFill>
                <a:latin typeface="Gill Sans MT"/>
                <a:cs typeface="Gill Sans MT"/>
              </a:rPr>
              <a:t>2000$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7223" y="2404617"/>
            <a:ext cx="3985895" cy="788035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357505" marR="55880" indent="-307340" algn="just">
              <a:lnSpc>
                <a:spcPts val="1300"/>
              </a:lnSpc>
              <a:spcBef>
                <a:spcPts val="259"/>
              </a:spcBef>
              <a:buClr>
                <a:srgbClr val="FF8600"/>
              </a:buClr>
              <a:buSzPct val="129166"/>
              <a:buFont typeface="Cambria Math"/>
              <a:buChar char="◗"/>
              <a:tabLst>
                <a:tab pos="360045" algn="l"/>
              </a:tabLst>
            </a:pP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Let </a:t>
            </a:r>
            <a:r>
              <a:rPr sz="1200" i="1" spc="60" dirty="0">
                <a:solidFill>
                  <a:srgbClr val="212121"/>
                </a:solidFill>
                <a:latin typeface="Gill Sans MT"/>
                <a:cs typeface="Gill Sans MT"/>
              </a:rPr>
              <a:t>T</a:t>
            </a:r>
            <a:r>
              <a:rPr sz="1200" spc="89" baseline="-20833" dirty="0">
                <a:solidFill>
                  <a:srgbClr val="212121"/>
                </a:solidFill>
                <a:latin typeface="Gill Sans MT"/>
                <a:cs typeface="Gill Sans MT"/>
              </a:rPr>
              <a:t>1</a:t>
            </a:r>
            <a:r>
              <a:rPr sz="1200" spc="157" baseline="-20833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0" dirty="0">
                <a:solidFill>
                  <a:srgbClr val="212121"/>
                </a:solidFill>
                <a:latin typeface="Gill Sans MT"/>
                <a:cs typeface="Gill Sans MT"/>
              </a:rPr>
              <a:t>and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60" dirty="0">
                <a:solidFill>
                  <a:srgbClr val="212121"/>
                </a:solidFill>
                <a:latin typeface="Gill Sans MT"/>
                <a:cs typeface="Gill Sans MT"/>
              </a:rPr>
              <a:t>T</a:t>
            </a:r>
            <a:r>
              <a:rPr sz="1200" spc="89" baseline="-20833" dirty="0">
                <a:solidFill>
                  <a:srgbClr val="212121"/>
                </a:solidFill>
                <a:latin typeface="Gill Sans MT"/>
                <a:cs typeface="Gill Sans MT"/>
              </a:rPr>
              <a:t>2</a:t>
            </a:r>
            <a:r>
              <a:rPr sz="1200" spc="172" baseline="-20833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be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the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transactions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defined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 previously</a:t>
            </a:r>
            <a:r>
              <a:rPr sz="1200" i="1" spc="-10" dirty="0">
                <a:solidFill>
                  <a:srgbClr val="212121"/>
                </a:solidFill>
                <a:latin typeface="Gill Sans MT"/>
                <a:cs typeface="Gill Sans MT"/>
              </a:rPr>
              <a:t>. 	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The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following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schedule</a:t>
            </a:r>
            <a:r>
              <a:rPr sz="12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5" dirty="0">
                <a:solidFill>
                  <a:srgbClr val="212121"/>
                </a:solidFill>
                <a:latin typeface="Gill Sans MT"/>
                <a:cs typeface="Gill Sans MT"/>
              </a:rPr>
              <a:t>is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not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35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serial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schedule,</a:t>
            </a:r>
            <a:r>
              <a:rPr sz="12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but </a:t>
            </a:r>
            <a:r>
              <a:rPr sz="1200" spc="-25" dirty="0">
                <a:solidFill>
                  <a:srgbClr val="212121"/>
                </a:solidFill>
                <a:latin typeface="Gill Sans MT"/>
                <a:cs typeface="Gill Sans MT"/>
              </a:rPr>
              <a:t>it 	</a:t>
            </a:r>
            <a:r>
              <a:rPr sz="1200" spc="85" dirty="0">
                <a:solidFill>
                  <a:srgbClr val="212121"/>
                </a:solidFill>
                <a:latin typeface="Gill Sans MT"/>
                <a:cs typeface="Gill Sans MT"/>
              </a:rPr>
              <a:t>is</a:t>
            </a:r>
            <a:r>
              <a:rPr sz="1200" spc="-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006FC0"/>
                </a:solidFill>
                <a:latin typeface="Gill Sans MT"/>
                <a:cs typeface="Gill Sans MT"/>
              </a:rPr>
              <a:t>equivalent</a:t>
            </a:r>
            <a:r>
              <a:rPr sz="1200" spc="-5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to</a:t>
            </a:r>
            <a:r>
              <a:rPr sz="1200" spc="-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Schedule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1.</a:t>
            </a:r>
            <a:endParaRPr sz="1200">
              <a:latin typeface="Gill Sans MT"/>
              <a:cs typeface="Gill Sans MT"/>
            </a:endParaRPr>
          </a:p>
          <a:p>
            <a:pPr marL="358140" indent="-307340" algn="just">
              <a:lnSpc>
                <a:spcPct val="100000"/>
              </a:lnSpc>
              <a:spcBef>
                <a:spcPts val="425"/>
              </a:spcBef>
              <a:buClr>
                <a:srgbClr val="FF8600"/>
              </a:buClr>
              <a:buSzPct val="129166"/>
              <a:buFont typeface="Cambria Math"/>
              <a:buChar char="◗"/>
              <a:tabLst>
                <a:tab pos="358140" algn="l"/>
              </a:tabLst>
            </a:pP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In</a:t>
            </a:r>
            <a:r>
              <a:rPr sz="1200" spc="-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70" dirty="0">
                <a:solidFill>
                  <a:srgbClr val="212121"/>
                </a:solidFill>
                <a:latin typeface="Gill Sans MT"/>
                <a:cs typeface="Gill Sans MT"/>
              </a:rPr>
              <a:t>schedule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 1,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70" dirty="0">
                <a:solidFill>
                  <a:srgbClr val="212121"/>
                </a:solidFill>
                <a:latin typeface="Gill Sans MT"/>
                <a:cs typeface="Gill Sans MT"/>
              </a:rPr>
              <a:t>2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0" dirty="0">
                <a:solidFill>
                  <a:srgbClr val="212121"/>
                </a:solidFill>
                <a:latin typeface="Gill Sans MT"/>
                <a:cs typeface="Gill Sans MT"/>
              </a:rPr>
              <a:t>and</a:t>
            </a:r>
            <a:r>
              <a:rPr sz="1200" spc="-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70" dirty="0">
                <a:solidFill>
                  <a:srgbClr val="212121"/>
                </a:solidFill>
                <a:latin typeface="Gill Sans MT"/>
                <a:cs typeface="Gill Sans MT"/>
              </a:rPr>
              <a:t>3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the</a:t>
            </a:r>
            <a:r>
              <a:rPr sz="1200" spc="-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10" dirty="0">
                <a:solidFill>
                  <a:srgbClr val="212121"/>
                </a:solidFill>
                <a:latin typeface="Gill Sans MT"/>
                <a:cs typeface="Gill Sans MT"/>
              </a:rPr>
              <a:t>sum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‘A+B’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90" dirty="0">
                <a:solidFill>
                  <a:srgbClr val="212121"/>
                </a:solidFill>
                <a:latin typeface="Gill Sans MT"/>
                <a:cs typeface="Gill Sans MT"/>
              </a:rPr>
              <a:t>is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preserved.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5" dirty="0">
                <a:solidFill>
                  <a:srgbClr val="FFFFFF"/>
                </a:solidFill>
                <a:latin typeface="Gill Sans MT"/>
                <a:cs typeface="Gill Sans MT"/>
              </a:rPr>
              <a:t>14</a:t>
            </a:r>
            <a:endParaRPr sz="1300">
              <a:latin typeface="Gill Sans MT"/>
              <a:cs typeface="Gill Sans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892290" y="1895094"/>
            <a:ext cx="937260" cy="273050"/>
          </a:xfrm>
          <a:prstGeom prst="rect">
            <a:avLst/>
          </a:prstGeom>
          <a:solidFill>
            <a:srgbClr val="CCCCCC"/>
          </a:solidFill>
          <a:ln w="25400">
            <a:solidFill>
              <a:srgbClr val="FFFFFF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90"/>
              </a:spcBef>
            </a:pPr>
            <a:r>
              <a:rPr sz="1400" b="1" spc="-25" dirty="0">
                <a:latin typeface="Arial"/>
                <a:cs typeface="Arial"/>
              </a:rPr>
              <a:t>950</a:t>
            </a:r>
            <a:endParaRPr sz="14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48093" y="3496817"/>
            <a:ext cx="939165" cy="257810"/>
          </a:xfrm>
          <a:prstGeom prst="rect">
            <a:avLst/>
          </a:prstGeom>
          <a:solidFill>
            <a:srgbClr val="CCCCCC"/>
          </a:solidFill>
          <a:ln w="25400">
            <a:solidFill>
              <a:srgbClr val="FFFFFF"/>
            </a:solidFill>
          </a:ln>
        </p:spPr>
        <p:txBody>
          <a:bodyPr vert="horz" wrap="square" lIns="0" tIns="15875" rIns="0" bIns="0" rtlCol="0">
            <a:spAutoFit/>
          </a:bodyPr>
          <a:lstStyle/>
          <a:p>
            <a:pPr marL="269875">
              <a:lnSpc>
                <a:spcPct val="100000"/>
              </a:lnSpc>
              <a:spcBef>
                <a:spcPts val="125"/>
              </a:spcBef>
            </a:pPr>
            <a:r>
              <a:rPr sz="1400" b="1" spc="-20" dirty="0">
                <a:latin typeface="Arial"/>
                <a:cs typeface="Arial"/>
              </a:rPr>
              <a:t>2050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464050" y="2104898"/>
            <a:ext cx="964565" cy="298450"/>
            <a:chOff x="4464050" y="2104898"/>
            <a:chExt cx="964565" cy="298450"/>
          </a:xfrm>
        </p:grpSpPr>
        <p:sp>
          <p:nvSpPr>
            <p:cNvPr id="19" name="object 19"/>
            <p:cNvSpPr/>
            <p:nvPr/>
          </p:nvSpPr>
          <p:spPr>
            <a:xfrm>
              <a:off x="4476750" y="2117598"/>
              <a:ext cx="939165" cy="273050"/>
            </a:xfrm>
            <a:custGeom>
              <a:avLst/>
              <a:gdLst/>
              <a:ahLst/>
              <a:cxnLst/>
              <a:rect l="l" t="t" r="r" b="b"/>
              <a:pathLst>
                <a:path w="939164" h="273050">
                  <a:moveTo>
                    <a:pt x="938784" y="0"/>
                  </a:moveTo>
                  <a:lnTo>
                    <a:pt x="0" y="0"/>
                  </a:lnTo>
                  <a:lnTo>
                    <a:pt x="0" y="272795"/>
                  </a:lnTo>
                  <a:lnTo>
                    <a:pt x="938784" y="272795"/>
                  </a:lnTo>
                  <a:lnTo>
                    <a:pt x="9387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476750" y="2117598"/>
              <a:ext cx="939165" cy="273050"/>
            </a:xfrm>
            <a:custGeom>
              <a:avLst/>
              <a:gdLst/>
              <a:ahLst/>
              <a:cxnLst/>
              <a:rect l="l" t="t" r="r" b="b"/>
              <a:pathLst>
                <a:path w="939164" h="273050">
                  <a:moveTo>
                    <a:pt x="0" y="272795"/>
                  </a:moveTo>
                  <a:lnTo>
                    <a:pt x="938784" y="272795"/>
                  </a:lnTo>
                  <a:lnTo>
                    <a:pt x="938784" y="0"/>
                  </a:lnTo>
                  <a:lnTo>
                    <a:pt x="0" y="0"/>
                  </a:lnTo>
                  <a:lnTo>
                    <a:pt x="0" y="272795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476750" y="2117598"/>
            <a:ext cx="939165" cy="27305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90"/>
              </a:spcBef>
            </a:pPr>
            <a:r>
              <a:rPr sz="1400" b="1" spc="-25" dirty="0">
                <a:latin typeface="Arial"/>
                <a:cs typeface="Arial"/>
              </a:rPr>
              <a:t>950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454905" y="2755645"/>
            <a:ext cx="964565" cy="298450"/>
            <a:chOff x="4454905" y="2755645"/>
            <a:chExt cx="964565" cy="298450"/>
          </a:xfrm>
        </p:grpSpPr>
        <p:sp>
          <p:nvSpPr>
            <p:cNvPr id="23" name="object 23"/>
            <p:cNvSpPr/>
            <p:nvPr/>
          </p:nvSpPr>
          <p:spPr>
            <a:xfrm>
              <a:off x="4467605" y="2768345"/>
              <a:ext cx="939165" cy="273050"/>
            </a:xfrm>
            <a:custGeom>
              <a:avLst/>
              <a:gdLst/>
              <a:ahLst/>
              <a:cxnLst/>
              <a:rect l="l" t="t" r="r" b="b"/>
              <a:pathLst>
                <a:path w="939164" h="273050">
                  <a:moveTo>
                    <a:pt x="938784" y="0"/>
                  </a:moveTo>
                  <a:lnTo>
                    <a:pt x="0" y="0"/>
                  </a:lnTo>
                  <a:lnTo>
                    <a:pt x="0" y="272795"/>
                  </a:lnTo>
                  <a:lnTo>
                    <a:pt x="938784" y="272795"/>
                  </a:lnTo>
                  <a:lnTo>
                    <a:pt x="9387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467605" y="2768345"/>
              <a:ext cx="939165" cy="273050"/>
            </a:xfrm>
            <a:custGeom>
              <a:avLst/>
              <a:gdLst/>
              <a:ahLst/>
              <a:cxnLst/>
              <a:rect l="l" t="t" r="r" b="b"/>
              <a:pathLst>
                <a:path w="939164" h="273050">
                  <a:moveTo>
                    <a:pt x="0" y="272795"/>
                  </a:moveTo>
                  <a:lnTo>
                    <a:pt x="938784" y="272795"/>
                  </a:lnTo>
                  <a:lnTo>
                    <a:pt x="938784" y="0"/>
                  </a:lnTo>
                  <a:lnTo>
                    <a:pt x="0" y="0"/>
                  </a:lnTo>
                  <a:lnTo>
                    <a:pt x="0" y="272795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467605" y="2768345"/>
            <a:ext cx="939165" cy="27305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90"/>
              </a:spcBef>
            </a:pPr>
            <a:r>
              <a:rPr sz="1400" b="1" spc="-25" dirty="0">
                <a:latin typeface="Arial"/>
                <a:cs typeface="Arial"/>
              </a:rPr>
              <a:t>855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493005" y="3983990"/>
            <a:ext cx="2007235" cy="298450"/>
            <a:chOff x="4493005" y="3983990"/>
            <a:chExt cx="2007235" cy="298450"/>
          </a:xfrm>
        </p:grpSpPr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04103" y="4046220"/>
              <a:ext cx="1095743" cy="234670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447411" y="4106659"/>
              <a:ext cx="938530" cy="76200"/>
            </a:xfrm>
            <a:custGeom>
              <a:avLst/>
              <a:gdLst/>
              <a:ahLst/>
              <a:cxnLst/>
              <a:rect l="l" t="t" r="r" b="b"/>
              <a:pathLst>
                <a:path w="938529" h="76200">
                  <a:moveTo>
                    <a:pt x="862584" y="0"/>
                  </a:moveTo>
                  <a:lnTo>
                    <a:pt x="862245" y="25404"/>
                  </a:lnTo>
                  <a:lnTo>
                    <a:pt x="874902" y="25565"/>
                  </a:lnTo>
                  <a:lnTo>
                    <a:pt x="874767" y="39065"/>
                  </a:lnTo>
                  <a:lnTo>
                    <a:pt x="874649" y="50965"/>
                  </a:lnTo>
                  <a:lnTo>
                    <a:pt x="861904" y="50965"/>
                  </a:lnTo>
                  <a:lnTo>
                    <a:pt x="861567" y="76200"/>
                  </a:lnTo>
                  <a:lnTo>
                    <a:pt x="913694" y="50965"/>
                  </a:lnTo>
                  <a:lnTo>
                    <a:pt x="874649" y="50965"/>
                  </a:lnTo>
                  <a:lnTo>
                    <a:pt x="861906" y="50803"/>
                  </a:lnTo>
                  <a:lnTo>
                    <a:pt x="914028" y="50803"/>
                  </a:lnTo>
                  <a:lnTo>
                    <a:pt x="938276" y="39065"/>
                  </a:lnTo>
                  <a:lnTo>
                    <a:pt x="862584" y="0"/>
                  </a:lnTo>
                  <a:close/>
                </a:path>
                <a:path w="938529" h="76200">
                  <a:moveTo>
                    <a:pt x="862245" y="25404"/>
                  </a:moveTo>
                  <a:lnTo>
                    <a:pt x="861906" y="50803"/>
                  </a:lnTo>
                  <a:lnTo>
                    <a:pt x="874649" y="50965"/>
                  </a:lnTo>
                  <a:lnTo>
                    <a:pt x="874902" y="25565"/>
                  </a:lnTo>
                  <a:lnTo>
                    <a:pt x="862245" y="25404"/>
                  </a:lnTo>
                  <a:close/>
                </a:path>
                <a:path w="938529" h="76200">
                  <a:moveTo>
                    <a:pt x="253" y="14490"/>
                  </a:moveTo>
                  <a:lnTo>
                    <a:pt x="8" y="39065"/>
                  </a:lnTo>
                  <a:lnTo>
                    <a:pt x="0" y="39890"/>
                  </a:lnTo>
                  <a:lnTo>
                    <a:pt x="861906" y="50803"/>
                  </a:lnTo>
                  <a:lnTo>
                    <a:pt x="862243" y="25565"/>
                  </a:lnTo>
                  <a:lnTo>
                    <a:pt x="862245" y="25404"/>
                  </a:lnTo>
                  <a:lnTo>
                    <a:pt x="253" y="14490"/>
                  </a:lnTo>
                  <a:close/>
                </a:path>
              </a:pathLst>
            </a:custGeom>
            <a:solidFill>
              <a:srgbClr val="9533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05705" y="3996690"/>
              <a:ext cx="937260" cy="273050"/>
            </a:xfrm>
            <a:custGeom>
              <a:avLst/>
              <a:gdLst/>
              <a:ahLst/>
              <a:cxnLst/>
              <a:rect l="l" t="t" r="r" b="b"/>
              <a:pathLst>
                <a:path w="937260" h="273050">
                  <a:moveTo>
                    <a:pt x="937260" y="0"/>
                  </a:moveTo>
                  <a:lnTo>
                    <a:pt x="0" y="0"/>
                  </a:lnTo>
                  <a:lnTo>
                    <a:pt x="0" y="272796"/>
                  </a:lnTo>
                  <a:lnTo>
                    <a:pt x="937260" y="272796"/>
                  </a:lnTo>
                  <a:lnTo>
                    <a:pt x="93726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505705" y="3996690"/>
              <a:ext cx="937260" cy="273050"/>
            </a:xfrm>
            <a:custGeom>
              <a:avLst/>
              <a:gdLst/>
              <a:ahLst/>
              <a:cxnLst/>
              <a:rect l="l" t="t" r="r" b="b"/>
              <a:pathLst>
                <a:path w="937260" h="273050">
                  <a:moveTo>
                    <a:pt x="0" y="272796"/>
                  </a:moveTo>
                  <a:lnTo>
                    <a:pt x="937260" y="272796"/>
                  </a:lnTo>
                  <a:lnTo>
                    <a:pt x="937260" y="0"/>
                  </a:lnTo>
                  <a:lnTo>
                    <a:pt x="0" y="0"/>
                  </a:lnTo>
                  <a:lnTo>
                    <a:pt x="0" y="272796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505705" y="3996690"/>
            <a:ext cx="937260" cy="27305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269875">
              <a:lnSpc>
                <a:spcPct val="100000"/>
              </a:lnSpc>
              <a:spcBef>
                <a:spcPts val="195"/>
              </a:spcBef>
            </a:pPr>
            <a:r>
              <a:rPr sz="1400" b="1" spc="-20" dirty="0">
                <a:latin typeface="Arial"/>
                <a:cs typeface="Arial"/>
              </a:rPr>
              <a:t>2050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493005" y="4450334"/>
            <a:ext cx="2007235" cy="298450"/>
            <a:chOff x="4493005" y="4450334"/>
            <a:chExt cx="2007235" cy="298450"/>
          </a:xfrm>
        </p:grpSpPr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04103" y="4512564"/>
              <a:ext cx="1095743" cy="23467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447411" y="4573003"/>
              <a:ext cx="938530" cy="76200"/>
            </a:xfrm>
            <a:custGeom>
              <a:avLst/>
              <a:gdLst/>
              <a:ahLst/>
              <a:cxnLst/>
              <a:rect l="l" t="t" r="r" b="b"/>
              <a:pathLst>
                <a:path w="938529" h="76200">
                  <a:moveTo>
                    <a:pt x="862584" y="0"/>
                  </a:moveTo>
                  <a:lnTo>
                    <a:pt x="862245" y="25404"/>
                  </a:lnTo>
                  <a:lnTo>
                    <a:pt x="874902" y="25565"/>
                  </a:lnTo>
                  <a:lnTo>
                    <a:pt x="874767" y="39065"/>
                  </a:lnTo>
                  <a:lnTo>
                    <a:pt x="874649" y="50965"/>
                  </a:lnTo>
                  <a:lnTo>
                    <a:pt x="861904" y="50965"/>
                  </a:lnTo>
                  <a:lnTo>
                    <a:pt x="861567" y="76199"/>
                  </a:lnTo>
                  <a:lnTo>
                    <a:pt x="913694" y="50965"/>
                  </a:lnTo>
                  <a:lnTo>
                    <a:pt x="874649" y="50965"/>
                  </a:lnTo>
                  <a:lnTo>
                    <a:pt x="861906" y="50803"/>
                  </a:lnTo>
                  <a:lnTo>
                    <a:pt x="914028" y="50803"/>
                  </a:lnTo>
                  <a:lnTo>
                    <a:pt x="938276" y="39065"/>
                  </a:lnTo>
                  <a:lnTo>
                    <a:pt x="862584" y="0"/>
                  </a:lnTo>
                  <a:close/>
                </a:path>
                <a:path w="938529" h="76200">
                  <a:moveTo>
                    <a:pt x="862245" y="25404"/>
                  </a:moveTo>
                  <a:lnTo>
                    <a:pt x="861906" y="50803"/>
                  </a:lnTo>
                  <a:lnTo>
                    <a:pt x="874649" y="50965"/>
                  </a:lnTo>
                  <a:lnTo>
                    <a:pt x="874902" y="25565"/>
                  </a:lnTo>
                  <a:lnTo>
                    <a:pt x="862245" y="25404"/>
                  </a:lnTo>
                  <a:close/>
                </a:path>
                <a:path w="938529" h="76200">
                  <a:moveTo>
                    <a:pt x="253" y="14490"/>
                  </a:moveTo>
                  <a:lnTo>
                    <a:pt x="8" y="39065"/>
                  </a:lnTo>
                  <a:lnTo>
                    <a:pt x="0" y="39890"/>
                  </a:lnTo>
                  <a:lnTo>
                    <a:pt x="861906" y="50803"/>
                  </a:lnTo>
                  <a:lnTo>
                    <a:pt x="862243" y="25565"/>
                  </a:lnTo>
                  <a:lnTo>
                    <a:pt x="862245" y="25404"/>
                  </a:lnTo>
                  <a:lnTo>
                    <a:pt x="253" y="14490"/>
                  </a:lnTo>
                  <a:close/>
                </a:path>
              </a:pathLst>
            </a:custGeom>
            <a:solidFill>
              <a:srgbClr val="9533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505705" y="4463034"/>
              <a:ext cx="937260" cy="273050"/>
            </a:xfrm>
            <a:custGeom>
              <a:avLst/>
              <a:gdLst/>
              <a:ahLst/>
              <a:cxnLst/>
              <a:rect l="l" t="t" r="r" b="b"/>
              <a:pathLst>
                <a:path w="937260" h="273050">
                  <a:moveTo>
                    <a:pt x="937260" y="0"/>
                  </a:moveTo>
                  <a:lnTo>
                    <a:pt x="0" y="0"/>
                  </a:lnTo>
                  <a:lnTo>
                    <a:pt x="0" y="272795"/>
                  </a:lnTo>
                  <a:lnTo>
                    <a:pt x="937260" y="272795"/>
                  </a:lnTo>
                  <a:lnTo>
                    <a:pt x="93726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505705" y="4463034"/>
              <a:ext cx="937260" cy="273050"/>
            </a:xfrm>
            <a:custGeom>
              <a:avLst/>
              <a:gdLst/>
              <a:ahLst/>
              <a:cxnLst/>
              <a:rect l="l" t="t" r="r" b="b"/>
              <a:pathLst>
                <a:path w="937260" h="273050">
                  <a:moveTo>
                    <a:pt x="0" y="272795"/>
                  </a:moveTo>
                  <a:lnTo>
                    <a:pt x="937260" y="272795"/>
                  </a:lnTo>
                  <a:lnTo>
                    <a:pt x="937260" y="0"/>
                  </a:lnTo>
                  <a:lnTo>
                    <a:pt x="0" y="0"/>
                  </a:lnTo>
                  <a:lnTo>
                    <a:pt x="0" y="272795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505705" y="4463034"/>
            <a:ext cx="937260" cy="27305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269875">
              <a:lnSpc>
                <a:spcPct val="100000"/>
              </a:lnSpc>
              <a:spcBef>
                <a:spcPts val="195"/>
              </a:spcBef>
            </a:pPr>
            <a:r>
              <a:rPr sz="1400" b="1" spc="-20" dirty="0">
                <a:latin typeface="Arial"/>
                <a:cs typeface="Arial"/>
              </a:rPr>
              <a:t>2145</a:t>
            </a:r>
            <a:endParaRPr sz="1400">
              <a:latin typeface="Arial"/>
              <a:cs typeface="Arial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0600" y="1025652"/>
            <a:ext cx="8153400" cy="4117975"/>
            <a:chOff x="990600" y="1025652"/>
            <a:chExt cx="8153400" cy="41179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01896" y="1025652"/>
              <a:ext cx="3442715" cy="390296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04332" y="1478305"/>
              <a:ext cx="1107960" cy="23467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5823965" y="1541018"/>
              <a:ext cx="938530" cy="76200"/>
            </a:xfrm>
            <a:custGeom>
              <a:avLst/>
              <a:gdLst/>
              <a:ahLst/>
              <a:cxnLst/>
              <a:rect l="l" t="t" r="r" b="b"/>
              <a:pathLst>
                <a:path w="938529" h="76200">
                  <a:moveTo>
                    <a:pt x="76708" y="0"/>
                  </a:moveTo>
                  <a:lnTo>
                    <a:pt x="0" y="37084"/>
                  </a:lnTo>
                  <a:lnTo>
                    <a:pt x="75692" y="76200"/>
                  </a:lnTo>
                  <a:lnTo>
                    <a:pt x="76031" y="50705"/>
                  </a:lnTo>
                  <a:lnTo>
                    <a:pt x="63373" y="50546"/>
                  </a:lnTo>
                  <a:lnTo>
                    <a:pt x="63507" y="37084"/>
                  </a:lnTo>
                  <a:lnTo>
                    <a:pt x="63626" y="25146"/>
                  </a:lnTo>
                  <a:lnTo>
                    <a:pt x="76372" y="25146"/>
                  </a:lnTo>
                  <a:lnTo>
                    <a:pt x="76708" y="0"/>
                  </a:lnTo>
                  <a:close/>
                </a:path>
                <a:path w="938529" h="76200">
                  <a:moveTo>
                    <a:pt x="76370" y="25308"/>
                  </a:moveTo>
                  <a:lnTo>
                    <a:pt x="76034" y="50546"/>
                  </a:lnTo>
                  <a:lnTo>
                    <a:pt x="76031" y="50705"/>
                  </a:lnTo>
                  <a:lnTo>
                    <a:pt x="938022" y="61595"/>
                  </a:lnTo>
                  <a:lnTo>
                    <a:pt x="938268" y="37084"/>
                  </a:lnTo>
                  <a:lnTo>
                    <a:pt x="938276" y="36322"/>
                  </a:lnTo>
                  <a:lnTo>
                    <a:pt x="76370" y="25308"/>
                  </a:lnTo>
                  <a:close/>
                </a:path>
                <a:path w="938529" h="76200">
                  <a:moveTo>
                    <a:pt x="63626" y="25146"/>
                  </a:moveTo>
                  <a:lnTo>
                    <a:pt x="63373" y="50546"/>
                  </a:lnTo>
                  <a:lnTo>
                    <a:pt x="76031" y="50705"/>
                  </a:lnTo>
                  <a:lnTo>
                    <a:pt x="76370" y="25308"/>
                  </a:lnTo>
                  <a:lnTo>
                    <a:pt x="63626" y="25146"/>
                  </a:lnTo>
                  <a:close/>
                </a:path>
                <a:path w="938529" h="76200">
                  <a:moveTo>
                    <a:pt x="76372" y="25146"/>
                  </a:moveTo>
                  <a:lnTo>
                    <a:pt x="63626" y="25146"/>
                  </a:lnTo>
                  <a:lnTo>
                    <a:pt x="76370" y="25308"/>
                  </a:lnTo>
                  <a:lnTo>
                    <a:pt x="76372" y="25146"/>
                  </a:lnTo>
                  <a:close/>
                </a:path>
              </a:pathLst>
            </a:custGeom>
            <a:solidFill>
              <a:srgbClr val="9533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15811" y="3098317"/>
              <a:ext cx="1107960" cy="23467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6235446" y="3161030"/>
              <a:ext cx="938530" cy="76200"/>
            </a:xfrm>
            <a:custGeom>
              <a:avLst/>
              <a:gdLst/>
              <a:ahLst/>
              <a:cxnLst/>
              <a:rect l="l" t="t" r="r" b="b"/>
              <a:pathLst>
                <a:path w="938529" h="76200">
                  <a:moveTo>
                    <a:pt x="76707" y="0"/>
                  </a:moveTo>
                  <a:lnTo>
                    <a:pt x="0" y="37083"/>
                  </a:lnTo>
                  <a:lnTo>
                    <a:pt x="75691" y="76200"/>
                  </a:lnTo>
                  <a:lnTo>
                    <a:pt x="76031" y="50705"/>
                  </a:lnTo>
                  <a:lnTo>
                    <a:pt x="63373" y="50545"/>
                  </a:lnTo>
                  <a:lnTo>
                    <a:pt x="63507" y="37083"/>
                  </a:lnTo>
                  <a:lnTo>
                    <a:pt x="63626" y="25145"/>
                  </a:lnTo>
                  <a:lnTo>
                    <a:pt x="76372" y="25145"/>
                  </a:lnTo>
                  <a:lnTo>
                    <a:pt x="76707" y="0"/>
                  </a:lnTo>
                  <a:close/>
                </a:path>
                <a:path w="938529" h="76200">
                  <a:moveTo>
                    <a:pt x="76370" y="25308"/>
                  </a:moveTo>
                  <a:lnTo>
                    <a:pt x="76034" y="50545"/>
                  </a:lnTo>
                  <a:lnTo>
                    <a:pt x="76031" y="50705"/>
                  </a:lnTo>
                  <a:lnTo>
                    <a:pt x="938022" y="61594"/>
                  </a:lnTo>
                  <a:lnTo>
                    <a:pt x="938268" y="37083"/>
                  </a:lnTo>
                  <a:lnTo>
                    <a:pt x="938276" y="36321"/>
                  </a:lnTo>
                  <a:lnTo>
                    <a:pt x="76370" y="25308"/>
                  </a:lnTo>
                  <a:close/>
                </a:path>
                <a:path w="938529" h="76200">
                  <a:moveTo>
                    <a:pt x="63626" y="25145"/>
                  </a:moveTo>
                  <a:lnTo>
                    <a:pt x="63373" y="50545"/>
                  </a:lnTo>
                  <a:lnTo>
                    <a:pt x="76031" y="50705"/>
                  </a:lnTo>
                  <a:lnTo>
                    <a:pt x="76370" y="25308"/>
                  </a:lnTo>
                  <a:lnTo>
                    <a:pt x="63626" y="25145"/>
                  </a:lnTo>
                  <a:close/>
                </a:path>
                <a:path w="938529" h="76200">
                  <a:moveTo>
                    <a:pt x="76372" y="25145"/>
                  </a:moveTo>
                  <a:lnTo>
                    <a:pt x="63626" y="25145"/>
                  </a:lnTo>
                  <a:lnTo>
                    <a:pt x="76370" y="25308"/>
                  </a:lnTo>
                  <a:lnTo>
                    <a:pt x="76372" y="25145"/>
                  </a:lnTo>
                  <a:close/>
                </a:path>
              </a:pathLst>
            </a:custGeom>
            <a:solidFill>
              <a:srgbClr val="9533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57800" y="2022373"/>
              <a:ext cx="1095743" cy="23467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5301107" y="2082800"/>
              <a:ext cx="938530" cy="76200"/>
            </a:xfrm>
            <a:custGeom>
              <a:avLst/>
              <a:gdLst/>
              <a:ahLst/>
              <a:cxnLst/>
              <a:rect l="l" t="t" r="r" b="b"/>
              <a:pathLst>
                <a:path w="938529" h="76200">
                  <a:moveTo>
                    <a:pt x="862583" y="0"/>
                  </a:moveTo>
                  <a:lnTo>
                    <a:pt x="862245" y="25367"/>
                  </a:lnTo>
                  <a:lnTo>
                    <a:pt x="874902" y="25526"/>
                  </a:lnTo>
                  <a:lnTo>
                    <a:pt x="874768" y="38988"/>
                  </a:lnTo>
                  <a:lnTo>
                    <a:pt x="874648" y="50926"/>
                  </a:lnTo>
                  <a:lnTo>
                    <a:pt x="861904" y="50926"/>
                  </a:lnTo>
                  <a:lnTo>
                    <a:pt x="861567" y="76200"/>
                  </a:lnTo>
                  <a:lnTo>
                    <a:pt x="913666" y="50926"/>
                  </a:lnTo>
                  <a:lnTo>
                    <a:pt x="874648" y="50926"/>
                  </a:lnTo>
                  <a:lnTo>
                    <a:pt x="861907" y="50766"/>
                  </a:lnTo>
                  <a:lnTo>
                    <a:pt x="913998" y="50766"/>
                  </a:lnTo>
                  <a:lnTo>
                    <a:pt x="938276" y="38988"/>
                  </a:lnTo>
                  <a:lnTo>
                    <a:pt x="862583" y="0"/>
                  </a:lnTo>
                  <a:close/>
                </a:path>
                <a:path w="938529" h="76200">
                  <a:moveTo>
                    <a:pt x="862245" y="25367"/>
                  </a:moveTo>
                  <a:lnTo>
                    <a:pt x="861907" y="50766"/>
                  </a:lnTo>
                  <a:lnTo>
                    <a:pt x="874648" y="50926"/>
                  </a:lnTo>
                  <a:lnTo>
                    <a:pt x="874902" y="25526"/>
                  </a:lnTo>
                  <a:lnTo>
                    <a:pt x="862245" y="25367"/>
                  </a:lnTo>
                  <a:close/>
                </a:path>
                <a:path w="938529" h="76200">
                  <a:moveTo>
                    <a:pt x="253" y="14477"/>
                  </a:moveTo>
                  <a:lnTo>
                    <a:pt x="8" y="38988"/>
                  </a:lnTo>
                  <a:lnTo>
                    <a:pt x="0" y="39877"/>
                  </a:lnTo>
                  <a:lnTo>
                    <a:pt x="861907" y="50766"/>
                  </a:lnTo>
                  <a:lnTo>
                    <a:pt x="862243" y="25526"/>
                  </a:lnTo>
                  <a:lnTo>
                    <a:pt x="862245" y="25367"/>
                  </a:lnTo>
                  <a:lnTo>
                    <a:pt x="253" y="14477"/>
                  </a:lnTo>
                  <a:close/>
                </a:path>
              </a:pathLst>
            </a:custGeom>
            <a:solidFill>
              <a:srgbClr val="9533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53228" y="2639593"/>
              <a:ext cx="1095743" cy="23467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296534" y="2700019"/>
              <a:ext cx="938530" cy="76200"/>
            </a:xfrm>
            <a:custGeom>
              <a:avLst/>
              <a:gdLst/>
              <a:ahLst/>
              <a:cxnLst/>
              <a:rect l="l" t="t" r="r" b="b"/>
              <a:pathLst>
                <a:path w="938529" h="76200">
                  <a:moveTo>
                    <a:pt x="862584" y="0"/>
                  </a:moveTo>
                  <a:lnTo>
                    <a:pt x="862245" y="25367"/>
                  </a:lnTo>
                  <a:lnTo>
                    <a:pt x="874902" y="25527"/>
                  </a:lnTo>
                  <a:lnTo>
                    <a:pt x="874768" y="38988"/>
                  </a:lnTo>
                  <a:lnTo>
                    <a:pt x="874649" y="50927"/>
                  </a:lnTo>
                  <a:lnTo>
                    <a:pt x="861904" y="50927"/>
                  </a:lnTo>
                  <a:lnTo>
                    <a:pt x="861567" y="76200"/>
                  </a:lnTo>
                  <a:lnTo>
                    <a:pt x="913666" y="50927"/>
                  </a:lnTo>
                  <a:lnTo>
                    <a:pt x="874649" y="50927"/>
                  </a:lnTo>
                  <a:lnTo>
                    <a:pt x="861907" y="50766"/>
                  </a:lnTo>
                  <a:lnTo>
                    <a:pt x="913998" y="50766"/>
                  </a:lnTo>
                  <a:lnTo>
                    <a:pt x="938276" y="38988"/>
                  </a:lnTo>
                  <a:lnTo>
                    <a:pt x="862584" y="0"/>
                  </a:lnTo>
                  <a:close/>
                </a:path>
                <a:path w="938529" h="76200">
                  <a:moveTo>
                    <a:pt x="862245" y="25367"/>
                  </a:moveTo>
                  <a:lnTo>
                    <a:pt x="861907" y="50766"/>
                  </a:lnTo>
                  <a:lnTo>
                    <a:pt x="874649" y="50927"/>
                  </a:lnTo>
                  <a:lnTo>
                    <a:pt x="874902" y="25527"/>
                  </a:lnTo>
                  <a:lnTo>
                    <a:pt x="862245" y="25367"/>
                  </a:lnTo>
                  <a:close/>
                </a:path>
                <a:path w="938529" h="76200">
                  <a:moveTo>
                    <a:pt x="253" y="14478"/>
                  </a:moveTo>
                  <a:lnTo>
                    <a:pt x="8" y="38988"/>
                  </a:lnTo>
                  <a:lnTo>
                    <a:pt x="0" y="39878"/>
                  </a:lnTo>
                  <a:lnTo>
                    <a:pt x="861907" y="50766"/>
                  </a:lnTo>
                  <a:lnTo>
                    <a:pt x="862243" y="25527"/>
                  </a:lnTo>
                  <a:lnTo>
                    <a:pt x="862245" y="25367"/>
                  </a:lnTo>
                  <a:lnTo>
                    <a:pt x="253" y="14478"/>
                  </a:lnTo>
                  <a:close/>
                </a:path>
              </a:pathLst>
            </a:custGeom>
            <a:solidFill>
              <a:srgbClr val="9533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183944" y="447243"/>
            <a:ext cx="129032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5" dirty="0"/>
              <a:t>Schedule</a:t>
            </a:r>
            <a:r>
              <a:rPr spc="-200" dirty="0"/>
              <a:t> </a:t>
            </a:r>
            <a:r>
              <a:rPr spc="-150" dirty="0"/>
              <a:t>4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06451" y="1172971"/>
            <a:ext cx="4058285" cy="1016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045" marR="55880" indent="-309880">
              <a:lnSpc>
                <a:spcPct val="100000"/>
              </a:lnSpc>
              <a:spcBef>
                <a:spcPts val="100"/>
              </a:spcBef>
              <a:buClr>
                <a:srgbClr val="FF8600"/>
              </a:buClr>
              <a:buSzPct val="129166"/>
              <a:buFont typeface="Cambria Math"/>
              <a:buChar char="◗"/>
              <a:tabLst>
                <a:tab pos="360045" algn="l"/>
              </a:tabLst>
            </a:pP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Let </a:t>
            </a:r>
            <a:r>
              <a:rPr sz="1200" i="1" spc="60" dirty="0">
                <a:solidFill>
                  <a:srgbClr val="212121"/>
                </a:solidFill>
                <a:latin typeface="Gill Sans MT"/>
                <a:cs typeface="Gill Sans MT"/>
              </a:rPr>
              <a:t>T</a:t>
            </a:r>
            <a:r>
              <a:rPr sz="1200" spc="89" baseline="-20833" dirty="0">
                <a:solidFill>
                  <a:srgbClr val="212121"/>
                </a:solidFill>
                <a:latin typeface="Gill Sans MT"/>
                <a:cs typeface="Gill Sans MT"/>
              </a:rPr>
              <a:t>1</a:t>
            </a:r>
            <a:r>
              <a:rPr sz="1200" spc="187" baseline="-20833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transfer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$50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from</a:t>
            </a:r>
            <a:r>
              <a:rPr sz="1200" spc="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135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i="1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to </a:t>
            </a:r>
            <a:r>
              <a:rPr sz="1200" i="1" spc="20" dirty="0">
                <a:solidFill>
                  <a:srgbClr val="212121"/>
                </a:solidFill>
                <a:latin typeface="Gill Sans MT"/>
                <a:cs typeface="Gill Sans MT"/>
              </a:rPr>
              <a:t>B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,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0" dirty="0">
                <a:solidFill>
                  <a:srgbClr val="212121"/>
                </a:solidFill>
                <a:latin typeface="Gill Sans MT"/>
                <a:cs typeface="Gill Sans MT"/>
              </a:rPr>
              <a:t>and</a:t>
            </a:r>
            <a:r>
              <a:rPr sz="12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60" dirty="0">
                <a:solidFill>
                  <a:srgbClr val="212121"/>
                </a:solidFill>
                <a:latin typeface="Gill Sans MT"/>
                <a:cs typeface="Gill Sans MT"/>
              </a:rPr>
              <a:t>T</a:t>
            </a:r>
            <a:r>
              <a:rPr sz="1200" spc="89" baseline="-20833" dirty="0">
                <a:solidFill>
                  <a:srgbClr val="212121"/>
                </a:solidFill>
                <a:latin typeface="Gill Sans MT"/>
                <a:cs typeface="Gill Sans MT"/>
              </a:rPr>
              <a:t>2</a:t>
            </a:r>
            <a:r>
              <a:rPr sz="1200" spc="179" baseline="-20833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transfer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10%</a:t>
            </a:r>
            <a:r>
              <a:rPr sz="12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35" dirty="0">
                <a:solidFill>
                  <a:srgbClr val="212121"/>
                </a:solidFill>
                <a:latin typeface="Gill Sans MT"/>
                <a:cs typeface="Gill Sans MT"/>
              </a:rPr>
              <a:t>of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the</a:t>
            </a:r>
            <a:r>
              <a:rPr sz="1200" spc="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0" dirty="0">
                <a:solidFill>
                  <a:srgbClr val="212121"/>
                </a:solidFill>
                <a:latin typeface="Gill Sans MT"/>
                <a:cs typeface="Gill Sans MT"/>
              </a:rPr>
              <a:t>balance</a:t>
            </a:r>
            <a:r>
              <a:rPr sz="1200" spc="4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from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135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i="1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to</a:t>
            </a:r>
            <a:r>
              <a:rPr sz="1200" spc="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65" dirty="0">
                <a:solidFill>
                  <a:srgbClr val="212121"/>
                </a:solidFill>
                <a:latin typeface="Gill Sans MT"/>
                <a:cs typeface="Gill Sans MT"/>
              </a:rPr>
              <a:t>B.</a:t>
            </a:r>
            <a:endParaRPr sz="1200">
              <a:latin typeface="Gill Sans MT"/>
              <a:cs typeface="Gill Sans MT"/>
            </a:endParaRPr>
          </a:p>
          <a:p>
            <a:pPr marL="360045" indent="-309880">
              <a:lnSpc>
                <a:spcPct val="100000"/>
              </a:lnSpc>
              <a:spcBef>
                <a:spcPts val="600"/>
              </a:spcBef>
              <a:buClr>
                <a:srgbClr val="FF8600"/>
              </a:buClr>
              <a:buSzPct val="129166"/>
              <a:buFont typeface="Cambria Math"/>
              <a:buChar char="◗"/>
              <a:tabLst>
                <a:tab pos="360045" algn="l"/>
              </a:tabLst>
            </a:pP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Initial</a:t>
            </a:r>
            <a:r>
              <a:rPr sz="1200" spc="2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balance:</a:t>
            </a:r>
            <a:endParaRPr sz="1200">
              <a:latin typeface="Gill Sans MT"/>
              <a:cs typeface="Gill Sans MT"/>
            </a:endParaRPr>
          </a:p>
          <a:p>
            <a:pPr marL="360045">
              <a:lnSpc>
                <a:spcPct val="100000"/>
              </a:lnSpc>
            </a:pP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spc="-4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=</a:t>
            </a:r>
            <a:r>
              <a:rPr sz="1200" spc="-5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1000$</a:t>
            </a:r>
            <a:r>
              <a:rPr sz="1200" spc="-4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and</a:t>
            </a:r>
            <a:endParaRPr sz="1200">
              <a:latin typeface="Gill Sans MT"/>
              <a:cs typeface="Gill Sans MT"/>
            </a:endParaRPr>
          </a:p>
          <a:p>
            <a:pPr marL="360045">
              <a:lnSpc>
                <a:spcPct val="100000"/>
              </a:lnSpc>
            </a:pP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B</a:t>
            </a:r>
            <a:r>
              <a:rPr sz="1200" spc="-6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=</a:t>
            </a:r>
            <a:r>
              <a:rPr sz="1200" spc="-4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35" dirty="0">
                <a:solidFill>
                  <a:srgbClr val="212121"/>
                </a:solidFill>
                <a:latin typeface="Gill Sans MT"/>
                <a:cs typeface="Gill Sans MT"/>
              </a:rPr>
              <a:t>2000$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4551" y="2462529"/>
            <a:ext cx="3919220" cy="373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1945" indent="-309245">
              <a:lnSpc>
                <a:spcPts val="1370"/>
              </a:lnSpc>
              <a:spcBef>
                <a:spcPts val="100"/>
              </a:spcBef>
              <a:buClr>
                <a:srgbClr val="FF8600"/>
              </a:buClr>
              <a:buSzPct val="129166"/>
              <a:buFont typeface="Cambria Math"/>
              <a:buChar char="◗"/>
              <a:tabLst>
                <a:tab pos="321945" algn="l"/>
              </a:tabLst>
            </a:pP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The</a:t>
            </a:r>
            <a:r>
              <a:rPr sz="1200" spc="4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following</a:t>
            </a:r>
            <a:r>
              <a:rPr sz="1200" spc="4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concurrent</a:t>
            </a:r>
            <a:r>
              <a:rPr sz="1200" spc="3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schedule </a:t>
            </a:r>
            <a:r>
              <a:rPr sz="1200" spc="70" dirty="0">
                <a:solidFill>
                  <a:srgbClr val="212121"/>
                </a:solidFill>
                <a:latin typeface="Gill Sans MT"/>
                <a:cs typeface="Gill Sans MT"/>
              </a:rPr>
              <a:t>does</a:t>
            </a:r>
            <a:r>
              <a:rPr sz="1200" spc="7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not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preserve</a:t>
            </a:r>
            <a:endParaRPr sz="1200">
              <a:latin typeface="Gill Sans MT"/>
              <a:cs typeface="Gill Sans MT"/>
            </a:endParaRPr>
          </a:p>
          <a:p>
            <a:pPr marL="321945">
              <a:lnSpc>
                <a:spcPts val="1370"/>
              </a:lnSpc>
            </a:pP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the</a:t>
            </a:r>
            <a:r>
              <a:rPr sz="1200" spc="-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10" dirty="0">
                <a:solidFill>
                  <a:srgbClr val="212121"/>
                </a:solidFill>
                <a:latin typeface="Gill Sans MT"/>
                <a:cs typeface="Gill Sans MT"/>
              </a:rPr>
              <a:t>sum</a:t>
            </a:r>
            <a:r>
              <a:rPr sz="1200" spc="29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of</a:t>
            </a:r>
            <a:r>
              <a:rPr sz="1200" spc="3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“</a:t>
            </a:r>
            <a:r>
              <a:rPr sz="1200" i="1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i="1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+</a:t>
            </a:r>
            <a:r>
              <a:rPr sz="1200" spc="-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-25" dirty="0">
                <a:solidFill>
                  <a:srgbClr val="212121"/>
                </a:solidFill>
                <a:latin typeface="Gill Sans MT"/>
                <a:cs typeface="Gill Sans MT"/>
              </a:rPr>
              <a:t>B</a:t>
            </a:r>
            <a:r>
              <a:rPr sz="1200" spc="-25" dirty="0">
                <a:solidFill>
                  <a:srgbClr val="212121"/>
                </a:solidFill>
                <a:latin typeface="Gill Sans MT"/>
                <a:cs typeface="Gill Sans MT"/>
              </a:rPr>
              <a:t>”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5" dirty="0">
                <a:solidFill>
                  <a:srgbClr val="FFFFFF"/>
                </a:solidFill>
                <a:latin typeface="Gill Sans MT"/>
                <a:cs typeface="Gill Sans MT"/>
              </a:rPr>
              <a:t>15</a:t>
            </a:r>
            <a:endParaRPr sz="1300">
              <a:latin typeface="Gill Sans MT"/>
              <a:cs typeface="Gill Sans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761226" y="1434846"/>
            <a:ext cx="939165" cy="273050"/>
          </a:xfrm>
          <a:prstGeom prst="rect">
            <a:avLst/>
          </a:prstGeom>
          <a:solidFill>
            <a:srgbClr val="CCCCCC"/>
          </a:solidFill>
          <a:ln w="25400">
            <a:solidFill>
              <a:srgbClr val="FFFFFF"/>
            </a:solidFill>
          </a:ln>
        </p:spPr>
        <p:txBody>
          <a:bodyPr vert="horz" wrap="square" lIns="0" tIns="24130" rIns="0" bIns="0" rtlCol="0">
            <a:spAutoFit/>
          </a:bodyPr>
          <a:lstStyle/>
          <a:p>
            <a:pPr marL="270510">
              <a:lnSpc>
                <a:spcPct val="100000"/>
              </a:lnSpc>
              <a:spcBef>
                <a:spcPts val="190"/>
              </a:spcBef>
            </a:pPr>
            <a:r>
              <a:rPr sz="1400" b="1" spc="-20" dirty="0">
                <a:latin typeface="Arial"/>
                <a:cs typeface="Arial"/>
              </a:rPr>
              <a:t>1000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354321" y="1961642"/>
            <a:ext cx="3856990" cy="1369695"/>
            <a:chOff x="4354321" y="1961642"/>
            <a:chExt cx="3856990" cy="1369695"/>
          </a:xfrm>
        </p:grpSpPr>
        <p:sp>
          <p:nvSpPr>
            <p:cNvPr id="18" name="object 18"/>
            <p:cNvSpPr/>
            <p:nvPr/>
          </p:nvSpPr>
          <p:spPr>
            <a:xfrm>
              <a:off x="7259573" y="3060954"/>
              <a:ext cx="939165" cy="257810"/>
            </a:xfrm>
            <a:custGeom>
              <a:avLst/>
              <a:gdLst/>
              <a:ahLst/>
              <a:cxnLst/>
              <a:rect l="l" t="t" r="r" b="b"/>
              <a:pathLst>
                <a:path w="939165" h="257810">
                  <a:moveTo>
                    <a:pt x="938783" y="0"/>
                  </a:moveTo>
                  <a:lnTo>
                    <a:pt x="0" y="0"/>
                  </a:lnTo>
                  <a:lnTo>
                    <a:pt x="0" y="257556"/>
                  </a:lnTo>
                  <a:lnTo>
                    <a:pt x="938783" y="257556"/>
                  </a:lnTo>
                  <a:lnTo>
                    <a:pt x="938783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259573" y="3060954"/>
              <a:ext cx="939165" cy="257810"/>
            </a:xfrm>
            <a:custGeom>
              <a:avLst/>
              <a:gdLst/>
              <a:ahLst/>
              <a:cxnLst/>
              <a:rect l="l" t="t" r="r" b="b"/>
              <a:pathLst>
                <a:path w="939165" h="257810">
                  <a:moveTo>
                    <a:pt x="0" y="257556"/>
                  </a:moveTo>
                  <a:lnTo>
                    <a:pt x="938783" y="257556"/>
                  </a:lnTo>
                  <a:lnTo>
                    <a:pt x="938783" y="0"/>
                  </a:lnTo>
                  <a:lnTo>
                    <a:pt x="0" y="0"/>
                  </a:lnTo>
                  <a:lnTo>
                    <a:pt x="0" y="257556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367021" y="1974342"/>
              <a:ext cx="939165" cy="273050"/>
            </a:xfrm>
            <a:custGeom>
              <a:avLst/>
              <a:gdLst/>
              <a:ahLst/>
              <a:cxnLst/>
              <a:rect l="l" t="t" r="r" b="b"/>
              <a:pathLst>
                <a:path w="939164" h="273050">
                  <a:moveTo>
                    <a:pt x="938784" y="0"/>
                  </a:moveTo>
                  <a:lnTo>
                    <a:pt x="0" y="0"/>
                  </a:lnTo>
                  <a:lnTo>
                    <a:pt x="0" y="272795"/>
                  </a:lnTo>
                  <a:lnTo>
                    <a:pt x="938784" y="272795"/>
                  </a:lnTo>
                  <a:lnTo>
                    <a:pt x="938784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367021" y="1974342"/>
              <a:ext cx="939165" cy="273050"/>
            </a:xfrm>
            <a:custGeom>
              <a:avLst/>
              <a:gdLst/>
              <a:ahLst/>
              <a:cxnLst/>
              <a:rect l="l" t="t" r="r" b="b"/>
              <a:pathLst>
                <a:path w="939164" h="273050">
                  <a:moveTo>
                    <a:pt x="0" y="272795"/>
                  </a:moveTo>
                  <a:lnTo>
                    <a:pt x="938784" y="272795"/>
                  </a:lnTo>
                  <a:lnTo>
                    <a:pt x="938784" y="0"/>
                  </a:lnTo>
                  <a:lnTo>
                    <a:pt x="0" y="0"/>
                  </a:lnTo>
                  <a:lnTo>
                    <a:pt x="0" y="272795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367021" y="1974342"/>
            <a:ext cx="939165" cy="27305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marL="270510">
              <a:lnSpc>
                <a:spcPct val="100000"/>
              </a:lnSpc>
              <a:spcBef>
                <a:spcPts val="185"/>
              </a:spcBef>
            </a:pPr>
            <a:r>
              <a:rPr sz="1400" b="1" spc="-20" dirty="0">
                <a:latin typeface="Arial"/>
                <a:cs typeface="Arial"/>
              </a:rPr>
              <a:t>1000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342129" y="2578861"/>
            <a:ext cx="962660" cy="298450"/>
            <a:chOff x="4342129" y="2578861"/>
            <a:chExt cx="962660" cy="298450"/>
          </a:xfrm>
        </p:grpSpPr>
        <p:sp>
          <p:nvSpPr>
            <p:cNvPr id="24" name="object 24"/>
            <p:cNvSpPr/>
            <p:nvPr/>
          </p:nvSpPr>
          <p:spPr>
            <a:xfrm>
              <a:off x="4354829" y="2591561"/>
              <a:ext cx="937260" cy="273050"/>
            </a:xfrm>
            <a:custGeom>
              <a:avLst/>
              <a:gdLst/>
              <a:ahLst/>
              <a:cxnLst/>
              <a:rect l="l" t="t" r="r" b="b"/>
              <a:pathLst>
                <a:path w="937260" h="273050">
                  <a:moveTo>
                    <a:pt x="937260" y="0"/>
                  </a:moveTo>
                  <a:lnTo>
                    <a:pt x="0" y="0"/>
                  </a:lnTo>
                  <a:lnTo>
                    <a:pt x="0" y="272795"/>
                  </a:lnTo>
                  <a:lnTo>
                    <a:pt x="937260" y="272795"/>
                  </a:lnTo>
                  <a:lnTo>
                    <a:pt x="93726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354829" y="2591561"/>
              <a:ext cx="937260" cy="273050"/>
            </a:xfrm>
            <a:custGeom>
              <a:avLst/>
              <a:gdLst/>
              <a:ahLst/>
              <a:cxnLst/>
              <a:rect l="l" t="t" r="r" b="b"/>
              <a:pathLst>
                <a:path w="937260" h="273050">
                  <a:moveTo>
                    <a:pt x="0" y="272795"/>
                  </a:moveTo>
                  <a:lnTo>
                    <a:pt x="937260" y="272795"/>
                  </a:lnTo>
                  <a:lnTo>
                    <a:pt x="937260" y="0"/>
                  </a:lnTo>
                  <a:lnTo>
                    <a:pt x="0" y="0"/>
                  </a:lnTo>
                  <a:lnTo>
                    <a:pt x="0" y="272795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354829" y="2591561"/>
            <a:ext cx="937260" cy="273050"/>
          </a:xfrm>
          <a:prstGeom prst="rect">
            <a:avLst/>
          </a:prstGeom>
        </p:spPr>
        <p:txBody>
          <a:bodyPr vert="horz" wrap="square" lIns="0" tIns="234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sz="1400" b="1" spc="-25" dirty="0">
                <a:latin typeface="Arial"/>
                <a:cs typeface="Arial"/>
              </a:rPr>
              <a:t>900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337558" y="4407661"/>
            <a:ext cx="2007235" cy="298450"/>
            <a:chOff x="4337558" y="4407661"/>
            <a:chExt cx="2007235" cy="298450"/>
          </a:xfrm>
        </p:grpSpPr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48656" y="4469891"/>
              <a:ext cx="1095743" cy="23467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5291963" y="4530331"/>
              <a:ext cx="938530" cy="76200"/>
            </a:xfrm>
            <a:custGeom>
              <a:avLst/>
              <a:gdLst/>
              <a:ahLst/>
              <a:cxnLst/>
              <a:rect l="l" t="t" r="r" b="b"/>
              <a:pathLst>
                <a:path w="938529" h="76200">
                  <a:moveTo>
                    <a:pt x="862584" y="0"/>
                  </a:moveTo>
                  <a:lnTo>
                    <a:pt x="862245" y="25404"/>
                  </a:lnTo>
                  <a:lnTo>
                    <a:pt x="874902" y="25565"/>
                  </a:lnTo>
                  <a:lnTo>
                    <a:pt x="874767" y="39065"/>
                  </a:lnTo>
                  <a:lnTo>
                    <a:pt x="874649" y="50965"/>
                  </a:lnTo>
                  <a:lnTo>
                    <a:pt x="861904" y="50965"/>
                  </a:lnTo>
                  <a:lnTo>
                    <a:pt x="861567" y="76200"/>
                  </a:lnTo>
                  <a:lnTo>
                    <a:pt x="913694" y="50965"/>
                  </a:lnTo>
                  <a:lnTo>
                    <a:pt x="874649" y="50965"/>
                  </a:lnTo>
                  <a:lnTo>
                    <a:pt x="861906" y="50803"/>
                  </a:lnTo>
                  <a:lnTo>
                    <a:pt x="914028" y="50803"/>
                  </a:lnTo>
                  <a:lnTo>
                    <a:pt x="938276" y="39065"/>
                  </a:lnTo>
                  <a:lnTo>
                    <a:pt x="862584" y="0"/>
                  </a:lnTo>
                  <a:close/>
                </a:path>
                <a:path w="938529" h="76200">
                  <a:moveTo>
                    <a:pt x="862245" y="25404"/>
                  </a:moveTo>
                  <a:lnTo>
                    <a:pt x="861906" y="50803"/>
                  </a:lnTo>
                  <a:lnTo>
                    <a:pt x="874649" y="50965"/>
                  </a:lnTo>
                  <a:lnTo>
                    <a:pt x="874902" y="25565"/>
                  </a:lnTo>
                  <a:lnTo>
                    <a:pt x="862245" y="25404"/>
                  </a:lnTo>
                  <a:close/>
                </a:path>
                <a:path w="938529" h="76200">
                  <a:moveTo>
                    <a:pt x="253" y="14490"/>
                  </a:moveTo>
                  <a:lnTo>
                    <a:pt x="8" y="39065"/>
                  </a:lnTo>
                  <a:lnTo>
                    <a:pt x="0" y="39890"/>
                  </a:lnTo>
                  <a:lnTo>
                    <a:pt x="861906" y="50803"/>
                  </a:lnTo>
                  <a:lnTo>
                    <a:pt x="862243" y="25565"/>
                  </a:lnTo>
                  <a:lnTo>
                    <a:pt x="862245" y="25404"/>
                  </a:lnTo>
                  <a:lnTo>
                    <a:pt x="253" y="14490"/>
                  </a:lnTo>
                  <a:close/>
                </a:path>
              </a:pathLst>
            </a:custGeom>
            <a:solidFill>
              <a:srgbClr val="9533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350258" y="4420361"/>
              <a:ext cx="937260" cy="273050"/>
            </a:xfrm>
            <a:custGeom>
              <a:avLst/>
              <a:gdLst/>
              <a:ahLst/>
              <a:cxnLst/>
              <a:rect l="l" t="t" r="r" b="b"/>
              <a:pathLst>
                <a:path w="937260" h="273050">
                  <a:moveTo>
                    <a:pt x="937260" y="0"/>
                  </a:moveTo>
                  <a:lnTo>
                    <a:pt x="0" y="0"/>
                  </a:lnTo>
                  <a:lnTo>
                    <a:pt x="0" y="272795"/>
                  </a:lnTo>
                  <a:lnTo>
                    <a:pt x="937260" y="272795"/>
                  </a:lnTo>
                  <a:lnTo>
                    <a:pt x="937260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350258" y="4420361"/>
              <a:ext cx="937260" cy="273050"/>
            </a:xfrm>
            <a:custGeom>
              <a:avLst/>
              <a:gdLst/>
              <a:ahLst/>
              <a:cxnLst/>
              <a:rect l="l" t="t" r="r" b="b"/>
              <a:pathLst>
                <a:path w="937260" h="273050">
                  <a:moveTo>
                    <a:pt x="0" y="272795"/>
                  </a:moveTo>
                  <a:lnTo>
                    <a:pt x="937260" y="272795"/>
                  </a:lnTo>
                  <a:lnTo>
                    <a:pt x="937260" y="0"/>
                  </a:lnTo>
                  <a:lnTo>
                    <a:pt x="0" y="0"/>
                  </a:lnTo>
                  <a:lnTo>
                    <a:pt x="0" y="272795"/>
                  </a:lnTo>
                  <a:close/>
                </a:path>
              </a:pathLst>
            </a:custGeom>
            <a:ln w="253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350258" y="4420361"/>
            <a:ext cx="937260" cy="27305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269875">
              <a:lnSpc>
                <a:spcPct val="100000"/>
              </a:lnSpc>
              <a:spcBef>
                <a:spcPts val="195"/>
              </a:spcBef>
            </a:pPr>
            <a:r>
              <a:rPr sz="1400" b="1" spc="-20" dirty="0">
                <a:latin typeface="Arial"/>
                <a:cs typeface="Arial"/>
              </a:rPr>
              <a:t>2100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115811" y="3295141"/>
            <a:ext cx="2095500" cy="285115"/>
            <a:chOff x="6115811" y="3295141"/>
            <a:chExt cx="2095500" cy="285115"/>
          </a:xfrm>
        </p:grpSpPr>
        <p:pic>
          <p:nvPicPr>
            <p:cNvPr id="34" name="object 3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15811" y="3345205"/>
              <a:ext cx="1107960" cy="23467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235445" y="3407917"/>
              <a:ext cx="938530" cy="76200"/>
            </a:xfrm>
            <a:custGeom>
              <a:avLst/>
              <a:gdLst/>
              <a:ahLst/>
              <a:cxnLst/>
              <a:rect l="l" t="t" r="r" b="b"/>
              <a:pathLst>
                <a:path w="938529" h="76200">
                  <a:moveTo>
                    <a:pt x="76707" y="0"/>
                  </a:moveTo>
                  <a:lnTo>
                    <a:pt x="0" y="37083"/>
                  </a:lnTo>
                  <a:lnTo>
                    <a:pt x="75691" y="76199"/>
                  </a:lnTo>
                  <a:lnTo>
                    <a:pt x="76031" y="50705"/>
                  </a:lnTo>
                  <a:lnTo>
                    <a:pt x="63373" y="50545"/>
                  </a:lnTo>
                  <a:lnTo>
                    <a:pt x="63507" y="37083"/>
                  </a:lnTo>
                  <a:lnTo>
                    <a:pt x="63626" y="25145"/>
                  </a:lnTo>
                  <a:lnTo>
                    <a:pt x="76372" y="25145"/>
                  </a:lnTo>
                  <a:lnTo>
                    <a:pt x="76707" y="0"/>
                  </a:lnTo>
                  <a:close/>
                </a:path>
                <a:path w="938529" h="76200">
                  <a:moveTo>
                    <a:pt x="76370" y="25308"/>
                  </a:moveTo>
                  <a:lnTo>
                    <a:pt x="76034" y="50545"/>
                  </a:lnTo>
                  <a:lnTo>
                    <a:pt x="76031" y="50705"/>
                  </a:lnTo>
                  <a:lnTo>
                    <a:pt x="938022" y="61594"/>
                  </a:lnTo>
                  <a:lnTo>
                    <a:pt x="938268" y="37083"/>
                  </a:lnTo>
                  <a:lnTo>
                    <a:pt x="938276" y="36321"/>
                  </a:lnTo>
                  <a:lnTo>
                    <a:pt x="76370" y="25308"/>
                  </a:lnTo>
                  <a:close/>
                </a:path>
                <a:path w="938529" h="76200">
                  <a:moveTo>
                    <a:pt x="63626" y="25145"/>
                  </a:moveTo>
                  <a:lnTo>
                    <a:pt x="63373" y="50545"/>
                  </a:lnTo>
                  <a:lnTo>
                    <a:pt x="76031" y="50705"/>
                  </a:lnTo>
                  <a:lnTo>
                    <a:pt x="76370" y="25308"/>
                  </a:lnTo>
                  <a:lnTo>
                    <a:pt x="63626" y="25145"/>
                  </a:lnTo>
                  <a:close/>
                </a:path>
                <a:path w="938529" h="76200">
                  <a:moveTo>
                    <a:pt x="76372" y="25145"/>
                  </a:moveTo>
                  <a:lnTo>
                    <a:pt x="63626" y="25145"/>
                  </a:lnTo>
                  <a:lnTo>
                    <a:pt x="76370" y="25308"/>
                  </a:lnTo>
                  <a:lnTo>
                    <a:pt x="76372" y="25145"/>
                  </a:lnTo>
                  <a:close/>
                </a:path>
              </a:pathLst>
            </a:custGeom>
            <a:solidFill>
              <a:srgbClr val="9533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259573" y="3307841"/>
              <a:ext cx="939165" cy="257810"/>
            </a:xfrm>
            <a:custGeom>
              <a:avLst/>
              <a:gdLst/>
              <a:ahLst/>
              <a:cxnLst/>
              <a:rect l="l" t="t" r="r" b="b"/>
              <a:pathLst>
                <a:path w="939165" h="257810">
                  <a:moveTo>
                    <a:pt x="938783" y="0"/>
                  </a:moveTo>
                  <a:lnTo>
                    <a:pt x="0" y="0"/>
                  </a:lnTo>
                  <a:lnTo>
                    <a:pt x="0" y="257556"/>
                  </a:lnTo>
                  <a:lnTo>
                    <a:pt x="938783" y="257556"/>
                  </a:lnTo>
                  <a:lnTo>
                    <a:pt x="938783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7259573" y="3307841"/>
              <a:ext cx="939165" cy="257810"/>
            </a:xfrm>
            <a:custGeom>
              <a:avLst/>
              <a:gdLst/>
              <a:ahLst/>
              <a:cxnLst/>
              <a:rect l="l" t="t" r="r" b="b"/>
              <a:pathLst>
                <a:path w="939165" h="257810">
                  <a:moveTo>
                    <a:pt x="0" y="257556"/>
                  </a:moveTo>
                  <a:lnTo>
                    <a:pt x="938783" y="257556"/>
                  </a:lnTo>
                  <a:lnTo>
                    <a:pt x="938783" y="0"/>
                  </a:lnTo>
                  <a:lnTo>
                    <a:pt x="0" y="0"/>
                  </a:lnTo>
                  <a:lnTo>
                    <a:pt x="0" y="257556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7259573" y="3060954"/>
            <a:ext cx="939165" cy="5048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130"/>
              </a:spcBef>
            </a:pPr>
            <a:r>
              <a:rPr sz="1400" b="1" spc="-25" dirty="0">
                <a:latin typeface="Arial"/>
                <a:cs typeface="Arial"/>
              </a:rPr>
              <a:t>950</a:t>
            </a:r>
            <a:endParaRPr sz="1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60"/>
              </a:spcBef>
            </a:pPr>
            <a:r>
              <a:rPr sz="1400" b="1" spc="-20" dirty="0">
                <a:latin typeface="Arial"/>
                <a:cs typeface="Arial"/>
              </a:rPr>
              <a:t>2000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115811" y="3770629"/>
            <a:ext cx="2095500" cy="285115"/>
            <a:chOff x="6115811" y="3770629"/>
            <a:chExt cx="2095500" cy="285115"/>
          </a:xfrm>
        </p:grpSpPr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15811" y="3820667"/>
              <a:ext cx="1107960" cy="23467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235445" y="3883355"/>
              <a:ext cx="938530" cy="76200"/>
            </a:xfrm>
            <a:custGeom>
              <a:avLst/>
              <a:gdLst/>
              <a:ahLst/>
              <a:cxnLst/>
              <a:rect l="l" t="t" r="r" b="b"/>
              <a:pathLst>
                <a:path w="938529" h="76200">
                  <a:moveTo>
                    <a:pt x="76707" y="0"/>
                  </a:moveTo>
                  <a:lnTo>
                    <a:pt x="0" y="37134"/>
                  </a:lnTo>
                  <a:lnTo>
                    <a:pt x="75691" y="76199"/>
                  </a:lnTo>
                  <a:lnTo>
                    <a:pt x="76030" y="50795"/>
                  </a:lnTo>
                  <a:lnTo>
                    <a:pt x="63373" y="50634"/>
                  </a:lnTo>
                  <a:lnTo>
                    <a:pt x="63508" y="37134"/>
                  </a:lnTo>
                  <a:lnTo>
                    <a:pt x="63626" y="25234"/>
                  </a:lnTo>
                  <a:lnTo>
                    <a:pt x="76371" y="25234"/>
                  </a:lnTo>
                  <a:lnTo>
                    <a:pt x="76707" y="0"/>
                  </a:lnTo>
                  <a:close/>
                </a:path>
                <a:path w="938529" h="76200">
                  <a:moveTo>
                    <a:pt x="76369" y="25396"/>
                  </a:moveTo>
                  <a:lnTo>
                    <a:pt x="76032" y="50634"/>
                  </a:lnTo>
                  <a:lnTo>
                    <a:pt x="76030" y="50795"/>
                  </a:lnTo>
                  <a:lnTo>
                    <a:pt x="938022" y="61709"/>
                  </a:lnTo>
                  <a:lnTo>
                    <a:pt x="938267" y="37134"/>
                  </a:lnTo>
                  <a:lnTo>
                    <a:pt x="938276" y="36309"/>
                  </a:lnTo>
                  <a:lnTo>
                    <a:pt x="76369" y="25396"/>
                  </a:lnTo>
                  <a:close/>
                </a:path>
                <a:path w="938529" h="76200">
                  <a:moveTo>
                    <a:pt x="63626" y="25234"/>
                  </a:moveTo>
                  <a:lnTo>
                    <a:pt x="63373" y="50634"/>
                  </a:lnTo>
                  <a:lnTo>
                    <a:pt x="76030" y="50795"/>
                  </a:lnTo>
                  <a:lnTo>
                    <a:pt x="76369" y="25396"/>
                  </a:lnTo>
                  <a:lnTo>
                    <a:pt x="63626" y="25234"/>
                  </a:lnTo>
                  <a:close/>
                </a:path>
                <a:path w="938529" h="76200">
                  <a:moveTo>
                    <a:pt x="76371" y="25234"/>
                  </a:moveTo>
                  <a:lnTo>
                    <a:pt x="63626" y="25234"/>
                  </a:lnTo>
                  <a:lnTo>
                    <a:pt x="76369" y="25396"/>
                  </a:lnTo>
                  <a:lnTo>
                    <a:pt x="76371" y="25234"/>
                  </a:lnTo>
                  <a:close/>
                </a:path>
              </a:pathLst>
            </a:custGeom>
            <a:solidFill>
              <a:srgbClr val="95333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259573" y="3783329"/>
              <a:ext cx="939165" cy="257810"/>
            </a:xfrm>
            <a:custGeom>
              <a:avLst/>
              <a:gdLst/>
              <a:ahLst/>
              <a:cxnLst/>
              <a:rect l="l" t="t" r="r" b="b"/>
              <a:pathLst>
                <a:path w="939165" h="257810">
                  <a:moveTo>
                    <a:pt x="938783" y="0"/>
                  </a:moveTo>
                  <a:lnTo>
                    <a:pt x="0" y="0"/>
                  </a:lnTo>
                  <a:lnTo>
                    <a:pt x="0" y="257556"/>
                  </a:lnTo>
                  <a:lnTo>
                    <a:pt x="938783" y="257556"/>
                  </a:lnTo>
                  <a:lnTo>
                    <a:pt x="938783" y="0"/>
                  </a:lnTo>
                  <a:close/>
                </a:path>
              </a:pathLst>
            </a:custGeom>
            <a:solidFill>
              <a:srgbClr val="CCCC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7259573" y="3783329"/>
              <a:ext cx="939165" cy="257810"/>
            </a:xfrm>
            <a:custGeom>
              <a:avLst/>
              <a:gdLst/>
              <a:ahLst/>
              <a:cxnLst/>
              <a:rect l="l" t="t" r="r" b="b"/>
              <a:pathLst>
                <a:path w="939165" h="257810">
                  <a:moveTo>
                    <a:pt x="0" y="257556"/>
                  </a:moveTo>
                  <a:lnTo>
                    <a:pt x="938783" y="257556"/>
                  </a:lnTo>
                  <a:lnTo>
                    <a:pt x="938783" y="0"/>
                  </a:lnTo>
                  <a:lnTo>
                    <a:pt x="0" y="0"/>
                  </a:lnTo>
                  <a:lnTo>
                    <a:pt x="0" y="257556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7259573" y="3783329"/>
            <a:ext cx="939165" cy="2578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70510">
              <a:lnSpc>
                <a:spcPct val="100000"/>
              </a:lnSpc>
              <a:spcBef>
                <a:spcPts val="135"/>
              </a:spcBef>
            </a:pPr>
            <a:r>
              <a:rPr sz="1400" b="1" spc="-20" dirty="0">
                <a:latin typeface="Arial"/>
                <a:cs typeface="Arial"/>
              </a:rPr>
              <a:t>2050</a:t>
            </a:r>
            <a:endParaRPr sz="1400">
              <a:latin typeface="Arial"/>
              <a:cs typeface="Arial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2722D92-DBB5-1018-908B-45044BFF7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0734" y="447243"/>
            <a:ext cx="3725951" cy="369332"/>
          </a:xfrm>
        </p:spPr>
        <p:txBody>
          <a:bodyPr/>
          <a:lstStyle/>
          <a:p>
            <a:r>
              <a:rPr lang="en-US" dirty="0"/>
              <a:t>Classic Problems	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2945081F-E2DD-0A3E-1BFC-0BAC148E6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708" y="1172971"/>
            <a:ext cx="8466292" cy="1231106"/>
          </a:xfrm>
        </p:spPr>
        <p:txBody>
          <a:bodyPr/>
          <a:lstStyle/>
          <a:p>
            <a:r>
              <a:rPr lang="en-US" sz="1600" b="1" dirty="0">
                <a:latin typeface="+mj-lt"/>
              </a:rPr>
              <a:t>Classic problems</a:t>
            </a:r>
            <a:r>
              <a:rPr lang="en-US" sz="1600" dirty="0">
                <a:latin typeface="+mj-lt"/>
              </a:rPr>
              <a:t> are </a:t>
            </a:r>
            <a:r>
              <a:rPr lang="en-US" sz="1600" b="1" dirty="0">
                <a:latin typeface="+mj-lt"/>
              </a:rPr>
              <a:t>undesired situations</a:t>
            </a:r>
            <a:r>
              <a:rPr lang="en-US" sz="1600" dirty="0">
                <a:latin typeface="+mj-lt"/>
              </a:rPr>
              <a:t> that occur due to </a:t>
            </a:r>
            <a:r>
              <a:rPr lang="en-US" sz="1600" b="1" dirty="0">
                <a:latin typeface="+mj-lt"/>
              </a:rPr>
              <a:t>concurrent execution</a:t>
            </a:r>
            <a:r>
              <a:rPr lang="en-US" sz="1600" dirty="0">
                <a:latin typeface="+mj-lt"/>
              </a:rPr>
              <a:t> of transactions.</a:t>
            </a:r>
          </a:p>
          <a:p>
            <a:r>
              <a:rPr lang="en-US" sz="1600" dirty="0">
                <a:latin typeface="+mj-lt"/>
              </a:rPr>
              <a:t>Three classic problems are:</a:t>
            </a:r>
          </a:p>
          <a:p>
            <a:pPr marL="685800" lvl="1" indent="-228600">
              <a:buFont typeface="+mj-lt"/>
              <a:buAutoNum type="arabicParenR"/>
            </a:pPr>
            <a:r>
              <a:rPr lang="en-US" sz="1600" dirty="0">
                <a:latin typeface="+mj-lt"/>
              </a:rPr>
              <a:t>Lost Update</a:t>
            </a:r>
          </a:p>
          <a:p>
            <a:pPr marL="685800" lvl="1" indent="-228600">
              <a:buFont typeface="+mj-lt"/>
              <a:buAutoNum type="arabicParenR"/>
            </a:pPr>
            <a:r>
              <a:rPr lang="en-US" sz="1600" dirty="0">
                <a:latin typeface="+mj-lt"/>
              </a:rPr>
              <a:t>Uncommitted Dependency (Dirty Bit)</a:t>
            </a:r>
          </a:p>
          <a:p>
            <a:pPr marL="685800" lvl="1" indent="-228600">
              <a:buFont typeface="+mj-lt"/>
              <a:buAutoNum type="arabicParenR"/>
            </a:pPr>
            <a:r>
              <a:rPr lang="en-US" sz="1600" dirty="0">
                <a:latin typeface="+mj-lt"/>
              </a:rPr>
              <a:t>Inconsistent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D53EDD98-3970-5128-2CFF-5F3056BFD725}"/>
              </a:ext>
            </a:extLst>
          </p:cNvPr>
          <p:cNvSpPr txBox="1"/>
          <p:nvPr/>
        </p:nvSpPr>
        <p:spPr>
          <a:xfrm>
            <a:off x="609600" y="2571750"/>
            <a:ext cx="739949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>
                <a:latin typeface="+mj-lt"/>
              </a:rPr>
              <a:t>Why Do These Problems Matter?</a:t>
            </a:r>
          </a:p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Occur due to </a:t>
            </a:r>
            <a:r>
              <a:rPr lang="en-US" sz="1600" b="1" dirty="0">
                <a:latin typeface="+mj-lt"/>
              </a:rPr>
              <a:t>concurrent execution of transactions</a:t>
            </a:r>
          </a:p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Violate </a:t>
            </a:r>
            <a:r>
              <a:rPr lang="en-US" sz="1600" b="1" dirty="0">
                <a:latin typeface="+mj-lt"/>
              </a:rPr>
              <a:t>Isolation</a:t>
            </a:r>
            <a:r>
              <a:rPr lang="en-US" sz="1600" dirty="0">
                <a:latin typeface="+mj-lt"/>
              </a:rPr>
              <a:t> property of ACID</a:t>
            </a:r>
          </a:p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Produce </a:t>
            </a:r>
            <a:r>
              <a:rPr lang="en-US" sz="1600" b="1" dirty="0">
                <a:latin typeface="+mj-lt"/>
              </a:rPr>
              <a:t>incorrect database results</a:t>
            </a:r>
          </a:p>
          <a:p>
            <a:pPr marL="285750" lvl="5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Common in </a:t>
            </a:r>
            <a:r>
              <a:rPr lang="en-US" sz="1600" b="1" dirty="0">
                <a:latin typeface="+mj-lt"/>
              </a:rPr>
              <a:t>real-world systems</a:t>
            </a:r>
            <a:r>
              <a:rPr lang="en-US" sz="1600" dirty="0">
                <a:latin typeface="+mj-lt"/>
              </a:rPr>
              <a:t> (banking, payroll, reporting)</a:t>
            </a:r>
          </a:p>
        </p:txBody>
      </p:sp>
    </p:spTree>
    <p:extLst>
      <p:ext uri="{BB962C8B-B14F-4D97-AF65-F5344CB8AC3E}">
        <p14:creationId xmlns:p14="http://schemas.microsoft.com/office/powerpoint/2010/main" val="7671486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2D09319-FC7D-2EC8-2E89-27D468442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0734" y="447243"/>
            <a:ext cx="3725951" cy="369332"/>
          </a:xfrm>
        </p:spPr>
        <p:txBody>
          <a:bodyPr/>
          <a:lstStyle/>
          <a:p>
            <a:r>
              <a:rPr lang="en-US" dirty="0"/>
              <a:t>Lost Update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E8279B0-559D-3CC8-1885-5E9769C08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123950"/>
            <a:ext cx="6280418" cy="1231106"/>
          </a:xfrm>
        </p:spPr>
        <p:txBody>
          <a:bodyPr/>
          <a:lstStyle/>
          <a:p>
            <a:r>
              <a:rPr lang="en-US" sz="1600" dirty="0">
                <a:latin typeface="+mj-lt"/>
                <a:ea typeface="Cambria" panose="02040503050406030204" pitchFamily="18" charset="0"/>
              </a:rPr>
              <a:t>The </a:t>
            </a:r>
            <a:r>
              <a:rPr lang="en-US" sz="1600" b="1" dirty="0">
                <a:latin typeface="+mj-lt"/>
                <a:ea typeface="Cambria" panose="02040503050406030204" pitchFamily="18" charset="0"/>
              </a:rPr>
              <a:t>Lost Update problem</a:t>
            </a:r>
            <a:r>
              <a:rPr lang="en-US" sz="1600" dirty="0">
                <a:latin typeface="+mj-lt"/>
                <a:ea typeface="Cambria" panose="02040503050406030204" pitchFamily="18" charset="0"/>
              </a:rPr>
              <a:t> occurs when: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  <a:ea typeface="Cambria" panose="02040503050406030204" pitchFamily="18" charset="0"/>
              </a:rPr>
              <a:t>Two transactions read the </a:t>
            </a:r>
            <a:r>
              <a:rPr lang="en-US" sz="1600" b="1" dirty="0">
                <a:latin typeface="+mj-lt"/>
                <a:ea typeface="Cambria" panose="02040503050406030204" pitchFamily="18" charset="0"/>
              </a:rPr>
              <a:t>same data item</a:t>
            </a:r>
            <a:endParaRPr lang="en-US" sz="1600" dirty="0">
              <a:latin typeface="+mj-lt"/>
              <a:ea typeface="Cambria" panose="02040503050406030204" pitchFamily="18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  <a:ea typeface="Cambria" panose="02040503050406030204" pitchFamily="18" charset="0"/>
              </a:rPr>
              <a:t>Both update it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  <a:ea typeface="Cambria" panose="02040503050406030204" pitchFamily="18" charset="0"/>
              </a:rPr>
              <a:t>One update </a:t>
            </a:r>
            <a:r>
              <a:rPr lang="en-US" sz="1600" b="1" dirty="0">
                <a:latin typeface="+mj-lt"/>
                <a:ea typeface="Cambria" panose="02040503050406030204" pitchFamily="18" charset="0"/>
              </a:rPr>
              <a:t>overwrites</a:t>
            </a:r>
            <a:r>
              <a:rPr lang="en-US" sz="1600" dirty="0">
                <a:latin typeface="+mj-lt"/>
                <a:ea typeface="Cambria" panose="02040503050406030204" pitchFamily="18" charset="0"/>
              </a:rPr>
              <a:t> the other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  <a:ea typeface="Cambria" panose="02040503050406030204" pitchFamily="18" charset="0"/>
              </a:rPr>
              <a:t>Example: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xmlns="" id="{2197C52B-E1E2-1734-45DC-AD32476A0E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404431"/>
              </p:ext>
            </p:extLst>
          </p:nvPr>
        </p:nvGraphicFramePr>
        <p:xfrm>
          <a:off x="762000" y="2800350"/>
          <a:ext cx="3690104" cy="1979936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845052">
                  <a:extLst>
                    <a:ext uri="{9D8B030D-6E8A-4147-A177-3AD203B41FA5}">
                      <a16:colId xmlns:a16="http://schemas.microsoft.com/office/drawing/2014/main" xmlns="" val="3303358902"/>
                    </a:ext>
                  </a:extLst>
                </a:gridCol>
                <a:gridCol w="1845052">
                  <a:extLst>
                    <a:ext uri="{9D8B030D-6E8A-4147-A177-3AD203B41FA5}">
                      <a16:colId xmlns:a16="http://schemas.microsoft.com/office/drawing/2014/main" xmlns="" val="2359685741"/>
                    </a:ext>
                  </a:extLst>
                </a:gridCol>
              </a:tblGrid>
              <a:tr h="1560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latin typeface="+mj-lt"/>
                        </a:rPr>
                        <a:t>T1</a:t>
                      </a:r>
                    </a:p>
                  </a:txBody>
                  <a:tcPr marL="39007" marR="39007" marT="19504" marB="1950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+mj-lt"/>
                        </a:rPr>
                        <a:t>T2</a:t>
                      </a:r>
                    </a:p>
                  </a:txBody>
                  <a:tcPr marL="39007" marR="39007" marT="19504" marB="19504" anchor="ctr"/>
                </a:tc>
                <a:extLst>
                  <a:ext uri="{0D108BD9-81ED-4DB2-BD59-A6C34878D82A}">
                    <a16:rowId xmlns:a16="http://schemas.microsoft.com/office/drawing/2014/main" xmlns="" val="1232128777"/>
                  </a:ext>
                </a:extLst>
              </a:tr>
              <a:tr h="156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+mj-lt"/>
                        </a:rPr>
                        <a:t>Read A (100)</a:t>
                      </a:r>
                    </a:p>
                  </a:txBody>
                  <a:tcPr marL="39007" marR="39007" marT="19504" marB="19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>
                        <a:latin typeface="+mj-lt"/>
                      </a:endParaRPr>
                    </a:p>
                  </a:txBody>
                  <a:tcPr marL="39007" marR="39007" marT="19504" marB="19504" anchor="ctr"/>
                </a:tc>
                <a:extLst>
                  <a:ext uri="{0D108BD9-81ED-4DB2-BD59-A6C34878D82A}">
                    <a16:rowId xmlns:a16="http://schemas.microsoft.com/office/drawing/2014/main" xmlns="" val="3140491166"/>
                  </a:ext>
                </a:extLst>
              </a:tr>
              <a:tr h="156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+mj-lt"/>
                        </a:rPr>
                        <a:t>A := A + 50</a:t>
                      </a:r>
                    </a:p>
                  </a:txBody>
                  <a:tcPr marL="39007" marR="39007" marT="19504" marB="19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>
                        <a:latin typeface="+mj-lt"/>
                      </a:endParaRPr>
                    </a:p>
                  </a:txBody>
                  <a:tcPr marL="39007" marR="39007" marT="19504" marB="19504" anchor="ctr"/>
                </a:tc>
                <a:extLst>
                  <a:ext uri="{0D108BD9-81ED-4DB2-BD59-A6C34878D82A}">
                    <a16:rowId xmlns:a16="http://schemas.microsoft.com/office/drawing/2014/main" xmlns="" val="4065792893"/>
                  </a:ext>
                </a:extLst>
              </a:tr>
              <a:tr h="15602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dirty="0">
                        <a:latin typeface="+mj-lt"/>
                      </a:endParaRPr>
                    </a:p>
                  </a:txBody>
                  <a:tcPr marL="39007" marR="39007" marT="19504" marB="19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+mj-lt"/>
                        </a:rPr>
                        <a:t>Read A (100)</a:t>
                      </a:r>
                    </a:p>
                  </a:txBody>
                  <a:tcPr marL="39007" marR="39007" marT="19504" marB="19504" anchor="ctr"/>
                </a:tc>
                <a:extLst>
                  <a:ext uri="{0D108BD9-81ED-4DB2-BD59-A6C34878D82A}">
                    <a16:rowId xmlns:a16="http://schemas.microsoft.com/office/drawing/2014/main" xmlns="" val="1527743913"/>
                  </a:ext>
                </a:extLst>
              </a:tr>
              <a:tr h="15602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dirty="0">
                        <a:latin typeface="+mj-lt"/>
                      </a:endParaRPr>
                    </a:p>
                  </a:txBody>
                  <a:tcPr marL="39007" marR="39007" marT="19504" marB="19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+mj-lt"/>
                        </a:rPr>
                        <a:t>A := A − 30</a:t>
                      </a:r>
                    </a:p>
                  </a:txBody>
                  <a:tcPr marL="39007" marR="39007" marT="19504" marB="19504" anchor="ctr"/>
                </a:tc>
                <a:extLst>
                  <a:ext uri="{0D108BD9-81ED-4DB2-BD59-A6C34878D82A}">
                    <a16:rowId xmlns:a16="http://schemas.microsoft.com/office/drawing/2014/main" xmlns="" val="1739722176"/>
                  </a:ext>
                </a:extLst>
              </a:tr>
              <a:tr h="156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+mj-lt"/>
                        </a:rPr>
                        <a:t>Write A (150)</a:t>
                      </a:r>
                    </a:p>
                  </a:txBody>
                  <a:tcPr marL="39007" marR="39007" marT="19504" marB="19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>
                        <a:latin typeface="+mj-lt"/>
                      </a:endParaRPr>
                    </a:p>
                  </a:txBody>
                  <a:tcPr marL="39007" marR="39007" marT="19504" marB="19504" anchor="ctr"/>
                </a:tc>
                <a:extLst>
                  <a:ext uri="{0D108BD9-81ED-4DB2-BD59-A6C34878D82A}">
                    <a16:rowId xmlns:a16="http://schemas.microsoft.com/office/drawing/2014/main" xmlns="" val="750763941"/>
                  </a:ext>
                </a:extLst>
              </a:tr>
              <a:tr h="15602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>
                        <a:latin typeface="+mj-lt"/>
                      </a:endParaRPr>
                    </a:p>
                  </a:txBody>
                  <a:tcPr marL="39007" marR="39007" marT="19504" marB="1950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+mj-lt"/>
                        </a:rPr>
                        <a:t>Write A (70)</a:t>
                      </a:r>
                    </a:p>
                  </a:txBody>
                  <a:tcPr marL="39007" marR="39007" marT="19504" marB="19504" anchor="ctr"/>
                </a:tc>
                <a:extLst>
                  <a:ext uri="{0D108BD9-81ED-4DB2-BD59-A6C34878D82A}">
                    <a16:rowId xmlns:a16="http://schemas.microsoft.com/office/drawing/2014/main" xmlns="" val="317140362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9F46704-18C0-5EF7-43C9-6ACCFB5F31C4}"/>
              </a:ext>
            </a:extLst>
          </p:cNvPr>
          <p:cNvSpPr txBox="1"/>
          <p:nvPr/>
        </p:nvSpPr>
        <p:spPr>
          <a:xfrm>
            <a:off x="677709" y="2366968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+mj-lt"/>
              </a:rPr>
              <a:t>Initial Balance: A = 100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F9D8E813-5F33-BB24-A479-8F537A9C34F7}"/>
              </a:ext>
            </a:extLst>
          </p:cNvPr>
          <p:cNvSpPr txBox="1"/>
          <p:nvPr/>
        </p:nvSpPr>
        <p:spPr>
          <a:xfrm>
            <a:off x="5410200" y="3257550"/>
            <a:ext cx="31242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+mj-lt"/>
              </a:rPr>
              <a:t>What’s the problem here?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BAE6CAB1-9FC4-E80F-768A-BEC0F4E13BF1}"/>
              </a:ext>
            </a:extLst>
          </p:cNvPr>
          <p:cNvSpPr txBox="1"/>
          <p:nvPr/>
        </p:nvSpPr>
        <p:spPr>
          <a:xfrm>
            <a:off x="5410200" y="3596104"/>
            <a:ext cx="330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+mj-lt"/>
              </a:rPr>
              <a:t>Final Value = 70</a:t>
            </a:r>
            <a:r>
              <a:rPr lang="en-US" sz="1600" dirty="0">
                <a:latin typeface="+mj-lt"/>
              </a:rPr>
              <a:t/>
            </a:r>
            <a:br>
              <a:rPr lang="en-US" sz="1600" dirty="0">
                <a:latin typeface="+mj-lt"/>
              </a:rPr>
            </a:br>
            <a:r>
              <a:rPr lang="en-US" sz="1600" dirty="0">
                <a:latin typeface="+mj-lt"/>
              </a:rPr>
              <a:t>Correct value should be </a:t>
            </a:r>
            <a:r>
              <a:rPr lang="en-US" sz="1600" b="1" dirty="0">
                <a:latin typeface="+mj-lt"/>
              </a:rPr>
              <a:t>120</a:t>
            </a:r>
            <a:endParaRPr lang="en-US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95518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E96CBB0-9636-D78C-4E18-BACE008F8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0734" y="447243"/>
            <a:ext cx="5376266" cy="738664"/>
          </a:xfrm>
        </p:spPr>
        <p:txBody>
          <a:bodyPr/>
          <a:lstStyle/>
          <a:p>
            <a:r>
              <a:rPr lang="en-US" dirty="0"/>
              <a:t>Uncommitted Dependency (Dirty Bit)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C236BE7D-0D88-CDB3-916B-88CCDF61048E}"/>
              </a:ext>
            </a:extLst>
          </p:cNvPr>
          <p:cNvSpPr txBox="1"/>
          <p:nvPr/>
        </p:nvSpPr>
        <p:spPr>
          <a:xfrm>
            <a:off x="575666" y="1123950"/>
            <a:ext cx="74676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>
                <a:latin typeface="+mj-lt"/>
              </a:rPr>
              <a:t>Occurs when: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A transaction </a:t>
            </a:r>
            <a:r>
              <a:rPr lang="en-US" sz="1600" b="1" dirty="0">
                <a:latin typeface="+mj-lt"/>
              </a:rPr>
              <a:t>reads data written by another transaction</a:t>
            </a:r>
            <a:endParaRPr lang="en-US" sz="16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The writing transaction </a:t>
            </a:r>
            <a:r>
              <a:rPr lang="en-US" sz="1600" b="1" dirty="0">
                <a:latin typeface="+mj-lt"/>
              </a:rPr>
              <a:t>has not committed yet</a:t>
            </a:r>
            <a:endParaRPr lang="en-US" sz="16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The writer later </a:t>
            </a:r>
            <a:r>
              <a:rPr lang="en-US" sz="1600" b="1" dirty="0">
                <a:latin typeface="+mj-lt"/>
              </a:rPr>
              <a:t>rolls 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Example: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xmlns="" id="{2493CC07-EF50-0601-4412-D9BE92FA8D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761881"/>
              </p:ext>
            </p:extLst>
          </p:nvPr>
        </p:nvGraphicFramePr>
        <p:xfrm>
          <a:off x="838200" y="2696112"/>
          <a:ext cx="3505200" cy="149225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xmlns="" val="182789075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xmlns="" val="2732985467"/>
                    </a:ext>
                  </a:extLst>
                </a:gridCol>
              </a:tblGrid>
              <a:tr h="2184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>
                          <a:latin typeface="+mj-lt"/>
                        </a:rPr>
                        <a:t>T1</a:t>
                      </a:r>
                    </a:p>
                  </a:txBody>
                  <a:tcPr marL="54610" marR="54610" marT="27305" marB="2730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dirty="0">
                          <a:latin typeface="+mj-lt"/>
                        </a:rPr>
                        <a:t>T2</a:t>
                      </a:r>
                    </a:p>
                  </a:txBody>
                  <a:tcPr marL="54610" marR="54610" marT="27305" marB="27305" anchor="ctr"/>
                </a:tc>
                <a:extLst>
                  <a:ext uri="{0D108BD9-81ED-4DB2-BD59-A6C34878D82A}">
                    <a16:rowId xmlns:a16="http://schemas.microsoft.com/office/drawing/2014/main" xmlns="" val="1897773354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+mj-lt"/>
                        </a:rPr>
                        <a:t>Write A := 500</a:t>
                      </a:r>
                    </a:p>
                  </a:txBody>
                  <a:tcPr marL="54610" marR="54610" marT="27305" marB="273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dirty="0">
                        <a:latin typeface="+mj-lt"/>
                      </a:endParaRPr>
                    </a:p>
                  </a:txBody>
                  <a:tcPr marL="54610" marR="54610" marT="27305" marB="27305" anchor="ctr"/>
                </a:tc>
                <a:extLst>
                  <a:ext uri="{0D108BD9-81ED-4DB2-BD59-A6C34878D82A}">
                    <a16:rowId xmlns:a16="http://schemas.microsoft.com/office/drawing/2014/main" xmlns="" val="321306601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>
                        <a:latin typeface="+mj-lt"/>
                      </a:endParaRPr>
                    </a:p>
                  </a:txBody>
                  <a:tcPr marL="54610" marR="54610" marT="27305" marB="273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+mj-lt"/>
                        </a:rPr>
                        <a:t>Read A := 500</a:t>
                      </a:r>
                    </a:p>
                  </a:txBody>
                  <a:tcPr marL="54610" marR="54610" marT="27305" marB="27305" anchor="ctr"/>
                </a:tc>
                <a:extLst>
                  <a:ext uri="{0D108BD9-81ED-4DB2-BD59-A6C34878D82A}">
                    <a16:rowId xmlns:a16="http://schemas.microsoft.com/office/drawing/2014/main" xmlns="" val="3172259955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+mj-lt"/>
                        </a:rPr>
                        <a:t>Rollback</a:t>
                      </a:r>
                    </a:p>
                  </a:txBody>
                  <a:tcPr marL="54610" marR="54610" marT="27305" marB="273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dirty="0">
                        <a:latin typeface="+mj-lt"/>
                      </a:endParaRPr>
                    </a:p>
                  </a:txBody>
                  <a:tcPr marL="54610" marR="54610" marT="27305" marB="27305" anchor="ctr"/>
                </a:tc>
                <a:extLst>
                  <a:ext uri="{0D108BD9-81ED-4DB2-BD59-A6C34878D82A}">
                    <a16:rowId xmlns:a16="http://schemas.microsoft.com/office/drawing/2014/main" xmlns="" val="4111167070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>
                        <a:latin typeface="+mj-lt"/>
                      </a:endParaRPr>
                    </a:p>
                  </a:txBody>
                  <a:tcPr marL="54610" marR="54610" marT="27305" marB="273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+mj-lt"/>
                        </a:rPr>
                        <a:t>A := 500+100</a:t>
                      </a:r>
                    </a:p>
                  </a:txBody>
                  <a:tcPr marL="54610" marR="54610" marT="27305" marB="27305" anchor="ctr"/>
                </a:tc>
                <a:extLst>
                  <a:ext uri="{0D108BD9-81ED-4DB2-BD59-A6C34878D82A}">
                    <a16:rowId xmlns:a16="http://schemas.microsoft.com/office/drawing/2014/main" xmlns="" val="329207697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DC17058B-33E5-86CE-995B-8C70445E672B}"/>
              </a:ext>
            </a:extLst>
          </p:cNvPr>
          <p:cNvSpPr txBox="1"/>
          <p:nvPr/>
        </p:nvSpPr>
        <p:spPr>
          <a:xfrm>
            <a:off x="4800602" y="2711568"/>
            <a:ext cx="312419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+mj-lt"/>
              </a:rPr>
              <a:t>What’s wrong here?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T2 used a value that never officially existed, as the system rollback T1 transaction, which means A never existed here.</a:t>
            </a:r>
          </a:p>
        </p:txBody>
      </p:sp>
    </p:spTree>
    <p:extLst>
      <p:ext uri="{BB962C8B-B14F-4D97-AF65-F5344CB8AC3E}">
        <p14:creationId xmlns:p14="http://schemas.microsoft.com/office/powerpoint/2010/main" val="38690514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FF5C41-591A-B1B3-0BE9-1F97E1683E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0734" y="447243"/>
            <a:ext cx="3725951" cy="369332"/>
          </a:xfrm>
        </p:spPr>
        <p:txBody>
          <a:bodyPr/>
          <a:lstStyle/>
          <a:p>
            <a:r>
              <a:rPr lang="en-US" dirty="0"/>
              <a:t>Inconsistent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1D7D99C0-7D25-FC25-7CF9-F3E8D60C6A53}"/>
              </a:ext>
            </a:extLst>
          </p:cNvPr>
          <p:cNvSpPr txBox="1"/>
          <p:nvPr/>
        </p:nvSpPr>
        <p:spPr>
          <a:xfrm>
            <a:off x="677709" y="1047750"/>
            <a:ext cx="4572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dirty="0">
                <a:latin typeface="+mj-lt"/>
              </a:rPr>
              <a:t>Occurs when: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A transaction reads </a:t>
            </a:r>
            <a:r>
              <a:rPr lang="en-US" sz="1600" b="1" dirty="0">
                <a:latin typeface="+mj-lt"/>
              </a:rPr>
              <a:t>multiple data items</a:t>
            </a:r>
            <a:endParaRPr lang="en-US" sz="16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Another transaction updates </a:t>
            </a:r>
            <a:r>
              <a:rPr lang="en-US" sz="1600" b="1" dirty="0">
                <a:latin typeface="+mj-lt"/>
              </a:rPr>
              <a:t>some of them</a:t>
            </a:r>
            <a:endParaRPr lang="en-US" sz="1600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The reading transaction sees a </a:t>
            </a:r>
            <a:r>
              <a:rPr lang="en-US" sz="1600" b="1" dirty="0">
                <a:latin typeface="+mj-lt"/>
              </a:rPr>
              <a:t>partial update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Example: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21D85705-67A4-E4E3-5F6A-8AEB9188F873}"/>
              </a:ext>
            </a:extLst>
          </p:cNvPr>
          <p:cNvSpPr txBox="1"/>
          <p:nvPr/>
        </p:nvSpPr>
        <p:spPr>
          <a:xfrm>
            <a:off x="990600" y="2373705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+mj-lt"/>
              </a:rPr>
              <a:t>Initial Values:</a:t>
            </a:r>
            <a:r>
              <a:rPr lang="en-US" sz="1600" dirty="0">
                <a:latin typeface="+mj-lt"/>
              </a:rPr>
              <a:t/>
            </a:r>
            <a:br>
              <a:rPr lang="en-US" sz="1600" dirty="0">
                <a:latin typeface="+mj-lt"/>
              </a:rPr>
            </a:br>
            <a:r>
              <a:rPr lang="en-US" sz="1600" dirty="0">
                <a:latin typeface="+mj-lt"/>
              </a:rPr>
              <a:t>A = 100, B = 200 (Total = 300)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xmlns="" id="{F5510D3F-BF49-0D06-66BF-83C7D28AFB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6059993"/>
              </p:ext>
            </p:extLst>
          </p:nvPr>
        </p:nvGraphicFramePr>
        <p:xfrm>
          <a:off x="1092108" y="3105150"/>
          <a:ext cx="4394292" cy="149225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197146">
                  <a:extLst>
                    <a:ext uri="{9D8B030D-6E8A-4147-A177-3AD203B41FA5}">
                      <a16:colId xmlns:a16="http://schemas.microsoft.com/office/drawing/2014/main" xmlns="" val="682617120"/>
                    </a:ext>
                  </a:extLst>
                </a:gridCol>
                <a:gridCol w="2197146">
                  <a:extLst>
                    <a:ext uri="{9D8B030D-6E8A-4147-A177-3AD203B41FA5}">
                      <a16:colId xmlns:a16="http://schemas.microsoft.com/office/drawing/2014/main" xmlns="" val="56636735"/>
                    </a:ext>
                  </a:extLst>
                </a:gridCol>
              </a:tblGrid>
              <a:tr h="2184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i="0">
                          <a:latin typeface="+mj-lt"/>
                        </a:rPr>
                        <a:t>T1 (Analysis)</a:t>
                      </a:r>
                    </a:p>
                  </a:txBody>
                  <a:tcPr marL="54610" marR="54610" marT="27305" marB="27305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600" b="1" i="0" dirty="0">
                          <a:latin typeface="+mj-lt"/>
                        </a:rPr>
                        <a:t>T2 (Update)</a:t>
                      </a:r>
                    </a:p>
                  </a:txBody>
                  <a:tcPr marL="54610" marR="54610" marT="27305" marB="27305" anchor="ctr"/>
                </a:tc>
                <a:extLst>
                  <a:ext uri="{0D108BD9-81ED-4DB2-BD59-A6C34878D82A}">
                    <a16:rowId xmlns:a16="http://schemas.microsoft.com/office/drawing/2014/main" xmlns="" val="1406381158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+mj-lt"/>
                        </a:rPr>
                        <a:t>Read A = 100</a:t>
                      </a:r>
                    </a:p>
                  </a:txBody>
                  <a:tcPr marL="54610" marR="54610" marT="27305" marB="273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>
                        <a:latin typeface="+mj-lt"/>
                      </a:endParaRPr>
                    </a:p>
                  </a:txBody>
                  <a:tcPr marL="54610" marR="54610" marT="27305" marB="27305" anchor="ctr"/>
                </a:tc>
                <a:extLst>
                  <a:ext uri="{0D108BD9-81ED-4DB2-BD59-A6C34878D82A}">
                    <a16:rowId xmlns:a16="http://schemas.microsoft.com/office/drawing/2014/main" xmlns="" val="3852549173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>
                        <a:latin typeface="+mj-lt"/>
                      </a:endParaRPr>
                    </a:p>
                  </a:txBody>
                  <a:tcPr marL="54610" marR="54610" marT="27305" marB="273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+mj-lt"/>
                        </a:rPr>
                        <a:t>Write A = 150</a:t>
                      </a:r>
                    </a:p>
                  </a:txBody>
                  <a:tcPr marL="54610" marR="54610" marT="27305" marB="27305" anchor="ctr"/>
                </a:tc>
                <a:extLst>
                  <a:ext uri="{0D108BD9-81ED-4DB2-BD59-A6C34878D82A}">
                    <a16:rowId xmlns:a16="http://schemas.microsoft.com/office/drawing/2014/main" xmlns="" val="816198340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>
                        <a:latin typeface="+mj-lt"/>
                      </a:endParaRPr>
                    </a:p>
                  </a:txBody>
                  <a:tcPr marL="54610" marR="54610" marT="27305" marB="273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+mj-lt"/>
                        </a:rPr>
                        <a:t>Commit</a:t>
                      </a:r>
                    </a:p>
                  </a:txBody>
                  <a:tcPr marL="54610" marR="54610" marT="27305" marB="27305" anchor="ctr"/>
                </a:tc>
                <a:extLst>
                  <a:ext uri="{0D108BD9-81ED-4DB2-BD59-A6C34878D82A}">
                    <a16:rowId xmlns:a16="http://schemas.microsoft.com/office/drawing/2014/main" xmlns="" val="1655478902"/>
                  </a:ext>
                </a:extLst>
              </a:tr>
              <a:tr h="2184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+mj-lt"/>
                        </a:rPr>
                        <a:t>Read B = 200</a:t>
                      </a:r>
                    </a:p>
                  </a:txBody>
                  <a:tcPr marL="54610" marR="54610" marT="27305" marB="2730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600" dirty="0">
                        <a:latin typeface="+mj-lt"/>
                      </a:endParaRPr>
                    </a:p>
                  </a:txBody>
                  <a:tcPr marL="54610" marR="54610" marT="27305" marB="27305" anchor="ctr"/>
                </a:tc>
                <a:extLst>
                  <a:ext uri="{0D108BD9-81ED-4DB2-BD59-A6C34878D82A}">
                    <a16:rowId xmlns:a16="http://schemas.microsoft.com/office/drawing/2014/main" xmlns="" val="170250544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0FBC82D7-71B9-E9D1-9875-538790D31661}"/>
              </a:ext>
            </a:extLst>
          </p:cNvPr>
          <p:cNvSpPr txBox="1"/>
          <p:nvPr/>
        </p:nvSpPr>
        <p:spPr>
          <a:xfrm>
            <a:off x="6019800" y="3409950"/>
            <a:ext cx="2362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+mj-lt"/>
              </a:rPr>
              <a:t>What’s wrong here?</a:t>
            </a:r>
          </a:p>
          <a:p>
            <a:r>
              <a:rPr lang="en-US" sz="1600" dirty="0">
                <a:latin typeface="+mj-lt"/>
              </a:rPr>
              <a:t>T1 calculates total = </a:t>
            </a:r>
            <a:r>
              <a:rPr lang="en-US" sz="1600" b="1" dirty="0">
                <a:latin typeface="+mj-lt"/>
              </a:rPr>
              <a:t>300</a:t>
            </a:r>
            <a:r>
              <a:rPr lang="en-US" sz="1600" dirty="0">
                <a:latin typeface="+mj-lt"/>
              </a:rPr>
              <a:t/>
            </a:r>
            <a:br>
              <a:rPr lang="en-US" sz="1600" dirty="0">
                <a:latin typeface="+mj-lt"/>
              </a:rPr>
            </a:br>
            <a:r>
              <a:rPr lang="en-US" sz="1600" dirty="0">
                <a:latin typeface="+mj-lt"/>
              </a:rPr>
              <a:t>Correct total = </a:t>
            </a:r>
            <a:r>
              <a:rPr lang="en-US" sz="1600" b="1" dirty="0">
                <a:latin typeface="+mj-lt"/>
              </a:rPr>
              <a:t>350</a:t>
            </a:r>
            <a:endParaRPr lang="en-US" sz="16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983730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4C0BC6F-B27B-7E50-E718-906FD2D5A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0734" y="447243"/>
            <a:ext cx="6062066" cy="738664"/>
          </a:xfrm>
        </p:spPr>
        <p:txBody>
          <a:bodyPr/>
          <a:lstStyle/>
          <a:p>
            <a:pPr>
              <a:buNone/>
            </a:pPr>
            <a:r>
              <a:rPr lang="en-US" b="1" dirty="0"/>
              <a:t>How DBMS Prevents These Problems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C46409D8-3D77-1BC8-75F0-0A982ECB60F9}"/>
              </a:ext>
            </a:extLst>
          </p:cNvPr>
          <p:cNvSpPr txBox="1"/>
          <p:nvPr/>
        </p:nvSpPr>
        <p:spPr>
          <a:xfrm>
            <a:off x="990600" y="1276350"/>
            <a:ext cx="4572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+mj-lt"/>
              </a:rPr>
              <a:t>DBMS prevents these classic problem using -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Concurrency Control Protocols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Lock-based protocols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Timestamp ordering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Transaction isolation levels</a:t>
            </a:r>
          </a:p>
        </p:txBody>
      </p:sp>
    </p:spTree>
    <p:extLst>
      <p:ext uri="{BB962C8B-B14F-4D97-AF65-F5344CB8AC3E}">
        <p14:creationId xmlns:p14="http://schemas.microsoft.com/office/powerpoint/2010/main" val="36536888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spc="-125" dirty="0"/>
              <a:t>Serializability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5" dirty="0">
                <a:solidFill>
                  <a:srgbClr val="FFFFFF"/>
                </a:solidFill>
                <a:latin typeface="Gill Sans MT"/>
                <a:cs typeface="Gill Sans MT"/>
              </a:rPr>
              <a:t>16</a:t>
            </a:r>
            <a:endParaRPr sz="13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1911" y="1172971"/>
            <a:ext cx="8462010" cy="31162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1945" marR="5080" indent="-309880">
              <a:lnSpc>
                <a:spcPct val="100000"/>
              </a:lnSpc>
              <a:spcBef>
                <a:spcPts val="100"/>
              </a:spcBef>
              <a:buClr>
                <a:srgbClr val="FF8600"/>
              </a:buClr>
              <a:buSzPct val="129166"/>
              <a:buFont typeface="Cambria Math"/>
              <a:buChar char="◗"/>
              <a:tabLst>
                <a:tab pos="321945" algn="l"/>
              </a:tabLst>
            </a:pP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If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two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transactions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are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running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concurrently,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the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operating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5" dirty="0">
                <a:solidFill>
                  <a:srgbClr val="212121"/>
                </a:solidFill>
                <a:latin typeface="Gill Sans MT"/>
                <a:cs typeface="Gill Sans MT"/>
              </a:rPr>
              <a:t>system</a:t>
            </a:r>
            <a:r>
              <a:rPr sz="1200" spc="-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95" dirty="0">
                <a:solidFill>
                  <a:srgbClr val="212121"/>
                </a:solidFill>
                <a:latin typeface="Gill Sans MT"/>
                <a:cs typeface="Gill Sans MT"/>
              </a:rPr>
              <a:t>may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execute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one</a:t>
            </a:r>
            <a:r>
              <a:rPr sz="1200" spc="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transaction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for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35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little</a:t>
            </a:r>
            <a:r>
              <a:rPr sz="1200" spc="-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while,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-20" dirty="0">
                <a:solidFill>
                  <a:srgbClr val="212121"/>
                </a:solidFill>
                <a:latin typeface="Gill Sans MT"/>
                <a:cs typeface="Gill Sans MT"/>
              </a:rPr>
              <a:t>then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perform</a:t>
            </a:r>
            <a:r>
              <a:rPr sz="12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35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spc="4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context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45" dirty="0">
                <a:solidFill>
                  <a:srgbClr val="212121"/>
                </a:solidFill>
                <a:latin typeface="Gill Sans MT"/>
                <a:cs typeface="Gill Sans MT"/>
              </a:rPr>
              <a:t>switch,</a:t>
            </a:r>
            <a:r>
              <a:rPr sz="1200" spc="4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execute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the</a:t>
            </a:r>
            <a:r>
              <a:rPr sz="1200" spc="4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70" dirty="0">
                <a:solidFill>
                  <a:srgbClr val="212121"/>
                </a:solidFill>
                <a:latin typeface="Gill Sans MT"/>
                <a:cs typeface="Gill Sans MT"/>
              </a:rPr>
              <a:t>second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transaction</a:t>
            </a:r>
            <a:r>
              <a:rPr sz="1200" spc="3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for</a:t>
            </a:r>
            <a:r>
              <a:rPr sz="1200" spc="4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5" dirty="0">
                <a:solidFill>
                  <a:srgbClr val="212121"/>
                </a:solidFill>
                <a:latin typeface="Gill Sans MT"/>
                <a:cs typeface="Gill Sans MT"/>
              </a:rPr>
              <a:t>some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time,</a:t>
            </a:r>
            <a:r>
              <a:rPr sz="12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0" dirty="0">
                <a:solidFill>
                  <a:srgbClr val="212121"/>
                </a:solidFill>
                <a:latin typeface="Gill Sans MT"/>
                <a:cs typeface="Gill Sans MT"/>
              </a:rPr>
              <a:t>and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then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switch</a:t>
            </a:r>
            <a:r>
              <a:rPr sz="1200" spc="4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0" dirty="0">
                <a:solidFill>
                  <a:srgbClr val="212121"/>
                </a:solidFill>
                <a:latin typeface="Gill Sans MT"/>
                <a:cs typeface="Gill Sans MT"/>
              </a:rPr>
              <a:t>back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to</a:t>
            </a:r>
            <a:r>
              <a:rPr sz="1200" spc="4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the</a:t>
            </a:r>
            <a:r>
              <a:rPr sz="1200" spc="3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first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transaction</a:t>
            </a:r>
            <a:r>
              <a:rPr sz="1200" spc="3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-25" dirty="0">
                <a:solidFill>
                  <a:srgbClr val="212121"/>
                </a:solidFill>
                <a:latin typeface="Gill Sans MT"/>
                <a:cs typeface="Gill Sans MT"/>
              </a:rPr>
              <a:t>for </a:t>
            </a:r>
            <a:r>
              <a:rPr sz="1200" spc="85" dirty="0">
                <a:solidFill>
                  <a:srgbClr val="212121"/>
                </a:solidFill>
                <a:latin typeface="Gill Sans MT"/>
                <a:cs typeface="Gill Sans MT"/>
              </a:rPr>
              <a:t>some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time,</a:t>
            </a:r>
            <a:r>
              <a:rPr sz="12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0" dirty="0">
                <a:solidFill>
                  <a:srgbClr val="212121"/>
                </a:solidFill>
                <a:latin typeface="Gill Sans MT"/>
                <a:cs typeface="Gill Sans MT"/>
              </a:rPr>
              <a:t>and</a:t>
            </a:r>
            <a:r>
              <a:rPr sz="12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5" dirty="0">
                <a:solidFill>
                  <a:srgbClr val="212121"/>
                </a:solidFill>
                <a:latin typeface="Gill Sans MT"/>
                <a:cs typeface="Gill Sans MT"/>
              </a:rPr>
              <a:t>so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on.</a:t>
            </a:r>
            <a:r>
              <a:rPr sz="12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-30" dirty="0">
                <a:solidFill>
                  <a:srgbClr val="212121"/>
                </a:solidFill>
                <a:latin typeface="Gill Sans MT"/>
                <a:cs typeface="Gill Sans MT"/>
              </a:rPr>
              <a:t>With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multiple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transactions,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the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CPU</a:t>
            </a:r>
            <a:r>
              <a:rPr sz="1200" spc="4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time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5" dirty="0">
                <a:solidFill>
                  <a:srgbClr val="212121"/>
                </a:solidFill>
                <a:latin typeface="Gill Sans MT"/>
                <a:cs typeface="Gill Sans MT"/>
              </a:rPr>
              <a:t>is</a:t>
            </a:r>
            <a:r>
              <a:rPr sz="1200" spc="3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shared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95" dirty="0">
                <a:solidFill>
                  <a:srgbClr val="212121"/>
                </a:solidFill>
                <a:latin typeface="Gill Sans MT"/>
                <a:cs typeface="Gill Sans MT"/>
              </a:rPr>
              <a:t>among</a:t>
            </a:r>
            <a:r>
              <a:rPr sz="1200" spc="3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all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the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45" dirty="0">
                <a:solidFill>
                  <a:srgbClr val="212121"/>
                </a:solidFill>
                <a:latin typeface="Gill Sans MT"/>
                <a:cs typeface="Gill Sans MT"/>
              </a:rPr>
              <a:t>transactions.</a:t>
            </a:r>
            <a:endParaRPr sz="1200" dirty="0">
              <a:latin typeface="Gill Sans MT"/>
              <a:cs typeface="Gill Sans MT"/>
            </a:endParaRPr>
          </a:p>
          <a:p>
            <a:pPr marL="321945" marR="172085" indent="-309880">
              <a:lnSpc>
                <a:spcPct val="100000"/>
              </a:lnSpc>
              <a:spcBef>
                <a:spcPts val="600"/>
              </a:spcBef>
              <a:buClr>
                <a:srgbClr val="FF8600"/>
              </a:buClr>
              <a:buSzPct val="129166"/>
              <a:buFont typeface="Cambria Math"/>
              <a:buChar char="◗"/>
              <a:tabLst>
                <a:tab pos="321945" algn="l"/>
              </a:tabLst>
            </a:pP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If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control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of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concurrent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execution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90" dirty="0">
                <a:solidFill>
                  <a:srgbClr val="212121"/>
                </a:solidFill>
                <a:latin typeface="Gill Sans MT"/>
                <a:cs typeface="Gill Sans MT"/>
              </a:rPr>
              <a:t>is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left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entirely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to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the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operating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system,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5" dirty="0">
                <a:solidFill>
                  <a:srgbClr val="212121"/>
                </a:solidFill>
                <a:latin typeface="Gill Sans MT"/>
                <a:cs typeface="Gill Sans MT"/>
              </a:rPr>
              <a:t>many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70" dirty="0">
                <a:solidFill>
                  <a:srgbClr val="212121"/>
                </a:solidFill>
                <a:latin typeface="Gill Sans MT"/>
                <a:cs typeface="Gill Sans MT"/>
              </a:rPr>
              <a:t>possible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schedules,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including</a:t>
            </a:r>
            <a:r>
              <a:rPr sz="1200" spc="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70" dirty="0">
                <a:solidFill>
                  <a:srgbClr val="212121"/>
                </a:solidFill>
                <a:latin typeface="Gill Sans MT"/>
                <a:cs typeface="Gill Sans MT"/>
              </a:rPr>
              <a:t>ones</a:t>
            </a:r>
            <a:r>
              <a:rPr sz="12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-20" dirty="0">
                <a:solidFill>
                  <a:srgbClr val="212121"/>
                </a:solidFill>
                <a:latin typeface="Gill Sans MT"/>
                <a:cs typeface="Gill Sans MT"/>
              </a:rPr>
              <a:t>that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leave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the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5" dirty="0">
                <a:solidFill>
                  <a:srgbClr val="212121"/>
                </a:solidFill>
                <a:latin typeface="Gill Sans MT"/>
                <a:cs typeface="Gill Sans MT"/>
              </a:rPr>
              <a:t>database</a:t>
            </a:r>
            <a:r>
              <a:rPr sz="1200" spc="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in</a:t>
            </a:r>
            <a:r>
              <a:rPr sz="1200" spc="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90" dirty="0">
                <a:solidFill>
                  <a:srgbClr val="212121"/>
                </a:solidFill>
                <a:latin typeface="Gill Sans MT"/>
                <a:cs typeface="Gill Sans MT"/>
              </a:rPr>
              <a:t>an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inconsistent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state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 are </a:t>
            </a: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possible.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It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90" dirty="0">
                <a:solidFill>
                  <a:srgbClr val="212121"/>
                </a:solidFill>
                <a:latin typeface="Gill Sans MT"/>
                <a:cs typeface="Gill Sans MT"/>
              </a:rPr>
              <a:t>is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the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job</a:t>
            </a:r>
            <a:r>
              <a:rPr sz="1200" spc="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of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90" dirty="0">
                <a:solidFill>
                  <a:srgbClr val="212121"/>
                </a:solidFill>
                <a:latin typeface="Gill Sans MT"/>
                <a:cs typeface="Gill Sans MT"/>
              </a:rPr>
              <a:t>database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5" dirty="0">
                <a:solidFill>
                  <a:srgbClr val="212121"/>
                </a:solidFill>
                <a:latin typeface="Gill Sans MT"/>
                <a:cs typeface="Gill Sans MT"/>
              </a:rPr>
              <a:t>system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 to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ensure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that </a:t>
            </a:r>
            <a:r>
              <a:rPr sz="1200" spc="75" dirty="0">
                <a:solidFill>
                  <a:srgbClr val="212121"/>
                </a:solidFill>
                <a:latin typeface="Gill Sans MT"/>
                <a:cs typeface="Gill Sans MT"/>
              </a:rPr>
              <a:t>any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schedule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that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5" dirty="0">
                <a:solidFill>
                  <a:srgbClr val="212121"/>
                </a:solidFill>
                <a:latin typeface="Gill Sans MT"/>
                <a:cs typeface="Gill Sans MT"/>
              </a:rPr>
              <a:t>is</a:t>
            </a:r>
            <a:r>
              <a:rPr sz="1200" spc="4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executed</a:t>
            </a:r>
            <a:r>
              <a:rPr sz="1200" spc="4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will</a:t>
            </a:r>
            <a:r>
              <a:rPr sz="1200" spc="4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leave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the</a:t>
            </a:r>
            <a:r>
              <a:rPr sz="1200" spc="4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90" dirty="0">
                <a:solidFill>
                  <a:srgbClr val="212121"/>
                </a:solidFill>
                <a:latin typeface="Gill Sans MT"/>
                <a:cs typeface="Gill Sans MT"/>
              </a:rPr>
              <a:t>database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in</a:t>
            </a:r>
            <a:r>
              <a:rPr sz="1200" spc="3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35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spc="3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consistent</a:t>
            </a:r>
            <a:r>
              <a:rPr sz="1200" spc="4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state.</a:t>
            </a:r>
            <a:r>
              <a:rPr sz="12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The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b="1" spc="-30" dirty="0">
                <a:solidFill>
                  <a:srgbClr val="212121"/>
                </a:solidFill>
                <a:latin typeface="Gill Sans MT"/>
                <a:cs typeface="Gill Sans MT"/>
              </a:rPr>
              <a:t>concurrency-</a:t>
            </a:r>
            <a:r>
              <a:rPr sz="1200" b="1" spc="-45" dirty="0">
                <a:solidFill>
                  <a:srgbClr val="212121"/>
                </a:solidFill>
                <a:latin typeface="Gill Sans MT"/>
                <a:cs typeface="Gill Sans MT"/>
              </a:rPr>
              <a:t>control</a:t>
            </a:r>
            <a:r>
              <a:rPr sz="1200" b="1" spc="4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component</a:t>
            </a:r>
            <a:r>
              <a:rPr sz="1200" spc="4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of</a:t>
            </a:r>
            <a:r>
              <a:rPr sz="1200" spc="4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the</a:t>
            </a:r>
            <a:r>
              <a:rPr sz="12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0" dirty="0">
                <a:solidFill>
                  <a:srgbClr val="212121"/>
                </a:solidFill>
                <a:latin typeface="Gill Sans MT"/>
                <a:cs typeface="Gill Sans MT"/>
              </a:rPr>
              <a:t>database system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carries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out</a:t>
            </a:r>
            <a:r>
              <a:rPr sz="1200" spc="4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this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task.</a:t>
            </a:r>
            <a:endParaRPr sz="1200" dirty="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1250"/>
              </a:spcBef>
              <a:buClr>
                <a:srgbClr val="FF8600"/>
              </a:buClr>
              <a:buFont typeface="Cambria Math"/>
              <a:buChar char="◗"/>
            </a:pPr>
            <a:endParaRPr sz="1200" dirty="0">
              <a:latin typeface="Gill Sans MT"/>
              <a:cs typeface="Gill Sans MT"/>
            </a:endParaRPr>
          </a:p>
          <a:p>
            <a:pPr marL="321945" indent="-309245">
              <a:lnSpc>
                <a:spcPct val="100000"/>
              </a:lnSpc>
              <a:buClr>
                <a:srgbClr val="FF8600"/>
              </a:buClr>
              <a:buSzPct val="129166"/>
              <a:buFont typeface="Cambria Math"/>
              <a:buChar char="◗"/>
              <a:tabLst>
                <a:tab pos="321945" algn="l"/>
              </a:tabLst>
            </a:pP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Serial</a:t>
            </a:r>
            <a:r>
              <a:rPr sz="1200" spc="3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75" dirty="0">
                <a:solidFill>
                  <a:srgbClr val="212121"/>
                </a:solidFill>
                <a:latin typeface="Gill Sans MT"/>
                <a:cs typeface="Gill Sans MT"/>
              </a:rPr>
              <a:t>schedules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are</a:t>
            </a:r>
            <a:r>
              <a:rPr sz="1200" spc="4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serializable,</a:t>
            </a:r>
            <a:r>
              <a:rPr sz="1200" spc="4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but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if</a:t>
            </a:r>
            <a:r>
              <a:rPr sz="1200" spc="4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0" dirty="0">
                <a:solidFill>
                  <a:srgbClr val="212121"/>
                </a:solidFill>
                <a:latin typeface="Gill Sans MT"/>
                <a:cs typeface="Gill Sans MT"/>
              </a:rPr>
              <a:t>steps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of</a:t>
            </a:r>
            <a:r>
              <a:rPr sz="1200" spc="4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multiple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transactions</a:t>
            </a:r>
            <a:r>
              <a:rPr sz="1200" spc="4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are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interleaved,</a:t>
            </a:r>
            <a:r>
              <a:rPr sz="1200" spc="4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it</a:t>
            </a:r>
            <a:r>
              <a:rPr sz="1200" spc="4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5" dirty="0">
                <a:solidFill>
                  <a:srgbClr val="212121"/>
                </a:solidFill>
                <a:latin typeface="Gill Sans MT"/>
                <a:cs typeface="Gill Sans MT"/>
              </a:rPr>
              <a:t>is</a:t>
            </a:r>
            <a:r>
              <a:rPr sz="1200" spc="4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harder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to</a:t>
            </a:r>
            <a:r>
              <a:rPr sz="1200" spc="4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determine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whether</a:t>
            </a:r>
            <a:r>
              <a:rPr sz="1200" spc="3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5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endParaRPr sz="1200" dirty="0">
              <a:latin typeface="Gill Sans MT"/>
              <a:cs typeface="Gill Sans MT"/>
            </a:endParaRPr>
          </a:p>
          <a:p>
            <a:pPr marL="321945">
              <a:lnSpc>
                <a:spcPct val="100000"/>
              </a:lnSpc>
            </a:pP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schedule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90" dirty="0">
                <a:solidFill>
                  <a:srgbClr val="212121"/>
                </a:solidFill>
                <a:latin typeface="Gill Sans MT"/>
                <a:cs typeface="Gill Sans MT"/>
              </a:rPr>
              <a:t>is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45" dirty="0">
                <a:solidFill>
                  <a:srgbClr val="212121"/>
                </a:solidFill>
                <a:latin typeface="Gill Sans MT"/>
                <a:cs typeface="Gill Sans MT"/>
              </a:rPr>
              <a:t>serializable.</a:t>
            </a:r>
            <a:endParaRPr sz="1200" dirty="0">
              <a:latin typeface="Gill Sans MT"/>
              <a:cs typeface="Gill Sans MT"/>
            </a:endParaRPr>
          </a:p>
          <a:p>
            <a:pPr marL="321945" indent="-309245">
              <a:lnSpc>
                <a:spcPct val="100000"/>
              </a:lnSpc>
              <a:spcBef>
                <a:spcPts val="600"/>
              </a:spcBef>
              <a:buClr>
                <a:srgbClr val="FF8600"/>
              </a:buClr>
              <a:buSzPct val="129166"/>
              <a:buFont typeface="Cambria Math"/>
              <a:buChar char="◗"/>
              <a:tabLst>
                <a:tab pos="321945" algn="l"/>
              </a:tabLst>
            </a:pPr>
            <a:r>
              <a:rPr sz="1200" b="1" spc="-140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b="1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b="1" dirty="0">
                <a:solidFill>
                  <a:srgbClr val="212121"/>
                </a:solidFill>
                <a:latin typeface="Gill Sans MT"/>
                <a:cs typeface="Gill Sans MT"/>
              </a:rPr>
              <a:t>(possibly</a:t>
            </a:r>
            <a:r>
              <a:rPr sz="1200" b="1" spc="-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b="1" spc="-45" dirty="0">
                <a:solidFill>
                  <a:srgbClr val="212121"/>
                </a:solidFill>
                <a:latin typeface="Gill Sans MT"/>
                <a:cs typeface="Gill Sans MT"/>
              </a:rPr>
              <a:t>concurrent)</a:t>
            </a:r>
            <a:r>
              <a:rPr sz="1200" b="1" spc="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b="1" dirty="0">
                <a:solidFill>
                  <a:srgbClr val="212121"/>
                </a:solidFill>
                <a:latin typeface="Gill Sans MT"/>
                <a:cs typeface="Gill Sans MT"/>
              </a:rPr>
              <a:t>schedule is</a:t>
            </a:r>
            <a:r>
              <a:rPr sz="1200" b="1" spc="-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b="1" spc="-20" dirty="0">
                <a:solidFill>
                  <a:srgbClr val="212121"/>
                </a:solidFill>
                <a:latin typeface="Gill Sans MT"/>
                <a:cs typeface="Gill Sans MT"/>
              </a:rPr>
              <a:t>serializable</a:t>
            </a:r>
            <a:r>
              <a:rPr sz="1200" b="1" spc="-3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b="1" dirty="0">
                <a:solidFill>
                  <a:srgbClr val="212121"/>
                </a:solidFill>
                <a:latin typeface="Gill Sans MT"/>
                <a:cs typeface="Gill Sans MT"/>
              </a:rPr>
              <a:t>if</a:t>
            </a:r>
            <a:r>
              <a:rPr sz="1200" b="1" spc="-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b="1" spc="-55" dirty="0">
                <a:solidFill>
                  <a:srgbClr val="212121"/>
                </a:solidFill>
                <a:latin typeface="Gill Sans MT"/>
                <a:cs typeface="Gill Sans MT"/>
              </a:rPr>
              <a:t>it</a:t>
            </a:r>
            <a:r>
              <a:rPr sz="1200" b="1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b="1" dirty="0">
                <a:solidFill>
                  <a:srgbClr val="212121"/>
                </a:solidFill>
                <a:latin typeface="Gill Sans MT"/>
                <a:cs typeface="Gill Sans MT"/>
              </a:rPr>
              <a:t>is</a:t>
            </a:r>
            <a:r>
              <a:rPr sz="1200" b="1" spc="-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b="1" spc="-30" dirty="0">
                <a:solidFill>
                  <a:srgbClr val="212121"/>
                </a:solidFill>
                <a:latin typeface="Gill Sans MT"/>
                <a:cs typeface="Gill Sans MT"/>
              </a:rPr>
              <a:t>equivalent</a:t>
            </a:r>
            <a:r>
              <a:rPr sz="1200" b="1" spc="-3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b="1" spc="-70" dirty="0">
                <a:solidFill>
                  <a:srgbClr val="212121"/>
                </a:solidFill>
                <a:latin typeface="Gill Sans MT"/>
                <a:cs typeface="Gill Sans MT"/>
              </a:rPr>
              <a:t>to</a:t>
            </a:r>
            <a:r>
              <a:rPr sz="1200" b="1" spc="-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b="1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b="1" spc="-10" dirty="0">
                <a:solidFill>
                  <a:srgbClr val="212121"/>
                </a:solidFill>
                <a:latin typeface="Gill Sans MT"/>
                <a:cs typeface="Gill Sans MT"/>
              </a:rPr>
              <a:t> serial</a:t>
            </a:r>
            <a:r>
              <a:rPr sz="1200" b="1" spc="-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b="1" spc="-10" dirty="0">
                <a:solidFill>
                  <a:srgbClr val="212121"/>
                </a:solidFill>
                <a:latin typeface="Gill Sans MT"/>
                <a:cs typeface="Gill Sans MT"/>
              </a:rPr>
              <a:t>schedule.</a:t>
            </a:r>
            <a:endParaRPr sz="1200" dirty="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Clr>
                <a:srgbClr val="FF8600"/>
              </a:buClr>
              <a:buFont typeface="Cambria Math"/>
              <a:buChar char="◗"/>
            </a:pPr>
            <a:endParaRPr sz="1200" dirty="0">
              <a:latin typeface="Gill Sans MT"/>
              <a:cs typeface="Gill Sans MT"/>
            </a:endParaRPr>
          </a:p>
          <a:p>
            <a:pPr marL="321945">
              <a:lnSpc>
                <a:spcPct val="100000"/>
              </a:lnSpc>
            </a:pP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Different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forms</a:t>
            </a:r>
            <a:r>
              <a:rPr sz="12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of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schedule</a:t>
            </a:r>
            <a:r>
              <a:rPr sz="1200" spc="4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equivalence </a:t>
            </a:r>
            <a:r>
              <a:rPr sz="1200" spc="70" dirty="0">
                <a:solidFill>
                  <a:srgbClr val="212121"/>
                </a:solidFill>
                <a:latin typeface="Gill Sans MT"/>
                <a:cs typeface="Gill Sans MT"/>
              </a:rPr>
              <a:t>give</a:t>
            </a:r>
            <a:r>
              <a:rPr sz="1200" spc="4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rise</a:t>
            </a:r>
            <a:r>
              <a:rPr sz="12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to</a:t>
            </a:r>
            <a:r>
              <a:rPr sz="1200" spc="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the</a:t>
            </a:r>
            <a:r>
              <a:rPr sz="12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notions</a:t>
            </a:r>
            <a:r>
              <a:rPr sz="1200" spc="3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-25" dirty="0">
                <a:solidFill>
                  <a:srgbClr val="212121"/>
                </a:solidFill>
                <a:latin typeface="Gill Sans MT"/>
                <a:cs typeface="Gill Sans MT"/>
              </a:rPr>
              <a:t>of:</a:t>
            </a:r>
            <a:endParaRPr sz="1200" dirty="0">
              <a:latin typeface="Gill Sans MT"/>
              <a:cs typeface="Gill Sans MT"/>
            </a:endParaRPr>
          </a:p>
          <a:p>
            <a:pPr marL="779145" lvl="1" indent="-309245">
              <a:lnSpc>
                <a:spcPct val="100000"/>
              </a:lnSpc>
              <a:buClr>
                <a:srgbClr val="FF8600"/>
              </a:buClr>
              <a:buFont typeface="Wingdings"/>
              <a:buChar char=""/>
              <a:tabLst>
                <a:tab pos="779145" algn="l"/>
              </a:tabLst>
            </a:pPr>
            <a:r>
              <a:rPr sz="1200" dirty="0">
                <a:solidFill>
                  <a:srgbClr val="FF0000"/>
                </a:solidFill>
                <a:latin typeface="Gill Sans MT"/>
                <a:cs typeface="Gill Sans MT"/>
              </a:rPr>
              <a:t>Conflict</a:t>
            </a:r>
            <a:r>
              <a:rPr sz="1200" spc="200" dirty="0">
                <a:solidFill>
                  <a:srgbClr val="FF0000"/>
                </a:solidFill>
                <a:latin typeface="Gill Sans MT"/>
                <a:cs typeface="Gill Sans MT"/>
              </a:rPr>
              <a:t> </a:t>
            </a:r>
            <a:r>
              <a:rPr sz="1200" spc="35" dirty="0">
                <a:solidFill>
                  <a:srgbClr val="FF0000"/>
                </a:solidFill>
                <a:latin typeface="Gill Sans MT"/>
                <a:cs typeface="Gill Sans MT"/>
              </a:rPr>
              <a:t>Serializability</a:t>
            </a:r>
            <a:endParaRPr sz="1200" dirty="0">
              <a:solidFill>
                <a:srgbClr val="FF0000"/>
              </a:solidFill>
              <a:latin typeface="Gill Sans MT"/>
              <a:cs typeface="Gill Sans MT"/>
            </a:endParaRPr>
          </a:p>
          <a:p>
            <a:pPr marL="779145" lvl="1" indent="-309245">
              <a:lnSpc>
                <a:spcPct val="100000"/>
              </a:lnSpc>
              <a:buClr>
                <a:srgbClr val="FF8600"/>
              </a:buClr>
              <a:buFont typeface="Wingdings"/>
              <a:buChar char=""/>
              <a:tabLst>
                <a:tab pos="779145" algn="l"/>
              </a:tabLst>
            </a:pPr>
            <a:r>
              <a:rPr sz="1200" dirty="0">
                <a:solidFill>
                  <a:srgbClr val="FF0000"/>
                </a:solidFill>
                <a:latin typeface="Gill Sans MT"/>
                <a:cs typeface="Gill Sans MT"/>
              </a:rPr>
              <a:t>View</a:t>
            </a:r>
            <a:r>
              <a:rPr sz="1200" spc="95" dirty="0">
                <a:solidFill>
                  <a:srgbClr val="FF0000"/>
                </a:solidFill>
                <a:latin typeface="Gill Sans MT"/>
                <a:cs typeface="Gill Sans MT"/>
              </a:rPr>
              <a:t> </a:t>
            </a:r>
            <a:r>
              <a:rPr sz="1200" spc="35" dirty="0">
                <a:solidFill>
                  <a:srgbClr val="FF0000"/>
                </a:solidFill>
                <a:latin typeface="Gill Sans MT"/>
                <a:cs typeface="Gill Sans MT"/>
              </a:rPr>
              <a:t>Serializability</a:t>
            </a:r>
            <a:endParaRPr sz="1200" dirty="0">
              <a:solidFill>
                <a:srgbClr val="FF0000"/>
              </a:solidFill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564892" y="4489703"/>
            <a:ext cx="3805554" cy="283845"/>
          </a:xfrm>
          <a:prstGeom prst="rect">
            <a:avLst/>
          </a:prstGeom>
          <a:ln w="9525">
            <a:solidFill>
              <a:srgbClr val="006FC0"/>
            </a:solidFill>
          </a:ln>
        </p:spPr>
        <p:txBody>
          <a:bodyPr vert="horz" wrap="square" lIns="0" tIns="39370" rIns="0" bIns="0" rtlCol="0">
            <a:spAutoFit/>
          </a:bodyPr>
          <a:lstStyle/>
          <a:p>
            <a:pPr marL="175260">
              <a:lnSpc>
                <a:spcPct val="100000"/>
              </a:lnSpc>
              <a:spcBef>
                <a:spcPts val="310"/>
              </a:spcBef>
            </a:pPr>
            <a:r>
              <a:rPr sz="1200" spc="10" dirty="0">
                <a:solidFill>
                  <a:srgbClr val="FF0000"/>
                </a:solidFill>
                <a:latin typeface="Gill Sans MT"/>
                <a:cs typeface="Gill Sans MT"/>
              </a:rPr>
              <a:t>How</a:t>
            </a:r>
            <a:r>
              <a:rPr sz="1200" spc="-10" dirty="0">
                <a:solidFill>
                  <a:srgbClr val="FF0000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FF0000"/>
                </a:solidFill>
                <a:latin typeface="Gill Sans MT"/>
                <a:cs typeface="Gill Sans MT"/>
              </a:rPr>
              <a:t>to</a:t>
            </a:r>
            <a:r>
              <a:rPr sz="1200" dirty="0">
                <a:solidFill>
                  <a:srgbClr val="FF0000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FF0000"/>
                </a:solidFill>
                <a:latin typeface="Gill Sans MT"/>
                <a:cs typeface="Gill Sans MT"/>
              </a:rPr>
              <a:t>determine</a:t>
            </a:r>
            <a:r>
              <a:rPr sz="1200" spc="-10" dirty="0">
                <a:solidFill>
                  <a:srgbClr val="FF0000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FF0000"/>
                </a:solidFill>
                <a:latin typeface="Gill Sans MT"/>
                <a:cs typeface="Gill Sans MT"/>
              </a:rPr>
              <a:t>when</a:t>
            </a:r>
            <a:r>
              <a:rPr sz="1200" dirty="0">
                <a:solidFill>
                  <a:srgbClr val="FF0000"/>
                </a:solidFill>
                <a:latin typeface="Gill Sans MT"/>
                <a:cs typeface="Gill Sans MT"/>
              </a:rPr>
              <a:t> </a:t>
            </a:r>
            <a:r>
              <a:rPr sz="1200" spc="135" dirty="0">
                <a:solidFill>
                  <a:srgbClr val="FF0000"/>
                </a:solidFill>
                <a:latin typeface="Gill Sans MT"/>
                <a:cs typeface="Gill Sans MT"/>
              </a:rPr>
              <a:t>a</a:t>
            </a:r>
            <a:r>
              <a:rPr sz="1200" dirty="0">
                <a:solidFill>
                  <a:srgbClr val="FF0000"/>
                </a:solidFill>
                <a:latin typeface="Gill Sans MT"/>
                <a:cs typeface="Gill Sans MT"/>
              </a:rPr>
              <a:t> </a:t>
            </a:r>
            <a:r>
              <a:rPr sz="1200" spc="65" dirty="0">
                <a:solidFill>
                  <a:srgbClr val="FF0000"/>
                </a:solidFill>
                <a:latin typeface="Gill Sans MT"/>
                <a:cs typeface="Gill Sans MT"/>
              </a:rPr>
              <a:t>schedule</a:t>
            </a:r>
            <a:r>
              <a:rPr sz="1200" spc="15" dirty="0">
                <a:solidFill>
                  <a:srgbClr val="FF0000"/>
                </a:solidFill>
                <a:latin typeface="Gill Sans MT"/>
                <a:cs typeface="Gill Sans MT"/>
              </a:rPr>
              <a:t> </a:t>
            </a:r>
            <a:r>
              <a:rPr sz="1200" spc="90" dirty="0">
                <a:solidFill>
                  <a:srgbClr val="FF0000"/>
                </a:solidFill>
                <a:latin typeface="Gill Sans MT"/>
                <a:cs typeface="Gill Sans MT"/>
              </a:rPr>
              <a:t>is</a:t>
            </a:r>
            <a:r>
              <a:rPr sz="1200" spc="10" dirty="0">
                <a:solidFill>
                  <a:srgbClr val="FF0000"/>
                </a:solidFill>
                <a:latin typeface="Gill Sans MT"/>
                <a:cs typeface="Gill Sans MT"/>
              </a:rPr>
              <a:t> </a:t>
            </a:r>
            <a:r>
              <a:rPr sz="1200" spc="-10" dirty="0">
                <a:solidFill>
                  <a:srgbClr val="FF0000"/>
                </a:solidFill>
                <a:latin typeface="Gill Sans MT"/>
                <a:cs typeface="Gill Sans MT"/>
              </a:rPr>
              <a:t>serializable!!!</a:t>
            </a:r>
            <a:endParaRPr sz="1200" dirty="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spc="-140" dirty="0">
                <a:solidFill>
                  <a:srgbClr val="FF0000"/>
                </a:solidFill>
              </a:rPr>
              <a:t>Conflicting</a:t>
            </a:r>
            <a:r>
              <a:rPr spc="-190" dirty="0">
                <a:solidFill>
                  <a:srgbClr val="FF0000"/>
                </a:solidFill>
              </a:rPr>
              <a:t> </a:t>
            </a:r>
            <a:r>
              <a:rPr spc="-145" dirty="0">
                <a:solidFill>
                  <a:srgbClr val="FF0000"/>
                </a:solidFill>
              </a:rPr>
              <a:t>Instructions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0400" y="1172971"/>
            <a:ext cx="8632825" cy="2022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0045" marR="55880" indent="-309880">
              <a:lnSpc>
                <a:spcPct val="100000"/>
              </a:lnSpc>
              <a:spcBef>
                <a:spcPts val="100"/>
              </a:spcBef>
              <a:buClr>
                <a:srgbClr val="FF8600"/>
              </a:buClr>
              <a:buSzPct val="129166"/>
              <a:buFont typeface="Cambria Math"/>
              <a:buChar char="◗"/>
              <a:tabLst>
                <a:tab pos="360045" algn="l"/>
              </a:tabLst>
            </a:pP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Let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50" dirty="0">
                <a:solidFill>
                  <a:srgbClr val="212121"/>
                </a:solidFill>
                <a:latin typeface="Gill Sans MT"/>
                <a:cs typeface="Gill Sans MT"/>
              </a:rPr>
              <a:t>l</a:t>
            </a:r>
            <a:r>
              <a:rPr sz="1200" i="1" spc="75" baseline="-20833" dirty="0">
                <a:solidFill>
                  <a:srgbClr val="212121"/>
                </a:solidFill>
                <a:latin typeface="Gill Sans MT"/>
                <a:cs typeface="Gill Sans MT"/>
              </a:rPr>
              <a:t>i</a:t>
            </a:r>
            <a:r>
              <a:rPr sz="1200" i="1" spc="127" baseline="-20833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0" dirty="0">
                <a:solidFill>
                  <a:srgbClr val="212121"/>
                </a:solidFill>
                <a:latin typeface="Gill Sans MT"/>
                <a:cs typeface="Gill Sans MT"/>
              </a:rPr>
              <a:t>and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30" dirty="0">
                <a:solidFill>
                  <a:srgbClr val="212121"/>
                </a:solidFill>
                <a:latin typeface="Gill Sans MT"/>
                <a:cs typeface="Gill Sans MT"/>
              </a:rPr>
              <a:t>l</a:t>
            </a:r>
            <a:r>
              <a:rPr sz="1200" i="1" spc="44" baseline="-20833" dirty="0">
                <a:solidFill>
                  <a:srgbClr val="212121"/>
                </a:solidFill>
                <a:latin typeface="Gill Sans MT"/>
                <a:cs typeface="Gill Sans MT"/>
              </a:rPr>
              <a:t>j</a:t>
            </a:r>
            <a:r>
              <a:rPr sz="1200" i="1" spc="644" baseline="-20833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be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two</a:t>
            </a:r>
            <a:r>
              <a:rPr sz="1200" spc="-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Instructions</a:t>
            </a:r>
            <a:r>
              <a:rPr sz="1200" spc="-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of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transactions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60" dirty="0">
                <a:solidFill>
                  <a:srgbClr val="212121"/>
                </a:solidFill>
                <a:latin typeface="Gill Sans MT"/>
                <a:cs typeface="Gill Sans MT"/>
              </a:rPr>
              <a:t>T</a:t>
            </a:r>
            <a:r>
              <a:rPr sz="1200" i="1" spc="89" baseline="-20833" dirty="0">
                <a:solidFill>
                  <a:srgbClr val="212121"/>
                </a:solidFill>
                <a:latin typeface="Gill Sans MT"/>
                <a:cs typeface="Gill Sans MT"/>
              </a:rPr>
              <a:t>i</a:t>
            </a:r>
            <a:r>
              <a:rPr sz="1200" i="1" spc="157" baseline="-20833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5" dirty="0">
                <a:solidFill>
                  <a:srgbClr val="212121"/>
                </a:solidFill>
                <a:latin typeface="Gill Sans MT"/>
                <a:cs typeface="Gill Sans MT"/>
              </a:rPr>
              <a:t>and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55" dirty="0">
                <a:solidFill>
                  <a:srgbClr val="212121"/>
                </a:solidFill>
                <a:latin typeface="Gill Sans MT"/>
                <a:cs typeface="Gill Sans MT"/>
              </a:rPr>
              <a:t>T</a:t>
            </a:r>
            <a:r>
              <a:rPr sz="1200" i="1" spc="82" baseline="-20833" dirty="0">
                <a:solidFill>
                  <a:srgbClr val="212121"/>
                </a:solidFill>
                <a:latin typeface="Gill Sans MT"/>
                <a:cs typeface="Gill Sans MT"/>
              </a:rPr>
              <a:t>j</a:t>
            </a:r>
            <a:r>
              <a:rPr sz="1200" i="1" spc="157" baseline="-20833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respectively.</a:t>
            </a:r>
            <a:r>
              <a:rPr sz="1200" spc="3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Instructions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50" dirty="0">
                <a:solidFill>
                  <a:srgbClr val="212121"/>
                </a:solidFill>
                <a:latin typeface="Gill Sans MT"/>
                <a:cs typeface="Gill Sans MT"/>
              </a:rPr>
              <a:t>l</a:t>
            </a:r>
            <a:r>
              <a:rPr sz="1200" i="1" spc="75" baseline="-20833" dirty="0">
                <a:solidFill>
                  <a:srgbClr val="212121"/>
                </a:solidFill>
                <a:latin typeface="Gill Sans MT"/>
                <a:cs typeface="Gill Sans MT"/>
              </a:rPr>
              <a:t>i</a:t>
            </a:r>
            <a:r>
              <a:rPr sz="1200" i="1" spc="157" baseline="-20833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0" dirty="0">
                <a:solidFill>
                  <a:srgbClr val="212121"/>
                </a:solidFill>
                <a:latin typeface="Gill Sans MT"/>
                <a:cs typeface="Gill Sans MT"/>
              </a:rPr>
              <a:t>and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30" dirty="0">
                <a:solidFill>
                  <a:srgbClr val="212121"/>
                </a:solidFill>
                <a:latin typeface="Gill Sans MT"/>
                <a:cs typeface="Gill Sans MT"/>
              </a:rPr>
              <a:t>l</a:t>
            </a:r>
            <a:r>
              <a:rPr sz="1200" i="1" spc="44" baseline="-20833" dirty="0">
                <a:solidFill>
                  <a:srgbClr val="212121"/>
                </a:solidFill>
                <a:latin typeface="Gill Sans MT"/>
                <a:cs typeface="Gill Sans MT"/>
              </a:rPr>
              <a:t>j</a:t>
            </a:r>
            <a:r>
              <a:rPr sz="1200" i="1" spc="157" baseline="-20833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006FC0"/>
                </a:solidFill>
                <a:latin typeface="Gill Sans MT"/>
                <a:cs typeface="Gill Sans MT"/>
              </a:rPr>
              <a:t>conflict</a:t>
            </a:r>
            <a:r>
              <a:rPr sz="1200" spc="-20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if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0" dirty="0">
                <a:solidFill>
                  <a:srgbClr val="212121"/>
                </a:solidFill>
                <a:latin typeface="Gill Sans MT"/>
                <a:cs typeface="Gill Sans MT"/>
              </a:rPr>
              <a:t>and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only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if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there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exists </a:t>
            </a:r>
            <a:r>
              <a:rPr sz="1200" spc="85" dirty="0">
                <a:solidFill>
                  <a:srgbClr val="212121"/>
                </a:solidFill>
                <a:latin typeface="Gill Sans MT"/>
                <a:cs typeface="Gill Sans MT"/>
              </a:rPr>
              <a:t>some</a:t>
            </a:r>
            <a:r>
              <a:rPr sz="12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item</a:t>
            </a:r>
            <a:r>
              <a:rPr sz="1200" spc="3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dirty="0">
                <a:solidFill>
                  <a:srgbClr val="212121"/>
                </a:solidFill>
                <a:latin typeface="Gill Sans MT"/>
                <a:cs typeface="Gill Sans MT"/>
              </a:rPr>
              <a:t>Q</a:t>
            </a:r>
            <a:r>
              <a:rPr sz="1200" i="1" spc="5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0" dirty="0">
                <a:solidFill>
                  <a:srgbClr val="212121"/>
                </a:solidFill>
                <a:latin typeface="Gill Sans MT"/>
                <a:cs typeface="Gill Sans MT"/>
              </a:rPr>
              <a:t>accessed</a:t>
            </a:r>
            <a:r>
              <a:rPr sz="1200" spc="4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by</a:t>
            </a:r>
            <a:r>
              <a:rPr sz="12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both</a:t>
            </a:r>
            <a:r>
              <a:rPr sz="1200" spc="4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50" dirty="0">
                <a:solidFill>
                  <a:srgbClr val="212121"/>
                </a:solidFill>
                <a:latin typeface="Gill Sans MT"/>
                <a:cs typeface="Gill Sans MT"/>
              </a:rPr>
              <a:t>l</a:t>
            </a:r>
            <a:r>
              <a:rPr sz="1200" i="1" spc="75" baseline="-20833" dirty="0">
                <a:solidFill>
                  <a:srgbClr val="212121"/>
                </a:solidFill>
                <a:latin typeface="Gill Sans MT"/>
                <a:cs typeface="Gill Sans MT"/>
              </a:rPr>
              <a:t>i</a:t>
            </a:r>
            <a:r>
              <a:rPr sz="1200" i="1" spc="187" baseline="-20833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0" dirty="0">
                <a:solidFill>
                  <a:srgbClr val="212121"/>
                </a:solidFill>
                <a:latin typeface="Gill Sans MT"/>
                <a:cs typeface="Gill Sans MT"/>
              </a:rPr>
              <a:t>and</a:t>
            </a:r>
            <a:r>
              <a:rPr sz="1200" spc="4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dirty="0">
                <a:solidFill>
                  <a:srgbClr val="212121"/>
                </a:solidFill>
                <a:latin typeface="Gill Sans MT"/>
                <a:cs typeface="Gill Sans MT"/>
              </a:rPr>
              <a:t>l</a:t>
            </a:r>
            <a:r>
              <a:rPr sz="1200" i="1" baseline="-20833" dirty="0">
                <a:solidFill>
                  <a:srgbClr val="212121"/>
                </a:solidFill>
                <a:latin typeface="Gill Sans MT"/>
                <a:cs typeface="Gill Sans MT"/>
              </a:rPr>
              <a:t>j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,</a:t>
            </a:r>
            <a:r>
              <a:rPr sz="12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0" dirty="0">
                <a:solidFill>
                  <a:srgbClr val="212121"/>
                </a:solidFill>
                <a:latin typeface="Gill Sans MT"/>
                <a:cs typeface="Gill Sans MT"/>
              </a:rPr>
              <a:t>and</a:t>
            </a:r>
            <a:r>
              <a:rPr sz="1200" spc="4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at</a:t>
            </a:r>
            <a:r>
              <a:rPr sz="12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70" dirty="0">
                <a:solidFill>
                  <a:srgbClr val="212121"/>
                </a:solidFill>
                <a:latin typeface="Gill Sans MT"/>
                <a:cs typeface="Gill Sans MT"/>
              </a:rPr>
              <a:t>least</a:t>
            </a:r>
            <a:r>
              <a:rPr sz="1200" spc="3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one</a:t>
            </a:r>
            <a:r>
              <a:rPr sz="1200" spc="4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of</a:t>
            </a:r>
            <a:r>
              <a:rPr sz="12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these</a:t>
            </a:r>
            <a:r>
              <a:rPr sz="12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instructions</a:t>
            </a:r>
            <a:r>
              <a:rPr sz="12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wrote</a:t>
            </a:r>
            <a:r>
              <a:rPr sz="1200" spc="3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-25" dirty="0">
                <a:solidFill>
                  <a:srgbClr val="212121"/>
                </a:solidFill>
                <a:latin typeface="Gill Sans MT"/>
                <a:cs typeface="Gill Sans MT"/>
              </a:rPr>
              <a:t>Q.</a:t>
            </a:r>
            <a:endParaRPr sz="1200">
              <a:latin typeface="Gill Sans MT"/>
              <a:cs typeface="Gill Sans MT"/>
            </a:endParaRPr>
          </a:p>
          <a:p>
            <a:pPr marL="810895" lvl="1" indent="-264795">
              <a:lnSpc>
                <a:spcPct val="100000"/>
              </a:lnSpc>
              <a:spcBef>
                <a:spcPts val="720"/>
              </a:spcBef>
              <a:buClr>
                <a:srgbClr val="FF8600"/>
              </a:buClr>
              <a:buSzPct val="87500"/>
              <a:buFont typeface="Wingdings"/>
              <a:buChar char=""/>
              <a:tabLst>
                <a:tab pos="810895" algn="l"/>
              </a:tabLst>
            </a:pPr>
            <a:r>
              <a:rPr sz="1200" i="1" spc="50" dirty="0">
                <a:solidFill>
                  <a:srgbClr val="212121"/>
                </a:solidFill>
                <a:latin typeface="Gill Sans MT"/>
                <a:cs typeface="Gill Sans MT"/>
              </a:rPr>
              <a:t>l</a:t>
            </a:r>
            <a:r>
              <a:rPr sz="1200" i="1" spc="75" baseline="-20833" dirty="0">
                <a:solidFill>
                  <a:srgbClr val="212121"/>
                </a:solidFill>
                <a:latin typeface="Gill Sans MT"/>
                <a:cs typeface="Gill Sans MT"/>
              </a:rPr>
              <a:t>i</a:t>
            </a:r>
            <a:r>
              <a:rPr sz="1200" i="1" spc="142" baseline="-20833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-60" dirty="0">
                <a:solidFill>
                  <a:srgbClr val="212121"/>
                </a:solidFill>
                <a:latin typeface="Gill Sans MT"/>
                <a:cs typeface="Gill Sans MT"/>
              </a:rPr>
              <a:t>=</a:t>
            </a:r>
            <a:r>
              <a:rPr sz="1200" i="1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b="1" i="1" dirty="0">
                <a:solidFill>
                  <a:srgbClr val="212121"/>
                </a:solidFill>
                <a:latin typeface="Gill Sans MT"/>
                <a:cs typeface="Gill Sans MT"/>
              </a:rPr>
              <a:t>read</a:t>
            </a:r>
            <a:r>
              <a:rPr sz="1200" i="1" dirty="0">
                <a:solidFill>
                  <a:srgbClr val="212121"/>
                </a:solidFill>
                <a:latin typeface="Gill Sans MT"/>
                <a:cs typeface="Gill Sans MT"/>
              </a:rPr>
              <a:t>(Q),</a:t>
            </a:r>
            <a:r>
              <a:rPr sz="1200" i="1" spc="3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50" dirty="0">
                <a:solidFill>
                  <a:srgbClr val="212121"/>
                </a:solidFill>
                <a:latin typeface="Gill Sans MT"/>
                <a:cs typeface="Gill Sans MT"/>
              </a:rPr>
              <a:t>l</a:t>
            </a:r>
            <a:r>
              <a:rPr sz="1200" i="1" spc="75" baseline="-20833" dirty="0">
                <a:solidFill>
                  <a:srgbClr val="212121"/>
                </a:solidFill>
                <a:latin typeface="Gill Sans MT"/>
                <a:cs typeface="Gill Sans MT"/>
              </a:rPr>
              <a:t>j</a:t>
            </a:r>
            <a:r>
              <a:rPr sz="1200" i="1" spc="135" baseline="-20833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dirty="0">
                <a:solidFill>
                  <a:srgbClr val="212121"/>
                </a:solidFill>
                <a:latin typeface="Gill Sans MT"/>
                <a:cs typeface="Gill Sans MT"/>
              </a:rPr>
              <a:t>=</a:t>
            </a:r>
            <a:r>
              <a:rPr sz="1200" i="1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b="1" i="1" dirty="0">
                <a:solidFill>
                  <a:srgbClr val="212121"/>
                </a:solidFill>
                <a:latin typeface="Gill Sans MT"/>
                <a:cs typeface="Gill Sans MT"/>
              </a:rPr>
              <a:t>read</a:t>
            </a:r>
            <a:r>
              <a:rPr sz="1200" i="1" dirty="0">
                <a:solidFill>
                  <a:srgbClr val="212121"/>
                </a:solidFill>
                <a:latin typeface="Gill Sans MT"/>
                <a:cs typeface="Gill Sans MT"/>
              </a:rPr>
              <a:t>(Q).</a:t>
            </a:r>
            <a:r>
              <a:rPr sz="1200" i="1" spc="150" dirty="0">
                <a:solidFill>
                  <a:srgbClr val="212121"/>
                </a:solidFill>
                <a:latin typeface="Gill Sans MT"/>
                <a:cs typeface="Gill Sans MT"/>
              </a:rPr>
              <a:t>  </a:t>
            </a:r>
            <a:r>
              <a:rPr sz="1200" i="1" spc="55" dirty="0">
                <a:solidFill>
                  <a:srgbClr val="212121"/>
                </a:solidFill>
                <a:latin typeface="Gill Sans MT"/>
                <a:cs typeface="Gill Sans MT"/>
              </a:rPr>
              <a:t>l</a:t>
            </a:r>
            <a:r>
              <a:rPr sz="1200" i="1" spc="82" baseline="-20833" dirty="0">
                <a:solidFill>
                  <a:srgbClr val="212121"/>
                </a:solidFill>
                <a:latin typeface="Gill Sans MT"/>
                <a:cs typeface="Gill Sans MT"/>
              </a:rPr>
              <a:t>i</a:t>
            </a:r>
            <a:r>
              <a:rPr sz="1200" i="1" spc="120" baseline="-20833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80" dirty="0">
                <a:solidFill>
                  <a:srgbClr val="212121"/>
                </a:solidFill>
                <a:latin typeface="Gill Sans MT"/>
                <a:cs typeface="Gill Sans MT"/>
              </a:rPr>
              <a:t>and</a:t>
            </a:r>
            <a:r>
              <a:rPr sz="1200" i="1" dirty="0">
                <a:solidFill>
                  <a:srgbClr val="212121"/>
                </a:solidFill>
                <a:latin typeface="Gill Sans MT"/>
                <a:cs typeface="Gill Sans MT"/>
              </a:rPr>
              <a:t> l</a:t>
            </a:r>
            <a:r>
              <a:rPr sz="1200" i="1" baseline="-20833" dirty="0">
                <a:solidFill>
                  <a:srgbClr val="212121"/>
                </a:solidFill>
                <a:latin typeface="Gill Sans MT"/>
                <a:cs typeface="Gill Sans MT"/>
              </a:rPr>
              <a:t>j</a:t>
            </a:r>
            <a:r>
              <a:rPr sz="1200" i="1" spc="150" baseline="-20833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70" dirty="0">
                <a:solidFill>
                  <a:srgbClr val="212121"/>
                </a:solidFill>
                <a:latin typeface="Gill Sans MT"/>
                <a:cs typeface="Gill Sans MT"/>
              </a:rPr>
              <a:t>don’t</a:t>
            </a:r>
            <a:r>
              <a:rPr sz="1200" i="1" spc="-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80" dirty="0">
                <a:solidFill>
                  <a:srgbClr val="212121"/>
                </a:solidFill>
                <a:latin typeface="Gill Sans MT"/>
                <a:cs typeface="Gill Sans MT"/>
              </a:rPr>
              <a:t>conflict.</a:t>
            </a:r>
            <a:endParaRPr sz="1200">
              <a:latin typeface="Gill Sans MT"/>
              <a:cs typeface="Gill Sans MT"/>
            </a:endParaRPr>
          </a:p>
          <a:p>
            <a:pPr marL="810895" lvl="1" indent="-264795">
              <a:lnSpc>
                <a:spcPct val="100000"/>
              </a:lnSpc>
              <a:buClr>
                <a:srgbClr val="FF8600"/>
              </a:buClr>
              <a:buSzPct val="87500"/>
              <a:buFont typeface="Wingdings"/>
              <a:buChar char=""/>
              <a:tabLst>
                <a:tab pos="810895" algn="l"/>
              </a:tabLst>
            </a:pPr>
            <a:r>
              <a:rPr sz="1200" i="1" spc="50" dirty="0">
                <a:solidFill>
                  <a:srgbClr val="212121"/>
                </a:solidFill>
                <a:latin typeface="Gill Sans MT"/>
                <a:cs typeface="Gill Sans MT"/>
              </a:rPr>
              <a:t>l</a:t>
            </a:r>
            <a:r>
              <a:rPr sz="1200" i="1" spc="75" baseline="-20833" dirty="0">
                <a:solidFill>
                  <a:srgbClr val="212121"/>
                </a:solidFill>
                <a:latin typeface="Gill Sans MT"/>
                <a:cs typeface="Gill Sans MT"/>
              </a:rPr>
              <a:t>i</a:t>
            </a:r>
            <a:r>
              <a:rPr sz="1200" i="1" spc="135" baseline="-20833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-60" dirty="0">
                <a:solidFill>
                  <a:srgbClr val="212121"/>
                </a:solidFill>
                <a:latin typeface="Gill Sans MT"/>
                <a:cs typeface="Gill Sans MT"/>
              </a:rPr>
              <a:t>=</a:t>
            </a:r>
            <a:r>
              <a:rPr sz="1200" i="1" spc="-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b="1" i="1" dirty="0">
                <a:solidFill>
                  <a:srgbClr val="212121"/>
                </a:solidFill>
                <a:latin typeface="Gill Sans MT"/>
                <a:cs typeface="Gill Sans MT"/>
              </a:rPr>
              <a:t>read</a:t>
            </a:r>
            <a:r>
              <a:rPr sz="1200" i="1" dirty="0">
                <a:solidFill>
                  <a:srgbClr val="212121"/>
                </a:solidFill>
                <a:latin typeface="Gill Sans MT"/>
                <a:cs typeface="Gill Sans MT"/>
              </a:rPr>
              <a:t>(Q),</a:t>
            </a:r>
            <a:r>
              <a:rPr sz="1200" i="1" spc="3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50" dirty="0">
                <a:solidFill>
                  <a:srgbClr val="212121"/>
                </a:solidFill>
                <a:latin typeface="Gill Sans MT"/>
                <a:cs typeface="Gill Sans MT"/>
              </a:rPr>
              <a:t>l</a:t>
            </a:r>
            <a:r>
              <a:rPr sz="1200" i="1" spc="75" baseline="-20833" dirty="0">
                <a:solidFill>
                  <a:srgbClr val="212121"/>
                </a:solidFill>
                <a:latin typeface="Gill Sans MT"/>
                <a:cs typeface="Gill Sans MT"/>
              </a:rPr>
              <a:t>j</a:t>
            </a:r>
            <a:r>
              <a:rPr sz="1200" i="1" spc="120" baseline="-20833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dirty="0">
                <a:solidFill>
                  <a:srgbClr val="212121"/>
                </a:solidFill>
                <a:latin typeface="Gill Sans MT"/>
                <a:cs typeface="Gill Sans MT"/>
              </a:rPr>
              <a:t>= </a:t>
            </a:r>
            <a:r>
              <a:rPr sz="1200" b="1" i="1" dirty="0">
                <a:solidFill>
                  <a:srgbClr val="212121"/>
                </a:solidFill>
                <a:latin typeface="Gill Sans MT"/>
                <a:cs typeface="Gill Sans MT"/>
              </a:rPr>
              <a:t>write</a:t>
            </a:r>
            <a:r>
              <a:rPr sz="1200" i="1" dirty="0">
                <a:solidFill>
                  <a:srgbClr val="212121"/>
                </a:solidFill>
                <a:latin typeface="Gill Sans MT"/>
                <a:cs typeface="Gill Sans MT"/>
              </a:rPr>
              <a:t>(Q).</a:t>
            </a:r>
            <a:r>
              <a:rPr sz="1200" i="1" spc="30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85" dirty="0">
                <a:solidFill>
                  <a:srgbClr val="212121"/>
                </a:solidFill>
                <a:latin typeface="Gill Sans MT"/>
                <a:cs typeface="Gill Sans MT"/>
              </a:rPr>
              <a:t>They</a:t>
            </a:r>
            <a:r>
              <a:rPr sz="1200" i="1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80" dirty="0">
                <a:solidFill>
                  <a:srgbClr val="212121"/>
                </a:solidFill>
                <a:latin typeface="Gill Sans MT"/>
                <a:cs typeface="Gill Sans MT"/>
              </a:rPr>
              <a:t>conflict.</a:t>
            </a:r>
            <a:endParaRPr sz="1200">
              <a:latin typeface="Gill Sans MT"/>
              <a:cs typeface="Gill Sans MT"/>
            </a:endParaRPr>
          </a:p>
          <a:p>
            <a:pPr marL="810895" lvl="1" indent="-264795">
              <a:lnSpc>
                <a:spcPct val="100000"/>
              </a:lnSpc>
              <a:buClr>
                <a:srgbClr val="FF8600"/>
              </a:buClr>
              <a:buSzPct val="87500"/>
              <a:buFont typeface="Wingdings"/>
              <a:buChar char=""/>
              <a:tabLst>
                <a:tab pos="810895" algn="l"/>
              </a:tabLst>
            </a:pPr>
            <a:r>
              <a:rPr sz="1200" i="1" spc="50" dirty="0">
                <a:solidFill>
                  <a:srgbClr val="212121"/>
                </a:solidFill>
                <a:latin typeface="Gill Sans MT"/>
                <a:cs typeface="Gill Sans MT"/>
              </a:rPr>
              <a:t>l</a:t>
            </a:r>
            <a:r>
              <a:rPr sz="1200" i="1" spc="75" baseline="-20833" dirty="0">
                <a:solidFill>
                  <a:srgbClr val="212121"/>
                </a:solidFill>
                <a:latin typeface="Gill Sans MT"/>
                <a:cs typeface="Gill Sans MT"/>
              </a:rPr>
              <a:t>i</a:t>
            </a:r>
            <a:r>
              <a:rPr sz="1200" i="1" spc="150" baseline="-20833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-60" dirty="0">
                <a:solidFill>
                  <a:srgbClr val="212121"/>
                </a:solidFill>
                <a:latin typeface="Gill Sans MT"/>
                <a:cs typeface="Gill Sans MT"/>
              </a:rPr>
              <a:t>=</a:t>
            </a:r>
            <a:r>
              <a:rPr sz="1200" i="1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b="1" i="1" dirty="0">
                <a:solidFill>
                  <a:srgbClr val="212121"/>
                </a:solidFill>
                <a:latin typeface="Gill Sans MT"/>
                <a:cs typeface="Gill Sans MT"/>
              </a:rPr>
              <a:t>write</a:t>
            </a:r>
            <a:r>
              <a:rPr sz="1200" i="1" dirty="0">
                <a:solidFill>
                  <a:srgbClr val="212121"/>
                </a:solidFill>
                <a:latin typeface="Gill Sans MT"/>
                <a:cs typeface="Gill Sans MT"/>
              </a:rPr>
              <a:t>(Q),</a:t>
            </a:r>
            <a:r>
              <a:rPr sz="1200" i="1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50" dirty="0">
                <a:solidFill>
                  <a:srgbClr val="212121"/>
                </a:solidFill>
                <a:latin typeface="Gill Sans MT"/>
                <a:cs typeface="Gill Sans MT"/>
              </a:rPr>
              <a:t>l</a:t>
            </a:r>
            <a:r>
              <a:rPr sz="1200" i="1" spc="75" baseline="-20833" dirty="0">
                <a:solidFill>
                  <a:srgbClr val="212121"/>
                </a:solidFill>
                <a:latin typeface="Gill Sans MT"/>
                <a:cs typeface="Gill Sans MT"/>
              </a:rPr>
              <a:t>j</a:t>
            </a:r>
            <a:r>
              <a:rPr sz="1200" i="1" spc="142" baseline="-20833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-60" dirty="0">
                <a:solidFill>
                  <a:srgbClr val="212121"/>
                </a:solidFill>
                <a:latin typeface="Gill Sans MT"/>
                <a:cs typeface="Gill Sans MT"/>
              </a:rPr>
              <a:t>=</a:t>
            </a:r>
            <a:r>
              <a:rPr sz="1200" i="1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b="1" i="1" dirty="0">
                <a:solidFill>
                  <a:srgbClr val="212121"/>
                </a:solidFill>
                <a:latin typeface="Gill Sans MT"/>
                <a:cs typeface="Gill Sans MT"/>
              </a:rPr>
              <a:t>read</a:t>
            </a:r>
            <a:r>
              <a:rPr sz="1200" i="1" dirty="0">
                <a:solidFill>
                  <a:srgbClr val="212121"/>
                </a:solidFill>
                <a:latin typeface="Gill Sans MT"/>
                <a:cs typeface="Gill Sans MT"/>
              </a:rPr>
              <a:t>(Q).</a:t>
            </a:r>
            <a:r>
              <a:rPr sz="1200" i="1" spc="160" dirty="0">
                <a:solidFill>
                  <a:srgbClr val="212121"/>
                </a:solidFill>
                <a:latin typeface="Gill Sans MT"/>
                <a:cs typeface="Gill Sans MT"/>
              </a:rPr>
              <a:t>  </a:t>
            </a:r>
            <a:r>
              <a:rPr sz="1200" i="1" spc="85" dirty="0">
                <a:solidFill>
                  <a:srgbClr val="212121"/>
                </a:solidFill>
                <a:latin typeface="Gill Sans MT"/>
                <a:cs typeface="Gill Sans MT"/>
              </a:rPr>
              <a:t>They</a:t>
            </a:r>
            <a:r>
              <a:rPr sz="1200" i="1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75" dirty="0">
                <a:solidFill>
                  <a:srgbClr val="212121"/>
                </a:solidFill>
                <a:latin typeface="Gill Sans MT"/>
                <a:cs typeface="Gill Sans MT"/>
              </a:rPr>
              <a:t>conflict.</a:t>
            </a:r>
            <a:endParaRPr sz="1200">
              <a:latin typeface="Gill Sans MT"/>
              <a:cs typeface="Gill Sans MT"/>
            </a:endParaRPr>
          </a:p>
          <a:p>
            <a:pPr marL="810895" lvl="1" indent="-264795">
              <a:lnSpc>
                <a:spcPct val="100000"/>
              </a:lnSpc>
              <a:buClr>
                <a:srgbClr val="FF8600"/>
              </a:buClr>
              <a:buSzPct val="87500"/>
              <a:buFont typeface="Wingdings"/>
              <a:buChar char=""/>
              <a:tabLst>
                <a:tab pos="810895" algn="l"/>
              </a:tabLst>
            </a:pPr>
            <a:r>
              <a:rPr sz="1200" i="1" spc="50" dirty="0">
                <a:solidFill>
                  <a:srgbClr val="212121"/>
                </a:solidFill>
                <a:latin typeface="Gill Sans MT"/>
                <a:cs typeface="Gill Sans MT"/>
              </a:rPr>
              <a:t>l</a:t>
            </a:r>
            <a:r>
              <a:rPr sz="1200" i="1" spc="75" baseline="-20833" dirty="0">
                <a:solidFill>
                  <a:srgbClr val="212121"/>
                </a:solidFill>
                <a:latin typeface="Gill Sans MT"/>
                <a:cs typeface="Gill Sans MT"/>
              </a:rPr>
              <a:t>i</a:t>
            </a:r>
            <a:r>
              <a:rPr sz="1200" i="1" spc="135" baseline="-20833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-60" dirty="0">
                <a:solidFill>
                  <a:srgbClr val="212121"/>
                </a:solidFill>
                <a:latin typeface="Gill Sans MT"/>
                <a:cs typeface="Gill Sans MT"/>
              </a:rPr>
              <a:t>=</a:t>
            </a:r>
            <a:r>
              <a:rPr sz="1200" i="1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b="1" i="1" dirty="0">
                <a:solidFill>
                  <a:srgbClr val="212121"/>
                </a:solidFill>
                <a:latin typeface="Gill Sans MT"/>
                <a:cs typeface="Gill Sans MT"/>
              </a:rPr>
              <a:t>write</a:t>
            </a:r>
            <a:r>
              <a:rPr sz="1200" i="1" dirty="0">
                <a:solidFill>
                  <a:srgbClr val="212121"/>
                </a:solidFill>
                <a:latin typeface="Gill Sans MT"/>
                <a:cs typeface="Gill Sans MT"/>
              </a:rPr>
              <a:t>(Q),</a:t>
            </a:r>
            <a:r>
              <a:rPr sz="1200" i="1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50" dirty="0">
                <a:solidFill>
                  <a:srgbClr val="212121"/>
                </a:solidFill>
                <a:latin typeface="Gill Sans MT"/>
                <a:cs typeface="Gill Sans MT"/>
              </a:rPr>
              <a:t>l</a:t>
            </a:r>
            <a:r>
              <a:rPr sz="1200" i="1" spc="75" baseline="-20833" dirty="0">
                <a:solidFill>
                  <a:srgbClr val="212121"/>
                </a:solidFill>
                <a:latin typeface="Gill Sans MT"/>
                <a:cs typeface="Gill Sans MT"/>
              </a:rPr>
              <a:t>j</a:t>
            </a:r>
            <a:r>
              <a:rPr sz="1200" i="1" spc="120" baseline="-20833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-60" dirty="0">
                <a:solidFill>
                  <a:srgbClr val="212121"/>
                </a:solidFill>
                <a:latin typeface="Gill Sans MT"/>
                <a:cs typeface="Gill Sans MT"/>
              </a:rPr>
              <a:t>=</a:t>
            </a:r>
            <a:r>
              <a:rPr sz="1200" i="1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b="1" i="1" dirty="0">
                <a:solidFill>
                  <a:srgbClr val="212121"/>
                </a:solidFill>
                <a:latin typeface="Gill Sans MT"/>
                <a:cs typeface="Gill Sans MT"/>
              </a:rPr>
              <a:t>write</a:t>
            </a:r>
            <a:r>
              <a:rPr sz="1200" i="1" dirty="0">
                <a:solidFill>
                  <a:srgbClr val="212121"/>
                </a:solidFill>
                <a:latin typeface="Gill Sans MT"/>
                <a:cs typeface="Gill Sans MT"/>
              </a:rPr>
              <a:t>(Q).</a:t>
            </a:r>
            <a:r>
              <a:rPr sz="1200" i="1" spc="3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85" dirty="0">
                <a:solidFill>
                  <a:srgbClr val="212121"/>
                </a:solidFill>
                <a:latin typeface="Gill Sans MT"/>
                <a:cs typeface="Gill Sans MT"/>
              </a:rPr>
              <a:t>They</a:t>
            </a:r>
            <a:r>
              <a:rPr sz="1200" i="1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80" dirty="0">
                <a:solidFill>
                  <a:srgbClr val="212121"/>
                </a:solidFill>
                <a:latin typeface="Gill Sans MT"/>
                <a:cs typeface="Gill Sans MT"/>
              </a:rPr>
              <a:t>conflict.</a:t>
            </a:r>
            <a:endParaRPr sz="1200">
              <a:latin typeface="Gill Sans MT"/>
              <a:cs typeface="Gill Sans MT"/>
            </a:endParaRPr>
          </a:p>
          <a:p>
            <a:pPr lvl="1">
              <a:lnSpc>
                <a:spcPct val="100000"/>
              </a:lnSpc>
              <a:spcBef>
                <a:spcPts val="650"/>
              </a:spcBef>
              <a:buClr>
                <a:srgbClr val="FF8600"/>
              </a:buClr>
              <a:buFont typeface="Wingdings"/>
              <a:buChar char=""/>
            </a:pPr>
            <a:endParaRPr sz="1200">
              <a:latin typeface="Gill Sans MT"/>
              <a:cs typeface="Gill Sans MT"/>
            </a:endParaRPr>
          </a:p>
          <a:p>
            <a:pPr marL="360045" indent="-309245">
              <a:lnSpc>
                <a:spcPct val="100000"/>
              </a:lnSpc>
              <a:buClr>
                <a:srgbClr val="FF8600"/>
              </a:buClr>
              <a:buSzPct val="129166"/>
              <a:buFont typeface="Cambria Math"/>
              <a:buChar char="◗"/>
              <a:tabLst>
                <a:tab pos="360045" algn="l"/>
              </a:tabLst>
            </a:pP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Intuitively,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35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spc="3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conflict</a:t>
            </a:r>
            <a:r>
              <a:rPr sz="1200" spc="4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between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50" dirty="0">
                <a:solidFill>
                  <a:srgbClr val="212121"/>
                </a:solidFill>
                <a:latin typeface="Gill Sans MT"/>
                <a:cs typeface="Gill Sans MT"/>
              </a:rPr>
              <a:t>l</a:t>
            </a:r>
            <a:r>
              <a:rPr sz="1200" i="1" spc="75" baseline="-20833" dirty="0">
                <a:solidFill>
                  <a:srgbClr val="212121"/>
                </a:solidFill>
                <a:latin typeface="Gill Sans MT"/>
                <a:cs typeface="Gill Sans MT"/>
              </a:rPr>
              <a:t>i</a:t>
            </a:r>
            <a:r>
              <a:rPr sz="1200" i="1" spc="240" baseline="-20833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0" dirty="0">
                <a:solidFill>
                  <a:srgbClr val="212121"/>
                </a:solidFill>
                <a:latin typeface="Gill Sans MT"/>
                <a:cs typeface="Gill Sans MT"/>
              </a:rPr>
              <a:t>and</a:t>
            </a:r>
            <a:r>
              <a:rPr sz="1200" spc="4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10" dirty="0">
                <a:solidFill>
                  <a:srgbClr val="212121"/>
                </a:solidFill>
                <a:latin typeface="Gill Sans MT"/>
                <a:cs typeface="Gill Sans MT"/>
              </a:rPr>
              <a:t>l</a:t>
            </a:r>
            <a:r>
              <a:rPr sz="1200" i="1" spc="15" baseline="-20833" dirty="0">
                <a:solidFill>
                  <a:srgbClr val="212121"/>
                </a:solidFill>
                <a:latin typeface="Gill Sans MT"/>
                <a:cs typeface="Gill Sans MT"/>
              </a:rPr>
              <a:t>j</a:t>
            </a:r>
            <a:r>
              <a:rPr sz="1200" i="1" spc="240" baseline="-20833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forces</a:t>
            </a:r>
            <a:r>
              <a:rPr sz="1200" spc="3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35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(logical)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temporal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order</a:t>
            </a:r>
            <a:r>
              <a:rPr sz="1200" spc="3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between</a:t>
            </a:r>
            <a:r>
              <a:rPr sz="1200" spc="40" dirty="0">
                <a:solidFill>
                  <a:srgbClr val="212121"/>
                </a:solidFill>
                <a:latin typeface="Gill Sans MT"/>
                <a:cs typeface="Gill Sans MT"/>
              </a:rPr>
              <a:t> them.</a:t>
            </a:r>
            <a:endParaRPr sz="1200">
              <a:latin typeface="Gill Sans MT"/>
              <a:cs typeface="Gill Sans MT"/>
            </a:endParaRPr>
          </a:p>
          <a:p>
            <a:pPr marL="810895" marR="274955" lvl="1" indent="-265430">
              <a:lnSpc>
                <a:spcPct val="100000"/>
              </a:lnSpc>
              <a:buClr>
                <a:srgbClr val="FF8600"/>
              </a:buClr>
              <a:buSzPct val="87500"/>
              <a:buFont typeface="Wingdings"/>
              <a:buChar char=""/>
              <a:tabLst>
                <a:tab pos="810895" algn="l"/>
              </a:tabLst>
            </a:pP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If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50" dirty="0">
                <a:solidFill>
                  <a:srgbClr val="212121"/>
                </a:solidFill>
                <a:latin typeface="Gill Sans MT"/>
                <a:cs typeface="Gill Sans MT"/>
              </a:rPr>
              <a:t>l</a:t>
            </a:r>
            <a:r>
              <a:rPr sz="1200" i="1" spc="75" baseline="-20833" dirty="0">
                <a:solidFill>
                  <a:srgbClr val="212121"/>
                </a:solidFill>
                <a:latin typeface="Gill Sans MT"/>
                <a:cs typeface="Gill Sans MT"/>
              </a:rPr>
              <a:t>i</a:t>
            </a:r>
            <a:r>
              <a:rPr sz="1200" i="1" spc="165" baseline="-20833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0" dirty="0">
                <a:solidFill>
                  <a:srgbClr val="212121"/>
                </a:solidFill>
                <a:latin typeface="Gill Sans MT"/>
                <a:cs typeface="Gill Sans MT"/>
              </a:rPr>
              <a:t>and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20" dirty="0">
                <a:solidFill>
                  <a:srgbClr val="212121"/>
                </a:solidFill>
                <a:latin typeface="Gill Sans MT"/>
                <a:cs typeface="Gill Sans MT"/>
              </a:rPr>
              <a:t>l</a:t>
            </a:r>
            <a:r>
              <a:rPr sz="1200" i="1" spc="30" baseline="-20833" dirty="0">
                <a:solidFill>
                  <a:srgbClr val="212121"/>
                </a:solidFill>
                <a:latin typeface="Gill Sans MT"/>
                <a:cs typeface="Gill Sans MT"/>
              </a:rPr>
              <a:t>j</a:t>
            </a:r>
            <a:r>
              <a:rPr sz="1200" i="1" spc="150" baseline="-20833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are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consecutive</a:t>
            </a:r>
            <a:r>
              <a:rPr sz="1200" spc="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in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35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schedule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0" dirty="0">
                <a:solidFill>
                  <a:srgbClr val="212121"/>
                </a:solidFill>
                <a:latin typeface="Gill Sans MT"/>
                <a:cs typeface="Gill Sans MT"/>
              </a:rPr>
              <a:t>and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they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do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not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conflict,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their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results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would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remain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the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14" dirty="0">
                <a:solidFill>
                  <a:srgbClr val="212121"/>
                </a:solidFill>
                <a:latin typeface="Gill Sans MT"/>
                <a:cs typeface="Gill Sans MT"/>
              </a:rPr>
              <a:t>same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even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if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-20" dirty="0">
                <a:solidFill>
                  <a:srgbClr val="212121"/>
                </a:solidFill>
                <a:latin typeface="Gill Sans MT"/>
                <a:cs typeface="Gill Sans MT"/>
              </a:rPr>
              <a:t>they </a:t>
            </a:r>
            <a:r>
              <a:rPr sz="1200" spc="80" dirty="0">
                <a:solidFill>
                  <a:srgbClr val="212121"/>
                </a:solidFill>
                <a:latin typeface="Gill Sans MT"/>
                <a:cs typeface="Gill Sans MT"/>
              </a:rPr>
              <a:t>had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been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interchanged</a:t>
            </a:r>
            <a:r>
              <a:rPr sz="1200" spc="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in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the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schedule.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5" dirty="0">
                <a:solidFill>
                  <a:srgbClr val="FFFFFF"/>
                </a:solidFill>
                <a:latin typeface="Gill Sans MT"/>
                <a:cs typeface="Gill Sans MT"/>
              </a:rPr>
              <a:t>17</a:t>
            </a:r>
            <a:endParaRPr sz="13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spc="-125" dirty="0">
                <a:solidFill>
                  <a:srgbClr val="FF0000"/>
                </a:solidFill>
              </a:rPr>
              <a:t>Conflict</a:t>
            </a:r>
            <a:r>
              <a:rPr spc="-215" dirty="0">
                <a:solidFill>
                  <a:srgbClr val="FF0000"/>
                </a:solidFill>
              </a:rPr>
              <a:t> </a:t>
            </a:r>
            <a:r>
              <a:rPr spc="-125" dirty="0">
                <a:solidFill>
                  <a:srgbClr val="FF0000"/>
                </a:solidFill>
              </a:rPr>
              <a:t>Serializability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1945" indent="-309245">
              <a:lnSpc>
                <a:spcPct val="100000"/>
              </a:lnSpc>
              <a:spcBef>
                <a:spcPts val="100"/>
              </a:spcBef>
              <a:buClr>
                <a:srgbClr val="FF8600"/>
              </a:buClr>
              <a:buSzPct val="129166"/>
              <a:buFont typeface="Cambria Math"/>
              <a:buChar char="◗"/>
              <a:tabLst>
                <a:tab pos="321945" algn="l"/>
              </a:tabLst>
            </a:pPr>
            <a:r>
              <a:rPr spc="65" dirty="0"/>
              <a:t>If</a:t>
            </a:r>
            <a:r>
              <a:rPr spc="25" dirty="0"/>
              <a:t> </a:t>
            </a:r>
            <a:r>
              <a:rPr spc="135" dirty="0"/>
              <a:t>a</a:t>
            </a:r>
            <a:r>
              <a:rPr spc="40" dirty="0"/>
              <a:t> </a:t>
            </a:r>
            <a:r>
              <a:rPr spc="65" dirty="0"/>
              <a:t>schedule</a:t>
            </a:r>
            <a:r>
              <a:rPr spc="60" dirty="0"/>
              <a:t> </a:t>
            </a:r>
            <a:r>
              <a:rPr i="1" spc="140" dirty="0">
                <a:latin typeface="Gill Sans MT"/>
                <a:cs typeface="Gill Sans MT"/>
              </a:rPr>
              <a:t>S</a:t>
            </a:r>
            <a:r>
              <a:rPr i="1" spc="35" dirty="0">
                <a:latin typeface="Gill Sans MT"/>
                <a:cs typeface="Gill Sans MT"/>
              </a:rPr>
              <a:t> </a:t>
            </a:r>
            <a:r>
              <a:rPr spc="95" dirty="0"/>
              <a:t>can</a:t>
            </a:r>
            <a:r>
              <a:rPr spc="35" dirty="0"/>
              <a:t> </a:t>
            </a:r>
            <a:r>
              <a:rPr spc="60" dirty="0"/>
              <a:t>be</a:t>
            </a:r>
            <a:r>
              <a:rPr spc="50" dirty="0"/>
              <a:t> </a:t>
            </a:r>
            <a:r>
              <a:rPr dirty="0"/>
              <a:t>transformed into</a:t>
            </a:r>
            <a:r>
              <a:rPr spc="40" dirty="0"/>
              <a:t> </a:t>
            </a:r>
            <a:r>
              <a:rPr spc="135" dirty="0"/>
              <a:t>a</a:t>
            </a:r>
            <a:r>
              <a:rPr spc="25" dirty="0"/>
              <a:t> </a:t>
            </a:r>
            <a:r>
              <a:rPr spc="70" dirty="0"/>
              <a:t>schedule</a:t>
            </a:r>
            <a:r>
              <a:rPr spc="60" dirty="0"/>
              <a:t> </a:t>
            </a:r>
            <a:r>
              <a:rPr i="1" spc="70" dirty="0">
                <a:latin typeface="Gill Sans MT"/>
                <a:cs typeface="Gill Sans MT"/>
              </a:rPr>
              <a:t>S’</a:t>
            </a:r>
            <a:r>
              <a:rPr i="1" spc="40" dirty="0">
                <a:latin typeface="Gill Sans MT"/>
                <a:cs typeface="Gill Sans MT"/>
              </a:rPr>
              <a:t> </a:t>
            </a:r>
            <a:r>
              <a:rPr spc="50" dirty="0"/>
              <a:t>by</a:t>
            </a:r>
            <a:r>
              <a:rPr spc="25" dirty="0"/>
              <a:t> </a:t>
            </a:r>
            <a:r>
              <a:rPr spc="135" dirty="0"/>
              <a:t>a</a:t>
            </a:r>
            <a:r>
              <a:rPr spc="30" dirty="0"/>
              <a:t> </a:t>
            </a:r>
            <a:r>
              <a:rPr spc="60" dirty="0"/>
              <a:t>series</a:t>
            </a:r>
            <a:r>
              <a:rPr spc="40" dirty="0"/>
              <a:t> </a:t>
            </a:r>
            <a:r>
              <a:rPr spc="60" dirty="0"/>
              <a:t>of</a:t>
            </a:r>
            <a:r>
              <a:rPr spc="40" dirty="0"/>
              <a:t> </a:t>
            </a:r>
            <a:r>
              <a:rPr spc="105" dirty="0"/>
              <a:t>swaps</a:t>
            </a:r>
            <a:r>
              <a:rPr spc="35" dirty="0"/>
              <a:t> </a:t>
            </a:r>
            <a:r>
              <a:rPr spc="60" dirty="0"/>
              <a:t>of</a:t>
            </a:r>
            <a:r>
              <a:rPr spc="40" dirty="0"/>
              <a:t> </a:t>
            </a:r>
            <a:r>
              <a:rPr dirty="0"/>
              <a:t>non-</a:t>
            </a:r>
            <a:r>
              <a:rPr spc="60" dirty="0"/>
              <a:t>conflicting</a:t>
            </a:r>
            <a:r>
              <a:rPr spc="20" dirty="0"/>
              <a:t> </a:t>
            </a:r>
            <a:r>
              <a:rPr dirty="0"/>
              <a:t>instructions,</a:t>
            </a:r>
            <a:r>
              <a:rPr spc="25" dirty="0"/>
              <a:t> </a:t>
            </a:r>
            <a:r>
              <a:rPr dirty="0"/>
              <a:t>we</a:t>
            </a:r>
            <a:r>
              <a:rPr spc="35" dirty="0"/>
              <a:t> </a:t>
            </a:r>
            <a:r>
              <a:rPr spc="105" dirty="0"/>
              <a:t>say</a:t>
            </a:r>
            <a:r>
              <a:rPr spc="35" dirty="0"/>
              <a:t> </a:t>
            </a:r>
            <a:r>
              <a:rPr dirty="0"/>
              <a:t>that</a:t>
            </a:r>
            <a:r>
              <a:rPr spc="-20" dirty="0"/>
              <a:t> </a:t>
            </a:r>
            <a:r>
              <a:rPr i="1" spc="140" dirty="0">
                <a:latin typeface="Gill Sans MT"/>
                <a:cs typeface="Gill Sans MT"/>
              </a:rPr>
              <a:t>S</a:t>
            </a:r>
            <a:r>
              <a:rPr i="1" spc="50" dirty="0">
                <a:latin typeface="Gill Sans MT"/>
                <a:cs typeface="Gill Sans MT"/>
              </a:rPr>
              <a:t> </a:t>
            </a:r>
            <a:r>
              <a:rPr spc="55" dirty="0"/>
              <a:t>and</a:t>
            </a:r>
          </a:p>
          <a:p>
            <a:pPr marL="321945">
              <a:lnSpc>
                <a:spcPct val="100000"/>
              </a:lnSpc>
            </a:pPr>
            <a:r>
              <a:rPr i="1" spc="70" dirty="0">
                <a:latin typeface="Gill Sans MT"/>
                <a:cs typeface="Gill Sans MT"/>
              </a:rPr>
              <a:t>S’</a:t>
            </a:r>
            <a:r>
              <a:rPr i="1" spc="10" dirty="0">
                <a:latin typeface="Gill Sans MT"/>
                <a:cs typeface="Gill Sans MT"/>
              </a:rPr>
              <a:t> </a:t>
            </a:r>
            <a:r>
              <a:rPr dirty="0"/>
              <a:t>are</a:t>
            </a:r>
            <a:r>
              <a:rPr spc="15" dirty="0"/>
              <a:t> </a:t>
            </a:r>
            <a:r>
              <a:rPr spc="50" dirty="0">
                <a:solidFill>
                  <a:srgbClr val="006FC0"/>
                </a:solidFill>
              </a:rPr>
              <a:t>conflict</a:t>
            </a:r>
            <a:r>
              <a:rPr dirty="0">
                <a:solidFill>
                  <a:srgbClr val="006FC0"/>
                </a:solidFill>
              </a:rPr>
              <a:t> </a:t>
            </a:r>
            <a:r>
              <a:rPr spc="40" dirty="0">
                <a:solidFill>
                  <a:srgbClr val="006FC0"/>
                </a:solidFill>
              </a:rPr>
              <a:t>equivalent</a:t>
            </a:r>
            <a:r>
              <a:rPr i="1" spc="40" dirty="0">
                <a:solidFill>
                  <a:srgbClr val="006FC0"/>
                </a:solidFill>
                <a:latin typeface="Gill Sans MT"/>
                <a:cs typeface="Gill Sans MT"/>
              </a:rPr>
              <a:t>.</a:t>
            </a:r>
          </a:p>
          <a:p>
            <a:pPr marL="321945" indent="-309245">
              <a:lnSpc>
                <a:spcPct val="100000"/>
              </a:lnSpc>
              <a:spcBef>
                <a:spcPts val="600"/>
              </a:spcBef>
              <a:buClr>
                <a:srgbClr val="FF8600"/>
              </a:buClr>
              <a:buSzPct val="129166"/>
              <a:buFont typeface="Cambria Math"/>
              <a:buChar char="◗"/>
              <a:tabLst>
                <a:tab pos="321945" algn="l"/>
              </a:tabLst>
            </a:pPr>
            <a:r>
              <a:rPr spc="-65" dirty="0"/>
              <a:t>We</a:t>
            </a:r>
            <a:r>
              <a:rPr spc="-15" dirty="0"/>
              <a:t> </a:t>
            </a:r>
            <a:r>
              <a:rPr spc="105" dirty="0"/>
              <a:t>say</a:t>
            </a:r>
            <a:r>
              <a:rPr spc="-20" dirty="0"/>
              <a:t> </a:t>
            </a:r>
            <a:r>
              <a:rPr dirty="0"/>
              <a:t>that</a:t>
            </a:r>
            <a:r>
              <a:rPr spc="-25" dirty="0"/>
              <a:t> </a:t>
            </a:r>
            <a:r>
              <a:rPr spc="135" dirty="0"/>
              <a:t>a</a:t>
            </a:r>
            <a:r>
              <a:rPr spc="-25" dirty="0"/>
              <a:t> </a:t>
            </a:r>
            <a:r>
              <a:rPr spc="70" dirty="0"/>
              <a:t>schedule</a:t>
            </a:r>
            <a:r>
              <a:rPr spc="5" dirty="0"/>
              <a:t> </a:t>
            </a:r>
            <a:r>
              <a:rPr i="1" spc="140" dirty="0">
                <a:latin typeface="Gill Sans MT"/>
                <a:cs typeface="Gill Sans MT"/>
              </a:rPr>
              <a:t>S</a:t>
            </a:r>
            <a:r>
              <a:rPr i="1" spc="-15" dirty="0">
                <a:latin typeface="Gill Sans MT"/>
                <a:cs typeface="Gill Sans MT"/>
              </a:rPr>
              <a:t> </a:t>
            </a:r>
            <a:r>
              <a:rPr spc="85" dirty="0"/>
              <a:t>is</a:t>
            </a:r>
            <a:r>
              <a:rPr spc="-10" dirty="0"/>
              <a:t> </a:t>
            </a:r>
            <a:r>
              <a:rPr spc="50" dirty="0">
                <a:solidFill>
                  <a:srgbClr val="006FC0"/>
                </a:solidFill>
              </a:rPr>
              <a:t>conflict</a:t>
            </a:r>
            <a:r>
              <a:rPr spc="-10" dirty="0">
                <a:solidFill>
                  <a:srgbClr val="006FC0"/>
                </a:solidFill>
              </a:rPr>
              <a:t> </a:t>
            </a:r>
            <a:r>
              <a:rPr spc="55" dirty="0">
                <a:solidFill>
                  <a:srgbClr val="006FC0"/>
                </a:solidFill>
              </a:rPr>
              <a:t>serializable</a:t>
            </a:r>
            <a:r>
              <a:rPr spc="-15" dirty="0">
                <a:solidFill>
                  <a:srgbClr val="006FC0"/>
                </a:solidFill>
              </a:rPr>
              <a:t> </a:t>
            </a:r>
            <a:r>
              <a:rPr spc="65" dirty="0"/>
              <a:t>if</a:t>
            </a:r>
            <a:r>
              <a:rPr spc="-25" dirty="0"/>
              <a:t> </a:t>
            </a:r>
            <a:r>
              <a:rPr dirty="0"/>
              <a:t>it</a:t>
            </a:r>
            <a:r>
              <a:rPr spc="-25" dirty="0"/>
              <a:t> </a:t>
            </a:r>
            <a:r>
              <a:rPr spc="85" dirty="0"/>
              <a:t>is</a:t>
            </a:r>
            <a:r>
              <a:rPr spc="-15" dirty="0"/>
              <a:t> </a:t>
            </a:r>
            <a:r>
              <a:rPr spc="50" dirty="0"/>
              <a:t>conflict</a:t>
            </a:r>
            <a:r>
              <a:rPr spc="-15" dirty="0"/>
              <a:t> </a:t>
            </a:r>
            <a:r>
              <a:rPr spc="50" dirty="0"/>
              <a:t>equivalent</a:t>
            </a:r>
            <a:r>
              <a:rPr spc="-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spc="135" dirty="0"/>
              <a:t>a</a:t>
            </a:r>
            <a:r>
              <a:rPr spc="-10" dirty="0"/>
              <a:t> </a:t>
            </a:r>
            <a:r>
              <a:rPr spc="50" dirty="0"/>
              <a:t>serial</a:t>
            </a:r>
            <a:r>
              <a:rPr spc="-30" dirty="0"/>
              <a:t> </a:t>
            </a:r>
            <a:r>
              <a:rPr spc="55" dirty="0"/>
              <a:t>schedule</a:t>
            </a: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pc="55" dirty="0"/>
          </a:p>
          <a:p>
            <a:pPr marL="320040">
              <a:lnSpc>
                <a:spcPct val="100000"/>
              </a:lnSpc>
            </a:pPr>
            <a:r>
              <a:rPr dirty="0">
                <a:solidFill>
                  <a:srgbClr val="006FC0"/>
                </a:solidFill>
              </a:rPr>
              <a:t>For</a:t>
            </a:r>
            <a:r>
              <a:rPr spc="-10" dirty="0">
                <a:solidFill>
                  <a:srgbClr val="006FC0"/>
                </a:solidFill>
              </a:rPr>
              <a:t> </a:t>
            </a:r>
            <a:r>
              <a:rPr spc="60" dirty="0">
                <a:solidFill>
                  <a:srgbClr val="006FC0"/>
                </a:solidFill>
              </a:rPr>
              <a:t>example:</a:t>
            </a:r>
            <a:r>
              <a:rPr spc="-10" dirty="0">
                <a:solidFill>
                  <a:srgbClr val="006FC0"/>
                </a:solidFill>
              </a:rPr>
              <a:t> </a:t>
            </a:r>
            <a:r>
              <a:rPr spc="65" dirty="0"/>
              <a:t>Schedule</a:t>
            </a:r>
            <a:r>
              <a:rPr spc="10" dirty="0"/>
              <a:t> </a:t>
            </a:r>
            <a:r>
              <a:rPr spc="155" dirty="0"/>
              <a:t>S</a:t>
            </a:r>
            <a:r>
              <a:rPr dirty="0"/>
              <a:t> </a:t>
            </a:r>
            <a:r>
              <a:rPr spc="90" dirty="0"/>
              <a:t>can</a:t>
            </a:r>
            <a:r>
              <a:rPr spc="-10" dirty="0"/>
              <a:t> </a:t>
            </a:r>
            <a:r>
              <a:rPr spc="60" dirty="0"/>
              <a:t>be</a:t>
            </a:r>
            <a:r>
              <a:rPr dirty="0"/>
              <a:t> </a:t>
            </a:r>
            <a:r>
              <a:rPr spc="50" dirty="0"/>
              <a:t>transformed</a:t>
            </a:r>
            <a:r>
              <a:rPr spc="-40" dirty="0"/>
              <a:t> </a:t>
            </a:r>
            <a:r>
              <a:rPr dirty="0"/>
              <a:t>into</a:t>
            </a:r>
            <a:r>
              <a:rPr spc="-5" dirty="0"/>
              <a:t> </a:t>
            </a:r>
            <a:r>
              <a:rPr spc="65" dirty="0"/>
              <a:t>Schedule</a:t>
            </a:r>
            <a:r>
              <a:rPr spc="15" dirty="0"/>
              <a:t> </a:t>
            </a:r>
            <a:r>
              <a:rPr spc="60" dirty="0"/>
              <a:t>S’</a:t>
            </a:r>
            <a:r>
              <a:rPr dirty="0"/>
              <a:t> that</a:t>
            </a:r>
            <a:r>
              <a:rPr spc="-15" dirty="0"/>
              <a:t> </a:t>
            </a:r>
            <a:r>
              <a:rPr spc="90" dirty="0"/>
              <a:t>is</a:t>
            </a:r>
            <a:r>
              <a:rPr spc="-5" dirty="0"/>
              <a:t> </a:t>
            </a:r>
            <a:r>
              <a:rPr spc="50" dirty="0"/>
              <a:t>serial.</a:t>
            </a:r>
            <a:r>
              <a:rPr spc="-20" dirty="0"/>
              <a:t> </a:t>
            </a:r>
            <a:r>
              <a:rPr dirty="0"/>
              <a:t>So,</a:t>
            </a:r>
            <a:r>
              <a:rPr spc="15" dirty="0"/>
              <a:t> </a:t>
            </a:r>
            <a:r>
              <a:rPr spc="65" dirty="0"/>
              <a:t>Schedule</a:t>
            </a:r>
            <a:r>
              <a:rPr spc="5" dirty="0"/>
              <a:t> </a:t>
            </a:r>
            <a:r>
              <a:rPr spc="155" dirty="0"/>
              <a:t>S</a:t>
            </a:r>
            <a:r>
              <a:rPr spc="5" dirty="0"/>
              <a:t> </a:t>
            </a:r>
            <a:r>
              <a:rPr spc="90" dirty="0"/>
              <a:t>is</a:t>
            </a:r>
            <a:r>
              <a:rPr spc="-5" dirty="0"/>
              <a:t> </a:t>
            </a:r>
            <a:r>
              <a:rPr spc="50" dirty="0"/>
              <a:t>conflict</a:t>
            </a:r>
            <a:r>
              <a:rPr spc="-15" dirty="0"/>
              <a:t> </a:t>
            </a:r>
            <a:r>
              <a:rPr spc="45" dirty="0"/>
              <a:t>serializable.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5" dirty="0">
                <a:solidFill>
                  <a:srgbClr val="FFFFFF"/>
                </a:solidFill>
                <a:latin typeface="Gill Sans MT"/>
                <a:cs typeface="Gill Sans MT"/>
              </a:rPr>
              <a:t>18</a:t>
            </a:r>
            <a:endParaRPr sz="130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75688" y="4619244"/>
            <a:ext cx="974090" cy="277495"/>
          </a:xfrm>
          <a:prstGeom prst="rect">
            <a:avLst/>
          </a:prstGeom>
          <a:ln w="9525">
            <a:solidFill>
              <a:srgbClr val="006FC0"/>
            </a:solidFill>
          </a:ln>
        </p:spPr>
        <p:txBody>
          <a:bodyPr vert="horz" wrap="square" lIns="0" tIns="39369" rIns="0" bIns="0" rtlCol="0">
            <a:spAutoFit/>
          </a:bodyPr>
          <a:lstStyle/>
          <a:p>
            <a:pPr marL="100965">
              <a:lnSpc>
                <a:spcPct val="100000"/>
              </a:lnSpc>
              <a:spcBef>
                <a:spcPts val="309"/>
              </a:spcBef>
            </a:pPr>
            <a:r>
              <a:rPr sz="1200" spc="55" dirty="0">
                <a:latin typeface="Gill Sans MT"/>
                <a:cs typeface="Gill Sans MT"/>
              </a:rPr>
              <a:t>Schedule,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105" dirty="0">
                <a:latin typeface="Gill Sans MT"/>
                <a:cs typeface="Gill Sans MT"/>
              </a:rPr>
              <a:t>S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34940" y="4619244"/>
            <a:ext cx="2391410" cy="277495"/>
          </a:xfrm>
          <a:prstGeom prst="rect">
            <a:avLst/>
          </a:prstGeom>
          <a:ln w="9525">
            <a:solidFill>
              <a:srgbClr val="000000"/>
            </a:solidFill>
          </a:ln>
        </p:spPr>
        <p:txBody>
          <a:bodyPr vert="horz" wrap="square" lIns="0" tIns="39369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309"/>
              </a:spcBef>
            </a:pPr>
            <a:r>
              <a:rPr sz="1200" dirty="0">
                <a:latin typeface="Gill Sans MT"/>
                <a:cs typeface="Gill Sans MT"/>
              </a:rPr>
              <a:t>Conflict</a:t>
            </a:r>
            <a:r>
              <a:rPr sz="1200" spc="55" dirty="0">
                <a:latin typeface="Gill Sans MT"/>
                <a:cs typeface="Gill Sans MT"/>
              </a:rPr>
              <a:t> Serializable</a:t>
            </a:r>
            <a:r>
              <a:rPr sz="1200" spc="65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Schedule,</a:t>
            </a:r>
            <a:r>
              <a:rPr sz="1200" spc="95" dirty="0">
                <a:latin typeface="Gill Sans MT"/>
                <a:cs typeface="Gill Sans MT"/>
              </a:rPr>
              <a:t> </a:t>
            </a:r>
            <a:r>
              <a:rPr sz="1200" spc="40" dirty="0">
                <a:latin typeface="Gill Sans MT"/>
                <a:cs typeface="Gill Sans MT"/>
              </a:rPr>
              <a:t>S’</a:t>
            </a:r>
            <a:endParaRPr sz="1200">
              <a:latin typeface="Gill Sans MT"/>
              <a:cs typeface="Gill Sans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5211" y="2520695"/>
            <a:ext cx="2531364" cy="204978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99303" y="2528217"/>
            <a:ext cx="2658667" cy="196301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spc="-125" dirty="0">
                <a:solidFill>
                  <a:srgbClr val="FF0000"/>
                </a:solidFill>
              </a:rPr>
              <a:t>Conflict</a:t>
            </a:r>
            <a:r>
              <a:rPr spc="-215" dirty="0">
                <a:solidFill>
                  <a:srgbClr val="FF0000"/>
                </a:solidFill>
              </a:rPr>
              <a:t> </a:t>
            </a:r>
            <a:r>
              <a:rPr spc="-125" dirty="0">
                <a:solidFill>
                  <a:srgbClr val="FF0000"/>
                </a:solidFill>
              </a:rPr>
              <a:t>Serializability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1945" indent="-309245">
              <a:lnSpc>
                <a:spcPct val="100000"/>
              </a:lnSpc>
              <a:spcBef>
                <a:spcPts val="100"/>
              </a:spcBef>
              <a:buClr>
                <a:srgbClr val="FF8600"/>
              </a:buClr>
              <a:buSzPct val="129166"/>
              <a:buFont typeface="Cambria Math"/>
              <a:buChar char="◗"/>
              <a:tabLst>
                <a:tab pos="321945" algn="l"/>
              </a:tabLst>
            </a:pPr>
            <a:r>
              <a:rPr spc="65" dirty="0"/>
              <a:t>If</a:t>
            </a:r>
            <a:r>
              <a:rPr spc="25" dirty="0"/>
              <a:t> </a:t>
            </a:r>
            <a:r>
              <a:rPr spc="135" dirty="0"/>
              <a:t>a</a:t>
            </a:r>
            <a:r>
              <a:rPr spc="40" dirty="0"/>
              <a:t> </a:t>
            </a:r>
            <a:r>
              <a:rPr spc="65" dirty="0"/>
              <a:t>schedule</a:t>
            </a:r>
            <a:r>
              <a:rPr spc="60" dirty="0"/>
              <a:t> </a:t>
            </a:r>
            <a:r>
              <a:rPr i="1" spc="140" dirty="0">
                <a:latin typeface="Gill Sans MT"/>
                <a:cs typeface="Gill Sans MT"/>
              </a:rPr>
              <a:t>S</a:t>
            </a:r>
            <a:r>
              <a:rPr i="1" spc="35" dirty="0">
                <a:latin typeface="Gill Sans MT"/>
                <a:cs typeface="Gill Sans MT"/>
              </a:rPr>
              <a:t> </a:t>
            </a:r>
            <a:r>
              <a:rPr spc="95" dirty="0"/>
              <a:t>can</a:t>
            </a:r>
            <a:r>
              <a:rPr spc="35" dirty="0"/>
              <a:t> </a:t>
            </a:r>
            <a:r>
              <a:rPr spc="60" dirty="0"/>
              <a:t>be</a:t>
            </a:r>
            <a:r>
              <a:rPr spc="50" dirty="0"/>
              <a:t> </a:t>
            </a:r>
            <a:r>
              <a:rPr dirty="0"/>
              <a:t>transformed into</a:t>
            </a:r>
            <a:r>
              <a:rPr spc="40" dirty="0"/>
              <a:t> </a:t>
            </a:r>
            <a:r>
              <a:rPr spc="135" dirty="0"/>
              <a:t>a</a:t>
            </a:r>
            <a:r>
              <a:rPr spc="25" dirty="0"/>
              <a:t> </a:t>
            </a:r>
            <a:r>
              <a:rPr spc="70" dirty="0"/>
              <a:t>schedule</a:t>
            </a:r>
            <a:r>
              <a:rPr spc="60" dirty="0"/>
              <a:t> </a:t>
            </a:r>
            <a:r>
              <a:rPr i="1" spc="70" dirty="0">
                <a:latin typeface="Gill Sans MT"/>
                <a:cs typeface="Gill Sans MT"/>
              </a:rPr>
              <a:t>S’</a:t>
            </a:r>
            <a:r>
              <a:rPr i="1" spc="40" dirty="0">
                <a:latin typeface="Gill Sans MT"/>
                <a:cs typeface="Gill Sans MT"/>
              </a:rPr>
              <a:t> </a:t>
            </a:r>
            <a:r>
              <a:rPr spc="50" dirty="0"/>
              <a:t>by</a:t>
            </a:r>
            <a:r>
              <a:rPr spc="25" dirty="0"/>
              <a:t> </a:t>
            </a:r>
            <a:r>
              <a:rPr spc="135" dirty="0"/>
              <a:t>a</a:t>
            </a:r>
            <a:r>
              <a:rPr spc="30" dirty="0"/>
              <a:t> </a:t>
            </a:r>
            <a:r>
              <a:rPr spc="60" dirty="0"/>
              <a:t>series</a:t>
            </a:r>
            <a:r>
              <a:rPr spc="40" dirty="0"/>
              <a:t> </a:t>
            </a:r>
            <a:r>
              <a:rPr spc="60" dirty="0"/>
              <a:t>of</a:t>
            </a:r>
            <a:r>
              <a:rPr spc="40" dirty="0"/>
              <a:t> </a:t>
            </a:r>
            <a:r>
              <a:rPr spc="105" dirty="0"/>
              <a:t>swaps</a:t>
            </a:r>
            <a:r>
              <a:rPr spc="35" dirty="0"/>
              <a:t> </a:t>
            </a:r>
            <a:r>
              <a:rPr spc="60" dirty="0"/>
              <a:t>of</a:t>
            </a:r>
            <a:r>
              <a:rPr spc="40" dirty="0"/>
              <a:t> </a:t>
            </a:r>
            <a:r>
              <a:rPr dirty="0"/>
              <a:t>non-</a:t>
            </a:r>
            <a:r>
              <a:rPr spc="60" dirty="0"/>
              <a:t>conflicting</a:t>
            </a:r>
            <a:r>
              <a:rPr spc="20" dirty="0"/>
              <a:t> </a:t>
            </a:r>
            <a:r>
              <a:rPr dirty="0"/>
              <a:t>instructions,</a:t>
            </a:r>
            <a:r>
              <a:rPr spc="25" dirty="0"/>
              <a:t> </a:t>
            </a:r>
            <a:r>
              <a:rPr dirty="0"/>
              <a:t>we</a:t>
            </a:r>
            <a:r>
              <a:rPr spc="35" dirty="0"/>
              <a:t> </a:t>
            </a:r>
            <a:r>
              <a:rPr spc="105" dirty="0"/>
              <a:t>say</a:t>
            </a:r>
            <a:r>
              <a:rPr spc="35" dirty="0"/>
              <a:t> </a:t>
            </a:r>
            <a:r>
              <a:rPr dirty="0"/>
              <a:t>that</a:t>
            </a:r>
            <a:r>
              <a:rPr spc="-20" dirty="0"/>
              <a:t> </a:t>
            </a:r>
            <a:r>
              <a:rPr i="1" spc="140" dirty="0">
                <a:latin typeface="Gill Sans MT"/>
                <a:cs typeface="Gill Sans MT"/>
              </a:rPr>
              <a:t>S</a:t>
            </a:r>
            <a:r>
              <a:rPr i="1" spc="50" dirty="0">
                <a:latin typeface="Gill Sans MT"/>
                <a:cs typeface="Gill Sans MT"/>
              </a:rPr>
              <a:t> </a:t>
            </a:r>
            <a:r>
              <a:rPr spc="55" dirty="0"/>
              <a:t>and</a:t>
            </a:r>
          </a:p>
          <a:p>
            <a:pPr marL="321945">
              <a:lnSpc>
                <a:spcPct val="100000"/>
              </a:lnSpc>
            </a:pPr>
            <a:r>
              <a:rPr i="1" spc="70" dirty="0">
                <a:latin typeface="Gill Sans MT"/>
                <a:cs typeface="Gill Sans MT"/>
              </a:rPr>
              <a:t>S’</a:t>
            </a:r>
            <a:r>
              <a:rPr i="1" spc="10" dirty="0">
                <a:latin typeface="Gill Sans MT"/>
                <a:cs typeface="Gill Sans MT"/>
              </a:rPr>
              <a:t> </a:t>
            </a:r>
            <a:r>
              <a:rPr dirty="0"/>
              <a:t>are</a:t>
            </a:r>
            <a:r>
              <a:rPr spc="15" dirty="0"/>
              <a:t> </a:t>
            </a:r>
            <a:r>
              <a:rPr spc="50" dirty="0">
                <a:solidFill>
                  <a:srgbClr val="006FC0"/>
                </a:solidFill>
              </a:rPr>
              <a:t>conflict</a:t>
            </a:r>
            <a:r>
              <a:rPr dirty="0">
                <a:solidFill>
                  <a:srgbClr val="006FC0"/>
                </a:solidFill>
              </a:rPr>
              <a:t> </a:t>
            </a:r>
            <a:r>
              <a:rPr spc="40" dirty="0">
                <a:solidFill>
                  <a:srgbClr val="006FC0"/>
                </a:solidFill>
              </a:rPr>
              <a:t>equivalent</a:t>
            </a:r>
            <a:r>
              <a:rPr i="1" spc="40" dirty="0">
                <a:latin typeface="Gill Sans MT"/>
                <a:cs typeface="Gill Sans MT"/>
              </a:rPr>
              <a:t>.</a:t>
            </a:r>
          </a:p>
          <a:p>
            <a:pPr marL="321945" indent="-309245">
              <a:lnSpc>
                <a:spcPct val="100000"/>
              </a:lnSpc>
              <a:spcBef>
                <a:spcPts val="600"/>
              </a:spcBef>
              <a:buClr>
                <a:srgbClr val="FF8600"/>
              </a:buClr>
              <a:buSzPct val="129166"/>
              <a:buFont typeface="Cambria Math"/>
              <a:buChar char="◗"/>
              <a:tabLst>
                <a:tab pos="321945" algn="l"/>
              </a:tabLst>
            </a:pPr>
            <a:r>
              <a:rPr spc="-65" dirty="0"/>
              <a:t>We</a:t>
            </a:r>
            <a:r>
              <a:rPr spc="-15" dirty="0"/>
              <a:t> </a:t>
            </a:r>
            <a:r>
              <a:rPr spc="105" dirty="0"/>
              <a:t>say</a:t>
            </a:r>
            <a:r>
              <a:rPr spc="-20" dirty="0"/>
              <a:t> </a:t>
            </a:r>
            <a:r>
              <a:rPr dirty="0"/>
              <a:t>that</a:t>
            </a:r>
            <a:r>
              <a:rPr spc="-25" dirty="0"/>
              <a:t> </a:t>
            </a:r>
            <a:r>
              <a:rPr spc="135" dirty="0"/>
              <a:t>a</a:t>
            </a:r>
            <a:r>
              <a:rPr spc="-25" dirty="0"/>
              <a:t> </a:t>
            </a:r>
            <a:r>
              <a:rPr spc="70" dirty="0"/>
              <a:t>schedule</a:t>
            </a:r>
            <a:r>
              <a:rPr spc="5" dirty="0"/>
              <a:t> </a:t>
            </a:r>
            <a:r>
              <a:rPr i="1" spc="140" dirty="0">
                <a:latin typeface="Gill Sans MT"/>
                <a:cs typeface="Gill Sans MT"/>
              </a:rPr>
              <a:t>S</a:t>
            </a:r>
            <a:r>
              <a:rPr i="1" spc="-15" dirty="0">
                <a:latin typeface="Gill Sans MT"/>
                <a:cs typeface="Gill Sans MT"/>
              </a:rPr>
              <a:t> </a:t>
            </a:r>
            <a:r>
              <a:rPr spc="85" dirty="0"/>
              <a:t>is</a:t>
            </a:r>
            <a:r>
              <a:rPr spc="-10" dirty="0"/>
              <a:t> </a:t>
            </a:r>
            <a:r>
              <a:rPr spc="50" dirty="0">
                <a:solidFill>
                  <a:srgbClr val="006FC0"/>
                </a:solidFill>
              </a:rPr>
              <a:t>conflict</a:t>
            </a:r>
            <a:r>
              <a:rPr spc="-10" dirty="0">
                <a:solidFill>
                  <a:srgbClr val="006FC0"/>
                </a:solidFill>
              </a:rPr>
              <a:t> </a:t>
            </a:r>
            <a:r>
              <a:rPr spc="55" dirty="0">
                <a:solidFill>
                  <a:srgbClr val="006FC0"/>
                </a:solidFill>
              </a:rPr>
              <a:t>serializable</a:t>
            </a:r>
            <a:r>
              <a:rPr spc="-15" dirty="0">
                <a:solidFill>
                  <a:srgbClr val="006FC0"/>
                </a:solidFill>
              </a:rPr>
              <a:t> </a:t>
            </a:r>
            <a:r>
              <a:rPr spc="65" dirty="0"/>
              <a:t>if</a:t>
            </a:r>
            <a:r>
              <a:rPr spc="-25" dirty="0"/>
              <a:t> </a:t>
            </a:r>
            <a:r>
              <a:rPr dirty="0"/>
              <a:t>it</a:t>
            </a:r>
            <a:r>
              <a:rPr spc="-25" dirty="0"/>
              <a:t> </a:t>
            </a:r>
            <a:r>
              <a:rPr spc="85" dirty="0"/>
              <a:t>is</a:t>
            </a:r>
            <a:r>
              <a:rPr spc="-15" dirty="0"/>
              <a:t> </a:t>
            </a:r>
            <a:r>
              <a:rPr spc="50" dirty="0"/>
              <a:t>conflict</a:t>
            </a:r>
            <a:r>
              <a:rPr spc="-15" dirty="0"/>
              <a:t> </a:t>
            </a:r>
            <a:r>
              <a:rPr spc="50" dirty="0"/>
              <a:t>equivalent</a:t>
            </a:r>
            <a:r>
              <a:rPr spc="-5" dirty="0"/>
              <a:t> </a:t>
            </a:r>
            <a:r>
              <a:rPr dirty="0"/>
              <a:t>to</a:t>
            </a:r>
            <a:r>
              <a:rPr spc="-30" dirty="0"/>
              <a:t> </a:t>
            </a:r>
            <a:r>
              <a:rPr spc="135" dirty="0"/>
              <a:t>a</a:t>
            </a:r>
            <a:r>
              <a:rPr spc="-10" dirty="0"/>
              <a:t> </a:t>
            </a:r>
            <a:r>
              <a:rPr spc="50" dirty="0"/>
              <a:t>serial</a:t>
            </a:r>
            <a:r>
              <a:rPr spc="-30" dirty="0"/>
              <a:t> </a:t>
            </a:r>
            <a:r>
              <a:rPr spc="55" dirty="0"/>
              <a:t>schedule</a:t>
            </a: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pc="55" dirty="0"/>
          </a:p>
          <a:p>
            <a:pPr marL="320040">
              <a:lnSpc>
                <a:spcPct val="100000"/>
              </a:lnSpc>
            </a:pPr>
            <a:r>
              <a:rPr dirty="0">
                <a:solidFill>
                  <a:srgbClr val="006FC0"/>
                </a:solidFill>
              </a:rPr>
              <a:t>For</a:t>
            </a:r>
            <a:r>
              <a:rPr spc="-5" dirty="0">
                <a:solidFill>
                  <a:srgbClr val="006FC0"/>
                </a:solidFill>
              </a:rPr>
              <a:t> </a:t>
            </a:r>
            <a:r>
              <a:rPr spc="60" dirty="0">
                <a:solidFill>
                  <a:srgbClr val="006FC0"/>
                </a:solidFill>
              </a:rPr>
              <a:t>example:</a:t>
            </a:r>
            <a:r>
              <a:rPr spc="-5" dirty="0">
                <a:solidFill>
                  <a:srgbClr val="006FC0"/>
                </a:solidFill>
              </a:rPr>
              <a:t> </a:t>
            </a:r>
            <a:r>
              <a:rPr spc="65" dirty="0"/>
              <a:t>Schedule</a:t>
            </a:r>
            <a:r>
              <a:rPr spc="10" dirty="0"/>
              <a:t> </a:t>
            </a:r>
            <a:r>
              <a:rPr spc="155" dirty="0"/>
              <a:t>S</a:t>
            </a:r>
            <a:r>
              <a:rPr spc="5" dirty="0"/>
              <a:t> </a:t>
            </a:r>
            <a:r>
              <a:rPr spc="90" dirty="0"/>
              <a:t>can</a:t>
            </a:r>
            <a:r>
              <a:rPr spc="-5" dirty="0"/>
              <a:t> </a:t>
            </a:r>
            <a:r>
              <a:rPr dirty="0"/>
              <a:t>not</a:t>
            </a:r>
            <a:r>
              <a:rPr spc="5" dirty="0"/>
              <a:t> </a:t>
            </a:r>
            <a:r>
              <a:rPr spc="60" dirty="0"/>
              <a:t>be</a:t>
            </a:r>
            <a:r>
              <a:rPr dirty="0"/>
              <a:t> </a:t>
            </a:r>
            <a:r>
              <a:rPr spc="50" dirty="0"/>
              <a:t>transformed</a:t>
            </a:r>
            <a:r>
              <a:rPr spc="-35" dirty="0"/>
              <a:t> </a:t>
            </a:r>
            <a:r>
              <a:rPr dirty="0"/>
              <a:t>into</a:t>
            </a:r>
            <a:r>
              <a:rPr spc="-5" dirty="0"/>
              <a:t> </a:t>
            </a:r>
            <a:r>
              <a:rPr spc="135" dirty="0"/>
              <a:t>a</a:t>
            </a:r>
            <a:r>
              <a:rPr spc="-5" dirty="0"/>
              <a:t> </a:t>
            </a:r>
            <a:r>
              <a:rPr spc="65" dirty="0"/>
              <a:t>schedule</a:t>
            </a:r>
            <a:r>
              <a:rPr spc="15" dirty="0"/>
              <a:t> </a:t>
            </a:r>
            <a:r>
              <a:rPr dirty="0"/>
              <a:t>that</a:t>
            </a:r>
            <a:r>
              <a:rPr spc="-10" dirty="0"/>
              <a:t> </a:t>
            </a:r>
            <a:r>
              <a:rPr spc="90" dirty="0"/>
              <a:t>is</a:t>
            </a:r>
            <a:r>
              <a:rPr dirty="0"/>
              <a:t> </a:t>
            </a:r>
            <a:r>
              <a:rPr spc="50" dirty="0"/>
              <a:t>serial.</a:t>
            </a:r>
            <a:r>
              <a:rPr spc="-10" dirty="0"/>
              <a:t> </a:t>
            </a:r>
            <a:r>
              <a:rPr dirty="0"/>
              <a:t>So, </a:t>
            </a:r>
            <a:r>
              <a:rPr spc="65" dirty="0"/>
              <a:t>Schedule</a:t>
            </a:r>
            <a:r>
              <a:rPr spc="25" dirty="0"/>
              <a:t> </a:t>
            </a:r>
            <a:r>
              <a:rPr spc="155" dirty="0"/>
              <a:t>S</a:t>
            </a:r>
            <a:r>
              <a:rPr spc="-10" dirty="0"/>
              <a:t> </a:t>
            </a:r>
            <a:r>
              <a:rPr spc="90" dirty="0"/>
              <a:t>is</a:t>
            </a:r>
            <a:r>
              <a:rPr dirty="0"/>
              <a:t> not </a:t>
            </a:r>
            <a:r>
              <a:rPr spc="50" dirty="0"/>
              <a:t>conflict</a:t>
            </a:r>
            <a:r>
              <a:rPr spc="-10" dirty="0"/>
              <a:t> </a:t>
            </a:r>
            <a:r>
              <a:rPr spc="45" dirty="0"/>
              <a:t>serializable.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5" dirty="0">
                <a:solidFill>
                  <a:srgbClr val="FFFFFF"/>
                </a:solidFill>
                <a:latin typeface="Gill Sans MT"/>
                <a:cs typeface="Gill Sans MT"/>
              </a:rPr>
              <a:t>19</a:t>
            </a:r>
            <a:endParaRPr sz="1300">
              <a:latin typeface="Gill Sans MT"/>
              <a:cs typeface="Gill Sans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83992" y="3802379"/>
            <a:ext cx="2607945" cy="277495"/>
          </a:xfrm>
          <a:prstGeom prst="rect">
            <a:avLst/>
          </a:prstGeom>
          <a:ln w="9525">
            <a:solidFill>
              <a:srgbClr val="006FC0"/>
            </a:solidFill>
          </a:ln>
        </p:spPr>
        <p:txBody>
          <a:bodyPr vert="horz" wrap="square" lIns="0" tIns="38735" rIns="0" bIns="0" rtlCol="0">
            <a:spAutoFit/>
          </a:bodyPr>
          <a:lstStyle/>
          <a:p>
            <a:pPr marL="117475">
              <a:lnSpc>
                <a:spcPct val="100000"/>
              </a:lnSpc>
              <a:spcBef>
                <a:spcPts val="305"/>
              </a:spcBef>
            </a:pPr>
            <a:r>
              <a:rPr sz="1200" spc="-20" dirty="0">
                <a:latin typeface="Gill Sans MT"/>
                <a:cs typeface="Gill Sans MT"/>
              </a:rPr>
              <a:t>Not</a:t>
            </a:r>
            <a:r>
              <a:rPr sz="1200" spc="-30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conflict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serializable</a:t>
            </a:r>
            <a:r>
              <a:rPr sz="1200" spc="-20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schedule,</a:t>
            </a:r>
            <a:r>
              <a:rPr sz="1200" dirty="0">
                <a:latin typeface="Gill Sans MT"/>
                <a:cs typeface="Gill Sans MT"/>
              </a:rPr>
              <a:t> </a:t>
            </a:r>
            <a:r>
              <a:rPr sz="1200" spc="105" dirty="0">
                <a:latin typeface="Gill Sans MT"/>
                <a:cs typeface="Gill Sans MT"/>
              </a:rPr>
              <a:t>S</a:t>
            </a:r>
            <a:endParaRPr sz="1200">
              <a:latin typeface="Gill Sans MT"/>
              <a:cs typeface="Gill Sans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0651" y="2709672"/>
            <a:ext cx="2668524" cy="99821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3944" y="447243"/>
            <a:ext cx="215138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50" dirty="0"/>
              <a:t>Precedence</a:t>
            </a:r>
            <a:r>
              <a:rPr spc="-210" dirty="0"/>
              <a:t> </a:t>
            </a:r>
            <a:r>
              <a:rPr spc="-160" dirty="0"/>
              <a:t>Graph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9356" y="1149525"/>
            <a:ext cx="8451850" cy="2665095"/>
          </a:xfrm>
          <a:prstGeom prst="rect">
            <a:avLst/>
          </a:prstGeom>
        </p:spPr>
        <p:txBody>
          <a:bodyPr vert="horz" wrap="square" lIns="0" tIns="36194" rIns="0" bIns="0" rtlCol="0">
            <a:spAutoFit/>
          </a:bodyPr>
          <a:lstStyle/>
          <a:p>
            <a:pPr marL="360045" indent="-309245">
              <a:lnSpc>
                <a:spcPct val="100000"/>
              </a:lnSpc>
              <a:spcBef>
                <a:spcPts val="284"/>
              </a:spcBef>
              <a:buClr>
                <a:srgbClr val="FF8600"/>
              </a:buClr>
              <a:buSzPct val="129166"/>
              <a:buFont typeface="Cambria Math"/>
              <a:buChar char="◗"/>
              <a:tabLst>
                <a:tab pos="360045" algn="l"/>
              </a:tabLst>
            </a:pP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70" dirty="0">
                <a:solidFill>
                  <a:srgbClr val="212121"/>
                </a:solidFill>
                <a:latin typeface="Gill Sans MT"/>
                <a:cs typeface="Gill Sans MT"/>
              </a:rPr>
              <a:t>simple</a:t>
            </a:r>
            <a:r>
              <a:rPr sz="1200" spc="-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0" dirty="0">
                <a:solidFill>
                  <a:srgbClr val="212121"/>
                </a:solidFill>
                <a:latin typeface="Gill Sans MT"/>
                <a:cs typeface="Gill Sans MT"/>
              </a:rPr>
              <a:t>and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efficient</a:t>
            </a:r>
            <a:r>
              <a:rPr sz="1200" spc="-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method</a:t>
            </a:r>
            <a:r>
              <a:rPr sz="1200" spc="-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for</a:t>
            </a:r>
            <a:r>
              <a:rPr sz="1200" spc="-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45" dirty="0">
                <a:solidFill>
                  <a:srgbClr val="212121"/>
                </a:solidFill>
                <a:latin typeface="Gill Sans MT"/>
                <a:cs typeface="Gill Sans MT"/>
              </a:rPr>
              <a:t>determining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the</a:t>
            </a:r>
            <a:r>
              <a:rPr sz="1200" spc="-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conflict</a:t>
            </a:r>
            <a:r>
              <a:rPr sz="1200" spc="-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45" dirty="0">
                <a:solidFill>
                  <a:srgbClr val="212121"/>
                </a:solidFill>
                <a:latin typeface="Gill Sans MT"/>
                <a:cs typeface="Gill Sans MT"/>
              </a:rPr>
              <a:t>serializability</a:t>
            </a:r>
            <a:r>
              <a:rPr sz="1200" spc="-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of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35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spc="-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schedule.</a:t>
            </a:r>
            <a:endParaRPr sz="1200">
              <a:latin typeface="Gill Sans MT"/>
              <a:cs typeface="Gill Sans MT"/>
            </a:endParaRPr>
          </a:p>
          <a:p>
            <a:pPr marL="360045" indent="-309245">
              <a:lnSpc>
                <a:spcPct val="100000"/>
              </a:lnSpc>
              <a:spcBef>
                <a:spcPts val="600"/>
              </a:spcBef>
              <a:buClr>
                <a:srgbClr val="FF8600"/>
              </a:buClr>
              <a:buSzPct val="129166"/>
              <a:buFont typeface="Cambria Math"/>
              <a:buChar char="◗"/>
              <a:tabLst>
                <a:tab pos="360045" algn="l"/>
              </a:tabLst>
            </a:pP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Consider</a:t>
            </a:r>
            <a:r>
              <a:rPr sz="1200" spc="4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35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spc="3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70" dirty="0">
                <a:solidFill>
                  <a:srgbClr val="212121"/>
                </a:solidFill>
                <a:latin typeface="Gill Sans MT"/>
                <a:cs typeface="Gill Sans MT"/>
              </a:rPr>
              <a:t>schedule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0" dirty="0">
                <a:solidFill>
                  <a:srgbClr val="212121"/>
                </a:solidFill>
                <a:latin typeface="Gill Sans MT"/>
                <a:cs typeface="Gill Sans MT"/>
              </a:rPr>
              <a:t>S.</a:t>
            </a:r>
            <a:r>
              <a:rPr sz="1200" spc="3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-70" dirty="0">
                <a:solidFill>
                  <a:srgbClr val="212121"/>
                </a:solidFill>
                <a:latin typeface="Gill Sans MT"/>
                <a:cs typeface="Gill Sans MT"/>
              </a:rPr>
              <a:t>We</a:t>
            </a:r>
            <a:r>
              <a:rPr sz="1200" spc="4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construct</a:t>
            </a:r>
            <a:r>
              <a:rPr sz="1200" spc="3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35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spc="3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directed</a:t>
            </a:r>
            <a:r>
              <a:rPr sz="1200" spc="4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graph,</a:t>
            </a:r>
            <a:r>
              <a:rPr sz="1200" spc="4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called</a:t>
            </a:r>
            <a:r>
              <a:rPr sz="1200" spc="3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35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spc="4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precedence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70" dirty="0">
                <a:solidFill>
                  <a:srgbClr val="212121"/>
                </a:solidFill>
                <a:latin typeface="Gill Sans MT"/>
                <a:cs typeface="Gill Sans MT"/>
              </a:rPr>
              <a:t>graph</a:t>
            </a:r>
            <a:r>
              <a:rPr sz="1200" spc="4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from</a:t>
            </a:r>
            <a:r>
              <a:rPr sz="1200" spc="4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75" dirty="0">
                <a:solidFill>
                  <a:srgbClr val="212121"/>
                </a:solidFill>
                <a:latin typeface="Gill Sans MT"/>
                <a:cs typeface="Gill Sans MT"/>
              </a:rPr>
              <a:t>S.</a:t>
            </a:r>
            <a:endParaRPr sz="1200">
              <a:latin typeface="Gill Sans MT"/>
              <a:cs typeface="Gill Sans MT"/>
            </a:endParaRPr>
          </a:p>
          <a:p>
            <a:pPr marL="360045" indent="-309245">
              <a:lnSpc>
                <a:spcPct val="100000"/>
              </a:lnSpc>
              <a:spcBef>
                <a:spcPts val="600"/>
              </a:spcBef>
              <a:buClr>
                <a:srgbClr val="FF8600"/>
              </a:buClr>
              <a:buSzPct val="129166"/>
              <a:buFont typeface="Cambria Math"/>
              <a:buChar char="◗"/>
              <a:tabLst>
                <a:tab pos="360045" algn="l"/>
              </a:tabLst>
            </a:pP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This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70" dirty="0">
                <a:solidFill>
                  <a:srgbClr val="212121"/>
                </a:solidFill>
                <a:latin typeface="Gill Sans MT"/>
                <a:cs typeface="Gill Sans MT"/>
              </a:rPr>
              <a:t>graph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0" dirty="0">
                <a:solidFill>
                  <a:srgbClr val="212121"/>
                </a:solidFill>
                <a:latin typeface="Gill Sans MT"/>
                <a:cs typeface="Gill Sans MT"/>
              </a:rPr>
              <a:t>consists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of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35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pair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10" dirty="0">
                <a:solidFill>
                  <a:srgbClr val="212121"/>
                </a:solidFill>
                <a:latin typeface="Gill Sans MT"/>
                <a:cs typeface="Gill Sans MT"/>
              </a:rPr>
              <a:t>G=(V,</a:t>
            </a:r>
            <a:r>
              <a:rPr sz="1200" i="1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i="1" spc="10" dirty="0">
                <a:solidFill>
                  <a:srgbClr val="212121"/>
                </a:solidFill>
                <a:latin typeface="Gill Sans MT"/>
                <a:cs typeface="Gill Sans MT"/>
              </a:rPr>
              <a:t>E),</a:t>
            </a:r>
            <a:r>
              <a:rPr sz="1200" i="1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where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V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90" dirty="0">
                <a:solidFill>
                  <a:srgbClr val="212121"/>
                </a:solidFill>
                <a:latin typeface="Gill Sans MT"/>
                <a:cs typeface="Gill Sans MT"/>
              </a:rPr>
              <a:t>is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35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set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of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vertices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5" dirty="0">
                <a:solidFill>
                  <a:srgbClr val="212121"/>
                </a:solidFill>
                <a:latin typeface="Gill Sans MT"/>
                <a:cs typeface="Gill Sans MT"/>
              </a:rPr>
              <a:t>and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75" dirty="0">
                <a:solidFill>
                  <a:srgbClr val="212121"/>
                </a:solidFill>
                <a:latin typeface="Gill Sans MT"/>
                <a:cs typeface="Gill Sans MT"/>
              </a:rPr>
              <a:t>E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5" dirty="0">
                <a:solidFill>
                  <a:srgbClr val="212121"/>
                </a:solidFill>
                <a:latin typeface="Gill Sans MT"/>
                <a:cs typeface="Gill Sans MT"/>
              </a:rPr>
              <a:t>is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135" dirty="0">
                <a:solidFill>
                  <a:srgbClr val="212121"/>
                </a:solidFill>
                <a:latin typeface="Gill Sans MT"/>
                <a:cs typeface="Gill Sans MT"/>
              </a:rPr>
              <a:t>a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set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of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75" dirty="0">
                <a:solidFill>
                  <a:srgbClr val="212121"/>
                </a:solidFill>
                <a:latin typeface="Gill Sans MT"/>
                <a:cs typeface="Gill Sans MT"/>
              </a:rPr>
              <a:t>edges.</a:t>
            </a:r>
            <a:endParaRPr sz="120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45"/>
              </a:spcBef>
              <a:buClr>
                <a:srgbClr val="FF8600"/>
              </a:buClr>
              <a:buFont typeface="Cambria Math"/>
              <a:buChar char="◗"/>
            </a:pPr>
            <a:endParaRPr sz="1200">
              <a:latin typeface="Gill Sans MT"/>
              <a:cs typeface="Gill Sans MT"/>
            </a:endParaRPr>
          </a:p>
          <a:p>
            <a:pPr marL="360045">
              <a:lnSpc>
                <a:spcPct val="100000"/>
              </a:lnSpc>
            </a:pP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Here,</a:t>
            </a:r>
            <a:endParaRPr sz="1200">
              <a:latin typeface="Gill Sans MT"/>
              <a:cs typeface="Gill Sans MT"/>
            </a:endParaRPr>
          </a:p>
          <a:p>
            <a:pPr marL="360045">
              <a:lnSpc>
                <a:spcPct val="100000"/>
              </a:lnSpc>
              <a:spcBef>
                <a:spcPts val="5"/>
              </a:spcBef>
            </a:pPr>
            <a:r>
              <a:rPr sz="1200" i="1" spc="125" dirty="0">
                <a:solidFill>
                  <a:srgbClr val="212121"/>
                </a:solidFill>
                <a:latin typeface="Gill Sans MT"/>
                <a:cs typeface="Gill Sans MT"/>
              </a:rPr>
              <a:t>V</a:t>
            </a:r>
            <a:r>
              <a:rPr sz="1200" i="1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0" dirty="0">
                <a:solidFill>
                  <a:srgbClr val="212121"/>
                </a:solidFill>
                <a:latin typeface="Gill Sans MT"/>
                <a:cs typeface="Gill Sans MT"/>
              </a:rPr>
              <a:t>consists</a:t>
            </a:r>
            <a:r>
              <a:rPr sz="12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of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all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 the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transactions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participating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in the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schedule.</a:t>
            </a:r>
            <a:endParaRPr sz="1200">
              <a:latin typeface="Gill Sans MT"/>
              <a:cs typeface="Gill Sans MT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200">
              <a:latin typeface="Gill Sans MT"/>
              <a:cs typeface="Gill Sans MT"/>
            </a:endParaRPr>
          </a:p>
          <a:p>
            <a:pPr marL="360045">
              <a:lnSpc>
                <a:spcPct val="100000"/>
              </a:lnSpc>
            </a:pPr>
            <a:r>
              <a:rPr sz="1200" i="1" spc="20" dirty="0">
                <a:solidFill>
                  <a:srgbClr val="212121"/>
                </a:solidFill>
                <a:latin typeface="Gill Sans MT"/>
                <a:cs typeface="Gill Sans MT"/>
              </a:rPr>
              <a:t>E</a:t>
            </a:r>
            <a:r>
              <a:rPr sz="1200" i="1" spc="-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0" dirty="0">
                <a:solidFill>
                  <a:srgbClr val="212121"/>
                </a:solidFill>
                <a:latin typeface="Gill Sans MT"/>
                <a:cs typeface="Gill Sans MT"/>
              </a:rPr>
              <a:t>consists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of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all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90" dirty="0">
                <a:solidFill>
                  <a:srgbClr val="212121"/>
                </a:solidFill>
                <a:latin typeface="Gill Sans MT"/>
                <a:cs typeface="Gill Sans MT"/>
              </a:rPr>
              <a:t>edges</a:t>
            </a:r>
            <a:r>
              <a:rPr sz="1200" spc="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T</a:t>
            </a:r>
            <a:r>
              <a:rPr sz="1200" spc="30" baseline="-20833" dirty="0">
                <a:solidFill>
                  <a:srgbClr val="212121"/>
                </a:solidFill>
                <a:latin typeface="Gill Sans MT"/>
                <a:cs typeface="Gill Sans MT"/>
              </a:rPr>
              <a:t>i</a:t>
            </a:r>
            <a:r>
              <a:rPr sz="1200" spc="20" dirty="0">
                <a:solidFill>
                  <a:srgbClr val="212121"/>
                </a:solidFill>
                <a:latin typeface="Wingdings"/>
                <a:cs typeface="Wingdings"/>
              </a:rPr>
              <a:t>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T</a:t>
            </a:r>
            <a:r>
              <a:rPr sz="1200" spc="30" baseline="-20833" dirty="0">
                <a:solidFill>
                  <a:srgbClr val="212121"/>
                </a:solidFill>
                <a:latin typeface="Gill Sans MT"/>
                <a:cs typeface="Gill Sans MT"/>
              </a:rPr>
              <a:t>j</a:t>
            </a:r>
            <a:r>
              <a:rPr sz="1200" spc="142" baseline="-20833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for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which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one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of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70" dirty="0">
                <a:solidFill>
                  <a:srgbClr val="212121"/>
                </a:solidFill>
                <a:latin typeface="Gill Sans MT"/>
                <a:cs typeface="Gill Sans MT"/>
              </a:rPr>
              <a:t>3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conditions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45" dirty="0">
                <a:solidFill>
                  <a:srgbClr val="212121"/>
                </a:solidFill>
                <a:latin typeface="Gill Sans MT"/>
                <a:cs typeface="Gill Sans MT"/>
              </a:rPr>
              <a:t>holds:</a:t>
            </a:r>
            <a:endParaRPr sz="1200">
              <a:latin typeface="Gill Sans MT"/>
              <a:cs typeface="Gill Sans MT"/>
            </a:endParaRPr>
          </a:p>
          <a:p>
            <a:pPr marL="817244" lvl="1" indent="-309245">
              <a:lnSpc>
                <a:spcPct val="100000"/>
              </a:lnSpc>
              <a:buClr>
                <a:srgbClr val="FF8600"/>
              </a:buClr>
              <a:buFont typeface="Wingdings"/>
              <a:buChar char=""/>
              <a:tabLst>
                <a:tab pos="817244" algn="l"/>
              </a:tabLst>
            </a:pP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</a:t>
            </a:r>
            <a:r>
              <a:rPr sz="1200" baseline="-20833" dirty="0">
                <a:solidFill>
                  <a:srgbClr val="212121"/>
                </a:solidFill>
                <a:latin typeface="Gill Sans MT"/>
                <a:cs typeface="Gill Sans MT"/>
              </a:rPr>
              <a:t>i</a:t>
            </a:r>
            <a:r>
              <a:rPr sz="1200" spc="179" baseline="-20833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executes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-20" dirty="0">
                <a:solidFill>
                  <a:srgbClr val="212121"/>
                </a:solidFill>
                <a:latin typeface="Gill Sans MT"/>
                <a:cs typeface="Gill Sans MT"/>
              </a:rPr>
              <a:t>write(Q)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before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</a:t>
            </a:r>
            <a:r>
              <a:rPr sz="1200" baseline="-20833" dirty="0">
                <a:solidFill>
                  <a:srgbClr val="212121"/>
                </a:solidFill>
                <a:latin typeface="Gill Sans MT"/>
                <a:cs typeface="Gill Sans MT"/>
              </a:rPr>
              <a:t>j</a:t>
            </a:r>
            <a:r>
              <a:rPr sz="1200" spc="172" baseline="-20833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executes</a:t>
            </a:r>
            <a:r>
              <a:rPr sz="12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read(Q)</a:t>
            </a:r>
            <a:endParaRPr sz="1200">
              <a:latin typeface="Gill Sans MT"/>
              <a:cs typeface="Gill Sans MT"/>
            </a:endParaRPr>
          </a:p>
          <a:p>
            <a:pPr marL="817244" lvl="1" indent="-309245">
              <a:lnSpc>
                <a:spcPct val="100000"/>
              </a:lnSpc>
              <a:buClr>
                <a:srgbClr val="FF8600"/>
              </a:buClr>
              <a:buFont typeface="Wingdings"/>
              <a:buChar char=""/>
              <a:tabLst>
                <a:tab pos="817244" algn="l"/>
              </a:tabLst>
            </a:pP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</a:t>
            </a:r>
            <a:r>
              <a:rPr sz="1200" baseline="-20833" dirty="0">
                <a:solidFill>
                  <a:srgbClr val="212121"/>
                </a:solidFill>
                <a:latin typeface="Gill Sans MT"/>
                <a:cs typeface="Gill Sans MT"/>
              </a:rPr>
              <a:t>i</a:t>
            </a:r>
            <a:r>
              <a:rPr sz="1200" spc="179" baseline="-20833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executes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read(Q)</a:t>
            </a:r>
            <a:r>
              <a:rPr sz="1200" spc="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before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</a:t>
            </a:r>
            <a:r>
              <a:rPr sz="1200" baseline="-20833" dirty="0">
                <a:solidFill>
                  <a:srgbClr val="212121"/>
                </a:solidFill>
                <a:latin typeface="Gill Sans MT"/>
                <a:cs typeface="Gill Sans MT"/>
              </a:rPr>
              <a:t>j</a:t>
            </a:r>
            <a:r>
              <a:rPr sz="1200" spc="172" baseline="-20833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executes</a:t>
            </a:r>
            <a:r>
              <a:rPr sz="12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write(Q)</a:t>
            </a:r>
            <a:endParaRPr sz="1200">
              <a:latin typeface="Gill Sans MT"/>
              <a:cs typeface="Gill Sans MT"/>
            </a:endParaRPr>
          </a:p>
          <a:p>
            <a:pPr marL="817244" lvl="1" indent="-309245">
              <a:lnSpc>
                <a:spcPct val="100000"/>
              </a:lnSpc>
              <a:spcBef>
                <a:spcPts val="5"/>
              </a:spcBef>
              <a:buClr>
                <a:srgbClr val="FF8600"/>
              </a:buClr>
              <a:buFont typeface="Wingdings"/>
              <a:buChar char=""/>
              <a:tabLst>
                <a:tab pos="817244" algn="l"/>
              </a:tabLst>
            </a:pP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</a:t>
            </a:r>
            <a:r>
              <a:rPr sz="1200" baseline="-20833" dirty="0">
                <a:solidFill>
                  <a:srgbClr val="212121"/>
                </a:solidFill>
                <a:latin typeface="Gill Sans MT"/>
                <a:cs typeface="Gill Sans MT"/>
              </a:rPr>
              <a:t>i</a:t>
            </a:r>
            <a:r>
              <a:rPr sz="1200" spc="179" baseline="-20833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executes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-20" dirty="0">
                <a:solidFill>
                  <a:srgbClr val="212121"/>
                </a:solidFill>
                <a:latin typeface="Gill Sans MT"/>
                <a:cs typeface="Gill Sans MT"/>
              </a:rPr>
              <a:t>write(Q)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before</a:t>
            </a:r>
            <a:r>
              <a:rPr sz="1200" spc="3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</a:t>
            </a:r>
            <a:r>
              <a:rPr sz="1200" baseline="-20833" dirty="0">
                <a:solidFill>
                  <a:srgbClr val="212121"/>
                </a:solidFill>
                <a:latin typeface="Gill Sans MT"/>
                <a:cs typeface="Gill Sans MT"/>
              </a:rPr>
              <a:t>j</a:t>
            </a:r>
            <a:r>
              <a:rPr sz="1200" spc="172" baseline="-20833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5" dirty="0">
                <a:solidFill>
                  <a:srgbClr val="212121"/>
                </a:solidFill>
                <a:latin typeface="Gill Sans MT"/>
                <a:cs typeface="Gill Sans MT"/>
              </a:rPr>
              <a:t>executes</a:t>
            </a:r>
            <a:r>
              <a:rPr sz="12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write(Q)</a:t>
            </a:r>
            <a:endParaRPr sz="1200">
              <a:latin typeface="Gill Sans MT"/>
              <a:cs typeface="Gill Sans MT"/>
            </a:endParaRPr>
          </a:p>
          <a:p>
            <a:pPr lvl="1">
              <a:lnSpc>
                <a:spcPct val="100000"/>
              </a:lnSpc>
              <a:spcBef>
                <a:spcPts val="645"/>
              </a:spcBef>
              <a:buClr>
                <a:srgbClr val="FF8600"/>
              </a:buClr>
              <a:buFont typeface="Wingdings"/>
              <a:buChar char=""/>
            </a:pPr>
            <a:endParaRPr sz="1200">
              <a:latin typeface="Gill Sans MT"/>
              <a:cs typeface="Gill Sans MT"/>
            </a:endParaRPr>
          </a:p>
          <a:p>
            <a:pPr marL="360045" indent="-309245">
              <a:lnSpc>
                <a:spcPct val="100000"/>
              </a:lnSpc>
              <a:spcBef>
                <a:spcPts val="5"/>
              </a:spcBef>
              <a:buClr>
                <a:srgbClr val="FF8600"/>
              </a:buClr>
              <a:buSzPct val="129166"/>
              <a:buFont typeface="Cambria Math"/>
              <a:buChar char="◗"/>
              <a:tabLst>
                <a:tab pos="360045" algn="l"/>
              </a:tabLst>
            </a:pP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If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95" dirty="0">
                <a:solidFill>
                  <a:srgbClr val="212121"/>
                </a:solidFill>
                <a:latin typeface="Gill Sans MT"/>
                <a:cs typeface="Gill Sans MT"/>
              </a:rPr>
              <a:t>an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0" dirty="0">
                <a:solidFill>
                  <a:srgbClr val="212121"/>
                </a:solidFill>
                <a:latin typeface="Gill Sans MT"/>
                <a:cs typeface="Gill Sans MT"/>
              </a:rPr>
              <a:t>edge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</a:t>
            </a:r>
            <a:r>
              <a:rPr sz="1200" baseline="-20833" dirty="0">
                <a:solidFill>
                  <a:srgbClr val="212121"/>
                </a:solidFill>
                <a:latin typeface="Gill Sans MT"/>
                <a:cs typeface="Gill Sans MT"/>
              </a:rPr>
              <a:t>i</a:t>
            </a:r>
            <a:r>
              <a:rPr sz="1200" spc="157" baseline="-20833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Wingdings"/>
                <a:cs typeface="Wingdings"/>
              </a:rPr>
              <a:t></a:t>
            </a:r>
            <a:r>
              <a:rPr sz="1200" spc="35" dirty="0">
                <a:solidFill>
                  <a:srgbClr val="212121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</a:t>
            </a:r>
            <a:r>
              <a:rPr sz="1200" baseline="-20833" dirty="0">
                <a:solidFill>
                  <a:srgbClr val="212121"/>
                </a:solidFill>
                <a:latin typeface="Gill Sans MT"/>
                <a:cs typeface="Gill Sans MT"/>
              </a:rPr>
              <a:t>j</a:t>
            </a:r>
            <a:r>
              <a:rPr sz="1200" spc="150" baseline="-20833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exists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in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the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precedence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graph,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 then</a:t>
            </a:r>
            <a:r>
              <a:rPr sz="1200" spc="-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in</a:t>
            </a:r>
            <a:r>
              <a:rPr sz="1200" spc="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75" dirty="0">
                <a:solidFill>
                  <a:srgbClr val="212121"/>
                </a:solidFill>
                <a:latin typeface="Gill Sans MT"/>
                <a:cs typeface="Gill Sans MT"/>
              </a:rPr>
              <a:t>any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serial</a:t>
            </a:r>
            <a:r>
              <a:rPr sz="1200" spc="-1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schedule</a:t>
            </a:r>
            <a:r>
              <a:rPr sz="1200" spc="2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S’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50" dirty="0">
                <a:solidFill>
                  <a:srgbClr val="212121"/>
                </a:solidFill>
                <a:latin typeface="Gill Sans MT"/>
                <a:cs typeface="Gill Sans MT"/>
              </a:rPr>
              <a:t>equivalent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to</a:t>
            </a:r>
            <a:r>
              <a:rPr sz="1200" spc="-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0" dirty="0">
                <a:solidFill>
                  <a:srgbClr val="212121"/>
                </a:solidFill>
                <a:latin typeface="Gill Sans MT"/>
                <a:cs typeface="Gill Sans MT"/>
              </a:rPr>
              <a:t>S,</a:t>
            </a:r>
            <a:r>
              <a:rPr sz="1200" spc="25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T</a:t>
            </a:r>
            <a:r>
              <a:rPr sz="1200" baseline="-20833" dirty="0">
                <a:solidFill>
                  <a:srgbClr val="212121"/>
                </a:solidFill>
                <a:latin typeface="Gill Sans MT"/>
                <a:cs typeface="Gill Sans MT"/>
              </a:rPr>
              <a:t>i</a:t>
            </a:r>
            <a:r>
              <a:rPr sz="1200" spc="157" baseline="-20833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80" dirty="0">
                <a:solidFill>
                  <a:srgbClr val="212121"/>
                </a:solidFill>
                <a:latin typeface="Gill Sans MT"/>
                <a:cs typeface="Gill Sans MT"/>
              </a:rPr>
              <a:t>must</a:t>
            </a:r>
            <a:r>
              <a:rPr sz="1200" spc="-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65" dirty="0">
                <a:solidFill>
                  <a:srgbClr val="212121"/>
                </a:solidFill>
                <a:latin typeface="Gill Sans MT"/>
                <a:cs typeface="Gill Sans MT"/>
              </a:rPr>
              <a:t>appear</a:t>
            </a:r>
            <a:r>
              <a:rPr sz="1200" dirty="0">
                <a:solidFill>
                  <a:srgbClr val="212121"/>
                </a:solidFill>
                <a:latin typeface="Gill Sans MT"/>
                <a:cs typeface="Gill Sans MT"/>
              </a:rPr>
              <a:t> before</a:t>
            </a:r>
            <a:r>
              <a:rPr sz="1200" spc="10" dirty="0">
                <a:solidFill>
                  <a:srgbClr val="212121"/>
                </a:solidFill>
                <a:latin typeface="Gill Sans MT"/>
                <a:cs typeface="Gill Sans MT"/>
              </a:rPr>
              <a:t> </a:t>
            </a:r>
            <a:r>
              <a:rPr sz="1200" spc="-25" dirty="0">
                <a:solidFill>
                  <a:srgbClr val="212121"/>
                </a:solidFill>
                <a:latin typeface="Gill Sans MT"/>
                <a:cs typeface="Gill Sans MT"/>
              </a:rPr>
              <a:t>T</a:t>
            </a:r>
            <a:r>
              <a:rPr sz="1200" spc="-37" baseline="-20833" dirty="0">
                <a:solidFill>
                  <a:srgbClr val="212121"/>
                </a:solidFill>
                <a:latin typeface="Gill Sans MT"/>
                <a:cs typeface="Gill Sans MT"/>
              </a:rPr>
              <a:t>j</a:t>
            </a:r>
            <a:endParaRPr sz="1200" baseline="-20833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5" dirty="0">
                <a:solidFill>
                  <a:srgbClr val="FFFFFF"/>
                </a:solidFill>
                <a:latin typeface="Gill Sans MT"/>
                <a:cs typeface="Gill Sans MT"/>
              </a:rPr>
              <a:t>20</a:t>
            </a:r>
            <a:endParaRPr sz="13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97305" y="1039488"/>
            <a:ext cx="8347075" cy="4104640"/>
            <a:chOff x="797305" y="1039488"/>
            <a:chExt cx="8347075" cy="41046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43627" y="1039488"/>
              <a:ext cx="3624733" cy="384188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810005" y="2085594"/>
              <a:ext cx="494030" cy="487680"/>
            </a:xfrm>
            <a:custGeom>
              <a:avLst/>
              <a:gdLst/>
              <a:ahLst/>
              <a:cxnLst/>
              <a:rect l="l" t="t" r="r" b="b"/>
              <a:pathLst>
                <a:path w="494030" h="487680">
                  <a:moveTo>
                    <a:pt x="246887" y="0"/>
                  </a:moveTo>
                  <a:lnTo>
                    <a:pt x="197132" y="4955"/>
                  </a:lnTo>
                  <a:lnTo>
                    <a:pt x="150790" y="19169"/>
                  </a:lnTo>
                  <a:lnTo>
                    <a:pt x="108852" y="41656"/>
                  </a:lnTo>
                  <a:lnTo>
                    <a:pt x="72313" y="71437"/>
                  </a:lnTo>
                  <a:lnTo>
                    <a:pt x="42165" y="107528"/>
                  </a:lnTo>
                  <a:lnTo>
                    <a:pt x="19402" y="148947"/>
                  </a:lnTo>
                  <a:lnTo>
                    <a:pt x="5016" y="194711"/>
                  </a:lnTo>
                  <a:lnTo>
                    <a:pt x="0" y="243839"/>
                  </a:lnTo>
                  <a:lnTo>
                    <a:pt x="5016" y="292968"/>
                  </a:lnTo>
                  <a:lnTo>
                    <a:pt x="19402" y="338732"/>
                  </a:lnTo>
                  <a:lnTo>
                    <a:pt x="42165" y="380151"/>
                  </a:lnTo>
                  <a:lnTo>
                    <a:pt x="72313" y="416242"/>
                  </a:lnTo>
                  <a:lnTo>
                    <a:pt x="108852" y="446023"/>
                  </a:lnTo>
                  <a:lnTo>
                    <a:pt x="150790" y="468510"/>
                  </a:lnTo>
                  <a:lnTo>
                    <a:pt x="197132" y="482724"/>
                  </a:lnTo>
                  <a:lnTo>
                    <a:pt x="246887" y="487680"/>
                  </a:lnTo>
                  <a:lnTo>
                    <a:pt x="296643" y="482724"/>
                  </a:lnTo>
                  <a:lnTo>
                    <a:pt x="342985" y="468510"/>
                  </a:lnTo>
                  <a:lnTo>
                    <a:pt x="384923" y="446023"/>
                  </a:lnTo>
                  <a:lnTo>
                    <a:pt x="421462" y="416242"/>
                  </a:lnTo>
                  <a:lnTo>
                    <a:pt x="451610" y="380151"/>
                  </a:lnTo>
                  <a:lnTo>
                    <a:pt x="474373" y="338732"/>
                  </a:lnTo>
                  <a:lnTo>
                    <a:pt x="488759" y="292968"/>
                  </a:lnTo>
                  <a:lnTo>
                    <a:pt x="493775" y="243839"/>
                  </a:lnTo>
                  <a:lnTo>
                    <a:pt x="488759" y="194711"/>
                  </a:lnTo>
                  <a:lnTo>
                    <a:pt x="474373" y="148947"/>
                  </a:lnTo>
                  <a:lnTo>
                    <a:pt x="451610" y="107528"/>
                  </a:lnTo>
                  <a:lnTo>
                    <a:pt x="421462" y="71437"/>
                  </a:lnTo>
                  <a:lnTo>
                    <a:pt x="384923" y="41656"/>
                  </a:lnTo>
                  <a:lnTo>
                    <a:pt x="342985" y="19169"/>
                  </a:lnTo>
                  <a:lnTo>
                    <a:pt x="296643" y="4955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10005" y="2085594"/>
              <a:ext cx="494030" cy="487680"/>
            </a:xfrm>
            <a:custGeom>
              <a:avLst/>
              <a:gdLst/>
              <a:ahLst/>
              <a:cxnLst/>
              <a:rect l="l" t="t" r="r" b="b"/>
              <a:pathLst>
                <a:path w="494030" h="487680">
                  <a:moveTo>
                    <a:pt x="0" y="243839"/>
                  </a:moveTo>
                  <a:lnTo>
                    <a:pt x="5016" y="194711"/>
                  </a:lnTo>
                  <a:lnTo>
                    <a:pt x="19402" y="148947"/>
                  </a:lnTo>
                  <a:lnTo>
                    <a:pt x="42165" y="107528"/>
                  </a:lnTo>
                  <a:lnTo>
                    <a:pt x="72313" y="71437"/>
                  </a:lnTo>
                  <a:lnTo>
                    <a:pt x="108852" y="41656"/>
                  </a:lnTo>
                  <a:lnTo>
                    <a:pt x="150790" y="19169"/>
                  </a:lnTo>
                  <a:lnTo>
                    <a:pt x="197132" y="4955"/>
                  </a:lnTo>
                  <a:lnTo>
                    <a:pt x="246887" y="0"/>
                  </a:lnTo>
                  <a:lnTo>
                    <a:pt x="296643" y="4955"/>
                  </a:lnTo>
                  <a:lnTo>
                    <a:pt x="342985" y="19169"/>
                  </a:lnTo>
                  <a:lnTo>
                    <a:pt x="384923" y="41656"/>
                  </a:lnTo>
                  <a:lnTo>
                    <a:pt x="421462" y="71437"/>
                  </a:lnTo>
                  <a:lnTo>
                    <a:pt x="451610" y="107528"/>
                  </a:lnTo>
                  <a:lnTo>
                    <a:pt x="474373" y="148947"/>
                  </a:lnTo>
                  <a:lnTo>
                    <a:pt x="488759" y="194711"/>
                  </a:lnTo>
                  <a:lnTo>
                    <a:pt x="493775" y="243839"/>
                  </a:lnTo>
                  <a:lnTo>
                    <a:pt x="488759" y="292968"/>
                  </a:lnTo>
                  <a:lnTo>
                    <a:pt x="474373" y="338732"/>
                  </a:lnTo>
                  <a:lnTo>
                    <a:pt x="451610" y="380151"/>
                  </a:lnTo>
                  <a:lnTo>
                    <a:pt x="421462" y="416242"/>
                  </a:lnTo>
                  <a:lnTo>
                    <a:pt x="384923" y="446023"/>
                  </a:lnTo>
                  <a:lnTo>
                    <a:pt x="342985" y="468510"/>
                  </a:lnTo>
                  <a:lnTo>
                    <a:pt x="296643" y="482724"/>
                  </a:lnTo>
                  <a:lnTo>
                    <a:pt x="246887" y="487680"/>
                  </a:lnTo>
                  <a:lnTo>
                    <a:pt x="197132" y="482724"/>
                  </a:lnTo>
                  <a:lnTo>
                    <a:pt x="150790" y="468510"/>
                  </a:lnTo>
                  <a:lnTo>
                    <a:pt x="108852" y="446023"/>
                  </a:lnTo>
                  <a:lnTo>
                    <a:pt x="72313" y="416242"/>
                  </a:lnTo>
                  <a:lnTo>
                    <a:pt x="42165" y="380151"/>
                  </a:lnTo>
                  <a:lnTo>
                    <a:pt x="19402" y="338732"/>
                  </a:lnTo>
                  <a:lnTo>
                    <a:pt x="5016" y="292968"/>
                  </a:lnTo>
                  <a:lnTo>
                    <a:pt x="0" y="243839"/>
                  </a:lnTo>
                  <a:close/>
                </a:path>
              </a:pathLst>
            </a:custGeom>
            <a:ln w="254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spc="-150" dirty="0"/>
              <a:t>Precedence</a:t>
            </a:r>
            <a:r>
              <a:rPr spc="-260" dirty="0"/>
              <a:t> </a:t>
            </a:r>
            <a:r>
              <a:rPr spc="-185" dirty="0"/>
              <a:t>Graph</a:t>
            </a:r>
            <a:r>
              <a:rPr spc="-235" dirty="0"/>
              <a:t> </a:t>
            </a:r>
            <a:r>
              <a:rPr spc="-210" dirty="0">
                <a:solidFill>
                  <a:srgbClr val="00AFEF"/>
                </a:solidFill>
              </a:rPr>
              <a:t>–</a:t>
            </a:r>
            <a:r>
              <a:rPr spc="-225" dirty="0">
                <a:solidFill>
                  <a:srgbClr val="00AFEF"/>
                </a:solidFill>
              </a:rPr>
              <a:t> </a:t>
            </a:r>
            <a:r>
              <a:rPr spc="-170" dirty="0"/>
              <a:t>Example</a:t>
            </a:r>
            <a:r>
              <a:rPr spc="-225" dirty="0"/>
              <a:t> </a:t>
            </a:r>
            <a:r>
              <a:rPr spc="-815" dirty="0"/>
              <a:t>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5" dirty="0">
                <a:solidFill>
                  <a:srgbClr val="FFFFFF"/>
                </a:solidFill>
                <a:latin typeface="Gill Sans MT"/>
                <a:cs typeface="Gill Sans MT"/>
              </a:rPr>
              <a:t>21</a:t>
            </a:r>
            <a:endParaRPr sz="1300">
              <a:latin typeface="Gill Sans MT"/>
              <a:cs typeface="Gill Sans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41832" y="2220595"/>
            <a:ext cx="227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Arial"/>
                <a:cs typeface="Arial"/>
              </a:rPr>
              <a:t>T</a:t>
            </a:r>
            <a:r>
              <a:rPr sz="1200" spc="-37" baseline="-20833" dirty="0">
                <a:latin typeface="Arial"/>
                <a:cs typeface="Arial"/>
              </a:rPr>
              <a:t>1</a:t>
            </a:r>
            <a:endParaRPr sz="1200" baseline="-20833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008885" y="2072894"/>
            <a:ext cx="519430" cy="513080"/>
            <a:chOff x="2008885" y="2072894"/>
            <a:chExt cx="519430" cy="513080"/>
          </a:xfrm>
        </p:grpSpPr>
        <p:sp>
          <p:nvSpPr>
            <p:cNvPr id="10" name="object 10"/>
            <p:cNvSpPr/>
            <p:nvPr/>
          </p:nvSpPr>
          <p:spPr>
            <a:xfrm>
              <a:off x="2021585" y="2085594"/>
              <a:ext cx="494030" cy="487680"/>
            </a:xfrm>
            <a:custGeom>
              <a:avLst/>
              <a:gdLst/>
              <a:ahLst/>
              <a:cxnLst/>
              <a:rect l="l" t="t" r="r" b="b"/>
              <a:pathLst>
                <a:path w="494030" h="487680">
                  <a:moveTo>
                    <a:pt x="246887" y="0"/>
                  </a:moveTo>
                  <a:lnTo>
                    <a:pt x="197118" y="4955"/>
                  </a:lnTo>
                  <a:lnTo>
                    <a:pt x="150768" y="19169"/>
                  </a:lnTo>
                  <a:lnTo>
                    <a:pt x="108830" y="41656"/>
                  </a:lnTo>
                  <a:lnTo>
                    <a:pt x="72294" y="71437"/>
                  </a:lnTo>
                  <a:lnTo>
                    <a:pt x="42152" y="107528"/>
                  </a:lnTo>
                  <a:lnTo>
                    <a:pt x="19395" y="148947"/>
                  </a:lnTo>
                  <a:lnTo>
                    <a:pt x="5014" y="194711"/>
                  </a:lnTo>
                  <a:lnTo>
                    <a:pt x="0" y="243839"/>
                  </a:lnTo>
                  <a:lnTo>
                    <a:pt x="5014" y="292968"/>
                  </a:lnTo>
                  <a:lnTo>
                    <a:pt x="19395" y="338732"/>
                  </a:lnTo>
                  <a:lnTo>
                    <a:pt x="42152" y="380151"/>
                  </a:lnTo>
                  <a:lnTo>
                    <a:pt x="72294" y="416242"/>
                  </a:lnTo>
                  <a:lnTo>
                    <a:pt x="108830" y="446023"/>
                  </a:lnTo>
                  <a:lnTo>
                    <a:pt x="150768" y="468510"/>
                  </a:lnTo>
                  <a:lnTo>
                    <a:pt x="197118" y="482724"/>
                  </a:lnTo>
                  <a:lnTo>
                    <a:pt x="246887" y="487680"/>
                  </a:lnTo>
                  <a:lnTo>
                    <a:pt x="296657" y="482724"/>
                  </a:lnTo>
                  <a:lnTo>
                    <a:pt x="343007" y="468510"/>
                  </a:lnTo>
                  <a:lnTo>
                    <a:pt x="384945" y="446023"/>
                  </a:lnTo>
                  <a:lnTo>
                    <a:pt x="421481" y="416242"/>
                  </a:lnTo>
                  <a:lnTo>
                    <a:pt x="451623" y="380151"/>
                  </a:lnTo>
                  <a:lnTo>
                    <a:pt x="474380" y="338732"/>
                  </a:lnTo>
                  <a:lnTo>
                    <a:pt x="488761" y="292968"/>
                  </a:lnTo>
                  <a:lnTo>
                    <a:pt x="493775" y="243839"/>
                  </a:lnTo>
                  <a:lnTo>
                    <a:pt x="488761" y="194711"/>
                  </a:lnTo>
                  <a:lnTo>
                    <a:pt x="474380" y="148947"/>
                  </a:lnTo>
                  <a:lnTo>
                    <a:pt x="451623" y="107528"/>
                  </a:lnTo>
                  <a:lnTo>
                    <a:pt x="421481" y="71437"/>
                  </a:lnTo>
                  <a:lnTo>
                    <a:pt x="384945" y="41656"/>
                  </a:lnTo>
                  <a:lnTo>
                    <a:pt x="343007" y="19169"/>
                  </a:lnTo>
                  <a:lnTo>
                    <a:pt x="296657" y="4955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21585" y="2085594"/>
              <a:ext cx="494030" cy="487680"/>
            </a:xfrm>
            <a:custGeom>
              <a:avLst/>
              <a:gdLst/>
              <a:ahLst/>
              <a:cxnLst/>
              <a:rect l="l" t="t" r="r" b="b"/>
              <a:pathLst>
                <a:path w="494030" h="487680">
                  <a:moveTo>
                    <a:pt x="0" y="243839"/>
                  </a:moveTo>
                  <a:lnTo>
                    <a:pt x="5014" y="194711"/>
                  </a:lnTo>
                  <a:lnTo>
                    <a:pt x="19395" y="148947"/>
                  </a:lnTo>
                  <a:lnTo>
                    <a:pt x="42152" y="107528"/>
                  </a:lnTo>
                  <a:lnTo>
                    <a:pt x="72294" y="71437"/>
                  </a:lnTo>
                  <a:lnTo>
                    <a:pt x="108830" y="41656"/>
                  </a:lnTo>
                  <a:lnTo>
                    <a:pt x="150768" y="19169"/>
                  </a:lnTo>
                  <a:lnTo>
                    <a:pt x="197118" y="4955"/>
                  </a:lnTo>
                  <a:lnTo>
                    <a:pt x="246887" y="0"/>
                  </a:lnTo>
                  <a:lnTo>
                    <a:pt x="296657" y="4955"/>
                  </a:lnTo>
                  <a:lnTo>
                    <a:pt x="343007" y="19169"/>
                  </a:lnTo>
                  <a:lnTo>
                    <a:pt x="384945" y="41656"/>
                  </a:lnTo>
                  <a:lnTo>
                    <a:pt x="421481" y="71437"/>
                  </a:lnTo>
                  <a:lnTo>
                    <a:pt x="451623" y="107528"/>
                  </a:lnTo>
                  <a:lnTo>
                    <a:pt x="474380" y="148947"/>
                  </a:lnTo>
                  <a:lnTo>
                    <a:pt x="488761" y="194711"/>
                  </a:lnTo>
                  <a:lnTo>
                    <a:pt x="493775" y="243839"/>
                  </a:lnTo>
                  <a:lnTo>
                    <a:pt x="488761" y="292968"/>
                  </a:lnTo>
                  <a:lnTo>
                    <a:pt x="474380" y="338732"/>
                  </a:lnTo>
                  <a:lnTo>
                    <a:pt x="451623" y="380151"/>
                  </a:lnTo>
                  <a:lnTo>
                    <a:pt x="421481" y="416242"/>
                  </a:lnTo>
                  <a:lnTo>
                    <a:pt x="384945" y="446023"/>
                  </a:lnTo>
                  <a:lnTo>
                    <a:pt x="343007" y="468510"/>
                  </a:lnTo>
                  <a:lnTo>
                    <a:pt x="296657" y="482724"/>
                  </a:lnTo>
                  <a:lnTo>
                    <a:pt x="246887" y="487680"/>
                  </a:lnTo>
                  <a:lnTo>
                    <a:pt x="197118" y="482724"/>
                  </a:lnTo>
                  <a:lnTo>
                    <a:pt x="150768" y="468510"/>
                  </a:lnTo>
                  <a:lnTo>
                    <a:pt x="108830" y="446023"/>
                  </a:lnTo>
                  <a:lnTo>
                    <a:pt x="72294" y="416242"/>
                  </a:lnTo>
                  <a:lnTo>
                    <a:pt x="42152" y="380151"/>
                  </a:lnTo>
                  <a:lnTo>
                    <a:pt x="19395" y="338732"/>
                  </a:lnTo>
                  <a:lnTo>
                    <a:pt x="5014" y="292968"/>
                  </a:lnTo>
                  <a:lnTo>
                    <a:pt x="0" y="243839"/>
                  </a:lnTo>
                  <a:close/>
                </a:path>
              </a:pathLst>
            </a:custGeom>
            <a:ln w="254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154047" y="2220595"/>
            <a:ext cx="227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Arial"/>
                <a:cs typeface="Arial"/>
              </a:rPr>
              <a:t>T</a:t>
            </a:r>
            <a:r>
              <a:rPr sz="1200" spc="-37" baseline="-20833" dirty="0">
                <a:latin typeface="Arial"/>
                <a:cs typeface="Arial"/>
              </a:rPr>
              <a:t>2</a:t>
            </a:r>
            <a:endParaRPr sz="1200" baseline="-20833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260347" y="2229637"/>
            <a:ext cx="876300" cy="234950"/>
            <a:chOff x="1260347" y="2229637"/>
            <a:chExt cx="876300" cy="23495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60347" y="2229637"/>
              <a:ext cx="876287" cy="23467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303781" y="2291333"/>
              <a:ext cx="718820" cy="76200"/>
            </a:xfrm>
            <a:custGeom>
              <a:avLst/>
              <a:gdLst/>
              <a:ahLst/>
              <a:cxnLst/>
              <a:rect l="l" t="t" r="r" b="b"/>
              <a:pathLst>
                <a:path w="718819" h="76200">
                  <a:moveTo>
                    <a:pt x="642238" y="0"/>
                  </a:moveTo>
                  <a:lnTo>
                    <a:pt x="642238" y="76200"/>
                  </a:lnTo>
                  <a:lnTo>
                    <a:pt x="693038" y="50800"/>
                  </a:lnTo>
                  <a:lnTo>
                    <a:pt x="654938" y="50800"/>
                  </a:lnTo>
                  <a:lnTo>
                    <a:pt x="654938" y="25400"/>
                  </a:lnTo>
                  <a:lnTo>
                    <a:pt x="693038" y="25400"/>
                  </a:lnTo>
                  <a:lnTo>
                    <a:pt x="642238" y="0"/>
                  </a:lnTo>
                  <a:close/>
                </a:path>
                <a:path w="718819" h="76200">
                  <a:moveTo>
                    <a:pt x="642238" y="25400"/>
                  </a:moveTo>
                  <a:lnTo>
                    <a:pt x="0" y="25400"/>
                  </a:lnTo>
                  <a:lnTo>
                    <a:pt x="0" y="50800"/>
                  </a:lnTo>
                  <a:lnTo>
                    <a:pt x="642238" y="50800"/>
                  </a:lnTo>
                  <a:lnTo>
                    <a:pt x="642238" y="25400"/>
                  </a:lnTo>
                  <a:close/>
                </a:path>
                <a:path w="718819" h="76200">
                  <a:moveTo>
                    <a:pt x="693038" y="25400"/>
                  </a:moveTo>
                  <a:lnTo>
                    <a:pt x="654938" y="25400"/>
                  </a:lnTo>
                  <a:lnTo>
                    <a:pt x="654938" y="50800"/>
                  </a:lnTo>
                  <a:lnTo>
                    <a:pt x="693038" y="50800"/>
                  </a:lnTo>
                  <a:lnTo>
                    <a:pt x="718438" y="38100"/>
                  </a:lnTo>
                  <a:lnTo>
                    <a:pt x="693038" y="25400"/>
                  </a:lnTo>
                  <a:close/>
                </a:path>
              </a:pathLst>
            </a:custGeom>
            <a:solidFill>
              <a:srgbClr val="D79F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19244" y="1034278"/>
            <a:ext cx="3424034" cy="385623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spc="-150" dirty="0"/>
              <a:t>Precedence</a:t>
            </a:r>
            <a:r>
              <a:rPr spc="-260" dirty="0"/>
              <a:t> </a:t>
            </a:r>
            <a:r>
              <a:rPr spc="-185" dirty="0"/>
              <a:t>Graph</a:t>
            </a:r>
            <a:r>
              <a:rPr spc="-235" dirty="0"/>
              <a:t> </a:t>
            </a:r>
            <a:r>
              <a:rPr spc="-210" dirty="0">
                <a:solidFill>
                  <a:srgbClr val="00AFEF"/>
                </a:solidFill>
              </a:rPr>
              <a:t>–</a:t>
            </a:r>
            <a:r>
              <a:rPr spc="-225" dirty="0">
                <a:solidFill>
                  <a:srgbClr val="00AFEF"/>
                </a:solidFill>
              </a:rPr>
              <a:t> </a:t>
            </a:r>
            <a:r>
              <a:rPr spc="-170" dirty="0"/>
              <a:t>Example</a:t>
            </a:r>
            <a:r>
              <a:rPr spc="-225" dirty="0"/>
              <a:t> </a:t>
            </a:r>
            <a:r>
              <a:rPr spc="-50" dirty="0"/>
              <a:t>2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5" dirty="0">
                <a:solidFill>
                  <a:srgbClr val="FFFFFF"/>
                </a:solidFill>
                <a:latin typeface="Gill Sans MT"/>
                <a:cs typeface="Gill Sans MT"/>
              </a:rPr>
              <a:t>22</a:t>
            </a:r>
            <a:endParaRPr sz="1300">
              <a:latin typeface="Gill Sans MT"/>
              <a:cs typeface="Gill Sans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85113" y="2072894"/>
            <a:ext cx="519430" cy="513080"/>
            <a:chOff x="785113" y="2072894"/>
            <a:chExt cx="519430" cy="513080"/>
          </a:xfrm>
        </p:grpSpPr>
        <p:sp>
          <p:nvSpPr>
            <p:cNvPr id="6" name="object 6"/>
            <p:cNvSpPr/>
            <p:nvPr/>
          </p:nvSpPr>
          <p:spPr>
            <a:xfrm>
              <a:off x="797813" y="2085594"/>
              <a:ext cx="494030" cy="487680"/>
            </a:xfrm>
            <a:custGeom>
              <a:avLst/>
              <a:gdLst/>
              <a:ahLst/>
              <a:cxnLst/>
              <a:rect l="l" t="t" r="r" b="b"/>
              <a:pathLst>
                <a:path w="494030" h="487680">
                  <a:moveTo>
                    <a:pt x="246888" y="0"/>
                  </a:moveTo>
                  <a:lnTo>
                    <a:pt x="197132" y="4955"/>
                  </a:lnTo>
                  <a:lnTo>
                    <a:pt x="150790" y="19169"/>
                  </a:lnTo>
                  <a:lnTo>
                    <a:pt x="108852" y="41656"/>
                  </a:lnTo>
                  <a:lnTo>
                    <a:pt x="72313" y="71437"/>
                  </a:lnTo>
                  <a:lnTo>
                    <a:pt x="42165" y="107528"/>
                  </a:lnTo>
                  <a:lnTo>
                    <a:pt x="19402" y="148947"/>
                  </a:lnTo>
                  <a:lnTo>
                    <a:pt x="5016" y="194711"/>
                  </a:lnTo>
                  <a:lnTo>
                    <a:pt x="0" y="243839"/>
                  </a:lnTo>
                  <a:lnTo>
                    <a:pt x="5016" y="292968"/>
                  </a:lnTo>
                  <a:lnTo>
                    <a:pt x="19402" y="338732"/>
                  </a:lnTo>
                  <a:lnTo>
                    <a:pt x="42165" y="380151"/>
                  </a:lnTo>
                  <a:lnTo>
                    <a:pt x="72313" y="416242"/>
                  </a:lnTo>
                  <a:lnTo>
                    <a:pt x="108852" y="446023"/>
                  </a:lnTo>
                  <a:lnTo>
                    <a:pt x="150790" y="468510"/>
                  </a:lnTo>
                  <a:lnTo>
                    <a:pt x="197132" y="482724"/>
                  </a:lnTo>
                  <a:lnTo>
                    <a:pt x="246888" y="487680"/>
                  </a:lnTo>
                  <a:lnTo>
                    <a:pt x="296643" y="482724"/>
                  </a:lnTo>
                  <a:lnTo>
                    <a:pt x="342985" y="468510"/>
                  </a:lnTo>
                  <a:lnTo>
                    <a:pt x="384923" y="446023"/>
                  </a:lnTo>
                  <a:lnTo>
                    <a:pt x="421462" y="416242"/>
                  </a:lnTo>
                  <a:lnTo>
                    <a:pt x="451610" y="380151"/>
                  </a:lnTo>
                  <a:lnTo>
                    <a:pt x="474373" y="338732"/>
                  </a:lnTo>
                  <a:lnTo>
                    <a:pt x="488759" y="292968"/>
                  </a:lnTo>
                  <a:lnTo>
                    <a:pt x="493776" y="243839"/>
                  </a:lnTo>
                  <a:lnTo>
                    <a:pt x="488759" y="194711"/>
                  </a:lnTo>
                  <a:lnTo>
                    <a:pt x="474373" y="148947"/>
                  </a:lnTo>
                  <a:lnTo>
                    <a:pt x="451610" y="107528"/>
                  </a:lnTo>
                  <a:lnTo>
                    <a:pt x="421462" y="71437"/>
                  </a:lnTo>
                  <a:lnTo>
                    <a:pt x="384923" y="41656"/>
                  </a:lnTo>
                  <a:lnTo>
                    <a:pt x="342985" y="19169"/>
                  </a:lnTo>
                  <a:lnTo>
                    <a:pt x="296643" y="4955"/>
                  </a:lnTo>
                  <a:lnTo>
                    <a:pt x="2468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97813" y="2085594"/>
              <a:ext cx="494030" cy="487680"/>
            </a:xfrm>
            <a:custGeom>
              <a:avLst/>
              <a:gdLst/>
              <a:ahLst/>
              <a:cxnLst/>
              <a:rect l="l" t="t" r="r" b="b"/>
              <a:pathLst>
                <a:path w="494030" h="487680">
                  <a:moveTo>
                    <a:pt x="0" y="243839"/>
                  </a:moveTo>
                  <a:lnTo>
                    <a:pt x="5016" y="194711"/>
                  </a:lnTo>
                  <a:lnTo>
                    <a:pt x="19402" y="148947"/>
                  </a:lnTo>
                  <a:lnTo>
                    <a:pt x="42165" y="107528"/>
                  </a:lnTo>
                  <a:lnTo>
                    <a:pt x="72313" y="71437"/>
                  </a:lnTo>
                  <a:lnTo>
                    <a:pt x="108852" y="41656"/>
                  </a:lnTo>
                  <a:lnTo>
                    <a:pt x="150790" y="19169"/>
                  </a:lnTo>
                  <a:lnTo>
                    <a:pt x="197132" y="4955"/>
                  </a:lnTo>
                  <a:lnTo>
                    <a:pt x="246888" y="0"/>
                  </a:lnTo>
                  <a:lnTo>
                    <a:pt x="296643" y="4955"/>
                  </a:lnTo>
                  <a:lnTo>
                    <a:pt x="342985" y="19169"/>
                  </a:lnTo>
                  <a:lnTo>
                    <a:pt x="384923" y="41656"/>
                  </a:lnTo>
                  <a:lnTo>
                    <a:pt x="421462" y="71437"/>
                  </a:lnTo>
                  <a:lnTo>
                    <a:pt x="451610" y="107528"/>
                  </a:lnTo>
                  <a:lnTo>
                    <a:pt x="474373" y="148947"/>
                  </a:lnTo>
                  <a:lnTo>
                    <a:pt x="488759" y="194711"/>
                  </a:lnTo>
                  <a:lnTo>
                    <a:pt x="493776" y="243839"/>
                  </a:lnTo>
                  <a:lnTo>
                    <a:pt x="488759" y="292968"/>
                  </a:lnTo>
                  <a:lnTo>
                    <a:pt x="474373" y="338732"/>
                  </a:lnTo>
                  <a:lnTo>
                    <a:pt x="451610" y="380151"/>
                  </a:lnTo>
                  <a:lnTo>
                    <a:pt x="421462" y="416242"/>
                  </a:lnTo>
                  <a:lnTo>
                    <a:pt x="384923" y="446023"/>
                  </a:lnTo>
                  <a:lnTo>
                    <a:pt x="342985" y="468510"/>
                  </a:lnTo>
                  <a:lnTo>
                    <a:pt x="296643" y="482724"/>
                  </a:lnTo>
                  <a:lnTo>
                    <a:pt x="246888" y="487680"/>
                  </a:lnTo>
                  <a:lnTo>
                    <a:pt x="197132" y="482724"/>
                  </a:lnTo>
                  <a:lnTo>
                    <a:pt x="150790" y="468510"/>
                  </a:lnTo>
                  <a:lnTo>
                    <a:pt x="108852" y="446023"/>
                  </a:lnTo>
                  <a:lnTo>
                    <a:pt x="72313" y="416242"/>
                  </a:lnTo>
                  <a:lnTo>
                    <a:pt x="42165" y="380151"/>
                  </a:lnTo>
                  <a:lnTo>
                    <a:pt x="19402" y="338732"/>
                  </a:lnTo>
                  <a:lnTo>
                    <a:pt x="5016" y="292968"/>
                  </a:lnTo>
                  <a:lnTo>
                    <a:pt x="0" y="243839"/>
                  </a:lnTo>
                  <a:close/>
                </a:path>
              </a:pathLst>
            </a:custGeom>
            <a:ln w="254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929639" y="2220595"/>
            <a:ext cx="227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Arial"/>
                <a:cs typeface="Arial"/>
              </a:rPr>
              <a:t>T</a:t>
            </a:r>
            <a:r>
              <a:rPr sz="1200" spc="-37" baseline="-20833" dirty="0">
                <a:latin typeface="Arial"/>
                <a:cs typeface="Arial"/>
              </a:rPr>
              <a:t>2</a:t>
            </a:r>
            <a:endParaRPr sz="1200" baseline="-20833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996694" y="2072894"/>
            <a:ext cx="519430" cy="513080"/>
            <a:chOff x="1996694" y="2072894"/>
            <a:chExt cx="519430" cy="513080"/>
          </a:xfrm>
        </p:grpSpPr>
        <p:sp>
          <p:nvSpPr>
            <p:cNvPr id="10" name="object 10"/>
            <p:cNvSpPr/>
            <p:nvPr/>
          </p:nvSpPr>
          <p:spPr>
            <a:xfrm>
              <a:off x="2009394" y="2085594"/>
              <a:ext cx="494030" cy="487680"/>
            </a:xfrm>
            <a:custGeom>
              <a:avLst/>
              <a:gdLst/>
              <a:ahLst/>
              <a:cxnLst/>
              <a:rect l="l" t="t" r="r" b="b"/>
              <a:pathLst>
                <a:path w="494030" h="487680">
                  <a:moveTo>
                    <a:pt x="246887" y="0"/>
                  </a:moveTo>
                  <a:lnTo>
                    <a:pt x="197118" y="4955"/>
                  </a:lnTo>
                  <a:lnTo>
                    <a:pt x="150768" y="19169"/>
                  </a:lnTo>
                  <a:lnTo>
                    <a:pt x="108830" y="41656"/>
                  </a:lnTo>
                  <a:lnTo>
                    <a:pt x="72294" y="71437"/>
                  </a:lnTo>
                  <a:lnTo>
                    <a:pt x="42152" y="107528"/>
                  </a:lnTo>
                  <a:lnTo>
                    <a:pt x="19395" y="148947"/>
                  </a:lnTo>
                  <a:lnTo>
                    <a:pt x="5014" y="194711"/>
                  </a:lnTo>
                  <a:lnTo>
                    <a:pt x="0" y="243839"/>
                  </a:lnTo>
                  <a:lnTo>
                    <a:pt x="5014" y="292968"/>
                  </a:lnTo>
                  <a:lnTo>
                    <a:pt x="19395" y="338732"/>
                  </a:lnTo>
                  <a:lnTo>
                    <a:pt x="42152" y="380151"/>
                  </a:lnTo>
                  <a:lnTo>
                    <a:pt x="72294" y="416242"/>
                  </a:lnTo>
                  <a:lnTo>
                    <a:pt x="108830" y="446023"/>
                  </a:lnTo>
                  <a:lnTo>
                    <a:pt x="150768" y="468510"/>
                  </a:lnTo>
                  <a:lnTo>
                    <a:pt x="197118" y="482724"/>
                  </a:lnTo>
                  <a:lnTo>
                    <a:pt x="246887" y="487680"/>
                  </a:lnTo>
                  <a:lnTo>
                    <a:pt x="296657" y="482724"/>
                  </a:lnTo>
                  <a:lnTo>
                    <a:pt x="343007" y="468510"/>
                  </a:lnTo>
                  <a:lnTo>
                    <a:pt x="384945" y="446023"/>
                  </a:lnTo>
                  <a:lnTo>
                    <a:pt x="421481" y="416242"/>
                  </a:lnTo>
                  <a:lnTo>
                    <a:pt x="451623" y="380151"/>
                  </a:lnTo>
                  <a:lnTo>
                    <a:pt x="474380" y="338732"/>
                  </a:lnTo>
                  <a:lnTo>
                    <a:pt x="488761" y="292968"/>
                  </a:lnTo>
                  <a:lnTo>
                    <a:pt x="493775" y="243839"/>
                  </a:lnTo>
                  <a:lnTo>
                    <a:pt x="488761" y="194711"/>
                  </a:lnTo>
                  <a:lnTo>
                    <a:pt x="474380" y="148947"/>
                  </a:lnTo>
                  <a:lnTo>
                    <a:pt x="451623" y="107528"/>
                  </a:lnTo>
                  <a:lnTo>
                    <a:pt x="421481" y="71437"/>
                  </a:lnTo>
                  <a:lnTo>
                    <a:pt x="384945" y="41656"/>
                  </a:lnTo>
                  <a:lnTo>
                    <a:pt x="343007" y="19169"/>
                  </a:lnTo>
                  <a:lnTo>
                    <a:pt x="296657" y="4955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009394" y="2085594"/>
              <a:ext cx="494030" cy="487680"/>
            </a:xfrm>
            <a:custGeom>
              <a:avLst/>
              <a:gdLst/>
              <a:ahLst/>
              <a:cxnLst/>
              <a:rect l="l" t="t" r="r" b="b"/>
              <a:pathLst>
                <a:path w="494030" h="487680">
                  <a:moveTo>
                    <a:pt x="0" y="243839"/>
                  </a:moveTo>
                  <a:lnTo>
                    <a:pt x="5014" y="194711"/>
                  </a:lnTo>
                  <a:lnTo>
                    <a:pt x="19395" y="148947"/>
                  </a:lnTo>
                  <a:lnTo>
                    <a:pt x="42152" y="107528"/>
                  </a:lnTo>
                  <a:lnTo>
                    <a:pt x="72294" y="71437"/>
                  </a:lnTo>
                  <a:lnTo>
                    <a:pt x="108830" y="41656"/>
                  </a:lnTo>
                  <a:lnTo>
                    <a:pt x="150768" y="19169"/>
                  </a:lnTo>
                  <a:lnTo>
                    <a:pt x="197118" y="4955"/>
                  </a:lnTo>
                  <a:lnTo>
                    <a:pt x="246887" y="0"/>
                  </a:lnTo>
                  <a:lnTo>
                    <a:pt x="296657" y="4955"/>
                  </a:lnTo>
                  <a:lnTo>
                    <a:pt x="343007" y="19169"/>
                  </a:lnTo>
                  <a:lnTo>
                    <a:pt x="384945" y="41656"/>
                  </a:lnTo>
                  <a:lnTo>
                    <a:pt x="421481" y="71437"/>
                  </a:lnTo>
                  <a:lnTo>
                    <a:pt x="451623" y="107528"/>
                  </a:lnTo>
                  <a:lnTo>
                    <a:pt x="474380" y="148947"/>
                  </a:lnTo>
                  <a:lnTo>
                    <a:pt x="488761" y="194711"/>
                  </a:lnTo>
                  <a:lnTo>
                    <a:pt x="493775" y="243839"/>
                  </a:lnTo>
                  <a:lnTo>
                    <a:pt x="488761" y="292968"/>
                  </a:lnTo>
                  <a:lnTo>
                    <a:pt x="474380" y="338732"/>
                  </a:lnTo>
                  <a:lnTo>
                    <a:pt x="451623" y="380151"/>
                  </a:lnTo>
                  <a:lnTo>
                    <a:pt x="421481" y="416242"/>
                  </a:lnTo>
                  <a:lnTo>
                    <a:pt x="384945" y="446023"/>
                  </a:lnTo>
                  <a:lnTo>
                    <a:pt x="343007" y="468510"/>
                  </a:lnTo>
                  <a:lnTo>
                    <a:pt x="296657" y="482724"/>
                  </a:lnTo>
                  <a:lnTo>
                    <a:pt x="246887" y="487680"/>
                  </a:lnTo>
                  <a:lnTo>
                    <a:pt x="197118" y="482724"/>
                  </a:lnTo>
                  <a:lnTo>
                    <a:pt x="150768" y="468510"/>
                  </a:lnTo>
                  <a:lnTo>
                    <a:pt x="108830" y="446023"/>
                  </a:lnTo>
                  <a:lnTo>
                    <a:pt x="72294" y="416242"/>
                  </a:lnTo>
                  <a:lnTo>
                    <a:pt x="42152" y="380151"/>
                  </a:lnTo>
                  <a:lnTo>
                    <a:pt x="19395" y="338732"/>
                  </a:lnTo>
                  <a:lnTo>
                    <a:pt x="5014" y="292968"/>
                  </a:lnTo>
                  <a:lnTo>
                    <a:pt x="0" y="243839"/>
                  </a:lnTo>
                  <a:close/>
                </a:path>
              </a:pathLst>
            </a:custGeom>
            <a:ln w="254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141473" y="2220595"/>
            <a:ext cx="227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Arial"/>
                <a:cs typeface="Arial"/>
              </a:rPr>
              <a:t>T</a:t>
            </a:r>
            <a:r>
              <a:rPr sz="1200" spc="-37" baseline="-20833" dirty="0">
                <a:latin typeface="Arial"/>
                <a:cs typeface="Arial"/>
              </a:rPr>
              <a:t>1</a:t>
            </a:r>
            <a:endParaRPr sz="1200" baseline="-20833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1248155" y="2229637"/>
            <a:ext cx="876300" cy="234950"/>
            <a:chOff x="1248155" y="2229637"/>
            <a:chExt cx="876300" cy="23495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48155" y="2229637"/>
              <a:ext cx="876287" cy="23467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291589" y="2291333"/>
              <a:ext cx="718820" cy="76200"/>
            </a:xfrm>
            <a:custGeom>
              <a:avLst/>
              <a:gdLst/>
              <a:ahLst/>
              <a:cxnLst/>
              <a:rect l="l" t="t" r="r" b="b"/>
              <a:pathLst>
                <a:path w="718819" h="76200">
                  <a:moveTo>
                    <a:pt x="642239" y="0"/>
                  </a:moveTo>
                  <a:lnTo>
                    <a:pt x="642239" y="76200"/>
                  </a:lnTo>
                  <a:lnTo>
                    <a:pt x="693039" y="50800"/>
                  </a:lnTo>
                  <a:lnTo>
                    <a:pt x="654939" y="50800"/>
                  </a:lnTo>
                  <a:lnTo>
                    <a:pt x="654939" y="25400"/>
                  </a:lnTo>
                  <a:lnTo>
                    <a:pt x="693039" y="25400"/>
                  </a:lnTo>
                  <a:lnTo>
                    <a:pt x="642239" y="0"/>
                  </a:lnTo>
                  <a:close/>
                </a:path>
                <a:path w="718819" h="76200">
                  <a:moveTo>
                    <a:pt x="642239" y="25400"/>
                  </a:moveTo>
                  <a:lnTo>
                    <a:pt x="0" y="25400"/>
                  </a:lnTo>
                  <a:lnTo>
                    <a:pt x="0" y="50800"/>
                  </a:lnTo>
                  <a:lnTo>
                    <a:pt x="642239" y="50800"/>
                  </a:lnTo>
                  <a:lnTo>
                    <a:pt x="642239" y="25400"/>
                  </a:lnTo>
                  <a:close/>
                </a:path>
                <a:path w="718819" h="76200">
                  <a:moveTo>
                    <a:pt x="693039" y="25400"/>
                  </a:moveTo>
                  <a:lnTo>
                    <a:pt x="654939" y="25400"/>
                  </a:lnTo>
                  <a:lnTo>
                    <a:pt x="654939" y="50800"/>
                  </a:lnTo>
                  <a:lnTo>
                    <a:pt x="693039" y="50800"/>
                  </a:lnTo>
                  <a:lnTo>
                    <a:pt x="718439" y="38100"/>
                  </a:lnTo>
                  <a:lnTo>
                    <a:pt x="693039" y="25400"/>
                  </a:lnTo>
                  <a:close/>
                </a:path>
              </a:pathLst>
            </a:custGeom>
            <a:solidFill>
              <a:srgbClr val="D79F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1398" y="1841245"/>
            <a:ext cx="8373109" cy="3302635"/>
            <a:chOff x="771398" y="1841245"/>
            <a:chExt cx="8373109" cy="3302635"/>
          </a:xfrm>
        </p:grpSpPr>
        <p:sp>
          <p:nvSpPr>
            <p:cNvPr id="3" name="object 3"/>
            <p:cNvSpPr/>
            <p:nvPr/>
          </p:nvSpPr>
          <p:spPr>
            <a:xfrm>
              <a:off x="784098" y="1853945"/>
              <a:ext cx="494030" cy="486409"/>
            </a:xfrm>
            <a:custGeom>
              <a:avLst/>
              <a:gdLst/>
              <a:ahLst/>
              <a:cxnLst/>
              <a:rect l="l" t="t" r="r" b="b"/>
              <a:pathLst>
                <a:path w="494030" h="486410">
                  <a:moveTo>
                    <a:pt x="246888" y="0"/>
                  </a:moveTo>
                  <a:lnTo>
                    <a:pt x="197132" y="4938"/>
                  </a:lnTo>
                  <a:lnTo>
                    <a:pt x="150790" y="19103"/>
                  </a:lnTo>
                  <a:lnTo>
                    <a:pt x="108852" y="41516"/>
                  </a:lnTo>
                  <a:lnTo>
                    <a:pt x="72313" y="71199"/>
                  </a:lnTo>
                  <a:lnTo>
                    <a:pt x="42165" y="107174"/>
                  </a:lnTo>
                  <a:lnTo>
                    <a:pt x="19402" y="148464"/>
                  </a:lnTo>
                  <a:lnTo>
                    <a:pt x="5016" y="194091"/>
                  </a:lnTo>
                  <a:lnTo>
                    <a:pt x="0" y="243077"/>
                  </a:lnTo>
                  <a:lnTo>
                    <a:pt x="5016" y="292064"/>
                  </a:lnTo>
                  <a:lnTo>
                    <a:pt x="19402" y="337691"/>
                  </a:lnTo>
                  <a:lnTo>
                    <a:pt x="42165" y="378981"/>
                  </a:lnTo>
                  <a:lnTo>
                    <a:pt x="72313" y="414956"/>
                  </a:lnTo>
                  <a:lnTo>
                    <a:pt x="108852" y="444639"/>
                  </a:lnTo>
                  <a:lnTo>
                    <a:pt x="150790" y="467052"/>
                  </a:lnTo>
                  <a:lnTo>
                    <a:pt x="197132" y="481217"/>
                  </a:lnTo>
                  <a:lnTo>
                    <a:pt x="246888" y="486155"/>
                  </a:lnTo>
                  <a:lnTo>
                    <a:pt x="296643" y="481217"/>
                  </a:lnTo>
                  <a:lnTo>
                    <a:pt x="342985" y="467052"/>
                  </a:lnTo>
                  <a:lnTo>
                    <a:pt x="384923" y="444639"/>
                  </a:lnTo>
                  <a:lnTo>
                    <a:pt x="421462" y="414956"/>
                  </a:lnTo>
                  <a:lnTo>
                    <a:pt x="451610" y="378981"/>
                  </a:lnTo>
                  <a:lnTo>
                    <a:pt x="474373" y="337691"/>
                  </a:lnTo>
                  <a:lnTo>
                    <a:pt x="488759" y="292064"/>
                  </a:lnTo>
                  <a:lnTo>
                    <a:pt x="493776" y="243077"/>
                  </a:lnTo>
                  <a:lnTo>
                    <a:pt x="488759" y="194091"/>
                  </a:lnTo>
                  <a:lnTo>
                    <a:pt x="474373" y="148464"/>
                  </a:lnTo>
                  <a:lnTo>
                    <a:pt x="451610" y="107174"/>
                  </a:lnTo>
                  <a:lnTo>
                    <a:pt x="421462" y="71199"/>
                  </a:lnTo>
                  <a:lnTo>
                    <a:pt x="384923" y="41516"/>
                  </a:lnTo>
                  <a:lnTo>
                    <a:pt x="342985" y="19103"/>
                  </a:lnTo>
                  <a:lnTo>
                    <a:pt x="296643" y="4938"/>
                  </a:lnTo>
                  <a:lnTo>
                    <a:pt x="24688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84098" y="1853945"/>
              <a:ext cx="494030" cy="486409"/>
            </a:xfrm>
            <a:custGeom>
              <a:avLst/>
              <a:gdLst/>
              <a:ahLst/>
              <a:cxnLst/>
              <a:rect l="l" t="t" r="r" b="b"/>
              <a:pathLst>
                <a:path w="494030" h="486410">
                  <a:moveTo>
                    <a:pt x="0" y="243077"/>
                  </a:moveTo>
                  <a:lnTo>
                    <a:pt x="5016" y="194091"/>
                  </a:lnTo>
                  <a:lnTo>
                    <a:pt x="19402" y="148464"/>
                  </a:lnTo>
                  <a:lnTo>
                    <a:pt x="42165" y="107174"/>
                  </a:lnTo>
                  <a:lnTo>
                    <a:pt x="72313" y="71199"/>
                  </a:lnTo>
                  <a:lnTo>
                    <a:pt x="108852" y="41516"/>
                  </a:lnTo>
                  <a:lnTo>
                    <a:pt x="150790" y="19103"/>
                  </a:lnTo>
                  <a:lnTo>
                    <a:pt x="197132" y="4938"/>
                  </a:lnTo>
                  <a:lnTo>
                    <a:pt x="246888" y="0"/>
                  </a:lnTo>
                  <a:lnTo>
                    <a:pt x="296643" y="4938"/>
                  </a:lnTo>
                  <a:lnTo>
                    <a:pt x="342985" y="19103"/>
                  </a:lnTo>
                  <a:lnTo>
                    <a:pt x="384923" y="41516"/>
                  </a:lnTo>
                  <a:lnTo>
                    <a:pt x="421462" y="71199"/>
                  </a:lnTo>
                  <a:lnTo>
                    <a:pt x="451610" y="107174"/>
                  </a:lnTo>
                  <a:lnTo>
                    <a:pt x="474373" y="148464"/>
                  </a:lnTo>
                  <a:lnTo>
                    <a:pt x="488759" y="194091"/>
                  </a:lnTo>
                  <a:lnTo>
                    <a:pt x="493776" y="243077"/>
                  </a:lnTo>
                  <a:lnTo>
                    <a:pt x="488759" y="292064"/>
                  </a:lnTo>
                  <a:lnTo>
                    <a:pt x="474373" y="337691"/>
                  </a:lnTo>
                  <a:lnTo>
                    <a:pt x="451610" y="378981"/>
                  </a:lnTo>
                  <a:lnTo>
                    <a:pt x="421462" y="414956"/>
                  </a:lnTo>
                  <a:lnTo>
                    <a:pt x="384923" y="444639"/>
                  </a:lnTo>
                  <a:lnTo>
                    <a:pt x="342985" y="467052"/>
                  </a:lnTo>
                  <a:lnTo>
                    <a:pt x="296643" y="481217"/>
                  </a:lnTo>
                  <a:lnTo>
                    <a:pt x="246888" y="486155"/>
                  </a:lnTo>
                  <a:lnTo>
                    <a:pt x="197132" y="481217"/>
                  </a:lnTo>
                  <a:lnTo>
                    <a:pt x="150790" y="467052"/>
                  </a:lnTo>
                  <a:lnTo>
                    <a:pt x="108852" y="444639"/>
                  </a:lnTo>
                  <a:lnTo>
                    <a:pt x="72313" y="414956"/>
                  </a:lnTo>
                  <a:lnTo>
                    <a:pt x="42165" y="378981"/>
                  </a:lnTo>
                  <a:lnTo>
                    <a:pt x="19402" y="337691"/>
                  </a:lnTo>
                  <a:lnTo>
                    <a:pt x="5016" y="292064"/>
                  </a:lnTo>
                  <a:lnTo>
                    <a:pt x="0" y="243077"/>
                  </a:lnTo>
                  <a:close/>
                </a:path>
              </a:pathLst>
            </a:custGeom>
            <a:ln w="254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5885">
              <a:lnSpc>
                <a:spcPct val="100000"/>
              </a:lnSpc>
              <a:spcBef>
                <a:spcPts val="100"/>
              </a:spcBef>
            </a:pPr>
            <a:r>
              <a:rPr spc="-150" dirty="0"/>
              <a:t>Precedence</a:t>
            </a:r>
            <a:r>
              <a:rPr spc="-260" dirty="0"/>
              <a:t> </a:t>
            </a:r>
            <a:r>
              <a:rPr spc="-185" dirty="0"/>
              <a:t>Graph</a:t>
            </a:r>
            <a:r>
              <a:rPr spc="-235" dirty="0"/>
              <a:t> </a:t>
            </a:r>
            <a:r>
              <a:rPr spc="-210" dirty="0">
                <a:solidFill>
                  <a:srgbClr val="00AFEF"/>
                </a:solidFill>
              </a:rPr>
              <a:t>–</a:t>
            </a:r>
            <a:r>
              <a:rPr spc="-225" dirty="0">
                <a:solidFill>
                  <a:srgbClr val="00AFEF"/>
                </a:solidFill>
              </a:rPr>
              <a:t> </a:t>
            </a:r>
            <a:r>
              <a:rPr spc="-170" dirty="0"/>
              <a:t>Example</a:t>
            </a:r>
            <a:r>
              <a:rPr spc="-225" dirty="0"/>
              <a:t> </a:t>
            </a:r>
            <a:r>
              <a:rPr spc="-50" dirty="0"/>
              <a:t>3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5" dirty="0">
                <a:solidFill>
                  <a:srgbClr val="FFFFFF"/>
                </a:solidFill>
                <a:latin typeface="Gill Sans MT"/>
                <a:cs typeface="Gill Sans MT"/>
              </a:rPr>
              <a:t>23</a:t>
            </a:r>
            <a:endParaRPr sz="1300">
              <a:latin typeface="Gill Sans MT"/>
              <a:cs typeface="Gill Sans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5619" y="1988566"/>
            <a:ext cx="227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Arial"/>
                <a:cs typeface="Arial"/>
              </a:rPr>
              <a:t>T</a:t>
            </a:r>
            <a:r>
              <a:rPr sz="1200" spc="-37" baseline="-20833" dirty="0">
                <a:latin typeface="Arial"/>
                <a:cs typeface="Arial"/>
              </a:rPr>
              <a:t>1</a:t>
            </a:r>
            <a:endParaRPr sz="1200" baseline="-20833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557526" y="1841245"/>
            <a:ext cx="519430" cy="511809"/>
            <a:chOff x="2557526" y="1841245"/>
            <a:chExt cx="519430" cy="511809"/>
          </a:xfrm>
        </p:grpSpPr>
        <p:sp>
          <p:nvSpPr>
            <p:cNvPr id="9" name="object 9"/>
            <p:cNvSpPr/>
            <p:nvPr/>
          </p:nvSpPr>
          <p:spPr>
            <a:xfrm>
              <a:off x="2570226" y="1853945"/>
              <a:ext cx="494030" cy="486409"/>
            </a:xfrm>
            <a:custGeom>
              <a:avLst/>
              <a:gdLst/>
              <a:ahLst/>
              <a:cxnLst/>
              <a:rect l="l" t="t" r="r" b="b"/>
              <a:pathLst>
                <a:path w="494030" h="486410">
                  <a:moveTo>
                    <a:pt x="246887" y="0"/>
                  </a:moveTo>
                  <a:lnTo>
                    <a:pt x="197118" y="4938"/>
                  </a:lnTo>
                  <a:lnTo>
                    <a:pt x="150768" y="19103"/>
                  </a:lnTo>
                  <a:lnTo>
                    <a:pt x="108830" y="41516"/>
                  </a:lnTo>
                  <a:lnTo>
                    <a:pt x="72294" y="71199"/>
                  </a:lnTo>
                  <a:lnTo>
                    <a:pt x="42152" y="107174"/>
                  </a:lnTo>
                  <a:lnTo>
                    <a:pt x="19395" y="148464"/>
                  </a:lnTo>
                  <a:lnTo>
                    <a:pt x="5014" y="194091"/>
                  </a:lnTo>
                  <a:lnTo>
                    <a:pt x="0" y="243077"/>
                  </a:lnTo>
                  <a:lnTo>
                    <a:pt x="5014" y="292064"/>
                  </a:lnTo>
                  <a:lnTo>
                    <a:pt x="19395" y="337691"/>
                  </a:lnTo>
                  <a:lnTo>
                    <a:pt x="42152" y="378981"/>
                  </a:lnTo>
                  <a:lnTo>
                    <a:pt x="72294" y="414956"/>
                  </a:lnTo>
                  <a:lnTo>
                    <a:pt x="108830" y="444639"/>
                  </a:lnTo>
                  <a:lnTo>
                    <a:pt x="150768" y="467052"/>
                  </a:lnTo>
                  <a:lnTo>
                    <a:pt x="197118" y="481217"/>
                  </a:lnTo>
                  <a:lnTo>
                    <a:pt x="246887" y="486155"/>
                  </a:lnTo>
                  <a:lnTo>
                    <a:pt x="296657" y="481217"/>
                  </a:lnTo>
                  <a:lnTo>
                    <a:pt x="343007" y="467052"/>
                  </a:lnTo>
                  <a:lnTo>
                    <a:pt x="384945" y="444639"/>
                  </a:lnTo>
                  <a:lnTo>
                    <a:pt x="421481" y="414956"/>
                  </a:lnTo>
                  <a:lnTo>
                    <a:pt x="451623" y="378981"/>
                  </a:lnTo>
                  <a:lnTo>
                    <a:pt x="474380" y="337691"/>
                  </a:lnTo>
                  <a:lnTo>
                    <a:pt x="488761" y="292064"/>
                  </a:lnTo>
                  <a:lnTo>
                    <a:pt x="493775" y="243077"/>
                  </a:lnTo>
                  <a:lnTo>
                    <a:pt x="488761" y="194091"/>
                  </a:lnTo>
                  <a:lnTo>
                    <a:pt x="474380" y="148464"/>
                  </a:lnTo>
                  <a:lnTo>
                    <a:pt x="451623" y="107174"/>
                  </a:lnTo>
                  <a:lnTo>
                    <a:pt x="421481" y="71199"/>
                  </a:lnTo>
                  <a:lnTo>
                    <a:pt x="384945" y="41516"/>
                  </a:lnTo>
                  <a:lnTo>
                    <a:pt x="343007" y="19103"/>
                  </a:lnTo>
                  <a:lnTo>
                    <a:pt x="296657" y="4938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70226" y="1853945"/>
              <a:ext cx="494030" cy="486409"/>
            </a:xfrm>
            <a:custGeom>
              <a:avLst/>
              <a:gdLst/>
              <a:ahLst/>
              <a:cxnLst/>
              <a:rect l="l" t="t" r="r" b="b"/>
              <a:pathLst>
                <a:path w="494030" h="486410">
                  <a:moveTo>
                    <a:pt x="0" y="243077"/>
                  </a:moveTo>
                  <a:lnTo>
                    <a:pt x="5014" y="194091"/>
                  </a:lnTo>
                  <a:lnTo>
                    <a:pt x="19395" y="148464"/>
                  </a:lnTo>
                  <a:lnTo>
                    <a:pt x="42152" y="107174"/>
                  </a:lnTo>
                  <a:lnTo>
                    <a:pt x="72294" y="71199"/>
                  </a:lnTo>
                  <a:lnTo>
                    <a:pt x="108830" y="41516"/>
                  </a:lnTo>
                  <a:lnTo>
                    <a:pt x="150768" y="19103"/>
                  </a:lnTo>
                  <a:lnTo>
                    <a:pt x="197118" y="4938"/>
                  </a:lnTo>
                  <a:lnTo>
                    <a:pt x="246887" y="0"/>
                  </a:lnTo>
                  <a:lnTo>
                    <a:pt x="296657" y="4938"/>
                  </a:lnTo>
                  <a:lnTo>
                    <a:pt x="343007" y="19103"/>
                  </a:lnTo>
                  <a:lnTo>
                    <a:pt x="384945" y="41516"/>
                  </a:lnTo>
                  <a:lnTo>
                    <a:pt x="421481" y="71199"/>
                  </a:lnTo>
                  <a:lnTo>
                    <a:pt x="451623" y="107174"/>
                  </a:lnTo>
                  <a:lnTo>
                    <a:pt x="474380" y="148464"/>
                  </a:lnTo>
                  <a:lnTo>
                    <a:pt x="488761" y="194091"/>
                  </a:lnTo>
                  <a:lnTo>
                    <a:pt x="493775" y="243077"/>
                  </a:lnTo>
                  <a:lnTo>
                    <a:pt x="488761" y="292064"/>
                  </a:lnTo>
                  <a:lnTo>
                    <a:pt x="474380" y="337691"/>
                  </a:lnTo>
                  <a:lnTo>
                    <a:pt x="451623" y="378981"/>
                  </a:lnTo>
                  <a:lnTo>
                    <a:pt x="421481" y="414956"/>
                  </a:lnTo>
                  <a:lnTo>
                    <a:pt x="384945" y="444639"/>
                  </a:lnTo>
                  <a:lnTo>
                    <a:pt x="343007" y="467052"/>
                  </a:lnTo>
                  <a:lnTo>
                    <a:pt x="296657" y="481217"/>
                  </a:lnTo>
                  <a:lnTo>
                    <a:pt x="246887" y="486155"/>
                  </a:lnTo>
                  <a:lnTo>
                    <a:pt x="197118" y="481217"/>
                  </a:lnTo>
                  <a:lnTo>
                    <a:pt x="150768" y="467052"/>
                  </a:lnTo>
                  <a:lnTo>
                    <a:pt x="108830" y="444639"/>
                  </a:lnTo>
                  <a:lnTo>
                    <a:pt x="72294" y="414956"/>
                  </a:lnTo>
                  <a:lnTo>
                    <a:pt x="42152" y="378981"/>
                  </a:lnTo>
                  <a:lnTo>
                    <a:pt x="19395" y="337691"/>
                  </a:lnTo>
                  <a:lnTo>
                    <a:pt x="5014" y="292064"/>
                  </a:lnTo>
                  <a:lnTo>
                    <a:pt x="0" y="243077"/>
                  </a:lnTo>
                  <a:close/>
                </a:path>
              </a:pathLst>
            </a:custGeom>
            <a:ln w="254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702305" y="1988566"/>
            <a:ext cx="227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Arial"/>
                <a:cs typeface="Arial"/>
              </a:rPr>
              <a:t>T</a:t>
            </a:r>
            <a:r>
              <a:rPr sz="1200" spc="-37" baseline="-20833" dirty="0">
                <a:latin typeface="Arial"/>
                <a:cs typeface="Arial"/>
              </a:rPr>
              <a:t>2</a:t>
            </a:r>
            <a:endParaRPr sz="1200" baseline="-20833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091183" y="1025652"/>
            <a:ext cx="7710170" cy="3903345"/>
            <a:chOff x="1091183" y="1025652"/>
            <a:chExt cx="7710170" cy="3903345"/>
          </a:xfrm>
        </p:grpSpPr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58383" y="1025652"/>
              <a:ext cx="3442715" cy="390296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55191" y="1597139"/>
              <a:ext cx="1607820" cy="469404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198156" y="1619758"/>
              <a:ext cx="1459865" cy="312420"/>
            </a:xfrm>
            <a:custGeom>
              <a:avLst/>
              <a:gdLst/>
              <a:ahLst/>
              <a:cxnLst/>
              <a:rect l="l" t="t" r="r" b="b"/>
              <a:pathLst>
                <a:path w="1459864" h="312419">
                  <a:moveTo>
                    <a:pt x="1409952" y="246175"/>
                  </a:moveTo>
                  <a:lnTo>
                    <a:pt x="1388325" y="254126"/>
                  </a:lnTo>
                  <a:lnTo>
                    <a:pt x="1450428" y="312419"/>
                  </a:lnTo>
                  <a:lnTo>
                    <a:pt x="1456341" y="259206"/>
                  </a:lnTo>
                  <a:lnTo>
                    <a:pt x="1417408" y="259206"/>
                  </a:lnTo>
                  <a:lnTo>
                    <a:pt x="1409952" y="246175"/>
                  </a:lnTo>
                  <a:close/>
                </a:path>
                <a:path w="1459864" h="312419">
                  <a:moveTo>
                    <a:pt x="731735" y="0"/>
                  </a:moveTo>
                  <a:lnTo>
                    <a:pt x="697699" y="380"/>
                  </a:lnTo>
                  <a:lnTo>
                    <a:pt x="659882" y="1650"/>
                  </a:lnTo>
                  <a:lnTo>
                    <a:pt x="661560" y="1650"/>
                  </a:lnTo>
                  <a:lnTo>
                    <a:pt x="630008" y="3555"/>
                  </a:lnTo>
                  <a:lnTo>
                    <a:pt x="563079" y="10032"/>
                  </a:lnTo>
                  <a:lnTo>
                    <a:pt x="497420" y="19176"/>
                  </a:lnTo>
                  <a:lnTo>
                    <a:pt x="433793" y="30987"/>
                  </a:lnTo>
                  <a:lnTo>
                    <a:pt x="372452" y="45338"/>
                  </a:lnTo>
                  <a:lnTo>
                    <a:pt x="313905" y="61849"/>
                  </a:lnTo>
                  <a:lnTo>
                    <a:pt x="258914" y="80517"/>
                  </a:lnTo>
                  <a:lnTo>
                    <a:pt x="207733" y="100964"/>
                  </a:lnTo>
                  <a:lnTo>
                    <a:pt x="160870" y="122936"/>
                  </a:lnTo>
                  <a:lnTo>
                    <a:pt x="118960" y="146557"/>
                  </a:lnTo>
                  <a:lnTo>
                    <a:pt x="82511" y="171450"/>
                  </a:lnTo>
                  <a:lnTo>
                    <a:pt x="51917" y="197612"/>
                  </a:lnTo>
                  <a:lnTo>
                    <a:pt x="18199" y="239140"/>
                  </a:lnTo>
                  <a:lnTo>
                    <a:pt x="1193" y="283971"/>
                  </a:lnTo>
                  <a:lnTo>
                    <a:pt x="0" y="298703"/>
                  </a:lnTo>
                  <a:lnTo>
                    <a:pt x="25323" y="300735"/>
                  </a:lnTo>
                  <a:lnTo>
                    <a:pt x="26230" y="289051"/>
                  </a:lnTo>
                  <a:lnTo>
                    <a:pt x="26085" y="289051"/>
                  </a:lnTo>
                  <a:lnTo>
                    <a:pt x="26377" y="287146"/>
                  </a:lnTo>
                  <a:lnTo>
                    <a:pt x="27061" y="284606"/>
                  </a:lnTo>
                  <a:lnTo>
                    <a:pt x="28651" y="277367"/>
                  </a:lnTo>
                  <a:lnTo>
                    <a:pt x="33045" y="265302"/>
                  </a:lnTo>
                  <a:lnTo>
                    <a:pt x="57365" y="228726"/>
                  </a:lnTo>
                  <a:lnTo>
                    <a:pt x="97370" y="192150"/>
                  </a:lnTo>
                  <a:lnTo>
                    <a:pt x="131914" y="168401"/>
                  </a:lnTo>
                  <a:lnTo>
                    <a:pt x="172046" y="145795"/>
                  </a:lnTo>
                  <a:lnTo>
                    <a:pt x="217512" y="124332"/>
                  </a:lnTo>
                  <a:lnTo>
                    <a:pt x="267296" y="104393"/>
                  </a:lnTo>
                  <a:lnTo>
                    <a:pt x="321144" y="86232"/>
                  </a:lnTo>
                  <a:lnTo>
                    <a:pt x="378421" y="69976"/>
                  </a:lnTo>
                  <a:lnTo>
                    <a:pt x="438746" y="56006"/>
                  </a:lnTo>
                  <a:lnTo>
                    <a:pt x="501357" y="44322"/>
                  </a:lnTo>
                  <a:lnTo>
                    <a:pt x="565746" y="35305"/>
                  </a:lnTo>
                  <a:lnTo>
                    <a:pt x="630031" y="29082"/>
                  </a:lnTo>
                  <a:lnTo>
                    <a:pt x="629461" y="29082"/>
                  </a:lnTo>
                  <a:lnTo>
                    <a:pt x="662608" y="27050"/>
                  </a:lnTo>
                  <a:lnTo>
                    <a:pt x="661352" y="27050"/>
                  </a:lnTo>
                  <a:lnTo>
                    <a:pt x="694626" y="25780"/>
                  </a:lnTo>
                  <a:lnTo>
                    <a:pt x="686820" y="25780"/>
                  </a:lnTo>
                  <a:lnTo>
                    <a:pt x="731354" y="25272"/>
                  </a:lnTo>
                  <a:lnTo>
                    <a:pt x="993842" y="25272"/>
                  </a:lnTo>
                  <a:lnTo>
                    <a:pt x="965923" y="20065"/>
                  </a:lnTo>
                  <a:lnTo>
                    <a:pt x="900391" y="10413"/>
                  </a:lnTo>
                  <a:lnTo>
                    <a:pt x="833462" y="3809"/>
                  </a:lnTo>
                  <a:lnTo>
                    <a:pt x="765644" y="380"/>
                  </a:lnTo>
                  <a:lnTo>
                    <a:pt x="731735" y="0"/>
                  </a:lnTo>
                  <a:close/>
                </a:path>
                <a:path w="1459864" h="312419">
                  <a:moveTo>
                    <a:pt x="26308" y="288035"/>
                  </a:moveTo>
                  <a:lnTo>
                    <a:pt x="26085" y="289051"/>
                  </a:lnTo>
                  <a:lnTo>
                    <a:pt x="26230" y="289051"/>
                  </a:lnTo>
                  <a:lnTo>
                    <a:pt x="26308" y="288035"/>
                  </a:lnTo>
                  <a:close/>
                </a:path>
                <a:path w="1459864" h="312419">
                  <a:moveTo>
                    <a:pt x="1434088" y="237301"/>
                  </a:moveTo>
                  <a:lnTo>
                    <a:pt x="1409952" y="246175"/>
                  </a:lnTo>
                  <a:lnTo>
                    <a:pt x="1417408" y="259206"/>
                  </a:lnTo>
                  <a:lnTo>
                    <a:pt x="1439379" y="246633"/>
                  </a:lnTo>
                  <a:lnTo>
                    <a:pt x="1434088" y="237301"/>
                  </a:lnTo>
                  <a:close/>
                </a:path>
                <a:path w="1459864" h="312419">
                  <a:moveTo>
                    <a:pt x="1459826" y="227837"/>
                  </a:moveTo>
                  <a:lnTo>
                    <a:pt x="1434088" y="237301"/>
                  </a:lnTo>
                  <a:lnTo>
                    <a:pt x="1439379" y="246633"/>
                  </a:lnTo>
                  <a:lnTo>
                    <a:pt x="1417408" y="259206"/>
                  </a:lnTo>
                  <a:lnTo>
                    <a:pt x="1456341" y="259206"/>
                  </a:lnTo>
                  <a:lnTo>
                    <a:pt x="1459728" y="228726"/>
                  </a:lnTo>
                  <a:lnTo>
                    <a:pt x="1459826" y="227837"/>
                  </a:lnTo>
                  <a:close/>
                </a:path>
                <a:path w="1459864" h="312419">
                  <a:moveTo>
                    <a:pt x="1404555" y="236743"/>
                  </a:moveTo>
                  <a:lnTo>
                    <a:pt x="1409952" y="246175"/>
                  </a:lnTo>
                  <a:lnTo>
                    <a:pt x="1432884" y="237743"/>
                  </a:lnTo>
                  <a:lnTo>
                    <a:pt x="1405470" y="237743"/>
                  </a:lnTo>
                  <a:lnTo>
                    <a:pt x="1404555" y="236743"/>
                  </a:lnTo>
                  <a:close/>
                </a:path>
                <a:path w="1459864" h="312419">
                  <a:moveTo>
                    <a:pt x="1433042" y="235457"/>
                  </a:moveTo>
                  <a:lnTo>
                    <a:pt x="1403819" y="235457"/>
                  </a:lnTo>
                  <a:lnTo>
                    <a:pt x="1405470" y="237743"/>
                  </a:lnTo>
                  <a:lnTo>
                    <a:pt x="1432884" y="237743"/>
                  </a:lnTo>
                  <a:lnTo>
                    <a:pt x="1434088" y="237301"/>
                  </a:lnTo>
                  <a:lnTo>
                    <a:pt x="1433042" y="235457"/>
                  </a:lnTo>
                  <a:close/>
                </a:path>
                <a:path w="1459864" h="312419">
                  <a:moveTo>
                    <a:pt x="1403819" y="235457"/>
                  </a:moveTo>
                  <a:lnTo>
                    <a:pt x="1404555" y="236743"/>
                  </a:lnTo>
                  <a:lnTo>
                    <a:pt x="1405065" y="237301"/>
                  </a:lnTo>
                  <a:lnTo>
                    <a:pt x="1404748" y="236743"/>
                  </a:lnTo>
                  <a:lnTo>
                    <a:pt x="1403819" y="235457"/>
                  </a:lnTo>
                  <a:close/>
                </a:path>
                <a:path w="1459864" h="312419">
                  <a:moveTo>
                    <a:pt x="993842" y="25272"/>
                  </a:moveTo>
                  <a:lnTo>
                    <a:pt x="731354" y="25272"/>
                  </a:lnTo>
                  <a:lnTo>
                    <a:pt x="764755" y="25780"/>
                  </a:lnTo>
                  <a:lnTo>
                    <a:pt x="798029" y="27050"/>
                  </a:lnTo>
                  <a:lnTo>
                    <a:pt x="864196" y="32003"/>
                  </a:lnTo>
                  <a:lnTo>
                    <a:pt x="929347" y="40004"/>
                  </a:lnTo>
                  <a:lnTo>
                    <a:pt x="992974" y="50926"/>
                  </a:lnTo>
                  <a:lnTo>
                    <a:pt x="1054442" y="64262"/>
                  </a:lnTo>
                  <a:lnTo>
                    <a:pt x="1113116" y="80137"/>
                  </a:lnTo>
                  <a:lnTo>
                    <a:pt x="1168869" y="98043"/>
                  </a:lnTo>
                  <a:lnTo>
                    <a:pt x="1220685" y="117982"/>
                  </a:lnTo>
                  <a:lnTo>
                    <a:pt x="1268310" y="139572"/>
                  </a:lnTo>
                  <a:lnTo>
                    <a:pt x="1310982" y="162559"/>
                  </a:lnTo>
                  <a:lnTo>
                    <a:pt x="1348447" y="186562"/>
                  </a:lnTo>
                  <a:lnTo>
                    <a:pt x="1379816" y="211581"/>
                  </a:lnTo>
                  <a:lnTo>
                    <a:pt x="1404555" y="236743"/>
                  </a:lnTo>
                  <a:lnTo>
                    <a:pt x="1403819" y="235457"/>
                  </a:lnTo>
                  <a:lnTo>
                    <a:pt x="1433042" y="235457"/>
                  </a:lnTo>
                  <a:lnTo>
                    <a:pt x="1425409" y="221995"/>
                  </a:lnTo>
                  <a:lnTo>
                    <a:pt x="1424901" y="221233"/>
                  </a:lnTo>
                  <a:lnTo>
                    <a:pt x="1424266" y="220599"/>
                  </a:lnTo>
                  <a:lnTo>
                    <a:pt x="1411947" y="207137"/>
                  </a:lnTo>
                  <a:lnTo>
                    <a:pt x="1381340" y="179577"/>
                  </a:lnTo>
                  <a:lnTo>
                    <a:pt x="1344637" y="153415"/>
                  </a:lnTo>
                  <a:lnTo>
                    <a:pt x="1302727" y="128777"/>
                  </a:lnTo>
                  <a:lnTo>
                    <a:pt x="1255864" y="105663"/>
                  </a:lnTo>
                  <a:lnTo>
                    <a:pt x="1204683" y="84200"/>
                  </a:lnTo>
                  <a:lnTo>
                    <a:pt x="1149565" y="64769"/>
                  </a:lnTo>
                  <a:lnTo>
                    <a:pt x="1091018" y="47497"/>
                  </a:lnTo>
                  <a:lnTo>
                    <a:pt x="1029677" y="32512"/>
                  </a:lnTo>
                  <a:lnTo>
                    <a:pt x="997927" y="26034"/>
                  </a:lnTo>
                  <a:lnTo>
                    <a:pt x="993842" y="25272"/>
                  </a:lnTo>
                  <a:close/>
                </a:path>
              </a:pathLst>
            </a:custGeom>
            <a:solidFill>
              <a:srgbClr val="D79F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1183" y="2176221"/>
              <a:ext cx="1607819" cy="45725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1203680" y="2261488"/>
              <a:ext cx="1457960" cy="313690"/>
            </a:xfrm>
            <a:custGeom>
              <a:avLst/>
              <a:gdLst/>
              <a:ahLst/>
              <a:cxnLst/>
              <a:rect l="l" t="t" r="r" b="b"/>
              <a:pathLst>
                <a:path w="1457960" h="313689">
                  <a:moveTo>
                    <a:pt x="49013" y="79023"/>
                  </a:moveTo>
                  <a:lnTo>
                    <a:pt x="25158" y="88528"/>
                  </a:lnTo>
                  <a:lnTo>
                    <a:pt x="32169" y="100711"/>
                  </a:lnTo>
                  <a:lnTo>
                    <a:pt x="32778" y="101473"/>
                  </a:lnTo>
                  <a:lnTo>
                    <a:pt x="60972" y="129031"/>
                  </a:lnTo>
                  <a:lnTo>
                    <a:pt x="94513" y="154559"/>
                  </a:lnTo>
                  <a:lnTo>
                    <a:pt x="133756" y="178688"/>
                  </a:lnTo>
                  <a:lnTo>
                    <a:pt x="178206" y="201675"/>
                  </a:lnTo>
                  <a:lnTo>
                    <a:pt x="227228" y="222885"/>
                  </a:lnTo>
                  <a:lnTo>
                    <a:pt x="280441" y="242443"/>
                  </a:lnTo>
                  <a:lnTo>
                    <a:pt x="337337" y="260096"/>
                  </a:lnTo>
                  <a:lnTo>
                    <a:pt x="397281" y="275463"/>
                  </a:lnTo>
                  <a:lnTo>
                    <a:pt x="459892" y="288544"/>
                  </a:lnTo>
                  <a:lnTo>
                    <a:pt x="524535" y="299085"/>
                  </a:lnTo>
                  <a:lnTo>
                    <a:pt x="590829" y="306959"/>
                  </a:lnTo>
                  <a:lnTo>
                    <a:pt x="658139" y="311785"/>
                  </a:lnTo>
                  <a:lnTo>
                    <a:pt x="726211" y="313436"/>
                  </a:lnTo>
                  <a:lnTo>
                    <a:pt x="751643" y="313055"/>
                  </a:lnTo>
                  <a:lnTo>
                    <a:pt x="756716" y="313055"/>
                  </a:lnTo>
                  <a:lnTo>
                    <a:pt x="790752" y="311785"/>
                  </a:lnTo>
                  <a:lnTo>
                    <a:pt x="792045" y="311785"/>
                  </a:lnTo>
                  <a:lnTo>
                    <a:pt x="827938" y="309625"/>
                  </a:lnTo>
                  <a:lnTo>
                    <a:pt x="894867" y="302894"/>
                  </a:lnTo>
                  <a:lnTo>
                    <a:pt x="960399" y="293369"/>
                  </a:lnTo>
                  <a:lnTo>
                    <a:pt x="988998" y="288036"/>
                  </a:lnTo>
                  <a:lnTo>
                    <a:pt x="725830" y="288036"/>
                  </a:lnTo>
                  <a:lnTo>
                    <a:pt x="692429" y="287655"/>
                  </a:lnTo>
                  <a:lnTo>
                    <a:pt x="626008" y="284480"/>
                  </a:lnTo>
                  <a:lnTo>
                    <a:pt x="560222" y="278130"/>
                  </a:lnTo>
                  <a:lnTo>
                    <a:pt x="495833" y="268986"/>
                  </a:lnTo>
                  <a:lnTo>
                    <a:pt x="433867" y="257556"/>
                  </a:lnTo>
                  <a:lnTo>
                    <a:pt x="372897" y="243331"/>
                  </a:lnTo>
                  <a:lnTo>
                    <a:pt x="315620" y="227075"/>
                  </a:lnTo>
                  <a:lnTo>
                    <a:pt x="261772" y="208915"/>
                  </a:lnTo>
                  <a:lnTo>
                    <a:pt x="211988" y="188975"/>
                  </a:lnTo>
                  <a:lnTo>
                    <a:pt x="166522" y="167640"/>
                  </a:lnTo>
                  <a:lnTo>
                    <a:pt x="126390" y="144906"/>
                  </a:lnTo>
                  <a:lnTo>
                    <a:pt x="91846" y="121285"/>
                  </a:lnTo>
                  <a:lnTo>
                    <a:pt x="54161" y="87122"/>
                  </a:lnTo>
                  <a:lnTo>
                    <a:pt x="53670" y="87122"/>
                  </a:lnTo>
                  <a:lnTo>
                    <a:pt x="51854" y="84709"/>
                  </a:lnTo>
                  <a:lnTo>
                    <a:pt x="52282" y="84709"/>
                  </a:lnTo>
                  <a:lnTo>
                    <a:pt x="49013" y="79023"/>
                  </a:lnTo>
                  <a:close/>
                </a:path>
                <a:path w="1457960" h="313689">
                  <a:moveTo>
                    <a:pt x="1432204" y="0"/>
                  </a:moveTo>
                  <a:lnTo>
                    <a:pt x="1423822" y="38608"/>
                  </a:lnTo>
                  <a:lnTo>
                    <a:pt x="1399311" y="76454"/>
                  </a:lnTo>
                  <a:lnTo>
                    <a:pt x="1359433" y="114300"/>
                  </a:lnTo>
                  <a:lnTo>
                    <a:pt x="1325016" y="138811"/>
                  </a:lnTo>
                  <a:lnTo>
                    <a:pt x="1284757" y="162560"/>
                  </a:lnTo>
                  <a:lnTo>
                    <a:pt x="1239545" y="184785"/>
                  </a:lnTo>
                  <a:lnTo>
                    <a:pt x="1189634" y="205612"/>
                  </a:lnTo>
                  <a:lnTo>
                    <a:pt x="1135913" y="224536"/>
                  </a:lnTo>
                  <a:lnTo>
                    <a:pt x="1078636" y="241427"/>
                  </a:lnTo>
                  <a:lnTo>
                    <a:pt x="1018438" y="256159"/>
                  </a:lnTo>
                  <a:lnTo>
                    <a:pt x="955827" y="268350"/>
                  </a:lnTo>
                  <a:lnTo>
                    <a:pt x="891438" y="277749"/>
                  </a:lnTo>
                  <a:lnTo>
                    <a:pt x="825652" y="284225"/>
                  </a:lnTo>
                  <a:lnTo>
                    <a:pt x="755534" y="287655"/>
                  </a:lnTo>
                  <a:lnTo>
                    <a:pt x="750881" y="287655"/>
                  </a:lnTo>
                  <a:lnTo>
                    <a:pt x="725830" y="288036"/>
                  </a:lnTo>
                  <a:lnTo>
                    <a:pt x="988998" y="288036"/>
                  </a:lnTo>
                  <a:lnTo>
                    <a:pt x="992403" y="287400"/>
                  </a:lnTo>
                  <a:lnTo>
                    <a:pt x="1055141" y="273685"/>
                  </a:lnTo>
                  <a:lnTo>
                    <a:pt x="1115085" y="257556"/>
                  </a:lnTo>
                  <a:lnTo>
                    <a:pt x="1171981" y="239141"/>
                  </a:lnTo>
                  <a:lnTo>
                    <a:pt x="1225321" y="218694"/>
                  </a:lnTo>
                  <a:lnTo>
                    <a:pt x="1274343" y="196342"/>
                  </a:lnTo>
                  <a:lnTo>
                    <a:pt x="1318793" y="172466"/>
                  </a:lnTo>
                  <a:lnTo>
                    <a:pt x="1358163" y="147066"/>
                  </a:lnTo>
                  <a:lnTo>
                    <a:pt x="1391945" y="120142"/>
                  </a:lnTo>
                  <a:lnTo>
                    <a:pt x="1419377" y="92075"/>
                  </a:lnTo>
                  <a:lnTo>
                    <a:pt x="1447698" y="47243"/>
                  </a:lnTo>
                  <a:lnTo>
                    <a:pt x="1457477" y="1778"/>
                  </a:lnTo>
                  <a:lnTo>
                    <a:pt x="1432204" y="0"/>
                  </a:lnTo>
                  <a:close/>
                </a:path>
                <a:path w="1457960" h="313689">
                  <a:moveTo>
                    <a:pt x="7137" y="13588"/>
                  </a:moveTo>
                  <a:lnTo>
                    <a:pt x="0" y="98552"/>
                  </a:lnTo>
                  <a:lnTo>
                    <a:pt x="25158" y="88528"/>
                  </a:lnTo>
                  <a:lnTo>
                    <a:pt x="19689" y="79023"/>
                  </a:lnTo>
                  <a:lnTo>
                    <a:pt x="22314" y="77469"/>
                  </a:lnTo>
                  <a:lnTo>
                    <a:pt x="41694" y="66293"/>
                  </a:lnTo>
                  <a:lnTo>
                    <a:pt x="66209" y="66293"/>
                  </a:lnTo>
                  <a:lnTo>
                    <a:pt x="7137" y="13588"/>
                  </a:lnTo>
                  <a:close/>
                </a:path>
                <a:path w="1457960" h="313689">
                  <a:moveTo>
                    <a:pt x="41694" y="66293"/>
                  </a:moveTo>
                  <a:lnTo>
                    <a:pt x="22314" y="77469"/>
                  </a:lnTo>
                  <a:lnTo>
                    <a:pt x="19689" y="79023"/>
                  </a:lnTo>
                  <a:lnTo>
                    <a:pt x="25158" y="88528"/>
                  </a:lnTo>
                  <a:lnTo>
                    <a:pt x="49013" y="79023"/>
                  </a:lnTo>
                  <a:lnTo>
                    <a:pt x="41694" y="66293"/>
                  </a:lnTo>
                  <a:close/>
                </a:path>
                <a:path w="1457960" h="313689">
                  <a:moveTo>
                    <a:pt x="51854" y="84709"/>
                  </a:moveTo>
                  <a:lnTo>
                    <a:pt x="53670" y="87122"/>
                  </a:lnTo>
                  <a:lnTo>
                    <a:pt x="52929" y="85833"/>
                  </a:lnTo>
                  <a:lnTo>
                    <a:pt x="51854" y="84709"/>
                  </a:lnTo>
                  <a:close/>
                </a:path>
                <a:path w="1457960" h="313689">
                  <a:moveTo>
                    <a:pt x="52929" y="85833"/>
                  </a:moveTo>
                  <a:lnTo>
                    <a:pt x="53670" y="87122"/>
                  </a:lnTo>
                  <a:lnTo>
                    <a:pt x="54161" y="87122"/>
                  </a:lnTo>
                  <a:lnTo>
                    <a:pt x="52929" y="85833"/>
                  </a:lnTo>
                  <a:close/>
                </a:path>
                <a:path w="1457960" h="313689">
                  <a:moveTo>
                    <a:pt x="52282" y="84709"/>
                  </a:moveTo>
                  <a:lnTo>
                    <a:pt x="51854" y="84709"/>
                  </a:lnTo>
                  <a:lnTo>
                    <a:pt x="52929" y="85833"/>
                  </a:lnTo>
                  <a:lnTo>
                    <a:pt x="52282" y="84709"/>
                  </a:lnTo>
                  <a:close/>
                </a:path>
                <a:path w="1457960" h="313689">
                  <a:moveTo>
                    <a:pt x="66209" y="66293"/>
                  </a:moveTo>
                  <a:lnTo>
                    <a:pt x="41694" y="66293"/>
                  </a:lnTo>
                  <a:lnTo>
                    <a:pt x="49013" y="79023"/>
                  </a:lnTo>
                  <a:lnTo>
                    <a:pt x="70764" y="70358"/>
                  </a:lnTo>
                  <a:lnTo>
                    <a:pt x="66209" y="66293"/>
                  </a:lnTo>
                  <a:close/>
                </a:path>
              </a:pathLst>
            </a:custGeom>
            <a:solidFill>
              <a:srgbClr val="D79F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14299" y="2921889"/>
            <a:ext cx="3776979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102870" indent="-28702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sz="1200" spc="65" dirty="0">
                <a:latin typeface="Gill Sans MT"/>
                <a:cs typeface="Gill Sans MT"/>
              </a:rPr>
              <a:t>If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precedence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graph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for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155" dirty="0">
                <a:latin typeface="Gill Sans MT"/>
                <a:cs typeface="Gill Sans MT"/>
              </a:rPr>
              <a:t>S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110" dirty="0">
                <a:latin typeface="Gill Sans MT"/>
                <a:cs typeface="Gill Sans MT"/>
              </a:rPr>
              <a:t>has</a:t>
            </a:r>
            <a:r>
              <a:rPr sz="1200" spc="50" dirty="0">
                <a:latin typeface="Gill Sans MT"/>
                <a:cs typeface="Gill Sans MT"/>
              </a:rPr>
              <a:t> </a:t>
            </a:r>
            <a:r>
              <a:rPr sz="1200" spc="135" dirty="0">
                <a:latin typeface="Gill Sans MT"/>
                <a:cs typeface="Gill Sans MT"/>
              </a:rPr>
              <a:t>a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cycle,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then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-25" dirty="0">
                <a:latin typeface="Gill Sans MT"/>
                <a:cs typeface="Gill Sans MT"/>
              </a:rPr>
              <a:t>the </a:t>
            </a:r>
            <a:r>
              <a:rPr sz="1200" spc="65" dirty="0">
                <a:latin typeface="Gill Sans MT"/>
                <a:cs typeface="Gill Sans MT"/>
              </a:rPr>
              <a:t>schedule</a:t>
            </a:r>
            <a:r>
              <a:rPr sz="1200" dirty="0">
                <a:latin typeface="Gill Sans MT"/>
                <a:cs typeface="Gill Sans MT"/>
              </a:rPr>
              <a:t> </a:t>
            </a:r>
            <a:r>
              <a:rPr sz="1200" spc="155" dirty="0">
                <a:latin typeface="Gill Sans MT"/>
                <a:cs typeface="Gill Sans MT"/>
              </a:rPr>
              <a:t>S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spc="85" dirty="0">
                <a:latin typeface="Gill Sans MT"/>
                <a:cs typeface="Gill Sans MT"/>
              </a:rPr>
              <a:t>is</a:t>
            </a:r>
            <a:r>
              <a:rPr sz="1200" spc="-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not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conflict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spc="45" dirty="0">
                <a:latin typeface="Gill Sans MT"/>
                <a:cs typeface="Gill Sans MT"/>
              </a:rPr>
              <a:t>serializable.</a:t>
            </a:r>
            <a:endParaRPr sz="1200">
              <a:latin typeface="Gill Sans MT"/>
              <a:cs typeface="Gill Sans MT"/>
            </a:endParaRPr>
          </a:p>
          <a:p>
            <a:pPr marL="299085" indent="-286385">
              <a:lnSpc>
                <a:spcPct val="100000"/>
              </a:lnSpc>
              <a:buFont typeface="Arial"/>
              <a:buChar char="•"/>
              <a:tabLst>
                <a:tab pos="299085" algn="l"/>
              </a:tabLst>
            </a:pPr>
            <a:r>
              <a:rPr sz="1200" spc="65" dirty="0">
                <a:latin typeface="Gill Sans MT"/>
                <a:cs typeface="Gill Sans MT"/>
              </a:rPr>
              <a:t>If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graph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contains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no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cycles,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then</a:t>
            </a:r>
            <a:r>
              <a:rPr sz="1200" spc="2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schedule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spc="105" dirty="0">
                <a:latin typeface="Gill Sans MT"/>
                <a:cs typeface="Gill Sans MT"/>
              </a:rPr>
              <a:t>S</a:t>
            </a:r>
            <a:endParaRPr sz="1200">
              <a:latin typeface="Gill Sans MT"/>
              <a:cs typeface="Gill Sans MT"/>
            </a:endParaRPr>
          </a:p>
          <a:p>
            <a:pPr marL="299085">
              <a:lnSpc>
                <a:spcPct val="100000"/>
              </a:lnSpc>
            </a:pPr>
            <a:r>
              <a:rPr sz="1200" spc="90" dirty="0">
                <a:latin typeface="Gill Sans MT"/>
                <a:cs typeface="Gill Sans MT"/>
              </a:rPr>
              <a:t>is</a:t>
            </a:r>
            <a:r>
              <a:rPr sz="1200" spc="-3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conflict</a:t>
            </a:r>
            <a:r>
              <a:rPr sz="1200" spc="-40" dirty="0">
                <a:latin typeface="Gill Sans MT"/>
                <a:cs typeface="Gill Sans MT"/>
              </a:rPr>
              <a:t> </a:t>
            </a:r>
            <a:r>
              <a:rPr sz="1200" spc="45" dirty="0">
                <a:latin typeface="Gill Sans MT"/>
                <a:cs typeface="Gill Sans MT"/>
              </a:rPr>
              <a:t>serializable.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83944" y="447243"/>
            <a:ext cx="224536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35" dirty="0">
                <a:solidFill>
                  <a:srgbClr val="FF0000"/>
                </a:solidFill>
              </a:rPr>
              <a:t>Serializability</a:t>
            </a:r>
            <a:r>
              <a:rPr spc="-185" dirty="0">
                <a:solidFill>
                  <a:srgbClr val="FF0000"/>
                </a:solidFill>
              </a:rPr>
              <a:t> </a:t>
            </a:r>
            <a:r>
              <a:rPr spc="-145" dirty="0">
                <a:solidFill>
                  <a:srgbClr val="FF0000"/>
                </a:solidFill>
              </a:rPr>
              <a:t>Order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5" dirty="0">
                <a:solidFill>
                  <a:srgbClr val="FFFFFF"/>
                </a:solidFill>
                <a:latin typeface="Gill Sans MT"/>
                <a:cs typeface="Gill Sans MT"/>
              </a:rPr>
              <a:t>24</a:t>
            </a:r>
            <a:endParaRPr sz="1300">
              <a:latin typeface="Gill Sans MT"/>
              <a:cs typeface="Gill Sans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9072" y="1186941"/>
            <a:ext cx="81686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Clr>
                <a:srgbClr val="FF6600"/>
              </a:buClr>
              <a:buFont typeface="Wingdings"/>
              <a:buChar char=""/>
              <a:tabLst>
                <a:tab pos="299085" algn="l"/>
              </a:tabLst>
            </a:pPr>
            <a:r>
              <a:rPr sz="1200" dirty="0">
                <a:latin typeface="Gill Sans MT"/>
                <a:cs typeface="Gill Sans MT"/>
              </a:rPr>
              <a:t>A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b="1" spc="-25" dirty="0">
                <a:latin typeface="Gill Sans MT"/>
                <a:cs typeface="Gill Sans MT"/>
              </a:rPr>
              <a:t>serializability</a:t>
            </a:r>
            <a:r>
              <a:rPr sz="1200" b="1" spc="-30" dirty="0">
                <a:latin typeface="Gill Sans MT"/>
                <a:cs typeface="Gill Sans MT"/>
              </a:rPr>
              <a:t> </a:t>
            </a:r>
            <a:r>
              <a:rPr sz="1200" b="1" spc="-65" dirty="0">
                <a:latin typeface="Gill Sans MT"/>
                <a:cs typeface="Gill Sans MT"/>
              </a:rPr>
              <a:t>order</a:t>
            </a:r>
            <a:r>
              <a:rPr sz="1200" b="1" spc="30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of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 </a:t>
            </a:r>
            <a:r>
              <a:rPr sz="1200" spc="60" dirty="0">
                <a:latin typeface="Gill Sans MT"/>
                <a:cs typeface="Gill Sans MT"/>
              </a:rPr>
              <a:t>transactions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95" dirty="0">
                <a:latin typeface="Gill Sans MT"/>
                <a:cs typeface="Gill Sans MT"/>
              </a:rPr>
              <a:t>can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be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obtained</a:t>
            </a:r>
            <a:r>
              <a:rPr sz="1200" spc="2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by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finding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135" dirty="0">
                <a:latin typeface="Gill Sans MT"/>
                <a:cs typeface="Gill Sans MT"/>
              </a:rPr>
              <a:t>a</a:t>
            </a:r>
            <a:r>
              <a:rPr sz="1200" spc="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linear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order </a:t>
            </a:r>
            <a:r>
              <a:rPr sz="1200" spc="60" dirty="0">
                <a:latin typeface="Gill Sans MT"/>
                <a:cs typeface="Gill Sans MT"/>
              </a:rPr>
              <a:t>consistent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with</a:t>
            </a:r>
            <a:r>
              <a:rPr sz="1200" spc="1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the partial order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35" dirty="0">
                <a:latin typeface="Gill Sans MT"/>
                <a:cs typeface="Gill Sans MT"/>
              </a:rPr>
              <a:t>of </a:t>
            </a:r>
            <a:r>
              <a:rPr sz="1200" dirty="0">
                <a:latin typeface="Gill Sans MT"/>
                <a:cs typeface="Gill Sans MT"/>
              </a:rPr>
              <a:t>the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precedence</a:t>
            </a:r>
            <a:r>
              <a:rPr sz="1200" spc="-10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graph.</a:t>
            </a:r>
            <a:r>
              <a:rPr sz="1200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This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spc="65" dirty="0">
                <a:latin typeface="Gill Sans MT"/>
                <a:cs typeface="Gill Sans MT"/>
              </a:rPr>
              <a:t>process</a:t>
            </a:r>
            <a:r>
              <a:rPr sz="1200" dirty="0">
                <a:latin typeface="Gill Sans MT"/>
                <a:cs typeface="Gill Sans MT"/>
              </a:rPr>
              <a:t> </a:t>
            </a:r>
            <a:r>
              <a:rPr sz="1200" spc="90" dirty="0">
                <a:latin typeface="Gill Sans MT"/>
                <a:cs typeface="Gill Sans MT"/>
              </a:rPr>
              <a:t>is</a:t>
            </a:r>
            <a:r>
              <a:rPr sz="1200" spc="10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called</a:t>
            </a:r>
            <a:r>
              <a:rPr sz="1200" spc="-1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topological</a:t>
            </a:r>
            <a:r>
              <a:rPr sz="1200" dirty="0">
                <a:latin typeface="Gill Sans MT"/>
                <a:cs typeface="Gill Sans MT"/>
              </a:rPr>
              <a:t> </a:t>
            </a:r>
            <a:r>
              <a:rPr sz="1200" spc="-10" dirty="0">
                <a:latin typeface="Gill Sans MT"/>
                <a:cs typeface="Gill Sans MT"/>
              </a:rPr>
              <a:t>sorting.</a:t>
            </a:r>
            <a:endParaRPr sz="1200">
              <a:latin typeface="Gill Sans MT"/>
              <a:cs typeface="Gill Sans MT"/>
            </a:endParaRPr>
          </a:p>
          <a:p>
            <a:pPr marL="299085" indent="-286385">
              <a:lnSpc>
                <a:spcPct val="100000"/>
              </a:lnSpc>
              <a:buClr>
                <a:srgbClr val="FF6600"/>
              </a:buClr>
              <a:buFont typeface="Wingdings"/>
              <a:buChar char=""/>
              <a:tabLst>
                <a:tab pos="299085" algn="l"/>
              </a:tabLst>
            </a:pPr>
            <a:r>
              <a:rPr sz="1200" dirty="0">
                <a:latin typeface="Gill Sans MT"/>
                <a:cs typeface="Gill Sans MT"/>
              </a:rPr>
              <a:t>There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are,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in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general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spc="55" dirty="0">
                <a:latin typeface="Gill Sans MT"/>
                <a:cs typeface="Gill Sans MT"/>
              </a:rPr>
              <a:t>several</a:t>
            </a:r>
            <a:r>
              <a:rPr sz="1200" spc="50" dirty="0">
                <a:latin typeface="Gill Sans MT"/>
                <a:cs typeface="Gill Sans MT"/>
              </a:rPr>
              <a:t> </a:t>
            </a:r>
            <a:r>
              <a:rPr sz="1200" spc="70" dirty="0">
                <a:latin typeface="Gill Sans MT"/>
                <a:cs typeface="Gill Sans MT"/>
              </a:rPr>
              <a:t>possible</a:t>
            </a:r>
            <a:r>
              <a:rPr sz="1200" spc="5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linear</a:t>
            </a:r>
            <a:r>
              <a:rPr sz="1200" spc="3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orders</a:t>
            </a:r>
            <a:r>
              <a:rPr sz="1200" spc="45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that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spc="95" dirty="0">
                <a:latin typeface="Gill Sans MT"/>
                <a:cs typeface="Gill Sans MT"/>
              </a:rPr>
              <a:t>can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spc="60" dirty="0">
                <a:latin typeface="Gill Sans MT"/>
                <a:cs typeface="Gill Sans MT"/>
              </a:rPr>
              <a:t>be</a:t>
            </a:r>
            <a:r>
              <a:rPr sz="1200" spc="55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obtained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dirty="0">
                <a:latin typeface="Gill Sans MT"/>
                <a:cs typeface="Gill Sans MT"/>
              </a:rPr>
              <a:t>through</a:t>
            </a:r>
            <a:r>
              <a:rPr sz="1200" spc="40" dirty="0">
                <a:latin typeface="Gill Sans MT"/>
                <a:cs typeface="Gill Sans MT"/>
              </a:rPr>
              <a:t> </a:t>
            </a:r>
            <a:r>
              <a:rPr sz="1200" spc="135" dirty="0">
                <a:latin typeface="Gill Sans MT"/>
                <a:cs typeface="Gill Sans MT"/>
              </a:rPr>
              <a:t>a</a:t>
            </a:r>
            <a:r>
              <a:rPr sz="1200" spc="30" dirty="0">
                <a:latin typeface="Gill Sans MT"/>
                <a:cs typeface="Gill Sans MT"/>
              </a:rPr>
              <a:t> </a:t>
            </a:r>
            <a:r>
              <a:rPr sz="1200" spc="50" dirty="0">
                <a:latin typeface="Gill Sans MT"/>
                <a:cs typeface="Gill Sans MT"/>
              </a:rPr>
              <a:t>topological</a:t>
            </a:r>
            <a:r>
              <a:rPr sz="1200" spc="55" dirty="0">
                <a:latin typeface="Gill Sans MT"/>
                <a:cs typeface="Gill Sans MT"/>
              </a:rPr>
              <a:t> </a:t>
            </a:r>
            <a:r>
              <a:rPr sz="1200" spc="-10" dirty="0">
                <a:latin typeface="Gill Sans MT"/>
                <a:cs typeface="Gill Sans MT"/>
              </a:rPr>
              <a:t>sort.</a:t>
            </a:r>
            <a:endParaRPr sz="1200">
              <a:latin typeface="Gill Sans MT"/>
              <a:cs typeface="Gill Sans MT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60958" y="2424938"/>
            <a:ext cx="518159" cy="511809"/>
            <a:chOff x="1060958" y="2424938"/>
            <a:chExt cx="518159" cy="511809"/>
          </a:xfrm>
        </p:grpSpPr>
        <p:sp>
          <p:nvSpPr>
            <p:cNvPr id="6" name="object 6"/>
            <p:cNvSpPr/>
            <p:nvPr/>
          </p:nvSpPr>
          <p:spPr>
            <a:xfrm>
              <a:off x="1073658" y="2437638"/>
              <a:ext cx="492759" cy="486409"/>
            </a:xfrm>
            <a:custGeom>
              <a:avLst/>
              <a:gdLst/>
              <a:ahLst/>
              <a:cxnLst/>
              <a:rect l="l" t="t" r="r" b="b"/>
              <a:pathLst>
                <a:path w="492759" h="486410">
                  <a:moveTo>
                    <a:pt x="246125" y="0"/>
                  </a:moveTo>
                  <a:lnTo>
                    <a:pt x="196524" y="4938"/>
                  </a:lnTo>
                  <a:lnTo>
                    <a:pt x="150324" y="19103"/>
                  </a:lnTo>
                  <a:lnTo>
                    <a:pt x="108516" y="41516"/>
                  </a:lnTo>
                  <a:lnTo>
                    <a:pt x="72089" y="71199"/>
                  </a:lnTo>
                  <a:lnTo>
                    <a:pt x="42035" y="107174"/>
                  </a:lnTo>
                  <a:lnTo>
                    <a:pt x="19342" y="148464"/>
                  </a:lnTo>
                  <a:lnTo>
                    <a:pt x="5000" y="194091"/>
                  </a:lnTo>
                  <a:lnTo>
                    <a:pt x="0" y="243078"/>
                  </a:lnTo>
                  <a:lnTo>
                    <a:pt x="5000" y="292064"/>
                  </a:lnTo>
                  <a:lnTo>
                    <a:pt x="19342" y="337691"/>
                  </a:lnTo>
                  <a:lnTo>
                    <a:pt x="42035" y="378981"/>
                  </a:lnTo>
                  <a:lnTo>
                    <a:pt x="72089" y="414956"/>
                  </a:lnTo>
                  <a:lnTo>
                    <a:pt x="108516" y="444639"/>
                  </a:lnTo>
                  <a:lnTo>
                    <a:pt x="150324" y="467052"/>
                  </a:lnTo>
                  <a:lnTo>
                    <a:pt x="196524" y="481217"/>
                  </a:lnTo>
                  <a:lnTo>
                    <a:pt x="246125" y="486156"/>
                  </a:lnTo>
                  <a:lnTo>
                    <a:pt x="295717" y="481217"/>
                  </a:lnTo>
                  <a:lnTo>
                    <a:pt x="341911" y="467052"/>
                  </a:lnTo>
                  <a:lnTo>
                    <a:pt x="383719" y="444639"/>
                  </a:lnTo>
                  <a:lnTo>
                    <a:pt x="420147" y="414956"/>
                  </a:lnTo>
                  <a:lnTo>
                    <a:pt x="450206" y="378981"/>
                  </a:lnTo>
                  <a:lnTo>
                    <a:pt x="472904" y="337691"/>
                  </a:lnTo>
                  <a:lnTo>
                    <a:pt x="487249" y="292064"/>
                  </a:lnTo>
                  <a:lnTo>
                    <a:pt x="492251" y="243078"/>
                  </a:lnTo>
                  <a:lnTo>
                    <a:pt x="487249" y="194091"/>
                  </a:lnTo>
                  <a:lnTo>
                    <a:pt x="472904" y="148464"/>
                  </a:lnTo>
                  <a:lnTo>
                    <a:pt x="450206" y="107174"/>
                  </a:lnTo>
                  <a:lnTo>
                    <a:pt x="420147" y="71199"/>
                  </a:lnTo>
                  <a:lnTo>
                    <a:pt x="383719" y="41516"/>
                  </a:lnTo>
                  <a:lnTo>
                    <a:pt x="341911" y="19103"/>
                  </a:lnTo>
                  <a:lnTo>
                    <a:pt x="295717" y="4938"/>
                  </a:lnTo>
                  <a:lnTo>
                    <a:pt x="246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73658" y="2437638"/>
              <a:ext cx="492759" cy="486409"/>
            </a:xfrm>
            <a:custGeom>
              <a:avLst/>
              <a:gdLst/>
              <a:ahLst/>
              <a:cxnLst/>
              <a:rect l="l" t="t" r="r" b="b"/>
              <a:pathLst>
                <a:path w="492759" h="486410">
                  <a:moveTo>
                    <a:pt x="0" y="243078"/>
                  </a:moveTo>
                  <a:lnTo>
                    <a:pt x="5000" y="194091"/>
                  </a:lnTo>
                  <a:lnTo>
                    <a:pt x="19342" y="148464"/>
                  </a:lnTo>
                  <a:lnTo>
                    <a:pt x="42035" y="107174"/>
                  </a:lnTo>
                  <a:lnTo>
                    <a:pt x="72089" y="71199"/>
                  </a:lnTo>
                  <a:lnTo>
                    <a:pt x="108516" y="41516"/>
                  </a:lnTo>
                  <a:lnTo>
                    <a:pt x="150324" y="19103"/>
                  </a:lnTo>
                  <a:lnTo>
                    <a:pt x="196524" y="4938"/>
                  </a:lnTo>
                  <a:lnTo>
                    <a:pt x="246125" y="0"/>
                  </a:lnTo>
                  <a:lnTo>
                    <a:pt x="295717" y="4938"/>
                  </a:lnTo>
                  <a:lnTo>
                    <a:pt x="341911" y="19103"/>
                  </a:lnTo>
                  <a:lnTo>
                    <a:pt x="383719" y="41516"/>
                  </a:lnTo>
                  <a:lnTo>
                    <a:pt x="420147" y="71199"/>
                  </a:lnTo>
                  <a:lnTo>
                    <a:pt x="450206" y="107174"/>
                  </a:lnTo>
                  <a:lnTo>
                    <a:pt x="472904" y="148464"/>
                  </a:lnTo>
                  <a:lnTo>
                    <a:pt x="487249" y="194091"/>
                  </a:lnTo>
                  <a:lnTo>
                    <a:pt x="492251" y="243078"/>
                  </a:lnTo>
                  <a:lnTo>
                    <a:pt x="487249" y="292064"/>
                  </a:lnTo>
                  <a:lnTo>
                    <a:pt x="472904" y="337691"/>
                  </a:lnTo>
                  <a:lnTo>
                    <a:pt x="450206" y="378981"/>
                  </a:lnTo>
                  <a:lnTo>
                    <a:pt x="420147" y="414956"/>
                  </a:lnTo>
                  <a:lnTo>
                    <a:pt x="383719" y="444639"/>
                  </a:lnTo>
                  <a:lnTo>
                    <a:pt x="341911" y="467052"/>
                  </a:lnTo>
                  <a:lnTo>
                    <a:pt x="295717" y="481217"/>
                  </a:lnTo>
                  <a:lnTo>
                    <a:pt x="246125" y="486156"/>
                  </a:lnTo>
                  <a:lnTo>
                    <a:pt x="196524" y="481217"/>
                  </a:lnTo>
                  <a:lnTo>
                    <a:pt x="150324" y="467052"/>
                  </a:lnTo>
                  <a:lnTo>
                    <a:pt x="108516" y="444639"/>
                  </a:lnTo>
                  <a:lnTo>
                    <a:pt x="72089" y="414956"/>
                  </a:lnTo>
                  <a:lnTo>
                    <a:pt x="42035" y="378981"/>
                  </a:lnTo>
                  <a:lnTo>
                    <a:pt x="19342" y="337691"/>
                  </a:lnTo>
                  <a:lnTo>
                    <a:pt x="5000" y="292064"/>
                  </a:lnTo>
                  <a:lnTo>
                    <a:pt x="0" y="243078"/>
                  </a:lnTo>
                  <a:close/>
                </a:path>
              </a:pathLst>
            </a:custGeom>
            <a:ln w="254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221333" y="2571369"/>
            <a:ext cx="1936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Arial"/>
                <a:cs typeface="Arial"/>
              </a:rPr>
              <a:t>T</a:t>
            </a:r>
            <a:r>
              <a:rPr sz="1200" spc="-37" baseline="-20833" dirty="0">
                <a:latin typeface="Arial"/>
                <a:cs typeface="Arial"/>
              </a:rPr>
              <a:t>i</a:t>
            </a:r>
            <a:endParaRPr sz="1200" baseline="-20833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665985" y="3365246"/>
            <a:ext cx="519430" cy="511809"/>
            <a:chOff x="1665985" y="3365246"/>
            <a:chExt cx="519430" cy="511809"/>
          </a:xfrm>
        </p:grpSpPr>
        <p:sp>
          <p:nvSpPr>
            <p:cNvPr id="10" name="object 10"/>
            <p:cNvSpPr/>
            <p:nvPr/>
          </p:nvSpPr>
          <p:spPr>
            <a:xfrm>
              <a:off x="1678685" y="3377946"/>
              <a:ext cx="494030" cy="486409"/>
            </a:xfrm>
            <a:custGeom>
              <a:avLst/>
              <a:gdLst/>
              <a:ahLst/>
              <a:cxnLst/>
              <a:rect l="l" t="t" r="r" b="b"/>
              <a:pathLst>
                <a:path w="494030" h="486410">
                  <a:moveTo>
                    <a:pt x="246887" y="0"/>
                  </a:moveTo>
                  <a:lnTo>
                    <a:pt x="197118" y="4938"/>
                  </a:lnTo>
                  <a:lnTo>
                    <a:pt x="150768" y="19103"/>
                  </a:lnTo>
                  <a:lnTo>
                    <a:pt x="108830" y="41516"/>
                  </a:lnTo>
                  <a:lnTo>
                    <a:pt x="72294" y="71199"/>
                  </a:lnTo>
                  <a:lnTo>
                    <a:pt x="42152" y="107174"/>
                  </a:lnTo>
                  <a:lnTo>
                    <a:pt x="19395" y="148464"/>
                  </a:lnTo>
                  <a:lnTo>
                    <a:pt x="5014" y="194091"/>
                  </a:lnTo>
                  <a:lnTo>
                    <a:pt x="0" y="243077"/>
                  </a:lnTo>
                  <a:lnTo>
                    <a:pt x="5014" y="292064"/>
                  </a:lnTo>
                  <a:lnTo>
                    <a:pt x="19395" y="337691"/>
                  </a:lnTo>
                  <a:lnTo>
                    <a:pt x="42152" y="378981"/>
                  </a:lnTo>
                  <a:lnTo>
                    <a:pt x="72294" y="414956"/>
                  </a:lnTo>
                  <a:lnTo>
                    <a:pt x="108830" y="444639"/>
                  </a:lnTo>
                  <a:lnTo>
                    <a:pt x="150768" y="467052"/>
                  </a:lnTo>
                  <a:lnTo>
                    <a:pt x="197118" y="481217"/>
                  </a:lnTo>
                  <a:lnTo>
                    <a:pt x="246887" y="486155"/>
                  </a:lnTo>
                  <a:lnTo>
                    <a:pt x="296657" y="481217"/>
                  </a:lnTo>
                  <a:lnTo>
                    <a:pt x="343007" y="467052"/>
                  </a:lnTo>
                  <a:lnTo>
                    <a:pt x="384945" y="444639"/>
                  </a:lnTo>
                  <a:lnTo>
                    <a:pt x="421481" y="414956"/>
                  </a:lnTo>
                  <a:lnTo>
                    <a:pt x="451623" y="378981"/>
                  </a:lnTo>
                  <a:lnTo>
                    <a:pt x="474380" y="337691"/>
                  </a:lnTo>
                  <a:lnTo>
                    <a:pt x="488761" y="292064"/>
                  </a:lnTo>
                  <a:lnTo>
                    <a:pt x="493775" y="243077"/>
                  </a:lnTo>
                  <a:lnTo>
                    <a:pt x="488761" y="194091"/>
                  </a:lnTo>
                  <a:lnTo>
                    <a:pt x="474380" y="148464"/>
                  </a:lnTo>
                  <a:lnTo>
                    <a:pt x="451623" y="107174"/>
                  </a:lnTo>
                  <a:lnTo>
                    <a:pt x="421481" y="71199"/>
                  </a:lnTo>
                  <a:lnTo>
                    <a:pt x="384945" y="41516"/>
                  </a:lnTo>
                  <a:lnTo>
                    <a:pt x="343007" y="19103"/>
                  </a:lnTo>
                  <a:lnTo>
                    <a:pt x="296657" y="4938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678685" y="3377946"/>
              <a:ext cx="494030" cy="486409"/>
            </a:xfrm>
            <a:custGeom>
              <a:avLst/>
              <a:gdLst/>
              <a:ahLst/>
              <a:cxnLst/>
              <a:rect l="l" t="t" r="r" b="b"/>
              <a:pathLst>
                <a:path w="494030" h="486410">
                  <a:moveTo>
                    <a:pt x="0" y="243077"/>
                  </a:moveTo>
                  <a:lnTo>
                    <a:pt x="5014" y="194091"/>
                  </a:lnTo>
                  <a:lnTo>
                    <a:pt x="19395" y="148464"/>
                  </a:lnTo>
                  <a:lnTo>
                    <a:pt x="42152" y="107174"/>
                  </a:lnTo>
                  <a:lnTo>
                    <a:pt x="72294" y="71199"/>
                  </a:lnTo>
                  <a:lnTo>
                    <a:pt x="108830" y="41516"/>
                  </a:lnTo>
                  <a:lnTo>
                    <a:pt x="150768" y="19103"/>
                  </a:lnTo>
                  <a:lnTo>
                    <a:pt x="197118" y="4938"/>
                  </a:lnTo>
                  <a:lnTo>
                    <a:pt x="246887" y="0"/>
                  </a:lnTo>
                  <a:lnTo>
                    <a:pt x="296657" y="4938"/>
                  </a:lnTo>
                  <a:lnTo>
                    <a:pt x="343007" y="19103"/>
                  </a:lnTo>
                  <a:lnTo>
                    <a:pt x="384945" y="41516"/>
                  </a:lnTo>
                  <a:lnTo>
                    <a:pt x="421481" y="71199"/>
                  </a:lnTo>
                  <a:lnTo>
                    <a:pt x="451623" y="107174"/>
                  </a:lnTo>
                  <a:lnTo>
                    <a:pt x="474380" y="148464"/>
                  </a:lnTo>
                  <a:lnTo>
                    <a:pt x="488761" y="194091"/>
                  </a:lnTo>
                  <a:lnTo>
                    <a:pt x="493775" y="243077"/>
                  </a:lnTo>
                  <a:lnTo>
                    <a:pt x="488761" y="292064"/>
                  </a:lnTo>
                  <a:lnTo>
                    <a:pt x="474380" y="337691"/>
                  </a:lnTo>
                  <a:lnTo>
                    <a:pt x="451623" y="378981"/>
                  </a:lnTo>
                  <a:lnTo>
                    <a:pt x="421481" y="414956"/>
                  </a:lnTo>
                  <a:lnTo>
                    <a:pt x="384945" y="444639"/>
                  </a:lnTo>
                  <a:lnTo>
                    <a:pt x="343007" y="467052"/>
                  </a:lnTo>
                  <a:lnTo>
                    <a:pt x="296657" y="481217"/>
                  </a:lnTo>
                  <a:lnTo>
                    <a:pt x="246887" y="486155"/>
                  </a:lnTo>
                  <a:lnTo>
                    <a:pt x="197118" y="481217"/>
                  </a:lnTo>
                  <a:lnTo>
                    <a:pt x="150768" y="467052"/>
                  </a:lnTo>
                  <a:lnTo>
                    <a:pt x="108830" y="444639"/>
                  </a:lnTo>
                  <a:lnTo>
                    <a:pt x="72294" y="414956"/>
                  </a:lnTo>
                  <a:lnTo>
                    <a:pt x="42152" y="378981"/>
                  </a:lnTo>
                  <a:lnTo>
                    <a:pt x="19395" y="337691"/>
                  </a:lnTo>
                  <a:lnTo>
                    <a:pt x="5014" y="292064"/>
                  </a:lnTo>
                  <a:lnTo>
                    <a:pt x="0" y="243077"/>
                  </a:lnTo>
                  <a:close/>
                </a:path>
              </a:pathLst>
            </a:custGeom>
            <a:ln w="254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813814" y="3512566"/>
            <a:ext cx="222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Arial"/>
                <a:cs typeface="Arial"/>
              </a:rPr>
              <a:t>T</a:t>
            </a:r>
            <a:r>
              <a:rPr sz="1200" spc="-37" baseline="-20833" dirty="0">
                <a:latin typeface="Arial"/>
                <a:cs typeface="Arial"/>
              </a:rPr>
              <a:t>k</a:t>
            </a:r>
            <a:endParaRPr sz="1200" baseline="-20833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25450" y="2820936"/>
            <a:ext cx="1615440" cy="1056005"/>
            <a:chOff x="425450" y="2820936"/>
            <a:chExt cx="1615440" cy="105600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41703" y="2820936"/>
              <a:ext cx="598932" cy="691883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1484502" y="2844165"/>
              <a:ext cx="441959" cy="534035"/>
            </a:xfrm>
            <a:custGeom>
              <a:avLst/>
              <a:gdLst/>
              <a:ahLst/>
              <a:cxnLst/>
              <a:rect l="l" t="t" r="r" b="b"/>
              <a:pathLst>
                <a:path w="441960" h="534035">
                  <a:moveTo>
                    <a:pt x="383255" y="483098"/>
                  </a:moveTo>
                  <a:lnTo>
                    <a:pt x="363601" y="499237"/>
                  </a:lnTo>
                  <a:lnTo>
                    <a:pt x="441452" y="534035"/>
                  </a:lnTo>
                  <a:lnTo>
                    <a:pt x="432091" y="492887"/>
                  </a:lnTo>
                  <a:lnTo>
                    <a:pt x="391286" y="492887"/>
                  </a:lnTo>
                  <a:lnTo>
                    <a:pt x="383255" y="483098"/>
                  </a:lnTo>
                  <a:close/>
                </a:path>
                <a:path w="441960" h="534035">
                  <a:moveTo>
                    <a:pt x="402859" y="467001"/>
                  </a:moveTo>
                  <a:lnTo>
                    <a:pt x="383255" y="483098"/>
                  </a:lnTo>
                  <a:lnTo>
                    <a:pt x="391286" y="492887"/>
                  </a:lnTo>
                  <a:lnTo>
                    <a:pt x="410972" y="476885"/>
                  </a:lnTo>
                  <a:lnTo>
                    <a:pt x="402859" y="467001"/>
                  </a:lnTo>
                  <a:close/>
                </a:path>
                <a:path w="441960" h="534035">
                  <a:moveTo>
                    <a:pt x="422528" y="450850"/>
                  </a:moveTo>
                  <a:lnTo>
                    <a:pt x="402859" y="467001"/>
                  </a:lnTo>
                  <a:lnTo>
                    <a:pt x="410972" y="476885"/>
                  </a:lnTo>
                  <a:lnTo>
                    <a:pt x="391286" y="492887"/>
                  </a:lnTo>
                  <a:lnTo>
                    <a:pt x="432091" y="492887"/>
                  </a:lnTo>
                  <a:lnTo>
                    <a:pt x="422528" y="450850"/>
                  </a:lnTo>
                  <a:close/>
                </a:path>
                <a:path w="441960" h="534035">
                  <a:moveTo>
                    <a:pt x="19558" y="0"/>
                  </a:moveTo>
                  <a:lnTo>
                    <a:pt x="0" y="16002"/>
                  </a:lnTo>
                  <a:lnTo>
                    <a:pt x="383255" y="483098"/>
                  </a:lnTo>
                  <a:lnTo>
                    <a:pt x="402859" y="467001"/>
                  </a:lnTo>
                  <a:lnTo>
                    <a:pt x="19558" y="0"/>
                  </a:lnTo>
                  <a:close/>
                </a:path>
              </a:pathLst>
            </a:custGeom>
            <a:solidFill>
              <a:srgbClr val="D79F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38150" y="3377946"/>
              <a:ext cx="494030" cy="486409"/>
            </a:xfrm>
            <a:custGeom>
              <a:avLst/>
              <a:gdLst/>
              <a:ahLst/>
              <a:cxnLst/>
              <a:rect l="l" t="t" r="r" b="b"/>
              <a:pathLst>
                <a:path w="494030" h="486410">
                  <a:moveTo>
                    <a:pt x="246887" y="0"/>
                  </a:moveTo>
                  <a:lnTo>
                    <a:pt x="197132" y="4938"/>
                  </a:lnTo>
                  <a:lnTo>
                    <a:pt x="150790" y="19103"/>
                  </a:lnTo>
                  <a:lnTo>
                    <a:pt x="108852" y="41516"/>
                  </a:lnTo>
                  <a:lnTo>
                    <a:pt x="72313" y="71199"/>
                  </a:lnTo>
                  <a:lnTo>
                    <a:pt x="42165" y="107174"/>
                  </a:lnTo>
                  <a:lnTo>
                    <a:pt x="19402" y="148464"/>
                  </a:lnTo>
                  <a:lnTo>
                    <a:pt x="5016" y="194091"/>
                  </a:lnTo>
                  <a:lnTo>
                    <a:pt x="0" y="243077"/>
                  </a:lnTo>
                  <a:lnTo>
                    <a:pt x="5016" y="292064"/>
                  </a:lnTo>
                  <a:lnTo>
                    <a:pt x="19402" y="337691"/>
                  </a:lnTo>
                  <a:lnTo>
                    <a:pt x="42165" y="378981"/>
                  </a:lnTo>
                  <a:lnTo>
                    <a:pt x="72313" y="414956"/>
                  </a:lnTo>
                  <a:lnTo>
                    <a:pt x="108852" y="444639"/>
                  </a:lnTo>
                  <a:lnTo>
                    <a:pt x="150790" y="467052"/>
                  </a:lnTo>
                  <a:lnTo>
                    <a:pt x="197132" y="481217"/>
                  </a:lnTo>
                  <a:lnTo>
                    <a:pt x="246887" y="486155"/>
                  </a:lnTo>
                  <a:lnTo>
                    <a:pt x="296643" y="481217"/>
                  </a:lnTo>
                  <a:lnTo>
                    <a:pt x="342985" y="467052"/>
                  </a:lnTo>
                  <a:lnTo>
                    <a:pt x="384923" y="444639"/>
                  </a:lnTo>
                  <a:lnTo>
                    <a:pt x="421462" y="414956"/>
                  </a:lnTo>
                  <a:lnTo>
                    <a:pt x="451610" y="378981"/>
                  </a:lnTo>
                  <a:lnTo>
                    <a:pt x="474373" y="337691"/>
                  </a:lnTo>
                  <a:lnTo>
                    <a:pt x="488759" y="292064"/>
                  </a:lnTo>
                  <a:lnTo>
                    <a:pt x="493775" y="243077"/>
                  </a:lnTo>
                  <a:lnTo>
                    <a:pt x="488759" y="194091"/>
                  </a:lnTo>
                  <a:lnTo>
                    <a:pt x="474373" y="148464"/>
                  </a:lnTo>
                  <a:lnTo>
                    <a:pt x="451610" y="107174"/>
                  </a:lnTo>
                  <a:lnTo>
                    <a:pt x="421462" y="71199"/>
                  </a:lnTo>
                  <a:lnTo>
                    <a:pt x="384923" y="41516"/>
                  </a:lnTo>
                  <a:lnTo>
                    <a:pt x="342985" y="19103"/>
                  </a:lnTo>
                  <a:lnTo>
                    <a:pt x="296643" y="4938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38150" y="3377946"/>
              <a:ext cx="494030" cy="486409"/>
            </a:xfrm>
            <a:custGeom>
              <a:avLst/>
              <a:gdLst/>
              <a:ahLst/>
              <a:cxnLst/>
              <a:rect l="l" t="t" r="r" b="b"/>
              <a:pathLst>
                <a:path w="494030" h="486410">
                  <a:moveTo>
                    <a:pt x="0" y="243077"/>
                  </a:moveTo>
                  <a:lnTo>
                    <a:pt x="5016" y="194091"/>
                  </a:lnTo>
                  <a:lnTo>
                    <a:pt x="19402" y="148464"/>
                  </a:lnTo>
                  <a:lnTo>
                    <a:pt x="42165" y="107174"/>
                  </a:lnTo>
                  <a:lnTo>
                    <a:pt x="72313" y="71199"/>
                  </a:lnTo>
                  <a:lnTo>
                    <a:pt x="108852" y="41516"/>
                  </a:lnTo>
                  <a:lnTo>
                    <a:pt x="150790" y="19103"/>
                  </a:lnTo>
                  <a:lnTo>
                    <a:pt x="197132" y="4938"/>
                  </a:lnTo>
                  <a:lnTo>
                    <a:pt x="246887" y="0"/>
                  </a:lnTo>
                  <a:lnTo>
                    <a:pt x="296643" y="4938"/>
                  </a:lnTo>
                  <a:lnTo>
                    <a:pt x="342985" y="19103"/>
                  </a:lnTo>
                  <a:lnTo>
                    <a:pt x="384923" y="41516"/>
                  </a:lnTo>
                  <a:lnTo>
                    <a:pt x="421462" y="71199"/>
                  </a:lnTo>
                  <a:lnTo>
                    <a:pt x="451610" y="107174"/>
                  </a:lnTo>
                  <a:lnTo>
                    <a:pt x="474373" y="148464"/>
                  </a:lnTo>
                  <a:lnTo>
                    <a:pt x="488759" y="194091"/>
                  </a:lnTo>
                  <a:lnTo>
                    <a:pt x="493775" y="243077"/>
                  </a:lnTo>
                  <a:lnTo>
                    <a:pt x="488759" y="292064"/>
                  </a:lnTo>
                  <a:lnTo>
                    <a:pt x="474373" y="337691"/>
                  </a:lnTo>
                  <a:lnTo>
                    <a:pt x="451610" y="378981"/>
                  </a:lnTo>
                  <a:lnTo>
                    <a:pt x="421462" y="414956"/>
                  </a:lnTo>
                  <a:lnTo>
                    <a:pt x="384923" y="444639"/>
                  </a:lnTo>
                  <a:lnTo>
                    <a:pt x="342985" y="467052"/>
                  </a:lnTo>
                  <a:lnTo>
                    <a:pt x="296643" y="481217"/>
                  </a:lnTo>
                  <a:lnTo>
                    <a:pt x="246887" y="486155"/>
                  </a:lnTo>
                  <a:lnTo>
                    <a:pt x="197132" y="481217"/>
                  </a:lnTo>
                  <a:lnTo>
                    <a:pt x="150790" y="467052"/>
                  </a:lnTo>
                  <a:lnTo>
                    <a:pt x="108852" y="444639"/>
                  </a:lnTo>
                  <a:lnTo>
                    <a:pt x="72313" y="414956"/>
                  </a:lnTo>
                  <a:lnTo>
                    <a:pt x="42165" y="378981"/>
                  </a:lnTo>
                  <a:lnTo>
                    <a:pt x="19402" y="337691"/>
                  </a:lnTo>
                  <a:lnTo>
                    <a:pt x="5016" y="292064"/>
                  </a:lnTo>
                  <a:lnTo>
                    <a:pt x="0" y="243077"/>
                  </a:lnTo>
                  <a:close/>
                </a:path>
              </a:pathLst>
            </a:custGeom>
            <a:ln w="254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86435" y="3512566"/>
            <a:ext cx="1936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Arial"/>
                <a:cs typeface="Arial"/>
              </a:rPr>
              <a:t>T</a:t>
            </a:r>
            <a:r>
              <a:rPr sz="1200" spc="-37" baseline="-20833" dirty="0">
                <a:latin typeface="Arial"/>
                <a:cs typeface="Arial"/>
              </a:rPr>
              <a:t>j</a:t>
            </a:r>
            <a:endParaRPr sz="1200" baseline="-20833">
              <a:latin typeface="Arial"/>
              <a:cs typeface="Aria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65404" y="2820936"/>
            <a:ext cx="1013460" cy="2005330"/>
            <a:chOff x="565404" y="2820936"/>
            <a:chExt cx="1013460" cy="2005330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5404" y="2820936"/>
              <a:ext cx="627875" cy="691883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85038" y="2843784"/>
              <a:ext cx="470534" cy="534670"/>
            </a:xfrm>
            <a:custGeom>
              <a:avLst/>
              <a:gdLst/>
              <a:ahLst/>
              <a:cxnLst/>
              <a:rect l="l" t="t" r="r" b="b"/>
              <a:pathLst>
                <a:path w="470534" h="534670">
                  <a:moveTo>
                    <a:pt x="21526" y="451866"/>
                  </a:moveTo>
                  <a:lnTo>
                    <a:pt x="0" y="534416"/>
                  </a:lnTo>
                  <a:lnTo>
                    <a:pt x="78854" y="502158"/>
                  </a:lnTo>
                  <a:lnTo>
                    <a:pt x="70602" y="494919"/>
                  </a:lnTo>
                  <a:lnTo>
                    <a:pt x="51384" y="494919"/>
                  </a:lnTo>
                  <a:lnTo>
                    <a:pt x="32270" y="478155"/>
                  </a:lnTo>
                  <a:lnTo>
                    <a:pt x="40621" y="468617"/>
                  </a:lnTo>
                  <a:lnTo>
                    <a:pt x="21526" y="451866"/>
                  </a:lnTo>
                  <a:close/>
                </a:path>
                <a:path w="470534" h="534670">
                  <a:moveTo>
                    <a:pt x="40621" y="468617"/>
                  </a:moveTo>
                  <a:lnTo>
                    <a:pt x="32270" y="478155"/>
                  </a:lnTo>
                  <a:lnTo>
                    <a:pt x="51384" y="494919"/>
                  </a:lnTo>
                  <a:lnTo>
                    <a:pt x="59732" y="485383"/>
                  </a:lnTo>
                  <a:lnTo>
                    <a:pt x="40621" y="468617"/>
                  </a:lnTo>
                  <a:close/>
                </a:path>
                <a:path w="470534" h="534670">
                  <a:moveTo>
                    <a:pt x="59732" y="485383"/>
                  </a:moveTo>
                  <a:lnTo>
                    <a:pt x="51384" y="494919"/>
                  </a:lnTo>
                  <a:lnTo>
                    <a:pt x="70602" y="494919"/>
                  </a:lnTo>
                  <a:lnTo>
                    <a:pt x="59732" y="485383"/>
                  </a:lnTo>
                  <a:close/>
                </a:path>
                <a:path w="470534" h="534670">
                  <a:moveTo>
                    <a:pt x="450888" y="0"/>
                  </a:moveTo>
                  <a:lnTo>
                    <a:pt x="40621" y="468617"/>
                  </a:lnTo>
                  <a:lnTo>
                    <a:pt x="59732" y="485383"/>
                  </a:lnTo>
                  <a:lnTo>
                    <a:pt x="470001" y="16764"/>
                  </a:lnTo>
                  <a:lnTo>
                    <a:pt x="450888" y="0"/>
                  </a:lnTo>
                  <a:close/>
                </a:path>
              </a:pathLst>
            </a:custGeom>
            <a:solidFill>
              <a:srgbClr val="D79F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73658" y="4327398"/>
              <a:ext cx="492759" cy="486409"/>
            </a:xfrm>
            <a:custGeom>
              <a:avLst/>
              <a:gdLst/>
              <a:ahLst/>
              <a:cxnLst/>
              <a:rect l="l" t="t" r="r" b="b"/>
              <a:pathLst>
                <a:path w="492759" h="486410">
                  <a:moveTo>
                    <a:pt x="246125" y="0"/>
                  </a:moveTo>
                  <a:lnTo>
                    <a:pt x="196524" y="4938"/>
                  </a:lnTo>
                  <a:lnTo>
                    <a:pt x="150324" y="19101"/>
                  </a:lnTo>
                  <a:lnTo>
                    <a:pt x="108516" y="41513"/>
                  </a:lnTo>
                  <a:lnTo>
                    <a:pt x="72089" y="71194"/>
                  </a:lnTo>
                  <a:lnTo>
                    <a:pt x="42035" y="107169"/>
                  </a:lnTo>
                  <a:lnTo>
                    <a:pt x="19342" y="148459"/>
                  </a:lnTo>
                  <a:lnTo>
                    <a:pt x="5000" y="194088"/>
                  </a:lnTo>
                  <a:lnTo>
                    <a:pt x="0" y="243077"/>
                  </a:lnTo>
                  <a:lnTo>
                    <a:pt x="5000" y="292067"/>
                  </a:lnTo>
                  <a:lnTo>
                    <a:pt x="19342" y="337696"/>
                  </a:lnTo>
                  <a:lnTo>
                    <a:pt x="42035" y="378986"/>
                  </a:lnTo>
                  <a:lnTo>
                    <a:pt x="72089" y="414961"/>
                  </a:lnTo>
                  <a:lnTo>
                    <a:pt x="108516" y="444642"/>
                  </a:lnTo>
                  <a:lnTo>
                    <a:pt x="150324" y="467054"/>
                  </a:lnTo>
                  <a:lnTo>
                    <a:pt x="196524" y="481217"/>
                  </a:lnTo>
                  <a:lnTo>
                    <a:pt x="246125" y="486155"/>
                  </a:lnTo>
                  <a:lnTo>
                    <a:pt x="295717" y="481217"/>
                  </a:lnTo>
                  <a:lnTo>
                    <a:pt x="341911" y="467054"/>
                  </a:lnTo>
                  <a:lnTo>
                    <a:pt x="383719" y="444642"/>
                  </a:lnTo>
                  <a:lnTo>
                    <a:pt x="420147" y="414961"/>
                  </a:lnTo>
                  <a:lnTo>
                    <a:pt x="450206" y="378986"/>
                  </a:lnTo>
                  <a:lnTo>
                    <a:pt x="472904" y="337696"/>
                  </a:lnTo>
                  <a:lnTo>
                    <a:pt x="487249" y="292067"/>
                  </a:lnTo>
                  <a:lnTo>
                    <a:pt x="492251" y="243077"/>
                  </a:lnTo>
                  <a:lnTo>
                    <a:pt x="487249" y="194088"/>
                  </a:lnTo>
                  <a:lnTo>
                    <a:pt x="472904" y="148459"/>
                  </a:lnTo>
                  <a:lnTo>
                    <a:pt x="450206" y="107169"/>
                  </a:lnTo>
                  <a:lnTo>
                    <a:pt x="420147" y="71194"/>
                  </a:lnTo>
                  <a:lnTo>
                    <a:pt x="383719" y="41513"/>
                  </a:lnTo>
                  <a:lnTo>
                    <a:pt x="341911" y="19101"/>
                  </a:lnTo>
                  <a:lnTo>
                    <a:pt x="295717" y="4938"/>
                  </a:lnTo>
                  <a:lnTo>
                    <a:pt x="2461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73658" y="4327398"/>
              <a:ext cx="492759" cy="486409"/>
            </a:xfrm>
            <a:custGeom>
              <a:avLst/>
              <a:gdLst/>
              <a:ahLst/>
              <a:cxnLst/>
              <a:rect l="l" t="t" r="r" b="b"/>
              <a:pathLst>
                <a:path w="492759" h="486410">
                  <a:moveTo>
                    <a:pt x="0" y="243077"/>
                  </a:moveTo>
                  <a:lnTo>
                    <a:pt x="5000" y="194088"/>
                  </a:lnTo>
                  <a:lnTo>
                    <a:pt x="19342" y="148459"/>
                  </a:lnTo>
                  <a:lnTo>
                    <a:pt x="42035" y="107169"/>
                  </a:lnTo>
                  <a:lnTo>
                    <a:pt x="72089" y="71194"/>
                  </a:lnTo>
                  <a:lnTo>
                    <a:pt x="108516" y="41513"/>
                  </a:lnTo>
                  <a:lnTo>
                    <a:pt x="150324" y="19101"/>
                  </a:lnTo>
                  <a:lnTo>
                    <a:pt x="196524" y="4938"/>
                  </a:lnTo>
                  <a:lnTo>
                    <a:pt x="246125" y="0"/>
                  </a:lnTo>
                  <a:lnTo>
                    <a:pt x="295717" y="4938"/>
                  </a:lnTo>
                  <a:lnTo>
                    <a:pt x="341911" y="19101"/>
                  </a:lnTo>
                  <a:lnTo>
                    <a:pt x="383719" y="41513"/>
                  </a:lnTo>
                  <a:lnTo>
                    <a:pt x="420147" y="71194"/>
                  </a:lnTo>
                  <a:lnTo>
                    <a:pt x="450206" y="107169"/>
                  </a:lnTo>
                  <a:lnTo>
                    <a:pt x="472904" y="148459"/>
                  </a:lnTo>
                  <a:lnTo>
                    <a:pt x="487249" y="194088"/>
                  </a:lnTo>
                  <a:lnTo>
                    <a:pt x="492251" y="243077"/>
                  </a:lnTo>
                  <a:lnTo>
                    <a:pt x="487249" y="292067"/>
                  </a:lnTo>
                  <a:lnTo>
                    <a:pt x="472904" y="337696"/>
                  </a:lnTo>
                  <a:lnTo>
                    <a:pt x="450206" y="378986"/>
                  </a:lnTo>
                  <a:lnTo>
                    <a:pt x="420147" y="414961"/>
                  </a:lnTo>
                  <a:lnTo>
                    <a:pt x="383719" y="444642"/>
                  </a:lnTo>
                  <a:lnTo>
                    <a:pt x="341911" y="467054"/>
                  </a:lnTo>
                  <a:lnTo>
                    <a:pt x="295717" y="481217"/>
                  </a:lnTo>
                  <a:lnTo>
                    <a:pt x="246125" y="486155"/>
                  </a:lnTo>
                  <a:lnTo>
                    <a:pt x="196524" y="481217"/>
                  </a:lnTo>
                  <a:lnTo>
                    <a:pt x="150324" y="467054"/>
                  </a:lnTo>
                  <a:lnTo>
                    <a:pt x="108516" y="444642"/>
                  </a:lnTo>
                  <a:lnTo>
                    <a:pt x="72089" y="414961"/>
                  </a:lnTo>
                  <a:lnTo>
                    <a:pt x="42035" y="378986"/>
                  </a:lnTo>
                  <a:lnTo>
                    <a:pt x="19342" y="337696"/>
                  </a:lnTo>
                  <a:lnTo>
                    <a:pt x="5000" y="292067"/>
                  </a:lnTo>
                  <a:lnTo>
                    <a:pt x="0" y="243077"/>
                  </a:lnTo>
                  <a:close/>
                </a:path>
              </a:pathLst>
            </a:custGeom>
            <a:ln w="254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198473" y="4469384"/>
            <a:ext cx="24066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T</a:t>
            </a:r>
            <a:r>
              <a:rPr sz="1050" spc="-37" baseline="-19841" dirty="0">
                <a:latin typeface="Arial"/>
                <a:cs typeface="Arial"/>
              </a:rPr>
              <a:t>m</a:t>
            </a:r>
            <a:endParaRPr sz="1050" baseline="-19841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32459" y="3832859"/>
            <a:ext cx="1341120" cy="699770"/>
            <a:chOff x="632459" y="3832859"/>
            <a:chExt cx="1341120" cy="699770"/>
          </a:xfrm>
        </p:grpSpPr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2459" y="3832859"/>
              <a:ext cx="627875" cy="69951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75424" y="3855846"/>
              <a:ext cx="470534" cy="542290"/>
            </a:xfrm>
            <a:custGeom>
              <a:avLst/>
              <a:gdLst/>
              <a:ahLst/>
              <a:cxnLst/>
              <a:rect l="l" t="t" r="r" b="b"/>
              <a:pathLst>
                <a:path w="470534" h="542289">
                  <a:moveTo>
                    <a:pt x="410676" y="492653"/>
                  </a:moveTo>
                  <a:lnTo>
                    <a:pt x="391439" y="509244"/>
                  </a:lnTo>
                  <a:lnTo>
                    <a:pt x="470065" y="542061"/>
                  </a:lnTo>
                  <a:lnTo>
                    <a:pt x="459987" y="502272"/>
                  </a:lnTo>
                  <a:lnTo>
                    <a:pt x="418973" y="502272"/>
                  </a:lnTo>
                  <a:lnTo>
                    <a:pt x="410676" y="492653"/>
                  </a:lnTo>
                  <a:close/>
                </a:path>
                <a:path w="470534" h="542289">
                  <a:moveTo>
                    <a:pt x="429905" y="476069"/>
                  </a:moveTo>
                  <a:lnTo>
                    <a:pt x="410676" y="492653"/>
                  </a:lnTo>
                  <a:lnTo>
                    <a:pt x="418973" y="502272"/>
                  </a:lnTo>
                  <a:lnTo>
                    <a:pt x="438200" y="485686"/>
                  </a:lnTo>
                  <a:lnTo>
                    <a:pt x="429905" y="476069"/>
                  </a:lnTo>
                  <a:close/>
                </a:path>
                <a:path w="470534" h="542289">
                  <a:moveTo>
                    <a:pt x="449148" y="459473"/>
                  </a:moveTo>
                  <a:lnTo>
                    <a:pt x="429905" y="476069"/>
                  </a:lnTo>
                  <a:lnTo>
                    <a:pt x="438200" y="485686"/>
                  </a:lnTo>
                  <a:lnTo>
                    <a:pt x="418973" y="502272"/>
                  </a:lnTo>
                  <a:lnTo>
                    <a:pt x="459987" y="502272"/>
                  </a:lnTo>
                  <a:lnTo>
                    <a:pt x="449148" y="459473"/>
                  </a:lnTo>
                  <a:close/>
                </a:path>
                <a:path w="470534" h="542289">
                  <a:moveTo>
                    <a:pt x="19227" y="0"/>
                  </a:moveTo>
                  <a:lnTo>
                    <a:pt x="0" y="16509"/>
                  </a:lnTo>
                  <a:lnTo>
                    <a:pt x="410676" y="492653"/>
                  </a:lnTo>
                  <a:lnTo>
                    <a:pt x="429905" y="476069"/>
                  </a:lnTo>
                  <a:lnTo>
                    <a:pt x="19227" y="0"/>
                  </a:lnTo>
                  <a:close/>
                </a:path>
              </a:pathLst>
            </a:custGeom>
            <a:solidFill>
              <a:srgbClr val="D79F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74647" y="3832859"/>
              <a:ext cx="598931" cy="699515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494281" y="3856100"/>
              <a:ext cx="441959" cy="542290"/>
            </a:xfrm>
            <a:custGeom>
              <a:avLst/>
              <a:gdLst/>
              <a:ahLst/>
              <a:cxnLst/>
              <a:rect l="l" t="t" r="r" b="b"/>
              <a:pathLst>
                <a:path w="441960" h="542289">
                  <a:moveTo>
                    <a:pt x="18287" y="458597"/>
                  </a:moveTo>
                  <a:lnTo>
                    <a:pt x="0" y="541807"/>
                  </a:lnTo>
                  <a:lnTo>
                    <a:pt x="77597" y="506514"/>
                  </a:lnTo>
                  <a:lnTo>
                    <a:pt x="70051" y="500418"/>
                  </a:lnTo>
                  <a:lnTo>
                    <a:pt x="49784" y="500418"/>
                  </a:lnTo>
                  <a:lnTo>
                    <a:pt x="30099" y="484454"/>
                  </a:lnTo>
                  <a:lnTo>
                    <a:pt x="38077" y="474585"/>
                  </a:lnTo>
                  <a:lnTo>
                    <a:pt x="18287" y="458597"/>
                  </a:lnTo>
                  <a:close/>
                </a:path>
                <a:path w="441960" h="542289">
                  <a:moveTo>
                    <a:pt x="38077" y="474585"/>
                  </a:moveTo>
                  <a:lnTo>
                    <a:pt x="30099" y="484454"/>
                  </a:lnTo>
                  <a:lnTo>
                    <a:pt x="49784" y="500418"/>
                  </a:lnTo>
                  <a:lnTo>
                    <a:pt x="57793" y="490514"/>
                  </a:lnTo>
                  <a:lnTo>
                    <a:pt x="38077" y="474585"/>
                  </a:lnTo>
                  <a:close/>
                </a:path>
                <a:path w="441960" h="542289">
                  <a:moveTo>
                    <a:pt x="57793" y="490514"/>
                  </a:moveTo>
                  <a:lnTo>
                    <a:pt x="49784" y="500418"/>
                  </a:lnTo>
                  <a:lnTo>
                    <a:pt x="70051" y="500418"/>
                  </a:lnTo>
                  <a:lnTo>
                    <a:pt x="57793" y="490514"/>
                  </a:lnTo>
                  <a:close/>
                </a:path>
                <a:path w="441960" h="542289">
                  <a:moveTo>
                    <a:pt x="421767" y="0"/>
                  </a:moveTo>
                  <a:lnTo>
                    <a:pt x="38077" y="474585"/>
                  </a:lnTo>
                  <a:lnTo>
                    <a:pt x="57793" y="490514"/>
                  </a:lnTo>
                  <a:lnTo>
                    <a:pt x="441579" y="16002"/>
                  </a:lnTo>
                  <a:lnTo>
                    <a:pt x="421767" y="0"/>
                  </a:lnTo>
                  <a:close/>
                </a:path>
              </a:pathLst>
            </a:custGeom>
            <a:solidFill>
              <a:srgbClr val="D79F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/>
          <p:nvPr/>
        </p:nvSpPr>
        <p:spPr>
          <a:xfrm>
            <a:off x="3420617" y="3012185"/>
            <a:ext cx="492759" cy="486409"/>
          </a:xfrm>
          <a:custGeom>
            <a:avLst/>
            <a:gdLst/>
            <a:ahLst/>
            <a:cxnLst/>
            <a:rect l="l" t="t" r="r" b="b"/>
            <a:pathLst>
              <a:path w="492760" h="486410">
                <a:moveTo>
                  <a:pt x="0" y="243077"/>
                </a:moveTo>
                <a:lnTo>
                  <a:pt x="5002" y="194091"/>
                </a:lnTo>
                <a:lnTo>
                  <a:pt x="19347" y="148464"/>
                </a:lnTo>
                <a:lnTo>
                  <a:pt x="42045" y="107174"/>
                </a:lnTo>
                <a:lnTo>
                  <a:pt x="72104" y="71199"/>
                </a:lnTo>
                <a:lnTo>
                  <a:pt x="108532" y="41516"/>
                </a:lnTo>
                <a:lnTo>
                  <a:pt x="150340" y="19103"/>
                </a:lnTo>
                <a:lnTo>
                  <a:pt x="196534" y="4938"/>
                </a:lnTo>
                <a:lnTo>
                  <a:pt x="246126" y="0"/>
                </a:lnTo>
                <a:lnTo>
                  <a:pt x="295717" y="4938"/>
                </a:lnTo>
                <a:lnTo>
                  <a:pt x="341911" y="19103"/>
                </a:lnTo>
                <a:lnTo>
                  <a:pt x="383719" y="41516"/>
                </a:lnTo>
                <a:lnTo>
                  <a:pt x="420147" y="71199"/>
                </a:lnTo>
                <a:lnTo>
                  <a:pt x="450206" y="107174"/>
                </a:lnTo>
                <a:lnTo>
                  <a:pt x="472904" y="148464"/>
                </a:lnTo>
                <a:lnTo>
                  <a:pt x="487249" y="194091"/>
                </a:lnTo>
                <a:lnTo>
                  <a:pt x="492252" y="243077"/>
                </a:lnTo>
                <a:lnTo>
                  <a:pt x="487249" y="292064"/>
                </a:lnTo>
                <a:lnTo>
                  <a:pt x="472904" y="337691"/>
                </a:lnTo>
                <a:lnTo>
                  <a:pt x="450206" y="378981"/>
                </a:lnTo>
                <a:lnTo>
                  <a:pt x="420147" y="414956"/>
                </a:lnTo>
                <a:lnTo>
                  <a:pt x="383719" y="444639"/>
                </a:lnTo>
                <a:lnTo>
                  <a:pt x="341911" y="467052"/>
                </a:lnTo>
                <a:lnTo>
                  <a:pt x="295717" y="481217"/>
                </a:lnTo>
                <a:lnTo>
                  <a:pt x="246126" y="486156"/>
                </a:lnTo>
                <a:lnTo>
                  <a:pt x="196534" y="481217"/>
                </a:lnTo>
                <a:lnTo>
                  <a:pt x="150340" y="467052"/>
                </a:lnTo>
                <a:lnTo>
                  <a:pt x="108532" y="444639"/>
                </a:lnTo>
                <a:lnTo>
                  <a:pt x="72104" y="414956"/>
                </a:lnTo>
                <a:lnTo>
                  <a:pt x="42045" y="378981"/>
                </a:lnTo>
                <a:lnTo>
                  <a:pt x="19347" y="337691"/>
                </a:lnTo>
                <a:lnTo>
                  <a:pt x="5002" y="292064"/>
                </a:lnTo>
                <a:lnTo>
                  <a:pt x="0" y="243077"/>
                </a:lnTo>
                <a:close/>
              </a:path>
            </a:pathLst>
          </a:custGeom>
          <a:ln w="25400">
            <a:solidFill>
              <a:srgbClr val="D79F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3568953" y="3146805"/>
            <a:ext cx="1936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Arial"/>
                <a:cs typeface="Arial"/>
              </a:rPr>
              <a:t>T</a:t>
            </a:r>
            <a:r>
              <a:rPr sz="1200" spc="-37" baseline="-20833" dirty="0">
                <a:latin typeface="Arial"/>
                <a:cs typeface="Arial"/>
              </a:rPr>
              <a:t>i</a:t>
            </a:r>
            <a:endParaRPr sz="1200" baseline="-20833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694682" y="3016757"/>
            <a:ext cx="492759" cy="486409"/>
          </a:xfrm>
          <a:custGeom>
            <a:avLst/>
            <a:gdLst/>
            <a:ahLst/>
            <a:cxnLst/>
            <a:rect l="l" t="t" r="r" b="b"/>
            <a:pathLst>
              <a:path w="492760" h="486410">
                <a:moveTo>
                  <a:pt x="0" y="243078"/>
                </a:moveTo>
                <a:lnTo>
                  <a:pt x="5002" y="194091"/>
                </a:lnTo>
                <a:lnTo>
                  <a:pt x="19347" y="148464"/>
                </a:lnTo>
                <a:lnTo>
                  <a:pt x="42045" y="107174"/>
                </a:lnTo>
                <a:lnTo>
                  <a:pt x="72104" y="71199"/>
                </a:lnTo>
                <a:lnTo>
                  <a:pt x="108532" y="41516"/>
                </a:lnTo>
                <a:lnTo>
                  <a:pt x="150340" y="19103"/>
                </a:lnTo>
                <a:lnTo>
                  <a:pt x="196534" y="4938"/>
                </a:lnTo>
                <a:lnTo>
                  <a:pt x="246125" y="0"/>
                </a:lnTo>
                <a:lnTo>
                  <a:pt x="295717" y="4938"/>
                </a:lnTo>
                <a:lnTo>
                  <a:pt x="341911" y="19103"/>
                </a:lnTo>
                <a:lnTo>
                  <a:pt x="383719" y="41516"/>
                </a:lnTo>
                <a:lnTo>
                  <a:pt x="420147" y="71199"/>
                </a:lnTo>
                <a:lnTo>
                  <a:pt x="450206" y="107174"/>
                </a:lnTo>
                <a:lnTo>
                  <a:pt x="472904" y="148464"/>
                </a:lnTo>
                <a:lnTo>
                  <a:pt x="487249" y="194091"/>
                </a:lnTo>
                <a:lnTo>
                  <a:pt x="492251" y="243078"/>
                </a:lnTo>
                <a:lnTo>
                  <a:pt x="487249" y="292064"/>
                </a:lnTo>
                <a:lnTo>
                  <a:pt x="472904" y="337691"/>
                </a:lnTo>
                <a:lnTo>
                  <a:pt x="450206" y="378981"/>
                </a:lnTo>
                <a:lnTo>
                  <a:pt x="420147" y="414956"/>
                </a:lnTo>
                <a:lnTo>
                  <a:pt x="383719" y="444639"/>
                </a:lnTo>
                <a:lnTo>
                  <a:pt x="341911" y="467052"/>
                </a:lnTo>
                <a:lnTo>
                  <a:pt x="295717" y="481217"/>
                </a:lnTo>
                <a:lnTo>
                  <a:pt x="246125" y="486156"/>
                </a:lnTo>
                <a:lnTo>
                  <a:pt x="196534" y="481217"/>
                </a:lnTo>
                <a:lnTo>
                  <a:pt x="150340" y="467052"/>
                </a:lnTo>
                <a:lnTo>
                  <a:pt x="108532" y="444639"/>
                </a:lnTo>
                <a:lnTo>
                  <a:pt x="72104" y="414956"/>
                </a:lnTo>
                <a:lnTo>
                  <a:pt x="42045" y="378981"/>
                </a:lnTo>
                <a:lnTo>
                  <a:pt x="19347" y="337691"/>
                </a:lnTo>
                <a:lnTo>
                  <a:pt x="5002" y="292064"/>
                </a:lnTo>
                <a:lnTo>
                  <a:pt x="0" y="243078"/>
                </a:lnTo>
                <a:close/>
              </a:path>
            </a:pathLst>
          </a:custGeom>
          <a:ln w="25400">
            <a:solidFill>
              <a:srgbClr val="D79F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4843017" y="3152013"/>
            <a:ext cx="1936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Arial"/>
                <a:cs typeface="Arial"/>
              </a:rPr>
              <a:t>T</a:t>
            </a:r>
            <a:r>
              <a:rPr sz="1200" spc="-37" baseline="-20833" dirty="0">
                <a:latin typeface="Arial"/>
                <a:cs typeface="Arial"/>
              </a:rPr>
              <a:t>j</a:t>
            </a:r>
            <a:endParaRPr sz="1200" baseline="-20833">
              <a:latin typeface="Arial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3869435" y="3004057"/>
            <a:ext cx="2651760" cy="511809"/>
            <a:chOff x="3869435" y="3004057"/>
            <a:chExt cx="2651760" cy="511809"/>
          </a:xfrm>
        </p:grpSpPr>
        <p:pic>
          <p:nvPicPr>
            <p:cNvPr id="35" name="object 3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69435" y="3162299"/>
              <a:ext cx="938771" cy="233172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912742" y="3222624"/>
              <a:ext cx="781050" cy="76200"/>
            </a:xfrm>
            <a:custGeom>
              <a:avLst/>
              <a:gdLst/>
              <a:ahLst/>
              <a:cxnLst/>
              <a:rect l="l" t="t" r="r" b="b"/>
              <a:pathLst>
                <a:path w="781050" h="76200">
                  <a:moveTo>
                    <a:pt x="704723" y="0"/>
                  </a:moveTo>
                  <a:lnTo>
                    <a:pt x="704215" y="76200"/>
                  </a:lnTo>
                  <a:lnTo>
                    <a:pt x="755873" y="50800"/>
                  </a:lnTo>
                  <a:lnTo>
                    <a:pt x="717169" y="50800"/>
                  </a:lnTo>
                  <a:lnTo>
                    <a:pt x="717296" y="25400"/>
                  </a:lnTo>
                  <a:lnTo>
                    <a:pt x="754687" y="25400"/>
                  </a:lnTo>
                  <a:lnTo>
                    <a:pt x="704723" y="0"/>
                  </a:lnTo>
                  <a:close/>
                </a:path>
                <a:path w="781050" h="76200">
                  <a:moveTo>
                    <a:pt x="254" y="20700"/>
                  </a:moveTo>
                  <a:lnTo>
                    <a:pt x="74" y="38607"/>
                  </a:lnTo>
                  <a:lnTo>
                    <a:pt x="0" y="46100"/>
                  </a:lnTo>
                  <a:lnTo>
                    <a:pt x="717169" y="50800"/>
                  </a:lnTo>
                  <a:lnTo>
                    <a:pt x="704384" y="50800"/>
                  </a:lnTo>
                  <a:lnTo>
                    <a:pt x="704465" y="38607"/>
                  </a:lnTo>
                  <a:lnTo>
                    <a:pt x="704553" y="25400"/>
                  </a:lnTo>
                  <a:lnTo>
                    <a:pt x="717295" y="25400"/>
                  </a:lnTo>
                  <a:lnTo>
                    <a:pt x="254" y="20700"/>
                  </a:lnTo>
                  <a:close/>
                </a:path>
                <a:path w="781050" h="76200">
                  <a:moveTo>
                    <a:pt x="754687" y="25400"/>
                  </a:moveTo>
                  <a:lnTo>
                    <a:pt x="717296" y="25400"/>
                  </a:lnTo>
                  <a:lnTo>
                    <a:pt x="717169" y="50800"/>
                  </a:lnTo>
                  <a:lnTo>
                    <a:pt x="755873" y="50800"/>
                  </a:lnTo>
                  <a:lnTo>
                    <a:pt x="780669" y="38607"/>
                  </a:lnTo>
                  <a:lnTo>
                    <a:pt x="754687" y="25400"/>
                  </a:lnTo>
                  <a:close/>
                </a:path>
              </a:pathLst>
            </a:custGeom>
            <a:solidFill>
              <a:srgbClr val="D79F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015989" y="3016757"/>
              <a:ext cx="492759" cy="486409"/>
            </a:xfrm>
            <a:custGeom>
              <a:avLst/>
              <a:gdLst/>
              <a:ahLst/>
              <a:cxnLst/>
              <a:rect l="l" t="t" r="r" b="b"/>
              <a:pathLst>
                <a:path w="492759" h="486410">
                  <a:moveTo>
                    <a:pt x="0" y="243078"/>
                  </a:moveTo>
                  <a:lnTo>
                    <a:pt x="5002" y="194091"/>
                  </a:lnTo>
                  <a:lnTo>
                    <a:pt x="19347" y="148464"/>
                  </a:lnTo>
                  <a:lnTo>
                    <a:pt x="42045" y="107174"/>
                  </a:lnTo>
                  <a:lnTo>
                    <a:pt x="72104" y="71199"/>
                  </a:lnTo>
                  <a:lnTo>
                    <a:pt x="108532" y="41516"/>
                  </a:lnTo>
                  <a:lnTo>
                    <a:pt x="150340" y="19103"/>
                  </a:lnTo>
                  <a:lnTo>
                    <a:pt x="196534" y="4938"/>
                  </a:lnTo>
                  <a:lnTo>
                    <a:pt x="246125" y="0"/>
                  </a:lnTo>
                  <a:lnTo>
                    <a:pt x="295717" y="4938"/>
                  </a:lnTo>
                  <a:lnTo>
                    <a:pt x="341911" y="19103"/>
                  </a:lnTo>
                  <a:lnTo>
                    <a:pt x="383719" y="41516"/>
                  </a:lnTo>
                  <a:lnTo>
                    <a:pt x="420147" y="71199"/>
                  </a:lnTo>
                  <a:lnTo>
                    <a:pt x="450206" y="107174"/>
                  </a:lnTo>
                  <a:lnTo>
                    <a:pt x="472904" y="148464"/>
                  </a:lnTo>
                  <a:lnTo>
                    <a:pt x="487249" y="194091"/>
                  </a:lnTo>
                  <a:lnTo>
                    <a:pt x="492252" y="243078"/>
                  </a:lnTo>
                  <a:lnTo>
                    <a:pt x="487249" y="292064"/>
                  </a:lnTo>
                  <a:lnTo>
                    <a:pt x="472904" y="337691"/>
                  </a:lnTo>
                  <a:lnTo>
                    <a:pt x="450206" y="378981"/>
                  </a:lnTo>
                  <a:lnTo>
                    <a:pt x="420147" y="414956"/>
                  </a:lnTo>
                  <a:lnTo>
                    <a:pt x="383719" y="444639"/>
                  </a:lnTo>
                  <a:lnTo>
                    <a:pt x="341911" y="467052"/>
                  </a:lnTo>
                  <a:lnTo>
                    <a:pt x="295717" y="481217"/>
                  </a:lnTo>
                  <a:lnTo>
                    <a:pt x="246125" y="486156"/>
                  </a:lnTo>
                  <a:lnTo>
                    <a:pt x="196534" y="481217"/>
                  </a:lnTo>
                  <a:lnTo>
                    <a:pt x="150340" y="467052"/>
                  </a:lnTo>
                  <a:lnTo>
                    <a:pt x="108532" y="444639"/>
                  </a:lnTo>
                  <a:lnTo>
                    <a:pt x="72104" y="414956"/>
                  </a:lnTo>
                  <a:lnTo>
                    <a:pt x="42045" y="378981"/>
                  </a:lnTo>
                  <a:lnTo>
                    <a:pt x="19347" y="337691"/>
                  </a:lnTo>
                  <a:lnTo>
                    <a:pt x="5002" y="292064"/>
                  </a:lnTo>
                  <a:lnTo>
                    <a:pt x="0" y="243078"/>
                  </a:lnTo>
                  <a:close/>
                </a:path>
              </a:pathLst>
            </a:custGeom>
            <a:ln w="254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6156959" y="3159633"/>
            <a:ext cx="2095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T</a:t>
            </a:r>
            <a:r>
              <a:rPr sz="1050" spc="-37" baseline="-19841" dirty="0">
                <a:latin typeface="Arial"/>
                <a:cs typeface="Arial"/>
              </a:rPr>
              <a:t>k</a:t>
            </a:r>
            <a:endParaRPr sz="1050" baseline="-19841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5143500" y="2997961"/>
            <a:ext cx="2698750" cy="511809"/>
            <a:chOff x="5143500" y="2997961"/>
            <a:chExt cx="2698750" cy="511809"/>
          </a:xfrm>
        </p:grpSpPr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43500" y="3160801"/>
              <a:ext cx="986015" cy="234670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5186934" y="3222497"/>
              <a:ext cx="828040" cy="76200"/>
            </a:xfrm>
            <a:custGeom>
              <a:avLst/>
              <a:gdLst/>
              <a:ahLst/>
              <a:cxnLst/>
              <a:rect l="l" t="t" r="r" b="b"/>
              <a:pathLst>
                <a:path w="828039" h="76200">
                  <a:moveTo>
                    <a:pt x="751586" y="0"/>
                  </a:moveTo>
                  <a:lnTo>
                    <a:pt x="751586" y="76200"/>
                  </a:lnTo>
                  <a:lnTo>
                    <a:pt x="802386" y="50800"/>
                  </a:lnTo>
                  <a:lnTo>
                    <a:pt x="764286" y="50800"/>
                  </a:lnTo>
                  <a:lnTo>
                    <a:pt x="764286" y="25400"/>
                  </a:lnTo>
                  <a:lnTo>
                    <a:pt x="802386" y="25400"/>
                  </a:lnTo>
                  <a:lnTo>
                    <a:pt x="751586" y="0"/>
                  </a:lnTo>
                  <a:close/>
                </a:path>
                <a:path w="828039" h="76200">
                  <a:moveTo>
                    <a:pt x="751586" y="25400"/>
                  </a:moveTo>
                  <a:lnTo>
                    <a:pt x="0" y="25400"/>
                  </a:lnTo>
                  <a:lnTo>
                    <a:pt x="0" y="50800"/>
                  </a:lnTo>
                  <a:lnTo>
                    <a:pt x="751586" y="50800"/>
                  </a:lnTo>
                  <a:lnTo>
                    <a:pt x="751586" y="25400"/>
                  </a:lnTo>
                  <a:close/>
                </a:path>
                <a:path w="828039" h="76200">
                  <a:moveTo>
                    <a:pt x="802386" y="25400"/>
                  </a:moveTo>
                  <a:lnTo>
                    <a:pt x="764286" y="25400"/>
                  </a:lnTo>
                  <a:lnTo>
                    <a:pt x="764286" y="50800"/>
                  </a:lnTo>
                  <a:lnTo>
                    <a:pt x="802386" y="50800"/>
                  </a:lnTo>
                  <a:lnTo>
                    <a:pt x="827786" y="38100"/>
                  </a:lnTo>
                  <a:lnTo>
                    <a:pt x="802386" y="25400"/>
                  </a:lnTo>
                  <a:close/>
                </a:path>
              </a:pathLst>
            </a:custGeom>
            <a:solidFill>
              <a:srgbClr val="D79F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7337298" y="3010661"/>
              <a:ext cx="492759" cy="486409"/>
            </a:xfrm>
            <a:custGeom>
              <a:avLst/>
              <a:gdLst/>
              <a:ahLst/>
              <a:cxnLst/>
              <a:rect l="l" t="t" r="r" b="b"/>
              <a:pathLst>
                <a:path w="492759" h="486410">
                  <a:moveTo>
                    <a:pt x="0" y="243077"/>
                  </a:moveTo>
                  <a:lnTo>
                    <a:pt x="5002" y="194091"/>
                  </a:lnTo>
                  <a:lnTo>
                    <a:pt x="19347" y="148464"/>
                  </a:lnTo>
                  <a:lnTo>
                    <a:pt x="42045" y="107174"/>
                  </a:lnTo>
                  <a:lnTo>
                    <a:pt x="72104" y="71199"/>
                  </a:lnTo>
                  <a:lnTo>
                    <a:pt x="108532" y="41516"/>
                  </a:lnTo>
                  <a:lnTo>
                    <a:pt x="150340" y="19103"/>
                  </a:lnTo>
                  <a:lnTo>
                    <a:pt x="196534" y="4938"/>
                  </a:lnTo>
                  <a:lnTo>
                    <a:pt x="246125" y="0"/>
                  </a:lnTo>
                  <a:lnTo>
                    <a:pt x="295717" y="4938"/>
                  </a:lnTo>
                  <a:lnTo>
                    <a:pt x="341911" y="19103"/>
                  </a:lnTo>
                  <a:lnTo>
                    <a:pt x="383719" y="41516"/>
                  </a:lnTo>
                  <a:lnTo>
                    <a:pt x="420147" y="71199"/>
                  </a:lnTo>
                  <a:lnTo>
                    <a:pt x="450206" y="107174"/>
                  </a:lnTo>
                  <a:lnTo>
                    <a:pt x="472904" y="148464"/>
                  </a:lnTo>
                  <a:lnTo>
                    <a:pt x="487249" y="194091"/>
                  </a:lnTo>
                  <a:lnTo>
                    <a:pt x="492251" y="243077"/>
                  </a:lnTo>
                  <a:lnTo>
                    <a:pt x="487249" y="292064"/>
                  </a:lnTo>
                  <a:lnTo>
                    <a:pt x="472904" y="337691"/>
                  </a:lnTo>
                  <a:lnTo>
                    <a:pt x="450206" y="378981"/>
                  </a:lnTo>
                  <a:lnTo>
                    <a:pt x="420147" y="414956"/>
                  </a:lnTo>
                  <a:lnTo>
                    <a:pt x="383719" y="444639"/>
                  </a:lnTo>
                  <a:lnTo>
                    <a:pt x="341911" y="467052"/>
                  </a:lnTo>
                  <a:lnTo>
                    <a:pt x="295717" y="481217"/>
                  </a:lnTo>
                  <a:lnTo>
                    <a:pt x="246125" y="486156"/>
                  </a:lnTo>
                  <a:lnTo>
                    <a:pt x="196534" y="481217"/>
                  </a:lnTo>
                  <a:lnTo>
                    <a:pt x="150340" y="467052"/>
                  </a:lnTo>
                  <a:lnTo>
                    <a:pt x="108532" y="444639"/>
                  </a:lnTo>
                  <a:lnTo>
                    <a:pt x="72104" y="414956"/>
                  </a:lnTo>
                  <a:lnTo>
                    <a:pt x="42045" y="378981"/>
                  </a:lnTo>
                  <a:lnTo>
                    <a:pt x="19347" y="337691"/>
                  </a:lnTo>
                  <a:lnTo>
                    <a:pt x="5002" y="292064"/>
                  </a:lnTo>
                  <a:lnTo>
                    <a:pt x="0" y="243077"/>
                  </a:lnTo>
                  <a:close/>
                </a:path>
              </a:pathLst>
            </a:custGeom>
            <a:ln w="254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7463028" y="3152394"/>
            <a:ext cx="24066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T</a:t>
            </a:r>
            <a:r>
              <a:rPr sz="1050" spc="-37" baseline="-19841" dirty="0">
                <a:latin typeface="Arial"/>
                <a:cs typeface="Arial"/>
              </a:rPr>
              <a:t>m</a:t>
            </a:r>
            <a:endParaRPr sz="1050" baseline="-19841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6464808" y="3153181"/>
            <a:ext cx="986155" cy="234950"/>
            <a:chOff x="6464808" y="3153181"/>
            <a:chExt cx="986155" cy="234950"/>
          </a:xfrm>
        </p:grpSpPr>
        <p:pic>
          <p:nvPicPr>
            <p:cNvPr id="45" name="object 4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464808" y="3153181"/>
              <a:ext cx="986015" cy="234670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6508115" y="3215512"/>
              <a:ext cx="828040" cy="76200"/>
            </a:xfrm>
            <a:custGeom>
              <a:avLst/>
              <a:gdLst/>
              <a:ahLst/>
              <a:cxnLst/>
              <a:rect l="l" t="t" r="r" b="b"/>
              <a:pathLst>
                <a:path w="828040" h="76200">
                  <a:moveTo>
                    <a:pt x="751331" y="0"/>
                  </a:moveTo>
                  <a:lnTo>
                    <a:pt x="752093" y="76200"/>
                  </a:lnTo>
                  <a:lnTo>
                    <a:pt x="801836" y="50786"/>
                  </a:lnTo>
                  <a:lnTo>
                    <a:pt x="764541" y="50786"/>
                  </a:lnTo>
                  <a:lnTo>
                    <a:pt x="764407" y="37464"/>
                  </a:lnTo>
                  <a:lnTo>
                    <a:pt x="764287" y="25386"/>
                  </a:lnTo>
                  <a:lnTo>
                    <a:pt x="803224" y="25386"/>
                  </a:lnTo>
                  <a:lnTo>
                    <a:pt x="751331" y="0"/>
                  </a:lnTo>
                  <a:close/>
                </a:path>
                <a:path w="828040" h="76200">
                  <a:moveTo>
                    <a:pt x="751585" y="25386"/>
                  </a:moveTo>
                  <a:lnTo>
                    <a:pt x="0" y="32131"/>
                  </a:lnTo>
                  <a:lnTo>
                    <a:pt x="186" y="50786"/>
                  </a:lnTo>
                  <a:lnTo>
                    <a:pt x="253" y="57531"/>
                  </a:lnTo>
                  <a:lnTo>
                    <a:pt x="751839" y="50786"/>
                  </a:lnTo>
                  <a:lnTo>
                    <a:pt x="751706" y="37464"/>
                  </a:lnTo>
                  <a:lnTo>
                    <a:pt x="751585" y="25386"/>
                  </a:lnTo>
                  <a:close/>
                </a:path>
                <a:path w="828040" h="76200">
                  <a:moveTo>
                    <a:pt x="803224" y="25386"/>
                  </a:moveTo>
                  <a:lnTo>
                    <a:pt x="764287" y="25386"/>
                  </a:lnTo>
                  <a:lnTo>
                    <a:pt x="764541" y="50786"/>
                  </a:lnTo>
                  <a:lnTo>
                    <a:pt x="801836" y="50786"/>
                  </a:lnTo>
                  <a:lnTo>
                    <a:pt x="827912" y="37464"/>
                  </a:lnTo>
                  <a:lnTo>
                    <a:pt x="803224" y="25386"/>
                  </a:lnTo>
                  <a:close/>
                </a:path>
              </a:pathLst>
            </a:custGeom>
            <a:solidFill>
              <a:srgbClr val="D79F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/>
          <p:nvPr/>
        </p:nvSpPr>
        <p:spPr>
          <a:xfrm>
            <a:off x="3420617" y="3891534"/>
            <a:ext cx="492759" cy="486409"/>
          </a:xfrm>
          <a:custGeom>
            <a:avLst/>
            <a:gdLst/>
            <a:ahLst/>
            <a:cxnLst/>
            <a:rect l="l" t="t" r="r" b="b"/>
            <a:pathLst>
              <a:path w="492760" h="486410">
                <a:moveTo>
                  <a:pt x="0" y="243077"/>
                </a:moveTo>
                <a:lnTo>
                  <a:pt x="5002" y="194088"/>
                </a:lnTo>
                <a:lnTo>
                  <a:pt x="19347" y="148459"/>
                </a:lnTo>
                <a:lnTo>
                  <a:pt x="42045" y="107169"/>
                </a:lnTo>
                <a:lnTo>
                  <a:pt x="72104" y="71194"/>
                </a:lnTo>
                <a:lnTo>
                  <a:pt x="108532" y="41513"/>
                </a:lnTo>
                <a:lnTo>
                  <a:pt x="150340" y="19101"/>
                </a:lnTo>
                <a:lnTo>
                  <a:pt x="196534" y="4938"/>
                </a:lnTo>
                <a:lnTo>
                  <a:pt x="246126" y="0"/>
                </a:lnTo>
                <a:lnTo>
                  <a:pt x="295717" y="4938"/>
                </a:lnTo>
                <a:lnTo>
                  <a:pt x="341911" y="19101"/>
                </a:lnTo>
                <a:lnTo>
                  <a:pt x="383719" y="41513"/>
                </a:lnTo>
                <a:lnTo>
                  <a:pt x="420147" y="71194"/>
                </a:lnTo>
                <a:lnTo>
                  <a:pt x="450206" y="107169"/>
                </a:lnTo>
                <a:lnTo>
                  <a:pt x="472904" y="148459"/>
                </a:lnTo>
                <a:lnTo>
                  <a:pt x="487249" y="194088"/>
                </a:lnTo>
                <a:lnTo>
                  <a:pt x="492252" y="243077"/>
                </a:lnTo>
                <a:lnTo>
                  <a:pt x="487249" y="292067"/>
                </a:lnTo>
                <a:lnTo>
                  <a:pt x="472904" y="337696"/>
                </a:lnTo>
                <a:lnTo>
                  <a:pt x="450206" y="378986"/>
                </a:lnTo>
                <a:lnTo>
                  <a:pt x="420147" y="414961"/>
                </a:lnTo>
                <a:lnTo>
                  <a:pt x="383719" y="444642"/>
                </a:lnTo>
                <a:lnTo>
                  <a:pt x="341911" y="467054"/>
                </a:lnTo>
                <a:lnTo>
                  <a:pt x="295717" y="481217"/>
                </a:lnTo>
                <a:lnTo>
                  <a:pt x="246126" y="486155"/>
                </a:lnTo>
                <a:lnTo>
                  <a:pt x="196534" y="481217"/>
                </a:lnTo>
                <a:lnTo>
                  <a:pt x="150340" y="467054"/>
                </a:lnTo>
                <a:lnTo>
                  <a:pt x="108532" y="444642"/>
                </a:lnTo>
                <a:lnTo>
                  <a:pt x="72104" y="414961"/>
                </a:lnTo>
                <a:lnTo>
                  <a:pt x="42045" y="378986"/>
                </a:lnTo>
                <a:lnTo>
                  <a:pt x="19347" y="337696"/>
                </a:lnTo>
                <a:lnTo>
                  <a:pt x="5002" y="292067"/>
                </a:lnTo>
                <a:lnTo>
                  <a:pt x="0" y="243077"/>
                </a:lnTo>
                <a:close/>
              </a:path>
            </a:pathLst>
          </a:custGeom>
          <a:ln w="25400">
            <a:solidFill>
              <a:srgbClr val="D79F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/>
          <p:nvPr/>
        </p:nvSpPr>
        <p:spPr>
          <a:xfrm>
            <a:off x="3568953" y="4025900"/>
            <a:ext cx="1936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Arial"/>
                <a:cs typeface="Arial"/>
              </a:rPr>
              <a:t>T</a:t>
            </a:r>
            <a:r>
              <a:rPr sz="1200" spc="-37" baseline="-20833" dirty="0">
                <a:latin typeface="Arial"/>
                <a:cs typeface="Arial"/>
              </a:rPr>
              <a:t>i</a:t>
            </a:r>
            <a:endParaRPr sz="1200" baseline="-20833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4694682" y="3896105"/>
            <a:ext cx="492759" cy="486409"/>
          </a:xfrm>
          <a:custGeom>
            <a:avLst/>
            <a:gdLst/>
            <a:ahLst/>
            <a:cxnLst/>
            <a:rect l="l" t="t" r="r" b="b"/>
            <a:pathLst>
              <a:path w="492760" h="486410">
                <a:moveTo>
                  <a:pt x="0" y="243078"/>
                </a:moveTo>
                <a:lnTo>
                  <a:pt x="5002" y="194088"/>
                </a:lnTo>
                <a:lnTo>
                  <a:pt x="19347" y="148459"/>
                </a:lnTo>
                <a:lnTo>
                  <a:pt x="42045" y="107169"/>
                </a:lnTo>
                <a:lnTo>
                  <a:pt x="72104" y="71194"/>
                </a:lnTo>
                <a:lnTo>
                  <a:pt x="108532" y="41513"/>
                </a:lnTo>
                <a:lnTo>
                  <a:pt x="150340" y="19101"/>
                </a:lnTo>
                <a:lnTo>
                  <a:pt x="196534" y="4938"/>
                </a:lnTo>
                <a:lnTo>
                  <a:pt x="246125" y="0"/>
                </a:lnTo>
                <a:lnTo>
                  <a:pt x="295717" y="4938"/>
                </a:lnTo>
                <a:lnTo>
                  <a:pt x="341911" y="19101"/>
                </a:lnTo>
                <a:lnTo>
                  <a:pt x="383719" y="41513"/>
                </a:lnTo>
                <a:lnTo>
                  <a:pt x="420147" y="71194"/>
                </a:lnTo>
                <a:lnTo>
                  <a:pt x="450206" y="107169"/>
                </a:lnTo>
                <a:lnTo>
                  <a:pt x="472904" y="148459"/>
                </a:lnTo>
                <a:lnTo>
                  <a:pt x="487249" y="194088"/>
                </a:lnTo>
                <a:lnTo>
                  <a:pt x="492251" y="243078"/>
                </a:lnTo>
                <a:lnTo>
                  <a:pt x="487249" y="292067"/>
                </a:lnTo>
                <a:lnTo>
                  <a:pt x="472904" y="337696"/>
                </a:lnTo>
                <a:lnTo>
                  <a:pt x="450206" y="378986"/>
                </a:lnTo>
                <a:lnTo>
                  <a:pt x="420147" y="414961"/>
                </a:lnTo>
                <a:lnTo>
                  <a:pt x="383719" y="444642"/>
                </a:lnTo>
                <a:lnTo>
                  <a:pt x="341911" y="467054"/>
                </a:lnTo>
                <a:lnTo>
                  <a:pt x="295717" y="481217"/>
                </a:lnTo>
                <a:lnTo>
                  <a:pt x="246125" y="486156"/>
                </a:lnTo>
                <a:lnTo>
                  <a:pt x="196534" y="481217"/>
                </a:lnTo>
                <a:lnTo>
                  <a:pt x="150340" y="467054"/>
                </a:lnTo>
                <a:lnTo>
                  <a:pt x="108532" y="444642"/>
                </a:lnTo>
                <a:lnTo>
                  <a:pt x="72104" y="414961"/>
                </a:lnTo>
                <a:lnTo>
                  <a:pt x="42045" y="378986"/>
                </a:lnTo>
                <a:lnTo>
                  <a:pt x="19347" y="337696"/>
                </a:lnTo>
                <a:lnTo>
                  <a:pt x="5002" y="292067"/>
                </a:lnTo>
                <a:lnTo>
                  <a:pt x="0" y="243078"/>
                </a:lnTo>
                <a:close/>
              </a:path>
            </a:pathLst>
          </a:custGeom>
          <a:ln w="25400">
            <a:solidFill>
              <a:srgbClr val="D79F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4829302" y="4031081"/>
            <a:ext cx="2222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Arial"/>
                <a:cs typeface="Arial"/>
              </a:rPr>
              <a:t>T</a:t>
            </a:r>
            <a:r>
              <a:rPr sz="1200" spc="-37" baseline="-20833" dirty="0">
                <a:latin typeface="Arial"/>
                <a:cs typeface="Arial"/>
              </a:rPr>
              <a:t>k</a:t>
            </a:r>
            <a:endParaRPr sz="1200" baseline="-20833">
              <a:latin typeface="Arial"/>
              <a:cs typeface="Arial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3869435" y="3883405"/>
            <a:ext cx="2651760" cy="511809"/>
            <a:chOff x="3869435" y="3883405"/>
            <a:chExt cx="2651760" cy="511809"/>
          </a:xfrm>
        </p:grpSpPr>
        <p:pic>
          <p:nvPicPr>
            <p:cNvPr id="52" name="object 5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69435" y="4040123"/>
              <a:ext cx="938771" cy="233172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3912742" y="4100398"/>
              <a:ext cx="781050" cy="76200"/>
            </a:xfrm>
            <a:custGeom>
              <a:avLst/>
              <a:gdLst/>
              <a:ahLst/>
              <a:cxnLst/>
              <a:rect l="l" t="t" r="r" b="b"/>
              <a:pathLst>
                <a:path w="781050" h="76200">
                  <a:moveTo>
                    <a:pt x="704723" y="0"/>
                  </a:moveTo>
                  <a:lnTo>
                    <a:pt x="704215" y="76200"/>
                  </a:lnTo>
                  <a:lnTo>
                    <a:pt x="755692" y="50888"/>
                  </a:lnTo>
                  <a:lnTo>
                    <a:pt x="717169" y="50888"/>
                  </a:lnTo>
                  <a:lnTo>
                    <a:pt x="717296" y="25488"/>
                  </a:lnTo>
                  <a:lnTo>
                    <a:pt x="754862" y="25488"/>
                  </a:lnTo>
                  <a:lnTo>
                    <a:pt x="704723" y="0"/>
                  </a:lnTo>
                  <a:close/>
                </a:path>
                <a:path w="781050" h="76200">
                  <a:moveTo>
                    <a:pt x="254" y="20751"/>
                  </a:moveTo>
                  <a:lnTo>
                    <a:pt x="75" y="38608"/>
                  </a:lnTo>
                  <a:lnTo>
                    <a:pt x="0" y="46151"/>
                  </a:lnTo>
                  <a:lnTo>
                    <a:pt x="717168" y="50888"/>
                  </a:lnTo>
                  <a:lnTo>
                    <a:pt x="704383" y="50888"/>
                  </a:lnTo>
                  <a:lnTo>
                    <a:pt x="704465" y="38608"/>
                  </a:lnTo>
                  <a:lnTo>
                    <a:pt x="704553" y="25488"/>
                  </a:lnTo>
                  <a:lnTo>
                    <a:pt x="717296" y="25488"/>
                  </a:lnTo>
                  <a:lnTo>
                    <a:pt x="254" y="20751"/>
                  </a:lnTo>
                  <a:close/>
                </a:path>
                <a:path w="781050" h="76200">
                  <a:moveTo>
                    <a:pt x="754862" y="25488"/>
                  </a:moveTo>
                  <a:lnTo>
                    <a:pt x="717296" y="25488"/>
                  </a:lnTo>
                  <a:lnTo>
                    <a:pt x="717169" y="50888"/>
                  </a:lnTo>
                  <a:lnTo>
                    <a:pt x="755692" y="50888"/>
                  </a:lnTo>
                  <a:lnTo>
                    <a:pt x="780669" y="38608"/>
                  </a:lnTo>
                  <a:lnTo>
                    <a:pt x="754862" y="25488"/>
                  </a:lnTo>
                  <a:close/>
                </a:path>
              </a:pathLst>
            </a:custGeom>
            <a:solidFill>
              <a:srgbClr val="D79F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015989" y="3896105"/>
              <a:ext cx="492759" cy="486409"/>
            </a:xfrm>
            <a:custGeom>
              <a:avLst/>
              <a:gdLst/>
              <a:ahLst/>
              <a:cxnLst/>
              <a:rect l="l" t="t" r="r" b="b"/>
              <a:pathLst>
                <a:path w="492759" h="486410">
                  <a:moveTo>
                    <a:pt x="0" y="243078"/>
                  </a:moveTo>
                  <a:lnTo>
                    <a:pt x="5002" y="194088"/>
                  </a:lnTo>
                  <a:lnTo>
                    <a:pt x="19347" y="148459"/>
                  </a:lnTo>
                  <a:lnTo>
                    <a:pt x="42045" y="107169"/>
                  </a:lnTo>
                  <a:lnTo>
                    <a:pt x="72104" y="71194"/>
                  </a:lnTo>
                  <a:lnTo>
                    <a:pt x="108532" y="41513"/>
                  </a:lnTo>
                  <a:lnTo>
                    <a:pt x="150340" y="19101"/>
                  </a:lnTo>
                  <a:lnTo>
                    <a:pt x="196534" y="4938"/>
                  </a:lnTo>
                  <a:lnTo>
                    <a:pt x="246125" y="0"/>
                  </a:lnTo>
                  <a:lnTo>
                    <a:pt x="295717" y="4938"/>
                  </a:lnTo>
                  <a:lnTo>
                    <a:pt x="341911" y="19101"/>
                  </a:lnTo>
                  <a:lnTo>
                    <a:pt x="383719" y="41513"/>
                  </a:lnTo>
                  <a:lnTo>
                    <a:pt x="420147" y="71194"/>
                  </a:lnTo>
                  <a:lnTo>
                    <a:pt x="450206" y="107169"/>
                  </a:lnTo>
                  <a:lnTo>
                    <a:pt x="472904" y="148459"/>
                  </a:lnTo>
                  <a:lnTo>
                    <a:pt x="487249" y="194088"/>
                  </a:lnTo>
                  <a:lnTo>
                    <a:pt x="492252" y="243078"/>
                  </a:lnTo>
                  <a:lnTo>
                    <a:pt x="487249" y="292067"/>
                  </a:lnTo>
                  <a:lnTo>
                    <a:pt x="472904" y="337696"/>
                  </a:lnTo>
                  <a:lnTo>
                    <a:pt x="450206" y="378986"/>
                  </a:lnTo>
                  <a:lnTo>
                    <a:pt x="420147" y="414961"/>
                  </a:lnTo>
                  <a:lnTo>
                    <a:pt x="383719" y="444642"/>
                  </a:lnTo>
                  <a:lnTo>
                    <a:pt x="341911" y="467054"/>
                  </a:lnTo>
                  <a:lnTo>
                    <a:pt x="295717" y="481217"/>
                  </a:lnTo>
                  <a:lnTo>
                    <a:pt x="246125" y="486156"/>
                  </a:lnTo>
                  <a:lnTo>
                    <a:pt x="196534" y="481217"/>
                  </a:lnTo>
                  <a:lnTo>
                    <a:pt x="150340" y="467054"/>
                  </a:lnTo>
                  <a:lnTo>
                    <a:pt x="108532" y="444642"/>
                  </a:lnTo>
                  <a:lnTo>
                    <a:pt x="72104" y="414961"/>
                  </a:lnTo>
                  <a:lnTo>
                    <a:pt x="42045" y="378986"/>
                  </a:lnTo>
                  <a:lnTo>
                    <a:pt x="19347" y="337696"/>
                  </a:lnTo>
                  <a:lnTo>
                    <a:pt x="5002" y="292067"/>
                  </a:lnTo>
                  <a:lnTo>
                    <a:pt x="0" y="243078"/>
                  </a:lnTo>
                  <a:close/>
                </a:path>
              </a:pathLst>
            </a:custGeom>
            <a:ln w="254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6170676" y="4038701"/>
            <a:ext cx="18415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T</a:t>
            </a:r>
            <a:r>
              <a:rPr sz="1050" spc="-37" baseline="-19841" dirty="0">
                <a:latin typeface="Arial"/>
                <a:cs typeface="Arial"/>
              </a:rPr>
              <a:t>j</a:t>
            </a:r>
            <a:endParaRPr sz="1050" baseline="-19841">
              <a:latin typeface="Arial"/>
              <a:cs typeface="Arial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5143500" y="3883405"/>
            <a:ext cx="2698750" cy="511809"/>
            <a:chOff x="5143500" y="3883405"/>
            <a:chExt cx="2698750" cy="511809"/>
          </a:xfrm>
        </p:grpSpPr>
        <p:pic>
          <p:nvPicPr>
            <p:cNvPr id="57" name="object 5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43500" y="4040123"/>
              <a:ext cx="986015" cy="234670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5186934" y="4101845"/>
              <a:ext cx="828040" cy="76200"/>
            </a:xfrm>
            <a:custGeom>
              <a:avLst/>
              <a:gdLst/>
              <a:ahLst/>
              <a:cxnLst/>
              <a:rect l="l" t="t" r="r" b="b"/>
              <a:pathLst>
                <a:path w="828039" h="76200">
                  <a:moveTo>
                    <a:pt x="751586" y="0"/>
                  </a:moveTo>
                  <a:lnTo>
                    <a:pt x="751586" y="76199"/>
                  </a:lnTo>
                  <a:lnTo>
                    <a:pt x="802386" y="50799"/>
                  </a:lnTo>
                  <a:lnTo>
                    <a:pt x="764286" y="50799"/>
                  </a:lnTo>
                  <a:lnTo>
                    <a:pt x="764286" y="25399"/>
                  </a:lnTo>
                  <a:lnTo>
                    <a:pt x="802386" y="25399"/>
                  </a:lnTo>
                  <a:lnTo>
                    <a:pt x="751586" y="0"/>
                  </a:lnTo>
                  <a:close/>
                </a:path>
                <a:path w="828039" h="76200">
                  <a:moveTo>
                    <a:pt x="751586" y="25399"/>
                  </a:moveTo>
                  <a:lnTo>
                    <a:pt x="0" y="25399"/>
                  </a:lnTo>
                  <a:lnTo>
                    <a:pt x="0" y="50799"/>
                  </a:lnTo>
                  <a:lnTo>
                    <a:pt x="751586" y="50799"/>
                  </a:lnTo>
                  <a:lnTo>
                    <a:pt x="751586" y="25399"/>
                  </a:lnTo>
                  <a:close/>
                </a:path>
                <a:path w="828039" h="76200">
                  <a:moveTo>
                    <a:pt x="802386" y="25399"/>
                  </a:moveTo>
                  <a:lnTo>
                    <a:pt x="764286" y="25399"/>
                  </a:lnTo>
                  <a:lnTo>
                    <a:pt x="764286" y="50799"/>
                  </a:lnTo>
                  <a:lnTo>
                    <a:pt x="802386" y="50799"/>
                  </a:lnTo>
                  <a:lnTo>
                    <a:pt x="827786" y="38099"/>
                  </a:lnTo>
                  <a:lnTo>
                    <a:pt x="802386" y="25399"/>
                  </a:lnTo>
                  <a:close/>
                </a:path>
              </a:pathLst>
            </a:custGeom>
            <a:solidFill>
              <a:srgbClr val="D79F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337298" y="3896105"/>
              <a:ext cx="492759" cy="486409"/>
            </a:xfrm>
            <a:custGeom>
              <a:avLst/>
              <a:gdLst/>
              <a:ahLst/>
              <a:cxnLst/>
              <a:rect l="l" t="t" r="r" b="b"/>
              <a:pathLst>
                <a:path w="492759" h="486410">
                  <a:moveTo>
                    <a:pt x="0" y="243078"/>
                  </a:moveTo>
                  <a:lnTo>
                    <a:pt x="5002" y="194088"/>
                  </a:lnTo>
                  <a:lnTo>
                    <a:pt x="19347" y="148459"/>
                  </a:lnTo>
                  <a:lnTo>
                    <a:pt x="42045" y="107169"/>
                  </a:lnTo>
                  <a:lnTo>
                    <a:pt x="72104" y="71194"/>
                  </a:lnTo>
                  <a:lnTo>
                    <a:pt x="108532" y="41513"/>
                  </a:lnTo>
                  <a:lnTo>
                    <a:pt x="150340" y="19101"/>
                  </a:lnTo>
                  <a:lnTo>
                    <a:pt x="196534" y="4938"/>
                  </a:lnTo>
                  <a:lnTo>
                    <a:pt x="246125" y="0"/>
                  </a:lnTo>
                  <a:lnTo>
                    <a:pt x="295717" y="4938"/>
                  </a:lnTo>
                  <a:lnTo>
                    <a:pt x="341911" y="19101"/>
                  </a:lnTo>
                  <a:lnTo>
                    <a:pt x="383719" y="41513"/>
                  </a:lnTo>
                  <a:lnTo>
                    <a:pt x="420147" y="71194"/>
                  </a:lnTo>
                  <a:lnTo>
                    <a:pt x="450206" y="107169"/>
                  </a:lnTo>
                  <a:lnTo>
                    <a:pt x="472904" y="148459"/>
                  </a:lnTo>
                  <a:lnTo>
                    <a:pt x="487249" y="194088"/>
                  </a:lnTo>
                  <a:lnTo>
                    <a:pt x="492251" y="243078"/>
                  </a:lnTo>
                  <a:lnTo>
                    <a:pt x="487249" y="292067"/>
                  </a:lnTo>
                  <a:lnTo>
                    <a:pt x="472904" y="337696"/>
                  </a:lnTo>
                  <a:lnTo>
                    <a:pt x="450206" y="378986"/>
                  </a:lnTo>
                  <a:lnTo>
                    <a:pt x="420147" y="414961"/>
                  </a:lnTo>
                  <a:lnTo>
                    <a:pt x="383719" y="444642"/>
                  </a:lnTo>
                  <a:lnTo>
                    <a:pt x="341911" y="467054"/>
                  </a:lnTo>
                  <a:lnTo>
                    <a:pt x="295717" y="481217"/>
                  </a:lnTo>
                  <a:lnTo>
                    <a:pt x="246125" y="486156"/>
                  </a:lnTo>
                  <a:lnTo>
                    <a:pt x="196534" y="481217"/>
                  </a:lnTo>
                  <a:lnTo>
                    <a:pt x="150340" y="467054"/>
                  </a:lnTo>
                  <a:lnTo>
                    <a:pt x="108532" y="444642"/>
                  </a:lnTo>
                  <a:lnTo>
                    <a:pt x="72104" y="414961"/>
                  </a:lnTo>
                  <a:lnTo>
                    <a:pt x="42045" y="378986"/>
                  </a:lnTo>
                  <a:lnTo>
                    <a:pt x="19347" y="337696"/>
                  </a:lnTo>
                  <a:lnTo>
                    <a:pt x="5002" y="292067"/>
                  </a:lnTo>
                  <a:lnTo>
                    <a:pt x="0" y="243078"/>
                  </a:lnTo>
                  <a:close/>
                </a:path>
              </a:pathLst>
            </a:custGeom>
            <a:ln w="254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7463028" y="4038701"/>
            <a:ext cx="24066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T</a:t>
            </a:r>
            <a:r>
              <a:rPr sz="1050" spc="-37" baseline="-19841" dirty="0">
                <a:latin typeface="Arial"/>
                <a:cs typeface="Arial"/>
              </a:rPr>
              <a:t>m</a:t>
            </a:r>
            <a:endParaRPr sz="1050" baseline="-19841">
              <a:latin typeface="Arial"/>
              <a:cs typeface="Arial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6464808" y="4040123"/>
            <a:ext cx="986155" cy="234950"/>
            <a:chOff x="6464808" y="4040123"/>
            <a:chExt cx="986155" cy="234950"/>
          </a:xfrm>
        </p:grpSpPr>
        <p:pic>
          <p:nvPicPr>
            <p:cNvPr id="62" name="object 6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64808" y="4040123"/>
              <a:ext cx="986015" cy="234670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6508242" y="4101845"/>
              <a:ext cx="828040" cy="76200"/>
            </a:xfrm>
            <a:custGeom>
              <a:avLst/>
              <a:gdLst/>
              <a:ahLst/>
              <a:cxnLst/>
              <a:rect l="l" t="t" r="r" b="b"/>
              <a:pathLst>
                <a:path w="828040" h="76200">
                  <a:moveTo>
                    <a:pt x="751585" y="0"/>
                  </a:moveTo>
                  <a:lnTo>
                    <a:pt x="751585" y="76199"/>
                  </a:lnTo>
                  <a:lnTo>
                    <a:pt x="802385" y="50799"/>
                  </a:lnTo>
                  <a:lnTo>
                    <a:pt x="764285" y="50799"/>
                  </a:lnTo>
                  <a:lnTo>
                    <a:pt x="764285" y="25399"/>
                  </a:lnTo>
                  <a:lnTo>
                    <a:pt x="802385" y="25399"/>
                  </a:lnTo>
                  <a:lnTo>
                    <a:pt x="751585" y="0"/>
                  </a:lnTo>
                  <a:close/>
                </a:path>
                <a:path w="828040" h="76200">
                  <a:moveTo>
                    <a:pt x="751585" y="25399"/>
                  </a:moveTo>
                  <a:lnTo>
                    <a:pt x="0" y="25399"/>
                  </a:lnTo>
                  <a:lnTo>
                    <a:pt x="0" y="50799"/>
                  </a:lnTo>
                  <a:lnTo>
                    <a:pt x="751585" y="50799"/>
                  </a:lnTo>
                  <a:lnTo>
                    <a:pt x="751585" y="25399"/>
                  </a:lnTo>
                  <a:close/>
                </a:path>
                <a:path w="828040" h="76200">
                  <a:moveTo>
                    <a:pt x="802385" y="25399"/>
                  </a:moveTo>
                  <a:lnTo>
                    <a:pt x="764285" y="25399"/>
                  </a:lnTo>
                  <a:lnTo>
                    <a:pt x="764285" y="50799"/>
                  </a:lnTo>
                  <a:lnTo>
                    <a:pt x="802385" y="50799"/>
                  </a:lnTo>
                  <a:lnTo>
                    <a:pt x="827785" y="38099"/>
                  </a:lnTo>
                  <a:lnTo>
                    <a:pt x="802385" y="25399"/>
                  </a:lnTo>
                  <a:close/>
                </a:path>
              </a:pathLst>
            </a:custGeom>
            <a:solidFill>
              <a:srgbClr val="D79F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8249920" cy="5143500"/>
            <a:chOff x="0" y="0"/>
            <a:chExt cx="8249920" cy="51435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3258185" cy="5143500"/>
            </a:xfrm>
            <a:custGeom>
              <a:avLst/>
              <a:gdLst/>
              <a:ahLst/>
              <a:cxnLst/>
              <a:rect l="l" t="t" r="r" b="b"/>
              <a:pathLst>
                <a:path w="3258185" h="5143500">
                  <a:moveTo>
                    <a:pt x="591569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3258065" y="5143500"/>
                  </a:lnTo>
                  <a:lnTo>
                    <a:pt x="591569" y="0"/>
                  </a:lnTo>
                  <a:close/>
                </a:path>
              </a:pathLst>
            </a:custGeom>
            <a:solidFill>
              <a:srgbClr val="F3F3F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855344" cy="731520"/>
            </a:xfrm>
            <a:custGeom>
              <a:avLst/>
              <a:gdLst/>
              <a:ahLst/>
              <a:cxnLst/>
              <a:rect l="l" t="t" r="r" b="b"/>
              <a:pathLst>
                <a:path w="855344" h="731520">
                  <a:moveTo>
                    <a:pt x="477928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854963" y="731520"/>
                  </a:lnTo>
                  <a:lnTo>
                    <a:pt x="477928" y="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77189" y="0"/>
              <a:ext cx="513715" cy="739140"/>
            </a:xfrm>
            <a:custGeom>
              <a:avLst/>
              <a:gdLst/>
              <a:ahLst/>
              <a:cxnLst/>
              <a:rect l="l" t="t" r="r" b="b"/>
              <a:pathLst>
                <a:path w="513715" h="739140">
                  <a:moveTo>
                    <a:pt x="129489" y="0"/>
                  </a:moveTo>
                  <a:lnTo>
                    <a:pt x="0" y="0"/>
                  </a:lnTo>
                  <a:lnTo>
                    <a:pt x="383921" y="739139"/>
                  </a:lnTo>
                  <a:lnTo>
                    <a:pt x="513410" y="739139"/>
                  </a:lnTo>
                  <a:lnTo>
                    <a:pt x="129489" y="0"/>
                  </a:lnTo>
                  <a:close/>
                </a:path>
              </a:pathLst>
            </a:custGeom>
            <a:solidFill>
              <a:srgbClr val="FF8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43712" y="272795"/>
              <a:ext cx="7505700" cy="749935"/>
            </a:xfrm>
            <a:custGeom>
              <a:avLst/>
              <a:gdLst/>
              <a:ahLst/>
              <a:cxnLst/>
              <a:rect l="l" t="t" r="r" b="b"/>
              <a:pathLst>
                <a:path w="7505700" h="749935">
                  <a:moveTo>
                    <a:pt x="7119238" y="0"/>
                  </a:moveTo>
                  <a:lnTo>
                    <a:pt x="0" y="0"/>
                  </a:lnTo>
                  <a:lnTo>
                    <a:pt x="386460" y="749807"/>
                  </a:lnTo>
                  <a:lnTo>
                    <a:pt x="7505700" y="749807"/>
                  </a:lnTo>
                  <a:lnTo>
                    <a:pt x="7119238" y="0"/>
                  </a:lnTo>
                  <a:close/>
                </a:path>
              </a:pathLst>
            </a:custGeom>
            <a:solidFill>
              <a:srgbClr val="21212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7862316" y="272795"/>
            <a:ext cx="1282065" cy="749935"/>
          </a:xfrm>
          <a:custGeom>
            <a:avLst/>
            <a:gdLst/>
            <a:ahLst/>
            <a:cxnLst/>
            <a:rect l="l" t="t" r="r" b="b"/>
            <a:pathLst>
              <a:path w="1282065" h="749935">
                <a:moveTo>
                  <a:pt x="1281683" y="0"/>
                </a:moveTo>
                <a:lnTo>
                  <a:pt x="0" y="0"/>
                </a:lnTo>
                <a:lnTo>
                  <a:pt x="386460" y="749807"/>
                </a:lnTo>
                <a:lnTo>
                  <a:pt x="1281683" y="749807"/>
                </a:lnTo>
                <a:lnTo>
                  <a:pt x="1281683" y="0"/>
                </a:lnTo>
                <a:close/>
              </a:path>
            </a:pathLst>
          </a:custGeom>
          <a:solidFill>
            <a:srgbClr val="FF8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990600" y="4925567"/>
            <a:ext cx="8153400" cy="218440"/>
          </a:xfrm>
          <a:custGeom>
            <a:avLst/>
            <a:gdLst/>
            <a:ahLst/>
            <a:cxnLst/>
            <a:rect l="l" t="t" r="r" b="b"/>
            <a:pathLst>
              <a:path w="8153400" h="218439">
                <a:moveTo>
                  <a:pt x="8153400" y="0"/>
                </a:moveTo>
                <a:lnTo>
                  <a:pt x="0" y="0"/>
                </a:lnTo>
                <a:lnTo>
                  <a:pt x="112319" y="217932"/>
                </a:lnTo>
                <a:lnTo>
                  <a:pt x="8153400" y="217932"/>
                </a:lnTo>
                <a:lnTo>
                  <a:pt x="8153400" y="0"/>
                </a:lnTo>
                <a:close/>
              </a:path>
            </a:pathLst>
          </a:custGeom>
          <a:solidFill>
            <a:srgbClr val="FF8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83944" y="440563"/>
            <a:ext cx="35782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25" dirty="0">
                <a:solidFill>
                  <a:srgbClr val="FF0000"/>
                </a:solidFill>
                <a:latin typeface="Tahoma"/>
                <a:cs typeface="Tahoma"/>
              </a:rPr>
              <a:t>Conflict</a:t>
            </a:r>
            <a:r>
              <a:rPr sz="2400" spc="-21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135" dirty="0">
                <a:solidFill>
                  <a:srgbClr val="FF0000"/>
                </a:solidFill>
                <a:latin typeface="Tahoma"/>
                <a:cs typeface="Tahoma"/>
              </a:rPr>
              <a:t>Serializability</a:t>
            </a:r>
            <a:r>
              <a:rPr sz="2400" spc="-24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160" dirty="0">
                <a:solidFill>
                  <a:srgbClr val="FF0000"/>
                </a:solidFill>
                <a:latin typeface="Tahoma"/>
                <a:cs typeface="Tahoma"/>
              </a:rPr>
              <a:t>Check</a:t>
            </a:r>
            <a:r>
              <a:rPr sz="2400" spc="-22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210" dirty="0">
                <a:solidFill>
                  <a:srgbClr val="FF0000"/>
                </a:solidFill>
                <a:latin typeface="Tahoma"/>
                <a:cs typeface="Tahoma"/>
              </a:rPr>
              <a:t>–</a:t>
            </a:r>
            <a:r>
              <a:rPr sz="2400" spc="-235" dirty="0">
                <a:solidFill>
                  <a:srgbClr val="FF0000"/>
                </a:solidFill>
                <a:latin typeface="Tahoma"/>
                <a:cs typeface="Tahoma"/>
              </a:rPr>
              <a:t> </a:t>
            </a:r>
            <a:r>
              <a:rPr sz="2400" spc="-815" dirty="0">
                <a:solidFill>
                  <a:srgbClr val="FF0000"/>
                </a:solidFill>
                <a:latin typeface="Tahoma"/>
                <a:cs typeface="Tahoma"/>
              </a:rPr>
              <a:t>1</a:t>
            </a:r>
            <a:endParaRPr sz="2400" dirty="0">
              <a:solidFill>
                <a:srgbClr val="FF0000"/>
              </a:solidFill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5" dirty="0">
                <a:solidFill>
                  <a:srgbClr val="FFFFFF"/>
                </a:solidFill>
                <a:latin typeface="Gill Sans MT"/>
                <a:cs typeface="Gill Sans MT"/>
              </a:rPr>
              <a:t>25</a:t>
            </a:r>
            <a:endParaRPr sz="1300">
              <a:latin typeface="Gill Sans MT"/>
              <a:cs typeface="Gill Sans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743454" y="1333753"/>
            <a:ext cx="519430" cy="511809"/>
            <a:chOff x="2743454" y="1333753"/>
            <a:chExt cx="519430" cy="511809"/>
          </a:xfrm>
        </p:grpSpPr>
        <p:sp>
          <p:nvSpPr>
            <p:cNvPr id="12" name="object 12"/>
            <p:cNvSpPr/>
            <p:nvPr/>
          </p:nvSpPr>
          <p:spPr>
            <a:xfrm>
              <a:off x="2756154" y="1346453"/>
              <a:ext cx="494030" cy="486409"/>
            </a:xfrm>
            <a:custGeom>
              <a:avLst/>
              <a:gdLst/>
              <a:ahLst/>
              <a:cxnLst/>
              <a:rect l="l" t="t" r="r" b="b"/>
              <a:pathLst>
                <a:path w="494030" h="486410">
                  <a:moveTo>
                    <a:pt x="246887" y="0"/>
                  </a:moveTo>
                  <a:lnTo>
                    <a:pt x="197118" y="4938"/>
                  </a:lnTo>
                  <a:lnTo>
                    <a:pt x="150768" y="19103"/>
                  </a:lnTo>
                  <a:lnTo>
                    <a:pt x="108830" y="41516"/>
                  </a:lnTo>
                  <a:lnTo>
                    <a:pt x="72294" y="71199"/>
                  </a:lnTo>
                  <a:lnTo>
                    <a:pt x="42152" y="107174"/>
                  </a:lnTo>
                  <a:lnTo>
                    <a:pt x="19395" y="148464"/>
                  </a:lnTo>
                  <a:lnTo>
                    <a:pt x="5014" y="194091"/>
                  </a:lnTo>
                  <a:lnTo>
                    <a:pt x="0" y="243078"/>
                  </a:lnTo>
                  <a:lnTo>
                    <a:pt x="5014" y="292064"/>
                  </a:lnTo>
                  <a:lnTo>
                    <a:pt x="19395" y="337691"/>
                  </a:lnTo>
                  <a:lnTo>
                    <a:pt x="42152" y="378981"/>
                  </a:lnTo>
                  <a:lnTo>
                    <a:pt x="72294" y="414956"/>
                  </a:lnTo>
                  <a:lnTo>
                    <a:pt x="108830" y="444639"/>
                  </a:lnTo>
                  <a:lnTo>
                    <a:pt x="150768" y="467052"/>
                  </a:lnTo>
                  <a:lnTo>
                    <a:pt x="197118" y="481217"/>
                  </a:lnTo>
                  <a:lnTo>
                    <a:pt x="246887" y="486156"/>
                  </a:lnTo>
                  <a:lnTo>
                    <a:pt x="296657" y="481217"/>
                  </a:lnTo>
                  <a:lnTo>
                    <a:pt x="343007" y="467052"/>
                  </a:lnTo>
                  <a:lnTo>
                    <a:pt x="384945" y="444639"/>
                  </a:lnTo>
                  <a:lnTo>
                    <a:pt x="421481" y="414956"/>
                  </a:lnTo>
                  <a:lnTo>
                    <a:pt x="451623" y="378981"/>
                  </a:lnTo>
                  <a:lnTo>
                    <a:pt x="474380" y="337691"/>
                  </a:lnTo>
                  <a:lnTo>
                    <a:pt x="488761" y="292064"/>
                  </a:lnTo>
                  <a:lnTo>
                    <a:pt x="493775" y="243078"/>
                  </a:lnTo>
                  <a:lnTo>
                    <a:pt x="488761" y="194091"/>
                  </a:lnTo>
                  <a:lnTo>
                    <a:pt x="474380" y="148464"/>
                  </a:lnTo>
                  <a:lnTo>
                    <a:pt x="451623" y="107174"/>
                  </a:lnTo>
                  <a:lnTo>
                    <a:pt x="421481" y="71199"/>
                  </a:lnTo>
                  <a:lnTo>
                    <a:pt x="384945" y="41516"/>
                  </a:lnTo>
                  <a:lnTo>
                    <a:pt x="343007" y="19103"/>
                  </a:lnTo>
                  <a:lnTo>
                    <a:pt x="296657" y="4938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56154" y="1346453"/>
              <a:ext cx="494030" cy="486409"/>
            </a:xfrm>
            <a:custGeom>
              <a:avLst/>
              <a:gdLst/>
              <a:ahLst/>
              <a:cxnLst/>
              <a:rect l="l" t="t" r="r" b="b"/>
              <a:pathLst>
                <a:path w="494030" h="486410">
                  <a:moveTo>
                    <a:pt x="0" y="243078"/>
                  </a:moveTo>
                  <a:lnTo>
                    <a:pt x="5014" y="194091"/>
                  </a:lnTo>
                  <a:lnTo>
                    <a:pt x="19395" y="148464"/>
                  </a:lnTo>
                  <a:lnTo>
                    <a:pt x="42152" y="107174"/>
                  </a:lnTo>
                  <a:lnTo>
                    <a:pt x="72294" y="71199"/>
                  </a:lnTo>
                  <a:lnTo>
                    <a:pt x="108830" y="41516"/>
                  </a:lnTo>
                  <a:lnTo>
                    <a:pt x="150768" y="19103"/>
                  </a:lnTo>
                  <a:lnTo>
                    <a:pt x="197118" y="4938"/>
                  </a:lnTo>
                  <a:lnTo>
                    <a:pt x="246887" y="0"/>
                  </a:lnTo>
                  <a:lnTo>
                    <a:pt x="296657" y="4938"/>
                  </a:lnTo>
                  <a:lnTo>
                    <a:pt x="343007" y="19103"/>
                  </a:lnTo>
                  <a:lnTo>
                    <a:pt x="384945" y="41516"/>
                  </a:lnTo>
                  <a:lnTo>
                    <a:pt x="421481" y="71199"/>
                  </a:lnTo>
                  <a:lnTo>
                    <a:pt x="451623" y="107174"/>
                  </a:lnTo>
                  <a:lnTo>
                    <a:pt x="474380" y="148464"/>
                  </a:lnTo>
                  <a:lnTo>
                    <a:pt x="488761" y="194091"/>
                  </a:lnTo>
                  <a:lnTo>
                    <a:pt x="493775" y="243078"/>
                  </a:lnTo>
                  <a:lnTo>
                    <a:pt x="488761" y="292064"/>
                  </a:lnTo>
                  <a:lnTo>
                    <a:pt x="474380" y="337691"/>
                  </a:lnTo>
                  <a:lnTo>
                    <a:pt x="451623" y="378981"/>
                  </a:lnTo>
                  <a:lnTo>
                    <a:pt x="421481" y="414956"/>
                  </a:lnTo>
                  <a:lnTo>
                    <a:pt x="384945" y="444639"/>
                  </a:lnTo>
                  <a:lnTo>
                    <a:pt x="343007" y="467052"/>
                  </a:lnTo>
                  <a:lnTo>
                    <a:pt x="296657" y="481217"/>
                  </a:lnTo>
                  <a:lnTo>
                    <a:pt x="246887" y="486156"/>
                  </a:lnTo>
                  <a:lnTo>
                    <a:pt x="197118" y="481217"/>
                  </a:lnTo>
                  <a:lnTo>
                    <a:pt x="150768" y="467052"/>
                  </a:lnTo>
                  <a:lnTo>
                    <a:pt x="108830" y="444639"/>
                  </a:lnTo>
                  <a:lnTo>
                    <a:pt x="72294" y="414956"/>
                  </a:lnTo>
                  <a:lnTo>
                    <a:pt x="42152" y="378981"/>
                  </a:lnTo>
                  <a:lnTo>
                    <a:pt x="19395" y="337691"/>
                  </a:lnTo>
                  <a:lnTo>
                    <a:pt x="5014" y="292064"/>
                  </a:lnTo>
                  <a:lnTo>
                    <a:pt x="0" y="243078"/>
                  </a:lnTo>
                  <a:close/>
                </a:path>
              </a:pathLst>
            </a:custGeom>
            <a:ln w="254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888233" y="1479626"/>
            <a:ext cx="22796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Arial"/>
                <a:cs typeface="Arial"/>
              </a:rPr>
              <a:t>T</a:t>
            </a:r>
            <a:r>
              <a:rPr sz="1200" spc="-37" baseline="-20833" dirty="0">
                <a:latin typeface="Arial"/>
                <a:cs typeface="Arial"/>
              </a:rPr>
              <a:t>1</a:t>
            </a:r>
            <a:endParaRPr sz="1200" baseline="-20833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785865" y="1346453"/>
            <a:ext cx="494030" cy="486409"/>
          </a:xfrm>
          <a:custGeom>
            <a:avLst/>
            <a:gdLst/>
            <a:ahLst/>
            <a:cxnLst/>
            <a:rect l="l" t="t" r="r" b="b"/>
            <a:pathLst>
              <a:path w="494029" h="486410">
                <a:moveTo>
                  <a:pt x="0" y="243078"/>
                </a:moveTo>
                <a:lnTo>
                  <a:pt x="5014" y="194091"/>
                </a:lnTo>
                <a:lnTo>
                  <a:pt x="19395" y="148464"/>
                </a:lnTo>
                <a:lnTo>
                  <a:pt x="42152" y="107174"/>
                </a:lnTo>
                <a:lnTo>
                  <a:pt x="72294" y="71199"/>
                </a:lnTo>
                <a:lnTo>
                  <a:pt x="108830" y="41516"/>
                </a:lnTo>
                <a:lnTo>
                  <a:pt x="150768" y="19103"/>
                </a:lnTo>
                <a:lnTo>
                  <a:pt x="197118" y="4938"/>
                </a:lnTo>
                <a:lnTo>
                  <a:pt x="246887" y="0"/>
                </a:lnTo>
                <a:lnTo>
                  <a:pt x="296657" y="4938"/>
                </a:lnTo>
                <a:lnTo>
                  <a:pt x="343007" y="19103"/>
                </a:lnTo>
                <a:lnTo>
                  <a:pt x="384945" y="41516"/>
                </a:lnTo>
                <a:lnTo>
                  <a:pt x="421481" y="71199"/>
                </a:lnTo>
                <a:lnTo>
                  <a:pt x="451623" y="107174"/>
                </a:lnTo>
                <a:lnTo>
                  <a:pt x="474380" y="148464"/>
                </a:lnTo>
                <a:lnTo>
                  <a:pt x="488761" y="194091"/>
                </a:lnTo>
                <a:lnTo>
                  <a:pt x="493775" y="243078"/>
                </a:lnTo>
                <a:lnTo>
                  <a:pt x="488761" y="292064"/>
                </a:lnTo>
                <a:lnTo>
                  <a:pt x="474380" y="337691"/>
                </a:lnTo>
                <a:lnTo>
                  <a:pt x="451623" y="378981"/>
                </a:lnTo>
                <a:lnTo>
                  <a:pt x="421481" y="414956"/>
                </a:lnTo>
                <a:lnTo>
                  <a:pt x="384945" y="444639"/>
                </a:lnTo>
                <a:lnTo>
                  <a:pt x="343007" y="467052"/>
                </a:lnTo>
                <a:lnTo>
                  <a:pt x="296657" y="481217"/>
                </a:lnTo>
                <a:lnTo>
                  <a:pt x="246887" y="486156"/>
                </a:lnTo>
                <a:lnTo>
                  <a:pt x="197118" y="481217"/>
                </a:lnTo>
                <a:lnTo>
                  <a:pt x="150768" y="467052"/>
                </a:lnTo>
                <a:lnTo>
                  <a:pt x="108830" y="444639"/>
                </a:lnTo>
                <a:lnTo>
                  <a:pt x="72294" y="414956"/>
                </a:lnTo>
                <a:lnTo>
                  <a:pt x="42152" y="378981"/>
                </a:lnTo>
                <a:lnTo>
                  <a:pt x="19395" y="337691"/>
                </a:lnTo>
                <a:lnTo>
                  <a:pt x="5014" y="292064"/>
                </a:lnTo>
                <a:lnTo>
                  <a:pt x="0" y="243078"/>
                </a:lnTo>
                <a:close/>
              </a:path>
            </a:pathLst>
          </a:custGeom>
          <a:ln w="25400">
            <a:solidFill>
              <a:srgbClr val="D79F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5918961" y="1479626"/>
            <a:ext cx="22796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Arial"/>
                <a:cs typeface="Arial"/>
              </a:rPr>
              <a:t>T</a:t>
            </a:r>
            <a:r>
              <a:rPr sz="1200" spc="-37" baseline="-20833" dirty="0">
                <a:latin typeface="Arial"/>
                <a:cs typeface="Arial"/>
              </a:rPr>
              <a:t>2</a:t>
            </a:r>
            <a:endParaRPr sz="1200" baseline="-20833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206495" y="1488973"/>
            <a:ext cx="3086100" cy="1962785"/>
            <a:chOff x="3206495" y="1488973"/>
            <a:chExt cx="3086100" cy="1962785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206495" y="1488973"/>
              <a:ext cx="2694432" cy="23467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3249929" y="1550669"/>
              <a:ext cx="2536825" cy="76200"/>
            </a:xfrm>
            <a:custGeom>
              <a:avLst/>
              <a:gdLst/>
              <a:ahLst/>
              <a:cxnLst/>
              <a:rect l="l" t="t" r="r" b="b"/>
              <a:pathLst>
                <a:path w="2536825" h="76200">
                  <a:moveTo>
                    <a:pt x="2460624" y="0"/>
                  </a:moveTo>
                  <a:lnTo>
                    <a:pt x="2460624" y="76200"/>
                  </a:lnTo>
                  <a:lnTo>
                    <a:pt x="2511424" y="50800"/>
                  </a:lnTo>
                  <a:lnTo>
                    <a:pt x="2473324" y="50800"/>
                  </a:lnTo>
                  <a:lnTo>
                    <a:pt x="2473324" y="25400"/>
                  </a:lnTo>
                  <a:lnTo>
                    <a:pt x="2511424" y="25400"/>
                  </a:lnTo>
                  <a:lnTo>
                    <a:pt x="2460624" y="0"/>
                  </a:lnTo>
                  <a:close/>
                </a:path>
                <a:path w="2536825" h="76200">
                  <a:moveTo>
                    <a:pt x="2460624" y="25400"/>
                  </a:moveTo>
                  <a:lnTo>
                    <a:pt x="0" y="25400"/>
                  </a:lnTo>
                  <a:lnTo>
                    <a:pt x="0" y="50800"/>
                  </a:lnTo>
                  <a:lnTo>
                    <a:pt x="2460624" y="50800"/>
                  </a:lnTo>
                  <a:lnTo>
                    <a:pt x="2460624" y="25400"/>
                  </a:lnTo>
                  <a:close/>
                </a:path>
                <a:path w="2536825" h="76200">
                  <a:moveTo>
                    <a:pt x="2511424" y="25400"/>
                  </a:moveTo>
                  <a:lnTo>
                    <a:pt x="2473324" y="25400"/>
                  </a:lnTo>
                  <a:lnTo>
                    <a:pt x="2473324" y="50800"/>
                  </a:lnTo>
                  <a:lnTo>
                    <a:pt x="2511424" y="50800"/>
                  </a:lnTo>
                  <a:lnTo>
                    <a:pt x="2536824" y="38100"/>
                  </a:lnTo>
                  <a:lnTo>
                    <a:pt x="2511424" y="25400"/>
                  </a:lnTo>
                  <a:close/>
                </a:path>
              </a:pathLst>
            </a:custGeom>
            <a:solidFill>
              <a:srgbClr val="D79F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85866" y="2952750"/>
              <a:ext cx="494030" cy="486409"/>
            </a:xfrm>
            <a:custGeom>
              <a:avLst/>
              <a:gdLst/>
              <a:ahLst/>
              <a:cxnLst/>
              <a:rect l="l" t="t" r="r" b="b"/>
              <a:pathLst>
                <a:path w="494029" h="486410">
                  <a:moveTo>
                    <a:pt x="0" y="243077"/>
                  </a:moveTo>
                  <a:lnTo>
                    <a:pt x="5014" y="194091"/>
                  </a:lnTo>
                  <a:lnTo>
                    <a:pt x="19395" y="148464"/>
                  </a:lnTo>
                  <a:lnTo>
                    <a:pt x="42152" y="107174"/>
                  </a:lnTo>
                  <a:lnTo>
                    <a:pt x="72294" y="71199"/>
                  </a:lnTo>
                  <a:lnTo>
                    <a:pt x="108830" y="41516"/>
                  </a:lnTo>
                  <a:lnTo>
                    <a:pt x="150768" y="19103"/>
                  </a:lnTo>
                  <a:lnTo>
                    <a:pt x="197118" y="4938"/>
                  </a:lnTo>
                  <a:lnTo>
                    <a:pt x="246887" y="0"/>
                  </a:lnTo>
                  <a:lnTo>
                    <a:pt x="296657" y="4938"/>
                  </a:lnTo>
                  <a:lnTo>
                    <a:pt x="343007" y="19103"/>
                  </a:lnTo>
                  <a:lnTo>
                    <a:pt x="384945" y="41516"/>
                  </a:lnTo>
                  <a:lnTo>
                    <a:pt x="421481" y="71199"/>
                  </a:lnTo>
                  <a:lnTo>
                    <a:pt x="451623" y="107174"/>
                  </a:lnTo>
                  <a:lnTo>
                    <a:pt x="474380" y="148464"/>
                  </a:lnTo>
                  <a:lnTo>
                    <a:pt x="488761" y="194091"/>
                  </a:lnTo>
                  <a:lnTo>
                    <a:pt x="493775" y="243077"/>
                  </a:lnTo>
                  <a:lnTo>
                    <a:pt x="488761" y="292064"/>
                  </a:lnTo>
                  <a:lnTo>
                    <a:pt x="474380" y="337691"/>
                  </a:lnTo>
                  <a:lnTo>
                    <a:pt x="451623" y="378981"/>
                  </a:lnTo>
                  <a:lnTo>
                    <a:pt x="421481" y="414956"/>
                  </a:lnTo>
                  <a:lnTo>
                    <a:pt x="384945" y="444639"/>
                  </a:lnTo>
                  <a:lnTo>
                    <a:pt x="343007" y="467052"/>
                  </a:lnTo>
                  <a:lnTo>
                    <a:pt x="296657" y="481217"/>
                  </a:lnTo>
                  <a:lnTo>
                    <a:pt x="246887" y="486156"/>
                  </a:lnTo>
                  <a:lnTo>
                    <a:pt x="197118" y="481217"/>
                  </a:lnTo>
                  <a:lnTo>
                    <a:pt x="150768" y="467052"/>
                  </a:lnTo>
                  <a:lnTo>
                    <a:pt x="108830" y="444639"/>
                  </a:lnTo>
                  <a:lnTo>
                    <a:pt x="72294" y="414956"/>
                  </a:lnTo>
                  <a:lnTo>
                    <a:pt x="42152" y="378981"/>
                  </a:lnTo>
                  <a:lnTo>
                    <a:pt x="19395" y="337691"/>
                  </a:lnTo>
                  <a:lnTo>
                    <a:pt x="5014" y="292064"/>
                  </a:lnTo>
                  <a:lnTo>
                    <a:pt x="0" y="243077"/>
                  </a:lnTo>
                  <a:close/>
                </a:path>
              </a:pathLst>
            </a:custGeom>
            <a:ln w="254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918961" y="3086861"/>
            <a:ext cx="227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Arial"/>
                <a:cs typeface="Arial"/>
              </a:rPr>
              <a:t>T</a:t>
            </a:r>
            <a:r>
              <a:rPr sz="1200" spc="-37" baseline="-20833" dirty="0">
                <a:latin typeface="Arial"/>
                <a:cs typeface="Arial"/>
              </a:rPr>
              <a:t>3</a:t>
            </a:r>
            <a:endParaRPr sz="1200" baseline="-20833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743454" y="1810511"/>
            <a:ext cx="519430" cy="1641475"/>
            <a:chOff x="2743454" y="1810511"/>
            <a:chExt cx="519430" cy="1641475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83408" y="1810511"/>
              <a:ext cx="234670" cy="1277112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964942" y="1832609"/>
              <a:ext cx="76200" cy="1120140"/>
            </a:xfrm>
            <a:custGeom>
              <a:avLst/>
              <a:gdLst/>
              <a:ahLst/>
              <a:cxnLst/>
              <a:rect l="l" t="t" r="r" b="b"/>
              <a:pathLst>
                <a:path w="76200" h="1120139">
                  <a:moveTo>
                    <a:pt x="25400" y="1043939"/>
                  </a:moveTo>
                  <a:lnTo>
                    <a:pt x="0" y="1043939"/>
                  </a:lnTo>
                  <a:lnTo>
                    <a:pt x="38100" y="1120139"/>
                  </a:lnTo>
                  <a:lnTo>
                    <a:pt x="69850" y="1056639"/>
                  </a:lnTo>
                  <a:lnTo>
                    <a:pt x="25400" y="1056639"/>
                  </a:lnTo>
                  <a:lnTo>
                    <a:pt x="25400" y="1043939"/>
                  </a:lnTo>
                  <a:close/>
                </a:path>
                <a:path w="76200" h="1120139">
                  <a:moveTo>
                    <a:pt x="50800" y="0"/>
                  </a:moveTo>
                  <a:lnTo>
                    <a:pt x="25400" y="0"/>
                  </a:lnTo>
                  <a:lnTo>
                    <a:pt x="25400" y="1056639"/>
                  </a:lnTo>
                  <a:lnTo>
                    <a:pt x="50800" y="1056639"/>
                  </a:lnTo>
                  <a:lnTo>
                    <a:pt x="50800" y="0"/>
                  </a:lnTo>
                  <a:close/>
                </a:path>
                <a:path w="76200" h="1120139">
                  <a:moveTo>
                    <a:pt x="76200" y="1043939"/>
                  </a:moveTo>
                  <a:lnTo>
                    <a:pt x="50800" y="1043939"/>
                  </a:lnTo>
                  <a:lnTo>
                    <a:pt x="50800" y="1056639"/>
                  </a:lnTo>
                  <a:lnTo>
                    <a:pt x="69850" y="1056639"/>
                  </a:lnTo>
                  <a:lnTo>
                    <a:pt x="76200" y="1043939"/>
                  </a:lnTo>
                  <a:close/>
                </a:path>
              </a:pathLst>
            </a:custGeom>
            <a:solidFill>
              <a:srgbClr val="D79F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56154" y="2952750"/>
              <a:ext cx="494030" cy="486409"/>
            </a:xfrm>
            <a:custGeom>
              <a:avLst/>
              <a:gdLst/>
              <a:ahLst/>
              <a:cxnLst/>
              <a:rect l="l" t="t" r="r" b="b"/>
              <a:pathLst>
                <a:path w="494030" h="486410">
                  <a:moveTo>
                    <a:pt x="246887" y="0"/>
                  </a:moveTo>
                  <a:lnTo>
                    <a:pt x="197118" y="4938"/>
                  </a:lnTo>
                  <a:lnTo>
                    <a:pt x="150768" y="19103"/>
                  </a:lnTo>
                  <a:lnTo>
                    <a:pt x="108830" y="41516"/>
                  </a:lnTo>
                  <a:lnTo>
                    <a:pt x="72294" y="71199"/>
                  </a:lnTo>
                  <a:lnTo>
                    <a:pt x="42152" y="107174"/>
                  </a:lnTo>
                  <a:lnTo>
                    <a:pt x="19395" y="148464"/>
                  </a:lnTo>
                  <a:lnTo>
                    <a:pt x="5014" y="194091"/>
                  </a:lnTo>
                  <a:lnTo>
                    <a:pt x="0" y="243077"/>
                  </a:lnTo>
                  <a:lnTo>
                    <a:pt x="5014" y="292064"/>
                  </a:lnTo>
                  <a:lnTo>
                    <a:pt x="19395" y="337691"/>
                  </a:lnTo>
                  <a:lnTo>
                    <a:pt x="42152" y="378981"/>
                  </a:lnTo>
                  <a:lnTo>
                    <a:pt x="72294" y="414956"/>
                  </a:lnTo>
                  <a:lnTo>
                    <a:pt x="108830" y="444639"/>
                  </a:lnTo>
                  <a:lnTo>
                    <a:pt x="150768" y="467052"/>
                  </a:lnTo>
                  <a:lnTo>
                    <a:pt x="197118" y="481217"/>
                  </a:lnTo>
                  <a:lnTo>
                    <a:pt x="246887" y="486156"/>
                  </a:lnTo>
                  <a:lnTo>
                    <a:pt x="296657" y="481217"/>
                  </a:lnTo>
                  <a:lnTo>
                    <a:pt x="343007" y="467052"/>
                  </a:lnTo>
                  <a:lnTo>
                    <a:pt x="384945" y="444639"/>
                  </a:lnTo>
                  <a:lnTo>
                    <a:pt x="421481" y="414956"/>
                  </a:lnTo>
                  <a:lnTo>
                    <a:pt x="451623" y="378981"/>
                  </a:lnTo>
                  <a:lnTo>
                    <a:pt x="474380" y="337691"/>
                  </a:lnTo>
                  <a:lnTo>
                    <a:pt x="488761" y="292064"/>
                  </a:lnTo>
                  <a:lnTo>
                    <a:pt x="493775" y="243077"/>
                  </a:lnTo>
                  <a:lnTo>
                    <a:pt x="488761" y="194091"/>
                  </a:lnTo>
                  <a:lnTo>
                    <a:pt x="474380" y="148464"/>
                  </a:lnTo>
                  <a:lnTo>
                    <a:pt x="451623" y="107174"/>
                  </a:lnTo>
                  <a:lnTo>
                    <a:pt x="421481" y="71199"/>
                  </a:lnTo>
                  <a:lnTo>
                    <a:pt x="384945" y="41516"/>
                  </a:lnTo>
                  <a:lnTo>
                    <a:pt x="343007" y="19103"/>
                  </a:lnTo>
                  <a:lnTo>
                    <a:pt x="296657" y="4938"/>
                  </a:lnTo>
                  <a:lnTo>
                    <a:pt x="24688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756154" y="2952750"/>
              <a:ext cx="494030" cy="486409"/>
            </a:xfrm>
            <a:custGeom>
              <a:avLst/>
              <a:gdLst/>
              <a:ahLst/>
              <a:cxnLst/>
              <a:rect l="l" t="t" r="r" b="b"/>
              <a:pathLst>
                <a:path w="494030" h="486410">
                  <a:moveTo>
                    <a:pt x="0" y="243077"/>
                  </a:moveTo>
                  <a:lnTo>
                    <a:pt x="5014" y="194091"/>
                  </a:lnTo>
                  <a:lnTo>
                    <a:pt x="19395" y="148464"/>
                  </a:lnTo>
                  <a:lnTo>
                    <a:pt x="42152" y="107174"/>
                  </a:lnTo>
                  <a:lnTo>
                    <a:pt x="72294" y="71199"/>
                  </a:lnTo>
                  <a:lnTo>
                    <a:pt x="108830" y="41516"/>
                  </a:lnTo>
                  <a:lnTo>
                    <a:pt x="150768" y="19103"/>
                  </a:lnTo>
                  <a:lnTo>
                    <a:pt x="197118" y="4938"/>
                  </a:lnTo>
                  <a:lnTo>
                    <a:pt x="246887" y="0"/>
                  </a:lnTo>
                  <a:lnTo>
                    <a:pt x="296657" y="4938"/>
                  </a:lnTo>
                  <a:lnTo>
                    <a:pt x="343007" y="19103"/>
                  </a:lnTo>
                  <a:lnTo>
                    <a:pt x="384945" y="41516"/>
                  </a:lnTo>
                  <a:lnTo>
                    <a:pt x="421481" y="71199"/>
                  </a:lnTo>
                  <a:lnTo>
                    <a:pt x="451623" y="107174"/>
                  </a:lnTo>
                  <a:lnTo>
                    <a:pt x="474380" y="148464"/>
                  </a:lnTo>
                  <a:lnTo>
                    <a:pt x="488761" y="194091"/>
                  </a:lnTo>
                  <a:lnTo>
                    <a:pt x="493775" y="243077"/>
                  </a:lnTo>
                  <a:lnTo>
                    <a:pt x="488761" y="292064"/>
                  </a:lnTo>
                  <a:lnTo>
                    <a:pt x="474380" y="337691"/>
                  </a:lnTo>
                  <a:lnTo>
                    <a:pt x="451623" y="378981"/>
                  </a:lnTo>
                  <a:lnTo>
                    <a:pt x="421481" y="414956"/>
                  </a:lnTo>
                  <a:lnTo>
                    <a:pt x="384945" y="444639"/>
                  </a:lnTo>
                  <a:lnTo>
                    <a:pt x="343007" y="467052"/>
                  </a:lnTo>
                  <a:lnTo>
                    <a:pt x="296657" y="481217"/>
                  </a:lnTo>
                  <a:lnTo>
                    <a:pt x="246887" y="486156"/>
                  </a:lnTo>
                  <a:lnTo>
                    <a:pt x="197118" y="481217"/>
                  </a:lnTo>
                  <a:lnTo>
                    <a:pt x="150768" y="467052"/>
                  </a:lnTo>
                  <a:lnTo>
                    <a:pt x="108830" y="444639"/>
                  </a:lnTo>
                  <a:lnTo>
                    <a:pt x="72294" y="414956"/>
                  </a:lnTo>
                  <a:lnTo>
                    <a:pt x="42152" y="378981"/>
                  </a:lnTo>
                  <a:lnTo>
                    <a:pt x="19395" y="337691"/>
                  </a:lnTo>
                  <a:lnTo>
                    <a:pt x="5014" y="292064"/>
                  </a:lnTo>
                  <a:lnTo>
                    <a:pt x="0" y="243077"/>
                  </a:lnTo>
                  <a:close/>
                </a:path>
              </a:pathLst>
            </a:custGeom>
            <a:ln w="254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894329" y="3094482"/>
            <a:ext cx="21526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T</a:t>
            </a:r>
            <a:r>
              <a:rPr sz="1050" spc="-37" baseline="-19841" dirty="0">
                <a:latin typeface="Arial"/>
                <a:cs typeface="Arial"/>
              </a:rPr>
              <a:t>4</a:t>
            </a:r>
            <a:endParaRPr sz="1050" baseline="-19841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057144" y="1726692"/>
            <a:ext cx="2915920" cy="3020695"/>
            <a:chOff x="3057144" y="1726692"/>
            <a:chExt cx="2915920" cy="3020695"/>
          </a:xfrm>
        </p:grpSpPr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57144" y="1726692"/>
              <a:ext cx="2843784" cy="1431036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176778" y="1749552"/>
              <a:ext cx="2687320" cy="1276350"/>
            </a:xfrm>
            <a:custGeom>
              <a:avLst/>
              <a:gdLst/>
              <a:ahLst/>
              <a:cxnLst/>
              <a:rect l="l" t="t" r="r" b="b"/>
              <a:pathLst>
                <a:path w="2687320" h="1276350">
                  <a:moveTo>
                    <a:pt x="52705" y="1207135"/>
                  </a:moveTo>
                  <a:lnTo>
                    <a:pt x="0" y="1274064"/>
                  </a:lnTo>
                  <a:lnTo>
                    <a:pt x="85217" y="1275969"/>
                  </a:lnTo>
                  <a:lnTo>
                    <a:pt x="76939" y="1258443"/>
                  </a:lnTo>
                  <a:lnTo>
                    <a:pt x="62865" y="1258443"/>
                  </a:lnTo>
                  <a:lnTo>
                    <a:pt x="52070" y="1235456"/>
                  </a:lnTo>
                  <a:lnTo>
                    <a:pt x="63532" y="1230058"/>
                  </a:lnTo>
                  <a:lnTo>
                    <a:pt x="52705" y="1207135"/>
                  </a:lnTo>
                  <a:close/>
                </a:path>
                <a:path w="2687320" h="1276350">
                  <a:moveTo>
                    <a:pt x="63532" y="1230058"/>
                  </a:moveTo>
                  <a:lnTo>
                    <a:pt x="52070" y="1235456"/>
                  </a:lnTo>
                  <a:lnTo>
                    <a:pt x="62865" y="1258443"/>
                  </a:lnTo>
                  <a:lnTo>
                    <a:pt x="74378" y="1253021"/>
                  </a:lnTo>
                  <a:lnTo>
                    <a:pt x="63532" y="1230058"/>
                  </a:lnTo>
                  <a:close/>
                </a:path>
                <a:path w="2687320" h="1276350">
                  <a:moveTo>
                    <a:pt x="74378" y="1253021"/>
                  </a:moveTo>
                  <a:lnTo>
                    <a:pt x="62865" y="1258443"/>
                  </a:lnTo>
                  <a:lnTo>
                    <a:pt x="76939" y="1258443"/>
                  </a:lnTo>
                  <a:lnTo>
                    <a:pt x="74378" y="1253021"/>
                  </a:lnTo>
                  <a:close/>
                </a:path>
                <a:path w="2687320" h="1276350">
                  <a:moveTo>
                    <a:pt x="2676017" y="0"/>
                  </a:moveTo>
                  <a:lnTo>
                    <a:pt x="63532" y="1230058"/>
                  </a:lnTo>
                  <a:lnTo>
                    <a:pt x="74378" y="1253021"/>
                  </a:lnTo>
                  <a:lnTo>
                    <a:pt x="2686812" y="22860"/>
                  </a:lnTo>
                  <a:lnTo>
                    <a:pt x="2676017" y="0"/>
                  </a:lnTo>
                  <a:close/>
                </a:path>
              </a:pathLst>
            </a:custGeom>
            <a:solidFill>
              <a:srgbClr val="D79F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28772" y="1726692"/>
              <a:ext cx="2843783" cy="1431036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171317" y="1749552"/>
              <a:ext cx="2687320" cy="1276350"/>
            </a:xfrm>
            <a:custGeom>
              <a:avLst/>
              <a:gdLst/>
              <a:ahLst/>
              <a:cxnLst/>
              <a:rect l="l" t="t" r="r" b="b"/>
              <a:pathLst>
                <a:path w="2687320" h="1276350">
                  <a:moveTo>
                    <a:pt x="2612433" y="1253021"/>
                  </a:moveTo>
                  <a:lnTo>
                    <a:pt x="2601595" y="1275969"/>
                  </a:lnTo>
                  <a:lnTo>
                    <a:pt x="2686811" y="1274064"/>
                  </a:lnTo>
                  <a:lnTo>
                    <a:pt x="2674510" y="1258443"/>
                  </a:lnTo>
                  <a:lnTo>
                    <a:pt x="2623947" y="1258443"/>
                  </a:lnTo>
                  <a:lnTo>
                    <a:pt x="2612433" y="1253021"/>
                  </a:lnTo>
                  <a:close/>
                </a:path>
                <a:path w="2687320" h="1276350">
                  <a:moveTo>
                    <a:pt x="2623279" y="1230058"/>
                  </a:moveTo>
                  <a:lnTo>
                    <a:pt x="2612433" y="1253021"/>
                  </a:lnTo>
                  <a:lnTo>
                    <a:pt x="2623947" y="1258443"/>
                  </a:lnTo>
                  <a:lnTo>
                    <a:pt x="2634742" y="1235456"/>
                  </a:lnTo>
                  <a:lnTo>
                    <a:pt x="2623279" y="1230058"/>
                  </a:lnTo>
                  <a:close/>
                </a:path>
                <a:path w="2687320" h="1276350">
                  <a:moveTo>
                    <a:pt x="2634107" y="1207135"/>
                  </a:moveTo>
                  <a:lnTo>
                    <a:pt x="2623279" y="1230058"/>
                  </a:lnTo>
                  <a:lnTo>
                    <a:pt x="2634742" y="1235456"/>
                  </a:lnTo>
                  <a:lnTo>
                    <a:pt x="2623947" y="1258443"/>
                  </a:lnTo>
                  <a:lnTo>
                    <a:pt x="2674510" y="1258443"/>
                  </a:lnTo>
                  <a:lnTo>
                    <a:pt x="2634107" y="1207135"/>
                  </a:lnTo>
                  <a:close/>
                </a:path>
                <a:path w="2687320" h="1276350">
                  <a:moveTo>
                    <a:pt x="10921" y="0"/>
                  </a:moveTo>
                  <a:lnTo>
                    <a:pt x="0" y="22860"/>
                  </a:lnTo>
                  <a:lnTo>
                    <a:pt x="2612433" y="1253021"/>
                  </a:lnTo>
                  <a:lnTo>
                    <a:pt x="2623279" y="1230058"/>
                  </a:lnTo>
                  <a:lnTo>
                    <a:pt x="10921" y="0"/>
                  </a:lnTo>
                  <a:close/>
                </a:path>
              </a:pathLst>
            </a:custGeom>
            <a:solidFill>
              <a:srgbClr val="D79F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220718" y="4248150"/>
              <a:ext cx="494030" cy="486409"/>
            </a:xfrm>
            <a:custGeom>
              <a:avLst/>
              <a:gdLst/>
              <a:ahLst/>
              <a:cxnLst/>
              <a:rect l="l" t="t" r="r" b="b"/>
              <a:pathLst>
                <a:path w="494029" h="486410">
                  <a:moveTo>
                    <a:pt x="0" y="243078"/>
                  </a:moveTo>
                  <a:lnTo>
                    <a:pt x="5014" y="194088"/>
                  </a:lnTo>
                  <a:lnTo>
                    <a:pt x="19395" y="148459"/>
                  </a:lnTo>
                  <a:lnTo>
                    <a:pt x="42152" y="107169"/>
                  </a:lnTo>
                  <a:lnTo>
                    <a:pt x="72294" y="71194"/>
                  </a:lnTo>
                  <a:lnTo>
                    <a:pt x="108830" y="41513"/>
                  </a:lnTo>
                  <a:lnTo>
                    <a:pt x="150768" y="19101"/>
                  </a:lnTo>
                  <a:lnTo>
                    <a:pt x="197118" y="4938"/>
                  </a:lnTo>
                  <a:lnTo>
                    <a:pt x="246887" y="0"/>
                  </a:lnTo>
                  <a:lnTo>
                    <a:pt x="296657" y="4938"/>
                  </a:lnTo>
                  <a:lnTo>
                    <a:pt x="343007" y="19101"/>
                  </a:lnTo>
                  <a:lnTo>
                    <a:pt x="384945" y="41513"/>
                  </a:lnTo>
                  <a:lnTo>
                    <a:pt x="421481" y="71194"/>
                  </a:lnTo>
                  <a:lnTo>
                    <a:pt x="451623" y="107169"/>
                  </a:lnTo>
                  <a:lnTo>
                    <a:pt x="474380" y="148459"/>
                  </a:lnTo>
                  <a:lnTo>
                    <a:pt x="488761" y="194088"/>
                  </a:lnTo>
                  <a:lnTo>
                    <a:pt x="493776" y="243078"/>
                  </a:lnTo>
                  <a:lnTo>
                    <a:pt x="488761" y="292067"/>
                  </a:lnTo>
                  <a:lnTo>
                    <a:pt x="474380" y="337696"/>
                  </a:lnTo>
                  <a:lnTo>
                    <a:pt x="451623" y="378986"/>
                  </a:lnTo>
                  <a:lnTo>
                    <a:pt x="421481" y="414961"/>
                  </a:lnTo>
                  <a:lnTo>
                    <a:pt x="384945" y="444642"/>
                  </a:lnTo>
                  <a:lnTo>
                    <a:pt x="343007" y="467054"/>
                  </a:lnTo>
                  <a:lnTo>
                    <a:pt x="296657" y="481217"/>
                  </a:lnTo>
                  <a:lnTo>
                    <a:pt x="246887" y="486156"/>
                  </a:lnTo>
                  <a:lnTo>
                    <a:pt x="197118" y="481217"/>
                  </a:lnTo>
                  <a:lnTo>
                    <a:pt x="150768" y="467054"/>
                  </a:lnTo>
                  <a:lnTo>
                    <a:pt x="108830" y="444642"/>
                  </a:lnTo>
                  <a:lnTo>
                    <a:pt x="72294" y="414961"/>
                  </a:lnTo>
                  <a:lnTo>
                    <a:pt x="42152" y="378986"/>
                  </a:lnTo>
                  <a:lnTo>
                    <a:pt x="19395" y="337696"/>
                  </a:lnTo>
                  <a:lnTo>
                    <a:pt x="5014" y="292067"/>
                  </a:lnTo>
                  <a:lnTo>
                    <a:pt x="0" y="243078"/>
                  </a:lnTo>
                  <a:close/>
                </a:path>
              </a:pathLst>
            </a:custGeom>
            <a:ln w="254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359275" y="4391355"/>
            <a:ext cx="21526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T</a:t>
            </a:r>
            <a:r>
              <a:rPr sz="1050" spc="-37" baseline="-19841" dirty="0">
                <a:latin typeface="Arial"/>
                <a:cs typeface="Arial"/>
              </a:rPr>
              <a:t>5</a:t>
            </a:r>
            <a:endParaRPr sz="1050" baseline="-19841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2953511" y="1810511"/>
            <a:ext cx="3194685" cy="2644140"/>
            <a:chOff x="2953511" y="1810511"/>
            <a:chExt cx="3194685" cy="2644140"/>
          </a:xfrm>
        </p:grpSpPr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13119" y="1810511"/>
              <a:ext cx="234670" cy="1277112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5994654" y="1832609"/>
              <a:ext cx="76200" cy="1120140"/>
            </a:xfrm>
            <a:custGeom>
              <a:avLst/>
              <a:gdLst/>
              <a:ahLst/>
              <a:cxnLst/>
              <a:rect l="l" t="t" r="r" b="b"/>
              <a:pathLst>
                <a:path w="76200" h="1120139">
                  <a:moveTo>
                    <a:pt x="25400" y="1043939"/>
                  </a:moveTo>
                  <a:lnTo>
                    <a:pt x="0" y="1043939"/>
                  </a:lnTo>
                  <a:lnTo>
                    <a:pt x="38100" y="1120139"/>
                  </a:lnTo>
                  <a:lnTo>
                    <a:pt x="69850" y="1056639"/>
                  </a:lnTo>
                  <a:lnTo>
                    <a:pt x="25400" y="1056639"/>
                  </a:lnTo>
                  <a:lnTo>
                    <a:pt x="25400" y="1043939"/>
                  </a:lnTo>
                  <a:close/>
                </a:path>
                <a:path w="76200" h="1120139">
                  <a:moveTo>
                    <a:pt x="50800" y="0"/>
                  </a:moveTo>
                  <a:lnTo>
                    <a:pt x="25400" y="0"/>
                  </a:lnTo>
                  <a:lnTo>
                    <a:pt x="25400" y="1056639"/>
                  </a:lnTo>
                  <a:lnTo>
                    <a:pt x="50800" y="1056639"/>
                  </a:lnTo>
                  <a:lnTo>
                    <a:pt x="50800" y="0"/>
                  </a:lnTo>
                  <a:close/>
                </a:path>
                <a:path w="76200" h="1120139">
                  <a:moveTo>
                    <a:pt x="76200" y="1043939"/>
                  </a:moveTo>
                  <a:lnTo>
                    <a:pt x="50800" y="1043939"/>
                  </a:lnTo>
                  <a:lnTo>
                    <a:pt x="50800" y="1056639"/>
                  </a:lnTo>
                  <a:lnTo>
                    <a:pt x="69850" y="1056639"/>
                  </a:lnTo>
                  <a:lnTo>
                    <a:pt x="76200" y="1043939"/>
                  </a:lnTo>
                  <a:close/>
                </a:path>
              </a:pathLst>
            </a:custGeom>
            <a:solidFill>
              <a:srgbClr val="D79F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53511" y="3406139"/>
              <a:ext cx="1455419" cy="1048499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2995929" y="3428364"/>
              <a:ext cx="1297940" cy="892175"/>
            </a:xfrm>
            <a:custGeom>
              <a:avLst/>
              <a:gdLst/>
              <a:ahLst/>
              <a:cxnLst/>
              <a:rect l="l" t="t" r="r" b="b"/>
              <a:pathLst>
                <a:path w="1297939" h="892175">
                  <a:moveTo>
                    <a:pt x="1227430" y="859517"/>
                  </a:moveTo>
                  <a:lnTo>
                    <a:pt x="1213104" y="880452"/>
                  </a:lnTo>
                  <a:lnTo>
                    <a:pt x="1297558" y="891971"/>
                  </a:lnTo>
                  <a:lnTo>
                    <a:pt x="1283473" y="866648"/>
                  </a:lnTo>
                  <a:lnTo>
                    <a:pt x="1237869" y="866648"/>
                  </a:lnTo>
                  <a:lnTo>
                    <a:pt x="1227430" y="859517"/>
                  </a:lnTo>
                  <a:close/>
                </a:path>
                <a:path w="1297939" h="892175">
                  <a:moveTo>
                    <a:pt x="1241785" y="838539"/>
                  </a:moveTo>
                  <a:lnTo>
                    <a:pt x="1227430" y="859517"/>
                  </a:lnTo>
                  <a:lnTo>
                    <a:pt x="1237869" y="866648"/>
                  </a:lnTo>
                  <a:lnTo>
                    <a:pt x="1252220" y="845667"/>
                  </a:lnTo>
                  <a:lnTo>
                    <a:pt x="1241785" y="838539"/>
                  </a:lnTo>
                  <a:close/>
                </a:path>
                <a:path w="1297939" h="892175">
                  <a:moveTo>
                    <a:pt x="1256157" y="817537"/>
                  </a:moveTo>
                  <a:lnTo>
                    <a:pt x="1241785" y="838539"/>
                  </a:lnTo>
                  <a:lnTo>
                    <a:pt x="1252220" y="845667"/>
                  </a:lnTo>
                  <a:lnTo>
                    <a:pt x="1237869" y="866648"/>
                  </a:lnTo>
                  <a:lnTo>
                    <a:pt x="1283473" y="866648"/>
                  </a:lnTo>
                  <a:lnTo>
                    <a:pt x="1256157" y="817537"/>
                  </a:lnTo>
                  <a:close/>
                </a:path>
                <a:path w="1297939" h="892175">
                  <a:moveTo>
                    <a:pt x="14224" y="0"/>
                  </a:moveTo>
                  <a:lnTo>
                    <a:pt x="0" y="21082"/>
                  </a:lnTo>
                  <a:lnTo>
                    <a:pt x="1227430" y="859517"/>
                  </a:lnTo>
                  <a:lnTo>
                    <a:pt x="1241785" y="838539"/>
                  </a:lnTo>
                  <a:lnTo>
                    <a:pt x="14224" y="0"/>
                  </a:lnTo>
                  <a:close/>
                </a:path>
              </a:pathLst>
            </a:custGeom>
            <a:solidFill>
              <a:srgbClr val="D79F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23231" y="3406139"/>
              <a:ext cx="1556003" cy="1048499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4642866" y="3428237"/>
              <a:ext cx="1398270" cy="892175"/>
            </a:xfrm>
            <a:custGeom>
              <a:avLst/>
              <a:gdLst/>
              <a:ahLst/>
              <a:cxnLst/>
              <a:rect l="l" t="t" r="r" b="b"/>
              <a:pathLst>
                <a:path w="1398270" h="892175">
                  <a:moveTo>
                    <a:pt x="43942" y="819124"/>
                  </a:moveTo>
                  <a:lnTo>
                    <a:pt x="0" y="892098"/>
                  </a:lnTo>
                  <a:lnTo>
                    <a:pt x="84709" y="883500"/>
                  </a:lnTo>
                  <a:lnTo>
                    <a:pt x="75428" y="868845"/>
                  </a:lnTo>
                  <a:lnTo>
                    <a:pt x="60451" y="868845"/>
                  </a:lnTo>
                  <a:lnTo>
                    <a:pt x="46862" y="847382"/>
                  </a:lnTo>
                  <a:lnTo>
                    <a:pt x="57548" y="840611"/>
                  </a:lnTo>
                  <a:lnTo>
                    <a:pt x="43942" y="819124"/>
                  </a:lnTo>
                  <a:close/>
                </a:path>
                <a:path w="1398270" h="892175">
                  <a:moveTo>
                    <a:pt x="57548" y="840611"/>
                  </a:moveTo>
                  <a:lnTo>
                    <a:pt x="46862" y="847382"/>
                  </a:lnTo>
                  <a:lnTo>
                    <a:pt x="60451" y="868845"/>
                  </a:lnTo>
                  <a:lnTo>
                    <a:pt x="71139" y="862072"/>
                  </a:lnTo>
                  <a:lnTo>
                    <a:pt x="57548" y="840611"/>
                  </a:lnTo>
                  <a:close/>
                </a:path>
                <a:path w="1398270" h="892175">
                  <a:moveTo>
                    <a:pt x="71139" y="862072"/>
                  </a:moveTo>
                  <a:lnTo>
                    <a:pt x="60451" y="868845"/>
                  </a:lnTo>
                  <a:lnTo>
                    <a:pt x="75428" y="868845"/>
                  </a:lnTo>
                  <a:lnTo>
                    <a:pt x="71139" y="862072"/>
                  </a:lnTo>
                  <a:close/>
                </a:path>
                <a:path w="1398270" h="892175">
                  <a:moveTo>
                    <a:pt x="1384173" y="0"/>
                  </a:moveTo>
                  <a:lnTo>
                    <a:pt x="57548" y="840611"/>
                  </a:lnTo>
                  <a:lnTo>
                    <a:pt x="71139" y="862072"/>
                  </a:lnTo>
                  <a:lnTo>
                    <a:pt x="1397762" y="21336"/>
                  </a:lnTo>
                  <a:lnTo>
                    <a:pt x="1384173" y="0"/>
                  </a:lnTo>
                  <a:close/>
                </a:path>
              </a:pathLst>
            </a:custGeom>
            <a:solidFill>
              <a:srgbClr val="D79F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360">
              <a:lnSpc>
                <a:spcPct val="100000"/>
              </a:lnSpc>
              <a:spcBef>
                <a:spcPts val="100"/>
              </a:spcBef>
            </a:pPr>
            <a:r>
              <a:rPr spc="-125" dirty="0">
                <a:solidFill>
                  <a:srgbClr val="FF0000"/>
                </a:solidFill>
              </a:rPr>
              <a:t>Conflict</a:t>
            </a:r>
            <a:r>
              <a:rPr spc="-215" dirty="0">
                <a:solidFill>
                  <a:srgbClr val="FF0000"/>
                </a:solidFill>
              </a:rPr>
              <a:t> </a:t>
            </a:r>
            <a:r>
              <a:rPr spc="-135" dirty="0">
                <a:solidFill>
                  <a:srgbClr val="FF0000"/>
                </a:solidFill>
              </a:rPr>
              <a:t>Serializability</a:t>
            </a:r>
            <a:r>
              <a:rPr spc="-245" dirty="0">
                <a:solidFill>
                  <a:srgbClr val="FF0000"/>
                </a:solidFill>
              </a:rPr>
              <a:t> </a:t>
            </a:r>
            <a:r>
              <a:rPr spc="-160" dirty="0">
                <a:solidFill>
                  <a:srgbClr val="FF0000"/>
                </a:solidFill>
              </a:rPr>
              <a:t>Check</a:t>
            </a:r>
            <a:r>
              <a:rPr spc="-225" dirty="0">
                <a:solidFill>
                  <a:srgbClr val="FF0000"/>
                </a:solidFill>
              </a:rPr>
              <a:t> </a:t>
            </a:r>
            <a:r>
              <a:rPr spc="-210" dirty="0">
                <a:solidFill>
                  <a:srgbClr val="FF0000"/>
                </a:solidFill>
              </a:rPr>
              <a:t>–</a:t>
            </a:r>
            <a:r>
              <a:rPr spc="-235" dirty="0">
                <a:solidFill>
                  <a:srgbClr val="FF0000"/>
                </a:solidFill>
              </a:rPr>
              <a:t> </a:t>
            </a:r>
            <a:r>
              <a:rPr spc="-50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5" dirty="0">
                <a:solidFill>
                  <a:srgbClr val="FFFFFF"/>
                </a:solidFill>
                <a:latin typeface="Gill Sans MT"/>
                <a:cs typeface="Gill Sans MT"/>
              </a:rPr>
              <a:t>26</a:t>
            </a:r>
            <a:endParaRPr sz="1300">
              <a:latin typeface="Gill Sans MT"/>
              <a:cs typeface="Gill Sans MT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97446" y="1047496"/>
          <a:ext cx="4337685" cy="3836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458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08458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8458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08394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</a:tblGrid>
              <a:tr h="273685">
                <a:tc>
                  <a:txBody>
                    <a:bodyPr/>
                    <a:lstStyle/>
                    <a:p>
                      <a:pPr marR="443230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b="1" spc="-25" dirty="0">
                          <a:latin typeface="Gill Sans MT"/>
                          <a:cs typeface="Gill Sans MT"/>
                        </a:rPr>
                        <a:t>T1</a:t>
                      </a:r>
                      <a:endParaRPr sz="1200">
                        <a:latin typeface="Gill Sans MT"/>
                        <a:cs typeface="Gill Sans MT"/>
                      </a:endParaRPr>
                    </a:p>
                  </a:txBody>
                  <a:tcPr marL="0" marR="0" marT="38100" marB="0">
                    <a:lnT w="12700">
                      <a:solidFill>
                        <a:srgbClr val="D79F39"/>
                      </a:solidFill>
                      <a:prstDash val="solid"/>
                    </a:lnT>
                    <a:lnB w="12700">
                      <a:solidFill>
                        <a:srgbClr val="D79F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3230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b="1" spc="-25" dirty="0">
                          <a:latin typeface="Gill Sans MT"/>
                          <a:cs typeface="Gill Sans MT"/>
                        </a:rPr>
                        <a:t>T2</a:t>
                      </a:r>
                      <a:endParaRPr sz="1200">
                        <a:latin typeface="Gill Sans MT"/>
                        <a:cs typeface="Gill Sans MT"/>
                      </a:endParaRPr>
                    </a:p>
                  </a:txBody>
                  <a:tcPr marL="0" marR="0" marT="38100" marB="0">
                    <a:lnT w="12700">
                      <a:solidFill>
                        <a:srgbClr val="D79F39"/>
                      </a:solidFill>
                      <a:prstDash val="solid"/>
                    </a:lnT>
                    <a:lnB w="12700">
                      <a:solidFill>
                        <a:srgbClr val="D79F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43865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b="1" spc="-25" dirty="0">
                          <a:latin typeface="Gill Sans MT"/>
                          <a:cs typeface="Gill Sans MT"/>
                        </a:rPr>
                        <a:t>T3</a:t>
                      </a:r>
                      <a:endParaRPr sz="1200">
                        <a:latin typeface="Gill Sans MT"/>
                        <a:cs typeface="Gill Sans MT"/>
                      </a:endParaRPr>
                    </a:p>
                  </a:txBody>
                  <a:tcPr marL="0" marR="0" marT="38100" marB="0">
                    <a:lnT w="12700">
                      <a:solidFill>
                        <a:srgbClr val="D79F39"/>
                      </a:solidFill>
                      <a:prstDash val="solid"/>
                    </a:lnT>
                    <a:lnB w="12700">
                      <a:solidFill>
                        <a:srgbClr val="D79F3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b="1" spc="-25" dirty="0">
                          <a:latin typeface="Gill Sans MT"/>
                          <a:cs typeface="Gill Sans MT"/>
                        </a:rPr>
                        <a:t>T4</a:t>
                      </a:r>
                      <a:endParaRPr sz="1200">
                        <a:latin typeface="Gill Sans MT"/>
                        <a:cs typeface="Gill Sans MT"/>
                      </a:endParaRPr>
                    </a:p>
                  </a:txBody>
                  <a:tcPr marL="0" marR="0" marT="38100" marB="0">
                    <a:lnT w="12700">
                      <a:solidFill>
                        <a:srgbClr val="D79F39"/>
                      </a:solidFill>
                      <a:prstDash val="solid"/>
                    </a:lnT>
                    <a:lnB w="12700">
                      <a:solidFill>
                        <a:srgbClr val="D79F3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441959" algn="r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200" spc="-10" dirty="0">
                          <a:latin typeface="Gill Sans MT"/>
                          <a:cs typeface="Gill Sans MT"/>
                        </a:rPr>
                        <a:t>Read(X)</a:t>
                      </a:r>
                      <a:endParaRPr sz="1200">
                        <a:latin typeface="Gill Sans MT"/>
                        <a:cs typeface="Gill Sans MT"/>
                      </a:endParaRPr>
                    </a:p>
                  </a:txBody>
                  <a:tcPr marL="0" marR="0" marT="38100" marB="0">
                    <a:lnT w="12700">
                      <a:solidFill>
                        <a:srgbClr val="D79F39"/>
                      </a:solidFill>
                      <a:prstDash val="solid"/>
                    </a:lnT>
                    <a:solidFill>
                      <a:srgbClr val="D79F3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D79F39"/>
                      </a:solidFill>
                      <a:prstDash val="solid"/>
                    </a:lnT>
                    <a:solidFill>
                      <a:srgbClr val="D79F3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D79F39"/>
                      </a:solidFill>
                      <a:prstDash val="solid"/>
                    </a:lnT>
                    <a:solidFill>
                      <a:srgbClr val="D79F3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12700">
                      <a:solidFill>
                        <a:srgbClr val="D79F39"/>
                      </a:solidFill>
                      <a:prstDash val="solid"/>
                    </a:lnT>
                    <a:solidFill>
                      <a:srgbClr val="D79F39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40690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200" spc="-10" dirty="0">
                          <a:latin typeface="Gill Sans MT"/>
                          <a:cs typeface="Gill Sans MT"/>
                        </a:rPr>
                        <a:t>Read(X)</a:t>
                      </a:r>
                      <a:endParaRPr sz="1200">
                        <a:latin typeface="Gill Sans MT"/>
                        <a:cs typeface="Gill Sans MT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433705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200" spc="-10" dirty="0">
                          <a:latin typeface="Gill Sans MT"/>
                          <a:cs typeface="Gill Sans MT"/>
                        </a:rPr>
                        <a:t>Write(Y)</a:t>
                      </a:r>
                      <a:endParaRPr sz="1200">
                        <a:latin typeface="Gill Sans MT"/>
                        <a:cs typeface="Gill Sans MT"/>
                      </a:endParaRPr>
                    </a:p>
                  </a:txBody>
                  <a:tcPr marL="0" marR="0" marT="38735" marB="0">
                    <a:solidFill>
                      <a:srgbClr val="D79F3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79F3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79F3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79F39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45770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200" spc="-10" dirty="0">
                          <a:latin typeface="Gill Sans MT"/>
                          <a:cs typeface="Gill Sans MT"/>
                        </a:rPr>
                        <a:t>Read(Y)</a:t>
                      </a:r>
                      <a:endParaRPr sz="1200">
                        <a:latin typeface="Gill Sans MT"/>
                        <a:cs typeface="Gill Sans MT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79F3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45134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200" spc="-10" dirty="0">
                          <a:latin typeface="Gill Sans MT"/>
                          <a:cs typeface="Gill Sans MT"/>
                        </a:rPr>
                        <a:t>Read(Y)</a:t>
                      </a:r>
                      <a:endParaRPr sz="1200">
                        <a:latin typeface="Gill Sans MT"/>
                        <a:cs typeface="Gill Sans MT"/>
                      </a:endParaRPr>
                    </a:p>
                  </a:txBody>
                  <a:tcPr marL="0" marR="0" marT="38735" marB="0">
                    <a:solidFill>
                      <a:srgbClr val="D79F3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79F3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79F39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29259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200" spc="-10" dirty="0">
                          <a:latin typeface="Gill Sans MT"/>
                          <a:cs typeface="Gill Sans MT"/>
                        </a:rPr>
                        <a:t>Write(X)</a:t>
                      </a:r>
                      <a:endParaRPr sz="1200">
                        <a:latin typeface="Gill Sans MT"/>
                        <a:cs typeface="Gill Sans MT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79F3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79F3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R="401320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200" spc="-10" dirty="0">
                          <a:latin typeface="Gill Sans MT"/>
                          <a:cs typeface="Gill Sans MT"/>
                        </a:rPr>
                        <a:t>Read(W)</a:t>
                      </a:r>
                      <a:endParaRPr sz="1200">
                        <a:latin typeface="Gill Sans MT"/>
                        <a:cs typeface="Gill Sans MT"/>
                      </a:endParaRPr>
                    </a:p>
                  </a:txBody>
                  <a:tcPr marL="0" marR="0" marT="38735" marB="0">
                    <a:solidFill>
                      <a:srgbClr val="D79F3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79F39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434340" algn="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200" spc="-10" dirty="0">
                          <a:latin typeface="Gill Sans MT"/>
                          <a:cs typeface="Gill Sans MT"/>
                        </a:rPr>
                        <a:t>Write(Y)</a:t>
                      </a:r>
                      <a:endParaRPr sz="1200">
                        <a:latin typeface="Gill Sans MT"/>
                        <a:cs typeface="Gill Sans MT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79F3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79F3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79F3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200" spc="-10" dirty="0">
                          <a:latin typeface="Gill Sans MT"/>
                          <a:cs typeface="Gill Sans MT"/>
                        </a:rPr>
                        <a:t>Read(W)</a:t>
                      </a:r>
                      <a:endParaRPr sz="1200">
                        <a:latin typeface="Gill Sans MT"/>
                        <a:cs typeface="Gill Sans MT"/>
                      </a:endParaRPr>
                    </a:p>
                  </a:txBody>
                  <a:tcPr marL="0" marR="0" marT="38735" marB="0">
                    <a:solidFill>
                      <a:srgbClr val="D79F39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1200" spc="-10" dirty="0">
                          <a:latin typeface="Gill Sans MT"/>
                          <a:cs typeface="Gill Sans MT"/>
                        </a:rPr>
                        <a:t>Read(Z)</a:t>
                      </a:r>
                      <a:endParaRPr sz="1200">
                        <a:latin typeface="Gill Sans MT"/>
                        <a:cs typeface="Gill Sans MT"/>
                      </a:endParaRPr>
                    </a:p>
                  </a:txBody>
                  <a:tcPr marL="0" marR="0" marT="38735" marB="0"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79F3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79F3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D79F3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10" dirty="0">
                          <a:latin typeface="Gill Sans MT"/>
                          <a:cs typeface="Gill Sans MT"/>
                        </a:rPr>
                        <a:t>Write(W)</a:t>
                      </a:r>
                      <a:endParaRPr sz="1200">
                        <a:latin typeface="Gill Sans MT"/>
                        <a:cs typeface="Gill Sans MT"/>
                      </a:endParaRPr>
                    </a:p>
                  </a:txBody>
                  <a:tcPr marL="0" marR="0" marT="39370" marB="0">
                    <a:solidFill>
                      <a:srgbClr val="D79F39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R="446405" algn="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10" dirty="0">
                          <a:latin typeface="Gill Sans MT"/>
                          <a:cs typeface="Gill Sans MT"/>
                        </a:rPr>
                        <a:t>Read(Z)</a:t>
                      </a:r>
                      <a:endParaRPr sz="1200">
                        <a:latin typeface="Gill Sans MT"/>
                        <a:cs typeface="Gill Sans MT"/>
                      </a:endParaRPr>
                    </a:p>
                  </a:txBody>
                  <a:tcPr marL="0" marR="0" marT="393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R="434340" algn="r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1200" spc="-10" dirty="0">
                          <a:latin typeface="Gill Sans MT"/>
                          <a:cs typeface="Gill Sans MT"/>
                        </a:rPr>
                        <a:t>Write(Z)</a:t>
                      </a:r>
                      <a:endParaRPr sz="1200">
                        <a:latin typeface="Gill Sans MT"/>
                        <a:cs typeface="Gill Sans MT"/>
                      </a:endParaRPr>
                    </a:p>
                  </a:txBody>
                  <a:tcPr marL="0" marR="0" marT="39370" marB="0">
                    <a:lnB w="12700">
                      <a:solidFill>
                        <a:srgbClr val="D79F39"/>
                      </a:solidFill>
                      <a:prstDash val="solid"/>
                    </a:lnB>
                    <a:solidFill>
                      <a:srgbClr val="D79F3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D79F39"/>
                      </a:solidFill>
                      <a:prstDash val="solid"/>
                    </a:lnB>
                    <a:solidFill>
                      <a:srgbClr val="D79F3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D79F39"/>
                      </a:solidFill>
                      <a:prstDash val="solid"/>
                    </a:lnB>
                    <a:solidFill>
                      <a:srgbClr val="D79F39">
                        <a:alpha val="1999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D79F39"/>
                      </a:solidFill>
                      <a:prstDash val="solid"/>
                    </a:lnB>
                    <a:solidFill>
                      <a:srgbClr val="D79F39">
                        <a:alpha val="19999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  <p:sp>
        <p:nvSpPr>
          <p:cNvPr id="5" name="object 5"/>
          <p:cNvSpPr/>
          <p:nvPr/>
        </p:nvSpPr>
        <p:spPr>
          <a:xfrm>
            <a:off x="5510021" y="1130046"/>
            <a:ext cx="494030" cy="486409"/>
          </a:xfrm>
          <a:custGeom>
            <a:avLst/>
            <a:gdLst/>
            <a:ahLst/>
            <a:cxnLst/>
            <a:rect l="l" t="t" r="r" b="b"/>
            <a:pathLst>
              <a:path w="494029" h="486409">
                <a:moveTo>
                  <a:pt x="0" y="243077"/>
                </a:moveTo>
                <a:lnTo>
                  <a:pt x="5014" y="194091"/>
                </a:lnTo>
                <a:lnTo>
                  <a:pt x="19395" y="148464"/>
                </a:lnTo>
                <a:lnTo>
                  <a:pt x="42152" y="107174"/>
                </a:lnTo>
                <a:lnTo>
                  <a:pt x="72294" y="71199"/>
                </a:lnTo>
                <a:lnTo>
                  <a:pt x="108830" y="41516"/>
                </a:lnTo>
                <a:lnTo>
                  <a:pt x="150768" y="19103"/>
                </a:lnTo>
                <a:lnTo>
                  <a:pt x="197118" y="4938"/>
                </a:lnTo>
                <a:lnTo>
                  <a:pt x="246887" y="0"/>
                </a:lnTo>
                <a:lnTo>
                  <a:pt x="296657" y="4938"/>
                </a:lnTo>
                <a:lnTo>
                  <a:pt x="343007" y="19103"/>
                </a:lnTo>
                <a:lnTo>
                  <a:pt x="384945" y="41516"/>
                </a:lnTo>
                <a:lnTo>
                  <a:pt x="421481" y="71199"/>
                </a:lnTo>
                <a:lnTo>
                  <a:pt x="451623" y="107174"/>
                </a:lnTo>
                <a:lnTo>
                  <a:pt x="474380" y="148464"/>
                </a:lnTo>
                <a:lnTo>
                  <a:pt x="488761" y="194091"/>
                </a:lnTo>
                <a:lnTo>
                  <a:pt x="493775" y="243077"/>
                </a:lnTo>
                <a:lnTo>
                  <a:pt x="488761" y="292064"/>
                </a:lnTo>
                <a:lnTo>
                  <a:pt x="474380" y="337691"/>
                </a:lnTo>
                <a:lnTo>
                  <a:pt x="451623" y="378981"/>
                </a:lnTo>
                <a:lnTo>
                  <a:pt x="421481" y="414956"/>
                </a:lnTo>
                <a:lnTo>
                  <a:pt x="384945" y="444639"/>
                </a:lnTo>
                <a:lnTo>
                  <a:pt x="343007" y="467052"/>
                </a:lnTo>
                <a:lnTo>
                  <a:pt x="296657" y="481217"/>
                </a:lnTo>
                <a:lnTo>
                  <a:pt x="246887" y="486155"/>
                </a:lnTo>
                <a:lnTo>
                  <a:pt x="197118" y="481217"/>
                </a:lnTo>
                <a:lnTo>
                  <a:pt x="150768" y="467052"/>
                </a:lnTo>
                <a:lnTo>
                  <a:pt x="108830" y="444639"/>
                </a:lnTo>
                <a:lnTo>
                  <a:pt x="72294" y="414956"/>
                </a:lnTo>
                <a:lnTo>
                  <a:pt x="42152" y="378981"/>
                </a:lnTo>
                <a:lnTo>
                  <a:pt x="19395" y="337691"/>
                </a:lnTo>
                <a:lnTo>
                  <a:pt x="5014" y="292064"/>
                </a:lnTo>
                <a:lnTo>
                  <a:pt x="0" y="243077"/>
                </a:lnTo>
                <a:close/>
              </a:path>
            </a:pathLst>
          </a:custGeom>
          <a:ln w="25400">
            <a:solidFill>
              <a:srgbClr val="D79F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643117" y="1264411"/>
            <a:ext cx="227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Arial"/>
                <a:cs typeface="Arial"/>
              </a:rPr>
              <a:t>T</a:t>
            </a:r>
            <a:r>
              <a:rPr sz="1200" spc="-37" baseline="-20833" dirty="0">
                <a:latin typeface="Arial"/>
                <a:cs typeface="Arial"/>
              </a:rPr>
              <a:t>1</a:t>
            </a:r>
            <a:endParaRPr sz="1200" baseline="-20833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628381" y="1162050"/>
            <a:ext cx="494030" cy="486409"/>
          </a:xfrm>
          <a:custGeom>
            <a:avLst/>
            <a:gdLst/>
            <a:ahLst/>
            <a:cxnLst/>
            <a:rect l="l" t="t" r="r" b="b"/>
            <a:pathLst>
              <a:path w="494029" h="486410">
                <a:moveTo>
                  <a:pt x="0" y="243077"/>
                </a:moveTo>
                <a:lnTo>
                  <a:pt x="5014" y="194091"/>
                </a:lnTo>
                <a:lnTo>
                  <a:pt x="19395" y="148464"/>
                </a:lnTo>
                <a:lnTo>
                  <a:pt x="42152" y="107174"/>
                </a:lnTo>
                <a:lnTo>
                  <a:pt x="72294" y="71199"/>
                </a:lnTo>
                <a:lnTo>
                  <a:pt x="108830" y="41516"/>
                </a:lnTo>
                <a:lnTo>
                  <a:pt x="150768" y="19103"/>
                </a:lnTo>
                <a:lnTo>
                  <a:pt x="197118" y="4938"/>
                </a:lnTo>
                <a:lnTo>
                  <a:pt x="246888" y="0"/>
                </a:lnTo>
                <a:lnTo>
                  <a:pt x="296657" y="4938"/>
                </a:lnTo>
                <a:lnTo>
                  <a:pt x="343007" y="19103"/>
                </a:lnTo>
                <a:lnTo>
                  <a:pt x="384945" y="41516"/>
                </a:lnTo>
                <a:lnTo>
                  <a:pt x="421481" y="71199"/>
                </a:lnTo>
                <a:lnTo>
                  <a:pt x="451623" y="107174"/>
                </a:lnTo>
                <a:lnTo>
                  <a:pt x="474380" y="148464"/>
                </a:lnTo>
                <a:lnTo>
                  <a:pt x="488761" y="194091"/>
                </a:lnTo>
                <a:lnTo>
                  <a:pt x="493775" y="243077"/>
                </a:lnTo>
                <a:lnTo>
                  <a:pt x="488761" y="292064"/>
                </a:lnTo>
                <a:lnTo>
                  <a:pt x="474380" y="337691"/>
                </a:lnTo>
                <a:lnTo>
                  <a:pt x="451623" y="378981"/>
                </a:lnTo>
                <a:lnTo>
                  <a:pt x="421481" y="414956"/>
                </a:lnTo>
                <a:lnTo>
                  <a:pt x="384945" y="444639"/>
                </a:lnTo>
                <a:lnTo>
                  <a:pt x="343007" y="467052"/>
                </a:lnTo>
                <a:lnTo>
                  <a:pt x="296657" y="481217"/>
                </a:lnTo>
                <a:lnTo>
                  <a:pt x="246888" y="486155"/>
                </a:lnTo>
                <a:lnTo>
                  <a:pt x="197118" y="481217"/>
                </a:lnTo>
                <a:lnTo>
                  <a:pt x="150768" y="467052"/>
                </a:lnTo>
                <a:lnTo>
                  <a:pt x="108830" y="444639"/>
                </a:lnTo>
                <a:lnTo>
                  <a:pt x="72294" y="414956"/>
                </a:lnTo>
                <a:lnTo>
                  <a:pt x="42152" y="378981"/>
                </a:lnTo>
                <a:lnTo>
                  <a:pt x="19395" y="337691"/>
                </a:lnTo>
                <a:lnTo>
                  <a:pt x="5014" y="292064"/>
                </a:lnTo>
                <a:lnTo>
                  <a:pt x="0" y="243077"/>
                </a:lnTo>
                <a:close/>
              </a:path>
            </a:pathLst>
          </a:custGeom>
          <a:ln w="25400">
            <a:solidFill>
              <a:srgbClr val="D79F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761478" y="1295780"/>
            <a:ext cx="227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Arial"/>
                <a:cs typeface="Arial"/>
              </a:rPr>
              <a:t>T</a:t>
            </a:r>
            <a:r>
              <a:rPr sz="1200" spc="-37" baseline="-20833" dirty="0">
                <a:latin typeface="Arial"/>
                <a:cs typeface="Arial"/>
              </a:rPr>
              <a:t>2</a:t>
            </a:r>
            <a:endParaRPr sz="1200" baseline="-20833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960364" y="1306093"/>
            <a:ext cx="2174875" cy="1492250"/>
            <a:chOff x="5960364" y="1306093"/>
            <a:chExt cx="2174875" cy="149225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960364" y="1306093"/>
              <a:ext cx="1783080" cy="23467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003544" y="1361186"/>
              <a:ext cx="1624965" cy="81280"/>
            </a:xfrm>
            <a:custGeom>
              <a:avLst/>
              <a:gdLst/>
              <a:ahLst/>
              <a:cxnLst/>
              <a:rect l="l" t="t" r="r" b="b"/>
              <a:pathLst>
                <a:path w="1624965" h="81280">
                  <a:moveTo>
                    <a:pt x="1549527" y="4699"/>
                  </a:moveTo>
                  <a:lnTo>
                    <a:pt x="1549147" y="25400"/>
                  </a:lnTo>
                  <a:lnTo>
                    <a:pt x="1549061" y="30106"/>
                  </a:lnTo>
                  <a:lnTo>
                    <a:pt x="1561719" y="30352"/>
                  </a:lnTo>
                  <a:lnTo>
                    <a:pt x="1561215" y="55507"/>
                  </a:lnTo>
                  <a:lnTo>
                    <a:pt x="1561210" y="55752"/>
                  </a:lnTo>
                  <a:lnTo>
                    <a:pt x="1548591" y="55752"/>
                  </a:lnTo>
                  <a:lnTo>
                    <a:pt x="1548129" y="80899"/>
                  </a:lnTo>
                  <a:lnTo>
                    <a:pt x="1600771" y="55752"/>
                  </a:lnTo>
                  <a:lnTo>
                    <a:pt x="1561210" y="55752"/>
                  </a:lnTo>
                  <a:lnTo>
                    <a:pt x="1548595" y="55507"/>
                  </a:lnTo>
                  <a:lnTo>
                    <a:pt x="1601284" y="55507"/>
                  </a:lnTo>
                  <a:lnTo>
                    <a:pt x="1624964" y="44196"/>
                  </a:lnTo>
                  <a:lnTo>
                    <a:pt x="1549527" y="4699"/>
                  </a:lnTo>
                  <a:close/>
                </a:path>
                <a:path w="1624965" h="81280">
                  <a:moveTo>
                    <a:pt x="1549061" y="30106"/>
                  </a:moveTo>
                  <a:lnTo>
                    <a:pt x="1548595" y="55507"/>
                  </a:lnTo>
                  <a:lnTo>
                    <a:pt x="1561210" y="55752"/>
                  </a:lnTo>
                  <a:lnTo>
                    <a:pt x="1561719" y="30352"/>
                  </a:lnTo>
                  <a:lnTo>
                    <a:pt x="1549061" y="30106"/>
                  </a:lnTo>
                  <a:close/>
                </a:path>
                <a:path w="1624965" h="81280">
                  <a:moveTo>
                    <a:pt x="507" y="0"/>
                  </a:moveTo>
                  <a:lnTo>
                    <a:pt x="0" y="25400"/>
                  </a:lnTo>
                  <a:lnTo>
                    <a:pt x="1548595" y="55507"/>
                  </a:lnTo>
                  <a:lnTo>
                    <a:pt x="1549056" y="30352"/>
                  </a:lnTo>
                  <a:lnTo>
                    <a:pt x="1549061" y="30106"/>
                  </a:lnTo>
                  <a:lnTo>
                    <a:pt x="507" y="0"/>
                  </a:lnTo>
                  <a:close/>
                </a:path>
              </a:pathLst>
            </a:custGeom>
            <a:solidFill>
              <a:srgbClr val="D79F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628382" y="2298954"/>
              <a:ext cx="494030" cy="486409"/>
            </a:xfrm>
            <a:custGeom>
              <a:avLst/>
              <a:gdLst/>
              <a:ahLst/>
              <a:cxnLst/>
              <a:rect l="l" t="t" r="r" b="b"/>
              <a:pathLst>
                <a:path w="494029" h="486410">
                  <a:moveTo>
                    <a:pt x="0" y="243077"/>
                  </a:moveTo>
                  <a:lnTo>
                    <a:pt x="5014" y="194091"/>
                  </a:lnTo>
                  <a:lnTo>
                    <a:pt x="19395" y="148464"/>
                  </a:lnTo>
                  <a:lnTo>
                    <a:pt x="42152" y="107174"/>
                  </a:lnTo>
                  <a:lnTo>
                    <a:pt x="72294" y="71199"/>
                  </a:lnTo>
                  <a:lnTo>
                    <a:pt x="108830" y="41516"/>
                  </a:lnTo>
                  <a:lnTo>
                    <a:pt x="150768" y="19103"/>
                  </a:lnTo>
                  <a:lnTo>
                    <a:pt x="197118" y="4938"/>
                  </a:lnTo>
                  <a:lnTo>
                    <a:pt x="246888" y="0"/>
                  </a:lnTo>
                  <a:lnTo>
                    <a:pt x="296657" y="4938"/>
                  </a:lnTo>
                  <a:lnTo>
                    <a:pt x="343007" y="19103"/>
                  </a:lnTo>
                  <a:lnTo>
                    <a:pt x="384945" y="41516"/>
                  </a:lnTo>
                  <a:lnTo>
                    <a:pt x="421481" y="71199"/>
                  </a:lnTo>
                  <a:lnTo>
                    <a:pt x="451623" y="107174"/>
                  </a:lnTo>
                  <a:lnTo>
                    <a:pt x="474380" y="148464"/>
                  </a:lnTo>
                  <a:lnTo>
                    <a:pt x="488761" y="194091"/>
                  </a:lnTo>
                  <a:lnTo>
                    <a:pt x="493775" y="243077"/>
                  </a:lnTo>
                  <a:lnTo>
                    <a:pt x="488761" y="292064"/>
                  </a:lnTo>
                  <a:lnTo>
                    <a:pt x="474380" y="337691"/>
                  </a:lnTo>
                  <a:lnTo>
                    <a:pt x="451623" y="378981"/>
                  </a:lnTo>
                  <a:lnTo>
                    <a:pt x="421481" y="414956"/>
                  </a:lnTo>
                  <a:lnTo>
                    <a:pt x="384945" y="444639"/>
                  </a:lnTo>
                  <a:lnTo>
                    <a:pt x="343007" y="467052"/>
                  </a:lnTo>
                  <a:lnTo>
                    <a:pt x="296657" y="481217"/>
                  </a:lnTo>
                  <a:lnTo>
                    <a:pt x="246888" y="486156"/>
                  </a:lnTo>
                  <a:lnTo>
                    <a:pt x="197118" y="481217"/>
                  </a:lnTo>
                  <a:lnTo>
                    <a:pt x="150768" y="467052"/>
                  </a:lnTo>
                  <a:lnTo>
                    <a:pt x="108830" y="444639"/>
                  </a:lnTo>
                  <a:lnTo>
                    <a:pt x="72294" y="414956"/>
                  </a:lnTo>
                  <a:lnTo>
                    <a:pt x="42152" y="378981"/>
                  </a:lnTo>
                  <a:lnTo>
                    <a:pt x="19395" y="337691"/>
                  </a:lnTo>
                  <a:lnTo>
                    <a:pt x="5014" y="292064"/>
                  </a:lnTo>
                  <a:lnTo>
                    <a:pt x="0" y="243077"/>
                  </a:lnTo>
                  <a:close/>
                </a:path>
              </a:pathLst>
            </a:custGeom>
            <a:ln w="25400">
              <a:solidFill>
                <a:srgbClr val="D79F3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761478" y="2432685"/>
            <a:ext cx="22796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latin typeface="Arial"/>
                <a:cs typeface="Arial"/>
              </a:rPr>
              <a:t>T</a:t>
            </a:r>
            <a:r>
              <a:rPr sz="1200" spc="-37" baseline="-20833" dirty="0">
                <a:latin typeface="Arial"/>
                <a:cs typeface="Arial"/>
              </a:rPr>
              <a:t>3</a:t>
            </a:r>
            <a:endParaRPr sz="1200" baseline="-20833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506973" y="2298954"/>
            <a:ext cx="494030" cy="486409"/>
          </a:xfrm>
          <a:custGeom>
            <a:avLst/>
            <a:gdLst/>
            <a:ahLst/>
            <a:cxnLst/>
            <a:rect l="l" t="t" r="r" b="b"/>
            <a:pathLst>
              <a:path w="494029" h="486410">
                <a:moveTo>
                  <a:pt x="0" y="243077"/>
                </a:moveTo>
                <a:lnTo>
                  <a:pt x="5014" y="194091"/>
                </a:lnTo>
                <a:lnTo>
                  <a:pt x="19395" y="148464"/>
                </a:lnTo>
                <a:lnTo>
                  <a:pt x="42152" y="107174"/>
                </a:lnTo>
                <a:lnTo>
                  <a:pt x="72294" y="71199"/>
                </a:lnTo>
                <a:lnTo>
                  <a:pt x="108830" y="41516"/>
                </a:lnTo>
                <a:lnTo>
                  <a:pt x="150768" y="19103"/>
                </a:lnTo>
                <a:lnTo>
                  <a:pt x="197118" y="4938"/>
                </a:lnTo>
                <a:lnTo>
                  <a:pt x="246887" y="0"/>
                </a:lnTo>
                <a:lnTo>
                  <a:pt x="296657" y="4938"/>
                </a:lnTo>
                <a:lnTo>
                  <a:pt x="343007" y="19103"/>
                </a:lnTo>
                <a:lnTo>
                  <a:pt x="384945" y="41516"/>
                </a:lnTo>
                <a:lnTo>
                  <a:pt x="421481" y="71199"/>
                </a:lnTo>
                <a:lnTo>
                  <a:pt x="451623" y="107174"/>
                </a:lnTo>
                <a:lnTo>
                  <a:pt x="474380" y="148464"/>
                </a:lnTo>
                <a:lnTo>
                  <a:pt x="488761" y="194091"/>
                </a:lnTo>
                <a:lnTo>
                  <a:pt x="493775" y="243077"/>
                </a:lnTo>
                <a:lnTo>
                  <a:pt x="488761" y="292064"/>
                </a:lnTo>
                <a:lnTo>
                  <a:pt x="474380" y="337691"/>
                </a:lnTo>
                <a:lnTo>
                  <a:pt x="451623" y="378981"/>
                </a:lnTo>
                <a:lnTo>
                  <a:pt x="421481" y="414956"/>
                </a:lnTo>
                <a:lnTo>
                  <a:pt x="384945" y="444639"/>
                </a:lnTo>
                <a:lnTo>
                  <a:pt x="343007" y="467052"/>
                </a:lnTo>
                <a:lnTo>
                  <a:pt x="296657" y="481217"/>
                </a:lnTo>
                <a:lnTo>
                  <a:pt x="246887" y="486156"/>
                </a:lnTo>
                <a:lnTo>
                  <a:pt x="197118" y="481217"/>
                </a:lnTo>
                <a:lnTo>
                  <a:pt x="150768" y="467052"/>
                </a:lnTo>
                <a:lnTo>
                  <a:pt x="108830" y="444639"/>
                </a:lnTo>
                <a:lnTo>
                  <a:pt x="72294" y="414956"/>
                </a:lnTo>
                <a:lnTo>
                  <a:pt x="42152" y="378981"/>
                </a:lnTo>
                <a:lnTo>
                  <a:pt x="19395" y="337691"/>
                </a:lnTo>
                <a:lnTo>
                  <a:pt x="5014" y="292064"/>
                </a:lnTo>
                <a:lnTo>
                  <a:pt x="0" y="243077"/>
                </a:lnTo>
                <a:close/>
              </a:path>
            </a:pathLst>
          </a:custGeom>
          <a:ln w="25400">
            <a:solidFill>
              <a:srgbClr val="D79F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646165" y="2440305"/>
            <a:ext cx="21526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100" spc="-25" dirty="0">
                <a:latin typeface="Arial"/>
                <a:cs typeface="Arial"/>
              </a:rPr>
              <a:t>T</a:t>
            </a:r>
            <a:r>
              <a:rPr sz="1050" spc="-37" baseline="-19841" dirty="0">
                <a:latin typeface="Arial"/>
                <a:cs typeface="Arial"/>
              </a:rPr>
              <a:t>4</a:t>
            </a:r>
            <a:endParaRPr sz="1050" baseline="-19841">
              <a:latin typeface="Arial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637276" y="1510296"/>
            <a:ext cx="2353310" cy="1165860"/>
            <a:chOff x="5637276" y="1510296"/>
            <a:chExt cx="2353310" cy="1165860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84164" y="1510296"/>
              <a:ext cx="1932432" cy="99363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926836" y="1533016"/>
              <a:ext cx="1774825" cy="838200"/>
            </a:xfrm>
            <a:custGeom>
              <a:avLst/>
              <a:gdLst/>
              <a:ahLst/>
              <a:cxnLst/>
              <a:rect l="l" t="t" r="r" b="b"/>
              <a:pathLst>
                <a:path w="1774825" h="838200">
                  <a:moveTo>
                    <a:pt x="1700186" y="815180"/>
                  </a:moveTo>
                  <a:lnTo>
                    <a:pt x="1689481" y="838200"/>
                  </a:lnTo>
                  <a:lnTo>
                    <a:pt x="1774570" y="835787"/>
                  </a:lnTo>
                  <a:lnTo>
                    <a:pt x="1762466" y="820547"/>
                  </a:lnTo>
                  <a:lnTo>
                    <a:pt x="1711706" y="820547"/>
                  </a:lnTo>
                  <a:lnTo>
                    <a:pt x="1700186" y="815180"/>
                  </a:lnTo>
                  <a:close/>
                </a:path>
                <a:path w="1774825" h="838200">
                  <a:moveTo>
                    <a:pt x="1710873" y="792201"/>
                  </a:moveTo>
                  <a:lnTo>
                    <a:pt x="1700186" y="815180"/>
                  </a:lnTo>
                  <a:lnTo>
                    <a:pt x="1711706" y="820547"/>
                  </a:lnTo>
                  <a:lnTo>
                    <a:pt x="1722373" y="797560"/>
                  </a:lnTo>
                  <a:lnTo>
                    <a:pt x="1710873" y="792201"/>
                  </a:lnTo>
                  <a:close/>
                </a:path>
                <a:path w="1774825" h="838200">
                  <a:moveTo>
                    <a:pt x="1721612" y="769112"/>
                  </a:moveTo>
                  <a:lnTo>
                    <a:pt x="1710873" y="792201"/>
                  </a:lnTo>
                  <a:lnTo>
                    <a:pt x="1722373" y="797560"/>
                  </a:lnTo>
                  <a:lnTo>
                    <a:pt x="1711706" y="820547"/>
                  </a:lnTo>
                  <a:lnTo>
                    <a:pt x="1762466" y="820547"/>
                  </a:lnTo>
                  <a:lnTo>
                    <a:pt x="1721612" y="769112"/>
                  </a:lnTo>
                  <a:close/>
                </a:path>
                <a:path w="1774825" h="838200">
                  <a:moveTo>
                    <a:pt x="10667" y="0"/>
                  </a:moveTo>
                  <a:lnTo>
                    <a:pt x="0" y="23113"/>
                  </a:lnTo>
                  <a:lnTo>
                    <a:pt x="1700186" y="815180"/>
                  </a:lnTo>
                  <a:lnTo>
                    <a:pt x="1710873" y="792201"/>
                  </a:lnTo>
                  <a:lnTo>
                    <a:pt x="10667" y="0"/>
                  </a:lnTo>
                  <a:close/>
                </a:path>
              </a:pathLst>
            </a:custGeom>
            <a:solidFill>
              <a:srgbClr val="D79F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755636" y="1626095"/>
              <a:ext cx="234670" cy="80773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7837170" y="1648205"/>
              <a:ext cx="76200" cy="650875"/>
            </a:xfrm>
            <a:custGeom>
              <a:avLst/>
              <a:gdLst/>
              <a:ahLst/>
              <a:cxnLst/>
              <a:rect l="l" t="t" r="r" b="b"/>
              <a:pathLst>
                <a:path w="76200" h="650875">
                  <a:moveTo>
                    <a:pt x="25400" y="574167"/>
                  </a:moveTo>
                  <a:lnTo>
                    <a:pt x="0" y="574167"/>
                  </a:lnTo>
                  <a:lnTo>
                    <a:pt x="38100" y="650367"/>
                  </a:lnTo>
                  <a:lnTo>
                    <a:pt x="69850" y="586867"/>
                  </a:lnTo>
                  <a:lnTo>
                    <a:pt x="25400" y="586867"/>
                  </a:lnTo>
                  <a:lnTo>
                    <a:pt x="25400" y="574167"/>
                  </a:lnTo>
                  <a:close/>
                </a:path>
                <a:path w="76200" h="650875">
                  <a:moveTo>
                    <a:pt x="50800" y="0"/>
                  </a:moveTo>
                  <a:lnTo>
                    <a:pt x="25400" y="0"/>
                  </a:lnTo>
                  <a:lnTo>
                    <a:pt x="25400" y="586867"/>
                  </a:lnTo>
                  <a:lnTo>
                    <a:pt x="50800" y="586867"/>
                  </a:lnTo>
                  <a:lnTo>
                    <a:pt x="50800" y="0"/>
                  </a:lnTo>
                  <a:close/>
                </a:path>
                <a:path w="76200" h="650875">
                  <a:moveTo>
                    <a:pt x="76200" y="574167"/>
                  </a:moveTo>
                  <a:lnTo>
                    <a:pt x="50800" y="574167"/>
                  </a:lnTo>
                  <a:lnTo>
                    <a:pt x="50800" y="586867"/>
                  </a:lnTo>
                  <a:lnTo>
                    <a:pt x="69850" y="586867"/>
                  </a:lnTo>
                  <a:lnTo>
                    <a:pt x="76200" y="574167"/>
                  </a:lnTo>
                  <a:close/>
                </a:path>
              </a:pathLst>
            </a:custGeom>
            <a:solidFill>
              <a:srgbClr val="D79F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81116" y="2441473"/>
              <a:ext cx="1786128" cy="234670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000750" y="2503169"/>
              <a:ext cx="1628139" cy="76200"/>
            </a:xfrm>
            <a:custGeom>
              <a:avLst/>
              <a:gdLst/>
              <a:ahLst/>
              <a:cxnLst/>
              <a:rect l="l" t="t" r="r" b="b"/>
              <a:pathLst>
                <a:path w="162814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50800"/>
                  </a:lnTo>
                  <a:lnTo>
                    <a:pt x="63500" y="50800"/>
                  </a:lnTo>
                  <a:lnTo>
                    <a:pt x="63500" y="25400"/>
                  </a:lnTo>
                  <a:lnTo>
                    <a:pt x="76200" y="25400"/>
                  </a:lnTo>
                  <a:lnTo>
                    <a:pt x="76200" y="0"/>
                  </a:lnTo>
                  <a:close/>
                </a:path>
                <a:path w="1628140" h="76200">
                  <a:moveTo>
                    <a:pt x="76200" y="25400"/>
                  </a:moveTo>
                  <a:lnTo>
                    <a:pt x="63500" y="25400"/>
                  </a:lnTo>
                  <a:lnTo>
                    <a:pt x="63500" y="50800"/>
                  </a:lnTo>
                  <a:lnTo>
                    <a:pt x="76200" y="50800"/>
                  </a:lnTo>
                  <a:lnTo>
                    <a:pt x="76200" y="25400"/>
                  </a:lnTo>
                  <a:close/>
                </a:path>
                <a:path w="1628140" h="76200">
                  <a:moveTo>
                    <a:pt x="1627758" y="25400"/>
                  </a:moveTo>
                  <a:lnTo>
                    <a:pt x="76200" y="25400"/>
                  </a:lnTo>
                  <a:lnTo>
                    <a:pt x="76200" y="50800"/>
                  </a:lnTo>
                  <a:lnTo>
                    <a:pt x="1627758" y="50800"/>
                  </a:lnTo>
                  <a:lnTo>
                    <a:pt x="1627758" y="25400"/>
                  </a:lnTo>
                  <a:close/>
                </a:path>
              </a:pathLst>
            </a:custGeom>
            <a:solidFill>
              <a:srgbClr val="D79F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37276" y="1516392"/>
              <a:ext cx="234670" cy="839711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718300" y="1616201"/>
              <a:ext cx="76835" cy="681990"/>
            </a:xfrm>
            <a:custGeom>
              <a:avLst/>
              <a:gdLst/>
              <a:ahLst/>
              <a:cxnLst/>
              <a:rect l="l" t="t" r="r" b="b"/>
              <a:pathLst>
                <a:path w="76835" h="681989">
                  <a:moveTo>
                    <a:pt x="51055" y="63500"/>
                  </a:moveTo>
                  <a:lnTo>
                    <a:pt x="25655" y="63500"/>
                  </a:lnTo>
                  <a:lnTo>
                    <a:pt x="22861" y="681863"/>
                  </a:lnTo>
                  <a:lnTo>
                    <a:pt x="48261" y="681863"/>
                  </a:lnTo>
                  <a:lnTo>
                    <a:pt x="50997" y="76326"/>
                  </a:lnTo>
                  <a:lnTo>
                    <a:pt x="51055" y="63500"/>
                  </a:lnTo>
                  <a:close/>
                </a:path>
                <a:path w="76835" h="681989">
                  <a:moveTo>
                    <a:pt x="38609" y="0"/>
                  </a:moveTo>
                  <a:lnTo>
                    <a:pt x="0" y="76326"/>
                  </a:lnTo>
                  <a:lnTo>
                    <a:pt x="25597" y="76326"/>
                  </a:lnTo>
                  <a:lnTo>
                    <a:pt x="25655" y="63500"/>
                  </a:lnTo>
                  <a:lnTo>
                    <a:pt x="69989" y="63500"/>
                  </a:lnTo>
                  <a:lnTo>
                    <a:pt x="38609" y="0"/>
                  </a:lnTo>
                  <a:close/>
                </a:path>
                <a:path w="76835" h="681989">
                  <a:moveTo>
                    <a:pt x="69989" y="63500"/>
                  </a:moveTo>
                  <a:lnTo>
                    <a:pt x="51055" y="63500"/>
                  </a:lnTo>
                  <a:lnTo>
                    <a:pt x="50997" y="76326"/>
                  </a:lnTo>
                  <a:lnTo>
                    <a:pt x="76328" y="76326"/>
                  </a:lnTo>
                  <a:lnTo>
                    <a:pt x="69989" y="63500"/>
                  </a:lnTo>
                  <a:close/>
                </a:path>
              </a:pathLst>
            </a:custGeom>
            <a:solidFill>
              <a:srgbClr val="D79F3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846954" y="3674745"/>
            <a:ext cx="267208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200" spc="45" dirty="0">
                <a:solidFill>
                  <a:srgbClr val="006FC0"/>
                </a:solidFill>
                <a:latin typeface="Gill Sans MT"/>
                <a:cs typeface="Gill Sans MT"/>
              </a:rPr>
              <a:t>Serializability</a:t>
            </a:r>
            <a:r>
              <a:rPr sz="1200" spc="-5" dirty="0">
                <a:solidFill>
                  <a:srgbClr val="006FC0"/>
                </a:solidFill>
                <a:latin typeface="Gill Sans MT"/>
                <a:cs typeface="Gill Sans MT"/>
              </a:rPr>
              <a:t> </a:t>
            </a:r>
            <a:r>
              <a:rPr sz="1200" spc="-10" dirty="0">
                <a:solidFill>
                  <a:srgbClr val="006FC0"/>
                </a:solidFill>
                <a:latin typeface="Gill Sans MT"/>
                <a:cs typeface="Gill Sans MT"/>
              </a:rPr>
              <a:t>Order:</a:t>
            </a:r>
            <a:endParaRPr sz="1200">
              <a:latin typeface="Gill Sans MT"/>
              <a:cs typeface="Gill Sans MT"/>
            </a:endParaRPr>
          </a:p>
          <a:p>
            <a:pPr marL="952500" algn="ctr">
              <a:lnSpc>
                <a:spcPct val="100000"/>
              </a:lnSpc>
            </a:pPr>
            <a:r>
              <a:rPr sz="1200" dirty="0">
                <a:latin typeface="Gill Sans MT"/>
                <a:cs typeface="Gill Sans MT"/>
              </a:rPr>
              <a:t>T</a:t>
            </a:r>
            <a:r>
              <a:rPr sz="1200" baseline="-20833" dirty="0">
                <a:latin typeface="Gill Sans MT"/>
                <a:cs typeface="Gill Sans MT"/>
              </a:rPr>
              <a:t>1</a:t>
            </a:r>
            <a:r>
              <a:rPr sz="1200" spc="127" baseline="-20833" dirty="0">
                <a:latin typeface="Gill Sans MT"/>
                <a:cs typeface="Gill Sans MT"/>
              </a:rPr>
              <a:t> </a:t>
            </a:r>
            <a:r>
              <a:rPr sz="1200" dirty="0">
                <a:latin typeface="Wingdings"/>
                <a:cs typeface="Wingdings"/>
              </a:rPr>
              <a:t>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Gill Sans MT"/>
                <a:cs typeface="Gill Sans MT"/>
              </a:rPr>
              <a:t>T</a:t>
            </a:r>
            <a:r>
              <a:rPr sz="1200" baseline="-20833" dirty="0">
                <a:latin typeface="Gill Sans MT"/>
                <a:cs typeface="Gill Sans MT"/>
              </a:rPr>
              <a:t>3</a:t>
            </a:r>
            <a:r>
              <a:rPr sz="1200" spc="135" baseline="-20833" dirty="0">
                <a:latin typeface="Gill Sans MT"/>
                <a:cs typeface="Gill Sans MT"/>
              </a:rPr>
              <a:t> </a:t>
            </a:r>
            <a:r>
              <a:rPr sz="1200" dirty="0">
                <a:latin typeface="Wingdings"/>
                <a:cs typeface="Wingdings"/>
              </a:rPr>
              <a:t>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Gill Sans MT"/>
                <a:cs typeface="Gill Sans MT"/>
              </a:rPr>
              <a:t>T</a:t>
            </a:r>
            <a:r>
              <a:rPr sz="1200" baseline="-20833" dirty="0">
                <a:latin typeface="Gill Sans MT"/>
                <a:cs typeface="Gill Sans MT"/>
              </a:rPr>
              <a:t>4</a:t>
            </a:r>
            <a:r>
              <a:rPr sz="1200" spc="104" baseline="-20833" dirty="0">
                <a:latin typeface="Gill Sans MT"/>
                <a:cs typeface="Gill Sans MT"/>
              </a:rPr>
              <a:t> </a:t>
            </a:r>
            <a:r>
              <a:rPr sz="1200" dirty="0">
                <a:latin typeface="Wingdings"/>
                <a:cs typeface="Wingdings"/>
              </a:rPr>
              <a:t>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Gill Sans MT"/>
                <a:cs typeface="Gill Sans MT"/>
              </a:rPr>
              <a:t>T</a:t>
            </a:r>
            <a:r>
              <a:rPr sz="1200" spc="-37" baseline="-20833" dirty="0">
                <a:latin typeface="Gill Sans MT"/>
                <a:cs typeface="Gill Sans MT"/>
              </a:rPr>
              <a:t>1</a:t>
            </a:r>
            <a:endParaRPr sz="1200" baseline="-20833">
              <a:latin typeface="Gill Sans MT"/>
              <a:cs typeface="Gill Sans MT"/>
            </a:endParaRPr>
          </a:p>
          <a:p>
            <a:pPr marL="38100">
              <a:lnSpc>
                <a:spcPct val="100000"/>
              </a:lnSpc>
            </a:pPr>
            <a:r>
              <a:rPr sz="1200" spc="-25" dirty="0">
                <a:latin typeface="Gill Sans MT"/>
                <a:cs typeface="Gill Sans MT"/>
              </a:rPr>
              <a:t>or,</a:t>
            </a:r>
            <a:endParaRPr sz="1200">
              <a:latin typeface="Gill Sans MT"/>
              <a:cs typeface="Gill Sans MT"/>
            </a:endParaRPr>
          </a:p>
          <a:p>
            <a:pPr marL="953769" algn="ctr">
              <a:lnSpc>
                <a:spcPct val="100000"/>
              </a:lnSpc>
            </a:pPr>
            <a:r>
              <a:rPr sz="1200" dirty="0">
                <a:latin typeface="Gill Sans MT"/>
                <a:cs typeface="Gill Sans MT"/>
              </a:rPr>
              <a:t>T</a:t>
            </a:r>
            <a:r>
              <a:rPr sz="1200" baseline="-20833" dirty="0">
                <a:latin typeface="Gill Sans MT"/>
                <a:cs typeface="Gill Sans MT"/>
              </a:rPr>
              <a:t>1</a:t>
            </a:r>
            <a:r>
              <a:rPr sz="1200" spc="127" baseline="-20833" dirty="0">
                <a:latin typeface="Gill Sans MT"/>
                <a:cs typeface="Gill Sans MT"/>
              </a:rPr>
              <a:t> </a:t>
            </a:r>
            <a:r>
              <a:rPr sz="1200" dirty="0">
                <a:latin typeface="Wingdings"/>
                <a:cs typeface="Wingdings"/>
              </a:rPr>
              <a:t>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Gill Sans MT"/>
                <a:cs typeface="Gill Sans MT"/>
              </a:rPr>
              <a:t>T</a:t>
            </a:r>
            <a:r>
              <a:rPr sz="1200" baseline="-20833" dirty="0">
                <a:latin typeface="Gill Sans MT"/>
                <a:cs typeface="Gill Sans MT"/>
              </a:rPr>
              <a:t>2</a:t>
            </a:r>
            <a:r>
              <a:rPr sz="1200" spc="135" baseline="-20833" dirty="0">
                <a:latin typeface="Gill Sans MT"/>
                <a:cs typeface="Gill Sans MT"/>
              </a:rPr>
              <a:t> </a:t>
            </a:r>
            <a:r>
              <a:rPr sz="1200" dirty="0">
                <a:latin typeface="Wingdings"/>
                <a:cs typeface="Wingdings"/>
              </a:rPr>
              <a:t>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Gill Sans MT"/>
                <a:cs typeface="Gill Sans MT"/>
              </a:rPr>
              <a:t>T</a:t>
            </a:r>
            <a:r>
              <a:rPr sz="1200" baseline="-20833" dirty="0">
                <a:latin typeface="Gill Sans MT"/>
                <a:cs typeface="Gill Sans MT"/>
              </a:rPr>
              <a:t>3</a:t>
            </a:r>
            <a:r>
              <a:rPr sz="1200" spc="104" baseline="-20833" dirty="0">
                <a:latin typeface="Gill Sans MT"/>
                <a:cs typeface="Gill Sans MT"/>
              </a:rPr>
              <a:t> </a:t>
            </a:r>
            <a:r>
              <a:rPr sz="1200" dirty="0">
                <a:latin typeface="Wingdings"/>
                <a:cs typeface="Wingdings"/>
              </a:rPr>
              <a:t>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Gill Sans MT"/>
                <a:cs typeface="Gill Sans MT"/>
              </a:rPr>
              <a:t>T</a:t>
            </a:r>
            <a:r>
              <a:rPr sz="1200" baseline="-20833" dirty="0">
                <a:latin typeface="Gill Sans MT"/>
                <a:cs typeface="Gill Sans MT"/>
              </a:rPr>
              <a:t>4</a:t>
            </a:r>
            <a:r>
              <a:rPr sz="1200" spc="127" baseline="-20833" dirty="0">
                <a:latin typeface="Gill Sans MT"/>
                <a:cs typeface="Gill Sans MT"/>
              </a:rPr>
              <a:t> </a:t>
            </a:r>
            <a:r>
              <a:rPr sz="1200" dirty="0">
                <a:latin typeface="Wingdings"/>
                <a:cs typeface="Wingdings"/>
              </a:rPr>
              <a:t>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35" dirty="0">
                <a:latin typeface="Gill Sans MT"/>
                <a:cs typeface="Gill Sans MT"/>
              </a:rPr>
              <a:t>T</a:t>
            </a:r>
            <a:r>
              <a:rPr sz="1200" spc="-52" baseline="-20833" dirty="0">
                <a:latin typeface="Gill Sans MT"/>
                <a:cs typeface="Gill Sans MT"/>
              </a:rPr>
              <a:t>1</a:t>
            </a:r>
            <a:endParaRPr sz="1200" baseline="-20833">
              <a:latin typeface="Gill Sans MT"/>
              <a:cs typeface="Gill Sans MT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20" dirty="0">
                <a:solidFill>
                  <a:srgbClr val="FF0000"/>
                </a:solidFill>
              </a:rPr>
              <a:t>Conflict</a:t>
            </a:r>
            <a:r>
              <a:rPr spc="-220" dirty="0">
                <a:solidFill>
                  <a:srgbClr val="FF0000"/>
                </a:solidFill>
              </a:rPr>
              <a:t> </a:t>
            </a:r>
            <a:r>
              <a:rPr spc="-135" dirty="0">
                <a:solidFill>
                  <a:srgbClr val="FF0000"/>
                </a:solidFill>
              </a:rPr>
              <a:t>Serializability</a:t>
            </a:r>
            <a:r>
              <a:rPr spc="-250" dirty="0">
                <a:solidFill>
                  <a:srgbClr val="FF0000"/>
                </a:solidFill>
              </a:rPr>
              <a:t> </a:t>
            </a:r>
            <a:r>
              <a:rPr spc="-160" dirty="0">
                <a:solidFill>
                  <a:srgbClr val="FF0000"/>
                </a:solidFill>
              </a:rPr>
              <a:t>Check</a:t>
            </a:r>
            <a:r>
              <a:rPr spc="-280" dirty="0">
                <a:solidFill>
                  <a:srgbClr val="FF0000"/>
                </a:solidFill>
              </a:rPr>
              <a:t> </a:t>
            </a:r>
            <a:r>
              <a:rPr spc="-210" dirty="0">
                <a:solidFill>
                  <a:srgbClr val="FF0000"/>
                </a:solidFill>
              </a:rPr>
              <a:t>–</a:t>
            </a:r>
            <a:r>
              <a:rPr spc="-245" dirty="0">
                <a:solidFill>
                  <a:srgbClr val="FF0000"/>
                </a:solidFill>
              </a:rPr>
              <a:t> </a:t>
            </a:r>
            <a:r>
              <a:rPr spc="-50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5" dirty="0">
                <a:solidFill>
                  <a:srgbClr val="FFFFFF"/>
                </a:solidFill>
                <a:latin typeface="Gill Sans MT"/>
                <a:cs typeface="Gill Sans MT"/>
              </a:rPr>
              <a:t>27</a:t>
            </a:r>
            <a:endParaRPr sz="1300">
              <a:latin typeface="Gill Sans MT"/>
              <a:cs typeface="Gill Sans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35380" y="1028700"/>
            <a:ext cx="5140452" cy="388924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Mohammad</a:t>
            </a:r>
            <a:r>
              <a:rPr spc="-60" dirty="0"/>
              <a:t> </a:t>
            </a:r>
            <a:r>
              <a:rPr dirty="0"/>
              <a:t>Imam</a:t>
            </a:r>
            <a:r>
              <a:rPr spc="-30" dirty="0"/>
              <a:t> </a:t>
            </a:r>
            <a:r>
              <a:rPr dirty="0"/>
              <a:t>Hossain,</a:t>
            </a:r>
            <a:r>
              <a:rPr spc="-20" dirty="0"/>
              <a:t> </a:t>
            </a:r>
            <a:r>
              <a:rPr dirty="0"/>
              <a:t>Lecturer,</a:t>
            </a:r>
            <a:r>
              <a:rPr spc="-30" dirty="0"/>
              <a:t> </a:t>
            </a:r>
            <a:r>
              <a:rPr dirty="0"/>
              <a:t>Dept.</a:t>
            </a:r>
            <a:r>
              <a:rPr spc="-3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CSE,</a:t>
            </a:r>
            <a:r>
              <a:rPr spc="-10" dirty="0"/>
              <a:t> </a:t>
            </a:r>
            <a:r>
              <a:rPr spc="-25" dirty="0"/>
              <a:t>UIU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3258185" cy="5143500"/>
            </a:xfrm>
            <a:custGeom>
              <a:avLst/>
              <a:gdLst/>
              <a:ahLst/>
              <a:cxnLst/>
              <a:rect l="l" t="t" r="r" b="b"/>
              <a:pathLst>
                <a:path w="3258185" h="5143500">
                  <a:moveTo>
                    <a:pt x="591569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3258065" y="5143500"/>
                  </a:lnTo>
                  <a:lnTo>
                    <a:pt x="591569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855344" cy="731520"/>
            </a:xfrm>
            <a:custGeom>
              <a:avLst/>
              <a:gdLst/>
              <a:ahLst/>
              <a:cxnLst/>
              <a:rect l="l" t="t" r="r" b="b"/>
              <a:pathLst>
                <a:path w="855344" h="731520">
                  <a:moveTo>
                    <a:pt x="477928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854963" y="731520"/>
                  </a:lnTo>
                  <a:lnTo>
                    <a:pt x="477928" y="0"/>
                  </a:lnTo>
                  <a:close/>
                </a:path>
              </a:pathLst>
            </a:custGeom>
            <a:solidFill>
              <a:srgbClr val="FF8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7189" y="0"/>
              <a:ext cx="513715" cy="739140"/>
            </a:xfrm>
            <a:custGeom>
              <a:avLst/>
              <a:gdLst/>
              <a:ahLst/>
              <a:cxnLst/>
              <a:rect l="l" t="t" r="r" b="b"/>
              <a:pathLst>
                <a:path w="513715" h="739140">
                  <a:moveTo>
                    <a:pt x="129489" y="0"/>
                  </a:moveTo>
                  <a:lnTo>
                    <a:pt x="0" y="0"/>
                  </a:lnTo>
                  <a:lnTo>
                    <a:pt x="383921" y="739139"/>
                  </a:lnTo>
                  <a:lnTo>
                    <a:pt x="513410" y="739139"/>
                  </a:lnTo>
                  <a:lnTo>
                    <a:pt x="1294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90600" y="4925567"/>
              <a:ext cx="8153400" cy="218440"/>
            </a:xfrm>
            <a:custGeom>
              <a:avLst/>
              <a:gdLst/>
              <a:ahLst/>
              <a:cxnLst/>
              <a:rect l="l" t="t" r="r" b="b"/>
              <a:pathLst>
                <a:path w="8153400" h="218439">
                  <a:moveTo>
                    <a:pt x="8153400" y="0"/>
                  </a:moveTo>
                  <a:lnTo>
                    <a:pt x="0" y="0"/>
                  </a:lnTo>
                  <a:lnTo>
                    <a:pt x="112319" y="217932"/>
                  </a:lnTo>
                  <a:lnTo>
                    <a:pt x="8153400" y="217932"/>
                  </a:lnTo>
                  <a:lnTo>
                    <a:pt x="8153400" y="0"/>
                  </a:lnTo>
                  <a:close/>
                </a:path>
              </a:pathLst>
            </a:custGeom>
            <a:solidFill>
              <a:srgbClr val="FF8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5" dirty="0">
                <a:solidFill>
                  <a:srgbClr val="FFFFFF"/>
                </a:solidFill>
                <a:latin typeface="Gill Sans MT"/>
                <a:cs typeface="Gill Sans MT"/>
              </a:rPr>
              <a:t>28</a:t>
            </a:r>
            <a:endParaRPr sz="1300">
              <a:latin typeface="Gill Sans MT"/>
              <a:cs typeface="Gill Sans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430" dirty="0">
                <a:solidFill>
                  <a:srgbClr val="FF8600"/>
                </a:solidFill>
              </a:rPr>
              <a:t>Simulator!!</a:t>
            </a:r>
            <a:endParaRPr sz="6000"/>
          </a:p>
        </p:txBody>
      </p:sp>
      <p:sp>
        <p:nvSpPr>
          <p:cNvPr id="10" name="object 10"/>
          <p:cNvSpPr txBox="1"/>
          <p:nvPr/>
        </p:nvSpPr>
        <p:spPr>
          <a:xfrm>
            <a:off x="1665223" y="2447620"/>
            <a:ext cx="46120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u="sng" spc="-20" dirty="0">
                <a:solidFill>
                  <a:srgbClr val="00AFEF"/>
                </a:solidFill>
                <a:uFill>
                  <a:solidFill>
                    <a:srgbClr val="00AFEF"/>
                  </a:solidFill>
                </a:uFill>
                <a:latin typeface="Gill Sans MT"/>
                <a:cs typeface="Gill Sans MT"/>
                <a:hlinkClick r:id="rId2"/>
              </a:rPr>
              <a:t>https://devimam.github.io/dbtxn/</a:t>
            </a:r>
            <a:endParaRPr sz="2400">
              <a:latin typeface="Gill Sans MT"/>
              <a:cs typeface="Gill Sans MT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21212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3258185" cy="5143500"/>
            </a:xfrm>
            <a:custGeom>
              <a:avLst/>
              <a:gdLst/>
              <a:ahLst/>
              <a:cxnLst/>
              <a:rect l="l" t="t" r="r" b="b"/>
              <a:pathLst>
                <a:path w="3258185" h="5143500">
                  <a:moveTo>
                    <a:pt x="591569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3258065" y="5143500"/>
                  </a:lnTo>
                  <a:lnTo>
                    <a:pt x="591569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855344" cy="731520"/>
            </a:xfrm>
            <a:custGeom>
              <a:avLst/>
              <a:gdLst/>
              <a:ahLst/>
              <a:cxnLst/>
              <a:rect l="l" t="t" r="r" b="b"/>
              <a:pathLst>
                <a:path w="855344" h="731520">
                  <a:moveTo>
                    <a:pt x="477928" y="0"/>
                  </a:moveTo>
                  <a:lnTo>
                    <a:pt x="0" y="0"/>
                  </a:lnTo>
                  <a:lnTo>
                    <a:pt x="0" y="731520"/>
                  </a:lnTo>
                  <a:lnTo>
                    <a:pt x="854963" y="731520"/>
                  </a:lnTo>
                  <a:lnTo>
                    <a:pt x="477928" y="0"/>
                  </a:lnTo>
                  <a:close/>
                </a:path>
              </a:pathLst>
            </a:custGeom>
            <a:solidFill>
              <a:srgbClr val="FF8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7189" y="0"/>
              <a:ext cx="513715" cy="739140"/>
            </a:xfrm>
            <a:custGeom>
              <a:avLst/>
              <a:gdLst/>
              <a:ahLst/>
              <a:cxnLst/>
              <a:rect l="l" t="t" r="r" b="b"/>
              <a:pathLst>
                <a:path w="513715" h="739140">
                  <a:moveTo>
                    <a:pt x="129489" y="0"/>
                  </a:moveTo>
                  <a:lnTo>
                    <a:pt x="0" y="0"/>
                  </a:lnTo>
                  <a:lnTo>
                    <a:pt x="383921" y="739139"/>
                  </a:lnTo>
                  <a:lnTo>
                    <a:pt x="513410" y="739139"/>
                  </a:lnTo>
                  <a:lnTo>
                    <a:pt x="1294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90600" y="4925567"/>
              <a:ext cx="8153400" cy="218440"/>
            </a:xfrm>
            <a:custGeom>
              <a:avLst/>
              <a:gdLst/>
              <a:ahLst/>
              <a:cxnLst/>
              <a:rect l="l" t="t" r="r" b="b"/>
              <a:pathLst>
                <a:path w="8153400" h="218439">
                  <a:moveTo>
                    <a:pt x="8153400" y="0"/>
                  </a:moveTo>
                  <a:lnTo>
                    <a:pt x="0" y="0"/>
                  </a:lnTo>
                  <a:lnTo>
                    <a:pt x="112319" y="217932"/>
                  </a:lnTo>
                  <a:lnTo>
                    <a:pt x="8153400" y="217932"/>
                  </a:lnTo>
                  <a:lnTo>
                    <a:pt x="8153400" y="0"/>
                  </a:lnTo>
                  <a:close/>
                </a:path>
              </a:pathLst>
            </a:custGeom>
            <a:solidFill>
              <a:srgbClr val="FF8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90601" y="246634"/>
            <a:ext cx="214629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25" dirty="0">
                <a:solidFill>
                  <a:srgbClr val="FFFFFF"/>
                </a:solidFill>
                <a:latin typeface="Gill Sans MT"/>
                <a:cs typeface="Gill Sans MT"/>
              </a:rPr>
              <a:t>29</a:t>
            </a:r>
            <a:endParaRPr sz="1300">
              <a:latin typeface="Gill Sans MT"/>
              <a:cs typeface="Gill Sans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459483" y="1186129"/>
            <a:ext cx="2604770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565" dirty="0">
                <a:solidFill>
                  <a:srgbClr val="FF8600"/>
                </a:solidFill>
              </a:rPr>
              <a:t>THANKS!</a:t>
            </a:r>
            <a:endParaRPr sz="6000"/>
          </a:p>
        </p:txBody>
      </p:sp>
      <p:sp>
        <p:nvSpPr>
          <p:cNvPr id="10" name="object 10"/>
          <p:cNvSpPr txBox="1"/>
          <p:nvPr/>
        </p:nvSpPr>
        <p:spPr>
          <a:xfrm>
            <a:off x="2274823" y="2318385"/>
            <a:ext cx="3855085" cy="90931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sz="2400" b="1" spc="-125" dirty="0">
                <a:solidFill>
                  <a:srgbClr val="FFFFFF"/>
                </a:solidFill>
                <a:latin typeface="Gill Sans MT"/>
                <a:cs typeface="Gill Sans MT"/>
              </a:rPr>
              <a:t>Any</a:t>
            </a:r>
            <a:r>
              <a:rPr sz="2400" b="1" spc="-5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Gill Sans MT"/>
                <a:cs typeface="Gill Sans MT"/>
              </a:rPr>
              <a:t>questions?</a:t>
            </a:r>
            <a:endParaRPr sz="2400">
              <a:latin typeface="Gill Sans MT"/>
              <a:cs typeface="Gill Sans MT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400" spc="155" dirty="0">
                <a:solidFill>
                  <a:srgbClr val="FFFFFF"/>
                </a:solidFill>
                <a:latin typeface="Gill Sans MT"/>
                <a:cs typeface="Gill Sans MT"/>
              </a:rPr>
              <a:t>Email</a:t>
            </a:r>
            <a:r>
              <a:rPr sz="2400" spc="-6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2400" spc="50" dirty="0">
                <a:solidFill>
                  <a:srgbClr val="FFFFFF"/>
                </a:solidFill>
                <a:latin typeface="Gill Sans MT"/>
                <a:cs typeface="Gill Sans MT"/>
              </a:rPr>
              <a:t>:</a:t>
            </a:r>
            <a:r>
              <a:rPr sz="2400" spc="-55" dirty="0">
                <a:solidFill>
                  <a:srgbClr val="FFFFFF"/>
                </a:solidFill>
                <a:latin typeface="Gill Sans MT"/>
                <a:cs typeface="Gill Sans MT"/>
              </a:rPr>
              <a:t> </a:t>
            </a:r>
            <a:r>
              <a:rPr sz="2400" spc="125" dirty="0">
                <a:solidFill>
                  <a:srgbClr val="00AFEF"/>
                </a:solidFill>
                <a:latin typeface="Gill Sans MT"/>
                <a:cs typeface="Gill Sans MT"/>
                <a:hlinkClick r:id="rId2"/>
              </a:rPr>
              <a:t>imam@cse.uiu.ac.bd</a:t>
            </a:r>
            <a:endParaRPr sz="2400">
              <a:latin typeface="Gill Sans MT"/>
              <a:cs typeface="Gill Sans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98600" y="4480966"/>
            <a:ext cx="57283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FF6600"/>
                </a:solidFill>
                <a:latin typeface="Arial"/>
                <a:cs typeface="Arial"/>
              </a:rPr>
              <a:t>Reference:</a:t>
            </a:r>
            <a:endParaRPr sz="1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00AFEF"/>
                </a:solidFill>
                <a:latin typeface="Arial"/>
                <a:cs typeface="Arial"/>
              </a:rPr>
              <a:t>Database</a:t>
            </a:r>
            <a:r>
              <a:rPr sz="1200" spc="-65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AFEF"/>
                </a:solidFill>
                <a:latin typeface="Arial"/>
                <a:cs typeface="Arial"/>
              </a:rPr>
              <a:t>System</a:t>
            </a:r>
            <a:r>
              <a:rPr sz="1200" spc="-15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AFEF"/>
                </a:solidFill>
                <a:latin typeface="Arial"/>
                <a:cs typeface="Arial"/>
              </a:rPr>
              <a:t>Concepts</a:t>
            </a:r>
            <a:r>
              <a:rPr sz="1200" spc="-35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AFEF"/>
                </a:solidFill>
                <a:latin typeface="Arial"/>
                <a:cs typeface="Arial"/>
              </a:rPr>
              <a:t>by</a:t>
            </a:r>
            <a:r>
              <a:rPr sz="1200" spc="-35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AFEF"/>
                </a:solidFill>
                <a:latin typeface="Arial"/>
                <a:cs typeface="Arial"/>
              </a:rPr>
              <a:t>S.</a:t>
            </a:r>
            <a:r>
              <a:rPr sz="1200" spc="-15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AFEF"/>
                </a:solidFill>
                <a:latin typeface="Arial"/>
                <a:cs typeface="Arial"/>
              </a:rPr>
              <a:t>Sudarshan,</a:t>
            </a:r>
            <a:r>
              <a:rPr sz="1200" spc="-55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AFEF"/>
                </a:solidFill>
                <a:latin typeface="Arial"/>
                <a:cs typeface="Arial"/>
              </a:rPr>
              <a:t>Henry</a:t>
            </a:r>
            <a:r>
              <a:rPr sz="1200" spc="-35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AFEF"/>
                </a:solidFill>
                <a:latin typeface="Arial"/>
                <a:cs typeface="Arial"/>
              </a:rPr>
              <a:t>F.</a:t>
            </a:r>
            <a:r>
              <a:rPr sz="1200" spc="25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AFEF"/>
                </a:solidFill>
                <a:latin typeface="Arial"/>
                <a:cs typeface="Arial"/>
              </a:rPr>
              <a:t>Korth,</a:t>
            </a:r>
            <a:r>
              <a:rPr sz="1200" spc="-30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00AFEF"/>
                </a:solidFill>
                <a:latin typeface="Arial"/>
                <a:cs typeface="Arial"/>
              </a:rPr>
              <a:t>Abraham</a:t>
            </a:r>
            <a:r>
              <a:rPr sz="1200" spc="-45" dirty="0">
                <a:solidFill>
                  <a:srgbClr val="00AFEF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00AFEF"/>
                </a:solidFill>
                <a:latin typeface="Arial"/>
                <a:cs typeface="Arial"/>
              </a:rPr>
              <a:t>Silberschatz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AFE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50</TotalTime>
  <Words>3311</Words>
  <Application>Microsoft Office PowerPoint</Application>
  <PresentationFormat>On-screen Show (16:9)</PresentationFormat>
  <Paragraphs>410</Paragraphs>
  <Slides>34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PowerPoint Presentation</vt:lpstr>
      <vt:lpstr>Transactions</vt:lpstr>
      <vt:lpstr>Transaction Properties – A C I D</vt:lpstr>
      <vt:lpstr>Transaction Model</vt:lpstr>
      <vt:lpstr>Transaction Properties – ACID</vt:lpstr>
      <vt:lpstr>Transaction Properties – ACID</vt:lpstr>
      <vt:lpstr>Transaction Properties – ACID</vt:lpstr>
      <vt:lpstr>Transaction Properties – ACID</vt:lpstr>
      <vt:lpstr>Transaction States</vt:lpstr>
      <vt:lpstr>Concurrent Execution</vt:lpstr>
      <vt:lpstr>Schedule &amp; Serial Schedule</vt:lpstr>
      <vt:lpstr>Schedule 1</vt:lpstr>
      <vt:lpstr>Schedule 2</vt:lpstr>
      <vt:lpstr>Schedule 3</vt:lpstr>
      <vt:lpstr>Schedule 4</vt:lpstr>
      <vt:lpstr>Classic Problems </vt:lpstr>
      <vt:lpstr>Lost Update</vt:lpstr>
      <vt:lpstr>Uncommitted Dependency (Dirty Bit)</vt:lpstr>
      <vt:lpstr>Inconsistent Analysis</vt:lpstr>
      <vt:lpstr>How DBMS Prevents These Problems</vt:lpstr>
      <vt:lpstr>Serializability</vt:lpstr>
      <vt:lpstr>Conflicting Instructions</vt:lpstr>
      <vt:lpstr>Conflict Serializability</vt:lpstr>
      <vt:lpstr>Conflict Serializability</vt:lpstr>
      <vt:lpstr>Precedence Graph</vt:lpstr>
      <vt:lpstr>Precedence Graph – Example 1</vt:lpstr>
      <vt:lpstr>Precedence Graph – Example 2</vt:lpstr>
      <vt:lpstr>Precedence Graph – Example 3</vt:lpstr>
      <vt:lpstr>Serializability Order</vt:lpstr>
      <vt:lpstr>PowerPoint Presentation</vt:lpstr>
      <vt:lpstr>Conflict Serializability Check – 2</vt:lpstr>
      <vt:lpstr>Conflict Serializability Check – 3</vt:lpstr>
      <vt:lpstr>Simulator!!</vt:lpstr>
      <vt:lpstr>THANKS!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DBMS: CSI 221</dc:title>
  <dc:creator>Mohammad Imam Hossain</dc:creator>
  <cp:lastModifiedBy>uiu</cp:lastModifiedBy>
  <cp:revision>3</cp:revision>
  <dcterms:created xsi:type="dcterms:W3CDTF">2026-01-18T13:23:48Z</dcterms:created>
  <dcterms:modified xsi:type="dcterms:W3CDTF">2026-01-20T05:55:02Z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2021-09-19T00:00:00Z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2026-01-18T00:00:00Z</vt:filetime>
  </property>
  <property fmtid="{D5CDD505-2E9C-101B-9397-08002B2CF9AE}" pid="5" name="Producer">
    <vt:lpwstr>3-Heights(TM) PDF Security Shell 4.8.25.2 (http://www.pdf-tools.com)</vt:lpwstr>
  </property>
</Properties>
</file>