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Lst>
  <p:notesMasterIdLst>
    <p:notesMasterId r:id="rId23"/>
  </p:notesMasterIdLst>
  <p:sldIdLst>
    <p:sldId id="256" r:id="rId2"/>
    <p:sldId id="257" r:id="rId3"/>
    <p:sldId id="258" r:id="rId4"/>
    <p:sldId id="271" r:id="rId5"/>
    <p:sldId id="259" r:id="rId6"/>
    <p:sldId id="260" r:id="rId7"/>
    <p:sldId id="270" r:id="rId8"/>
    <p:sldId id="261" r:id="rId9"/>
    <p:sldId id="269" r:id="rId10"/>
    <p:sldId id="262" r:id="rId11"/>
    <p:sldId id="263" r:id="rId12"/>
    <p:sldId id="264" r:id="rId13"/>
    <p:sldId id="265" r:id="rId14"/>
    <p:sldId id="266" r:id="rId15"/>
    <p:sldId id="267" r:id="rId16"/>
    <p:sldId id="274" r:id="rId17"/>
    <p:sldId id="268" r:id="rId18"/>
    <p:sldId id="276" r:id="rId19"/>
    <p:sldId id="277" r:id="rId20"/>
    <p:sldId id="273" r:id="rId21"/>
    <p:sldId id="278"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74" autoAdjust="0"/>
    <p:restoredTop sz="94660"/>
  </p:normalViewPr>
  <p:slideViewPr>
    <p:cSldViewPr>
      <p:cViewPr>
        <p:scale>
          <a:sx n="89" d="100"/>
          <a:sy n="89" d="100"/>
        </p:scale>
        <p:origin x="-1282" y="5"/>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434C5F05-CE37-42FA-8A26-251CA53E8FE7}" type="datetimeFigureOut">
              <a:rPr lang="en-US" smtClean="0"/>
              <a:t>7/23/2025</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C70331-6B0E-4495-9500-88515F0EFAAC}" type="slidenum">
              <a:rPr lang="en-US" smtClean="0"/>
              <a:t>‹#›</a:t>
            </a:fld>
            <a:endParaRPr lang="en-US"/>
          </a:p>
        </p:txBody>
      </p:sp>
    </p:spTree>
    <p:extLst>
      <p:ext uri="{BB962C8B-B14F-4D97-AF65-F5344CB8AC3E}">
        <p14:creationId xmlns:p14="http://schemas.microsoft.com/office/powerpoint/2010/main" val="32420875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E0C70331-6B0E-4495-9500-88515F0EFAAC}" type="slidenum">
              <a:rPr lang="en-US" smtClean="0"/>
              <a:t>13</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8466" y="-8468"/>
            <a:ext cx="9169804" cy="6874935"/>
            <a:chOff x="-8466" y="-8468"/>
            <a:chExt cx="9169804" cy="6874935"/>
          </a:xfrm>
        </p:grpSpPr>
        <p:cxnSp>
          <p:nvCxnSpPr>
            <p:cNvPr id="17" name="Straight Connector 16"/>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9" name="Freeform 18"/>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0" name="Freeform 19"/>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1" name="Freeform 20"/>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21"/>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Freeform 22"/>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Freeform 23"/>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Freeform 24"/>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Freeform 27"/>
            <p:cNvSpPr/>
            <p:nvPr/>
          </p:nvSpPr>
          <p:spPr>
            <a:xfrm>
              <a:off x="-8466" y="-8468"/>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130595" y="2404534"/>
            <a:ext cx="5826719"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30595" y="4050834"/>
            <a:ext cx="5826719"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114944546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5032588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09598" y="2700868"/>
            <a:ext cx="6347715"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3118074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1320800"/>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09600" y="2160589"/>
            <a:ext cx="3088109" cy="3880772"/>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3869204" y="2160590"/>
            <a:ext cx="3088110" cy="388077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365048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320800"/>
          </a:xfrm>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09599"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09599"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3866640" y="2160983"/>
            <a:ext cx="3090672"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3866640" y="2737246"/>
            <a:ext cx="3090672"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42708833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4"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13313949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40474551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1498604"/>
            <a:ext cx="2790182"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3571275" y="514925"/>
            <a:ext cx="3386037"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09599" y="2777069"/>
            <a:ext cx="2790182" cy="2584449"/>
          </a:xfrm>
        </p:spPr>
        <p:txBody>
          <a:bodyPr>
            <a:normAutofit/>
          </a:bodyPr>
          <a:lstStyle>
            <a:lvl1pPr marL="0" indent="0">
              <a:buNone/>
              <a:defRPr sz="14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smtClean="0"/>
              <a:t>Edit Master text styles</a:t>
            </a:r>
          </a:p>
        </p:txBody>
      </p:sp>
      <p:sp>
        <p:nvSpPr>
          <p:cNvPr id="5" name="Date Placeholder 4"/>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3440162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599" y="4800600"/>
            <a:ext cx="6347714"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09599" y="609600"/>
            <a:ext cx="6347714"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09599" y="5367338"/>
            <a:ext cx="6347714"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317061749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0" y="609600"/>
            <a:ext cx="6347714"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600" y="4470400"/>
            <a:ext cx="6347714"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89571969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101074" y="3632200"/>
            <a:ext cx="541980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470400"/>
            <a:ext cx="6347715"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5031673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09598" y="1931988"/>
            <a:ext cx="6347715"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201172292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774885" y="609600"/>
            <a:ext cx="6072182"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
        <p:nvSpPr>
          <p:cNvPr id="24" name="TextBox 23"/>
          <p:cNvSpPr txBox="1"/>
          <p:nvPr/>
        </p:nvSpPr>
        <p:spPr>
          <a:xfrm>
            <a:off x="482711" y="790378"/>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6747699" y="2886556"/>
            <a:ext cx="457319"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9160320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15848" y="609600"/>
            <a:ext cx="6341465"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09597" y="4013200"/>
            <a:ext cx="6347716"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09598" y="4527448"/>
            <a:ext cx="6347715"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261420612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28074060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5977312" y="609600"/>
            <a:ext cx="978812"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09599" y="609600"/>
            <a:ext cx="5195026" cy="5251451"/>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449C9EC1-17D7-4177-86DC-FFF6B7816ACC}" type="datetimeFigureOut">
              <a:rPr lang="en-US" smtClean="0"/>
              <a:t>7/23/2025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06ECE93-3269-4B8C-ABBB-F99CE9C44E7C}" type="slidenum">
              <a:rPr lang="en-US" smtClean="0"/>
              <a:t>‹#›</a:t>
            </a:fld>
            <a:endParaRPr lang="en-US" dirty="0"/>
          </a:p>
        </p:txBody>
      </p:sp>
    </p:spTree>
    <p:extLst>
      <p:ext uri="{BB962C8B-B14F-4D97-AF65-F5344CB8AC3E}">
        <p14:creationId xmlns:p14="http://schemas.microsoft.com/office/powerpoint/2010/main" val="45546249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17" name="Group 16"/>
          <p:cNvGrpSpPr/>
          <p:nvPr/>
        </p:nvGrpSpPr>
        <p:grpSpPr>
          <a:xfrm>
            <a:off x="-8467" y="-8468"/>
            <a:ext cx="9169805" cy="6874935"/>
            <a:chOff x="-8467" y="-8468"/>
            <a:chExt cx="9169805" cy="6874935"/>
          </a:xfrm>
        </p:grpSpPr>
        <p:sp>
          <p:nvSpPr>
            <p:cNvPr id="7" name="Freeform 6"/>
            <p:cNvSpPr/>
            <p:nvPr/>
          </p:nvSpPr>
          <p:spPr>
            <a:xfrm>
              <a:off x="-8467" y="4013200"/>
              <a:ext cx="457200" cy="2853267"/>
            </a:xfrm>
            <a:custGeom>
              <a:avLst/>
              <a:gdLst/>
              <a:ahLst/>
              <a:cxnLst/>
              <a:rect l="l" t="t" r="r" b="b"/>
              <a:pathLst>
                <a:path w="457200" h="2853267">
                  <a:moveTo>
                    <a:pt x="0" y="0"/>
                  </a:moveTo>
                  <a:lnTo>
                    <a:pt x="457200" y="2853267"/>
                  </a:lnTo>
                  <a:lnTo>
                    <a:pt x="0" y="2844800"/>
                  </a:lnTo>
                  <a:cubicBezTo>
                    <a:pt x="2822" y="1905000"/>
                    <a:pt x="5645" y="965200"/>
                    <a:pt x="0" y="0"/>
                  </a:cubicBezTo>
                  <a:close/>
                </a:path>
              </a:pathLst>
            </a:cu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8" name="Straight Connector 7"/>
            <p:cNvCxnSpPr/>
            <p:nvPr/>
          </p:nvCxnSpPr>
          <p:spPr>
            <a:xfrm flipV="1">
              <a:off x="5130830" y="4175605"/>
              <a:ext cx="4022475" cy="2682396"/>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a:off x="7042707"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sp>
          <p:nvSpPr>
            <p:cNvPr id="10" name="Freeform 9"/>
            <p:cNvSpPr/>
            <p:nvPr/>
          </p:nvSpPr>
          <p:spPr>
            <a:xfrm>
              <a:off x="6891896" y="1"/>
              <a:ext cx="2269442" cy="6866466"/>
            </a:xfrm>
            <a:custGeom>
              <a:avLst/>
              <a:gdLst/>
              <a:ahLst/>
              <a:cxnLst/>
              <a:rect l="l" t="t" r="r" b="b"/>
              <a:pathLst>
                <a:path w="2269442" h="6866466">
                  <a:moveTo>
                    <a:pt x="2023534" y="0"/>
                  </a:moveTo>
                  <a:lnTo>
                    <a:pt x="0" y="6858000"/>
                  </a:lnTo>
                  <a:lnTo>
                    <a:pt x="2269067" y="6866466"/>
                  </a:lnTo>
                  <a:cubicBezTo>
                    <a:pt x="2271889" y="4580466"/>
                    <a:pt x="2257778" y="2294466"/>
                    <a:pt x="2260600" y="8466"/>
                  </a:cubicBezTo>
                  <a:lnTo>
                    <a:pt x="2023534"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10"/>
            <p:cNvSpPr/>
            <p:nvPr/>
          </p:nvSpPr>
          <p:spPr>
            <a:xfrm>
              <a:off x="7205158" y="-8467"/>
              <a:ext cx="1948147" cy="6866467"/>
            </a:xfrm>
            <a:custGeom>
              <a:avLst/>
              <a:gdLst/>
              <a:ahLst/>
              <a:cxnLst/>
              <a:rect l="l" t="t" r="r" b="b"/>
              <a:pathLst>
                <a:path w="1948147" h="6866467">
                  <a:moveTo>
                    <a:pt x="0" y="0"/>
                  </a:moveTo>
                  <a:lnTo>
                    <a:pt x="1202267" y="6866467"/>
                  </a:lnTo>
                  <a:lnTo>
                    <a:pt x="1947333" y="6866467"/>
                  </a:lnTo>
                  <a:cubicBezTo>
                    <a:pt x="1944511" y="4577645"/>
                    <a:pt x="1950155" y="2288822"/>
                    <a:pt x="1947333" y="0"/>
                  </a:cubicBez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2" name="Freeform 11"/>
            <p:cNvSpPr/>
            <p:nvPr/>
          </p:nvSpPr>
          <p:spPr>
            <a:xfrm>
              <a:off x="6637896" y="3920066"/>
              <a:ext cx="2513565" cy="2937933"/>
            </a:xfrm>
            <a:custGeom>
              <a:avLst/>
              <a:gdLst/>
              <a:ahLst/>
              <a:cxnLst/>
              <a:rect l="l" t="t" r="r" b="b"/>
              <a:pathLst>
                <a:path w="3259667" h="3810000">
                  <a:moveTo>
                    <a:pt x="0" y="3810000"/>
                  </a:moveTo>
                  <a:lnTo>
                    <a:pt x="3251200" y="0"/>
                  </a:lnTo>
                  <a:cubicBezTo>
                    <a:pt x="3254022" y="1270000"/>
                    <a:pt x="3256845" y="2540000"/>
                    <a:pt x="3259667" y="3810000"/>
                  </a:cubicBezTo>
                  <a:lnTo>
                    <a:pt x="0" y="3810000"/>
                  </a:lnTo>
                  <a:close/>
                </a:path>
              </a:pathLst>
            </a:cu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13" name="Freeform 12"/>
            <p:cNvSpPr/>
            <p:nvPr/>
          </p:nvSpPr>
          <p:spPr>
            <a:xfrm>
              <a:off x="7010429" y="-8467"/>
              <a:ext cx="2142876" cy="6866467"/>
            </a:xfrm>
            <a:custGeom>
              <a:avLst/>
              <a:gdLst/>
              <a:ahLst/>
              <a:cxnLst/>
              <a:rect l="l" t="t" r="r" b="b"/>
              <a:pathLst>
                <a:path w="2853267" h="6866467">
                  <a:moveTo>
                    <a:pt x="0" y="0"/>
                  </a:moveTo>
                  <a:lnTo>
                    <a:pt x="2472267" y="6866467"/>
                  </a:lnTo>
                  <a:lnTo>
                    <a:pt x="2853267" y="6858000"/>
                  </a:lnTo>
                  <a:lnTo>
                    <a:pt x="2853267" y="0"/>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4" name="Freeform 13"/>
            <p:cNvSpPr/>
            <p:nvPr/>
          </p:nvSpPr>
          <p:spPr>
            <a:xfrm>
              <a:off x="8295776" y="-8467"/>
              <a:ext cx="857530" cy="6866467"/>
            </a:xfrm>
            <a:custGeom>
              <a:avLst/>
              <a:gdLst/>
              <a:ahLst/>
              <a:cxnLst/>
              <a:rect l="l" t="t" r="r" b="b"/>
              <a:pathLst>
                <a:path w="1286933" h="6866467">
                  <a:moveTo>
                    <a:pt x="1016000" y="0"/>
                  </a:moveTo>
                  <a:lnTo>
                    <a:pt x="0" y="6866467"/>
                  </a:lnTo>
                  <a:lnTo>
                    <a:pt x="1286933" y="6866467"/>
                  </a:lnTo>
                  <a:cubicBezTo>
                    <a:pt x="1284111" y="4577645"/>
                    <a:pt x="1281288" y="2288822"/>
                    <a:pt x="1278466" y="0"/>
                  </a:cubicBezTo>
                  <a:lnTo>
                    <a:pt x="1016000"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5" name="Freeform 14"/>
            <p:cNvSpPr/>
            <p:nvPr/>
          </p:nvSpPr>
          <p:spPr>
            <a:xfrm>
              <a:off x="8077231" y="-8468"/>
              <a:ext cx="1066770" cy="6866467"/>
            </a:xfrm>
            <a:custGeom>
              <a:avLst/>
              <a:gdLst/>
              <a:ahLst/>
              <a:cxnLst/>
              <a:rect l="l" t="t" r="r" b="b"/>
              <a:pathLst>
                <a:path w="1270244" h="6866467">
                  <a:moveTo>
                    <a:pt x="0" y="0"/>
                  </a:moveTo>
                  <a:lnTo>
                    <a:pt x="1117600" y="6866467"/>
                  </a:lnTo>
                  <a:lnTo>
                    <a:pt x="1270000" y="6866467"/>
                  </a:lnTo>
                  <a:cubicBezTo>
                    <a:pt x="1272822" y="4574822"/>
                    <a:pt x="1250245" y="2291645"/>
                    <a:pt x="1253067" y="0"/>
                  </a:cubicBez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16" name="Freeform 15"/>
            <p:cNvSpPr/>
            <p:nvPr/>
          </p:nvSpPr>
          <p:spPr>
            <a:xfrm>
              <a:off x="8060297" y="4893733"/>
              <a:ext cx="1094086" cy="1964267"/>
            </a:xfrm>
            <a:custGeom>
              <a:avLst/>
              <a:gdLst/>
              <a:ahLst/>
              <a:cxnLst/>
              <a:rect l="l" t="t" r="r" b="b"/>
              <a:pathLst>
                <a:path w="1820333" h="3268133">
                  <a:moveTo>
                    <a:pt x="0" y="3268133"/>
                  </a:moveTo>
                  <a:lnTo>
                    <a:pt x="1811866" y="0"/>
                  </a:lnTo>
                  <a:cubicBezTo>
                    <a:pt x="1814688" y="1086555"/>
                    <a:pt x="1817511" y="2173111"/>
                    <a:pt x="1820333" y="3259666"/>
                  </a:cubicBezTo>
                  <a:lnTo>
                    <a:pt x="0" y="3268133"/>
                  </a:lnTo>
                  <a:close/>
                </a:path>
              </a:pathLst>
            </a:cu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09599" y="609600"/>
            <a:ext cx="6347713"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09599" y="2160590"/>
            <a:ext cx="6347714"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405258" y="6041363"/>
            <a:ext cx="684132"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449C9EC1-17D7-4177-86DC-FFF6B7816ACC}" type="datetimeFigureOut">
              <a:rPr lang="en-US" smtClean="0"/>
              <a:t>7/23/2025</a:t>
            </a:fld>
            <a:endParaRPr lang="en-US" dirty="0"/>
          </a:p>
        </p:txBody>
      </p:sp>
      <p:sp>
        <p:nvSpPr>
          <p:cNvPr id="5" name="Footer Placeholder 4"/>
          <p:cNvSpPr>
            <a:spLocks noGrp="1"/>
          </p:cNvSpPr>
          <p:nvPr>
            <p:ph type="ftr" sz="quarter" idx="3"/>
          </p:nvPr>
        </p:nvSpPr>
        <p:spPr>
          <a:xfrm>
            <a:off x="609599" y="6041363"/>
            <a:ext cx="4622973"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44676" y="6041363"/>
            <a:ext cx="512638" cy="365125"/>
          </a:xfrm>
          <a:prstGeom prst="rect">
            <a:avLst/>
          </a:prstGeom>
        </p:spPr>
        <p:txBody>
          <a:bodyPr vert="horz" lIns="91440" tIns="45720" rIns="91440" bIns="45720" rtlCol="0" anchor="ctr"/>
          <a:lstStyle>
            <a:lvl1pPr algn="r">
              <a:defRPr sz="900">
                <a:solidFill>
                  <a:schemeClr val="accent1"/>
                </a:solidFill>
              </a:defRPr>
            </a:lvl1pPr>
          </a:lstStyle>
          <a:p>
            <a:fld id="{506ECE93-3269-4B8C-ABBB-F99CE9C44E7C}" type="slidenum">
              <a:rPr lang="en-US" smtClean="0"/>
              <a:t>‹#›</a:t>
            </a:fld>
            <a:endParaRPr lang="en-US" dirty="0"/>
          </a:p>
        </p:txBody>
      </p:sp>
    </p:spTree>
    <p:extLst>
      <p:ext uri="{BB962C8B-B14F-4D97-AF65-F5344CB8AC3E}">
        <p14:creationId xmlns:p14="http://schemas.microsoft.com/office/powerpoint/2010/main" val="115789208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r>
              <a:rPr lang="en-US" b="1" dirty="0" smtClean="0"/>
              <a:t>The Theory of</a:t>
            </a:r>
            <a:br>
              <a:rPr lang="en-US" b="1" dirty="0" smtClean="0"/>
            </a:br>
            <a:r>
              <a:rPr lang="en-US" b="1" dirty="0" smtClean="0"/>
              <a:t>Consumer Choice</a:t>
            </a:r>
            <a:endParaRPr lang="en-US" dirty="0"/>
          </a:p>
        </p:txBody>
      </p:sp>
      <p:sp>
        <p:nvSpPr>
          <p:cNvPr id="3" name="Subtitle 2"/>
          <p:cNvSpPr>
            <a:spLocks noGrp="1"/>
          </p:cNvSpPr>
          <p:nvPr>
            <p:ph type="subTitle" idx="1"/>
          </p:nvPr>
        </p:nvSpPr>
        <p:spPr>
          <a:xfrm>
            <a:off x="1130595" y="4050834"/>
            <a:ext cx="6108405" cy="1740366"/>
          </a:xfrm>
        </p:spPr>
        <p:txBody>
          <a:bodyPr>
            <a:normAutofit/>
          </a:bodyPr>
          <a:lstStyle/>
          <a:p>
            <a:pPr algn="l"/>
            <a:r>
              <a:rPr lang="en-US" dirty="0" smtClean="0"/>
              <a:t>Chapter-21</a:t>
            </a:r>
          </a:p>
          <a:p>
            <a:pPr algn="l"/>
            <a:r>
              <a:rPr lang="en-US" dirty="0" smtClean="0"/>
              <a:t>Course: Microeconomics</a:t>
            </a:r>
          </a:p>
          <a:p>
            <a:pPr algn="l"/>
            <a:r>
              <a:rPr lang="en-US" smtClean="0"/>
              <a:t>Faculty</a:t>
            </a:r>
            <a:endParaRPr lang="en-US" dirty="0" smtClean="0"/>
          </a:p>
          <a:p>
            <a:pPr algn="l"/>
            <a:r>
              <a:rPr lang="en-US" dirty="0" smtClean="0"/>
              <a:t>United Int. University</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smtClean="0"/>
              <a:t>Consumer Choice</a:t>
            </a:r>
            <a:endParaRPr lang="en-US" b="1" dirty="0"/>
          </a:p>
        </p:txBody>
      </p:sp>
      <p:sp>
        <p:nvSpPr>
          <p:cNvPr id="3" name="Content Placeholder 2"/>
          <p:cNvSpPr>
            <a:spLocks noGrp="1"/>
          </p:cNvSpPr>
          <p:nvPr>
            <p:ph idx="1"/>
          </p:nvPr>
        </p:nvSpPr>
        <p:spPr>
          <a:xfrm>
            <a:off x="609598" y="2160590"/>
            <a:ext cx="6629401" cy="3880773"/>
          </a:xfrm>
        </p:spPr>
        <p:txBody>
          <a:bodyPr>
            <a:normAutofit lnSpcReduction="10000"/>
          </a:bodyPr>
          <a:lstStyle/>
          <a:p>
            <a:r>
              <a:rPr lang="en-US" dirty="0"/>
              <a:t>As we have seen, the demand curve for a </a:t>
            </a:r>
            <a:r>
              <a:rPr lang="en-US" dirty="0" smtClean="0"/>
              <a:t>good </a:t>
            </a:r>
            <a:r>
              <a:rPr lang="en-US" dirty="0"/>
              <a:t>reflects consumers’ willingness to pay for that good. When the price rises, </a:t>
            </a:r>
            <a:r>
              <a:rPr lang="en-US" dirty="0" smtClean="0"/>
              <a:t>consumers are </a:t>
            </a:r>
            <a:r>
              <a:rPr lang="en-US" dirty="0"/>
              <a:t>willing to pay for fewer units, so the quantity demanded falls.</a:t>
            </a:r>
            <a:endParaRPr lang="en-US" dirty="0" smtClean="0"/>
          </a:p>
          <a:p>
            <a:r>
              <a:rPr lang="en-US" dirty="0" smtClean="0"/>
              <a:t>One of the </a:t>
            </a:r>
            <a:r>
              <a:rPr lang="en-US" i="1" dirty="0" smtClean="0"/>
              <a:t>Ten Principles of Economics discussed in Chapter 1 is that people </a:t>
            </a:r>
            <a:r>
              <a:rPr lang="en-US" dirty="0" smtClean="0"/>
              <a:t>face trade-offs. The theory of consumer choice examines the trade-offs that people face in their role as consumers.</a:t>
            </a:r>
          </a:p>
          <a:p>
            <a:r>
              <a:rPr lang="en-US" dirty="0" smtClean="0"/>
              <a:t>When a consumer buys more of one good, he can afford less of other goods. When he spends more time enjoying leisure and less time working, he has lower income and can afford less consumption. When he spends more of his income in the present and saves less of it, he must accept a lower level of consumption in the future.</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457200"/>
            <a:ext cx="6347713" cy="1447800"/>
          </a:xfrm>
        </p:spPr>
        <p:txBody>
          <a:bodyPr>
            <a:noAutofit/>
          </a:bodyPr>
          <a:lstStyle/>
          <a:p>
            <a:pPr algn="ctr"/>
            <a:r>
              <a:rPr lang="en-US" sz="3200" b="1" dirty="0" smtClean="0"/>
              <a:t>THE BUDGET CONSTRAINT: WHAT THE CONSUMER CAN AFFORD</a:t>
            </a:r>
            <a:endParaRPr lang="en-US" sz="3200" dirty="0"/>
          </a:p>
        </p:txBody>
      </p:sp>
      <p:sp>
        <p:nvSpPr>
          <p:cNvPr id="3" name="Content Placeholder 2"/>
          <p:cNvSpPr>
            <a:spLocks noGrp="1"/>
          </p:cNvSpPr>
          <p:nvPr>
            <p:ph idx="1"/>
          </p:nvPr>
        </p:nvSpPr>
        <p:spPr>
          <a:xfrm>
            <a:off x="609598" y="2160590"/>
            <a:ext cx="6858002" cy="4011610"/>
          </a:xfrm>
        </p:spPr>
        <p:txBody>
          <a:bodyPr>
            <a:normAutofit fontScale="92500" lnSpcReduction="10000"/>
          </a:bodyPr>
          <a:lstStyle/>
          <a:p>
            <a:r>
              <a:rPr lang="en-US" dirty="0"/>
              <a:t>The theory of consumer choice examines how consumers facing these trade-offs make decisions and how they respond to changes in their environment</a:t>
            </a:r>
            <a:r>
              <a:rPr lang="en-US" dirty="0" smtClean="0"/>
              <a:t>.</a:t>
            </a:r>
          </a:p>
          <a:p>
            <a:r>
              <a:rPr lang="en-US" dirty="0"/>
              <a:t>People consume less than they desire because their spending is </a:t>
            </a:r>
            <a:r>
              <a:rPr lang="en-US" b="1" dirty="0"/>
              <a:t>constrained</a:t>
            </a:r>
            <a:r>
              <a:rPr lang="en-US" dirty="0"/>
              <a:t>, or </a:t>
            </a:r>
            <a:r>
              <a:rPr lang="en-US" dirty="0" smtClean="0"/>
              <a:t>limited, by </a:t>
            </a:r>
            <a:r>
              <a:rPr lang="en-US" dirty="0"/>
              <a:t>their income.</a:t>
            </a:r>
            <a:endParaRPr lang="en-US" b="1" dirty="0" smtClean="0"/>
          </a:p>
          <a:p>
            <a:r>
              <a:rPr lang="en-US" b="1" dirty="0" smtClean="0"/>
              <a:t>Budget constraint-</a:t>
            </a:r>
            <a:r>
              <a:rPr lang="en-US" dirty="0" smtClean="0"/>
              <a:t>the limit on the consumption bundles that a consumer can afford.</a:t>
            </a:r>
          </a:p>
          <a:p>
            <a:r>
              <a:rPr lang="en-US" b="1" dirty="0" smtClean="0"/>
              <a:t>Bundles</a:t>
            </a:r>
            <a:r>
              <a:rPr lang="en-US" dirty="0" smtClean="0"/>
              <a:t> : a particular combination of two or more goods.</a:t>
            </a:r>
          </a:p>
          <a:p>
            <a:r>
              <a:rPr lang="en-US" dirty="0"/>
              <a:t>The slope of the budget constraint measures the rate at which the consumer </a:t>
            </a:r>
            <a:r>
              <a:rPr lang="en-US" dirty="0" smtClean="0"/>
              <a:t>can trade </a:t>
            </a:r>
            <a:r>
              <a:rPr lang="en-US" dirty="0"/>
              <a:t>one good for the other</a:t>
            </a:r>
            <a:r>
              <a:rPr lang="en-US" dirty="0" smtClean="0"/>
              <a:t>.</a:t>
            </a:r>
          </a:p>
          <a:p>
            <a:r>
              <a:rPr lang="en-US" dirty="0"/>
              <a:t>T</a:t>
            </a:r>
            <a:r>
              <a:rPr lang="en-US" dirty="0" smtClean="0"/>
              <a:t>he </a:t>
            </a:r>
            <a:r>
              <a:rPr lang="en-US" dirty="0"/>
              <a:t>slope of the budget constraint equals the </a:t>
            </a:r>
            <a:r>
              <a:rPr lang="en-US" i="1" dirty="0"/>
              <a:t>relative price </a:t>
            </a:r>
            <a:r>
              <a:rPr lang="en-US" dirty="0"/>
              <a:t>of the </a:t>
            </a:r>
            <a:r>
              <a:rPr lang="en-US" dirty="0" smtClean="0"/>
              <a:t>two goods—the </a:t>
            </a:r>
            <a:r>
              <a:rPr lang="en-US" dirty="0"/>
              <a:t>price of one good compared to the price of the other.</a:t>
            </a:r>
            <a:endParaRPr lang="en-US" dirty="0" smtClean="0"/>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629401" cy="1320800"/>
          </a:xfrm>
        </p:spPr>
        <p:txBody>
          <a:bodyPr>
            <a:normAutofit fontScale="90000"/>
          </a:bodyPr>
          <a:lstStyle/>
          <a:p>
            <a:pPr algn="ctr"/>
            <a:r>
              <a:rPr lang="en-US" b="1" dirty="0" smtClean="0"/>
              <a:t>THE BUDGET CONSTRAINT: WHAT THE CONSUMER CAN AFFORD</a:t>
            </a:r>
            <a:endParaRPr lang="en-US" dirty="0"/>
          </a:p>
        </p:txBody>
      </p:sp>
      <p:pic>
        <p:nvPicPr>
          <p:cNvPr id="9218" name="Picture 2"/>
          <p:cNvPicPr>
            <a:picLocks noGrp="1" noChangeAspect="1" noChangeArrowheads="1"/>
          </p:cNvPicPr>
          <p:nvPr>
            <p:ph idx="1"/>
          </p:nvPr>
        </p:nvPicPr>
        <p:blipFill>
          <a:blip r:embed="rId2" cstate="print"/>
          <a:stretch>
            <a:fillRect/>
          </a:stretch>
        </p:blipFill>
        <p:spPr bwMode="auto">
          <a:xfrm>
            <a:off x="609600" y="1930400"/>
            <a:ext cx="6858000" cy="4013199"/>
          </a:xfrm>
          <a:prstGeom prst="rect">
            <a:avLst/>
          </a:prstGeom>
          <a:noFill/>
          <a:ln w="9525">
            <a:noFill/>
            <a:miter lim="800000"/>
            <a:headEnd/>
            <a:tailEnd/>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REPRESENTING PREFERENCES WITH INDIFFERENCE CURVES</a:t>
            </a:r>
            <a:endParaRPr lang="en-US" dirty="0"/>
          </a:p>
        </p:txBody>
      </p:sp>
      <p:sp>
        <p:nvSpPr>
          <p:cNvPr id="3" name="Content Placeholder 2"/>
          <p:cNvSpPr>
            <a:spLocks noGrp="1"/>
          </p:cNvSpPr>
          <p:nvPr>
            <p:ph idx="1"/>
          </p:nvPr>
        </p:nvSpPr>
        <p:spPr/>
        <p:txBody>
          <a:bodyPr/>
          <a:lstStyle/>
          <a:p>
            <a:r>
              <a:rPr lang="en-US" dirty="0"/>
              <a:t>The consumer’s preferences allow </a:t>
            </a:r>
            <a:r>
              <a:rPr lang="en-US" dirty="0" smtClean="0"/>
              <a:t>him/her </a:t>
            </a:r>
            <a:r>
              <a:rPr lang="en-US" dirty="0"/>
              <a:t>to choose among different </a:t>
            </a:r>
            <a:r>
              <a:rPr lang="en-US" dirty="0" smtClean="0"/>
              <a:t>bundles of goods. </a:t>
            </a:r>
          </a:p>
          <a:p>
            <a:r>
              <a:rPr lang="en-US" dirty="0"/>
              <a:t>If the two bundles suit </a:t>
            </a:r>
            <a:r>
              <a:rPr lang="en-US" dirty="0" smtClean="0"/>
              <a:t>his/her </a:t>
            </a:r>
            <a:r>
              <a:rPr lang="en-US" dirty="0"/>
              <a:t>tastes equally well, we </a:t>
            </a:r>
            <a:r>
              <a:rPr lang="en-US" dirty="0" smtClean="0"/>
              <a:t>say that </a:t>
            </a:r>
            <a:r>
              <a:rPr lang="en-US" dirty="0"/>
              <a:t>the consumer is </a:t>
            </a:r>
            <a:r>
              <a:rPr lang="en-US" b="1" dirty="0"/>
              <a:t>indifferent</a:t>
            </a:r>
            <a:r>
              <a:rPr lang="en-US" i="1" dirty="0"/>
              <a:t> </a:t>
            </a:r>
            <a:r>
              <a:rPr lang="en-US" dirty="0"/>
              <a:t>between the two bundles</a:t>
            </a:r>
            <a:r>
              <a:rPr lang="en-US" dirty="0" smtClean="0"/>
              <a:t>. Ex-Pasta &amp; Pizza</a:t>
            </a:r>
            <a:endParaRPr lang="en-US" b="1" dirty="0" smtClean="0"/>
          </a:p>
          <a:p>
            <a:r>
              <a:rPr lang="en-US" b="1" dirty="0" smtClean="0"/>
              <a:t>Indifference curve-</a:t>
            </a:r>
            <a:r>
              <a:rPr lang="en-US" dirty="0" smtClean="0"/>
              <a:t>a curve that shows consumption bundles that give the consumer the same level of satisfaction.</a:t>
            </a:r>
          </a:p>
          <a:p>
            <a:r>
              <a:rPr lang="en-US" b="1" dirty="0" smtClean="0"/>
              <a:t>Marginal rate of Substitution- </a:t>
            </a:r>
            <a:r>
              <a:rPr lang="en-US" dirty="0" smtClean="0"/>
              <a:t>the rate at which a consumer is willing to trade one good for another.</a:t>
            </a:r>
          </a:p>
          <a:p>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FOUR PROPERTIES OF INDIFFERENCE CURVES</a:t>
            </a:r>
            <a:endParaRPr lang="en-US" b="1" dirty="0"/>
          </a:p>
        </p:txBody>
      </p:sp>
      <p:sp>
        <p:nvSpPr>
          <p:cNvPr id="3" name="Content Placeholder 2"/>
          <p:cNvSpPr>
            <a:spLocks noGrp="1"/>
          </p:cNvSpPr>
          <p:nvPr>
            <p:ph idx="1"/>
          </p:nvPr>
        </p:nvSpPr>
        <p:spPr>
          <a:xfrm>
            <a:off x="609598" y="2160590"/>
            <a:ext cx="6781801" cy="3880773"/>
          </a:xfrm>
        </p:spPr>
        <p:txBody>
          <a:bodyPr>
            <a:normAutofit/>
          </a:bodyPr>
          <a:lstStyle/>
          <a:p>
            <a:r>
              <a:rPr lang="en-US" b="1" dirty="0" smtClean="0"/>
              <a:t>Property 1: Higher indifference curves are preferred to lower ones.</a:t>
            </a:r>
            <a:r>
              <a:rPr lang="en-US" dirty="0" smtClean="0"/>
              <a:t> People usually prefer to consume more goods rather than less.</a:t>
            </a:r>
            <a:endParaRPr lang="en-US" i="1" dirty="0" smtClean="0"/>
          </a:p>
          <a:p>
            <a:r>
              <a:rPr lang="en-US" b="1" dirty="0" smtClean="0"/>
              <a:t>Property 2: Indifference curves are downward sloping. </a:t>
            </a:r>
            <a:r>
              <a:rPr lang="en-US" dirty="0" smtClean="0"/>
              <a:t>The slope of an indifference curve reflects the rate at which the consumer is willing to substitute one good for the other. In most cases, the consumer likes both goods. Therefore, if the quantity of one good is reduced, the quantity of the other good must increase for the consumer to be equally happy. For this reason, most indifference curves slope downward.</a:t>
            </a:r>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FOUR PROPERTIES OF INDIFFERENCE CURVES</a:t>
            </a:r>
            <a:endParaRPr lang="en-US" dirty="0"/>
          </a:p>
        </p:txBody>
      </p:sp>
      <p:pic>
        <p:nvPicPr>
          <p:cNvPr id="7170" name="Picture 2"/>
          <p:cNvPicPr>
            <a:picLocks noGrp="1" noChangeAspect="1" noChangeArrowheads="1"/>
          </p:cNvPicPr>
          <p:nvPr>
            <p:ph idx="1"/>
          </p:nvPr>
        </p:nvPicPr>
        <p:blipFill>
          <a:blip r:embed="rId2" cstate="print"/>
          <a:srcRect/>
          <a:stretch>
            <a:fillRect/>
          </a:stretch>
        </p:blipFill>
        <p:spPr bwMode="auto">
          <a:xfrm>
            <a:off x="499352" y="2133600"/>
            <a:ext cx="8035047" cy="3962400"/>
          </a:xfrm>
          <a:prstGeom prst="rect">
            <a:avLst/>
          </a:prstGeom>
          <a:noFill/>
          <a:ln w="9525">
            <a:noFill/>
            <a:miter lim="800000"/>
            <a:headEnd/>
            <a:tailEnd/>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FOUR PROPERTIES OF INDIFFERENCE CURVES</a:t>
            </a:r>
            <a:endParaRPr lang="en-US" dirty="0"/>
          </a:p>
        </p:txBody>
      </p:sp>
      <p:sp>
        <p:nvSpPr>
          <p:cNvPr id="3" name="Content Placeholder 2"/>
          <p:cNvSpPr>
            <a:spLocks noGrp="1"/>
          </p:cNvSpPr>
          <p:nvPr>
            <p:ph idx="1"/>
          </p:nvPr>
        </p:nvSpPr>
        <p:spPr/>
        <p:txBody>
          <a:bodyPr>
            <a:normAutofit/>
          </a:bodyPr>
          <a:lstStyle/>
          <a:p>
            <a:r>
              <a:rPr lang="en-US" b="1" dirty="0" smtClean="0"/>
              <a:t>Property 3: Indifference curves do not cross.</a:t>
            </a:r>
            <a:r>
              <a:rPr lang="en-US" i="1" dirty="0" smtClean="0"/>
              <a:t> </a:t>
            </a:r>
            <a:r>
              <a:rPr lang="en-US" dirty="0" smtClean="0"/>
              <a:t>To see why this is true, suppose that two indifference curves did cross, as in Figure 3. Then, because point A is on the same indifference curve as point B, the two points would make the consumer equally happy. In addition, because point B is on the same indifference curve as point C, these two points would make the consumer equally happy. But these conclusions imply that points A and C would also make the consumer equally happy, even though point C has more of both goods. This contradicts our assumption that the consumer always prefers more of both goods to less. Thus, indifference curves cannot cross.</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FOUR PROPERTIES OF INDIFFERENCE CURVES</a:t>
            </a:r>
            <a:endParaRPr lang="en-US" dirty="0"/>
          </a:p>
        </p:txBody>
      </p:sp>
      <p:pic>
        <p:nvPicPr>
          <p:cNvPr id="6146" name="Picture 2"/>
          <p:cNvPicPr>
            <a:picLocks noGrp="1" noChangeAspect="1" noChangeArrowheads="1"/>
          </p:cNvPicPr>
          <p:nvPr>
            <p:ph idx="1"/>
          </p:nvPr>
        </p:nvPicPr>
        <p:blipFill>
          <a:blip r:embed="rId2" cstate="print"/>
          <a:srcRect/>
          <a:stretch>
            <a:fillRect/>
          </a:stretch>
        </p:blipFill>
        <p:spPr bwMode="auto">
          <a:xfrm>
            <a:off x="404446" y="2057400"/>
            <a:ext cx="8206154" cy="3886200"/>
          </a:xfrm>
          <a:prstGeom prst="rect">
            <a:avLst/>
          </a:prstGeom>
          <a:noFill/>
          <a:ln w="9525">
            <a:noFill/>
            <a:miter lim="800000"/>
            <a:headEnd/>
            <a:tailEnd/>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FOUR PROPERTIES OF INDIFFERENCE CURVES</a:t>
            </a:r>
            <a:endParaRPr lang="en-US" dirty="0"/>
          </a:p>
        </p:txBody>
      </p:sp>
      <p:sp>
        <p:nvSpPr>
          <p:cNvPr id="3" name="Content Placeholder 2"/>
          <p:cNvSpPr>
            <a:spLocks noGrp="1"/>
          </p:cNvSpPr>
          <p:nvPr>
            <p:ph idx="1"/>
          </p:nvPr>
        </p:nvSpPr>
        <p:spPr/>
        <p:txBody>
          <a:bodyPr>
            <a:normAutofit/>
          </a:bodyPr>
          <a:lstStyle/>
          <a:p>
            <a:r>
              <a:rPr lang="en-US" b="1" dirty="0" smtClean="0"/>
              <a:t>Property 4: Indifference curves are bowed inward. </a:t>
            </a:r>
            <a:r>
              <a:rPr lang="en-US" i="1" dirty="0" smtClean="0"/>
              <a:t>The slope of an indifference </a:t>
            </a:r>
            <a:r>
              <a:rPr lang="en-US" dirty="0" smtClean="0"/>
              <a:t>curve is the marginal rate of substitution—the rate at which the consumer is willing to trade off one good for the other. The marginal rate of substitution (</a:t>
            </a:r>
            <a:r>
              <a:rPr lang="en-US" i="1" dirty="0" smtClean="0"/>
              <a:t>MRS) usually depends on the amount of each good the consumer is </a:t>
            </a:r>
            <a:r>
              <a:rPr lang="en-US" dirty="0" smtClean="0"/>
              <a:t>currently consuming. In particular, because people are more willing to trade away goods that they have in abundance and less willing to trade away goods of which they have little, the indifference curves are bowed inward.</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FOUR PROPERTIES OF INDIFFERENCE CURVES</a:t>
            </a:r>
            <a:endParaRPr lang="en-US" b="1" dirty="0"/>
          </a:p>
        </p:txBody>
      </p:sp>
      <p:pic>
        <p:nvPicPr>
          <p:cNvPr id="5122" name="Picture 2"/>
          <p:cNvPicPr>
            <a:picLocks noGrp="1" noChangeAspect="1" noChangeArrowheads="1"/>
          </p:cNvPicPr>
          <p:nvPr>
            <p:ph idx="1"/>
          </p:nvPr>
        </p:nvPicPr>
        <p:blipFill>
          <a:blip r:embed="rId2" cstate="print"/>
          <a:srcRect/>
          <a:stretch>
            <a:fillRect/>
          </a:stretch>
        </p:blipFill>
        <p:spPr bwMode="auto">
          <a:xfrm>
            <a:off x="609599" y="1894305"/>
            <a:ext cx="7620000" cy="4090988"/>
          </a:xfrm>
          <a:prstGeom prst="rect">
            <a:avLst/>
          </a:prstGeom>
          <a:noFill/>
          <a:ln w="9525">
            <a:noFill/>
            <a:miter lim="800000"/>
            <a:headEnd/>
            <a:tailEnd/>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TWO EXTREME EXAMPLES OF INDIFFERENCE CURVES</a:t>
            </a:r>
            <a:endParaRPr lang="en-US" dirty="0"/>
          </a:p>
        </p:txBody>
      </p:sp>
      <p:sp>
        <p:nvSpPr>
          <p:cNvPr id="3" name="Content Placeholder 2"/>
          <p:cNvSpPr>
            <a:spLocks noGrp="1"/>
          </p:cNvSpPr>
          <p:nvPr>
            <p:ph idx="1"/>
          </p:nvPr>
        </p:nvSpPr>
        <p:spPr>
          <a:xfrm>
            <a:off x="609598" y="2160590"/>
            <a:ext cx="6705601" cy="3880773"/>
          </a:xfrm>
        </p:spPr>
        <p:txBody>
          <a:bodyPr/>
          <a:lstStyle/>
          <a:p>
            <a:r>
              <a:rPr lang="en-US" b="1" dirty="0" smtClean="0"/>
              <a:t>Perfect substitutes- </a:t>
            </a:r>
            <a:r>
              <a:rPr lang="en-US" dirty="0" smtClean="0"/>
              <a:t>two goods with straight line indifference curves. Because the marginal rate of substitution is constant, the indifference curves are straight lines. Exchange ratio 1:1. Ex- One pasta for one pizza</a:t>
            </a:r>
          </a:p>
          <a:p>
            <a:r>
              <a:rPr lang="en-US" b="1" dirty="0" smtClean="0"/>
              <a:t>Perfect complements- </a:t>
            </a:r>
            <a:r>
              <a:rPr lang="en-US" dirty="0" smtClean="0"/>
              <a:t>two goods with right angle indifference curves. Ex- Left Shoe &amp; right shoe</a:t>
            </a:r>
            <a:endParaRPr lang="en-US"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lang="en-US" b="1" dirty="0" smtClean="0"/>
              <a:t>TWO EXTREME EXAMPLES OF INDIFFERENCE CURVES</a:t>
            </a:r>
            <a:endParaRPr lang="en-US" dirty="0"/>
          </a:p>
        </p:txBody>
      </p:sp>
      <p:pic>
        <p:nvPicPr>
          <p:cNvPr id="4098" name="Picture 2"/>
          <p:cNvPicPr>
            <a:picLocks noGrp="1" noChangeAspect="1" noChangeArrowheads="1"/>
          </p:cNvPicPr>
          <p:nvPr>
            <p:ph idx="1"/>
          </p:nvPr>
        </p:nvPicPr>
        <p:blipFill>
          <a:blip r:embed="rId3" cstate="print"/>
          <a:srcRect/>
          <a:stretch>
            <a:fillRect/>
          </a:stretch>
        </p:blipFill>
        <p:spPr bwMode="auto">
          <a:xfrm>
            <a:off x="533400" y="1828800"/>
            <a:ext cx="7672387" cy="4495800"/>
          </a:xfrm>
          <a:prstGeom prst="rect">
            <a:avLst/>
          </a:prstGeom>
          <a:noFill/>
          <a:ln w="9525">
            <a:noFill/>
            <a:miter lim="800000"/>
            <a:headEnd/>
            <a:tailEnd/>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smtClean="0"/>
              <a:t>OPTIMIZATION: THE CONSUMER’S OPTIMAL CHOICES</a:t>
            </a:r>
            <a:endParaRPr lang="en-US" dirty="0"/>
          </a:p>
        </p:txBody>
      </p:sp>
      <p:pic>
        <p:nvPicPr>
          <p:cNvPr id="3074" name="Picture 2"/>
          <p:cNvPicPr>
            <a:picLocks noGrp="1" noChangeAspect="1" noChangeArrowheads="1"/>
          </p:cNvPicPr>
          <p:nvPr>
            <p:ph idx="1"/>
          </p:nvPr>
        </p:nvPicPr>
        <p:blipFill>
          <a:blip r:embed="rId2" cstate="print"/>
          <a:srcRect/>
          <a:stretch>
            <a:fillRect/>
          </a:stretch>
        </p:blipFill>
        <p:spPr bwMode="auto">
          <a:xfrm>
            <a:off x="457200" y="1752600"/>
            <a:ext cx="7410450" cy="4191000"/>
          </a:xfrm>
          <a:prstGeom prst="rect">
            <a:avLst/>
          </a:prstGeom>
          <a:noFill/>
          <a:ln w="9525">
            <a:noFill/>
            <a:miter lim="800000"/>
            <a:headEnd/>
            <a:tailEnd/>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81000"/>
            <a:ext cx="6347713" cy="1320800"/>
          </a:xfrm>
        </p:spPr>
        <p:txBody>
          <a:bodyPr>
            <a:normAutofit fontScale="90000"/>
          </a:bodyPr>
          <a:lstStyle/>
          <a:p>
            <a:pPr algn="ctr"/>
            <a:r>
              <a:rPr lang="en-US" b="1" dirty="0" smtClean="0"/>
              <a:t>HOW CHANGES IN INCOME AFFECT THE CONSUMER’S CHOICES</a:t>
            </a:r>
            <a:endParaRPr lang="en-US" dirty="0"/>
          </a:p>
        </p:txBody>
      </p:sp>
      <p:pic>
        <p:nvPicPr>
          <p:cNvPr id="2050" name="Picture 2"/>
          <p:cNvPicPr>
            <a:picLocks noGrp="1" noChangeAspect="1" noChangeArrowheads="1"/>
          </p:cNvPicPr>
          <p:nvPr>
            <p:ph idx="1"/>
          </p:nvPr>
        </p:nvPicPr>
        <p:blipFill>
          <a:blip r:embed="rId2" cstate="print"/>
          <a:srcRect/>
          <a:stretch>
            <a:fillRect/>
          </a:stretch>
        </p:blipFill>
        <p:spPr bwMode="auto">
          <a:xfrm>
            <a:off x="304800" y="1981200"/>
            <a:ext cx="7696200" cy="4195763"/>
          </a:xfrm>
          <a:prstGeom prst="rect">
            <a:avLst/>
          </a:prstGeom>
          <a:noFill/>
          <a:ln w="9525">
            <a:noFill/>
            <a:miter lim="800000"/>
            <a:headEnd/>
            <a:tailEnd/>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ctr"/>
            <a:r>
              <a:rPr lang="en-US" b="1" dirty="0"/>
              <a:t>HOW CHANGES IN PRICES AFFECT THE CONSUMER’S CHOICES</a:t>
            </a:r>
            <a:endParaRPr lang="en-US" dirty="0"/>
          </a:p>
        </p:txBody>
      </p:sp>
      <p:sp>
        <p:nvSpPr>
          <p:cNvPr id="3" name="Content Placeholder 2"/>
          <p:cNvSpPr>
            <a:spLocks noGrp="1"/>
          </p:cNvSpPr>
          <p:nvPr>
            <p:ph idx="1"/>
          </p:nvPr>
        </p:nvSpPr>
        <p:spPr/>
        <p:txBody>
          <a:bodyPr/>
          <a:lstStyle/>
          <a:p>
            <a:r>
              <a:rPr lang="en-US" b="1" dirty="0"/>
              <a:t>Inferior good</a:t>
            </a:r>
          </a:p>
          <a:p>
            <a:endParaRPr lang="en-US" dirty="0"/>
          </a:p>
        </p:txBody>
      </p:sp>
      <p:pic>
        <p:nvPicPr>
          <p:cNvPr id="4" name="Picture 3"/>
          <p:cNvPicPr>
            <a:picLocks noChangeAspect="1"/>
          </p:cNvPicPr>
          <p:nvPr/>
        </p:nvPicPr>
        <p:blipFill>
          <a:blip r:embed="rId2"/>
          <a:stretch>
            <a:fillRect/>
          </a:stretch>
        </p:blipFill>
        <p:spPr>
          <a:xfrm>
            <a:off x="609599" y="2514600"/>
            <a:ext cx="7162801" cy="3886200"/>
          </a:xfrm>
          <a:prstGeom prst="rect">
            <a:avLst/>
          </a:prstGeom>
        </p:spPr>
      </p:pic>
    </p:spTree>
    <p:extLst>
      <p:ext uri="{BB962C8B-B14F-4D97-AF65-F5344CB8AC3E}">
        <p14:creationId xmlns:p14="http://schemas.microsoft.com/office/powerpoint/2010/main" val="1591830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599" y="609600"/>
            <a:ext cx="6347713" cy="1447800"/>
          </a:xfrm>
        </p:spPr>
        <p:txBody>
          <a:bodyPr>
            <a:normAutofit fontScale="90000"/>
          </a:bodyPr>
          <a:lstStyle/>
          <a:p>
            <a:pPr algn="ctr"/>
            <a:r>
              <a:rPr lang="en-US" b="1" dirty="0" smtClean="0"/>
              <a:t>HOW CHANGES IN PRICES AFFECT THE CONSUMER’S CHOICES</a:t>
            </a:r>
            <a:endParaRPr lang="en-US" dirty="0"/>
          </a:p>
        </p:txBody>
      </p:sp>
      <p:pic>
        <p:nvPicPr>
          <p:cNvPr id="1027" name="Picture 3"/>
          <p:cNvPicPr>
            <a:picLocks noGrp="1" noChangeAspect="1" noChangeArrowheads="1"/>
          </p:cNvPicPr>
          <p:nvPr>
            <p:ph idx="1"/>
          </p:nvPr>
        </p:nvPicPr>
        <p:blipFill>
          <a:blip r:embed="rId2" cstate="print"/>
          <a:srcRect/>
          <a:stretch>
            <a:fillRect/>
          </a:stretch>
        </p:blipFill>
        <p:spPr bwMode="auto">
          <a:xfrm>
            <a:off x="304800" y="2362200"/>
            <a:ext cx="7620000" cy="4038600"/>
          </a:xfrm>
          <a:prstGeom prst="rect">
            <a:avLst/>
          </a:prstGeom>
          <a:noFill/>
          <a:ln w="9525">
            <a:noFill/>
            <a:miter lim="800000"/>
            <a:headEnd/>
            <a:tailEnd/>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Deriving the Demand Curve</a:t>
            </a:r>
            <a:endParaRPr lang="en-US" dirty="0"/>
          </a:p>
        </p:txBody>
      </p:sp>
      <p:pic>
        <p:nvPicPr>
          <p:cNvPr id="4" name="Content Placeholder 3"/>
          <p:cNvPicPr>
            <a:picLocks noGrp="1" noChangeAspect="1"/>
          </p:cNvPicPr>
          <p:nvPr>
            <p:ph idx="1"/>
          </p:nvPr>
        </p:nvPicPr>
        <p:blipFill>
          <a:blip r:embed="rId2"/>
          <a:stretch>
            <a:fillRect/>
          </a:stretch>
        </p:blipFill>
        <p:spPr>
          <a:xfrm>
            <a:off x="838200" y="1524000"/>
            <a:ext cx="6858000" cy="4495800"/>
          </a:xfrm>
          <a:prstGeom prst="rect">
            <a:avLst/>
          </a:prstGeom>
        </p:spPr>
      </p:pic>
    </p:spTree>
    <p:extLst>
      <p:ext uri="{BB962C8B-B14F-4D97-AF65-F5344CB8AC3E}">
        <p14:creationId xmlns:p14="http://schemas.microsoft.com/office/powerpoint/2010/main" val="2198050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Do All Demand Curves Slope Downward?</a:t>
            </a:r>
            <a:endParaRPr lang="en-US" dirty="0"/>
          </a:p>
        </p:txBody>
      </p:sp>
      <p:sp>
        <p:nvSpPr>
          <p:cNvPr id="3" name="Content Placeholder 2"/>
          <p:cNvSpPr>
            <a:spLocks noGrp="1"/>
          </p:cNvSpPr>
          <p:nvPr>
            <p:ph idx="1"/>
          </p:nvPr>
        </p:nvSpPr>
        <p:spPr>
          <a:xfrm>
            <a:off x="609598" y="2160590"/>
            <a:ext cx="6781801" cy="3880773"/>
          </a:xfrm>
        </p:spPr>
        <p:txBody>
          <a:bodyPr>
            <a:normAutofit/>
          </a:bodyPr>
          <a:lstStyle/>
          <a:p>
            <a:r>
              <a:rPr lang="en-US" dirty="0"/>
              <a:t>Normally, when the price of a good rises, people buy less of </a:t>
            </a:r>
            <a:r>
              <a:rPr lang="en-US" dirty="0" smtClean="0"/>
              <a:t>it according to the </a:t>
            </a:r>
            <a:r>
              <a:rPr lang="en-US" i="1" dirty="0"/>
              <a:t>law of demand</a:t>
            </a:r>
            <a:r>
              <a:rPr lang="en-US" dirty="0" smtClean="0"/>
              <a:t>, and </a:t>
            </a:r>
            <a:r>
              <a:rPr lang="en-US" dirty="0"/>
              <a:t>is reflected in the downward slope of </a:t>
            </a:r>
            <a:r>
              <a:rPr lang="en-US" dirty="0" smtClean="0"/>
              <a:t>the demand </a:t>
            </a:r>
            <a:r>
              <a:rPr lang="en-US" dirty="0"/>
              <a:t>curve.</a:t>
            </a:r>
          </a:p>
          <a:p>
            <a:r>
              <a:rPr lang="en-US" dirty="0"/>
              <a:t>As a matter of economic theory, however, demand curves can sometimes </a:t>
            </a:r>
            <a:r>
              <a:rPr lang="en-US" dirty="0" smtClean="0"/>
              <a:t>slope upward</a:t>
            </a:r>
            <a:r>
              <a:rPr lang="en-US" dirty="0"/>
              <a:t>. In other words, consumers can sometimes violate the law of </a:t>
            </a:r>
            <a:r>
              <a:rPr lang="en-US" dirty="0" smtClean="0"/>
              <a:t>demand and </a:t>
            </a:r>
            <a:r>
              <a:rPr lang="en-US" dirty="0"/>
              <a:t>buy </a:t>
            </a:r>
            <a:r>
              <a:rPr lang="en-US" i="1" dirty="0"/>
              <a:t>more </a:t>
            </a:r>
            <a:r>
              <a:rPr lang="en-US" dirty="0"/>
              <a:t>of a good when the price rises</a:t>
            </a:r>
            <a:r>
              <a:rPr lang="en-US" dirty="0" smtClean="0"/>
              <a:t>.</a:t>
            </a:r>
          </a:p>
          <a:p>
            <a:r>
              <a:rPr lang="en-US" b="1" dirty="0" err="1"/>
              <a:t>Giffen</a:t>
            </a:r>
            <a:r>
              <a:rPr lang="en-US" b="1" dirty="0"/>
              <a:t> </a:t>
            </a:r>
            <a:r>
              <a:rPr lang="en-US" b="1" dirty="0" smtClean="0"/>
              <a:t>good- </a:t>
            </a:r>
            <a:r>
              <a:rPr lang="en-US" dirty="0" smtClean="0"/>
              <a:t>a </a:t>
            </a:r>
            <a:r>
              <a:rPr lang="en-US" dirty="0"/>
              <a:t>good for which </a:t>
            </a:r>
            <a:r>
              <a:rPr lang="en-US" dirty="0" smtClean="0"/>
              <a:t>an increase </a:t>
            </a:r>
            <a:r>
              <a:rPr lang="en-US" dirty="0"/>
              <a:t>in the </a:t>
            </a:r>
            <a:r>
              <a:rPr lang="en-US" dirty="0" smtClean="0"/>
              <a:t>price raises </a:t>
            </a:r>
            <a:r>
              <a:rPr lang="en-US" dirty="0"/>
              <a:t>the </a:t>
            </a:r>
            <a:r>
              <a:rPr lang="en-US" dirty="0" smtClean="0"/>
              <a:t>quantity demanded</a:t>
            </a:r>
            <a:endParaRPr lang="en-US" dirty="0"/>
          </a:p>
        </p:txBody>
      </p:sp>
    </p:spTree>
    <p:extLst>
      <p:ext uri="{BB962C8B-B14F-4D97-AF65-F5344CB8AC3E}">
        <p14:creationId xmlns:p14="http://schemas.microsoft.com/office/powerpoint/2010/main" val="11672044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Do All Demand Curves Slope Downward?</a:t>
            </a:r>
            <a:endParaRPr lang="en-US" dirty="0"/>
          </a:p>
        </p:txBody>
      </p:sp>
      <p:pic>
        <p:nvPicPr>
          <p:cNvPr id="4" name="Content Placeholder 3"/>
          <p:cNvPicPr>
            <a:picLocks noGrp="1" noChangeAspect="1"/>
          </p:cNvPicPr>
          <p:nvPr>
            <p:ph idx="1"/>
          </p:nvPr>
        </p:nvPicPr>
        <p:blipFill>
          <a:blip r:embed="rId2"/>
          <a:stretch>
            <a:fillRect/>
          </a:stretch>
        </p:blipFill>
        <p:spPr>
          <a:xfrm>
            <a:off x="457201" y="1930400"/>
            <a:ext cx="7239000" cy="4165600"/>
          </a:xfrm>
          <a:prstGeom prst="rect">
            <a:avLst/>
          </a:prstGeom>
        </p:spPr>
      </p:pic>
    </p:spTree>
    <p:extLst>
      <p:ext uri="{BB962C8B-B14F-4D97-AF65-F5344CB8AC3E}">
        <p14:creationId xmlns:p14="http://schemas.microsoft.com/office/powerpoint/2010/main" val="37498891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dirty="0"/>
              <a:t>The Consumption-Saving Decision</a:t>
            </a:r>
            <a:endParaRPr lang="en-US" dirty="0"/>
          </a:p>
        </p:txBody>
      </p:sp>
      <p:pic>
        <p:nvPicPr>
          <p:cNvPr id="4" name="Content Placeholder 3"/>
          <p:cNvPicPr>
            <a:picLocks noGrp="1" noChangeAspect="1"/>
          </p:cNvPicPr>
          <p:nvPr>
            <p:ph idx="1"/>
          </p:nvPr>
        </p:nvPicPr>
        <p:blipFill>
          <a:blip r:embed="rId2"/>
          <a:stretch>
            <a:fillRect/>
          </a:stretch>
        </p:blipFill>
        <p:spPr>
          <a:xfrm>
            <a:off x="609599" y="1930400"/>
            <a:ext cx="6934201" cy="4165600"/>
          </a:xfrm>
          <a:prstGeom prst="rect">
            <a:avLst/>
          </a:prstGeom>
        </p:spPr>
      </p:pic>
    </p:spTree>
    <p:extLst>
      <p:ext uri="{BB962C8B-B14F-4D97-AF65-F5344CB8AC3E}">
        <p14:creationId xmlns:p14="http://schemas.microsoft.com/office/powerpoint/2010/main" val="388932868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xmlns=""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Facet</Template>
  <TotalTime>324</TotalTime>
  <Words>930</Words>
  <Application>Microsoft Office PowerPoint</Application>
  <PresentationFormat>On-screen Show (4:3)</PresentationFormat>
  <Paragraphs>49</Paragraphs>
  <Slides>21</Slides>
  <Notes>1</Notes>
  <HiddenSlides>0</HiddenSlides>
  <MMClips>0</MMClip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Facet</vt:lpstr>
      <vt:lpstr>The Theory of Consumer Choice</vt:lpstr>
      <vt:lpstr>Consumer Choice</vt:lpstr>
      <vt:lpstr>THE BUDGET CONSTRAINT: WHAT THE CONSUMER CAN AFFORD</vt:lpstr>
      <vt:lpstr>THE BUDGET CONSTRAINT: WHAT THE CONSUMER CAN AFFORD</vt:lpstr>
      <vt:lpstr>REPRESENTING PREFERENCES WITH INDIFFERENCE CURVES</vt:lpstr>
      <vt:lpstr>FOUR PROPERTIES OF INDIFFERENCE CURVES</vt:lpstr>
      <vt:lpstr>FOUR PROPERTIES OF INDIFFERENCE CURVES</vt:lpstr>
      <vt:lpstr>FOUR PROPERTIES OF INDIFFERENCE CURVES</vt:lpstr>
      <vt:lpstr>FOUR PROPERTIES OF INDIFFERENCE CURVES</vt:lpstr>
      <vt:lpstr>FOUR PROPERTIES OF INDIFFERENCE CURVES</vt:lpstr>
      <vt:lpstr>FOUR PROPERTIES OF INDIFFERENCE CURVES</vt:lpstr>
      <vt:lpstr>TWO EXTREME EXAMPLES OF INDIFFERENCE CURVES</vt:lpstr>
      <vt:lpstr>TWO EXTREME EXAMPLES OF INDIFFERENCE CURVES</vt:lpstr>
      <vt:lpstr>OPTIMIZATION: THE CONSUMER’S OPTIMAL CHOICES</vt:lpstr>
      <vt:lpstr>HOW CHANGES IN INCOME AFFECT THE CONSUMER’S CHOICES</vt:lpstr>
      <vt:lpstr>HOW CHANGES IN PRICES AFFECT THE CONSUMER’S CHOICES</vt:lpstr>
      <vt:lpstr>HOW CHANGES IN PRICES AFFECT THE CONSUMER’S CHOICES</vt:lpstr>
      <vt:lpstr>Deriving the Demand Curve</vt:lpstr>
      <vt:lpstr>Do All Demand Curves Slope Downward?</vt:lpstr>
      <vt:lpstr>Do All Demand Curves Slope Downward?</vt:lpstr>
      <vt:lpstr>The Consumption-Saving Decision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Theory of Consumer Choice</dc:title>
  <dc:creator>Chandra</dc:creator>
  <cp:lastModifiedBy>Acer</cp:lastModifiedBy>
  <cp:revision>18</cp:revision>
  <dcterms:created xsi:type="dcterms:W3CDTF">2020-05-30T13:50:33Z</dcterms:created>
  <dcterms:modified xsi:type="dcterms:W3CDTF">2025-07-23T08:33:53Z</dcterms:modified>
</cp:coreProperties>
</file>