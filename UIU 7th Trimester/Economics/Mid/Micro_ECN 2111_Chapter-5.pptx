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5" d="100"/>
          <a:sy n="95" d="100"/>
        </p:scale>
        <p:origin x="-206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Elasticity and Its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43268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Faculty</a:t>
            </a:r>
            <a:r>
              <a:rPr lang="en-US" smtClean="0"/>
              <a:t>: </a:t>
            </a:r>
            <a:endParaRPr lang="en-US" dirty="0" smtClean="0"/>
          </a:p>
          <a:p>
            <a:r>
              <a:rPr lang="en-US" dirty="0" smtClean="0"/>
              <a:t>Course: Microeconomics</a:t>
            </a:r>
          </a:p>
          <a:p>
            <a:r>
              <a:rPr lang="en-US" dirty="0" smtClean="0"/>
              <a:t>Chap-5</a:t>
            </a:r>
          </a:p>
          <a:p>
            <a:r>
              <a:rPr lang="en-US" dirty="0" smtClean="0"/>
              <a:t>United </a:t>
            </a:r>
            <a:r>
              <a:rPr lang="en-US" dirty="0" err="1" smtClean="0"/>
              <a:t>int</a:t>
            </a:r>
            <a:r>
              <a:rPr lang="en-US" dirty="0" smtClean="0"/>
              <a:t>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7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Elasticity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Elasticity-</a:t>
            </a:r>
            <a:r>
              <a:rPr lang="en-US" b="1" dirty="0"/>
              <a:t> </a:t>
            </a:r>
            <a:r>
              <a:rPr lang="en-US" dirty="0" smtClean="0"/>
              <a:t>a </a:t>
            </a:r>
            <a:r>
              <a:rPr lang="en-US" dirty="0"/>
              <a:t>measure of </a:t>
            </a:r>
            <a:r>
              <a:rPr lang="en-US" dirty="0" smtClean="0"/>
              <a:t>the responsiveness of quantity demanded or </a:t>
            </a:r>
            <a:r>
              <a:rPr lang="en-US" dirty="0"/>
              <a:t>quantity </a:t>
            </a:r>
            <a:r>
              <a:rPr lang="en-US" dirty="0" smtClean="0"/>
              <a:t>supplied to </a:t>
            </a:r>
            <a:r>
              <a:rPr lang="en-US" dirty="0"/>
              <a:t>a change in </a:t>
            </a:r>
            <a:r>
              <a:rPr lang="en-US" dirty="0" smtClean="0"/>
              <a:t>one of </a:t>
            </a:r>
            <a:r>
              <a:rPr lang="en-US" dirty="0"/>
              <a:t>its </a:t>
            </a:r>
            <a:r>
              <a:rPr lang="en-US" dirty="0" smtClean="0"/>
              <a:t>determinants. It measures </a:t>
            </a:r>
            <a:r>
              <a:rPr lang="en-US" dirty="0"/>
              <a:t>of how much buyers and sellers respond to changes </a:t>
            </a:r>
            <a:r>
              <a:rPr lang="en-US" dirty="0" smtClean="0"/>
              <a:t>in market </a:t>
            </a:r>
            <a:r>
              <a:rPr lang="en-US" dirty="0"/>
              <a:t>conditions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2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Elasticity of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rice </a:t>
            </a:r>
            <a:r>
              <a:rPr lang="en-US" b="1" dirty="0"/>
              <a:t>elasticity of </a:t>
            </a:r>
            <a:r>
              <a:rPr lang="en-US" b="1" dirty="0" smtClean="0"/>
              <a:t>demand-</a:t>
            </a:r>
            <a:r>
              <a:rPr lang="en-US" b="1" dirty="0"/>
              <a:t> </a:t>
            </a:r>
            <a:r>
              <a:rPr lang="en-US" dirty="0" smtClean="0"/>
              <a:t>a </a:t>
            </a:r>
            <a:r>
              <a:rPr lang="en-US" dirty="0"/>
              <a:t>measure of how </a:t>
            </a:r>
            <a:r>
              <a:rPr lang="en-US" dirty="0" smtClean="0"/>
              <a:t>much the </a:t>
            </a:r>
            <a:r>
              <a:rPr lang="en-US" dirty="0"/>
              <a:t>quantity </a:t>
            </a:r>
            <a:r>
              <a:rPr lang="en-US" dirty="0" smtClean="0"/>
              <a:t>demanded of </a:t>
            </a:r>
            <a:r>
              <a:rPr lang="en-US" dirty="0"/>
              <a:t>a good responds to </a:t>
            </a:r>
            <a:r>
              <a:rPr lang="en-US" dirty="0" smtClean="0"/>
              <a:t>a change </a:t>
            </a:r>
            <a:r>
              <a:rPr lang="en-US" dirty="0"/>
              <a:t>in the price </a:t>
            </a:r>
            <a:r>
              <a:rPr lang="en-US" dirty="0" smtClean="0"/>
              <a:t>of that </a:t>
            </a:r>
            <a:r>
              <a:rPr lang="en-US" dirty="0"/>
              <a:t>good, computed </a:t>
            </a:r>
            <a:r>
              <a:rPr lang="en-US" dirty="0" smtClean="0"/>
              <a:t>as the </a:t>
            </a:r>
            <a:r>
              <a:rPr lang="en-US" dirty="0"/>
              <a:t>percentage </a:t>
            </a:r>
            <a:r>
              <a:rPr lang="en-US" dirty="0" smtClean="0"/>
              <a:t>change in </a:t>
            </a:r>
            <a:r>
              <a:rPr lang="en-US" dirty="0"/>
              <a:t>quantity </a:t>
            </a:r>
            <a:r>
              <a:rPr lang="en-US" dirty="0" smtClean="0"/>
              <a:t>demanded divided </a:t>
            </a:r>
            <a:r>
              <a:rPr lang="en-US" dirty="0"/>
              <a:t>by the </a:t>
            </a:r>
            <a:r>
              <a:rPr lang="en-US" dirty="0" smtClean="0"/>
              <a:t>percentage change </a:t>
            </a:r>
            <a:r>
              <a:rPr lang="en-US" dirty="0"/>
              <a:t>in </a:t>
            </a:r>
            <a:r>
              <a:rPr lang="en-US" dirty="0" smtClean="0"/>
              <a:t>price.</a:t>
            </a:r>
          </a:p>
          <a:p>
            <a:r>
              <a:rPr lang="en-US" dirty="0"/>
              <a:t>Demand for a good is said to be </a:t>
            </a:r>
            <a:r>
              <a:rPr lang="en-US" b="1" i="1" dirty="0" smtClean="0"/>
              <a:t>elastic</a:t>
            </a:r>
            <a:r>
              <a:rPr lang="en-US" i="1" dirty="0" smtClean="0"/>
              <a:t> </a:t>
            </a:r>
            <a:r>
              <a:rPr lang="en-US" dirty="0" smtClean="0"/>
              <a:t>if </a:t>
            </a:r>
            <a:r>
              <a:rPr lang="en-US" dirty="0"/>
              <a:t>the quantity demanded responds substantially to changes in the price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Demand is </a:t>
            </a:r>
            <a:r>
              <a:rPr lang="en-US" dirty="0"/>
              <a:t>said to be </a:t>
            </a:r>
            <a:r>
              <a:rPr lang="en-US" b="1" i="1" dirty="0" smtClean="0"/>
              <a:t>inelastic</a:t>
            </a:r>
            <a:r>
              <a:rPr lang="en-US" i="1" dirty="0" smtClean="0"/>
              <a:t> </a:t>
            </a:r>
            <a:r>
              <a:rPr lang="en-US" dirty="0"/>
              <a:t>if the quantity demanded responds only slightly to </a:t>
            </a:r>
            <a:r>
              <a:rPr lang="en-US" dirty="0" smtClean="0"/>
              <a:t>changes in </a:t>
            </a:r>
            <a:r>
              <a:rPr lang="en-US" dirty="0"/>
              <a:t>the price.</a:t>
            </a:r>
          </a:p>
        </p:txBody>
      </p:sp>
    </p:spTree>
    <p:extLst>
      <p:ext uri="{BB962C8B-B14F-4D97-AF65-F5344CB8AC3E}">
        <p14:creationId xmlns:p14="http://schemas.microsoft.com/office/powerpoint/2010/main" val="307100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Determinants that Influences The Price Elasticity </a:t>
            </a:r>
            <a:r>
              <a:rPr lang="en-US" b="1" dirty="0"/>
              <a:t>of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Availability of Close </a:t>
            </a:r>
            <a:r>
              <a:rPr lang="en-US" b="1" dirty="0" smtClean="0"/>
              <a:t>Substitutes- </a:t>
            </a:r>
            <a:r>
              <a:rPr lang="en-US" dirty="0"/>
              <a:t>Goods with close substitutes tend to </a:t>
            </a:r>
            <a:r>
              <a:rPr lang="en-US" dirty="0" smtClean="0"/>
              <a:t>have more </a:t>
            </a:r>
            <a:r>
              <a:rPr lang="en-US" dirty="0"/>
              <a:t>elastic demand because it is easier for consumers to switch from that </a:t>
            </a:r>
            <a:r>
              <a:rPr lang="en-US" dirty="0" smtClean="0"/>
              <a:t>good to </a:t>
            </a:r>
            <a:r>
              <a:rPr lang="en-US" dirty="0"/>
              <a:t>others. For example, butter and margarine are easily substitutable. A </a:t>
            </a:r>
            <a:r>
              <a:rPr lang="en-US" dirty="0" smtClean="0"/>
              <a:t>small increase </a:t>
            </a:r>
            <a:r>
              <a:rPr lang="en-US" dirty="0"/>
              <a:t>in the price of butter, assuming the price of margarine is held </a:t>
            </a:r>
            <a:r>
              <a:rPr lang="en-US" dirty="0" smtClean="0"/>
              <a:t>fixed, causes </a:t>
            </a:r>
            <a:r>
              <a:rPr lang="en-US" dirty="0"/>
              <a:t>the quantity of butter sold to fall by a large amount. By contrast, </a:t>
            </a:r>
            <a:r>
              <a:rPr lang="en-US" dirty="0" smtClean="0"/>
              <a:t>because eggs </a:t>
            </a:r>
            <a:r>
              <a:rPr lang="en-US" dirty="0"/>
              <a:t>are a food without a close substitute, the demand for eggs is less </a:t>
            </a:r>
            <a:r>
              <a:rPr lang="en-US" dirty="0" smtClean="0"/>
              <a:t>elastic than </a:t>
            </a:r>
            <a:r>
              <a:rPr lang="en-US" dirty="0"/>
              <a:t>the demand for butter. A small increase in the price of eggs does not cause </a:t>
            </a:r>
            <a:r>
              <a:rPr lang="en-US" dirty="0" smtClean="0"/>
              <a:t>a sizable </a:t>
            </a:r>
            <a:r>
              <a:rPr lang="en-US" dirty="0"/>
              <a:t>drop in the quantity of eggs sold.</a:t>
            </a:r>
          </a:p>
        </p:txBody>
      </p:sp>
    </p:spTree>
    <p:extLst>
      <p:ext uri="{BB962C8B-B14F-4D97-AF65-F5344CB8AC3E}">
        <p14:creationId xmlns:p14="http://schemas.microsoft.com/office/powerpoint/2010/main" val="398518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Determinants that Influences The Price Elasticity of Demand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821667" cy="3993182"/>
          </a:xfrm>
        </p:spPr>
        <p:txBody>
          <a:bodyPr>
            <a:normAutofit/>
          </a:bodyPr>
          <a:lstStyle/>
          <a:p>
            <a:r>
              <a:rPr lang="en-US" b="1" dirty="0"/>
              <a:t>Necessities versus </a:t>
            </a:r>
            <a:r>
              <a:rPr lang="en-US" b="1" dirty="0" smtClean="0"/>
              <a:t>Luxuries- </a:t>
            </a:r>
            <a:r>
              <a:rPr lang="en-US" dirty="0"/>
              <a:t>Necessities tend to have inelastic demands, </a:t>
            </a:r>
            <a:r>
              <a:rPr lang="en-US" dirty="0" smtClean="0"/>
              <a:t>whereas luxuries </a:t>
            </a:r>
            <a:r>
              <a:rPr lang="en-US" dirty="0"/>
              <a:t>have elastic demands</a:t>
            </a:r>
            <a:r>
              <a:rPr lang="en-US" dirty="0" smtClean="0"/>
              <a:t>. Ex- Salt is a necessary good and no matter how the price of salt changes, there will be little effect on the demand for salt. Whereas, a Ferrari car is  a luxury item and an increase in its price will have significant effect on its demand.</a:t>
            </a:r>
          </a:p>
          <a:p>
            <a:r>
              <a:rPr lang="en-US" b="1" dirty="0"/>
              <a:t>Definition of the </a:t>
            </a:r>
            <a:r>
              <a:rPr lang="en-US" b="1" dirty="0" smtClean="0"/>
              <a:t>Market- </a:t>
            </a:r>
            <a:r>
              <a:rPr lang="en-US" dirty="0"/>
              <a:t>The elasticity of demand in any market depends </a:t>
            </a:r>
            <a:r>
              <a:rPr lang="en-US" dirty="0" smtClean="0"/>
              <a:t>on how </a:t>
            </a:r>
            <a:r>
              <a:rPr lang="en-US" dirty="0"/>
              <a:t>we draw the boundaries of the market. Narrowly defined markets tend </a:t>
            </a:r>
            <a:r>
              <a:rPr lang="en-US" dirty="0" smtClean="0"/>
              <a:t>to have </a:t>
            </a:r>
            <a:r>
              <a:rPr lang="en-US" dirty="0"/>
              <a:t>more elastic demand than broadly defined markets because it is easier </a:t>
            </a:r>
            <a:r>
              <a:rPr lang="en-US" dirty="0" smtClean="0"/>
              <a:t>to find </a:t>
            </a:r>
            <a:r>
              <a:rPr lang="en-US" dirty="0"/>
              <a:t>close substitutes for narrowly defined goods. For example, food, a </a:t>
            </a:r>
            <a:r>
              <a:rPr lang="en-US" dirty="0" smtClean="0"/>
              <a:t>broad category</a:t>
            </a:r>
            <a:r>
              <a:rPr lang="en-US" dirty="0"/>
              <a:t>, has a fairly inelastic demand because there are no good substitutes </a:t>
            </a:r>
            <a:r>
              <a:rPr lang="en-US" dirty="0" smtClean="0"/>
              <a:t>for food</a:t>
            </a:r>
            <a:r>
              <a:rPr lang="en-US" dirty="0"/>
              <a:t>. Ice cream, a narrower category, has a more elastic demand because it is </a:t>
            </a:r>
            <a:r>
              <a:rPr lang="en-US" dirty="0" smtClean="0"/>
              <a:t>easy to </a:t>
            </a:r>
            <a:r>
              <a:rPr lang="en-US" dirty="0"/>
              <a:t>substitute other desserts for ice cream.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239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Determinants that Influences The Price Elasticity of Demand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</a:t>
            </a:r>
            <a:r>
              <a:rPr lang="en-US" b="1" dirty="0" smtClean="0"/>
              <a:t>Horizon- </a:t>
            </a:r>
            <a:r>
              <a:rPr lang="en-US" dirty="0"/>
              <a:t>Goods tend to have more elastic demand over longer </a:t>
            </a:r>
            <a:r>
              <a:rPr lang="en-US" dirty="0" smtClean="0"/>
              <a:t>time horizons</a:t>
            </a:r>
            <a:r>
              <a:rPr lang="en-US" dirty="0"/>
              <a:t>. When the price of gasoline rises, the quantity of gasoline </a:t>
            </a:r>
            <a:r>
              <a:rPr lang="en-US" dirty="0" smtClean="0"/>
              <a:t>demanded falls </a:t>
            </a:r>
            <a:r>
              <a:rPr lang="en-US" dirty="0"/>
              <a:t>only slightly in the first few months. Over time, however, people buy </a:t>
            </a:r>
            <a:r>
              <a:rPr lang="en-US" dirty="0" smtClean="0"/>
              <a:t>more fuel-efficient </a:t>
            </a:r>
            <a:r>
              <a:rPr lang="en-US" dirty="0"/>
              <a:t>cars, switch to public transportation, and move closer to </a:t>
            </a:r>
            <a:r>
              <a:rPr lang="en-US" dirty="0" smtClean="0"/>
              <a:t>where they </a:t>
            </a:r>
            <a:r>
              <a:rPr lang="en-US" dirty="0"/>
              <a:t>work. Within several years, the quantity of gasoline demanded </a:t>
            </a:r>
            <a:r>
              <a:rPr lang="en-US"/>
              <a:t>falls </a:t>
            </a:r>
            <a:r>
              <a:rPr lang="en-US" smtClean="0"/>
              <a:t>more substantially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94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Computing the Price Elasticity of Demand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</a:t>
            </a:r>
            <a:r>
              <a:rPr lang="en-US" dirty="0" smtClean="0"/>
              <a:t>e </a:t>
            </a:r>
            <a:r>
              <a:rPr lang="en-US" dirty="0"/>
              <a:t>follow the common practice of dropping the minus sign and reporting all </a:t>
            </a:r>
            <a:r>
              <a:rPr lang="en-US" dirty="0" smtClean="0"/>
              <a:t>price </a:t>
            </a:r>
            <a:r>
              <a:rPr lang="en-US" dirty="0"/>
              <a:t>elasticities of demand as positive numbers. (Mathematicians call this the </a:t>
            </a:r>
            <a:r>
              <a:rPr lang="en-US" i="1" dirty="0" smtClean="0"/>
              <a:t>absolute value</a:t>
            </a:r>
            <a:r>
              <a:rPr lang="en-US" dirty="0"/>
              <a:t>.) With </a:t>
            </a:r>
            <a:r>
              <a:rPr lang="en-US" dirty="0" smtClean="0"/>
              <a:t>this convention</a:t>
            </a:r>
            <a:r>
              <a:rPr lang="en-US" dirty="0"/>
              <a:t>, a larger price elasticity implies a greater </a:t>
            </a:r>
            <a:r>
              <a:rPr lang="en-US" dirty="0" smtClean="0"/>
              <a:t>responsiveness of </a:t>
            </a:r>
            <a:r>
              <a:rPr lang="en-US" dirty="0"/>
              <a:t>quantity demanded to changes in price.</a:t>
            </a:r>
            <a:endParaRPr lang="en-US" dirty="0" smtClean="0"/>
          </a:p>
          <a:p>
            <a:r>
              <a:rPr lang="en-US" dirty="0" smtClean="0"/>
              <a:t>Economists </a:t>
            </a:r>
            <a:r>
              <a:rPr lang="en-US" dirty="0"/>
              <a:t>compute the price </a:t>
            </a:r>
            <a:r>
              <a:rPr lang="en-US" dirty="0" smtClean="0"/>
              <a:t>elasticity of </a:t>
            </a:r>
            <a:r>
              <a:rPr lang="en-US" dirty="0"/>
              <a:t>demand as the percentage change in the quantity demanded divided by </a:t>
            </a:r>
            <a:r>
              <a:rPr lang="en-US" dirty="0" smtClean="0"/>
              <a:t>the percentage </a:t>
            </a:r>
            <a:r>
              <a:rPr lang="en-US" dirty="0"/>
              <a:t>change in the price. That is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9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Computing the Price Elasticity of Demand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45434"/>
          </a:xfrm>
        </p:spPr>
        <p:txBody>
          <a:bodyPr>
            <a:normAutofit fontScale="92500"/>
          </a:bodyPr>
          <a:lstStyle/>
          <a:p>
            <a:r>
              <a:rPr lang="en-US" dirty="0"/>
              <a:t>For example, suppose that a 10 percent increase in the price of an ice-cream cone causes the amount of ice cream you buy to fall by 20 percent. We calculate your elasticity of demand as</a:t>
            </a:r>
          </a:p>
          <a:p>
            <a:r>
              <a:rPr lang="en-US" dirty="0"/>
              <a:t>Price elasticity of </a:t>
            </a:r>
            <a:r>
              <a:rPr lang="en-US" dirty="0" err="1" smtClean="0"/>
              <a:t>demand,Ed</a:t>
            </a:r>
            <a:r>
              <a:rPr lang="en-US" dirty="0" smtClean="0"/>
              <a:t> = </a:t>
            </a:r>
            <a:r>
              <a:rPr lang="en-US" u="sng" dirty="0" smtClean="0"/>
              <a:t>Percentage </a:t>
            </a:r>
            <a:r>
              <a:rPr lang="en-US" u="sng" dirty="0"/>
              <a:t>change in quantity </a:t>
            </a:r>
            <a:r>
              <a:rPr lang="en-US" u="sng" dirty="0" smtClean="0"/>
              <a:t>demanded</a:t>
            </a:r>
            <a:r>
              <a:rPr lang="en-US" u="sng" dirty="0"/>
              <a:t> </a:t>
            </a:r>
            <a:r>
              <a:rPr lang="en-US" u="sng" dirty="0" smtClean="0"/>
              <a:t>                                 </a:t>
            </a:r>
            <a:r>
              <a:rPr lang="en-US" dirty="0" smtClean="0"/>
              <a:t>				Percentage </a:t>
            </a:r>
            <a:r>
              <a:rPr lang="en-US" dirty="0"/>
              <a:t>change in price</a:t>
            </a:r>
          </a:p>
          <a:p>
            <a:r>
              <a:rPr lang="en-US" b="1" dirty="0"/>
              <a:t>The Midpoint Method: A Better Way to </a:t>
            </a:r>
            <a:r>
              <a:rPr lang="en-US" b="1" dirty="0" smtClean="0"/>
              <a:t>Calculate Percentage </a:t>
            </a:r>
            <a:r>
              <a:rPr lang="en-US" b="1" dirty="0"/>
              <a:t>Changes and </a:t>
            </a:r>
            <a:r>
              <a:rPr lang="en-US" b="1" dirty="0" smtClean="0"/>
              <a:t>Elasticities-</a:t>
            </a:r>
          </a:p>
          <a:p>
            <a:endParaRPr lang="en-US" dirty="0" smtClean="0"/>
          </a:p>
          <a:p>
            <a:r>
              <a:rPr lang="en-US" dirty="0"/>
              <a:t>Point A: Price = $4 Quantity = </a:t>
            </a:r>
            <a:r>
              <a:rPr lang="en-US" dirty="0" smtClean="0"/>
              <a:t>120; Point </a:t>
            </a:r>
            <a:r>
              <a:rPr lang="en-US" dirty="0"/>
              <a:t>B: Price = $6 Quantity = </a:t>
            </a:r>
            <a:r>
              <a:rPr lang="en-US" dirty="0" smtClean="0"/>
              <a:t>80 </a:t>
            </a:r>
          </a:p>
          <a:p>
            <a:r>
              <a:rPr lang="en-US" dirty="0"/>
              <a:t>the midpoint method gives the same answer regardless of the </a:t>
            </a:r>
            <a:r>
              <a:rPr lang="en-US" dirty="0" smtClean="0"/>
              <a:t>direction of </a:t>
            </a:r>
            <a:r>
              <a:rPr lang="en-US" dirty="0"/>
              <a:t>change,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029" y="4038449"/>
            <a:ext cx="4506685" cy="8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6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Scale for elasticity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Demand </a:t>
            </a:r>
            <a:r>
              <a:rPr lang="en-US" dirty="0"/>
              <a:t>is </a:t>
            </a:r>
            <a:r>
              <a:rPr lang="en-US" dirty="0" smtClean="0"/>
              <a:t>considered </a:t>
            </a:r>
            <a:r>
              <a:rPr lang="en-US" b="1" i="1" dirty="0" smtClean="0"/>
              <a:t>elastic</a:t>
            </a:r>
            <a:r>
              <a:rPr lang="en-US" i="1" dirty="0" smtClean="0"/>
              <a:t> </a:t>
            </a:r>
            <a:r>
              <a:rPr lang="en-US" dirty="0"/>
              <a:t>when the elasticity is greater than </a:t>
            </a:r>
            <a:r>
              <a:rPr lang="en-US" dirty="0" smtClean="0"/>
              <a:t>1, </a:t>
            </a:r>
            <a:r>
              <a:rPr lang="en-US" dirty="0"/>
              <a:t>which means the </a:t>
            </a:r>
            <a:r>
              <a:rPr lang="en-US" dirty="0" smtClean="0"/>
              <a:t>quantity moves </a:t>
            </a:r>
            <a:r>
              <a:rPr lang="en-US" dirty="0"/>
              <a:t>proportionately more than the price. </a:t>
            </a:r>
            <a:endParaRPr lang="en-US" dirty="0" smtClean="0"/>
          </a:p>
          <a:p>
            <a:r>
              <a:rPr lang="en-US" dirty="0" smtClean="0"/>
              <a:t>Demand </a:t>
            </a:r>
            <a:r>
              <a:rPr lang="en-US" dirty="0"/>
              <a:t>is considered </a:t>
            </a:r>
            <a:r>
              <a:rPr lang="en-US" b="1" i="1" dirty="0"/>
              <a:t>inelastic</a:t>
            </a:r>
            <a:r>
              <a:rPr lang="en-US" i="1" dirty="0"/>
              <a:t> </a:t>
            </a:r>
            <a:r>
              <a:rPr lang="en-US" dirty="0" smtClean="0"/>
              <a:t>when the </a:t>
            </a:r>
            <a:r>
              <a:rPr lang="en-US" dirty="0"/>
              <a:t>elasticity is less than 1, which means the quantity moves </a:t>
            </a:r>
            <a:r>
              <a:rPr lang="en-US" dirty="0" smtClean="0"/>
              <a:t>proportionately less </a:t>
            </a:r>
            <a:r>
              <a:rPr lang="en-US" dirty="0"/>
              <a:t>than the price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the elasticity is exactly 1, the percentage change in </a:t>
            </a:r>
            <a:r>
              <a:rPr lang="en-US" dirty="0" smtClean="0"/>
              <a:t>quantity equals </a:t>
            </a:r>
            <a:r>
              <a:rPr lang="en-US" dirty="0"/>
              <a:t>the percentage change in price, and demand is said to have </a:t>
            </a:r>
            <a:r>
              <a:rPr lang="en-US" b="1" i="1" dirty="0"/>
              <a:t>unit elasticity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2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Demand curves showing elasticity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170437"/>
            <a:ext cx="4413644" cy="39406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5" y="2170437"/>
            <a:ext cx="4810808" cy="3940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51579" y="1801105"/>
            <a:ext cx="8868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ewBaskervilleStd-Roman"/>
              </a:rPr>
              <a:t>We must always remember not to confuse the </a:t>
            </a:r>
            <a:r>
              <a:rPr lang="en-US" dirty="0" smtClean="0">
                <a:latin typeface="NewBaskervilleStd-Roman"/>
              </a:rPr>
              <a:t>elasticity of </a:t>
            </a:r>
            <a:r>
              <a:rPr lang="en-US" dirty="0">
                <a:latin typeface="NewBaskervilleStd-Roman"/>
              </a:rPr>
              <a:t>a curve with its slope.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1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Demand curves showing elasticity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8" y="2037806"/>
            <a:ext cx="9603275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OTHER DEMAND ELASTICITIES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7606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</a:t>
            </a:r>
            <a:r>
              <a:rPr lang="en-US" b="1" dirty="0" smtClean="0"/>
              <a:t>ncome elasticity of demand </a:t>
            </a:r>
            <a:r>
              <a:rPr lang="en-US" dirty="0" smtClean="0"/>
              <a:t>is a </a:t>
            </a:r>
            <a:r>
              <a:rPr lang="en-US" dirty="0"/>
              <a:t>measure of how </a:t>
            </a:r>
            <a:r>
              <a:rPr lang="en-US" dirty="0" smtClean="0"/>
              <a:t>much the </a:t>
            </a:r>
            <a:r>
              <a:rPr lang="en-US" dirty="0"/>
              <a:t>quantity </a:t>
            </a:r>
            <a:r>
              <a:rPr lang="en-US" dirty="0" smtClean="0"/>
              <a:t>demanded of </a:t>
            </a:r>
            <a:r>
              <a:rPr lang="en-US" dirty="0"/>
              <a:t>a good responds </a:t>
            </a:r>
            <a:r>
              <a:rPr lang="en-US" dirty="0" smtClean="0"/>
              <a:t>to a </a:t>
            </a:r>
            <a:r>
              <a:rPr lang="en-US" dirty="0"/>
              <a:t>change in </a:t>
            </a:r>
            <a:r>
              <a:rPr lang="en-US" dirty="0" smtClean="0"/>
              <a:t>consumers’ income</a:t>
            </a:r>
            <a:r>
              <a:rPr lang="en-US" dirty="0"/>
              <a:t>, computed </a:t>
            </a:r>
            <a:r>
              <a:rPr lang="en-US" dirty="0" smtClean="0"/>
              <a:t>as the </a:t>
            </a:r>
            <a:r>
              <a:rPr lang="en-US" dirty="0"/>
              <a:t>percentage </a:t>
            </a:r>
            <a:r>
              <a:rPr lang="en-US" dirty="0" smtClean="0"/>
              <a:t>change in </a:t>
            </a:r>
            <a:r>
              <a:rPr lang="en-US" dirty="0"/>
              <a:t>quantity </a:t>
            </a:r>
            <a:r>
              <a:rPr lang="en-US" dirty="0" smtClean="0"/>
              <a:t>demanded divided </a:t>
            </a:r>
            <a:r>
              <a:rPr lang="en-US" dirty="0"/>
              <a:t>by the </a:t>
            </a:r>
            <a:r>
              <a:rPr lang="en-US" dirty="0" smtClean="0"/>
              <a:t>percentage change </a:t>
            </a:r>
            <a:r>
              <a:rPr lang="en-US" dirty="0"/>
              <a:t>in </a:t>
            </a:r>
            <a:r>
              <a:rPr lang="en-US" dirty="0" smtClean="0"/>
              <a:t>income.</a:t>
            </a:r>
          </a:p>
          <a:p>
            <a:r>
              <a:rPr lang="en-US" dirty="0"/>
              <a:t>Income elasticity of demand </a:t>
            </a:r>
            <a:r>
              <a:rPr lang="en-US" dirty="0" smtClean="0"/>
              <a:t>= </a:t>
            </a:r>
            <a:r>
              <a:rPr lang="en-US" u="sng" dirty="0" smtClean="0"/>
              <a:t>Percentage </a:t>
            </a:r>
            <a:r>
              <a:rPr lang="en-US" u="sng" dirty="0"/>
              <a:t>change in quantity </a:t>
            </a:r>
            <a:r>
              <a:rPr lang="en-US" u="sng" dirty="0" smtClean="0"/>
              <a:t>demanded                        </a:t>
            </a:r>
            <a:r>
              <a:rPr lang="en-US" dirty="0" smtClean="0"/>
              <a:t>				        Percentage </a:t>
            </a:r>
            <a:r>
              <a:rPr lang="en-US" dirty="0"/>
              <a:t>change in </a:t>
            </a:r>
            <a:r>
              <a:rPr lang="en-US" dirty="0" smtClean="0"/>
              <a:t>income</a:t>
            </a:r>
          </a:p>
          <a:p>
            <a:r>
              <a:rPr lang="en-US" b="1" dirty="0"/>
              <a:t>C</a:t>
            </a:r>
            <a:r>
              <a:rPr lang="en-US" b="1" dirty="0" smtClean="0"/>
              <a:t>ross-price elasticity of demand</a:t>
            </a:r>
            <a:r>
              <a:rPr lang="en-US" dirty="0"/>
              <a:t> </a:t>
            </a:r>
            <a:r>
              <a:rPr lang="en-US" dirty="0" smtClean="0"/>
              <a:t>is a </a:t>
            </a:r>
            <a:r>
              <a:rPr lang="en-US" dirty="0"/>
              <a:t>measure of how </a:t>
            </a:r>
            <a:r>
              <a:rPr lang="en-US" dirty="0" smtClean="0"/>
              <a:t>much the </a:t>
            </a:r>
            <a:r>
              <a:rPr lang="en-US" dirty="0"/>
              <a:t>quantity </a:t>
            </a:r>
            <a:r>
              <a:rPr lang="en-US" dirty="0" smtClean="0"/>
              <a:t>demanded of </a:t>
            </a:r>
            <a:r>
              <a:rPr lang="en-US" dirty="0"/>
              <a:t>one good </a:t>
            </a:r>
            <a:r>
              <a:rPr lang="en-US" dirty="0" smtClean="0"/>
              <a:t>responds to </a:t>
            </a:r>
            <a:r>
              <a:rPr lang="en-US" dirty="0"/>
              <a:t>a change in the </a:t>
            </a:r>
            <a:r>
              <a:rPr lang="en-US" dirty="0" smtClean="0"/>
              <a:t>price of </a:t>
            </a:r>
            <a:r>
              <a:rPr lang="en-US" dirty="0"/>
              <a:t>another good, </a:t>
            </a:r>
            <a:r>
              <a:rPr lang="en-US" dirty="0" smtClean="0"/>
              <a:t>computed as </a:t>
            </a:r>
            <a:r>
              <a:rPr lang="en-US" dirty="0"/>
              <a:t>the </a:t>
            </a:r>
            <a:r>
              <a:rPr lang="en-US" dirty="0" smtClean="0"/>
              <a:t>percentage change </a:t>
            </a:r>
            <a:r>
              <a:rPr lang="en-US" dirty="0"/>
              <a:t>in </a:t>
            </a:r>
            <a:r>
              <a:rPr lang="en-US" dirty="0" smtClean="0"/>
              <a:t>quantity demanded </a:t>
            </a:r>
            <a:r>
              <a:rPr lang="en-US" dirty="0"/>
              <a:t>of the </a:t>
            </a:r>
            <a:r>
              <a:rPr lang="en-US" dirty="0" smtClean="0"/>
              <a:t>first good </a:t>
            </a:r>
            <a:r>
              <a:rPr lang="en-US" dirty="0"/>
              <a:t>divided by </a:t>
            </a:r>
            <a:r>
              <a:rPr lang="en-US" dirty="0" smtClean="0"/>
              <a:t>the percentage </a:t>
            </a:r>
            <a:r>
              <a:rPr lang="en-US" dirty="0"/>
              <a:t>change </a:t>
            </a:r>
            <a:r>
              <a:rPr lang="en-US" dirty="0" smtClean="0"/>
              <a:t>in the </a:t>
            </a:r>
            <a:r>
              <a:rPr lang="en-US" dirty="0"/>
              <a:t>price of the </a:t>
            </a:r>
            <a:r>
              <a:rPr lang="en-US" dirty="0" smtClean="0"/>
              <a:t>second good</a:t>
            </a:r>
          </a:p>
          <a:p>
            <a:r>
              <a:rPr lang="en-US" dirty="0"/>
              <a:t>Cross-price elasticity of demand </a:t>
            </a:r>
            <a:r>
              <a:rPr lang="en-US" dirty="0" smtClean="0"/>
              <a:t>= </a:t>
            </a:r>
            <a:r>
              <a:rPr lang="en-US" u="sng" dirty="0" smtClean="0"/>
              <a:t>Percentage </a:t>
            </a:r>
            <a:r>
              <a:rPr lang="en-US" u="sng" dirty="0"/>
              <a:t>change in quantity demanded of good </a:t>
            </a:r>
            <a:r>
              <a:rPr lang="en-US" u="sng" dirty="0" smtClean="0"/>
              <a:t>1  </a:t>
            </a:r>
            <a:r>
              <a:rPr lang="en-US" dirty="0" smtClean="0"/>
              <a:t>					      Percentage </a:t>
            </a:r>
            <a:r>
              <a:rPr lang="en-US" dirty="0"/>
              <a:t>change in the price of good 2</a:t>
            </a:r>
          </a:p>
        </p:txBody>
      </p:sp>
    </p:spTree>
    <p:extLst>
      <p:ext uri="{BB962C8B-B14F-4D97-AF65-F5344CB8AC3E}">
        <p14:creationId xmlns:p14="http://schemas.microsoft.com/office/powerpoint/2010/main" val="56665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Revenue Generation in response to Elasticity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58497"/>
          </a:xfrm>
        </p:spPr>
        <p:txBody>
          <a:bodyPr>
            <a:normAutofit/>
          </a:bodyPr>
          <a:lstStyle/>
          <a:p>
            <a:r>
              <a:rPr lang="en-US" b="1" dirty="0"/>
              <a:t>T</a:t>
            </a:r>
            <a:r>
              <a:rPr lang="en-US" b="1" dirty="0" smtClean="0"/>
              <a:t>otal revenue-</a:t>
            </a:r>
            <a:r>
              <a:rPr lang="en-US" dirty="0" smtClean="0"/>
              <a:t>the </a:t>
            </a:r>
            <a:r>
              <a:rPr lang="en-US" dirty="0"/>
              <a:t>amount paid by </a:t>
            </a:r>
            <a:r>
              <a:rPr lang="en-US" dirty="0" smtClean="0"/>
              <a:t>buyers and </a:t>
            </a:r>
            <a:r>
              <a:rPr lang="en-US" dirty="0"/>
              <a:t>received by sellers </a:t>
            </a:r>
            <a:r>
              <a:rPr lang="en-US" dirty="0" smtClean="0"/>
              <a:t>of a </a:t>
            </a:r>
            <a:r>
              <a:rPr lang="en-US" dirty="0"/>
              <a:t>good, computed as </a:t>
            </a:r>
            <a:r>
              <a:rPr lang="en-US" dirty="0" smtClean="0"/>
              <a:t>the price </a:t>
            </a:r>
            <a:r>
              <a:rPr lang="en-US" dirty="0"/>
              <a:t>of the good </a:t>
            </a:r>
            <a:r>
              <a:rPr lang="en-US" dirty="0" smtClean="0"/>
              <a:t>times the </a:t>
            </a:r>
            <a:r>
              <a:rPr lang="en-US" dirty="0"/>
              <a:t>quantity </a:t>
            </a:r>
            <a:r>
              <a:rPr lang="en-US" dirty="0" smtClean="0"/>
              <a:t>sold</a:t>
            </a:r>
          </a:p>
          <a:p>
            <a:r>
              <a:rPr lang="en-US" dirty="0"/>
              <a:t>When demand is inelastic (a price elasticity less than 1), price and </a:t>
            </a:r>
            <a:r>
              <a:rPr lang="en-US" dirty="0" smtClean="0"/>
              <a:t>total revenue </a:t>
            </a:r>
            <a:r>
              <a:rPr lang="en-US" dirty="0"/>
              <a:t>move in the same direction: If the price increases, total </a:t>
            </a:r>
            <a:r>
              <a:rPr lang="en-US" dirty="0" smtClean="0"/>
              <a:t>revenue also </a:t>
            </a:r>
            <a:r>
              <a:rPr lang="en-US" dirty="0"/>
              <a:t>increases</a:t>
            </a:r>
            <a:r>
              <a:rPr lang="en-US" dirty="0" smtClean="0"/>
              <a:t>.</a:t>
            </a:r>
          </a:p>
          <a:p>
            <a:r>
              <a:rPr lang="en-US" dirty="0"/>
              <a:t>When demand is elastic (a price elasticity greater than 1), price and </a:t>
            </a:r>
            <a:r>
              <a:rPr lang="en-US" dirty="0" smtClean="0"/>
              <a:t>total revenue </a:t>
            </a:r>
            <a:r>
              <a:rPr lang="en-US" dirty="0"/>
              <a:t>move in opposite directions: If the price increases, total </a:t>
            </a:r>
            <a:r>
              <a:rPr lang="en-US" dirty="0" smtClean="0"/>
              <a:t>revenue decreases</a:t>
            </a:r>
            <a:r>
              <a:rPr lang="en-US" dirty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demand is unit elastic (a price elasticity exactly equal to 1), total </a:t>
            </a:r>
            <a:r>
              <a:rPr lang="en-US" dirty="0" smtClean="0"/>
              <a:t>revenue remains </a:t>
            </a:r>
            <a:r>
              <a:rPr lang="en-US" dirty="0"/>
              <a:t>constant when the price changes.</a:t>
            </a:r>
          </a:p>
        </p:txBody>
      </p:sp>
    </p:spTree>
    <p:extLst>
      <p:ext uri="{BB962C8B-B14F-4D97-AF65-F5344CB8AC3E}">
        <p14:creationId xmlns:p14="http://schemas.microsoft.com/office/powerpoint/2010/main" val="167040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Elasticity of Supply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834730" cy="4006245"/>
          </a:xfrm>
        </p:spPr>
        <p:txBody>
          <a:bodyPr>
            <a:norm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rice </a:t>
            </a:r>
            <a:r>
              <a:rPr lang="en-US" b="1" dirty="0"/>
              <a:t>elasticity of </a:t>
            </a:r>
            <a:r>
              <a:rPr lang="en-US" b="1" dirty="0" smtClean="0"/>
              <a:t>supply-</a:t>
            </a:r>
            <a:r>
              <a:rPr lang="en-US" b="1" dirty="0"/>
              <a:t> </a:t>
            </a:r>
            <a:r>
              <a:rPr lang="en-US" dirty="0" smtClean="0"/>
              <a:t>a </a:t>
            </a:r>
            <a:r>
              <a:rPr lang="en-US" dirty="0"/>
              <a:t>measure of how </a:t>
            </a:r>
            <a:r>
              <a:rPr lang="en-US" dirty="0" smtClean="0"/>
              <a:t>much the </a:t>
            </a:r>
            <a:r>
              <a:rPr lang="en-US" dirty="0"/>
              <a:t>quantity </a:t>
            </a:r>
            <a:r>
              <a:rPr lang="en-US" dirty="0" smtClean="0"/>
              <a:t>supplied of </a:t>
            </a:r>
            <a:r>
              <a:rPr lang="en-US" dirty="0"/>
              <a:t>a good responds to </a:t>
            </a:r>
            <a:r>
              <a:rPr lang="en-US" dirty="0" smtClean="0"/>
              <a:t>a change </a:t>
            </a:r>
            <a:r>
              <a:rPr lang="en-US" dirty="0"/>
              <a:t>in the price </a:t>
            </a:r>
            <a:r>
              <a:rPr lang="en-US" dirty="0" smtClean="0"/>
              <a:t>of that </a:t>
            </a:r>
            <a:r>
              <a:rPr lang="en-US" dirty="0"/>
              <a:t>good, computed </a:t>
            </a:r>
            <a:r>
              <a:rPr lang="en-US" dirty="0" smtClean="0"/>
              <a:t>as the </a:t>
            </a:r>
            <a:r>
              <a:rPr lang="en-US" dirty="0"/>
              <a:t>percentage change </a:t>
            </a:r>
            <a:r>
              <a:rPr lang="en-US" dirty="0" smtClean="0"/>
              <a:t>in quantity </a:t>
            </a:r>
            <a:r>
              <a:rPr lang="en-US" dirty="0"/>
              <a:t>supplied </a:t>
            </a:r>
            <a:r>
              <a:rPr lang="en-US" dirty="0" smtClean="0"/>
              <a:t>divided by </a:t>
            </a:r>
            <a:r>
              <a:rPr lang="en-US" dirty="0"/>
              <a:t>the percentage </a:t>
            </a:r>
            <a:r>
              <a:rPr lang="en-US" dirty="0" smtClean="0"/>
              <a:t>change in price.</a:t>
            </a:r>
          </a:p>
          <a:p>
            <a:r>
              <a:rPr lang="en-US" dirty="0"/>
              <a:t>price elasticity of </a:t>
            </a:r>
            <a:r>
              <a:rPr lang="en-US" dirty="0" smtClean="0"/>
              <a:t>supply, </a:t>
            </a:r>
            <a:r>
              <a:rPr lang="en-US" dirty="0" err="1" smtClean="0"/>
              <a:t>Es</a:t>
            </a:r>
            <a:r>
              <a:rPr lang="en-US" dirty="0" smtClean="0"/>
              <a:t>= </a:t>
            </a:r>
            <a:r>
              <a:rPr lang="en-US" u="sng" dirty="0" smtClean="0"/>
              <a:t>percentage </a:t>
            </a:r>
            <a:r>
              <a:rPr lang="en-US" u="sng" dirty="0"/>
              <a:t>change in quantity </a:t>
            </a:r>
            <a:r>
              <a:rPr lang="en-US" u="sng" dirty="0" smtClean="0"/>
              <a:t>supplied</a:t>
            </a:r>
            <a:r>
              <a:rPr lang="en-US" dirty="0" smtClean="0"/>
              <a:t>                               					percentage </a:t>
            </a:r>
            <a:r>
              <a:rPr lang="en-US" dirty="0"/>
              <a:t>change in </a:t>
            </a:r>
            <a:r>
              <a:rPr lang="en-US" dirty="0" smtClean="0"/>
              <a:t>price</a:t>
            </a:r>
          </a:p>
          <a:p>
            <a:r>
              <a:rPr lang="en-US" dirty="0"/>
              <a:t>Supply of a good is said to be </a:t>
            </a:r>
            <a:r>
              <a:rPr lang="en-US" b="1" i="1" dirty="0"/>
              <a:t>elastic</a:t>
            </a:r>
            <a:r>
              <a:rPr lang="en-US" i="1" dirty="0"/>
              <a:t> </a:t>
            </a:r>
            <a:r>
              <a:rPr lang="en-US" dirty="0"/>
              <a:t>if the quantity </a:t>
            </a:r>
            <a:r>
              <a:rPr lang="en-US" dirty="0" smtClean="0"/>
              <a:t>supplied responds </a:t>
            </a:r>
            <a:r>
              <a:rPr lang="en-US" dirty="0"/>
              <a:t>substantially to changes in the price. </a:t>
            </a:r>
            <a:endParaRPr lang="en-US" dirty="0" smtClean="0"/>
          </a:p>
          <a:p>
            <a:r>
              <a:rPr lang="en-US" dirty="0" smtClean="0"/>
              <a:t>Supply </a:t>
            </a:r>
            <a:r>
              <a:rPr lang="en-US" dirty="0"/>
              <a:t>is said to be </a:t>
            </a:r>
            <a:r>
              <a:rPr lang="en-US" b="1" i="1" dirty="0"/>
              <a:t>inelastic</a:t>
            </a:r>
            <a:r>
              <a:rPr lang="en-US" i="1" dirty="0"/>
              <a:t> </a:t>
            </a:r>
            <a:r>
              <a:rPr lang="en-US" dirty="0"/>
              <a:t>if </a:t>
            </a:r>
            <a:r>
              <a:rPr lang="en-US" dirty="0" smtClean="0"/>
              <a:t>the quantity </a:t>
            </a:r>
            <a:r>
              <a:rPr lang="en-US" dirty="0"/>
              <a:t>supplied responds only slightly to changes in the price.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79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Price Elasticity of Supply and Its Determinants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6874"/>
          </a:xfrm>
        </p:spPr>
        <p:txBody>
          <a:bodyPr/>
          <a:lstStyle/>
          <a:p>
            <a:r>
              <a:rPr lang="en-US" dirty="0"/>
              <a:t>K</a:t>
            </a:r>
            <a:r>
              <a:rPr lang="en-US" dirty="0" smtClean="0"/>
              <a:t>ey </a:t>
            </a:r>
            <a:r>
              <a:rPr lang="en-US" dirty="0"/>
              <a:t>determinant of the price elasticity of supply is the </a:t>
            </a:r>
            <a:r>
              <a:rPr lang="en-US" dirty="0" smtClean="0"/>
              <a:t>time period </a:t>
            </a:r>
            <a:r>
              <a:rPr lang="en-US" dirty="0"/>
              <a:t>being considered. Supply is usually more elastic in the long run than in </a:t>
            </a:r>
            <a:r>
              <a:rPr lang="en-US" dirty="0" smtClean="0"/>
              <a:t>the short </a:t>
            </a:r>
            <a:r>
              <a:rPr lang="en-US" dirty="0"/>
              <a:t>run. Over short periods of time, firms cannot easily change the size of </a:t>
            </a:r>
            <a:r>
              <a:rPr lang="en-US" dirty="0" smtClean="0"/>
              <a:t>their factories </a:t>
            </a:r>
            <a:r>
              <a:rPr lang="en-US" dirty="0"/>
              <a:t>to make more or less of </a:t>
            </a:r>
            <a:r>
              <a:rPr lang="en-US" dirty="0" smtClean="0"/>
              <a:t>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23" y="3252651"/>
            <a:ext cx="8203474" cy="326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1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Different supply curves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03380"/>
            <a:ext cx="9603275" cy="40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7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Different supply curves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959429"/>
            <a:ext cx="9603275" cy="40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7429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914</TotalTime>
  <Words>1041</Words>
  <Application>Microsoft Office PowerPoint</Application>
  <PresentationFormat>Custom</PresentationFormat>
  <Paragraphs>54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Gallery</vt:lpstr>
      <vt:lpstr>Elasticity and Its Application</vt:lpstr>
      <vt:lpstr>Elasticity</vt:lpstr>
      <vt:lpstr>The Elasticity of Demand</vt:lpstr>
      <vt:lpstr>Determinants that Influences The Price Elasticity of Demand</vt:lpstr>
      <vt:lpstr>Determinants that Influences The Price Elasticity of Demand</vt:lpstr>
      <vt:lpstr>Determinants that Influences The Price Elasticity of Demand</vt:lpstr>
      <vt:lpstr>Computing the Price Elasticity of Demand</vt:lpstr>
      <vt:lpstr>Computing the Price Elasticity of Demand</vt:lpstr>
      <vt:lpstr>Scale for elasticity</vt:lpstr>
      <vt:lpstr>Demand curves showing elasticity</vt:lpstr>
      <vt:lpstr>Demand curves showing elasticity</vt:lpstr>
      <vt:lpstr>OTHER DEMAND ELASTICITIES</vt:lpstr>
      <vt:lpstr>Revenue Generation in response to Elasticity</vt:lpstr>
      <vt:lpstr>The Elasticity of Supply</vt:lpstr>
      <vt:lpstr>The Price Elasticity of Supply and Its Determinants</vt:lpstr>
      <vt:lpstr>Different supply curves</vt:lpstr>
      <vt:lpstr>Different supply curves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Elasticity and Its Application</dc:title>
  <dc:creator>Chandra Tabassum</dc:creator>
  <cp:lastModifiedBy>Acer</cp:lastModifiedBy>
  <cp:revision>23</cp:revision>
  <dcterms:created xsi:type="dcterms:W3CDTF">2020-08-24T11:05:49Z</dcterms:created>
  <dcterms:modified xsi:type="dcterms:W3CDTF">2025-07-23T08:36:39Z</dcterms:modified>
</cp:coreProperties>
</file>