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59" r:id="rId5"/>
    <p:sldId id="260" r:id="rId6"/>
    <p:sldId id="264" r:id="rId7"/>
    <p:sldId id="265" r:id="rId8"/>
    <p:sldId id="266" r:id="rId9"/>
    <p:sldId id="261" r:id="rId10"/>
    <p:sldId id="268" r:id="rId11"/>
    <p:sldId id="267" r:id="rId12"/>
    <p:sldId id="26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0" d="100"/>
          <a:sy n="80" d="100"/>
        </p:scale>
        <p:origin x="-34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smtClean="0"/>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AA51EF2-FB51-4918-87A8-CB4FD1F8A554}" type="datetimeFigureOut">
              <a:rPr lang="en-US" smtClean="0"/>
              <a:t>7/29/2025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6DE5817-9E13-4DFC-9B88-66AB6CC955C2}"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9761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A51EF2-FB51-4918-87A8-CB4FD1F8A55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E5817-9E13-4DFC-9B88-66AB6CC955C2}"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79575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AA51EF2-FB51-4918-87A8-CB4FD1F8A55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E5817-9E13-4DFC-9B88-66AB6CC955C2}"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0501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AA51EF2-FB51-4918-87A8-CB4FD1F8A55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E5817-9E13-4DFC-9B88-66AB6CC955C2}"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7326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AA51EF2-FB51-4918-87A8-CB4FD1F8A554}"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DE5817-9E13-4DFC-9B88-66AB6CC955C2}"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9009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AA51EF2-FB51-4918-87A8-CB4FD1F8A554}"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DE5817-9E13-4DFC-9B88-66AB6CC955C2}"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4589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A51EF2-FB51-4918-87A8-CB4FD1F8A554}" type="datetimeFigureOut">
              <a:rPr lang="en-US" smtClean="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DE5817-9E13-4DFC-9B88-66AB6CC955C2}" type="slidenum">
              <a:rPr lang="en-US" smtClean="0"/>
              <a:t>‹#›</a:t>
            </a:fld>
            <a:endParaRPr lang="en-US"/>
          </a:p>
        </p:txBody>
      </p:sp>
    </p:spTree>
    <p:extLst>
      <p:ext uri="{BB962C8B-B14F-4D97-AF65-F5344CB8AC3E}">
        <p14:creationId xmlns:p14="http://schemas.microsoft.com/office/powerpoint/2010/main" val="1708343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smtClean="0"/>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A51EF2-FB51-4918-87A8-CB4FD1F8A55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DE5817-9E13-4DFC-9B88-66AB6CC955C2}"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6810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AA51EF2-FB51-4918-87A8-CB4FD1F8A554}" type="datetimeFigureOut">
              <a:rPr lang="en-US" smtClean="0"/>
              <a:t>7/29/2025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6DE5817-9E13-4DFC-9B88-66AB6CC955C2}"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092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A51EF2-FB51-4918-87A8-CB4FD1F8A55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E5817-9E13-4DFC-9B88-66AB6CC955C2}"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3371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A51EF2-FB51-4918-87A8-CB4FD1F8A55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DE5817-9E13-4DFC-9B88-66AB6CC955C2}"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79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AA51EF2-FB51-4918-87A8-CB4FD1F8A554}" type="datetimeFigureOut">
              <a:rPr lang="en-US" smtClean="0"/>
              <a:t>7/29/2025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6DE5817-9E13-4DFC-9B88-66AB6CC955C2}"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244854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gif"/><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2624328"/>
          </a:xfrm>
        </p:spPr>
        <p:txBody>
          <a:bodyPr>
            <a:normAutofit/>
          </a:bodyPr>
          <a:lstStyle/>
          <a:p>
            <a:pPr algn="ctr"/>
            <a:r>
              <a:rPr lang="en-US" b="1" dirty="0" smtClean="0"/>
              <a:t/>
            </a:r>
            <a:br>
              <a:rPr lang="en-US" b="1" dirty="0" smtClean="0"/>
            </a:br>
            <a:r>
              <a:rPr lang="en-US" sz="6000" b="1" dirty="0" smtClean="0">
                <a:solidFill>
                  <a:schemeClr val="tx2">
                    <a:lumMod val="75000"/>
                  </a:schemeClr>
                </a:solidFill>
              </a:rPr>
              <a:t>Thinking Like an </a:t>
            </a:r>
            <a:br>
              <a:rPr lang="en-US" sz="6000" b="1" dirty="0" smtClean="0">
                <a:solidFill>
                  <a:schemeClr val="tx2">
                    <a:lumMod val="75000"/>
                  </a:schemeClr>
                </a:solidFill>
              </a:rPr>
            </a:br>
            <a:r>
              <a:rPr lang="en-US" sz="6000" b="1" dirty="0" smtClean="0">
                <a:solidFill>
                  <a:schemeClr val="tx2">
                    <a:lumMod val="75000"/>
                  </a:schemeClr>
                </a:solidFill>
              </a:rPr>
              <a:t>Economist</a:t>
            </a:r>
            <a:endParaRPr lang="en-US" sz="6000" b="1" dirty="0">
              <a:solidFill>
                <a:schemeClr val="tx2">
                  <a:lumMod val="75000"/>
                </a:schemeClr>
              </a:solidFill>
            </a:endParaRPr>
          </a:p>
        </p:txBody>
      </p:sp>
      <p:sp>
        <p:nvSpPr>
          <p:cNvPr id="3" name="Subtitle 2"/>
          <p:cNvSpPr>
            <a:spLocks noGrp="1"/>
          </p:cNvSpPr>
          <p:nvPr>
            <p:ph type="subTitle" idx="1"/>
          </p:nvPr>
        </p:nvSpPr>
        <p:spPr>
          <a:xfrm>
            <a:off x="1097280" y="3827417"/>
            <a:ext cx="10058400" cy="2338251"/>
          </a:xfrm>
        </p:spPr>
        <p:txBody>
          <a:bodyPr/>
          <a:lstStyle/>
          <a:p>
            <a:pPr algn="l"/>
            <a:r>
              <a:rPr lang="en-US" b="1" dirty="0" smtClean="0">
                <a:solidFill>
                  <a:schemeClr val="tx2"/>
                </a:solidFill>
              </a:rPr>
              <a:t>Course: Microeconomics</a:t>
            </a:r>
          </a:p>
          <a:p>
            <a:pPr algn="l"/>
            <a:r>
              <a:rPr lang="en-US" b="1" dirty="0" err="1" smtClean="0">
                <a:solidFill>
                  <a:schemeClr val="tx2"/>
                </a:solidFill>
              </a:rPr>
              <a:t>Faculy</a:t>
            </a:r>
            <a:r>
              <a:rPr lang="en-US" b="1" smtClean="0">
                <a:solidFill>
                  <a:schemeClr val="tx2"/>
                </a:solidFill>
              </a:rPr>
              <a:t>: </a:t>
            </a:r>
            <a:endParaRPr lang="en-US" b="1" dirty="0" smtClean="0">
              <a:solidFill>
                <a:schemeClr val="tx2"/>
              </a:solidFill>
            </a:endParaRPr>
          </a:p>
          <a:p>
            <a:pPr algn="l"/>
            <a:r>
              <a:rPr lang="en-US" b="1" dirty="0" smtClean="0">
                <a:solidFill>
                  <a:schemeClr val="tx2"/>
                </a:solidFill>
              </a:rPr>
              <a:t>Chapter-2</a:t>
            </a:r>
          </a:p>
          <a:p>
            <a:pPr algn="l"/>
            <a:r>
              <a:rPr lang="en-US" b="1" dirty="0" smtClean="0">
                <a:solidFill>
                  <a:schemeClr val="tx2"/>
                </a:solidFill>
              </a:rPr>
              <a:t>United int. university</a:t>
            </a:r>
            <a:endParaRPr lang="en-US" b="1" dirty="0">
              <a:solidFill>
                <a:schemeClr val="tx2"/>
              </a:solidFill>
            </a:endParaRPr>
          </a:p>
        </p:txBody>
      </p:sp>
    </p:spTree>
    <p:extLst>
      <p:ext uri="{BB962C8B-B14F-4D97-AF65-F5344CB8AC3E}">
        <p14:creationId xmlns:p14="http://schemas.microsoft.com/office/powerpoint/2010/main" val="2996192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Microeconomics &amp; Macroeconomics</a:t>
            </a:r>
            <a:endParaRPr lang="en-US" b="1" dirty="0"/>
          </a:p>
        </p:txBody>
      </p:sp>
      <p:sp>
        <p:nvSpPr>
          <p:cNvPr id="3" name="Content Placeholder 2"/>
          <p:cNvSpPr>
            <a:spLocks noGrp="1"/>
          </p:cNvSpPr>
          <p:nvPr>
            <p:ph idx="1"/>
          </p:nvPr>
        </p:nvSpPr>
        <p:spPr>
          <a:xfrm>
            <a:off x="913774" y="2367092"/>
            <a:ext cx="10363826" cy="3798577"/>
          </a:xfrm>
        </p:spPr>
        <p:txBody>
          <a:bodyPr>
            <a:normAutofit fontScale="92500" lnSpcReduction="10000"/>
          </a:bodyPr>
          <a:lstStyle/>
          <a:p>
            <a:r>
              <a:rPr lang="en-US" cap="none" dirty="0" smtClean="0"/>
              <a:t>Economists try to address their subject with a scientist’s objectivity. Like all scientists, they make appropriate assumptions and build simplified models to understand the world around them.</a:t>
            </a:r>
          </a:p>
          <a:p>
            <a:r>
              <a:rPr lang="en-US" cap="none" dirty="0" smtClean="0"/>
              <a:t>The field of economics is traditionally divided into two broad subfields.</a:t>
            </a:r>
          </a:p>
          <a:p>
            <a:r>
              <a:rPr lang="en-US" cap="none" dirty="0" smtClean="0"/>
              <a:t> </a:t>
            </a:r>
            <a:r>
              <a:rPr lang="en-US" b="1" cap="none" dirty="0" smtClean="0"/>
              <a:t>Microeconomics </a:t>
            </a:r>
            <a:r>
              <a:rPr lang="en-US" cap="none" dirty="0" smtClean="0"/>
              <a:t>is the study of how households and firms make decisions and how they interact in specific markets. </a:t>
            </a:r>
            <a:r>
              <a:rPr lang="en-US" cap="none" dirty="0"/>
              <a:t>A </a:t>
            </a:r>
            <a:r>
              <a:rPr lang="en-US" cap="none" dirty="0" smtClean="0"/>
              <a:t>micro-economist </a:t>
            </a:r>
            <a:r>
              <a:rPr lang="en-US" cap="none" dirty="0"/>
              <a:t>might study the effects of </a:t>
            </a:r>
            <a:r>
              <a:rPr lang="en-US" cap="none" dirty="0" smtClean="0"/>
              <a:t>rent Control </a:t>
            </a:r>
            <a:r>
              <a:rPr lang="en-US" cap="none" dirty="0"/>
              <a:t>on housing in </a:t>
            </a:r>
            <a:r>
              <a:rPr lang="en-US" dirty="0"/>
              <a:t>N</a:t>
            </a:r>
            <a:r>
              <a:rPr lang="en-US" cap="none" dirty="0" smtClean="0"/>
              <a:t>ew </a:t>
            </a:r>
            <a:r>
              <a:rPr lang="en-US" dirty="0"/>
              <a:t>Y</a:t>
            </a:r>
            <a:r>
              <a:rPr lang="en-US" cap="none" dirty="0" smtClean="0"/>
              <a:t>ork </a:t>
            </a:r>
            <a:r>
              <a:rPr lang="en-US" cap="none" dirty="0"/>
              <a:t>city, the impact of foreign competition on </a:t>
            </a:r>
            <a:r>
              <a:rPr lang="en-US" cap="none" dirty="0" smtClean="0"/>
              <a:t>the U.S</a:t>
            </a:r>
            <a:r>
              <a:rPr lang="en-US" cap="none" dirty="0"/>
              <a:t>. Auto industry, or the effects of compulsory school attendance on </a:t>
            </a:r>
            <a:r>
              <a:rPr lang="en-US" cap="none" dirty="0" smtClean="0"/>
              <a:t>workers’ Earnings</a:t>
            </a:r>
            <a:r>
              <a:rPr lang="en-US" cap="none" dirty="0"/>
              <a:t>. </a:t>
            </a:r>
            <a:endParaRPr lang="en-US" cap="none" dirty="0" smtClean="0"/>
          </a:p>
          <a:p>
            <a:r>
              <a:rPr lang="en-US" b="1" cap="none" dirty="0" smtClean="0"/>
              <a:t>Macroeconomics </a:t>
            </a:r>
            <a:r>
              <a:rPr lang="en-US" cap="none" dirty="0" smtClean="0"/>
              <a:t>is the study of economy-wide phenomena. A macroeconomist might study the effects of borrowing by the federal Government, the changes over time in the economy’s rate of unemployment, or Alternative policies to promote growth in national living standards.</a:t>
            </a:r>
            <a:endParaRPr lang="en-US" cap="none" dirty="0"/>
          </a:p>
        </p:txBody>
      </p:sp>
    </p:spTree>
    <p:extLst>
      <p:ext uri="{BB962C8B-B14F-4D97-AF65-F5344CB8AC3E}">
        <p14:creationId xmlns:p14="http://schemas.microsoft.com/office/powerpoint/2010/main" val="2010391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Positive versus Normative Analysis</a:t>
            </a:r>
            <a:endParaRPr lang="en-US" dirty="0"/>
          </a:p>
        </p:txBody>
      </p:sp>
      <p:sp>
        <p:nvSpPr>
          <p:cNvPr id="3" name="Content Placeholder 2"/>
          <p:cNvSpPr>
            <a:spLocks noGrp="1"/>
          </p:cNvSpPr>
          <p:nvPr>
            <p:ph idx="1"/>
          </p:nvPr>
        </p:nvSpPr>
        <p:spPr/>
        <p:txBody>
          <a:bodyPr/>
          <a:lstStyle/>
          <a:p>
            <a:r>
              <a:rPr lang="en-US" b="1" cap="none" dirty="0" smtClean="0"/>
              <a:t>Positive statements </a:t>
            </a:r>
            <a:r>
              <a:rPr lang="en-US" cap="none" dirty="0" smtClean="0"/>
              <a:t>are descriptive. They make a claim about how the world </a:t>
            </a:r>
            <a:r>
              <a:rPr lang="en-US" i="1" cap="none" dirty="0" smtClean="0"/>
              <a:t>is. Ex- </a:t>
            </a:r>
            <a:r>
              <a:rPr lang="en-US" cap="none" dirty="0" smtClean="0"/>
              <a:t>Minimum-wage laws cause unemployment</a:t>
            </a:r>
            <a:endParaRPr lang="en-US" i="1" cap="none" dirty="0" smtClean="0"/>
          </a:p>
          <a:p>
            <a:r>
              <a:rPr lang="en-US" b="1" cap="none" dirty="0" smtClean="0"/>
              <a:t>Normative statements </a:t>
            </a:r>
            <a:r>
              <a:rPr lang="en-US" cap="none" dirty="0" smtClean="0"/>
              <a:t>are prescriptive. They make a claim about how the world </a:t>
            </a:r>
            <a:r>
              <a:rPr lang="en-US" i="1" cap="none" dirty="0" smtClean="0"/>
              <a:t>ought to be</a:t>
            </a:r>
            <a:r>
              <a:rPr lang="en-US" cap="none" dirty="0" smtClean="0"/>
              <a:t>.    Ex- The government should raise the minimum wage.</a:t>
            </a:r>
          </a:p>
          <a:p>
            <a:endParaRPr lang="en-US" cap="none" dirty="0" smtClean="0"/>
          </a:p>
          <a:p>
            <a:endParaRPr lang="en-US" cap="none" dirty="0"/>
          </a:p>
        </p:txBody>
      </p:sp>
    </p:spTree>
    <p:extLst>
      <p:ext uri="{BB962C8B-B14F-4D97-AF65-F5344CB8AC3E}">
        <p14:creationId xmlns:p14="http://schemas.microsoft.com/office/powerpoint/2010/main" val="2526986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t>
            </a:r>
            <a:r>
              <a:rPr lang="en-US" b="1" dirty="0"/>
              <a:t>Circular-Flow Diagram</a:t>
            </a:r>
            <a:endParaRPr lang="en-US" dirty="0"/>
          </a:p>
        </p:txBody>
      </p:sp>
      <p:sp>
        <p:nvSpPr>
          <p:cNvPr id="3" name="Content Placeholder 2"/>
          <p:cNvSpPr>
            <a:spLocks noGrp="1"/>
          </p:cNvSpPr>
          <p:nvPr>
            <p:ph idx="1"/>
          </p:nvPr>
        </p:nvSpPr>
        <p:spPr/>
        <p:txBody>
          <a:bodyPr/>
          <a:lstStyle/>
          <a:p>
            <a:r>
              <a:rPr lang="en-US" b="1" dirty="0"/>
              <a:t>C</a:t>
            </a:r>
            <a:r>
              <a:rPr lang="en-US" b="1" dirty="0" smtClean="0"/>
              <a:t>ircular-flow diagram- </a:t>
            </a:r>
            <a:r>
              <a:rPr lang="en-US" dirty="0" smtClean="0"/>
              <a:t>a </a:t>
            </a:r>
            <a:r>
              <a:rPr lang="en-US" dirty="0"/>
              <a:t>visual model of </a:t>
            </a:r>
            <a:r>
              <a:rPr lang="en-US" dirty="0" smtClean="0"/>
              <a:t>the economy </a:t>
            </a:r>
            <a:r>
              <a:rPr lang="en-US" dirty="0"/>
              <a:t>that </a:t>
            </a:r>
            <a:r>
              <a:rPr lang="en-US" dirty="0" smtClean="0"/>
              <a:t>shows how </a:t>
            </a:r>
            <a:r>
              <a:rPr lang="en-US" dirty="0"/>
              <a:t>dollars flow </a:t>
            </a:r>
            <a:r>
              <a:rPr lang="en-US" dirty="0" smtClean="0"/>
              <a:t>through markets among households </a:t>
            </a:r>
            <a:r>
              <a:rPr lang="en-US" dirty="0"/>
              <a:t>and </a:t>
            </a:r>
            <a:r>
              <a:rPr lang="en-US" dirty="0" smtClean="0"/>
              <a:t>firms. </a:t>
            </a:r>
          </a:p>
          <a:p>
            <a:r>
              <a:rPr lang="en-US" dirty="0"/>
              <a:t>Firms produce goods and services using </a:t>
            </a:r>
            <a:r>
              <a:rPr lang="en-US" dirty="0" smtClean="0"/>
              <a:t>inputs, such </a:t>
            </a:r>
            <a:r>
              <a:rPr lang="en-US" dirty="0"/>
              <a:t>as labor, land, and capital (buildings and machines). These inputs are </a:t>
            </a:r>
            <a:r>
              <a:rPr lang="en-US" dirty="0" smtClean="0"/>
              <a:t>called the </a:t>
            </a:r>
            <a:r>
              <a:rPr lang="en-US" b="1" dirty="0"/>
              <a:t>F</a:t>
            </a:r>
            <a:r>
              <a:rPr lang="en-US" b="1" dirty="0" smtClean="0"/>
              <a:t>actors </a:t>
            </a:r>
            <a:r>
              <a:rPr lang="en-US" b="1" dirty="0"/>
              <a:t>of </a:t>
            </a:r>
            <a:r>
              <a:rPr lang="en-US" b="1" dirty="0" smtClean="0"/>
              <a:t>Production</a:t>
            </a:r>
            <a:r>
              <a:rPr lang="en-US" dirty="0"/>
              <a:t>. Households own the factors of production and </a:t>
            </a:r>
            <a:r>
              <a:rPr lang="en-US" dirty="0" smtClean="0"/>
              <a:t>consume all </a:t>
            </a:r>
            <a:r>
              <a:rPr lang="en-US" dirty="0"/>
              <a:t>the goods and services that the firms produce</a:t>
            </a:r>
            <a:r>
              <a:rPr lang="en-US" dirty="0" smtClean="0"/>
              <a:t>. </a:t>
            </a:r>
            <a:endParaRPr lang="en-US" dirty="0"/>
          </a:p>
        </p:txBody>
      </p:sp>
    </p:spTree>
    <p:extLst>
      <p:ext uri="{BB962C8B-B14F-4D97-AF65-F5344CB8AC3E}">
        <p14:creationId xmlns:p14="http://schemas.microsoft.com/office/powerpoint/2010/main" val="774422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Circular-Flow Diagram</a:t>
            </a:r>
            <a:endParaRPr lang="en-US" dirty="0"/>
          </a:p>
        </p:txBody>
      </p:sp>
      <p:pic>
        <p:nvPicPr>
          <p:cNvPr id="4" name="Content Placeholder 3"/>
          <p:cNvPicPr>
            <a:picLocks noGrp="1" noChangeAspect="1"/>
          </p:cNvPicPr>
          <p:nvPr>
            <p:ph idx="1"/>
          </p:nvPr>
        </p:nvPicPr>
        <p:blipFill>
          <a:blip r:embed="rId2"/>
          <a:stretch>
            <a:fillRect/>
          </a:stretch>
        </p:blipFill>
        <p:spPr>
          <a:xfrm>
            <a:off x="1946366" y="1853754"/>
            <a:ext cx="8177348" cy="4664612"/>
          </a:xfrm>
          <a:prstGeom prst="rect">
            <a:avLst/>
          </a:prstGeom>
        </p:spPr>
      </p:pic>
    </p:spTree>
    <p:extLst>
      <p:ext uri="{BB962C8B-B14F-4D97-AF65-F5344CB8AC3E}">
        <p14:creationId xmlns:p14="http://schemas.microsoft.com/office/powerpoint/2010/main" val="788587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Production Possibilities Frontier</a:t>
            </a:r>
            <a:endParaRPr lang="en-US" dirty="0"/>
          </a:p>
        </p:txBody>
      </p:sp>
      <p:sp>
        <p:nvSpPr>
          <p:cNvPr id="3" name="Content Placeholder 2"/>
          <p:cNvSpPr>
            <a:spLocks noGrp="1"/>
          </p:cNvSpPr>
          <p:nvPr>
            <p:ph idx="1"/>
          </p:nvPr>
        </p:nvSpPr>
        <p:spPr/>
        <p:txBody>
          <a:bodyPr>
            <a:normAutofit/>
          </a:bodyPr>
          <a:lstStyle/>
          <a:p>
            <a:r>
              <a:rPr lang="en-US" dirty="0"/>
              <a:t>The </a:t>
            </a:r>
            <a:r>
              <a:rPr lang="en-US" b="1" dirty="0"/>
              <a:t>production possibilities frontier </a:t>
            </a:r>
            <a:r>
              <a:rPr lang="en-US" dirty="0"/>
              <a:t>is a graph </a:t>
            </a:r>
            <a:r>
              <a:rPr lang="en-US" dirty="0" smtClean="0"/>
              <a:t>that shows </a:t>
            </a:r>
            <a:r>
              <a:rPr lang="en-US" dirty="0"/>
              <a:t>the various combinations of </a:t>
            </a:r>
            <a:r>
              <a:rPr lang="en-US" dirty="0" smtClean="0"/>
              <a:t>output that </a:t>
            </a:r>
            <a:r>
              <a:rPr lang="en-US" dirty="0"/>
              <a:t>the economy can possibly produce given the available factors of </a:t>
            </a:r>
            <a:r>
              <a:rPr lang="en-US" dirty="0" smtClean="0"/>
              <a:t>production and </a:t>
            </a:r>
            <a:r>
              <a:rPr lang="en-US" dirty="0"/>
              <a:t>the available production technology that firms use to turn </a:t>
            </a:r>
            <a:r>
              <a:rPr lang="en-US" dirty="0" smtClean="0"/>
              <a:t>these factors </a:t>
            </a:r>
            <a:r>
              <a:rPr lang="en-US" dirty="0"/>
              <a:t>into </a:t>
            </a:r>
            <a:r>
              <a:rPr lang="en-US" dirty="0" smtClean="0"/>
              <a:t>output. </a:t>
            </a:r>
          </a:p>
          <a:p>
            <a:r>
              <a:rPr lang="en-US" dirty="0"/>
              <a:t>Figure 2 shows this economy’s production possibilities frontier. If the </a:t>
            </a:r>
            <a:r>
              <a:rPr lang="en-US" dirty="0" smtClean="0"/>
              <a:t>economy uses </a:t>
            </a:r>
            <a:r>
              <a:rPr lang="en-US" dirty="0"/>
              <a:t>all its resources in the car industry, it produces 1,000 cars and no </a:t>
            </a:r>
            <a:r>
              <a:rPr lang="en-US" dirty="0" smtClean="0"/>
              <a:t>computers. If </a:t>
            </a:r>
            <a:r>
              <a:rPr lang="en-US" dirty="0"/>
              <a:t>it uses all its resources in the computer industry, it produces 3,000 </a:t>
            </a:r>
            <a:r>
              <a:rPr lang="en-US" dirty="0" smtClean="0"/>
              <a:t>computers and </a:t>
            </a:r>
            <a:r>
              <a:rPr lang="en-US" dirty="0"/>
              <a:t>no cars. The two endpoints of the production possibilities frontier </a:t>
            </a:r>
            <a:r>
              <a:rPr lang="en-US" dirty="0" smtClean="0"/>
              <a:t>represent these </a:t>
            </a:r>
            <a:r>
              <a:rPr lang="en-US" dirty="0"/>
              <a:t>extreme possibilities.</a:t>
            </a:r>
          </a:p>
        </p:txBody>
      </p:sp>
    </p:spTree>
    <p:extLst>
      <p:ext uri="{BB962C8B-B14F-4D97-AF65-F5344CB8AC3E}">
        <p14:creationId xmlns:p14="http://schemas.microsoft.com/office/powerpoint/2010/main" val="523015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Production Possibilities Frontier</a:t>
            </a:r>
            <a:endParaRPr lang="en-US" dirty="0"/>
          </a:p>
        </p:txBody>
      </p:sp>
      <p:sp>
        <p:nvSpPr>
          <p:cNvPr id="3" name="Content Placeholder 2"/>
          <p:cNvSpPr>
            <a:spLocks noGrp="1"/>
          </p:cNvSpPr>
          <p:nvPr>
            <p:ph idx="1"/>
          </p:nvPr>
        </p:nvSpPr>
        <p:spPr>
          <a:xfrm>
            <a:off x="1451579" y="2015732"/>
            <a:ext cx="9603275" cy="4019308"/>
          </a:xfrm>
        </p:spPr>
        <p:txBody>
          <a:bodyPr>
            <a:normAutofit/>
          </a:bodyPr>
          <a:lstStyle/>
          <a:p>
            <a:r>
              <a:rPr lang="en-US" dirty="0"/>
              <a:t>Because resources are scarce, not every conceivable outcome is feasible. </a:t>
            </a:r>
            <a:r>
              <a:rPr lang="en-US" dirty="0" smtClean="0"/>
              <a:t>For example</a:t>
            </a:r>
            <a:r>
              <a:rPr lang="en-US" dirty="0"/>
              <a:t>, no matter how resources are allocated between the two industries, </a:t>
            </a:r>
            <a:r>
              <a:rPr lang="en-US" dirty="0" smtClean="0"/>
              <a:t>the economy </a:t>
            </a:r>
            <a:r>
              <a:rPr lang="en-US" dirty="0"/>
              <a:t>cannot produce the amount of cars and computers represented by point C.</a:t>
            </a:r>
          </a:p>
          <a:p>
            <a:r>
              <a:rPr lang="en-US" dirty="0"/>
              <a:t>Given the technology available for manufacturing cars and computers, the </a:t>
            </a:r>
            <a:r>
              <a:rPr lang="en-US" dirty="0" smtClean="0"/>
              <a:t>economy does </a:t>
            </a:r>
            <a:r>
              <a:rPr lang="en-US" dirty="0"/>
              <a:t>not have enough of the factors of production to support that level </a:t>
            </a:r>
            <a:r>
              <a:rPr lang="en-US" dirty="0" smtClean="0"/>
              <a:t>of output</a:t>
            </a:r>
            <a:r>
              <a:rPr lang="en-US" dirty="0"/>
              <a:t>. With the resources it has, the economy can produce at any point on </a:t>
            </a:r>
            <a:r>
              <a:rPr lang="en-US" dirty="0" smtClean="0"/>
              <a:t>or </a:t>
            </a:r>
            <a:r>
              <a:rPr lang="en-US" dirty="0"/>
              <a:t>inside the production possibilities frontier, but it cannot produce at points </a:t>
            </a:r>
            <a:r>
              <a:rPr lang="en-US" dirty="0" smtClean="0"/>
              <a:t>outside the </a:t>
            </a:r>
            <a:r>
              <a:rPr lang="en-US" dirty="0"/>
              <a:t>frontier</a:t>
            </a:r>
            <a:r>
              <a:rPr lang="en-US" dirty="0" smtClean="0"/>
              <a:t>.</a:t>
            </a:r>
          </a:p>
          <a:p>
            <a:pPr marL="0" indent="0">
              <a:buNone/>
            </a:pPr>
            <a:endParaRPr lang="en-US" dirty="0"/>
          </a:p>
        </p:txBody>
      </p:sp>
    </p:spTree>
    <p:extLst>
      <p:ext uri="{BB962C8B-B14F-4D97-AF65-F5344CB8AC3E}">
        <p14:creationId xmlns:p14="http://schemas.microsoft.com/office/powerpoint/2010/main" val="343774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Production Possibilities Frontier</a:t>
            </a:r>
            <a:endParaRPr lang="en-US" dirty="0"/>
          </a:p>
        </p:txBody>
      </p:sp>
      <p:sp>
        <p:nvSpPr>
          <p:cNvPr id="3" name="Content Placeholder 2"/>
          <p:cNvSpPr>
            <a:spLocks noGrp="1"/>
          </p:cNvSpPr>
          <p:nvPr>
            <p:ph idx="1"/>
          </p:nvPr>
        </p:nvSpPr>
        <p:spPr/>
        <p:txBody>
          <a:bodyPr>
            <a:normAutofit/>
          </a:bodyPr>
          <a:lstStyle/>
          <a:p>
            <a:r>
              <a:rPr lang="en-US" dirty="0"/>
              <a:t>An outcome is said to be </a:t>
            </a:r>
            <a:r>
              <a:rPr lang="en-US" b="1" dirty="0"/>
              <a:t>efficient</a:t>
            </a:r>
            <a:r>
              <a:rPr lang="en-US" i="1" dirty="0"/>
              <a:t> </a:t>
            </a:r>
            <a:r>
              <a:rPr lang="en-US" dirty="0"/>
              <a:t>if the economy is getting all it can from </a:t>
            </a:r>
            <a:r>
              <a:rPr lang="en-US" dirty="0" smtClean="0"/>
              <a:t>the scarce </a:t>
            </a:r>
            <a:r>
              <a:rPr lang="en-US" dirty="0"/>
              <a:t>resources it has available. Points on (rather than inside) the </a:t>
            </a:r>
            <a:r>
              <a:rPr lang="en-US" dirty="0" smtClean="0"/>
              <a:t>production possibilities </a:t>
            </a:r>
            <a:r>
              <a:rPr lang="en-US" dirty="0"/>
              <a:t>frontier represent efficient levels of </a:t>
            </a:r>
            <a:r>
              <a:rPr lang="en-US" dirty="0" smtClean="0"/>
              <a:t>production.</a:t>
            </a:r>
          </a:p>
          <a:p>
            <a:r>
              <a:rPr lang="en-US" dirty="0"/>
              <a:t>Point D represents an </a:t>
            </a:r>
            <a:r>
              <a:rPr lang="en-US" b="1" dirty="0" smtClean="0"/>
              <a:t>inefficient</a:t>
            </a:r>
            <a:r>
              <a:rPr lang="en-US" i="1" dirty="0" smtClean="0"/>
              <a:t> </a:t>
            </a:r>
            <a:r>
              <a:rPr lang="en-US" dirty="0" smtClean="0"/>
              <a:t>outcome</a:t>
            </a:r>
            <a:r>
              <a:rPr lang="en-US" dirty="0"/>
              <a:t>. </a:t>
            </a:r>
            <a:r>
              <a:rPr lang="en-US" dirty="0" smtClean="0"/>
              <a:t>If </a:t>
            </a:r>
            <a:r>
              <a:rPr lang="en-US" dirty="0"/>
              <a:t>the source of the inefficiency is </a:t>
            </a:r>
            <a:r>
              <a:rPr lang="en-US" dirty="0" smtClean="0"/>
              <a:t>eliminated, the </a:t>
            </a:r>
            <a:r>
              <a:rPr lang="en-US" dirty="0"/>
              <a:t>economy can increase its production of both goods</a:t>
            </a:r>
            <a:r>
              <a:rPr lang="en-US" dirty="0" smtClean="0"/>
              <a:t>.</a:t>
            </a:r>
          </a:p>
          <a:p>
            <a:r>
              <a:rPr lang="en-US" dirty="0" smtClean="0"/>
              <a:t>The slope of the PPF measures the opportunity cost of one good to the other.</a:t>
            </a:r>
          </a:p>
          <a:p>
            <a:r>
              <a:rPr lang="en-US" dirty="0" smtClean="0"/>
              <a:t>The slope is bow shaped when the opportunity cost is not constant &amp; it is a straight line when the opportunity cost is constant.  </a:t>
            </a:r>
            <a:endParaRPr lang="en-US" dirty="0"/>
          </a:p>
        </p:txBody>
      </p:sp>
    </p:spTree>
    <p:extLst>
      <p:ext uri="{BB962C8B-B14F-4D97-AF65-F5344CB8AC3E}">
        <p14:creationId xmlns:p14="http://schemas.microsoft.com/office/powerpoint/2010/main" val="3968989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Production Possibilities Frontier</a:t>
            </a:r>
            <a:endParaRPr lang="en-US" dirty="0"/>
          </a:p>
        </p:txBody>
      </p:sp>
      <p:pic>
        <p:nvPicPr>
          <p:cNvPr id="4" name="Content Placeholder 3"/>
          <p:cNvPicPr>
            <a:picLocks noGrp="1" noChangeAspect="1"/>
          </p:cNvPicPr>
          <p:nvPr>
            <p:ph idx="1"/>
          </p:nvPr>
        </p:nvPicPr>
        <p:blipFill>
          <a:blip r:embed="rId2"/>
          <a:stretch>
            <a:fillRect/>
          </a:stretch>
        </p:blipFill>
        <p:spPr>
          <a:xfrm>
            <a:off x="1009403" y="1853754"/>
            <a:ext cx="10034649" cy="4259663"/>
          </a:xfrm>
          <a:prstGeom prst="rect">
            <a:avLst/>
          </a:prstGeom>
        </p:spPr>
      </p:pic>
    </p:spTree>
    <p:extLst>
      <p:ext uri="{BB962C8B-B14F-4D97-AF65-F5344CB8AC3E}">
        <p14:creationId xmlns:p14="http://schemas.microsoft.com/office/powerpoint/2010/main" val="235897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Production Possibilities Frontier</a:t>
            </a:r>
            <a:endParaRPr lang="en-US" dirty="0"/>
          </a:p>
        </p:txBody>
      </p:sp>
      <p:pic>
        <p:nvPicPr>
          <p:cNvPr id="6" name="Content Placeholder 5"/>
          <p:cNvPicPr>
            <a:picLocks noGrp="1" noChangeAspect="1"/>
          </p:cNvPicPr>
          <p:nvPr>
            <p:ph idx="1"/>
          </p:nvPr>
        </p:nvPicPr>
        <p:blipFill>
          <a:blip r:embed="rId2"/>
          <a:stretch>
            <a:fillRect/>
          </a:stretch>
        </p:blipFill>
        <p:spPr>
          <a:xfrm>
            <a:off x="3030583" y="1959430"/>
            <a:ext cx="6400800" cy="3958044"/>
          </a:xfrm>
          <a:prstGeom prst="rect">
            <a:avLst/>
          </a:prstGeom>
        </p:spPr>
      </p:pic>
    </p:spTree>
    <p:extLst>
      <p:ext uri="{BB962C8B-B14F-4D97-AF65-F5344CB8AC3E}">
        <p14:creationId xmlns:p14="http://schemas.microsoft.com/office/powerpoint/2010/main" val="1518765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Shift in the Production Possibilities Frontier</a:t>
            </a:r>
          </a:p>
        </p:txBody>
      </p:sp>
      <p:sp>
        <p:nvSpPr>
          <p:cNvPr id="3" name="Content Placeholder 2"/>
          <p:cNvSpPr>
            <a:spLocks noGrp="1"/>
          </p:cNvSpPr>
          <p:nvPr>
            <p:ph idx="1"/>
          </p:nvPr>
        </p:nvSpPr>
        <p:spPr/>
        <p:txBody>
          <a:bodyPr/>
          <a:lstStyle/>
          <a:p>
            <a:r>
              <a:rPr lang="en-US" dirty="0" smtClean="0"/>
              <a:t>Due to technological advancement, a good domestic production or a year of good international business, there might be growth of the economy. </a:t>
            </a:r>
          </a:p>
          <a:p>
            <a:r>
              <a:rPr lang="en-US" dirty="0"/>
              <a:t>This figure </a:t>
            </a:r>
            <a:r>
              <a:rPr lang="en-US" dirty="0" smtClean="0"/>
              <a:t>in the next slide illustrates </a:t>
            </a:r>
            <a:r>
              <a:rPr lang="en-US" dirty="0"/>
              <a:t>what happens when an economy grows. Society </a:t>
            </a:r>
            <a:r>
              <a:rPr lang="en-US" dirty="0" smtClean="0"/>
              <a:t>can move </a:t>
            </a:r>
            <a:r>
              <a:rPr lang="en-US" dirty="0"/>
              <a:t>production from a point on the old frontier to a point on the new frontier.</a:t>
            </a:r>
            <a:r>
              <a:rPr lang="en-US" dirty="0" smtClean="0"/>
              <a:t> </a:t>
            </a:r>
          </a:p>
          <a:p>
            <a:r>
              <a:rPr lang="en-US" dirty="0" smtClean="0"/>
              <a:t>There will be shift in the PPF which will now enable the society to avail more products due to a higher production of any one of the good or both the goods.</a:t>
            </a:r>
            <a:endParaRPr lang="en-US" dirty="0"/>
          </a:p>
        </p:txBody>
      </p:sp>
    </p:spTree>
    <p:extLst>
      <p:ext uri="{BB962C8B-B14F-4D97-AF65-F5344CB8AC3E}">
        <p14:creationId xmlns:p14="http://schemas.microsoft.com/office/powerpoint/2010/main" val="1191510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Shift in the Production Possibilities Frontier</a:t>
            </a:r>
            <a:endParaRPr lang="en-US" dirty="0"/>
          </a:p>
        </p:txBody>
      </p:sp>
      <p:pic>
        <p:nvPicPr>
          <p:cNvPr id="4" name="Content Placeholder 3"/>
          <p:cNvPicPr>
            <a:picLocks noGrp="1" noChangeAspect="1"/>
          </p:cNvPicPr>
          <p:nvPr>
            <p:ph idx="1"/>
          </p:nvPr>
        </p:nvPicPr>
        <p:blipFill>
          <a:blip r:embed="rId2"/>
          <a:stretch>
            <a:fillRect/>
          </a:stretch>
        </p:blipFill>
        <p:spPr>
          <a:xfrm>
            <a:off x="1554480" y="1998618"/>
            <a:ext cx="8412480" cy="4036422"/>
          </a:xfrm>
          <a:prstGeom prst="rect">
            <a:avLst/>
          </a:prstGeom>
        </p:spPr>
      </p:pic>
    </p:spTree>
    <p:extLst>
      <p:ext uri="{BB962C8B-B14F-4D97-AF65-F5344CB8AC3E}">
        <p14:creationId xmlns:p14="http://schemas.microsoft.com/office/powerpoint/2010/main" val="545772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Shift in the Production Possibilities Frontier</a:t>
            </a:r>
            <a:endParaRPr lang="en-US" dirty="0"/>
          </a:p>
        </p:txBody>
      </p:sp>
      <p:pic>
        <p:nvPicPr>
          <p:cNvPr id="1026" name="Picture 2" descr="Shifts in the PPF - Production Possibilities Fronti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00800" y="1853754"/>
            <a:ext cx="4755832" cy="37621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1451578" y="1853753"/>
            <a:ext cx="4217701" cy="3762103"/>
          </a:xfrm>
          <a:prstGeom prst="rect">
            <a:avLst/>
          </a:prstGeom>
        </p:spPr>
      </p:pic>
      <p:pic>
        <p:nvPicPr>
          <p:cNvPr id="5" name="Picture 4"/>
          <p:cNvPicPr>
            <a:picLocks noChangeAspect="1"/>
          </p:cNvPicPr>
          <p:nvPr/>
        </p:nvPicPr>
        <p:blipFill>
          <a:blip r:embed="rId4"/>
          <a:stretch>
            <a:fillRect/>
          </a:stretch>
        </p:blipFill>
        <p:spPr>
          <a:xfrm>
            <a:off x="6400801" y="1853753"/>
            <a:ext cx="4755832" cy="3762103"/>
          </a:xfrm>
          <a:prstGeom prst="rect">
            <a:avLst/>
          </a:prstGeom>
        </p:spPr>
      </p:pic>
    </p:spTree>
    <p:extLst>
      <p:ext uri="{BB962C8B-B14F-4D97-AF65-F5344CB8AC3E}">
        <p14:creationId xmlns:p14="http://schemas.microsoft.com/office/powerpoint/2010/main" val="109360063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356</TotalTime>
  <Words>723</Words>
  <Application>Microsoft Office PowerPoint</Application>
  <PresentationFormat>Custom</PresentationFormat>
  <Paragraphs>36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Gallery</vt:lpstr>
      <vt:lpstr> Thinking Like an  Economist</vt:lpstr>
      <vt:lpstr>Microeconomics &amp; Macroeconomics</vt:lpstr>
      <vt:lpstr>Positive versus Normative Analysis</vt:lpstr>
      <vt:lpstr>The Circular-Flow Diagram</vt:lpstr>
      <vt:lpstr>The Circular-Flow Diagram</vt:lpstr>
      <vt:lpstr>The Production Possibilities Frontier</vt:lpstr>
      <vt:lpstr>The Production Possibilities Frontier</vt:lpstr>
      <vt:lpstr>The Production Possibilities Frontier</vt:lpstr>
      <vt:lpstr>The Production Possibilities Frontier</vt:lpstr>
      <vt:lpstr>The Production Possibilities Frontier</vt:lpstr>
      <vt:lpstr>A Shift in the Production Possibilities Frontier</vt:lpstr>
      <vt:lpstr>A Shift in the Production Possibilities Frontier</vt:lpstr>
      <vt:lpstr>A Shift in the Production Possibilities Frontier</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Like an  Economist</dc:title>
  <dc:creator>Chandra Tabassum</dc:creator>
  <cp:lastModifiedBy>Dr. Mohammad Akhtaruzzaman</cp:lastModifiedBy>
  <cp:revision>15</cp:revision>
  <dcterms:created xsi:type="dcterms:W3CDTF">2020-07-11T16:08:47Z</dcterms:created>
  <dcterms:modified xsi:type="dcterms:W3CDTF">2025-07-29T04:25:16Z</dcterms:modified>
</cp:coreProperties>
</file>