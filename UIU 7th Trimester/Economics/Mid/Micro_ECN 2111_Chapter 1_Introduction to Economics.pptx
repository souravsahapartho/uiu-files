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9" d="100"/>
          <a:sy n="89" d="100"/>
        </p:scale>
        <p:origin x="-1258" y="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B2A3410F-C7B2-48FE-92A3-00E7C44547F8}" type="datetimeFigureOut">
              <a:rPr lang="en-US" smtClean="0"/>
              <a:pPr/>
              <a:t>7/23/2025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F953CED-86B0-425C-907F-D519DD5B0A7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2A3410F-C7B2-48FE-92A3-00E7C44547F8}"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953CED-86B0-425C-907F-D519DD5B0A70}" type="slidenum">
              <a:rPr lang="en-US" smtClean="0"/>
              <a:pPr/>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2A3410F-C7B2-48FE-92A3-00E7C44547F8}"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953CED-86B0-425C-907F-D519DD5B0A7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2A3410F-C7B2-48FE-92A3-00E7C44547F8}"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953CED-86B0-425C-907F-D519DD5B0A70}" type="slidenum">
              <a:rPr lang="en-US" smtClean="0"/>
              <a:pPr/>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B2A3410F-C7B2-48FE-92A3-00E7C44547F8}" type="datetimeFigureOut">
              <a:rPr lang="en-US" smtClean="0"/>
              <a:pPr/>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953CED-86B0-425C-907F-D519DD5B0A7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2A3410F-C7B2-48FE-92A3-00E7C44547F8}" type="datetimeFigureOut">
              <a:rPr lang="en-US" smtClean="0"/>
              <a:pPr/>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953CED-86B0-425C-907F-D519DD5B0A70}" type="slidenum">
              <a:rPr lang="en-US" smtClean="0"/>
              <a:pPr/>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A3410F-C7B2-48FE-92A3-00E7C44547F8}" type="datetimeFigureOut">
              <a:rPr lang="en-US" smtClean="0"/>
              <a:pPr/>
              <a:t>7/23/2025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953CED-86B0-425C-907F-D519DD5B0A7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B2A3410F-C7B2-48FE-92A3-00E7C44547F8}"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953CED-86B0-425C-907F-D519DD5B0A7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B2A3410F-C7B2-48FE-92A3-00E7C44547F8}" type="datetimeFigureOut">
              <a:rPr lang="en-US" smtClean="0"/>
              <a:pPr/>
              <a:t>7/23/2025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F953CED-86B0-425C-907F-D519DD5B0A7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2A3410F-C7B2-48FE-92A3-00E7C44547F8}"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953CED-86B0-425C-907F-D519DD5B0A7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2A3410F-C7B2-48FE-92A3-00E7C44547F8}"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953CED-86B0-425C-907F-D519DD5B0A7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B2A3410F-C7B2-48FE-92A3-00E7C44547F8}" type="datetimeFigureOut">
              <a:rPr lang="en-US" smtClean="0"/>
              <a:pPr/>
              <a:t>7/23/2025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F953CED-86B0-425C-907F-D519DD5B0A7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2362199"/>
          </a:xfrm>
        </p:spPr>
        <p:txBody>
          <a:bodyPr>
            <a:normAutofit/>
          </a:bodyPr>
          <a:lstStyle/>
          <a:p>
            <a:pPr algn="ctr"/>
            <a:r>
              <a:rPr lang="en-US" dirty="0" smtClean="0">
                <a:solidFill>
                  <a:schemeClr val="accent1">
                    <a:lumMod val="50000"/>
                  </a:schemeClr>
                </a:solidFill>
              </a:rPr>
              <a:t>Introduction to Economics: Ten Principles of Economics</a:t>
            </a:r>
            <a:endParaRPr lang="en-US" dirty="0">
              <a:solidFill>
                <a:schemeClr val="accent1">
                  <a:lumMod val="50000"/>
                </a:schemeClr>
              </a:solidFill>
            </a:endParaRPr>
          </a:p>
        </p:txBody>
      </p:sp>
      <p:sp>
        <p:nvSpPr>
          <p:cNvPr id="3" name="Subtitle 2"/>
          <p:cNvSpPr>
            <a:spLocks noGrp="1"/>
          </p:cNvSpPr>
          <p:nvPr>
            <p:ph type="subTitle" idx="1"/>
          </p:nvPr>
        </p:nvSpPr>
        <p:spPr/>
        <p:txBody>
          <a:bodyPr>
            <a:noAutofit/>
          </a:bodyPr>
          <a:lstStyle/>
          <a:p>
            <a:pPr algn="l"/>
            <a:r>
              <a:rPr lang="en-US" sz="2400" b="1" dirty="0" smtClean="0">
                <a:solidFill>
                  <a:schemeClr val="accent2">
                    <a:lumMod val="75000"/>
                  </a:schemeClr>
                </a:solidFill>
              </a:rPr>
              <a:t>Course</a:t>
            </a:r>
            <a:r>
              <a:rPr lang="en-US" sz="2400" b="1" smtClean="0">
                <a:solidFill>
                  <a:schemeClr val="accent2">
                    <a:lumMod val="75000"/>
                  </a:schemeClr>
                </a:solidFill>
              </a:rPr>
              <a:t>: </a:t>
            </a:r>
            <a:r>
              <a:rPr lang="en-US" sz="2400" b="1" smtClean="0">
                <a:solidFill>
                  <a:schemeClr val="accent2">
                    <a:lumMod val="75000"/>
                  </a:schemeClr>
                </a:solidFill>
              </a:rPr>
              <a:t>Microeconomics</a:t>
            </a:r>
            <a:endParaRPr lang="en-US" sz="2400" b="1" dirty="0" smtClean="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smtClean="0"/>
              <a:t>Economics</a:t>
            </a:r>
            <a:r>
              <a:rPr lang="en-US" dirty="0" smtClean="0"/>
              <a:t> is the study of how society manages its scarce resources. </a:t>
            </a:r>
          </a:p>
          <a:p>
            <a:r>
              <a:rPr lang="en-US" dirty="0" smtClean="0"/>
              <a:t>In most societies, resources are allocated not by an all-powerful dictator but through the combined choices of millions of households and firms.</a:t>
            </a:r>
          </a:p>
          <a:p>
            <a:r>
              <a:rPr lang="en-US" dirty="0" smtClean="0"/>
              <a:t>Economists study how people make decisions: how much they work, what they buy, how much they save, and how they invest their savings.</a:t>
            </a:r>
          </a:p>
          <a:p>
            <a:r>
              <a:rPr lang="en-US" dirty="0" smtClean="0"/>
              <a:t> Economists also study how people interact with one another.</a:t>
            </a:r>
          </a:p>
          <a:p>
            <a:r>
              <a:rPr lang="en-US" dirty="0" smtClean="0"/>
              <a:t>Finally, economists analyze the forces and trends that affect the economy as a whole, including the growth in average income, the fraction of the population that cannot find work, and the rate at which prices are rising.</a:t>
            </a:r>
            <a:endParaRPr lang="en-US" dirty="0"/>
          </a:p>
        </p:txBody>
      </p:sp>
      <p:sp>
        <p:nvSpPr>
          <p:cNvPr id="3" name="Title 2"/>
          <p:cNvSpPr>
            <a:spLocks noGrp="1"/>
          </p:cNvSpPr>
          <p:nvPr>
            <p:ph type="title"/>
          </p:nvPr>
        </p:nvSpPr>
        <p:spPr/>
        <p:txBody>
          <a:bodyPr/>
          <a:lstStyle/>
          <a:p>
            <a:r>
              <a:rPr lang="en-US" dirty="0" smtClean="0">
                <a:solidFill>
                  <a:schemeClr val="bg2">
                    <a:lumMod val="50000"/>
                  </a:schemeClr>
                </a:solidFill>
              </a:rPr>
              <a:t>What is Economics?</a:t>
            </a:r>
            <a:endParaRPr lang="en-US" dirty="0">
              <a:solidFill>
                <a:schemeClr val="bg2">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smtClean="0"/>
              <a:t>Scarcity </a:t>
            </a:r>
            <a:r>
              <a:rPr lang="en-US" dirty="0" smtClean="0"/>
              <a:t>means that society has limited resources and therefore cannot produce all the goods and services people wish to have.</a:t>
            </a:r>
          </a:p>
          <a:p>
            <a:r>
              <a:rPr lang="en-US" dirty="0" smtClean="0"/>
              <a:t>The study of economics has many facets, but it is unified by several central ideas which are listed under the </a:t>
            </a:r>
            <a:r>
              <a:rPr lang="en-US" i="1" dirty="0" smtClean="0"/>
              <a:t>Ten Principles of Economics.</a:t>
            </a:r>
            <a:r>
              <a:rPr lang="en-US" dirty="0" smtClean="0"/>
              <a:t> </a:t>
            </a:r>
          </a:p>
        </p:txBody>
      </p:sp>
      <p:sp>
        <p:nvSpPr>
          <p:cNvPr id="3" name="Title 2"/>
          <p:cNvSpPr>
            <a:spLocks noGrp="1"/>
          </p:cNvSpPr>
          <p:nvPr>
            <p:ph type="title"/>
          </p:nvPr>
        </p:nvSpPr>
        <p:spPr/>
        <p:txBody>
          <a:bodyPr/>
          <a:lstStyle/>
          <a:p>
            <a:r>
              <a:rPr lang="en-US" dirty="0" smtClean="0">
                <a:solidFill>
                  <a:schemeClr val="bg2">
                    <a:lumMod val="50000"/>
                  </a:schemeClr>
                </a:solidFill>
              </a:rPr>
              <a:t>Ten Principles of Economics</a:t>
            </a:r>
            <a:endParaRPr lang="en-US" dirty="0">
              <a:solidFill>
                <a:schemeClr val="bg2">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“There </a:t>
            </a:r>
            <a:r>
              <a:rPr lang="en-US" dirty="0" err="1" smtClean="0"/>
              <a:t>ain’t</a:t>
            </a:r>
            <a:r>
              <a:rPr lang="en-US" dirty="0" smtClean="0"/>
              <a:t> no such thing as a free lunch.”</a:t>
            </a:r>
          </a:p>
          <a:p>
            <a:r>
              <a:rPr lang="en-US" dirty="0" smtClean="0"/>
              <a:t>One classic trade-off is between “guns and butter.” The more a society spends on national defense (guns) to protect its shores from foreign aggressors, the less it can spend on consumer goods (butter) to raise the standard of living at home.</a:t>
            </a:r>
          </a:p>
          <a:p>
            <a:r>
              <a:rPr lang="en-US" dirty="0" smtClean="0"/>
              <a:t>To get something that we like, we usually have to give up something else that we also like. Making decisions requires trading off one goal against another.</a:t>
            </a:r>
            <a:endParaRPr lang="en-US"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1: People Face Trade-offs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society faces a trade-off between efficiency and equality. </a:t>
            </a:r>
          </a:p>
          <a:p>
            <a:r>
              <a:rPr lang="en-US" b="1" dirty="0" smtClean="0"/>
              <a:t>Efficiency </a:t>
            </a:r>
            <a:r>
              <a:rPr lang="en-US" dirty="0" smtClean="0"/>
              <a:t>means that society is getting the maximum benefits from its scarce resources.</a:t>
            </a:r>
          </a:p>
          <a:p>
            <a:r>
              <a:rPr lang="en-US" b="1" dirty="0" smtClean="0"/>
              <a:t>Equality </a:t>
            </a:r>
            <a:r>
              <a:rPr lang="en-US" dirty="0" smtClean="0"/>
              <a:t>means that those benefits are distributed uniformly among society’s members.</a:t>
            </a:r>
          </a:p>
          <a:p>
            <a:endParaRPr lang="en-US"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1: People Face Trade-offs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Because people face trade-offs, making decisions requires comparing the costs and benefits of alternative courses of action.</a:t>
            </a:r>
          </a:p>
          <a:p>
            <a:r>
              <a:rPr lang="en-US" dirty="0" smtClean="0"/>
              <a:t>The </a:t>
            </a:r>
            <a:r>
              <a:rPr lang="en-US" b="1" dirty="0" smtClean="0"/>
              <a:t>opportunity cost </a:t>
            </a:r>
            <a:r>
              <a:rPr lang="en-US" dirty="0" smtClean="0"/>
              <a:t>of an item is what you give up to get that item. It is the cost of letting go the next best alternative.</a:t>
            </a:r>
          </a:p>
          <a:p>
            <a:r>
              <a:rPr lang="en-US" dirty="0" smtClean="0"/>
              <a:t>When</a:t>
            </a:r>
            <a:r>
              <a:rPr lang="en-US" b="1" dirty="0" smtClean="0"/>
              <a:t> </a:t>
            </a:r>
            <a:r>
              <a:rPr lang="en-US" dirty="0" smtClean="0"/>
              <a:t>making any decision, decision makers should be aware of the opportunity costs that accompany each possible action.</a:t>
            </a:r>
          </a:p>
          <a:p>
            <a:r>
              <a:rPr lang="en-US" dirty="0" smtClean="0"/>
              <a:t>When you spend a year listening to lectures, reading textbooks, and writing papers, you cannot spend that time working at a job.</a:t>
            </a:r>
            <a:endParaRPr lang="en-US" dirty="0"/>
          </a:p>
        </p:txBody>
      </p:sp>
      <p:sp>
        <p:nvSpPr>
          <p:cNvPr id="3" name="Title 2"/>
          <p:cNvSpPr>
            <a:spLocks noGrp="1"/>
          </p:cNvSpPr>
          <p:nvPr>
            <p:ph type="title"/>
          </p:nvPr>
        </p:nvSpPr>
        <p:spPr>
          <a:xfrm>
            <a:off x="457200" y="0"/>
            <a:ext cx="8229600" cy="1417638"/>
          </a:xfrm>
        </p:spPr>
        <p:txBody>
          <a:bodyPr>
            <a:normAutofit fontScale="90000"/>
          </a:bodyPr>
          <a:lstStyle/>
          <a:p>
            <a:r>
              <a:rPr lang="en-US" sz="3100" dirty="0" smtClean="0"/>
              <a:t/>
            </a:r>
            <a:br>
              <a:rPr lang="en-US" sz="3100" dirty="0" smtClean="0"/>
            </a:br>
            <a:r>
              <a:rPr lang="en-US" sz="3100" dirty="0" smtClean="0"/>
              <a:t/>
            </a:r>
            <a:br>
              <a:rPr lang="en-US" sz="3100" dirty="0" smtClean="0"/>
            </a:br>
            <a:r>
              <a:rPr lang="en-US" sz="3100" dirty="0" smtClean="0">
                <a:solidFill>
                  <a:schemeClr val="bg2">
                    <a:lumMod val="50000"/>
                  </a:schemeClr>
                </a:solidFill>
              </a:rPr>
              <a:t>Principle 2: The Cost of Something Is What You Give Up to Get It</a:t>
            </a:r>
            <a:r>
              <a:rPr lang="en-US" dirty="0" smtClean="0"/>
              <a:t/>
            </a:r>
            <a:br>
              <a:rPr lang="en-US" dirty="0" smtClean="0"/>
            </a:br>
            <a:endParaRPr lang="en-US"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smtClean="0"/>
              <a:t>Rational people </a:t>
            </a:r>
            <a:r>
              <a:rPr lang="en-US" dirty="0" smtClean="0"/>
              <a:t>are the people who systematically</a:t>
            </a:r>
            <a:r>
              <a:rPr lang="en-US" b="1" dirty="0" smtClean="0"/>
              <a:t> </a:t>
            </a:r>
            <a:r>
              <a:rPr lang="en-US" dirty="0" smtClean="0"/>
              <a:t>and purposefully do the best they can to achieve their objectives, given the available opportunities.</a:t>
            </a:r>
          </a:p>
          <a:p>
            <a:r>
              <a:rPr lang="en-US" b="1" dirty="0" smtClean="0"/>
              <a:t>Marginal change </a:t>
            </a:r>
            <a:r>
              <a:rPr lang="en-US" dirty="0" smtClean="0"/>
              <a:t>a small incremental adjustment to a plan of action.</a:t>
            </a:r>
          </a:p>
          <a:p>
            <a:r>
              <a:rPr lang="en-US" dirty="0" smtClean="0"/>
              <a:t>Keep in mind that </a:t>
            </a:r>
            <a:r>
              <a:rPr lang="en-US" i="1" dirty="0" smtClean="0"/>
              <a:t>margin means “edge,” so marginal changes are </a:t>
            </a:r>
            <a:r>
              <a:rPr lang="en-US" dirty="0" smtClean="0"/>
              <a:t>adjustments around the edges of what you are doing. Rational people often make decisions by comparing </a:t>
            </a:r>
            <a:r>
              <a:rPr lang="en-US" i="1" dirty="0" smtClean="0"/>
              <a:t>marginal benefits and marginal costs.</a:t>
            </a:r>
            <a:endParaRPr lang="en-US"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3: Rational People Think at the Margin</a:t>
            </a:r>
            <a:endParaRPr lang="en-US" dirty="0">
              <a:solidFill>
                <a:schemeClr val="bg2">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When exams roll around, your decision is not between blowing them off and studying 24 hours a day but whether to spend an extra hour reviewing your notes instead of watching TV.</a:t>
            </a:r>
          </a:p>
          <a:p>
            <a:r>
              <a:rPr lang="en-US" dirty="0" smtClean="0"/>
              <a:t>Why is water so cheap, while diamonds are so expensive? </a:t>
            </a:r>
          </a:p>
          <a:p>
            <a:r>
              <a:rPr lang="en-US" b="1" dirty="0" smtClean="0"/>
              <a:t>A rational decision maker takes an action if and only if the marginal benefit of the action exceeds the marginal cost</a:t>
            </a:r>
            <a:r>
              <a:rPr lang="en-US" dirty="0" smtClean="0"/>
              <a:t>.</a:t>
            </a:r>
            <a:endParaRPr lang="en-US"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3: Rational People Think at the Margin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smtClean="0"/>
              <a:t>An incentive </a:t>
            </a:r>
            <a:r>
              <a:rPr lang="en-US" dirty="0" smtClean="0"/>
              <a:t>is something (such as the prospect of a punishment or reward) that induces a person to act. Because rational people make decisions by comparing costs and benefits, they respond to incentives.</a:t>
            </a:r>
          </a:p>
          <a:p>
            <a:r>
              <a:rPr lang="en-US" dirty="0" smtClean="0"/>
              <a:t>Incentives are key to analyzing how markets work. For example, when the price of an apple rises, people decide to eat fewer apples. At the same time, apple orchards decide to hire more workers and harvest more apples. In other words, a higher price in a market provides an incentive for buyers to consume less and an incentive for sellers to produce more.</a:t>
            </a:r>
            <a:endParaRPr lang="en-US"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4: People Respond to Incentives</a:t>
            </a:r>
            <a:endParaRPr lang="en-US" dirty="0">
              <a:solidFill>
                <a:schemeClr val="bg2">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Trade between two countries can make each country better off.</a:t>
            </a:r>
          </a:p>
          <a:p>
            <a:r>
              <a:rPr lang="en-US" dirty="0" smtClean="0"/>
              <a:t>Trade allows countries to specialize in what they do best and to enjoy a greater variety of goods and services. </a:t>
            </a:r>
            <a:endParaRPr lang="en-US" b="1" dirty="0"/>
          </a:p>
        </p:txBody>
      </p:sp>
      <p:sp>
        <p:nvSpPr>
          <p:cNvPr id="3" name="Title 2"/>
          <p:cNvSpPr>
            <a:spLocks noGrp="1"/>
          </p:cNvSpPr>
          <p:nvPr>
            <p:ph type="title"/>
          </p:nvPr>
        </p:nvSpPr>
        <p:spPr/>
        <p:txBody>
          <a:bodyPr>
            <a:normAutofit fontScale="90000"/>
          </a:bodyPr>
          <a:lstStyle/>
          <a:p>
            <a:r>
              <a:rPr lang="en-US" dirty="0" smtClean="0">
                <a:solidFill>
                  <a:schemeClr val="bg2">
                    <a:lumMod val="50000"/>
                  </a:schemeClr>
                </a:solidFill>
              </a:rPr>
              <a:t>Principle 5: Trade Can Make Everyone Better Off</a:t>
            </a:r>
            <a:endParaRPr lang="en-US" dirty="0">
              <a:solidFill>
                <a:schemeClr val="bg2">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smtClean="0"/>
              <a:t>Market economy </a:t>
            </a:r>
            <a:r>
              <a:rPr lang="en-US" dirty="0" smtClean="0"/>
              <a:t>an economy that allocates resources through the decentralized decisions of many firms and households as they interact in markets for goods and services.</a:t>
            </a:r>
          </a:p>
          <a:p>
            <a:r>
              <a:rPr lang="en-US" dirty="0" smtClean="0"/>
              <a:t>The success of market economies is puzzling. In a market economy, no one is looking out for the economic well-being of society as a whole. Free markets contain many buyers and sellers of numerous goods and services, and all of them are interested primarily in their own well-being. Yet despite decentralized decision making and self-interested decision makers, market economies have proven remarkably successful in organizing economic activity to promote overall economic well-being.</a:t>
            </a:r>
            <a:endParaRPr lang="en-US" dirty="0"/>
          </a:p>
        </p:txBody>
      </p:sp>
      <p:sp>
        <p:nvSpPr>
          <p:cNvPr id="3" name="Title 2"/>
          <p:cNvSpPr>
            <a:spLocks noGrp="1"/>
          </p:cNvSpPr>
          <p:nvPr>
            <p:ph type="title"/>
          </p:nvPr>
        </p:nvSpPr>
        <p:spPr/>
        <p:txBody>
          <a:bodyPr>
            <a:normAutofit/>
          </a:bodyPr>
          <a:lstStyle/>
          <a:p>
            <a:r>
              <a:rPr lang="en-US" sz="3200" dirty="0" smtClean="0">
                <a:solidFill>
                  <a:schemeClr val="bg2">
                    <a:lumMod val="50000"/>
                  </a:schemeClr>
                </a:solidFill>
              </a:rPr>
              <a:t>Principle 6: Markets Are Usually a Good Way to Organize Economic Activity</a:t>
            </a:r>
            <a:endParaRPr lang="en-US" sz="3200" dirty="0">
              <a:solidFill>
                <a:schemeClr val="bg2">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 his 1776 book </a:t>
            </a:r>
            <a:r>
              <a:rPr lang="en-US" i="1" dirty="0" smtClean="0"/>
              <a:t>An Inquiry into the Nature and Causes of the Wealth of Nations, </a:t>
            </a:r>
            <a:r>
              <a:rPr lang="en-US" dirty="0" smtClean="0"/>
              <a:t>economist Adam Smith made the most famous observation in all of economics: Households and firms interacting in markets act as if they are guided by an</a:t>
            </a:r>
          </a:p>
          <a:p>
            <a:pPr>
              <a:buNone/>
            </a:pPr>
            <a:r>
              <a:rPr lang="en-US" dirty="0" smtClean="0"/>
              <a:t> </a:t>
            </a:r>
            <a:r>
              <a:rPr lang="en-US" b="1" dirty="0" smtClean="0"/>
              <a:t>“invisible hand” </a:t>
            </a:r>
            <a:r>
              <a:rPr lang="en-US" dirty="0" smtClean="0"/>
              <a:t>that leads them to desirable market outcomes.</a:t>
            </a:r>
          </a:p>
          <a:p>
            <a:pPr>
              <a:buNone/>
            </a:pPr>
            <a:endParaRPr lang="en-US" dirty="0" smtClean="0"/>
          </a:p>
          <a:p>
            <a:pPr>
              <a:buNone/>
            </a:pPr>
            <a:endParaRPr lang="en-US" dirty="0"/>
          </a:p>
        </p:txBody>
      </p:sp>
      <p:sp>
        <p:nvSpPr>
          <p:cNvPr id="3" name="Title 2"/>
          <p:cNvSpPr>
            <a:spLocks noGrp="1"/>
          </p:cNvSpPr>
          <p:nvPr>
            <p:ph type="title"/>
          </p:nvPr>
        </p:nvSpPr>
        <p:spPr/>
        <p:txBody>
          <a:bodyPr>
            <a:normAutofit/>
          </a:bodyPr>
          <a:lstStyle/>
          <a:p>
            <a:r>
              <a:rPr lang="en-US" sz="3200" dirty="0" smtClean="0">
                <a:solidFill>
                  <a:schemeClr val="bg2">
                    <a:lumMod val="50000"/>
                  </a:schemeClr>
                </a:solidFill>
              </a:rPr>
              <a:t>Principle 6: Markets Are Usually a Good Way to Organize Economic Activity</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In any market, buyers look at the price when determining how much to demand, and sellers look at the price when deciding how much to supply. As a result of the decisions that buyers and sellers make, market prices reflect both the value of a good to society and the cost to society of making the good.</a:t>
            </a:r>
          </a:p>
          <a:p>
            <a:r>
              <a:rPr lang="en-US" dirty="0" smtClean="0"/>
              <a:t> Smith’s great insight was that prices adjust to guide these individual buyers and sellers to reach outcomes that, in many cases, maximize the well-being of society as a whole.</a:t>
            </a:r>
            <a:endParaRPr lang="en-US" dirty="0"/>
          </a:p>
        </p:txBody>
      </p:sp>
      <p:sp>
        <p:nvSpPr>
          <p:cNvPr id="3" name="Title 2"/>
          <p:cNvSpPr>
            <a:spLocks noGrp="1"/>
          </p:cNvSpPr>
          <p:nvPr>
            <p:ph type="title"/>
          </p:nvPr>
        </p:nvSpPr>
        <p:spPr/>
        <p:txBody>
          <a:bodyPr>
            <a:noAutofit/>
          </a:bodyPr>
          <a:lstStyle/>
          <a:p>
            <a:r>
              <a:rPr lang="en-US" sz="3200" dirty="0" smtClean="0">
                <a:solidFill>
                  <a:schemeClr val="bg2">
                    <a:lumMod val="50000"/>
                  </a:schemeClr>
                </a:solidFill>
              </a:rPr>
              <a:t>Principle 6: Markets Are Usually a Good Way to Organize Economic Activity</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Smith’s insight has an important corollary: When a </a:t>
            </a:r>
            <a:r>
              <a:rPr lang="en-US" smtClean="0"/>
              <a:t>government prevents prices </a:t>
            </a:r>
            <a:r>
              <a:rPr lang="en-US" dirty="0" smtClean="0"/>
              <a:t>from adjusting naturally to supply and demand, it impedes </a:t>
            </a:r>
            <a:r>
              <a:rPr lang="en-US" smtClean="0"/>
              <a:t>the invisible hand’s </a:t>
            </a:r>
            <a:r>
              <a:rPr lang="en-US" dirty="0" smtClean="0"/>
              <a:t>ability to coordinate the decisions of the households and firms </a:t>
            </a:r>
            <a:r>
              <a:rPr lang="en-US" smtClean="0"/>
              <a:t>that make up </a:t>
            </a:r>
            <a:r>
              <a:rPr lang="en-US" dirty="0" smtClean="0"/>
              <a:t>an economy.</a:t>
            </a:r>
            <a:endParaRPr lang="en-US" dirty="0"/>
          </a:p>
        </p:txBody>
      </p:sp>
      <p:sp>
        <p:nvSpPr>
          <p:cNvPr id="3" name="Title 2"/>
          <p:cNvSpPr>
            <a:spLocks noGrp="1"/>
          </p:cNvSpPr>
          <p:nvPr>
            <p:ph type="title"/>
          </p:nvPr>
        </p:nvSpPr>
        <p:spPr/>
        <p:txBody>
          <a:bodyPr>
            <a:normAutofit/>
          </a:bodyPr>
          <a:lstStyle/>
          <a:p>
            <a:r>
              <a:rPr lang="en-US" sz="3200" dirty="0" smtClean="0">
                <a:solidFill>
                  <a:schemeClr val="bg2">
                    <a:lumMod val="50000"/>
                  </a:schemeClr>
                </a:solidFill>
              </a:rPr>
              <a:t>Principle 6: Markets Are Usually a Good Way to Organize Economic Activity</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If the invisible hand of the market is so great, why do we need government? </a:t>
            </a:r>
            <a:endParaRPr lang="en-US" dirty="0" smtClean="0"/>
          </a:p>
          <a:p>
            <a:r>
              <a:rPr lang="en-US" dirty="0"/>
              <a:t>One reason we need government is that the invisible hand can work its magic only if the government enforces the rules and maintains the institutions that are key to a market economy. Most important, market economies need institutions to enforce property rights so individuals can own and control scarce resources. </a:t>
            </a:r>
            <a:endParaRPr lang="en-US" dirty="0" smtClean="0"/>
          </a:p>
          <a:p>
            <a:endParaRPr lang="en-US" dirty="0"/>
          </a:p>
        </p:txBody>
      </p:sp>
      <p:sp>
        <p:nvSpPr>
          <p:cNvPr id="3" name="Title 2"/>
          <p:cNvSpPr>
            <a:spLocks noGrp="1"/>
          </p:cNvSpPr>
          <p:nvPr>
            <p:ph type="title"/>
          </p:nvPr>
        </p:nvSpPr>
        <p:spPr/>
        <p:txBody>
          <a:bodyPr>
            <a:normAutofit fontScale="90000"/>
          </a:bodyPr>
          <a:lstStyle/>
          <a:p>
            <a:r>
              <a:rPr lang="en-US" sz="3600" dirty="0" smtClean="0">
                <a:solidFill>
                  <a:schemeClr val="bg2">
                    <a:lumMod val="50000"/>
                  </a:schemeClr>
                </a:solidFill>
              </a:rPr>
              <a:t>Principle </a:t>
            </a:r>
            <a:r>
              <a:rPr lang="en-US" sz="3600" dirty="0">
                <a:solidFill>
                  <a:schemeClr val="bg2">
                    <a:lumMod val="50000"/>
                  </a:schemeClr>
                </a:solidFill>
              </a:rPr>
              <a:t>7: Governments Can Sometimes  Improve Market Outcomes</a:t>
            </a:r>
          </a:p>
        </p:txBody>
      </p:sp>
    </p:spTree>
    <p:extLst>
      <p:ext uri="{BB962C8B-B14F-4D97-AF65-F5344CB8AC3E}">
        <p14:creationId xmlns:p14="http://schemas.microsoft.com/office/powerpoint/2010/main" val="2861031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smtClean="0"/>
              <a:t>Property rights-</a:t>
            </a:r>
            <a:r>
              <a:rPr lang="en-US" dirty="0" smtClean="0"/>
              <a:t>the </a:t>
            </a:r>
            <a:r>
              <a:rPr lang="en-US" dirty="0"/>
              <a:t>ability of an individual to own and exercise control over scarce </a:t>
            </a:r>
            <a:r>
              <a:rPr lang="en-US" dirty="0" smtClean="0"/>
              <a:t>resources.</a:t>
            </a:r>
          </a:p>
          <a:p>
            <a:r>
              <a:rPr lang="en-US" b="1" dirty="0" smtClean="0"/>
              <a:t>Market failure- </a:t>
            </a:r>
            <a:r>
              <a:rPr lang="en-US" dirty="0"/>
              <a:t>a situation in which a market left on its own fails to allocate resources </a:t>
            </a:r>
            <a:r>
              <a:rPr lang="en-US" dirty="0" smtClean="0"/>
              <a:t>efficiently.</a:t>
            </a:r>
          </a:p>
          <a:p>
            <a:r>
              <a:rPr lang="en-US" b="1" dirty="0" smtClean="0"/>
              <a:t>Externality-</a:t>
            </a:r>
            <a:r>
              <a:rPr lang="en-US" dirty="0" smtClean="0"/>
              <a:t> </a:t>
            </a:r>
            <a:r>
              <a:rPr lang="en-US" dirty="0"/>
              <a:t>the impact of one person’s actions on the well-being of a </a:t>
            </a:r>
            <a:r>
              <a:rPr lang="en-US" dirty="0" smtClean="0"/>
              <a:t>bystander. Ex- Pollution.</a:t>
            </a:r>
          </a:p>
          <a:p>
            <a:r>
              <a:rPr lang="en-US" b="1" dirty="0"/>
              <a:t>M</a:t>
            </a:r>
            <a:r>
              <a:rPr lang="en-US" b="1" dirty="0" smtClean="0"/>
              <a:t>arket Power- </a:t>
            </a:r>
            <a:r>
              <a:rPr lang="en-US" dirty="0"/>
              <a:t>the ability of a single economic actor (or small group of actors) to have a substantial influence on market </a:t>
            </a:r>
            <a:r>
              <a:rPr lang="en-US" dirty="0" smtClean="0"/>
              <a:t>prices.</a:t>
            </a:r>
          </a:p>
          <a:p>
            <a:r>
              <a:rPr lang="en-US" dirty="0"/>
              <a:t>In the presence of externalities or market power, well-designed public policy can enhance economic </a:t>
            </a:r>
            <a:r>
              <a:rPr lang="en-US" dirty="0" smtClean="0"/>
              <a:t>efficiency.</a:t>
            </a:r>
            <a:endParaRPr lang="en-US" dirty="0"/>
          </a:p>
          <a:p>
            <a:endParaRPr lang="en-US" dirty="0" smtClean="0"/>
          </a:p>
          <a:p>
            <a:endParaRPr lang="en-US" dirty="0"/>
          </a:p>
          <a:p>
            <a:endParaRPr lang="en-US" dirty="0"/>
          </a:p>
        </p:txBody>
      </p:sp>
      <p:sp>
        <p:nvSpPr>
          <p:cNvPr id="3" name="Title 2"/>
          <p:cNvSpPr>
            <a:spLocks noGrp="1"/>
          </p:cNvSpPr>
          <p:nvPr>
            <p:ph type="title"/>
          </p:nvPr>
        </p:nvSpPr>
        <p:spPr/>
        <p:txBody>
          <a:bodyPr>
            <a:normAutofit/>
          </a:bodyPr>
          <a:lstStyle/>
          <a:p>
            <a:r>
              <a:rPr lang="en-US" sz="3200" dirty="0">
                <a:solidFill>
                  <a:schemeClr val="bg2">
                    <a:lumMod val="50000"/>
                  </a:schemeClr>
                </a:solidFill>
              </a:rPr>
              <a:t>Principle 7: Governments Can Sometimes  Improve Market Outcomes</a:t>
            </a:r>
            <a:endParaRPr lang="en-US" sz="3200" dirty="0"/>
          </a:p>
        </p:txBody>
      </p:sp>
    </p:spTree>
    <p:extLst>
      <p:ext uri="{BB962C8B-B14F-4D97-AF65-F5344CB8AC3E}">
        <p14:creationId xmlns:p14="http://schemas.microsoft.com/office/powerpoint/2010/main" val="3550068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smtClean="0"/>
              <a:t>Productivity </a:t>
            </a:r>
            <a:r>
              <a:rPr lang="en-US" dirty="0" smtClean="0"/>
              <a:t>is </a:t>
            </a:r>
            <a:r>
              <a:rPr lang="en-US" dirty="0"/>
              <a:t>the quantity of goods and services produced from each unit of labor </a:t>
            </a:r>
            <a:r>
              <a:rPr lang="en-US" dirty="0" smtClean="0"/>
              <a:t>input.</a:t>
            </a:r>
          </a:p>
          <a:p>
            <a:r>
              <a:rPr lang="en-US" dirty="0" smtClean="0"/>
              <a:t>Almost </a:t>
            </a:r>
            <a:r>
              <a:rPr lang="en-US" dirty="0"/>
              <a:t>all variation in living standards is attributable to differences in countries’ </a:t>
            </a:r>
            <a:r>
              <a:rPr lang="en-US" dirty="0" smtClean="0"/>
              <a:t>productivity. In </a:t>
            </a:r>
            <a:r>
              <a:rPr lang="en-US" dirty="0"/>
              <a:t>nations where workers can produce a large quantity of goods and services per hour, most people enjoy a high standard of living; in nations where workers are less productive, most people endure a more meager existence. Similarly, the growth rate of a  nation’s productivity determines the growth rate of its average </a:t>
            </a:r>
            <a:r>
              <a:rPr lang="en-US" dirty="0" smtClean="0"/>
              <a:t>income.</a:t>
            </a:r>
            <a:endParaRPr lang="en-US" dirty="0"/>
          </a:p>
          <a:p>
            <a:endParaRPr lang="en-US" dirty="0"/>
          </a:p>
        </p:txBody>
      </p:sp>
      <p:sp>
        <p:nvSpPr>
          <p:cNvPr id="3" name="Title 2"/>
          <p:cNvSpPr>
            <a:spLocks noGrp="1"/>
          </p:cNvSpPr>
          <p:nvPr>
            <p:ph type="title"/>
          </p:nvPr>
        </p:nvSpPr>
        <p:spPr>
          <a:xfrm>
            <a:off x="457200" y="76200"/>
            <a:ext cx="8229600" cy="1341438"/>
          </a:xfrm>
        </p:spPr>
        <p:txBody>
          <a:bodyPr>
            <a:normAutofit fontScale="90000"/>
          </a:bodyPr>
          <a:lstStyle/>
          <a:p>
            <a:r>
              <a:rPr lang="en-US" sz="3600" dirty="0" smtClean="0">
                <a:solidFill>
                  <a:schemeClr val="bg2">
                    <a:lumMod val="50000"/>
                  </a:schemeClr>
                </a:solidFill>
              </a:rPr>
              <a:t>Principle </a:t>
            </a:r>
            <a:r>
              <a:rPr lang="en-US" sz="3600" dirty="0">
                <a:solidFill>
                  <a:schemeClr val="bg2">
                    <a:lumMod val="50000"/>
                  </a:schemeClr>
                </a:solidFill>
              </a:rPr>
              <a:t>8: A Country’s Standard of Living Depends on  Its Ability to Produce Goods and Services </a:t>
            </a:r>
          </a:p>
        </p:txBody>
      </p:sp>
    </p:spTree>
    <p:extLst>
      <p:ext uri="{BB962C8B-B14F-4D97-AF65-F5344CB8AC3E}">
        <p14:creationId xmlns:p14="http://schemas.microsoft.com/office/powerpoint/2010/main" val="1459763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smtClean="0"/>
              <a:t>Inflation</a:t>
            </a:r>
            <a:r>
              <a:rPr lang="en-US" dirty="0" smtClean="0"/>
              <a:t>- </a:t>
            </a:r>
            <a:r>
              <a:rPr lang="en-US" dirty="0"/>
              <a:t>an increase in the overall level of prices in the </a:t>
            </a:r>
            <a:r>
              <a:rPr lang="en-US" dirty="0" smtClean="0"/>
              <a:t>economy.</a:t>
            </a:r>
          </a:p>
          <a:p>
            <a:r>
              <a:rPr lang="en-US" dirty="0"/>
              <a:t>What causes inflation? In almost all cases of large or persistent inflation, the culprit is growth in the quantity of money. When a government creates large quantities of the nation’s money, the value of the money </a:t>
            </a:r>
            <a:r>
              <a:rPr lang="en-US" dirty="0" smtClean="0"/>
              <a:t>falls.</a:t>
            </a:r>
          </a:p>
          <a:p>
            <a:endParaRPr lang="en-US" dirty="0"/>
          </a:p>
          <a:p>
            <a:endParaRPr lang="en-US" dirty="0"/>
          </a:p>
        </p:txBody>
      </p:sp>
      <p:sp>
        <p:nvSpPr>
          <p:cNvPr id="3" name="Title 2"/>
          <p:cNvSpPr>
            <a:spLocks noGrp="1"/>
          </p:cNvSpPr>
          <p:nvPr>
            <p:ph type="title"/>
          </p:nvPr>
        </p:nvSpPr>
        <p:spPr/>
        <p:txBody>
          <a:bodyPr>
            <a:normAutofit fontScale="90000"/>
          </a:bodyPr>
          <a:lstStyle/>
          <a:p>
            <a:r>
              <a:rPr lang="en-US" sz="3600" dirty="0" smtClean="0">
                <a:solidFill>
                  <a:schemeClr val="bg2">
                    <a:lumMod val="50000"/>
                  </a:schemeClr>
                </a:solidFill>
              </a:rPr>
              <a:t>Principle </a:t>
            </a:r>
            <a:r>
              <a:rPr lang="en-US" sz="3600" dirty="0">
                <a:solidFill>
                  <a:schemeClr val="bg2">
                    <a:lumMod val="50000"/>
                  </a:schemeClr>
                </a:solidFill>
              </a:rPr>
              <a:t>9: Prices Rise When the Government  Prints Too Much Money </a:t>
            </a:r>
          </a:p>
        </p:txBody>
      </p:sp>
    </p:spTree>
    <p:extLst>
      <p:ext uri="{BB962C8B-B14F-4D97-AF65-F5344CB8AC3E}">
        <p14:creationId xmlns:p14="http://schemas.microsoft.com/office/powerpoint/2010/main" val="3666632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Although a higher level of prices is, in the long run, the primary effect of increasing the quantity of money, the short-run story is more </a:t>
            </a:r>
            <a:r>
              <a:rPr lang="en-US" dirty="0" smtClean="0"/>
              <a:t>complex </a:t>
            </a:r>
            <a:r>
              <a:rPr lang="en-US" dirty="0"/>
              <a:t>and </a:t>
            </a:r>
            <a:r>
              <a:rPr lang="en-US" dirty="0" smtClean="0"/>
              <a:t>controversial.</a:t>
            </a:r>
          </a:p>
          <a:p>
            <a:r>
              <a:rPr lang="en-US" dirty="0" smtClean="0"/>
              <a:t>Increasing </a:t>
            </a:r>
            <a:r>
              <a:rPr lang="en-US" dirty="0"/>
              <a:t>the amount of money in the economy stimulates the overall level of spending and thus the demand for goods and services. </a:t>
            </a:r>
          </a:p>
          <a:p>
            <a:r>
              <a:rPr lang="en-US" dirty="0" smtClean="0"/>
              <a:t>Higher </a:t>
            </a:r>
            <a:r>
              <a:rPr lang="en-US" dirty="0"/>
              <a:t>demand may over time cause firms to raise their prices, but in the meantime, it also encourages them to hire more workers and produce a larger quantity of goods and </a:t>
            </a:r>
            <a:r>
              <a:rPr lang="en-US" dirty="0" smtClean="0"/>
              <a:t>services.</a:t>
            </a:r>
          </a:p>
          <a:p>
            <a:r>
              <a:rPr lang="en-US" dirty="0" smtClean="0"/>
              <a:t>More </a:t>
            </a:r>
            <a:r>
              <a:rPr lang="en-US" dirty="0"/>
              <a:t>hiring means lower unemployment. </a:t>
            </a:r>
          </a:p>
        </p:txBody>
      </p:sp>
      <p:sp>
        <p:nvSpPr>
          <p:cNvPr id="3" name="Title 2"/>
          <p:cNvSpPr>
            <a:spLocks noGrp="1"/>
          </p:cNvSpPr>
          <p:nvPr>
            <p:ph type="title"/>
          </p:nvPr>
        </p:nvSpPr>
        <p:spPr>
          <a:xfrm>
            <a:off x="457200" y="152400"/>
            <a:ext cx="8229600" cy="1265238"/>
          </a:xfrm>
        </p:spPr>
        <p:txBody>
          <a:bodyPr>
            <a:noAutofit/>
          </a:bodyPr>
          <a:lstStyle/>
          <a:p>
            <a:r>
              <a:rPr lang="en-US" sz="2800" dirty="0" smtClean="0">
                <a:solidFill>
                  <a:schemeClr val="bg2">
                    <a:lumMod val="50000"/>
                  </a:schemeClr>
                </a:solidFill>
              </a:rPr>
              <a:t>Principle </a:t>
            </a:r>
            <a:r>
              <a:rPr lang="en-US" sz="2800" dirty="0">
                <a:solidFill>
                  <a:schemeClr val="bg2">
                    <a:lumMod val="50000"/>
                  </a:schemeClr>
                </a:solidFill>
              </a:rPr>
              <a:t>10: Society Faces a Short-Run Trade-off  between Inflation and Unemployment</a:t>
            </a:r>
          </a:p>
        </p:txBody>
      </p:sp>
    </p:spTree>
    <p:extLst>
      <p:ext uri="{BB962C8B-B14F-4D97-AF65-F5344CB8AC3E}">
        <p14:creationId xmlns:p14="http://schemas.microsoft.com/office/powerpoint/2010/main" val="791178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This line of reasoning leads to one final economy-wide trade-off: a short-run trade-off between inflation and </a:t>
            </a:r>
            <a:r>
              <a:rPr lang="en-US" dirty="0" smtClean="0"/>
              <a:t>unemployment.</a:t>
            </a:r>
          </a:p>
          <a:p>
            <a:r>
              <a:rPr lang="en-US" b="1" dirty="0" smtClean="0"/>
              <a:t>Business </a:t>
            </a:r>
            <a:r>
              <a:rPr lang="en-US" b="1" dirty="0"/>
              <a:t>cycle—</a:t>
            </a:r>
            <a:r>
              <a:rPr lang="en-US" dirty="0"/>
              <a:t>the</a:t>
            </a:r>
            <a:r>
              <a:rPr lang="en-US" b="1" dirty="0"/>
              <a:t> </a:t>
            </a:r>
            <a:r>
              <a:rPr lang="en-US" dirty="0"/>
              <a:t>irregular and largely unpredictable fluctuations in economic activity, as measured by the production of goods and services or the number of people employed. </a:t>
            </a:r>
            <a:endParaRPr lang="en-US" dirty="0" smtClean="0"/>
          </a:p>
          <a:p>
            <a:endParaRPr lang="en-US" dirty="0"/>
          </a:p>
        </p:txBody>
      </p:sp>
      <p:sp>
        <p:nvSpPr>
          <p:cNvPr id="3" name="Title 2"/>
          <p:cNvSpPr>
            <a:spLocks noGrp="1"/>
          </p:cNvSpPr>
          <p:nvPr>
            <p:ph type="title"/>
          </p:nvPr>
        </p:nvSpPr>
        <p:spPr/>
        <p:txBody>
          <a:bodyPr>
            <a:noAutofit/>
          </a:bodyPr>
          <a:lstStyle/>
          <a:p>
            <a:r>
              <a:rPr lang="en-US" sz="2800" dirty="0">
                <a:solidFill>
                  <a:schemeClr val="bg2">
                    <a:lumMod val="50000"/>
                  </a:schemeClr>
                </a:solidFill>
              </a:rPr>
              <a:t>Principle 10: Society Faces a Short-Run Trade-off  between Inflation and Unemployment</a:t>
            </a:r>
            <a:endParaRPr lang="en-US" sz="2800" dirty="0"/>
          </a:p>
        </p:txBody>
      </p:sp>
    </p:spTree>
    <p:extLst>
      <p:ext uri="{BB962C8B-B14F-4D97-AF65-F5344CB8AC3E}">
        <p14:creationId xmlns:p14="http://schemas.microsoft.com/office/powerpoint/2010/main" val="335286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457200"/>
            <a:ext cx="7162800" cy="5632311"/>
          </a:xfrm>
          <a:prstGeom prst="rect">
            <a:avLst/>
          </a:prstGeom>
        </p:spPr>
        <p:txBody>
          <a:bodyPr wrap="square">
            <a:spAutoFit/>
          </a:bodyPr>
          <a:lstStyle/>
          <a:p>
            <a:pPr algn="ctr"/>
            <a:r>
              <a:rPr lang="en-US" b="1" u="sng" dirty="0" smtClean="0">
                <a:solidFill>
                  <a:schemeClr val="bg2">
                    <a:lumMod val="50000"/>
                  </a:schemeClr>
                </a:solidFill>
              </a:rPr>
              <a:t>10 Principles of Economics</a:t>
            </a:r>
          </a:p>
          <a:p>
            <a:pPr algn="ctr"/>
            <a:endParaRPr lang="en-US" b="1" u="sng" dirty="0" smtClean="0"/>
          </a:p>
          <a:p>
            <a:r>
              <a:rPr lang="en-US" b="1" dirty="0" smtClean="0">
                <a:solidFill>
                  <a:schemeClr val="bg2">
                    <a:lumMod val="50000"/>
                  </a:schemeClr>
                </a:solidFill>
              </a:rPr>
              <a:t>How </a:t>
            </a:r>
            <a:r>
              <a:rPr lang="en-US" b="1" dirty="0">
                <a:solidFill>
                  <a:schemeClr val="bg2">
                    <a:lumMod val="50000"/>
                  </a:schemeClr>
                </a:solidFill>
              </a:rPr>
              <a:t>People Make Decisions </a:t>
            </a:r>
            <a:endParaRPr lang="en-US" b="1" dirty="0" smtClean="0">
              <a:solidFill>
                <a:schemeClr val="bg2">
                  <a:lumMod val="50000"/>
                </a:schemeClr>
              </a:solidFill>
            </a:endParaRPr>
          </a:p>
          <a:p>
            <a:r>
              <a:rPr lang="en-US" dirty="0" smtClean="0"/>
              <a:t>1</a:t>
            </a:r>
            <a:r>
              <a:rPr lang="en-US" dirty="0"/>
              <a:t>: People Face Trade-offs </a:t>
            </a:r>
            <a:endParaRPr lang="en-US" dirty="0" smtClean="0"/>
          </a:p>
          <a:p>
            <a:r>
              <a:rPr lang="en-US" dirty="0" smtClean="0"/>
              <a:t>2</a:t>
            </a:r>
            <a:r>
              <a:rPr lang="en-US" dirty="0"/>
              <a:t>: The Cost of Something Is What You Give Up to Get </a:t>
            </a:r>
            <a:r>
              <a:rPr lang="en-US" dirty="0" smtClean="0"/>
              <a:t>It</a:t>
            </a:r>
          </a:p>
          <a:p>
            <a:r>
              <a:rPr lang="en-US" dirty="0" smtClean="0"/>
              <a:t>3</a:t>
            </a:r>
            <a:r>
              <a:rPr lang="en-US" dirty="0"/>
              <a:t>: Rational People Think at the Margin </a:t>
            </a:r>
            <a:endParaRPr lang="en-US" dirty="0" smtClean="0"/>
          </a:p>
          <a:p>
            <a:r>
              <a:rPr lang="en-US" dirty="0" smtClean="0"/>
              <a:t>4</a:t>
            </a:r>
            <a:r>
              <a:rPr lang="en-US" dirty="0"/>
              <a:t>: People Respond to </a:t>
            </a:r>
            <a:r>
              <a:rPr lang="en-US" dirty="0" smtClean="0"/>
              <a:t>Incentives</a:t>
            </a:r>
          </a:p>
          <a:p>
            <a:endParaRPr lang="en-US" b="1" dirty="0"/>
          </a:p>
          <a:p>
            <a:r>
              <a:rPr lang="en-US" b="1" dirty="0">
                <a:solidFill>
                  <a:schemeClr val="bg2">
                    <a:lumMod val="50000"/>
                  </a:schemeClr>
                </a:solidFill>
              </a:rPr>
              <a:t>How People Interact </a:t>
            </a:r>
            <a:endParaRPr lang="en-US" b="1" dirty="0" smtClean="0">
              <a:solidFill>
                <a:schemeClr val="bg2">
                  <a:lumMod val="50000"/>
                </a:schemeClr>
              </a:solidFill>
            </a:endParaRPr>
          </a:p>
          <a:p>
            <a:r>
              <a:rPr lang="en-US" dirty="0" smtClean="0"/>
              <a:t>5</a:t>
            </a:r>
            <a:r>
              <a:rPr lang="en-US" dirty="0"/>
              <a:t>: Trade Can Make Everyone Better Off </a:t>
            </a:r>
            <a:endParaRPr lang="en-US" dirty="0" smtClean="0"/>
          </a:p>
          <a:p>
            <a:r>
              <a:rPr lang="en-US" dirty="0" smtClean="0"/>
              <a:t>6</a:t>
            </a:r>
            <a:r>
              <a:rPr lang="en-US" dirty="0"/>
              <a:t>: Markets Are Usually a Good Way to Organize Economic Activity </a:t>
            </a:r>
            <a:endParaRPr lang="en-US" dirty="0" smtClean="0"/>
          </a:p>
          <a:p>
            <a:r>
              <a:rPr lang="en-US" dirty="0" smtClean="0"/>
              <a:t>7</a:t>
            </a:r>
            <a:r>
              <a:rPr lang="en-US" dirty="0"/>
              <a:t>: Governments Can Sometimes Improve Market </a:t>
            </a:r>
            <a:r>
              <a:rPr lang="en-US" dirty="0" smtClean="0"/>
              <a:t>Outcomes</a:t>
            </a:r>
          </a:p>
          <a:p>
            <a:endParaRPr lang="en-US" dirty="0"/>
          </a:p>
          <a:p>
            <a:r>
              <a:rPr lang="en-US" b="1" dirty="0">
                <a:solidFill>
                  <a:schemeClr val="bg2">
                    <a:lumMod val="50000"/>
                  </a:schemeClr>
                </a:solidFill>
              </a:rPr>
              <a:t>How the Economy as a Whole Works</a:t>
            </a:r>
            <a:r>
              <a:rPr lang="en-US" b="1" dirty="0"/>
              <a:t> </a:t>
            </a:r>
            <a:endParaRPr lang="en-US" b="1" dirty="0" smtClean="0"/>
          </a:p>
          <a:p>
            <a:r>
              <a:rPr lang="en-US" dirty="0" smtClean="0"/>
              <a:t>8</a:t>
            </a:r>
            <a:r>
              <a:rPr lang="en-US" dirty="0"/>
              <a:t>: A Country’s Standard of Living Depends on Its Ability to Produce Goods and </a:t>
            </a:r>
            <a:r>
              <a:rPr lang="en-US" dirty="0" smtClean="0"/>
              <a:t>Services</a:t>
            </a:r>
          </a:p>
          <a:p>
            <a:r>
              <a:rPr lang="en-US" dirty="0" smtClean="0"/>
              <a:t>9</a:t>
            </a:r>
            <a:r>
              <a:rPr lang="en-US" dirty="0"/>
              <a:t>: Prices Rise When the Government Prints Too Much Money 10: Society Faces a Short-Run Trade-off between Inflation and Unemployment</a:t>
            </a:r>
          </a:p>
        </p:txBody>
      </p:sp>
    </p:spTree>
    <p:extLst>
      <p:ext uri="{BB962C8B-B14F-4D97-AF65-F5344CB8AC3E}">
        <p14:creationId xmlns:p14="http://schemas.microsoft.com/office/powerpoint/2010/main" val="3918406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115</TotalTime>
  <Words>1716</Words>
  <Application>Microsoft Office PowerPoint</Application>
  <PresentationFormat>On-screen Show (4:3)</PresentationFormat>
  <Paragraphs>89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Concourse</vt:lpstr>
      <vt:lpstr>Introduction to Economics: Ten Principles of Economics</vt:lpstr>
      <vt:lpstr>What is Economics?</vt:lpstr>
      <vt:lpstr>Ten Principles of Economics</vt:lpstr>
      <vt:lpstr>Principle 1: People Face Trade-offs</vt:lpstr>
      <vt:lpstr>Principle 1: People Face Trade-offs</vt:lpstr>
      <vt:lpstr>  Principle 2: The Cost of Something Is What You Give Up to Get It </vt:lpstr>
      <vt:lpstr>Principle 3: Rational People Think at the Margin</vt:lpstr>
      <vt:lpstr>Principle 3: Rational People Think at the Margin</vt:lpstr>
      <vt:lpstr>Principle 4: People Respond to Incentives</vt:lpstr>
      <vt:lpstr>Principle 5: Trade Can Make Everyone Better Off</vt:lpstr>
      <vt:lpstr>Principle 6: Markets Are Usually a Good Way to Organize Economic Activity</vt:lpstr>
      <vt:lpstr>Principle 6: Markets Are Usually a Good Way to Organize Economic Activity</vt:lpstr>
      <vt:lpstr>Principle 6: Markets Are Usually a Good Way to Organize Economic Activity</vt:lpstr>
      <vt:lpstr>Principle 6: Markets Are Usually a Good Way to Organize Economic Activity</vt:lpstr>
      <vt:lpstr>Principle 7: Governments Can Sometimes  Improve Market Outcomes</vt:lpstr>
      <vt:lpstr>Principle 7: Governments Can Sometimes  Improve Market Outcomes</vt:lpstr>
      <vt:lpstr>Principle 8: A Country’s Standard of Living Depends on  Its Ability to Produce Goods and Services </vt:lpstr>
      <vt:lpstr>Principle 9: Prices Rise When the Government  Prints Too Much Money </vt:lpstr>
      <vt:lpstr>Principle 10: Society Faces a Short-Run Trade-off  between Inflation and Unemployment</vt:lpstr>
      <vt:lpstr>Principle 10: Society Faces a Short-Run Trade-off  between Inflation and Unemployment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Ten Principles of Economics</dc:title>
  <dc:creator>Chandra</dc:creator>
  <cp:lastModifiedBy>Acer</cp:lastModifiedBy>
  <cp:revision>16</cp:revision>
  <dcterms:created xsi:type="dcterms:W3CDTF">2020-07-04T17:30:13Z</dcterms:created>
  <dcterms:modified xsi:type="dcterms:W3CDTF">2025-07-23T08:33:19Z</dcterms:modified>
</cp:coreProperties>
</file>