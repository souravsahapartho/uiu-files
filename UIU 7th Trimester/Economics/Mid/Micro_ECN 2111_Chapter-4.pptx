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69" r:id="rId16"/>
    <p:sldId id="278" r:id="rId17"/>
    <p:sldId id="270" r:id="rId18"/>
    <p:sldId id="277" r:id="rId19"/>
    <p:sldId id="271" r:id="rId20"/>
    <p:sldId id="276" r:id="rId21"/>
    <p:sldId id="272" r:id="rId22"/>
    <p:sldId id="273" r:id="rId23"/>
    <p:sldId id="274"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6" d="100"/>
          <a:sy n="86" d="100"/>
        </p:scale>
        <p:origin x="-562" y="-1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7/23/2025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7/23/2025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The Market Forces of Supply</a:t>
            </a:r>
            <a:br>
              <a:rPr lang="en-US" b="1" dirty="0"/>
            </a:br>
            <a:r>
              <a:rPr lang="en-US" b="1" dirty="0"/>
              <a:t>and Demand</a:t>
            </a:r>
          </a:p>
        </p:txBody>
      </p:sp>
      <p:sp>
        <p:nvSpPr>
          <p:cNvPr id="3" name="Subtitle 2"/>
          <p:cNvSpPr>
            <a:spLocks noGrp="1"/>
          </p:cNvSpPr>
          <p:nvPr>
            <p:ph type="subTitle" idx="1"/>
          </p:nvPr>
        </p:nvSpPr>
        <p:spPr>
          <a:xfrm>
            <a:off x="2417780" y="3531204"/>
            <a:ext cx="8637072" cy="1707002"/>
          </a:xfrm>
        </p:spPr>
        <p:txBody>
          <a:bodyPr>
            <a:normAutofit fontScale="92500" lnSpcReduction="10000"/>
          </a:bodyPr>
          <a:lstStyle/>
          <a:p>
            <a:r>
              <a:rPr lang="en-US" b="1" dirty="0" smtClean="0"/>
              <a:t>Faculty</a:t>
            </a:r>
            <a:r>
              <a:rPr lang="en-US" b="1" smtClean="0"/>
              <a:t>: </a:t>
            </a:r>
            <a:endParaRPr lang="en-US" b="1" dirty="0" smtClean="0"/>
          </a:p>
          <a:p>
            <a:r>
              <a:rPr lang="en-US" b="1" dirty="0" smtClean="0"/>
              <a:t>Course: Microeconomics</a:t>
            </a:r>
          </a:p>
          <a:p>
            <a:r>
              <a:rPr lang="en-US" b="1" dirty="0" smtClean="0"/>
              <a:t>Chapter - 4</a:t>
            </a:r>
          </a:p>
          <a:p>
            <a:r>
              <a:rPr lang="en-US" b="1" dirty="0" smtClean="0"/>
              <a:t>United Int. University</a:t>
            </a:r>
          </a:p>
          <a:p>
            <a:endParaRPr lang="en-US" dirty="0"/>
          </a:p>
        </p:txBody>
      </p:sp>
    </p:spTree>
    <p:extLst>
      <p:ext uri="{BB962C8B-B14F-4D97-AF65-F5344CB8AC3E}">
        <p14:creationId xmlns:p14="http://schemas.microsoft.com/office/powerpoint/2010/main" val="638096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Markets and Competition</a:t>
            </a:r>
            <a:endParaRPr lang="en-US" dirty="0"/>
          </a:p>
        </p:txBody>
      </p:sp>
      <p:sp>
        <p:nvSpPr>
          <p:cNvPr id="3" name="Content Placeholder 2"/>
          <p:cNvSpPr>
            <a:spLocks noGrp="1"/>
          </p:cNvSpPr>
          <p:nvPr>
            <p:ph idx="1"/>
          </p:nvPr>
        </p:nvSpPr>
        <p:spPr>
          <a:xfrm>
            <a:off x="1451579" y="2015732"/>
            <a:ext cx="9603275" cy="3901742"/>
          </a:xfrm>
        </p:spPr>
        <p:txBody>
          <a:bodyPr>
            <a:normAutofit/>
          </a:bodyPr>
          <a:lstStyle/>
          <a:p>
            <a:r>
              <a:rPr lang="en-US" dirty="0"/>
              <a:t>A </a:t>
            </a:r>
            <a:r>
              <a:rPr lang="en-US" b="1" dirty="0"/>
              <a:t>market </a:t>
            </a:r>
            <a:r>
              <a:rPr lang="en-US" dirty="0"/>
              <a:t>is a group of buyers and sellers of a particular good or service. The </a:t>
            </a:r>
            <a:r>
              <a:rPr lang="en-US" dirty="0" smtClean="0"/>
              <a:t>buyers as </a:t>
            </a:r>
            <a:r>
              <a:rPr lang="en-US" dirty="0"/>
              <a:t>a group determine the demand for the product, and the sellers as a </a:t>
            </a:r>
            <a:r>
              <a:rPr lang="en-US" dirty="0" smtClean="0"/>
              <a:t>group determine </a:t>
            </a:r>
            <a:r>
              <a:rPr lang="en-US" dirty="0"/>
              <a:t>the supply of the product</a:t>
            </a:r>
            <a:r>
              <a:rPr lang="en-US" dirty="0" smtClean="0"/>
              <a:t>.</a:t>
            </a:r>
          </a:p>
          <a:p>
            <a:r>
              <a:rPr lang="en-US" b="1" dirty="0"/>
              <a:t>C</a:t>
            </a:r>
            <a:r>
              <a:rPr lang="en-US" b="1" dirty="0" smtClean="0"/>
              <a:t>ompetitive market </a:t>
            </a:r>
            <a:r>
              <a:rPr lang="en-US" dirty="0" smtClean="0"/>
              <a:t>a </a:t>
            </a:r>
            <a:r>
              <a:rPr lang="en-US" dirty="0"/>
              <a:t>market in which </a:t>
            </a:r>
            <a:r>
              <a:rPr lang="en-US" dirty="0" smtClean="0"/>
              <a:t>there are </a:t>
            </a:r>
            <a:r>
              <a:rPr lang="en-US" dirty="0"/>
              <a:t>many buyers </a:t>
            </a:r>
            <a:r>
              <a:rPr lang="en-US" dirty="0" smtClean="0"/>
              <a:t>and many </a:t>
            </a:r>
            <a:r>
              <a:rPr lang="en-US" dirty="0"/>
              <a:t>sellers so that </a:t>
            </a:r>
            <a:r>
              <a:rPr lang="en-US" dirty="0" smtClean="0"/>
              <a:t>each has </a:t>
            </a:r>
            <a:r>
              <a:rPr lang="en-US" dirty="0"/>
              <a:t>a negligible </a:t>
            </a:r>
            <a:r>
              <a:rPr lang="en-US" dirty="0" smtClean="0"/>
              <a:t>impact on </a:t>
            </a:r>
            <a:r>
              <a:rPr lang="en-US" dirty="0"/>
              <a:t>the market </a:t>
            </a:r>
            <a:r>
              <a:rPr lang="en-US" dirty="0" smtClean="0"/>
              <a:t>price.</a:t>
            </a:r>
          </a:p>
          <a:p>
            <a:r>
              <a:rPr lang="en-US" dirty="0"/>
              <a:t>To reach </a:t>
            </a:r>
            <a:r>
              <a:rPr lang="en-US" dirty="0" smtClean="0"/>
              <a:t>this highest </a:t>
            </a:r>
            <a:r>
              <a:rPr lang="en-US" dirty="0"/>
              <a:t>form of competition, a market must have two characteristics: </a:t>
            </a:r>
            <a:endParaRPr lang="en-US" dirty="0" smtClean="0"/>
          </a:p>
          <a:p>
            <a:pPr marL="0" indent="0">
              <a:buNone/>
            </a:pPr>
            <a:r>
              <a:rPr lang="en-US" dirty="0"/>
              <a:t> </a:t>
            </a:r>
            <a:r>
              <a:rPr lang="en-US" dirty="0" smtClean="0"/>
              <a:t>  </a:t>
            </a:r>
            <a:r>
              <a:rPr lang="en-US" dirty="0" err="1" smtClean="0"/>
              <a:t>i</a:t>
            </a:r>
            <a:r>
              <a:rPr lang="en-US" dirty="0" smtClean="0"/>
              <a:t>) The goods </a:t>
            </a:r>
            <a:r>
              <a:rPr lang="en-US" dirty="0"/>
              <a:t>offered for sale are all exactly the same, and </a:t>
            </a:r>
            <a:endParaRPr lang="en-US" dirty="0" smtClean="0"/>
          </a:p>
          <a:p>
            <a:pPr marL="0" indent="0">
              <a:buNone/>
            </a:pPr>
            <a:r>
              <a:rPr lang="en-US" dirty="0"/>
              <a:t> </a:t>
            </a:r>
            <a:r>
              <a:rPr lang="en-US" dirty="0" smtClean="0"/>
              <a:t>  ii) </a:t>
            </a:r>
            <a:r>
              <a:rPr lang="en-US" dirty="0"/>
              <a:t>the buyers and sellers are </a:t>
            </a:r>
            <a:r>
              <a:rPr lang="en-US" dirty="0" smtClean="0"/>
              <a:t>so numerous </a:t>
            </a:r>
            <a:r>
              <a:rPr lang="en-US" dirty="0"/>
              <a:t>that no single buyer or seller has any influence over the market price.</a:t>
            </a:r>
          </a:p>
        </p:txBody>
      </p:sp>
    </p:spTree>
    <p:extLst>
      <p:ext uri="{BB962C8B-B14F-4D97-AF65-F5344CB8AC3E}">
        <p14:creationId xmlns:p14="http://schemas.microsoft.com/office/powerpoint/2010/main" val="2309780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Markets and Competition</a:t>
            </a:r>
            <a:endParaRPr lang="en-US" dirty="0"/>
          </a:p>
        </p:txBody>
      </p:sp>
      <p:sp>
        <p:nvSpPr>
          <p:cNvPr id="3" name="Content Placeholder 2"/>
          <p:cNvSpPr>
            <a:spLocks noGrp="1"/>
          </p:cNvSpPr>
          <p:nvPr>
            <p:ph idx="1"/>
          </p:nvPr>
        </p:nvSpPr>
        <p:spPr/>
        <p:txBody>
          <a:bodyPr/>
          <a:lstStyle/>
          <a:p>
            <a:r>
              <a:rPr lang="en-US" dirty="0"/>
              <a:t>Because buyers and sellers in perfectly competitive markets must accept the </a:t>
            </a:r>
            <a:r>
              <a:rPr lang="en-US" dirty="0" smtClean="0"/>
              <a:t>price the </a:t>
            </a:r>
            <a:r>
              <a:rPr lang="en-US" dirty="0"/>
              <a:t>market determines, they are said to be </a:t>
            </a:r>
            <a:r>
              <a:rPr lang="en-US" b="1" dirty="0"/>
              <a:t>price takers</a:t>
            </a:r>
            <a:r>
              <a:rPr lang="en-US" dirty="0"/>
              <a:t>. At the market price, </a:t>
            </a:r>
            <a:r>
              <a:rPr lang="en-US" dirty="0" smtClean="0"/>
              <a:t>buyers can </a:t>
            </a:r>
            <a:r>
              <a:rPr lang="en-US" dirty="0"/>
              <a:t>buy all they want, and sellers can sell all they </a:t>
            </a:r>
            <a:r>
              <a:rPr lang="en-US" dirty="0" smtClean="0"/>
              <a:t>want.</a:t>
            </a:r>
          </a:p>
          <a:p>
            <a:r>
              <a:rPr lang="en-US" dirty="0"/>
              <a:t>Not all goods and services, however, are sold in perfectly competitive </a:t>
            </a:r>
            <a:r>
              <a:rPr lang="en-US" dirty="0" smtClean="0"/>
              <a:t>markets. Some </a:t>
            </a:r>
            <a:r>
              <a:rPr lang="en-US" dirty="0"/>
              <a:t>markets have only one seller, and this seller sets the price. Such a seller is </a:t>
            </a:r>
            <a:r>
              <a:rPr lang="en-US" dirty="0" smtClean="0"/>
              <a:t>called a </a:t>
            </a:r>
            <a:r>
              <a:rPr lang="en-US" b="1" dirty="0"/>
              <a:t>M</a:t>
            </a:r>
            <a:r>
              <a:rPr lang="en-US" b="1" dirty="0" smtClean="0"/>
              <a:t>onopoly</a:t>
            </a:r>
            <a:r>
              <a:rPr lang="en-US" i="1" dirty="0" smtClean="0"/>
              <a:t>.</a:t>
            </a:r>
          </a:p>
          <a:p>
            <a:r>
              <a:rPr lang="en-US" dirty="0"/>
              <a:t>Other markets fall between the extremes of perfect competition and </a:t>
            </a:r>
            <a:r>
              <a:rPr lang="en-US" dirty="0" smtClean="0"/>
              <a:t>monopoly.</a:t>
            </a:r>
            <a:endParaRPr lang="en-US" dirty="0"/>
          </a:p>
        </p:txBody>
      </p:sp>
    </p:spTree>
    <p:extLst>
      <p:ext uri="{BB962C8B-B14F-4D97-AF65-F5344CB8AC3E}">
        <p14:creationId xmlns:p14="http://schemas.microsoft.com/office/powerpoint/2010/main" val="4238949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Demand</a:t>
            </a:r>
            <a:endParaRPr lang="en-US" dirty="0"/>
          </a:p>
        </p:txBody>
      </p:sp>
      <p:sp>
        <p:nvSpPr>
          <p:cNvPr id="3" name="Content Placeholder 2"/>
          <p:cNvSpPr>
            <a:spLocks noGrp="1"/>
          </p:cNvSpPr>
          <p:nvPr>
            <p:ph idx="1"/>
          </p:nvPr>
        </p:nvSpPr>
        <p:spPr>
          <a:xfrm>
            <a:off x="1451579" y="1853754"/>
            <a:ext cx="9782478" cy="3933092"/>
          </a:xfrm>
        </p:spPr>
        <p:txBody>
          <a:bodyPr>
            <a:normAutofit lnSpcReduction="10000"/>
          </a:bodyPr>
          <a:lstStyle/>
          <a:p>
            <a:r>
              <a:rPr lang="en-US" b="1" dirty="0"/>
              <a:t>Q</a:t>
            </a:r>
            <a:r>
              <a:rPr lang="en-US" b="1" dirty="0" smtClean="0"/>
              <a:t>uantity Demanded- </a:t>
            </a:r>
            <a:r>
              <a:rPr lang="en-US" dirty="0" smtClean="0"/>
              <a:t>the </a:t>
            </a:r>
            <a:r>
              <a:rPr lang="en-US" dirty="0"/>
              <a:t>amount of a good </a:t>
            </a:r>
            <a:r>
              <a:rPr lang="en-US" dirty="0" smtClean="0"/>
              <a:t>that buyers </a:t>
            </a:r>
            <a:r>
              <a:rPr lang="en-US" dirty="0"/>
              <a:t>are willing </a:t>
            </a:r>
            <a:r>
              <a:rPr lang="en-US" dirty="0" smtClean="0"/>
              <a:t>and able </a:t>
            </a:r>
            <a:r>
              <a:rPr lang="en-US" dirty="0"/>
              <a:t>to </a:t>
            </a:r>
            <a:r>
              <a:rPr lang="en-US" dirty="0" smtClean="0"/>
              <a:t>purchase.</a:t>
            </a:r>
          </a:p>
          <a:p>
            <a:r>
              <a:rPr lang="en-US" dirty="0"/>
              <a:t>I</a:t>
            </a:r>
            <a:r>
              <a:rPr lang="en-US" dirty="0" smtClean="0"/>
              <a:t>n </a:t>
            </a:r>
            <a:r>
              <a:rPr lang="en-US" dirty="0"/>
              <a:t>our analysis of how markets work, one </a:t>
            </a:r>
            <a:r>
              <a:rPr lang="en-US" dirty="0" smtClean="0"/>
              <a:t>determinant plays </a:t>
            </a:r>
            <a:r>
              <a:rPr lang="en-US" dirty="0"/>
              <a:t>a central role: the </a:t>
            </a:r>
            <a:r>
              <a:rPr lang="en-US" b="1" dirty="0"/>
              <a:t>price of the good</a:t>
            </a:r>
            <a:r>
              <a:rPr lang="en-US" b="1" dirty="0" smtClean="0"/>
              <a:t>.</a:t>
            </a:r>
          </a:p>
          <a:p>
            <a:r>
              <a:rPr lang="en-US" b="1" dirty="0"/>
              <a:t>L</a:t>
            </a:r>
            <a:r>
              <a:rPr lang="en-US" b="1" dirty="0" smtClean="0"/>
              <a:t>aw </a:t>
            </a:r>
            <a:r>
              <a:rPr lang="en-US" b="1" dirty="0"/>
              <a:t>of </a:t>
            </a:r>
            <a:r>
              <a:rPr lang="en-US" b="1" dirty="0" smtClean="0"/>
              <a:t>Demand</a:t>
            </a:r>
            <a:r>
              <a:rPr lang="en-US" dirty="0" smtClean="0"/>
              <a:t>- Other </a:t>
            </a:r>
            <a:r>
              <a:rPr lang="en-US" dirty="0"/>
              <a:t>things being equal, when the price of a good rises, the quantity </a:t>
            </a:r>
            <a:r>
              <a:rPr lang="en-US" dirty="0" smtClean="0"/>
              <a:t>demanded of </a:t>
            </a:r>
            <a:r>
              <a:rPr lang="en-US" dirty="0"/>
              <a:t>the good falls, and when the price falls, the quantity demanded rises</a:t>
            </a:r>
            <a:r>
              <a:rPr lang="en-US" dirty="0" smtClean="0"/>
              <a:t>.</a:t>
            </a:r>
          </a:p>
          <a:p>
            <a:r>
              <a:rPr lang="en-US" b="1" dirty="0" smtClean="0"/>
              <a:t>Demand curve -</a:t>
            </a:r>
            <a:r>
              <a:rPr lang="en-US" dirty="0" smtClean="0"/>
              <a:t>a </a:t>
            </a:r>
            <a:r>
              <a:rPr lang="en-US" dirty="0"/>
              <a:t>graph of the </a:t>
            </a:r>
            <a:r>
              <a:rPr lang="en-US" dirty="0" smtClean="0"/>
              <a:t>relationship between </a:t>
            </a:r>
            <a:r>
              <a:rPr lang="en-US" dirty="0"/>
              <a:t>the price of </a:t>
            </a:r>
            <a:r>
              <a:rPr lang="en-US" dirty="0" smtClean="0"/>
              <a:t>a good </a:t>
            </a:r>
            <a:r>
              <a:rPr lang="en-US" dirty="0"/>
              <a:t>and the </a:t>
            </a:r>
            <a:r>
              <a:rPr lang="en-US" dirty="0" smtClean="0"/>
              <a:t>quantity demanded. </a:t>
            </a:r>
            <a:r>
              <a:rPr lang="en-US" dirty="0"/>
              <a:t>The demand curve </a:t>
            </a:r>
            <a:r>
              <a:rPr lang="en-US" dirty="0" smtClean="0"/>
              <a:t>slopes downward </a:t>
            </a:r>
            <a:r>
              <a:rPr lang="en-US" dirty="0"/>
              <a:t>because, other things being equal, a </a:t>
            </a:r>
            <a:r>
              <a:rPr lang="en-US" dirty="0" smtClean="0"/>
              <a:t>lower price </a:t>
            </a:r>
            <a:r>
              <a:rPr lang="en-US" dirty="0"/>
              <a:t>means a greater </a:t>
            </a:r>
            <a:r>
              <a:rPr lang="en-US" dirty="0" smtClean="0"/>
              <a:t>quantity demanded. The slope of the demand curve is negative since the price &amp; the demand for a good has a negative relation.</a:t>
            </a:r>
            <a:endParaRPr lang="en-US" b="1" dirty="0"/>
          </a:p>
        </p:txBody>
      </p:sp>
    </p:spTree>
    <p:extLst>
      <p:ext uri="{BB962C8B-B14F-4D97-AF65-F5344CB8AC3E}">
        <p14:creationId xmlns:p14="http://schemas.microsoft.com/office/powerpoint/2010/main" val="1735650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Demand </a:t>
            </a:r>
            <a:r>
              <a:rPr lang="en-US" b="1" dirty="0" smtClean="0"/>
              <a:t>Schedule and </a:t>
            </a:r>
            <a:r>
              <a:rPr lang="en-US" b="1" dirty="0"/>
              <a:t>Demand Curve</a:t>
            </a:r>
            <a:endParaRPr lang="en-US" dirty="0"/>
          </a:p>
        </p:txBody>
      </p:sp>
      <p:pic>
        <p:nvPicPr>
          <p:cNvPr id="4" name="Content Placeholder 3"/>
          <p:cNvPicPr>
            <a:picLocks noGrp="1" noChangeAspect="1"/>
          </p:cNvPicPr>
          <p:nvPr>
            <p:ph idx="1"/>
          </p:nvPr>
        </p:nvPicPr>
        <p:blipFill>
          <a:blip r:embed="rId2"/>
          <a:stretch>
            <a:fillRect/>
          </a:stretch>
        </p:blipFill>
        <p:spPr>
          <a:xfrm>
            <a:off x="1881051" y="1853754"/>
            <a:ext cx="7955280" cy="4259663"/>
          </a:xfrm>
          <a:prstGeom prst="rect">
            <a:avLst/>
          </a:prstGeom>
        </p:spPr>
      </p:pic>
    </p:spTree>
    <p:extLst>
      <p:ext uri="{BB962C8B-B14F-4D97-AF65-F5344CB8AC3E}">
        <p14:creationId xmlns:p14="http://schemas.microsoft.com/office/powerpoint/2010/main" val="2151537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Market Demand versus Individual Demand</a:t>
            </a:r>
            <a:endParaRPr lang="en-US" dirty="0"/>
          </a:p>
        </p:txBody>
      </p:sp>
      <p:sp>
        <p:nvSpPr>
          <p:cNvPr id="3" name="Content Placeholder 2"/>
          <p:cNvSpPr>
            <a:spLocks noGrp="1"/>
          </p:cNvSpPr>
          <p:nvPr>
            <p:ph idx="1"/>
          </p:nvPr>
        </p:nvSpPr>
        <p:spPr>
          <a:xfrm>
            <a:off x="1451579" y="1853754"/>
            <a:ext cx="9769415" cy="4324977"/>
          </a:xfrm>
        </p:spPr>
        <p:txBody>
          <a:bodyPr/>
          <a:lstStyle/>
          <a:p>
            <a:r>
              <a:rPr lang="en-US" dirty="0"/>
              <a:t>W</a:t>
            </a:r>
            <a:r>
              <a:rPr lang="en-US" dirty="0" smtClean="0"/>
              <a:t>e </a:t>
            </a:r>
            <a:r>
              <a:rPr lang="en-US" dirty="0"/>
              <a:t>sum the individual demand curves </a:t>
            </a:r>
            <a:r>
              <a:rPr lang="en-US" i="1" dirty="0" smtClean="0"/>
              <a:t>horizontally </a:t>
            </a:r>
            <a:r>
              <a:rPr lang="en-US" dirty="0" smtClean="0"/>
              <a:t>to </a:t>
            </a:r>
            <a:r>
              <a:rPr lang="en-US" dirty="0"/>
              <a:t>obtain the market demand curve. That is, to find the total quantity </a:t>
            </a:r>
            <a:r>
              <a:rPr lang="en-US" dirty="0" smtClean="0"/>
              <a:t>demanded at </a:t>
            </a:r>
            <a:r>
              <a:rPr lang="en-US" dirty="0"/>
              <a:t>any price, we add the individual quantities, which are found on the </a:t>
            </a:r>
            <a:r>
              <a:rPr lang="en-US" dirty="0" smtClean="0"/>
              <a:t>horizontal axis </a:t>
            </a:r>
            <a:r>
              <a:rPr lang="en-US" dirty="0"/>
              <a:t>of the individual demand </a:t>
            </a:r>
            <a:r>
              <a:rPr lang="en-US" dirty="0" smtClean="0"/>
              <a:t>curves.</a:t>
            </a:r>
            <a:endParaRPr lang="en-US" dirty="0"/>
          </a:p>
        </p:txBody>
      </p:sp>
      <p:pic>
        <p:nvPicPr>
          <p:cNvPr id="4" name="Picture 3"/>
          <p:cNvPicPr>
            <a:picLocks noChangeAspect="1"/>
          </p:cNvPicPr>
          <p:nvPr/>
        </p:nvPicPr>
        <p:blipFill>
          <a:blip r:embed="rId2"/>
          <a:stretch>
            <a:fillRect/>
          </a:stretch>
        </p:blipFill>
        <p:spPr>
          <a:xfrm>
            <a:off x="2338251" y="3082833"/>
            <a:ext cx="7550332" cy="3095897"/>
          </a:xfrm>
          <a:prstGeom prst="rect">
            <a:avLst/>
          </a:prstGeom>
        </p:spPr>
      </p:pic>
    </p:spTree>
    <p:extLst>
      <p:ext uri="{BB962C8B-B14F-4D97-AF65-F5344CB8AC3E}">
        <p14:creationId xmlns:p14="http://schemas.microsoft.com/office/powerpoint/2010/main" val="1177341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Shifts in the Demand Curve</a:t>
            </a:r>
            <a:endParaRPr lang="en-US" dirty="0"/>
          </a:p>
        </p:txBody>
      </p:sp>
      <p:sp>
        <p:nvSpPr>
          <p:cNvPr id="3" name="Content Placeholder 2"/>
          <p:cNvSpPr>
            <a:spLocks noGrp="1"/>
          </p:cNvSpPr>
          <p:nvPr>
            <p:ph idx="1"/>
          </p:nvPr>
        </p:nvSpPr>
        <p:spPr>
          <a:xfrm>
            <a:off x="1451579" y="2015732"/>
            <a:ext cx="10383370" cy="4058497"/>
          </a:xfrm>
        </p:spPr>
        <p:txBody>
          <a:bodyPr/>
          <a:lstStyle/>
          <a:p>
            <a:r>
              <a:rPr lang="en-US" dirty="0"/>
              <a:t>Any change that increases the </a:t>
            </a:r>
            <a:r>
              <a:rPr lang="en-US" dirty="0" smtClean="0"/>
              <a:t>quantity demanded </a:t>
            </a:r>
            <a:r>
              <a:rPr lang="en-US" dirty="0"/>
              <a:t>at every </a:t>
            </a:r>
            <a:r>
              <a:rPr lang="en-US" dirty="0" smtClean="0"/>
              <a:t>price shifts </a:t>
            </a:r>
            <a:r>
              <a:rPr lang="en-US" dirty="0"/>
              <a:t>the demand curve to the right and is called an </a:t>
            </a:r>
            <a:r>
              <a:rPr lang="en-US" b="1" dirty="0" smtClean="0"/>
              <a:t>increase in </a:t>
            </a:r>
            <a:r>
              <a:rPr lang="en-US" b="1" dirty="0"/>
              <a:t>demand</a:t>
            </a:r>
            <a:r>
              <a:rPr lang="en-US" dirty="0"/>
              <a:t>. Any change that reduces the quantity demanded at every price </a:t>
            </a:r>
            <a:r>
              <a:rPr lang="en-US" dirty="0" smtClean="0"/>
              <a:t>shifts the </a:t>
            </a:r>
            <a:r>
              <a:rPr lang="en-US" dirty="0"/>
              <a:t>demand curve to the left and is called a </a:t>
            </a:r>
            <a:r>
              <a:rPr lang="en-US" b="1" dirty="0"/>
              <a:t>decrease in demand</a:t>
            </a:r>
            <a:r>
              <a:rPr lang="en-US" b="1" dirty="0" smtClean="0"/>
              <a:t>. </a:t>
            </a:r>
          </a:p>
        </p:txBody>
      </p:sp>
      <p:pic>
        <p:nvPicPr>
          <p:cNvPr id="4" name="Picture 3"/>
          <p:cNvPicPr>
            <a:picLocks noChangeAspect="1"/>
          </p:cNvPicPr>
          <p:nvPr/>
        </p:nvPicPr>
        <p:blipFill>
          <a:blip r:embed="rId2"/>
          <a:stretch>
            <a:fillRect/>
          </a:stretch>
        </p:blipFill>
        <p:spPr>
          <a:xfrm>
            <a:off x="2534194" y="3174274"/>
            <a:ext cx="6766560" cy="3061933"/>
          </a:xfrm>
          <a:prstGeom prst="rect">
            <a:avLst/>
          </a:prstGeom>
        </p:spPr>
      </p:pic>
    </p:spTree>
    <p:extLst>
      <p:ext uri="{BB962C8B-B14F-4D97-AF65-F5344CB8AC3E}">
        <p14:creationId xmlns:p14="http://schemas.microsoft.com/office/powerpoint/2010/main" val="236779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Determinants causing shift in the demand curve</a:t>
            </a:r>
            <a:endParaRPr lang="en-US" b="1" dirty="0"/>
          </a:p>
        </p:txBody>
      </p:sp>
      <p:sp>
        <p:nvSpPr>
          <p:cNvPr id="3" name="Content Placeholder 2"/>
          <p:cNvSpPr>
            <a:spLocks noGrp="1"/>
          </p:cNvSpPr>
          <p:nvPr>
            <p:ph idx="1"/>
          </p:nvPr>
        </p:nvSpPr>
        <p:spPr/>
        <p:txBody>
          <a:bodyPr/>
          <a:lstStyle/>
          <a:p>
            <a:r>
              <a:rPr lang="en-US" dirty="0" smtClean="0"/>
              <a:t>Income</a:t>
            </a:r>
          </a:p>
          <a:p>
            <a:r>
              <a:rPr lang="en-US" dirty="0" smtClean="0"/>
              <a:t>Prices of Related Goods</a:t>
            </a:r>
          </a:p>
          <a:p>
            <a:r>
              <a:rPr lang="en-US" dirty="0" smtClean="0"/>
              <a:t>Tastes</a:t>
            </a:r>
          </a:p>
          <a:p>
            <a:r>
              <a:rPr lang="en-US" dirty="0" smtClean="0"/>
              <a:t>Expectations</a:t>
            </a:r>
          </a:p>
          <a:p>
            <a:r>
              <a:rPr lang="en-US" dirty="0" smtClean="0"/>
              <a:t>Number of Buyers</a:t>
            </a:r>
          </a:p>
          <a:p>
            <a:r>
              <a:rPr lang="en-US" dirty="0" smtClean="0"/>
              <a:t>Weather</a:t>
            </a:r>
            <a:endParaRPr lang="en-US" dirty="0"/>
          </a:p>
        </p:txBody>
      </p:sp>
      <p:pic>
        <p:nvPicPr>
          <p:cNvPr id="4" name="Picture 3"/>
          <p:cNvPicPr>
            <a:picLocks noChangeAspect="1"/>
          </p:cNvPicPr>
          <p:nvPr/>
        </p:nvPicPr>
        <p:blipFill>
          <a:blip r:embed="rId2"/>
          <a:stretch>
            <a:fillRect/>
          </a:stretch>
        </p:blipFill>
        <p:spPr>
          <a:xfrm>
            <a:off x="5891349" y="2220686"/>
            <a:ext cx="5003074" cy="3245659"/>
          </a:xfrm>
          <a:prstGeom prst="rect">
            <a:avLst/>
          </a:prstGeom>
        </p:spPr>
      </p:pic>
    </p:spTree>
    <p:extLst>
      <p:ext uri="{BB962C8B-B14F-4D97-AF65-F5344CB8AC3E}">
        <p14:creationId xmlns:p14="http://schemas.microsoft.com/office/powerpoint/2010/main" val="3701300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Different types of Goods</a:t>
            </a:r>
            <a:endParaRPr lang="en-US" b="1" dirty="0"/>
          </a:p>
        </p:txBody>
      </p:sp>
      <p:sp>
        <p:nvSpPr>
          <p:cNvPr id="3" name="Content Placeholder 2"/>
          <p:cNvSpPr>
            <a:spLocks noGrp="1"/>
          </p:cNvSpPr>
          <p:nvPr>
            <p:ph idx="1"/>
          </p:nvPr>
        </p:nvSpPr>
        <p:spPr/>
        <p:txBody>
          <a:bodyPr>
            <a:normAutofit/>
          </a:bodyPr>
          <a:lstStyle/>
          <a:p>
            <a:r>
              <a:rPr lang="en-US" b="1" dirty="0"/>
              <a:t>N</a:t>
            </a:r>
            <a:r>
              <a:rPr lang="en-US" b="1" dirty="0" smtClean="0"/>
              <a:t>ormal good- </a:t>
            </a:r>
            <a:r>
              <a:rPr lang="en-US" dirty="0" smtClean="0"/>
              <a:t>a </a:t>
            </a:r>
            <a:r>
              <a:rPr lang="en-US" dirty="0"/>
              <a:t>good for which, </a:t>
            </a:r>
            <a:r>
              <a:rPr lang="en-US" dirty="0" smtClean="0"/>
              <a:t>other things </a:t>
            </a:r>
            <a:r>
              <a:rPr lang="en-US" dirty="0"/>
              <a:t>being equal, </a:t>
            </a:r>
            <a:r>
              <a:rPr lang="en-US" dirty="0" smtClean="0"/>
              <a:t>an increase </a:t>
            </a:r>
            <a:r>
              <a:rPr lang="en-US" dirty="0"/>
              <a:t>in income </a:t>
            </a:r>
            <a:r>
              <a:rPr lang="en-US" dirty="0" smtClean="0"/>
              <a:t>leads to </a:t>
            </a:r>
            <a:r>
              <a:rPr lang="en-US" dirty="0"/>
              <a:t>an increase in </a:t>
            </a:r>
            <a:r>
              <a:rPr lang="en-US" dirty="0" smtClean="0"/>
              <a:t>demand. Ex- Cars </a:t>
            </a:r>
          </a:p>
          <a:p>
            <a:r>
              <a:rPr lang="en-US" b="1" dirty="0"/>
              <a:t>I</a:t>
            </a:r>
            <a:r>
              <a:rPr lang="en-US" b="1" dirty="0" smtClean="0"/>
              <a:t>nferior good- </a:t>
            </a:r>
            <a:r>
              <a:rPr lang="en-US" dirty="0" smtClean="0"/>
              <a:t>a </a:t>
            </a:r>
            <a:r>
              <a:rPr lang="en-US" dirty="0"/>
              <a:t>good for which, </a:t>
            </a:r>
            <a:r>
              <a:rPr lang="en-US" dirty="0" smtClean="0"/>
              <a:t>other things </a:t>
            </a:r>
            <a:r>
              <a:rPr lang="en-US" dirty="0"/>
              <a:t>being equal, </a:t>
            </a:r>
            <a:r>
              <a:rPr lang="en-US" dirty="0" smtClean="0"/>
              <a:t>an increase </a:t>
            </a:r>
            <a:r>
              <a:rPr lang="en-US" dirty="0"/>
              <a:t>in income </a:t>
            </a:r>
            <a:r>
              <a:rPr lang="en-US" dirty="0" smtClean="0"/>
              <a:t>leads to </a:t>
            </a:r>
            <a:r>
              <a:rPr lang="en-US" dirty="0"/>
              <a:t>a decrease in </a:t>
            </a:r>
            <a:r>
              <a:rPr lang="en-US" dirty="0" smtClean="0"/>
              <a:t>demand. Ex-Rickshaw ride </a:t>
            </a:r>
          </a:p>
          <a:p>
            <a:r>
              <a:rPr lang="en-US" b="1" dirty="0" smtClean="0"/>
              <a:t>Substitutes- </a:t>
            </a:r>
            <a:r>
              <a:rPr lang="en-US" dirty="0" smtClean="0"/>
              <a:t>two </a:t>
            </a:r>
            <a:r>
              <a:rPr lang="en-US" dirty="0"/>
              <a:t>goods for which </a:t>
            </a:r>
            <a:r>
              <a:rPr lang="en-US" dirty="0" smtClean="0"/>
              <a:t>an increase </a:t>
            </a:r>
            <a:r>
              <a:rPr lang="en-US" dirty="0"/>
              <a:t>in the price </a:t>
            </a:r>
            <a:r>
              <a:rPr lang="en-US" dirty="0" smtClean="0"/>
              <a:t>of one </a:t>
            </a:r>
            <a:r>
              <a:rPr lang="en-US" dirty="0"/>
              <a:t>leads to an increase </a:t>
            </a:r>
            <a:r>
              <a:rPr lang="en-US" dirty="0" smtClean="0"/>
              <a:t>in the </a:t>
            </a:r>
            <a:r>
              <a:rPr lang="en-US" dirty="0"/>
              <a:t>demand for the </a:t>
            </a:r>
            <a:r>
              <a:rPr lang="en-US" dirty="0" smtClean="0"/>
              <a:t>other. Ex- Coke &amp; Pepsi, Tea &amp; Coffee</a:t>
            </a:r>
            <a:endParaRPr lang="en-US" dirty="0"/>
          </a:p>
          <a:p>
            <a:r>
              <a:rPr lang="en-US" b="1" dirty="0" smtClean="0"/>
              <a:t>Complements- </a:t>
            </a:r>
            <a:r>
              <a:rPr lang="en-US" dirty="0" smtClean="0"/>
              <a:t>two </a:t>
            </a:r>
            <a:r>
              <a:rPr lang="en-US" dirty="0"/>
              <a:t>goods for which </a:t>
            </a:r>
            <a:r>
              <a:rPr lang="en-US" dirty="0" smtClean="0"/>
              <a:t>an increase </a:t>
            </a:r>
            <a:r>
              <a:rPr lang="en-US" dirty="0"/>
              <a:t>in the price </a:t>
            </a:r>
            <a:r>
              <a:rPr lang="en-US" dirty="0" smtClean="0"/>
              <a:t>of one </a:t>
            </a:r>
            <a:r>
              <a:rPr lang="en-US" dirty="0"/>
              <a:t>leads to a decrease </a:t>
            </a:r>
            <a:r>
              <a:rPr lang="en-US" dirty="0" smtClean="0"/>
              <a:t>in the </a:t>
            </a:r>
            <a:r>
              <a:rPr lang="en-US" dirty="0"/>
              <a:t>demand for the </a:t>
            </a:r>
            <a:r>
              <a:rPr lang="en-US" dirty="0" smtClean="0"/>
              <a:t>other. Ex- Right shoe &amp; Left shoe, Sugar &amp; Tea/Coffee</a:t>
            </a:r>
            <a:endParaRPr lang="en-US" dirty="0"/>
          </a:p>
        </p:txBody>
      </p:sp>
    </p:spTree>
    <p:extLst>
      <p:ext uri="{BB962C8B-B14F-4D97-AF65-F5344CB8AC3E}">
        <p14:creationId xmlns:p14="http://schemas.microsoft.com/office/powerpoint/2010/main" val="347752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Movement along the Demand Curve</a:t>
            </a:r>
            <a:endParaRPr lang="en-US" dirty="0"/>
          </a:p>
        </p:txBody>
      </p:sp>
      <p:sp>
        <p:nvSpPr>
          <p:cNvPr id="3" name="Content Placeholder 2"/>
          <p:cNvSpPr>
            <a:spLocks noGrp="1"/>
          </p:cNvSpPr>
          <p:nvPr>
            <p:ph idx="1"/>
          </p:nvPr>
        </p:nvSpPr>
        <p:spPr/>
        <p:txBody>
          <a:bodyPr/>
          <a:lstStyle/>
          <a:p>
            <a:r>
              <a:rPr lang="en-US" dirty="0" smtClean="0"/>
              <a:t>The Movement along the demand curve can </a:t>
            </a:r>
            <a:r>
              <a:rPr lang="en-US" b="1" dirty="0" smtClean="0"/>
              <a:t>only</a:t>
            </a:r>
            <a:r>
              <a:rPr lang="en-US" dirty="0" smtClean="0"/>
              <a:t> happen due to the change in the price of the good. </a:t>
            </a:r>
          </a:p>
          <a:p>
            <a:endParaRPr lang="en-US" dirty="0"/>
          </a:p>
        </p:txBody>
      </p:sp>
      <p:pic>
        <p:nvPicPr>
          <p:cNvPr id="4" name="Picture 3"/>
          <p:cNvPicPr>
            <a:picLocks noChangeAspect="1"/>
          </p:cNvPicPr>
          <p:nvPr/>
        </p:nvPicPr>
        <p:blipFill>
          <a:blip r:embed="rId2"/>
          <a:stretch>
            <a:fillRect/>
          </a:stretch>
        </p:blipFill>
        <p:spPr>
          <a:xfrm>
            <a:off x="3461656" y="2825188"/>
            <a:ext cx="4794069" cy="3249041"/>
          </a:xfrm>
          <a:prstGeom prst="rect">
            <a:avLst/>
          </a:prstGeom>
        </p:spPr>
      </p:pic>
    </p:spTree>
    <p:extLst>
      <p:ext uri="{BB962C8B-B14F-4D97-AF65-F5344CB8AC3E}">
        <p14:creationId xmlns:p14="http://schemas.microsoft.com/office/powerpoint/2010/main" val="1580868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Shifts in the </a:t>
            </a:r>
            <a:r>
              <a:rPr lang="en-US" b="1" dirty="0" smtClean="0"/>
              <a:t>Demand Curve </a:t>
            </a:r>
            <a:r>
              <a:rPr lang="en-US" b="1" dirty="0"/>
              <a:t>versus </a:t>
            </a:r>
            <a:r>
              <a:rPr lang="en-US" b="1" dirty="0" smtClean="0"/>
              <a:t>Movements along </a:t>
            </a:r>
            <a:r>
              <a:rPr lang="en-US" b="1" dirty="0"/>
              <a:t>the Demand Curve</a:t>
            </a:r>
            <a:endParaRPr lang="en-US" dirty="0"/>
          </a:p>
        </p:txBody>
      </p:sp>
      <p:pic>
        <p:nvPicPr>
          <p:cNvPr id="4" name="Content Placeholder 3"/>
          <p:cNvPicPr>
            <a:picLocks noGrp="1" noChangeAspect="1"/>
          </p:cNvPicPr>
          <p:nvPr>
            <p:ph idx="1"/>
          </p:nvPr>
        </p:nvPicPr>
        <p:blipFill>
          <a:blip r:embed="rId2"/>
          <a:stretch>
            <a:fillRect/>
          </a:stretch>
        </p:blipFill>
        <p:spPr>
          <a:xfrm>
            <a:off x="1737360" y="1946366"/>
            <a:ext cx="8869680" cy="4167051"/>
          </a:xfrm>
          <a:prstGeom prst="rect">
            <a:avLst/>
          </a:prstGeom>
        </p:spPr>
      </p:pic>
    </p:spTree>
    <p:extLst>
      <p:ext uri="{BB962C8B-B14F-4D97-AF65-F5344CB8AC3E}">
        <p14:creationId xmlns:p14="http://schemas.microsoft.com/office/powerpoint/2010/main" val="2736746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Supply</a:t>
            </a:r>
            <a:endParaRPr lang="en-US" b="1" dirty="0"/>
          </a:p>
        </p:txBody>
      </p:sp>
      <p:sp>
        <p:nvSpPr>
          <p:cNvPr id="3" name="Content Placeholder 2"/>
          <p:cNvSpPr>
            <a:spLocks noGrp="1"/>
          </p:cNvSpPr>
          <p:nvPr>
            <p:ph idx="1"/>
          </p:nvPr>
        </p:nvSpPr>
        <p:spPr>
          <a:xfrm>
            <a:off x="1451579" y="2015732"/>
            <a:ext cx="9603275" cy="3836428"/>
          </a:xfrm>
        </p:spPr>
        <p:txBody>
          <a:bodyPr>
            <a:normAutofit fontScale="92500" lnSpcReduction="10000"/>
          </a:bodyPr>
          <a:lstStyle/>
          <a:p>
            <a:r>
              <a:rPr lang="en-US" b="1" dirty="0"/>
              <a:t>Q</a:t>
            </a:r>
            <a:r>
              <a:rPr lang="en-US" b="1" dirty="0" smtClean="0"/>
              <a:t>uantity </a:t>
            </a:r>
            <a:r>
              <a:rPr lang="en-US" b="1" dirty="0"/>
              <a:t>S</a:t>
            </a:r>
            <a:r>
              <a:rPr lang="en-US" b="1" dirty="0" smtClean="0"/>
              <a:t>upplied- </a:t>
            </a:r>
            <a:r>
              <a:rPr lang="en-US" dirty="0"/>
              <a:t>T</a:t>
            </a:r>
            <a:r>
              <a:rPr lang="en-US" dirty="0" smtClean="0"/>
              <a:t>he </a:t>
            </a:r>
            <a:r>
              <a:rPr lang="en-US" dirty="0"/>
              <a:t>amount of a </a:t>
            </a:r>
            <a:r>
              <a:rPr lang="en-US" dirty="0" smtClean="0"/>
              <a:t>good that </a:t>
            </a:r>
            <a:r>
              <a:rPr lang="en-US" dirty="0"/>
              <a:t>sellers are </a:t>
            </a:r>
            <a:r>
              <a:rPr lang="en-US" dirty="0" smtClean="0"/>
              <a:t>willing and </a:t>
            </a:r>
            <a:r>
              <a:rPr lang="en-US" dirty="0"/>
              <a:t>able to </a:t>
            </a:r>
            <a:r>
              <a:rPr lang="en-US" dirty="0" smtClean="0"/>
              <a:t>sell. </a:t>
            </a:r>
            <a:r>
              <a:rPr lang="en-US" b="1" dirty="0"/>
              <a:t>Supply</a:t>
            </a:r>
            <a:r>
              <a:rPr lang="en-US" i="1" dirty="0"/>
              <a:t> </a:t>
            </a:r>
            <a:r>
              <a:rPr lang="en-US" dirty="0"/>
              <a:t>refers to the position of the supply curve, whereas the </a:t>
            </a:r>
            <a:r>
              <a:rPr lang="en-US" b="1" dirty="0" smtClean="0"/>
              <a:t>quantity supplied </a:t>
            </a:r>
            <a:r>
              <a:rPr lang="en-US" dirty="0" smtClean="0"/>
              <a:t>refers </a:t>
            </a:r>
            <a:r>
              <a:rPr lang="en-US" dirty="0"/>
              <a:t>to the amount suppliers wish to sell</a:t>
            </a:r>
            <a:r>
              <a:rPr lang="en-US" dirty="0" smtClean="0"/>
              <a:t>.</a:t>
            </a:r>
            <a:endParaRPr lang="en-US" dirty="0"/>
          </a:p>
          <a:p>
            <a:r>
              <a:rPr lang="en-US" b="1" dirty="0"/>
              <a:t>L</a:t>
            </a:r>
            <a:r>
              <a:rPr lang="en-US" b="1" dirty="0" smtClean="0"/>
              <a:t>aw </a:t>
            </a:r>
            <a:r>
              <a:rPr lang="en-US" b="1" dirty="0"/>
              <a:t>of S</a:t>
            </a:r>
            <a:r>
              <a:rPr lang="en-US" b="1" dirty="0" smtClean="0"/>
              <a:t>upply- </a:t>
            </a:r>
            <a:r>
              <a:rPr lang="en-US" dirty="0"/>
              <a:t>T</a:t>
            </a:r>
            <a:r>
              <a:rPr lang="en-US" dirty="0" smtClean="0"/>
              <a:t>he </a:t>
            </a:r>
            <a:r>
              <a:rPr lang="en-US" dirty="0"/>
              <a:t>claim that, </a:t>
            </a:r>
            <a:r>
              <a:rPr lang="en-US" dirty="0" smtClean="0"/>
              <a:t>other things </a:t>
            </a:r>
            <a:r>
              <a:rPr lang="en-US" dirty="0"/>
              <a:t>being equal, </a:t>
            </a:r>
            <a:r>
              <a:rPr lang="en-US" dirty="0" smtClean="0"/>
              <a:t>the quantity </a:t>
            </a:r>
            <a:r>
              <a:rPr lang="en-US" dirty="0"/>
              <a:t>supplied of </a:t>
            </a:r>
            <a:r>
              <a:rPr lang="en-US" dirty="0" smtClean="0"/>
              <a:t>a good </a:t>
            </a:r>
            <a:r>
              <a:rPr lang="en-US" dirty="0"/>
              <a:t>rises when the </a:t>
            </a:r>
            <a:r>
              <a:rPr lang="en-US" dirty="0" smtClean="0"/>
              <a:t>price of </a:t>
            </a:r>
            <a:r>
              <a:rPr lang="en-US" dirty="0"/>
              <a:t>the good </a:t>
            </a:r>
            <a:r>
              <a:rPr lang="en-US" dirty="0" smtClean="0"/>
              <a:t>rises.</a:t>
            </a:r>
          </a:p>
          <a:p>
            <a:r>
              <a:rPr lang="en-US" b="1" dirty="0"/>
              <a:t>S</a:t>
            </a:r>
            <a:r>
              <a:rPr lang="en-US" b="1" dirty="0" smtClean="0"/>
              <a:t>upply Curve- </a:t>
            </a:r>
            <a:r>
              <a:rPr lang="en-US" dirty="0"/>
              <a:t>A</a:t>
            </a:r>
            <a:r>
              <a:rPr lang="en-US" dirty="0" smtClean="0"/>
              <a:t> </a:t>
            </a:r>
            <a:r>
              <a:rPr lang="en-US" dirty="0"/>
              <a:t>graph of the </a:t>
            </a:r>
            <a:r>
              <a:rPr lang="en-US" dirty="0" smtClean="0"/>
              <a:t>relationship between </a:t>
            </a:r>
            <a:r>
              <a:rPr lang="en-US" dirty="0"/>
              <a:t>the price of </a:t>
            </a:r>
            <a:r>
              <a:rPr lang="en-US" dirty="0" smtClean="0"/>
              <a:t>a good </a:t>
            </a:r>
            <a:r>
              <a:rPr lang="en-US" dirty="0"/>
              <a:t>and the </a:t>
            </a:r>
            <a:r>
              <a:rPr lang="en-US" dirty="0" smtClean="0"/>
              <a:t>quantity supplied. </a:t>
            </a:r>
            <a:r>
              <a:rPr lang="en-US" dirty="0"/>
              <a:t>The </a:t>
            </a:r>
            <a:r>
              <a:rPr lang="en-US" dirty="0" smtClean="0"/>
              <a:t>supply </a:t>
            </a:r>
            <a:r>
              <a:rPr lang="en-US" dirty="0"/>
              <a:t>curve slopes </a:t>
            </a:r>
            <a:r>
              <a:rPr lang="en-US" dirty="0" smtClean="0"/>
              <a:t>upward </a:t>
            </a:r>
            <a:r>
              <a:rPr lang="en-US" dirty="0"/>
              <a:t>because, other things being equal, a </a:t>
            </a:r>
            <a:r>
              <a:rPr lang="en-US" dirty="0" smtClean="0"/>
              <a:t> rise in price </a:t>
            </a:r>
            <a:r>
              <a:rPr lang="en-US" dirty="0"/>
              <a:t>means a greater </a:t>
            </a:r>
            <a:r>
              <a:rPr lang="en-US" dirty="0" smtClean="0"/>
              <a:t>quantity supplied.  The </a:t>
            </a:r>
            <a:r>
              <a:rPr lang="en-US" dirty="0"/>
              <a:t>slope of the </a:t>
            </a:r>
            <a:r>
              <a:rPr lang="en-US" dirty="0" smtClean="0"/>
              <a:t>supply </a:t>
            </a:r>
            <a:r>
              <a:rPr lang="en-US" dirty="0"/>
              <a:t>curve is </a:t>
            </a:r>
            <a:r>
              <a:rPr lang="en-US" dirty="0" smtClean="0"/>
              <a:t>positive </a:t>
            </a:r>
            <a:r>
              <a:rPr lang="en-US" dirty="0"/>
              <a:t>since the price &amp; the </a:t>
            </a:r>
            <a:r>
              <a:rPr lang="en-US" dirty="0" smtClean="0"/>
              <a:t>supply </a:t>
            </a:r>
            <a:r>
              <a:rPr lang="en-US" dirty="0"/>
              <a:t>for a good has </a:t>
            </a:r>
            <a:r>
              <a:rPr lang="en-US" dirty="0" smtClean="0"/>
              <a:t>a positive </a:t>
            </a:r>
            <a:r>
              <a:rPr lang="en-US" dirty="0"/>
              <a:t>relation</a:t>
            </a:r>
            <a:r>
              <a:rPr lang="en-US" dirty="0" smtClean="0"/>
              <a:t>.</a:t>
            </a:r>
          </a:p>
          <a:p>
            <a:r>
              <a:rPr lang="en-US" dirty="0" smtClean="0"/>
              <a:t>Only change in the </a:t>
            </a:r>
            <a:r>
              <a:rPr lang="en-US" b="1" dirty="0"/>
              <a:t>p</a:t>
            </a:r>
            <a:r>
              <a:rPr lang="en-US" b="1" dirty="0" smtClean="0"/>
              <a:t>rice</a:t>
            </a:r>
            <a:r>
              <a:rPr lang="en-US" dirty="0" smtClean="0"/>
              <a:t> causes a movement on the supply curve.</a:t>
            </a:r>
          </a:p>
          <a:p>
            <a:endParaRPr lang="en-US" b="1" dirty="0"/>
          </a:p>
          <a:p>
            <a:endParaRPr lang="en-US" dirty="0" smtClean="0"/>
          </a:p>
        </p:txBody>
      </p:sp>
    </p:spTree>
    <p:extLst>
      <p:ext uri="{BB962C8B-B14F-4D97-AF65-F5344CB8AC3E}">
        <p14:creationId xmlns:p14="http://schemas.microsoft.com/office/powerpoint/2010/main" val="384754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Supply</a:t>
            </a:r>
            <a:endParaRPr lang="en-US" dirty="0"/>
          </a:p>
        </p:txBody>
      </p:sp>
      <p:pic>
        <p:nvPicPr>
          <p:cNvPr id="4" name="Content Placeholder 3"/>
          <p:cNvPicPr>
            <a:picLocks noGrp="1" noChangeAspect="1"/>
          </p:cNvPicPr>
          <p:nvPr>
            <p:ph idx="1"/>
          </p:nvPr>
        </p:nvPicPr>
        <p:blipFill>
          <a:blip r:embed="rId2"/>
          <a:stretch>
            <a:fillRect/>
          </a:stretch>
        </p:blipFill>
        <p:spPr>
          <a:xfrm>
            <a:off x="1645920" y="1853754"/>
            <a:ext cx="9091749" cy="4285789"/>
          </a:xfrm>
          <a:prstGeom prst="rect">
            <a:avLst/>
          </a:prstGeom>
        </p:spPr>
      </p:pic>
    </p:spTree>
    <p:extLst>
      <p:ext uri="{BB962C8B-B14F-4D97-AF65-F5344CB8AC3E}">
        <p14:creationId xmlns:p14="http://schemas.microsoft.com/office/powerpoint/2010/main" val="24389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Market Supply versus </a:t>
            </a:r>
            <a:r>
              <a:rPr lang="en-US" b="1" dirty="0" smtClean="0"/>
              <a:t>Individual Supply</a:t>
            </a:r>
            <a:endParaRPr lang="en-US" dirty="0"/>
          </a:p>
        </p:txBody>
      </p:sp>
      <p:sp>
        <p:nvSpPr>
          <p:cNvPr id="3" name="Content Placeholder 2"/>
          <p:cNvSpPr>
            <a:spLocks noGrp="1"/>
          </p:cNvSpPr>
          <p:nvPr>
            <p:ph idx="1"/>
          </p:nvPr>
        </p:nvSpPr>
        <p:spPr>
          <a:xfrm>
            <a:off x="1451579" y="2015732"/>
            <a:ext cx="9991484" cy="4058497"/>
          </a:xfrm>
        </p:spPr>
        <p:txBody>
          <a:bodyPr/>
          <a:lstStyle/>
          <a:p>
            <a:r>
              <a:rPr lang="en-US" dirty="0"/>
              <a:t>Just as market demand is the sum of the demands of all buyers, market </a:t>
            </a:r>
            <a:r>
              <a:rPr lang="en-US" dirty="0" smtClean="0"/>
              <a:t>supply is </a:t>
            </a:r>
            <a:r>
              <a:rPr lang="en-US" dirty="0"/>
              <a:t>the sum of the supplies of all sellers</a:t>
            </a:r>
            <a:r>
              <a:rPr lang="en-US" dirty="0" smtClean="0"/>
              <a:t>. </a:t>
            </a:r>
            <a:r>
              <a:rPr lang="en-US" dirty="0"/>
              <a:t>The market supply curve shows how </a:t>
            </a:r>
            <a:r>
              <a:rPr lang="en-US" dirty="0" smtClean="0"/>
              <a:t>the total quantity supplied </a:t>
            </a:r>
            <a:r>
              <a:rPr lang="en-US" dirty="0"/>
              <a:t>varies as the price of the good varies, holding constant </a:t>
            </a:r>
            <a:r>
              <a:rPr lang="en-US" dirty="0" smtClean="0"/>
              <a:t>all other </a:t>
            </a:r>
            <a:r>
              <a:rPr lang="en-US" dirty="0"/>
              <a:t>factors that influence producers’ decisions about how much to sell</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1933303" y="3618411"/>
            <a:ext cx="9121551" cy="2455818"/>
          </a:xfrm>
          <a:prstGeom prst="rect">
            <a:avLst/>
          </a:prstGeom>
        </p:spPr>
      </p:pic>
    </p:spTree>
    <p:extLst>
      <p:ext uri="{BB962C8B-B14F-4D97-AF65-F5344CB8AC3E}">
        <p14:creationId xmlns:p14="http://schemas.microsoft.com/office/powerpoint/2010/main" val="1631712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Shifts in the Supply Curve</a:t>
            </a:r>
            <a:endParaRPr lang="en-US" dirty="0"/>
          </a:p>
        </p:txBody>
      </p:sp>
      <p:sp>
        <p:nvSpPr>
          <p:cNvPr id="3" name="Content Placeholder 2"/>
          <p:cNvSpPr>
            <a:spLocks noGrp="1"/>
          </p:cNvSpPr>
          <p:nvPr>
            <p:ph idx="1"/>
          </p:nvPr>
        </p:nvSpPr>
        <p:spPr>
          <a:xfrm>
            <a:off x="1451579" y="2015732"/>
            <a:ext cx="9603275" cy="4149937"/>
          </a:xfrm>
        </p:spPr>
        <p:txBody>
          <a:bodyPr/>
          <a:lstStyle/>
          <a:p>
            <a:r>
              <a:rPr lang="en-US" dirty="0"/>
              <a:t>Any change that raises quantity supplied </a:t>
            </a:r>
            <a:r>
              <a:rPr lang="en-US" dirty="0" smtClean="0"/>
              <a:t>at every </a:t>
            </a:r>
            <a:r>
              <a:rPr lang="en-US" dirty="0"/>
              <a:t>price, such as a fall in the price of sugar, shifts the supply curve to the </a:t>
            </a:r>
            <a:r>
              <a:rPr lang="en-US" dirty="0" smtClean="0"/>
              <a:t>right and </a:t>
            </a:r>
            <a:r>
              <a:rPr lang="en-US" dirty="0"/>
              <a:t>is called an </a:t>
            </a:r>
            <a:r>
              <a:rPr lang="en-US" i="1" dirty="0"/>
              <a:t>increase in supply</a:t>
            </a:r>
            <a:r>
              <a:rPr lang="en-US" dirty="0"/>
              <a:t>. Any change that reduces the quantity </a:t>
            </a:r>
            <a:r>
              <a:rPr lang="en-US" dirty="0" smtClean="0"/>
              <a:t>supplied at </a:t>
            </a:r>
            <a:r>
              <a:rPr lang="en-US" dirty="0"/>
              <a:t>every price shifts the supply curve to the left and is called a </a:t>
            </a:r>
            <a:r>
              <a:rPr lang="en-US" i="1" dirty="0"/>
              <a:t>decrease in supply</a:t>
            </a:r>
            <a:r>
              <a:rPr lang="en-US" dirty="0" smtClean="0"/>
              <a:t>. Because </a:t>
            </a:r>
            <a:r>
              <a:rPr lang="en-US" dirty="0"/>
              <a:t>the market supply curve is drawn holding other things constant, </a:t>
            </a:r>
            <a:r>
              <a:rPr lang="en-US" dirty="0" smtClean="0"/>
              <a:t>when one </a:t>
            </a:r>
            <a:r>
              <a:rPr lang="en-US" dirty="0"/>
              <a:t>of these factors changes, the supply curve </a:t>
            </a:r>
            <a:r>
              <a:rPr lang="en-US" dirty="0" smtClean="0"/>
              <a:t>shifts:</a:t>
            </a:r>
          </a:p>
          <a:p>
            <a:r>
              <a:rPr lang="en-US" dirty="0"/>
              <a:t>Input </a:t>
            </a:r>
            <a:r>
              <a:rPr lang="en-US" dirty="0" smtClean="0"/>
              <a:t>Prices</a:t>
            </a:r>
          </a:p>
          <a:p>
            <a:r>
              <a:rPr lang="en-US" dirty="0" smtClean="0"/>
              <a:t>Technology</a:t>
            </a:r>
          </a:p>
          <a:p>
            <a:r>
              <a:rPr lang="en-US" dirty="0"/>
              <a:t>Expectations</a:t>
            </a:r>
            <a:endParaRPr lang="en-US" dirty="0" smtClean="0"/>
          </a:p>
          <a:p>
            <a:r>
              <a:rPr lang="en-US" dirty="0"/>
              <a:t>Number of Sellers</a:t>
            </a:r>
          </a:p>
        </p:txBody>
      </p:sp>
      <p:pic>
        <p:nvPicPr>
          <p:cNvPr id="4" name="Picture 3"/>
          <p:cNvPicPr>
            <a:picLocks noChangeAspect="1"/>
          </p:cNvPicPr>
          <p:nvPr/>
        </p:nvPicPr>
        <p:blipFill>
          <a:blip r:embed="rId2"/>
          <a:stretch>
            <a:fillRect/>
          </a:stretch>
        </p:blipFill>
        <p:spPr>
          <a:xfrm>
            <a:off x="4898571" y="3984171"/>
            <a:ext cx="4728755" cy="2090058"/>
          </a:xfrm>
          <a:prstGeom prst="rect">
            <a:avLst/>
          </a:prstGeom>
        </p:spPr>
      </p:pic>
    </p:spTree>
    <p:extLst>
      <p:ext uri="{BB962C8B-B14F-4D97-AF65-F5344CB8AC3E}">
        <p14:creationId xmlns:p14="http://schemas.microsoft.com/office/powerpoint/2010/main" val="2007591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Shifts in the Supply Curve</a:t>
            </a:r>
            <a:endParaRPr lang="en-US" dirty="0"/>
          </a:p>
        </p:txBody>
      </p:sp>
      <p:pic>
        <p:nvPicPr>
          <p:cNvPr id="4" name="Content Placeholder 3"/>
          <p:cNvPicPr>
            <a:picLocks noGrp="1" noChangeAspect="1"/>
          </p:cNvPicPr>
          <p:nvPr>
            <p:ph idx="1"/>
          </p:nvPr>
        </p:nvPicPr>
        <p:blipFill>
          <a:blip r:embed="rId2"/>
          <a:stretch>
            <a:fillRect/>
          </a:stretch>
        </p:blipFill>
        <p:spPr>
          <a:xfrm>
            <a:off x="1867989" y="1972491"/>
            <a:ext cx="8725988" cy="3958046"/>
          </a:xfrm>
          <a:prstGeom prst="rect">
            <a:avLst/>
          </a:prstGeom>
        </p:spPr>
      </p:pic>
    </p:spTree>
    <p:extLst>
      <p:ext uri="{BB962C8B-B14F-4D97-AF65-F5344CB8AC3E}">
        <p14:creationId xmlns:p14="http://schemas.microsoft.com/office/powerpoint/2010/main" val="143731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Supply and Demand Together</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Equilibrium- </a:t>
            </a:r>
            <a:r>
              <a:rPr lang="en-US" dirty="0" smtClean="0"/>
              <a:t>a </a:t>
            </a:r>
            <a:r>
              <a:rPr lang="en-US" dirty="0"/>
              <a:t>situation in which </a:t>
            </a:r>
            <a:r>
              <a:rPr lang="en-US" dirty="0" smtClean="0"/>
              <a:t>the market </a:t>
            </a:r>
            <a:r>
              <a:rPr lang="en-US" dirty="0"/>
              <a:t>price has </a:t>
            </a:r>
            <a:r>
              <a:rPr lang="en-US" dirty="0" smtClean="0"/>
              <a:t>reached the </a:t>
            </a:r>
            <a:r>
              <a:rPr lang="en-US" dirty="0"/>
              <a:t>level at which </a:t>
            </a:r>
            <a:r>
              <a:rPr lang="en-US" dirty="0" smtClean="0"/>
              <a:t>quantity supplied equals quantity </a:t>
            </a:r>
            <a:r>
              <a:rPr lang="en-US" dirty="0"/>
              <a:t>demanded</a:t>
            </a:r>
          </a:p>
          <a:p>
            <a:r>
              <a:rPr lang="en-US" b="1" dirty="0"/>
              <a:t>E</a:t>
            </a:r>
            <a:r>
              <a:rPr lang="en-US" b="1" dirty="0" smtClean="0"/>
              <a:t>quilibrium price- </a:t>
            </a:r>
            <a:r>
              <a:rPr lang="en-US" dirty="0" smtClean="0"/>
              <a:t>the </a:t>
            </a:r>
            <a:r>
              <a:rPr lang="en-US" dirty="0"/>
              <a:t>price the quantity of the good that buyers are willing and able to </a:t>
            </a:r>
            <a:r>
              <a:rPr lang="en-US" dirty="0" smtClean="0"/>
              <a:t>buy exactly </a:t>
            </a:r>
            <a:r>
              <a:rPr lang="en-US" dirty="0"/>
              <a:t>balances the quantity that sellers are willing and able to </a:t>
            </a:r>
            <a:r>
              <a:rPr lang="en-US" dirty="0" smtClean="0"/>
              <a:t>sell. </a:t>
            </a:r>
            <a:r>
              <a:rPr lang="en-US" dirty="0"/>
              <a:t>The </a:t>
            </a:r>
            <a:r>
              <a:rPr lang="en-US" dirty="0" smtClean="0"/>
              <a:t>equilibrium price </a:t>
            </a:r>
            <a:r>
              <a:rPr lang="en-US" dirty="0"/>
              <a:t>is sometimes called the </a:t>
            </a:r>
            <a:r>
              <a:rPr lang="en-US" b="1" dirty="0"/>
              <a:t>market-clearing </a:t>
            </a:r>
            <a:r>
              <a:rPr lang="en-US" b="1" dirty="0" smtClean="0"/>
              <a:t>price. </a:t>
            </a:r>
            <a:endParaRPr lang="en-US" b="1" dirty="0"/>
          </a:p>
          <a:p>
            <a:r>
              <a:rPr lang="en-US" b="1" dirty="0"/>
              <a:t>E</a:t>
            </a:r>
            <a:r>
              <a:rPr lang="en-US" b="1" dirty="0" smtClean="0"/>
              <a:t>quilibrium quantity </a:t>
            </a:r>
            <a:r>
              <a:rPr lang="en-US" dirty="0" smtClean="0"/>
              <a:t>is</a:t>
            </a:r>
            <a:r>
              <a:rPr lang="en-US" b="1" dirty="0" smtClean="0"/>
              <a:t> </a:t>
            </a:r>
            <a:r>
              <a:rPr lang="en-US" dirty="0" smtClean="0"/>
              <a:t>the </a:t>
            </a:r>
            <a:r>
              <a:rPr lang="en-US" dirty="0"/>
              <a:t>quantity </a:t>
            </a:r>
            <a:r>
              <a:rPr lang="en-US" dirty="0" smtClean="0"/>
              <a:t>supplied and </a:t>
            </a:r>
            <a:r>
              <a:rPr lang="en-US" dirty="0"/>
              <a:t>the quantity </a:t>
            </a:r>
            <a:r>
              <a:rPr lang="en-US" dirty="0" smtClean="0"/>
              <a:t>demanded at </a:t>
            </a:r>
            <a:r>
              <a:rPr lang="en-US" dirty="0"/>
              <a:t>the equilibrium </a:t>
            </a:r>
            <a:r>
              <a:rPr lang="en-US" dirty="0" smtClean="0"/>
              <a:t>price.</a:t>
            </a:r>
          </a:p>
          <a:p>
            <a:r>
              <a:rPr lang="en-US" b="1" dirty="0"/>
              <a:t>law of supply </a:t>
            </a:r>
            <a:r>
              <a:rPr lang="en-US" b="1" dirty="0" smtClean="0"/>
              <a:t>and demand</a:t>
            </a:r>
            <a:r>
              <a:rPr lang="en-US" dirty="0" smtClean="0"/>
              <a:t> claims </a:t>
            </a:r>
            <a:r>
              <a:rPr lang="en-US" dirty="0"/>
              <a:t>that the </a:t>
            </a:r>
            <a:r>
              <a:rPr lang="en-US" dirty="0" smtClean="0"/>
              <a:t>price of </a:t>
            </a:r>
            <a:r>
              <a:rPr lang="en-US" dirty="0"/>
              <a:t>any good adjusts </a:t>
            </a:r>
            <a:r>
              <a:rPr lang="en-US" dirty="0" smtClean="0"/>
              <a:t>to bring </a:t>
            </a:r>
            <a:r>
              <a:rPr lang="en-US" dirty="0"/>
              <a:t>the quantity </a:t>
            </a:r>
            <a:r>
              <a:rPr lang="en-US" dirty="0" smtClean="0"/>
              <a:t>supplied and </a:t>
            </a:r>
            <a:r>
              <a:rPr lang="en-US" dirty="0"/>
              <a:t>the </a:t>
            </a:r>
            <a:r>
              <a:rPr lang="en-US" dirty="0" smtClean="0"/>
              <a:t>quantity demanded </a:t>
            </a:r>
            <a:r>
              <a:rPr lang="en-US" dirty="0"/>
              <a:t>for that </a:t>
            </a:r>
            <a:r>
              <a:rPr lang="en-US" dirty="0" smtClean="0"/>
              <a:t>good into balance.</a:t>
            </a:r>
          </a:p>
          <a:p>
            <a:endParaRPr lang="en-US" dirty="0"/>
          </a:p>
        </p:txBody>
      </p:sp>
    </p:spTree>
    <p:extLst>
      <p:ext uri="{BB962C8B-B14F-4D97-AF65-F5344CB8AC3E}">
        <p14:creationId xmlns:p14="http://schemas.microsoft.com/office/powerpoint/2010/main" val="942891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Supply and Demand Together</a:t>
            </a:r>
            <a:endParaRPr lang="en-US" dirty="0"/>
          </a:p>
        </p:txBody>
      </p:sp>
      <p:pic>
        <p:nvPicPr>
          <p:cNvPr id="4" name="Content Placeholder 3"/>
          <p:cNvPicPr>
            <a:picLocks noGrp="1" noChangeAspect="1"/>
          </p:cNvPicPr>
          <p:nvPr>
            <p:ph idx="1"/>
          </p:nvPr>
        </p:nvPicPr>
        <p:blipFill>
          <a:blip r:embed="rId2"/>
          <a:stretch>
            <a:fillRect/>
          </a:stretch>
        </p:blipFill>
        <p:spPr>
          <a:xfrm>
            <a:off x="1451579" y="1853754"/>
            <a:ext cx="9603275" cy="4155160"/>
          </a:xfrm>
          <a:prstGeom prst="rect">
            <a:avLst/>
          </a:prstGeom>
        </p:spPr>
      </p:pic>
    </p:spTree>
    <p:extLst>
      <p:ext uri="{BB962C8B-B14F-4D97-AF65-F5344CB8AC3E}">
        <p14:creationId xmlns:p14="http://schemas.microsoft.com/office/powerpoint/2010/main" val="3869060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Supply and Demand Together</a:t>
            </a:r>
            <a:endParaRPr lang="en-US" dirty="0"/>
          </a:p>
        </p:txBody>
      </p:sp>
      <p:sp>
        <p:nvSpPr>
          <p:cNvPr id="3" name="Content Placeholder 2"/>
          <p:cNvSpPr>
            <a:spLocks noGrp="1"/>
          </p:cNvSpPr>
          <p:nvPr>
            <p:ph idx="1"/>
          </p:nvPr>
        </p:nvSpPr>
        <p:spPr/>
        <p:txBody>
          <a:bodyPr>
            <a:normAutofit/>
          </a:bodyPr>
          <a:lstStyle/>
          <a:p>
            <a:r>
              <a:rPr lang="en-US" dirty="0"/>
              <a:t>The actions of buyers and sellers naturally move markets toward the </a:t>
            </a:r>
            <a:r>
              <a:rPr lang="en-US" dirty="0" smtClean="0"/>
              <a:t>equilibrium of </a:t>
            </a:r>
            <a:r>
              <a:rPr lang="en-US" dirty="0"/>
              <a:t>supply and demand. To see why, consider what happens when the </a:t>
            </a:r>
            <a:r>
              <a:rPr lang="en-US" dirty="0" smtClean="0"/>
              <a:t>market price </a:t>
            </a:r>
            <a:r>
              <a:rPr lang="en-US" dirty="0"/>
              <a:t>is not equal to the equilibrium price</a:t>
            </a:r>
            <a:r>
              <a:rPr lang="en-US" dirty="0" smtClean="0"/>
              <a:t>.</a:t>
            </a:r>
            <a:endParaRPr lang="en-US" b="1" dirty="0" smtClean="0"/>
          </a:p>
          <a:p>
            <a:r>
              <a:rPr lang="en-US" b="1" dirty="0" smtClean="0"/>
              <a:t>Surplus- </a:t>
            </a:r>
            <a:r>
              <a:rPr lang="en-US" dirty="0" smtClean="0"/>
              <a:t>a </a:t>
            </a:r>
            <a:r>
              <a:rPr lang="en-US" dirty="0"/>
              <a:t>situation in </a:t>
            </a:r>
            <a:r>
              <a:rPr lang="en-US" dirty="0" smtClean="0"/>
              <a:t>which quantity </a:t>
            </a:r>
            <a:r>
              <a:rPr lang="en-US" dirty="0"/>
              <a:t>supplied </a:t>
            </a:r>
            <a:r>
              <a:rPr lang="en-US" dirty="0" smtClean="0"/>
              <a:t>is grater than the quantity demanded</a:t>
            </a:r>
            <a:endParaRPr lang="en-US" dirty="0"/>
          </a:p>
          <a:p>
            <a:r>
              <a:rPr lang="en-US" b="1" dirty="0" smtClean="0"/>
              <a:t>Shortage- </a:t>
            </a:r>
            <a:r>
              <a:rPr lang="en-US" dirty="0" smtClean="0"/>
              <a:t>a </a:t>
            </a:r>
            <a:r>
              <a:rPr lang="en-US" dirty="0"/>
              <a:t>situation in </a:t>
            </a:r>
            <a:r>
              <a:rPr lang="en-US" dirty="0" smtClean="0"/>
              <a:t>which quantity </a:t>
            </a:r>
            <a:r>
              <a:rPr lang="en-US" dirty="0"/>
              <a:t>demanded </a:t>
            </a:r>
            <a:r>
              <a:rPr lang="en-US" dirty="0" smtClean="0"/>
              <a:t>is greater </a:t>
            </a:r>
            <a:r>
              <a:rPr lang="en-US" dirty="0"/>
              <a:t>than </a:t>
            </a:r>
            <a:r>
              <a:rPr lang="en-US" dirty="0" smtClean="0"/>
              <a:t>quantity supplied</a:t>
            </a:r>
            <a:endParaRPr lang="en-US" dirty="0"/>
          </a:p>
        </p:txBody>
      </p:sp>
    </p:spTree>
    <p:extLst>
      <p:ext uri="{BB962C8B-B14F-4D97-AF65-F5344CB8AC3E}">
        <p14:creationId xmlns:p14="http://schemas.microsoft.com/office/powerpoint/2010/main" val="332668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Supply and Demand Together</a:t>
            </a:r>
            <a:endParaRPr lang="en-US" dirty="0"/>
          </a:p>
        </p:txBody>
      </p:sp>
      <p:pic>
        <p:nvPicPr>
          <p:cNvPr id="5" name="Content Placeholder 4"/>
          <p:cNvPicPr>
            <a:picLocks noGrp="1" noChangeAspect="1"/>
          </p:cNvPicPr>
          <p:nvPr>
            <p:ph idx="1"/>
          </p:nvPr>
        </p:nvPicPr>
        <p:blipFill>
          <a:blip r:embed="rId2"/>
          <a:stretch>
            <a:fillRect/>
          </a:stretch>
        </p:blipFill>
        <p:spPr>
          <a:xfrm>
            <a:off x="1451579" y="1853754"/>
            <a:ext cx="9603275" cy="4690737"/>
          </a:xfrm>
          <a:prstGeom prst="rect">
            <a:avLst/>
          </a:prstGeom>
        </p:spPr>
      </p:pic>
    </p:spTree>
    <p:extLst>
      <p:ext uri="{BB962C8B-B14F-4D97-AF65-F5344CB8AC3E}">
        <p14:creationId xmlns:p14="http://schemas.microsoft.com/office/powerpoint/2010/main" val="3381129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 Change in Market Equilibrium Due to a Shift in Demand</a:t>
            </a:r>
            <a:endParaRPr lang="en-US" dirty="0"/>
          </a:p>
        </p:txBody>
      </p:sp>
      <p:pic>
        <p:nvPicPr>
          <p:cNvPr id="4" name="Content Placeholder 3"/>
          <p:cNvPicPr>
            <a:picLocks noGrp="1" noChangeAspect="1"/>
          </p:cNvPicPr>
          <p:nvPr>
            <p:ph idx="1"/>
          </p:nvPr>
        </p:nvPicPr>
        <p:blipFill>
          <a:blip r:embed="rId2"/>
          <a:stretch>
            <a:fillRect/>
          </a:stretch>
        </p:blipFill>
        <p:spPr>
          <a:xfrm>
            <a:off x="1451578" y="1853755"/>
            <a:ext cx="9603275" cy="4259662"/>
          </a:xfrm>
          <a:prstGeom prst="rect">
            <a:avLst/>
          </a:prstGeom>
        </p:spPr>
      </p:pic>
    </p:spTree>
    <p:extLst>
      <p:ext uri="{BB962C8B-B14F-4D97-AF65-F5344CB8AC3E}">
        <p14:creationId xmlns:p14="http://schemas.microsoft.com/office/powerpoint/2010/main" val="3818122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 Change in Market Equilibrium Due to a Shift in Supply</a:t>
            </a:r>
            <a:endParaRPr lang="en-US" dirty="0"/>
          </a:p>
        </p:txBody>
      </p:sp>
      <p:pic>
        <p:nvPicPr>
          <p:cNvPr id="6" name="Content Placeholder 5"/>
          <p:cNvPicPr>
            <a:picLocks noGrp="1" noChangeAspect="1"/>
          </p:cNvPicPr>
          <p:nvPr>
            <p:ph idx="1"/>
          </p:nvPr>
        </p:nvPicPr>
        <p:blipFill>
          <a:blip r:embed="rId2"/>
          <a:stretch>
            <a:fillRect/>
          </a:stretch>
        </p:blipFill>
        <p:spPr>
          <a:xfrm>
            <a:off x="1451579" y="1853754"/>
            <a:ext cx="9508158" cy="4481732"/>
          </a:xfrm>
          <a:prstGeom prst="rect">
            <a:avLst/>
          </a:prstGeom>
        </p:spPr>
      </p:pic>
    </p:spTree>
    <p:extLst>
      <p:ext uri="{BB962C8B-B14F-4D97-AF65-F5344CB8AC3E}">
        <p14:creationId xmlns:p14="http://schemas.microsoft.com/office/powerpoint/2010/main" val="2522255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Shifts in Both Supply and Demand</a:t>
            </a:r>
            <a:endParaRPr lang="en-US" dirty="0"/>
          </a:p>
        </p:txBody>
      </p:sp>
      <p:pic>
        <p:nvPicPr>
          <p:cNvPr id="5" name="Content Placeholder 4"/>
          <p:cNvPicPr>
            <a:picLocks noGrp="1" noChangeAspect="1"/>
          </p:cNvPicPr>
          <p:nvPr>
            <p:ph idx="1"/>
          </p:nvPr>
        </p:nvPicPr>
        <p:blipFill>
          <a:blip r:embed="rId2"/>
          <a:stretch>
            <a:fillRect/>
          </a:stretch>
        </p:blipFill>
        <p:spPr>
          <a:xfrm>
            <a:off x="1451579" y="1853755"/>
            <a:ext cx="9603275" cy="4468668"/>
          </a:xfrm>
          <a:prstGeom prst="rect">
            <a:avLst/>
          </a:prstGeom>
        </p:spPr>
      </p:pic>
    </p:spTree>
    <p:extLst>
      <p:ext uri="{BB962C8B-B14F-4D97-AF65-F5344CB8AC3E}">
        <p14:creationId xmlns:p14="http://schemas.microsoft.com/office/powerpoint/2010/main" val="3044981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Shifts in Both Supply and Demand</a:t>
            </a:r>
            <a:endParaRPr lang="en-US" dirty="0"/>
          </a:p>
        </p:txBody>
      </p:sp>
      <p:sp>
        <p:nvSpPr>
          <p:cNvPr id="3" name="Content Placeholder 2"/>
          <p:cNvSpPr>
            <a:spLocks noGrp="1"/>
          </p:cNvSpPr>
          <p:nvPr>
            <p:ph idx="1"/>
          </p:nvPr>
        </p:nvSpPr>
        <p:spPr/>
        <p:txBody>
          <a:bodyPr/>
          <a:lstStyle/>
          <a:p>
            <a:r>
              <a:rPr lang="en-US" dirty="0"/>
              <a:t>In market economies, prices are the signals that guide economic decisions and thereby allocate scarce resources. For every good in the economy, the price ensures that supply and demand are in balance. The equilibrium price then determines how much of the good buyers choose to consume and how much sellers choose to produce.</a:t>
            </a:r>
          </a:p>
          <a:p>
            <a:endParaRPr lang="en-US" dirty="0"/>
          </a:p>
          <a:p>
            <a:endParaRPr lang="en-US" dirty="0"/>
          </a:p>
        </p:txBody>
      </p:sp>
    </p:spTree>
    <p:extLst>
      <p:ext uri="{BB962C8B-B14F-4D97-AF65-F5344CB8AC3E}">
        <p14:creationId xmlns:p14="http://schemas.microsoft.com/office/powerpoint/2010/main" val="144645216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531</TotalTime>
  <Words>1235</Words>
  <Application>Microsoft Office PowerPoint</Application>
  <PresentationFormat>Custom</PresentationFormat>
  <Paragraphs>71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Gallery</vt:lpstr>
      <vt:lpstr>The Market Forces of Supply and Demand</vt:lpstr>
      <vt:lpstr>Markets and Competition</vt:lpstr>
      <vt:lpstr>Markets and Competition</vt:lpstr>
      <vt:lpstr>Demand</vt:lpstr>
      <vt:lpstr>Demand Schedule and Demand Curve</vt:lpstr>
      <vt:lpstr>Market Demand versus Individual Demand</vt:lpstr>
      <vt:lpstr>Shifts in the Demand Curve</vt:lpstr>
      <vt:lpstr>Determinants causing shift in the demand curve</vt:lpstr>
      <vt:lpstr>Different types of Goods</vt:lpstr>
      <vt:lpstr>Movement along the Demand Curve</vt:lpstr>
      <vt:lpstr>Shifts in the Demand Curve versus Movements along the Demand Curve</vt:lpstr>
      <vt:lpstr>Supply</vt:lpstr>
      <vt:lpstr>Supply</vt:lpstr>
      <vt:lpstr>Market Supply versus Individual Supply</vt:lpstr>
      <vt:lpstr>Shifts in the Supply Curve</vt:lpstr>
      <vt:lpstr>Shifts in the Supply Curve</vt:lpstr>
      <vt:lpstr>Supply and Demand Together</vt:lpstr>
      <vt:lpstr>Supply and Demand Together</vt:lpstr>
      <vt:lpstr>Supply and Demand Together</vt:lpstr>
      <vt:lpstr>Supply and Demand Together</vt:lpstr>
      <vt:lpstr>A Change in Market Equilibrium Due to a Shift in Demand</vt:lpstr>
      <vt:lpstr>A Change in Market Equilibrium Due to a Shift in Supply</vt:lpstr>
      <vt:lpstr>Shifts in Both Supply and Demand</vt:lpstr>
      <vt:lpstr>Shifts in Both Supply and Demand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Market Forces of Supply and Demand</dc:title>
  <dc:creator>Chandra Tabassum</dc:creator>
  <cp:lastModifiedBy>Acer</cp:lastModifiedBy>
  <cp:revision>20</cp:revision>
  <dcterms:created xsi:type="dcterms:W3CDTF">2020-07-14T15:38:14Z</dcterms:created>
  <dcterms:modified xsi:type="dcterms:W3CDTF">2025-07-23T08:37:00Z</dcterms:modified>
</cp:coreProperties>
</file>