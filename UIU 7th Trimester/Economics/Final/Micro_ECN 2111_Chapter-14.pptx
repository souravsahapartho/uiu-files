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6.xml" ContentType="application/vnd.openxmlformats-officedocument.theme+xml"/>
  <Override PartName="/ppt/slideLayouts/slideLayout24.xml" ContentType="application/vnd.openxmlformats-officedocument.presentationml.slideLayout+xml"/>
  <Override PartName="/ppt/theme/theme7.xml" ContentType="application/vnd.openxmlformats-officedocument.theme+xml"/>
  <Override PartName="/ppt/slideLayouts/slideLayout25.xml" ContentType="application/vnd.openxmlformats-officedocument.presentationml.slideLayout+xml"/>
  <Override PartName="/ppt/theme/theme8.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9.xml" ContentType="application/vnd.openxmlformats-officedocument.theme+xml"/>
  <Override PartName="/ppt/slideLayouts/slideLayout28.xml" ContentType="application/vnd.openxmlformats-officedocument.presentationml.slideLayout+xml"/>
  <Override PartName="/ppt/theme/theme10.xml" ContentType="application/vnd.openxmlformats-officedocument.theme+xml"/>
  <Override PartName="/ppt/slideLayouts/slideLayout2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5" r:id="rId2"/>
    <p:sldMasterId id="2147483667" r:id="rId3"/>
    <p:sldMasterId id="2147483669" r:id="rId4"/>
    <p:sldMasterId id="2147483672" r:id="rId5"/>
    <p:sldMasterId id="2147483674" r:id="rId6"/>
    <p:sldMasterId id="2147483677" r:id="rId7"/>
    <p:sldMasterId id="2147483679" r:id="rId8"/>
    <p:sldMasterId id="2147483681" r:id="rId9"/>
    <p:sldMasterId id="2147483684" r:id="rId10"/>
    <p:sldMasterId id="2147483686" r:id="rId11"/>
  </p:sldMasterIdLst>
  <p:notesMasterIdLst>
    <p:notesMasterId r:id="rId38"/>
  </p:notesMasterIdLst>
  <p:sldIdLst>
    <p:sldId id="256" r:id="rId12"/>
    <p:sldId id="259"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95" d="100"/>
          <a:sy n="95" d="100"/>
        </p:scale>
        <p:origin x="-72" y="-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87A19C-4A0D-4019-945A-05192139C28D}" type="datetimeFigureOut">
              <a:rPr lang="en-US" smtClean="0"/>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04DE3-45E4-4102-9C0F-333732A6EF4B}" type="slidenum">
              <a:rPr lang="en-US" smtClean="0"/>
              <a:t>‹#›</a:t>
            </a:fld>
            <a:endParaRPr lang="en-US"/>
          </a:p>
        </p:txBody>
      </p:sp>
    </p:spTree>
    <p:extLst>
      <p:ext uri="{BB962C8B-B14F-4D97-AF65-F5344CB8AC3E}">
        <p14:creationId xmlns:p14="http://schemas.microsoft.com/office/powerpoint/2010/main" val="40542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“Firms can freely enter or exit the market” means there are no barriers or impediments to entry or exit.  E.g., the government does not restrict the number of firms in the market.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0717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revenue concepts are analogous to the cost concepts (TC, ATC, MC) in the previous chapter.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55429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smtClean="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3587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75325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51922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96D506-85C1-4352-97D4-C5139E07DF4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
        <p:nvSpPr>
          <p:cNvPr id="5734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103E6BC2-E3A2-4D22-A498-ACFD3DAFE741}" type="slidenum">
              <a:rPr kumimoji="0" lang="en-US" sz="1200" b="0" i="0" u="none" strike="noStrike" kern="1200" cap="none" spc="0" normalizeH="0" baseline="0" noProof="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7348" name="Rectangle 2"/>
          <p:cNvSpPr>
            <a:spLocks noGrp="1" noRot="1" noChangeAspect="1" noChangeArrowheads="1" noTextEdit="1"/>
          </p:cNvSpPr>
          <p:nvPr>
            <p:ph type="sldImg"/>
          </p:nvPr>
        </p:nvSpPr>
        <p:spPr>
          <a:xfrm>
            <a:off x="381000" y="534988"/>
            <a:ext cx="6096000" cy="3429000"/>
          </a:xfrm>
          <a:ln/>
        </p:spPr>
      </p:sp>
      <p:sp>
        <p:nvSpPr>
          <p:cNvPr id="57349" name="Rectangle 3"/>
          <p:cNvSpPr>
            <a:spLocks noGrp="1" noChangeArrowheads="1"/>
          </p:cNvSpPr>
          <p:nvPr>
            <p:ph type="body" idx="1"/>
          </p:nvPr>
        </p:nvSpPr>
        <p:spPr>
          <a:xfrm>
            <a:off x="685800" y="4248150"/>
            <a:ext cx="5486400" cy="4210050"/>
          </a:xfrm>
          <a:noFill/>
          <a:ln/>
        </p:spPr>
        <p:txBody>
          <a:bodyPr/>
          <a:lstStyle/>
          <a:p>
            <a:pPr eaLnBrk="1" hangingPunct="1"/>
            <a:r>
              <a:rPr lang="en-US" smtClean="0"/>
              <a:t>This slide is similar to Figure 1 in the chapter.  I’ve omitted the AVC and ATC curves (which appear in Figure 1 in the chapter) because they are not needed at this point.  </a:t>
            </a:r>
          </a:p>
        </p:txBody>
      </p:sp>
    </p:spTree>
    <p:extLst>
      <p:ext uri="{BB962C8B-B14F-4D97-AF65-F5344CB8AC3E}">
        <p14:creationId xmlns:p14="http://schemas.microsoft.com/office/powerpoint/2010/main" val="336862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8E7EC6-6FC2-4B2E-A4D6-8E1A0ADE0C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
        <p:nvSpPr>
          <p:cNvPr id="5837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BCD49C87-90E3-496D-96C3-3BF2840B56CD}" type="slidenum">
              <a:rPr kumimoji="0" lang="en-US" sz="1200" b="0" i="0" u="none" strike="noStrike" kern="1200" cap="none" spc="0" normalizeH="0" baseline="0" noProof="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8372" name="Rectangle 2"/>
          <p:cNvSpPr>
            <a:spLocks noGrp="1" noRot="1" noChangeAspect="1" noChangeArrowheads="1" noTextEdit="1"/>
          </p:cNvSpPr>
          <p:nvPr>
            <p:ph type="sldImg"/>
          </p:nvPr>
        </p:nvSpPr>
        <p:spPr>
          <a:xfrm>
            <a:off x="381000" y="534988"/>
            <a:ext cx="6096000" cy="3429000"/>
          </a:xfrm>
          <a:ln/>
        </p:spPr>
      </p:sp>
      <p:sp>
        <p:nvSpPr>
          <p:cNvPr id="58373" name="Rectangle 3"/>
          <p:cNvSpPr>
            <a:spLocks noGrp="1" noChangeArrowheads="1"/>
          </p:cNvSpPr>
          <p:nvPr>
            <p:ph type="body" idx="1"/>
          </p:nvPr>
        </p:nvSpPr>
        <p:spPr>
          <a:xfrm>
            <a:off x="685800" y="4248150"/>
            <a:ext cx="5486400" cy="4210050"/>
          </a:xfrm>
          <a:noFill/>
          <a:ln/>
        </p:spPr>
        <p:txBody>
          <a:bodyPr/>
          <a:lstStyle/>
          <a:p>
            <a:pPr eaLnBrk="1" hangingPunct="1"/>
            <a:endParaRPr lang="en-US" dirty="0" smtClean="0"/>
          </a:p>
        </p:txBody>
      </p:sp>
    </p:spTree>
    <p:extLst>
      <p:ext uri="{BB962C8B-B14F-4D97-AF65-F5344CB8AC3E}">
        <p14:creationId xmlns:p14="http://schemas.microsoft.com/office/powerpoint/2010/main" val="909599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0934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shutdown rule, in plain English, says:</a:t>
            </a:r>
          </a:p>
          <a:p>
            <a:endParaRPr lang="en-US" dirty="0" smtClean="0"/>
          </a:p>
          <a:p>
            <a:r>
              <a:rPr lang="en-US" dirty="0" smtClean="0"/>
              <a:t>If the cost of shutting down is less than the benefit, the firm should shut down. </a:t>
            </a:r>
          </a:p>
          <a:p>
            <a:r>
              <a:rPr lang="en-US" dirty="0" smtClean="0"/>
              <a:t>If</a:t>
            </a:r>
            <a:r>
              <a:rPr lang="en-US" baseline="0" dirty="0" smtClean="0"/>
              <a:t> we divide TR &lt; VC by Q we get: P &lt; AVC</a:t>
            </a:r>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5316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E9708-4E74-4553-805F-C86272E1BF0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
        <p:nvSpPr>
          <p:cNvPr id="6144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240F3148-9634-4829-8610-125962D73834}" type="slidenum">
              <a:rPr kumimoji="0" lang="en-US" sz="1200" b="0" i="0" u="none" strike="noStrike" kern="1200" cap="none" spc="0" normalizeH="0" baseline="0" noProof="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61444" name="Rectangle 2"/>
          <p:cNvSpPr>
            <a:spLocks noGrp="1" noRot="1" noChangeAspect="1" noChangeArrowheads="1" noTextEdit="1"/>
          </p:cNvSpPr>
          <p:nvPr>
            <p:ph type="sldImg"/>
          </p:nvPr>
        </p:nvSpPr>
        <p:spPr>
          <a:xfrm>
            <a:off x="381000" y="534988"/>
            <a:ext cx="6096000" cy="3429000"/>
          </a:xfrm>
          <a:ln/>
        </p:spPr>
      </p:sp>
      <p:sp>
        <p:nvSpPr>
          <p:cNvPr id="61445" name="Rectangle 3"/>
          <p:cNvSpPr>
            <a:spLocks noGrp="1" noChangeArrowheads="1"/>
          </p:cNvSpPr>
          <p:nvPr>
            <p:ph type="body" idx="1"/>
          </p:nvPr>
        </p:nvSpPr>
        <p:spPr>
          <a:xfrm>
            <a:off x="685800" y="4248150"/>
            <a:ext cx="5486400" cy="4210050"/>
          </a:xfrm>
          <a:noFill/>
          <a:ln/>
        </p:spPr>
        <p:txBody>
          <a:bodyPr/>
          <a:lstStyle/>
          <a:p>
            <a:pPr eaLnBrk="1" hangingPunct="1"/>
            <a:endParaRPr lang="en-US" dirty="0" smtClean="0"/>
          </a:p>
        </p:txBody>
      </p:sp>
    </p:spTree>
    <p:extLst>
      <p:ext uri="{BB962C8B-B14F-4D97-AF65-F5344CB8AC3E}">
        <p14:creationId xmlns:p14="http://schemas.microsoft.com/office/powerpoint/2010/main" val="1942249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659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decision rule for whether to exit says: If the cost of exiting is greater than the benefit, the firm should exit.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Similarly, a prospective entrant compares the benefits of entering the market (TR) with the costs (TC), and enters if the benefits exceed the costs.  </a:t>
            </a:r>
          </a:p>
          <a:p>
            <a:pPr eaLnBrk="1" hangingPunct="1"/>
            <a:endParaRPr lang="en-US" dirty="0" smtClean="0"/>
          </a:p>
          <a:p>
            <a:pPr eaLnBrk="1" hangingPunct="1"/>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442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6FCC65-1045-4ED9-BC3B-DAA2AE86BA9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
        <p:nvSpPr>
          <p:cNvPr id="6553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BAFDA1D7-C236-4938-B578-C185BBF64AAD}" type="slidenum">
              <a:rPr kumimoji="0" lang="en-US" sz="1200" b="0" i="0" u="none" strike="noStrike" kern="1200" cap="none" spc="0" normalizeH="0" baseline="0" noProof="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65540" name="Rectangle 2"/>
          <p:cNvSpPr>
            <a:spLocks noGrp="1" noRot="1" noChangeAspect="1" noChangeArrowheads="1" noTextEdit="1"/>
          </p:cNvSpPr>
          <p:nvPr>
            <p:ph type="sldImg"/>
          </p:nvPr>
        </p:nvSpPr>
        <p:spPr>
          <a:xfrm>
            <a:off x="381000" y="534988"/>
            <a:ext cx="6096000" cy="3429000"/>
          </a:xfrm>
          <a:ln/>
        </p:spPr>
      </p:sp>
      <p:sp>
        <p:nvSpPr>
          <p:cNvPr id="65541" name="Rectangle 3"/>
          <p:cNvSpPr>
            <a:spLocks noGrp="1" noChangeArrowheads="1"/>
          </p:cNvSpPr>
          <p:nvPr>
            <p:ph type="body" idx="1"/>
          </p:nvPr>
        </p:nvSpPr>
        <p:spPr>
          <a:xfrm>
            <a:off x="685800" y="4248150"/>
            <a:ext cx="5486400" cy="4210050"/>
          </a:xfrm>
          <a:noFill/>
          <a:ln/>
        </p:spPr>
        <p:txBody>
          <a:bodyPr/>
          <a:lstStyle/>
          <a:p>
            <a:pPr eaLnBrk="1" hangingPunct="1"/>
            <a:endParaRPr lang="en-US" smtClean="0"/>
          </a:p>
        </p:txBody>
      </p:sp>
    </p:spTree>
    <p:extLst>
      <p:ext uri="{BB962C8B-B14F-4D97-AF65-F5344CB8AC3E}">
        <p14:creationId xmlns:p14="http://schemas.microsoft.com/office/powerpoint/2010/main" val="997621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A3F6BA-F70D-469C-A304-42B3B2F7B2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pPr eaLnBrk="1" hangingPunct="1"/>
            <a:r>
              <a:rPr lang="en-US" sz="1100" dirty="0" smtClean="0"/>
              <a:t>The height of the rectangle is P – ATC, profit per unit. </a:t>
            </a:r>
          </a:p>
          <a:p>
            <a:pPr eaLnBrk="1" hangingPunct="1"/>
            <a:endParaRPr lang="en-US" sz="1100" dirty="0" smtClean="0"/>
          </a:p>
          <a:p>
            <a:pPr eaLnBrk="1" hangingPunct="1"/>
            <a:r>
              <a:rPr lang="en-US" sz="1100" dirty="0" smtClean="0"/>
              <a:t>The width of the rectangle is Q, the number of units.  </a:t>
            </a:r>
          </a:p>
          <a:p>
            <a:pPr eaLnBrk="1" hangingPunct="1"/>
            <a:endParaRPr lang="en-US" sz="1100" dirty="0" smtClean="0"/>
          </a:p>
          <a:p>
            <a:pPr eaLnBrk="1" hangingPunct="1"/>
            <a:r>
              <a:rPr lang="en-US" sz="1100" dirty="0" smtClean="0"/>
              <a:t>The area of the rectangle </a:t>
            </a:r>
          </a:p>
          <a:p>
            <a:pPr eaLnBrk="1" hangingPunct="1"/>
            <a:r>
              <a:rPr lang="en-US" sz="1100" dirty="0" smtClean="0"/>
              <a:t>   = height x width </a:t>
            </a:r>
          </a:p>
          <a:p>
            <a:pPr eaLnBrk="1" hangingPunct="1"/>
            <a:r>
              <a:rPr lang="en-US" sz="1100" dirty="0" smtClean="0"/>
              <a:t>   = (profit per unit) x (number of units) </a:t>
            </a:r>
          </a:p>
          <a:p>
            <a:pPr eaLnBrk="1" hangingPunct="1"/>
            <a:r>
              <a:rPr lang="en-US" sz="1100" dirty="0" smtClean="0"/>
              <a:t>   = total profit.</a:t>
            </a:r>
          </a:p>
          <a:p>
            <a:endParaRPr lang="en-US" sz="1100" b="0" i="0" dirty="0" smtClean="0"/>
          </a:p>
        </p:txBody>
      </p:sp>
      <p:sp>
        <p:nvSpPr>
          <p:cNvPr id="7" name="Slide Image Placeholder 6"/>
          <p:cNvSpPr>
            <a:spLocks noGrp="1" noRot="1" noChangeAspect="1"/>
          </p:cNvSpPr>
          <p:nvPr>
            <p:ph type="sldImg"/>
          </p:nvPr>
        </p:nvSpPr>
        <p:spPr>
          <a:xfrm>
            <a:off x="596900" y="609600"/>
            <a:ext cx="5588000" cy="3143250"/>
          </a:xfrm>
        </p:spPr>
      </p:sp>
    </p:spTree>
    <p:extLst>
      <p:ext uri="{BB962C8B-B14F-4D97-AF65-F5344CB8AC3E}">
        <p14:creationId xmlns:p14="http://schemas.microsoft.com/office/powerpoint/2010/main" val="4211417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A3F6BA-F70D-469C-A304-42B3B2F7B2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pPr eaLnBrk="1" hangingPunct="1"/>
            <a:r>
              <a:rPr lang="en-US" sz="1100" dirty="0" smtClean="0"/>
              <a:t>The height of the rectangle is ATC – P, loss per unit. </a:t>
            </a:r>
          </a:p>
          <a:p>
            <a:pPr eaLnBrk="1" hangingPunct="1"/>
            <a:endParaRPr lang="en-US" sz="1100" dirty="0" smtClean="0"/>
          </a:p>
          <a:p>
            <a:pPr eaLnBrk="1" hangingPunct="1"/>
            <a:r>
              <a:rPr lang="en-US" sz="1100" dirty="0" smtClean="0"/>
              <a:t>The width of the rectangle is Q, the number of units.  </a:t>
            </a:r>
          </a:p>
          <a:p>
            <a:pPr eaLnBrk="1" hangingPunct="1"/>
            <a:endParaRPr lang="en-US" sz="1100" dirty="0" smtClean="0"/>
          </a:p>
          <a:p>
            <a:pPr eaLnBrk="1" hangingPunct="1"/>
            <a:r>
              <a:rPr lang="en-US" sz="1100" dirty="0" smtClean="0"/>
              <a:t>The area of the rectangle </a:t>
            </a:r>
          </a:p>
          <a:p>
            <a:pPr eaLnBrk="1" hangingPunct="1"/>
            <a:r>
              <a:rPr lang="en-US" sz="1100" dirty="0" smtClean="0"/>
              <a:t>   = height x width </a:t>
            </a:r>
          </a:p>
          <a:p>
            <a:pPr eaLnBrk="1" hangingPunct="1"/>
            <a:r>
              <a:rPr lang="en-US" sz="1100" dirty="0" smtClean="0"/>
              <a:t>   = (loss per unit) x (number of units) </a:t>
            </a:r>
          </a:p>
          <a:p>
            <a:pPr eaLnBrk="1" hangingPunct="1"/>
            <a:r>
              <a:rPr lang="en-US" sz="1100" dirty="0" smtClean="0"/>
              <a:t>   = total loss.</a:t>
            </a:r>
          </a:p>
          <a:p>
            <a:endParaRPr lang="en-US" sz="1100" b="0" i="0" dirty="0" smtClean="0"/>
          </a:p>
        </p:txBody>
      </p:sp>
      <p:sp>
        <p:nvSpPr>
          <p:cNvPr id="7" name="Slide Image Placeholder 6"/>
          <p:cNvSpPr>
            <a:spLocks noGrp="1" noRot="1" noChangeAspect="1"/>
          </p:cNvSpPr>
          <p:nvPr>
            <p:ph type="sldImg"/>
          </p:nvPr>
        </p:nvSpPr>
        <p:spPr>
          <a:xfrm>
            <a:off x="596900" y="609600"/>
            <a:ext cx="5588000" cy="3143250"/>
          </a:xfrm>
        </p:spPr>
      </p:sp>
    </p:spTree>
    <p:extLst>
      <p:ext uri="{BB962C8B-B14F-4D97-AF65-F5344CB8AC3E}">
        <p14:creationId xmlns:p14="http://schemas.microsoft.com/office/powerpoint/2010/main" val="34279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In the real world, there are many markets in which assumptions (1) and (2) do not hold.  We make them here for simplicity.  Later in the chapter, we will see how our results change if we drop either of these assumptions.  </a:t>
            </a:r>
          </a:p>
          <a:p>
            <a:pPr eaLnBrk="1" hangingPunct="1"/>
            <a:endParaRPr lang="en-US" dirty="0" smtClean="0"/>
          </a:p>
          <a:p>
            <a:pPr eaLnBrk="1" hangingPunct="1"/>
            <a:r>
              <a:rPr lang="en-US" dirty="0" smtClean="0"/>
              <a:t>Assumption (3) is more reasonable:  In the real world, it is much easier for firms to enter or exit in the long run than in the short run.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77356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09161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891575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Students often wonder why firms bother to stay in business if they make zero profit.  The textbook gives a nice discussion of this, briefly summarized on this slide.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7954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D5289-72AD-459C-AB47-BBAF455DCD1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
        <p:nvSpPr>
          <p:cNvPr id="7680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63800A6F-7FAF-4517-AC1F-87E8157353D2}" type="slidenum">
              <a:rPr kumimoji="0" lang="en-US" sz="1200" b="0" i="0" u="none" strike="noStrike" kern="1200" cap="none" spc="0" normalizeH="0" baseline="0" noProof="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76804" name="Rectangle 2"/>
          <p:cNvSpPr>
            <a:spLocks noGrp="1" noRot="1" noChangeAspect="1" noChangeArrowheads="1" noTextEdit="1"/>
          </p:cNvSpPr>
          <p:nvPr>
            <p:ph type="sldImg"/>
          </p:nvPr>
        </p:nvSpPr>
        <p:spPr>
          <a:xfrm>
            <a:off x="381000" y="534988"/>
            <a:ext cx="6096000" cy="3429000"/>
          </a:xfrm>
          <a:ln/>
        </p:spPr>
      </p:sp>
      <p:sp>
        <p:nvSpPr>
          <p:cNvPr id="76805" name="Rectangle 3"/>
          <p:cNvSpPr>
            <a:spLocks noGrp="1" noChangeArrowheads="1"/>
          </p:cNvSpPr>
          <p:nvPr>
            <p:ph type="body" idx="1"/>
          </p:nvPr>
        </p:nvSpPr>
        <p:spPr>
          <a:xfrm>
            <a:off x="685800" y="4248150"/>
            <a:ext cx="5486400" cy="4210050"/>
          </a:xfrm>
          <a:noFill/>
          <a:ln/>
        </p:spPr>
        <p:txBody>
          <a:bodyPr/>
          <a:lstStyle/>
          <a:p>
            <a:pPr eaLnBrk="1" hangingPunct="1"/>
            <a:r>
              <a:rPr lang="en-US" smtClean="0"/>
              <a:t>That the LR market supply curve is horizontal at P = min ATC will become more clear shortly, when students see the SR and LR effects of an increase in demand. </a:t>
            </a:r>
          </a:p>
        </p:txBody>
      </p:sp>
    </p:spTree>
    <p:extLst>
      <p:ext uri="{BB962C8B-B14F-4D97-AF65-F5344CB8AC3E}">
        <p14:creationId xmlns:p14="http://schemas.microsoft.com/office/powerpoint/2010/main" val="1642365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Here are two of the assumptions we made previously, when we began the process of deriving the LR market supply curve.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181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Another example:  There’s a limited amount of beachfront property.  An expansion of the beach resort industry will bid up the price of such property, and raises costs in the industry.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88928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Recall from Chapter 7:  a competitive market equilibrium is efficient.  This chapter has shown why:  P = MR under perfect competition, so P = MC in the competitive market equilibrium.  </a:t>
            </a:r>
          </a:p>
          <a:p>
            <a:pPr eaLnBrk="1" hangingPunct="1"/>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next chapter, monopoly:  pricing and production decisions, deadweight loss, regulation.</a:t>
            </a:r>
          </a:p>
          <a:p>
            <a:pPr eaLnBrk="1" hangingPunct="1"/>
            <a:endParaRPr lang="en-US" dirty="0" smtClean="0"/>
          </a:p>
          <a:p>
            <a:pPr eaLnBrk="1" hangingPunct="1"/>
            <a:r>
              <a:rPr lang="en-US" dirty="0" smtClean="0"/>
              <a:t>Reviewing these concepts now sets the stage for the next few chapters, where firms with market power set their price above marginal cost, leading to market inefficiencies and a potential role for government intervention.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0275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6160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01795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1" y="100940"/>
            <a:ext cx="11582400" cy="860961"/>
          </a:xfrm>
        </p:spPr>
        <p:txBody>
          <a:bodyPr/>
          <a:lstStyle>
            <a:lvl1pPr>
              <a:defRPr sz="36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80139199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93380" y="100940"/>
            <a:ext cx="10405241" cy="661061"/>
          </a:xfrm>
        </p:spPr>
        <p:txBody>
          <a:bodyPr/>
          <a:lstStyle>
            <a:lvl1pPr>
              <a:defRPr sz="32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62989" y="914401"/>
            <a:ext cx="11358596"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30514939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064796246"/>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370418" y="1025525"/>
            <a:ext cx="8875183" cy="5422900"/>
          </a:xfrm>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Text Placeholder 6"/>
          <p:cNvSpPr>
            <a:spLocks noGrp="1"/>
          </p:cNvSpPr>
          <p:nvPr>
            <p:ph type="body" sz="quarter" idx="12"/>
          </p:nvPr>
        </p:nvSpPr>
        <p:spPr>
          <a:xfrm>
            <a:off x="9347200" y="4191000"/>
            <a:ext cx="28448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smtClean="0"/>
              <a:t>Click to edit Master text styles</a:t>
            </a:r>
          </a:p>
          <a:p>
            <a:pPr lvl="0"/>
            <a:r>
              <a:rPr lang="en-US" dirty="0" smtClean="0"/>
              <a:t>Picture comment </a:t>
            </a:r>
            <a:endParaRPr lang="en-US" dirty="0"/>
          </a:p>
        </p:txBody>
      </p:sp>
    </p:spTree>
    <p:extLst>
      <p:ext uri="{BB962C8B-B14F-4D97-AF65-F5344CB8AC3E}">
        <p14:creationId xmlns:p14="http://schemas.microsoft.com/office/powerpoint/2010/main" val="1514191455"/>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93380" y="100940"/>
            <a:ext cx="10405241" cy="661061"/>
          </a:xfrm>
        </p:spPr>
        <p:txBody>
          <a:bodyPr/>
          <a:lstStyle>
            <a:lvl1pPr>
              <a:defRPr sz="32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62989" y="914401"/>
            <a:ext cx="11358596"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252754300"/>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970182441"/>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370418" y="1025525"/>
            <a:ext cx="8875183" cy="5422900"/>
          </a:xfrm>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Text Placeholder 6"/>
          <p:cNvSpPr>
            <a:spLocks noGrp="1"/>
          </p:cNvSpPr>
          <p:nvPr>
            <p:ph type="body" sz="quarter" idx="12"/>
          </p:nvPr>
        </p:nvSpPr>
        <p:spPr>
          <a:xfrm>
            <a:off x="9347200" y="4191000"/>
            <a:ext cx="28448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smtClean="0"/>
              <a:t>Click to edit Master text styles</a:t>
            </a:r>
          </a:p>
          <a:p>
            <a:pPr lvl="0"/>
            <a:r>
              <a:rPr lang="en-US" dirty="0" smtClean="0"/>
              <a:t>Picture comment </a:t>
            </a:r>
            <a:endParaRPr lang="en-US" dirty="0"/>
          </a:p>
        </p:txBody>
      </p:sp>
    </p:spTree>
    <p:extLst>
      <p:ext uri="{BB962C8B-B14F-4D97-AF65-F5344CB8AC3E}">
        <p14:creationId xmlns:p14="http://schemas.microsoft.com/office/powerpoint/2010/main" val="4033044032"/>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7247467" y="901700"/>
            <a:ext cx="4487333"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defTabSz="914400">
              <a:defRPr/>
            </a:pPr>
            <a:fld id="{2F37425F-5E17-4209-B948-B5CE2119E408}" type="slidenum">
              <a:rPr lang="en-US" smtClean="0"/>
              <a:pPr defTabSz="914400">
                <a:defRPr/>
              </a:pPr>
              <a:t>‹#›</a:t>
            </a:fld>
            <a:endParaRPr lang="en-US" dirty="0"/>
          </a:p>
        </p:txBody>
      </p:sp>
      <p:sp>
        <p:nvSpPr>
          <p:cNvPr id="5" name="Footer Placeholder 4"/>
          <p:cNvSpPr>
            <a:spLocks noGrp="1"/>
          </p:cNvSpPr>
          <p:nvPr>
            <p:ph type="ftr" sz="quarter" idx="14"/>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465055519"/>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93380" y="100940"/>
            <a:ext cx="10405241" cy="661061"/>
          </a:xfrm>
        </p:spPr>
        <p:txBody>
          <a:bodyPr/>
          <a:lstStyle>
            <a:lvl1pPr>
              <a:defRPr sz="32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62989" y="914401"/>
            <a:ext cx="11358596"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945743804"/>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517891943"/>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370418" y="1025525"/>
            <a:ext cx="8875183" cy="5422900"/>
          </a:xfrm>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Text Placeholder 6"/>
          <p:cNvSpPr>
            <a:spLocks noGrp="1"/>
          </p:cNvSpPr>
          <p:nvPr>
            <p:ph type="body" sz="quarter" idx="12"/>
          </p:nvPr>
        </p:nvSpPr>
        <p:spPr>
          <a:xfrm>
            <a:off x="9347200" y="4191000"/>
            <a:ext cx="28448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smtClean="0"/>
              <a:t>Click to edit Master text styles</a:t>
            </a:r>
          </a:p>
          <a:p>
            <a:pPr lvl="0"/>
            <a:r>
              <a:rPr lang="en-US" dirty="0" smtClean="0"/>
              <a:t>Picture comment </a:t>
            </a:r>
            <a:endParaRPr lang="en-US" dirty="0"/>
          </a:p>
        </p:txBody>
      </p:sp>
    </p:spTree>
    <p:extLst>
      <p:ext uri="{BB962C8B-B14F-4D97-AF65-F5344CB8AC3E}">
        <p14:creationId xmlns:p14="http://schemas.microsoft.com/office/powerpoint/2010/main" val="3273410337"/>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7247467" y="901700"/>
            <a:ext cx="4487333"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defTabSz="914400">
              <a:defRPr/>
            </a:pPr>
            <a:fld id="{2F37425F-5E17-4209-B948-B5CE2119E408}" type="slidenum">
              <a:rPr lang="en-US" smtClean="0"/>
              <a:pPr defTabSz="914400">
                <a:defRPr/>
              </a:pPr>
              <a:t>‹#›</a:t>
            </a:fld>
            <a:endParaRPr lang="en-US" dirty="0"/>
          </a:p>
        </p:txBody>
      </p:sp>
      <p:sp>
        <p:nvSpPr>
          <p:cNvPr id="5" name="Footer Placeholder 4"/>
          <p:cNvSpPr>
            <a:spLocks noGrp="1"/>
          </p:cNvSpPr>
          <p:nvPr>
            <p:ph type="ftr" sz="quarter" idx="14"/>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836647554"/>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1" y="100940"/>
            <a:ext cx="11582400" cy="860961"/>
          </a:xfrm>
        </p:spPr>
        <p:txBody>
          <a:bodyPr/>
          <a:lstStyle>
            <a:lvl1pPr>
              <a:defRPr sz="36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defTabSz="914400">
              <a:defRPr/>
            </a:pPr>
            <a:fld id="{073C29DC-2178-4274-9150-45F8EBD31C2D}" type="slidenum">
              <a:rPr lang="en-US" smtClean="0"/>
              <a:pPr defTabSz="914400">
                <a:defRPr/>
              </a:pPr>
              <a:t>‹#›</a:t>
            </a:fld>
            <a:endParaRPr lang="en-US"/>
          </a:p>
        </p:txBody>
      </p:sp>
      <p:sp>
        <p:nvSpPr>
          <p:cNvPr id="5" name="Footer Placeholder 4"/>
          <p:cNvSpPr>
            <a:spLocks noGrp="1"/>
          </p:cNvSpPr>
          <p:nvPr>
            <p:ph type="ftr" sz="quarter" idx="11"/>
          </p:nvPr>
        </p:nvSpPr>
        <p:spPr/>
        <p:txBody>
          <a:bodyPr/>
          <a:lstStyle>
            <a:lvl1pPr>
              <a:defRPr/>
            </a:lvl1pPr>
          </a:lstStyle>
          <a:p>
            <a:pPr defTabSz="914400">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8935191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7.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jpe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7.xml"/><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25.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jpe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10.xml"/><Relationship Id="rId1" Type="http://schemas.openxmlformats.org/officeDocument/2006/relationships/slideLayout" Target="../slideLayouts/slideLayout2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29.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10/9/2025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2"/>
            <a:ext cx="12192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344608" y="101600"/>
            <a:ext cx="1146639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078" name="Rectangle 8"/>
          <p:cNvSpPr>
            <a:spLocks noGrp="1" noChangeArrowheads="1"/>
          </p:cNvSpPr>
          <p:nvPr>
            <p:ph type="body" idx="1"/>
          </p:nvPr>
        </p:nvSpPr>
        <p:spPr bwMode="auto">
          <a:xfrm>
            <a:off x="390550" y="1054100"/>
            <a:ext cx="11451167"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11491384" y="6470651"/>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400801"/>
            <a:ext cx="11474451"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793844095"/>
      </p:ext>
    </p:extLst>
  </p:cSld>
  <p:clrMap bg1="lt1" tx1="dk1" bg2="lt2" tx2="dk2" accent1="accent1" accent2="accent2" accent3="accent3" accent4="accent4" accent5="accent5" accent6="accent6" hlink="hlink" folHlink="folHlink"/>
  <p:sldLayoutIdLst>
    <p:sldLayoutId id="2147483666"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590799" y="3378201"/>
            <a:ext cx="5638800" cy="25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01601" y="77789"/>
            <a:ext cx="120904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7898" name="Rectangle 10"/>
          <p:cNvSpPr>
            <a:spLocks noGrp="1" noChangeArrowheads="1"/>
          </p:cNvSpPr>
          <p:nvPr>
            <p:ph type="sldNum" sz="quarter" idx="4"/>
          </p:nvPr>
        </p:nvSpPr>
        <p:spPr bwMode="auto">
          <a:xfrm>
            <a:off x="11491384" y="6470651"/>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324601"/>
            <a:ext cx="11474451"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9194800" y="3378201"/>
            <a:ext cx="5638800" cy="25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1594550"/>
      </p:ext>
    </p:extLst>
  </p:cSld>
  <p:clrMap bg1="lt1" tx1="dk1" bg2="lt2" tx2="dk2" accent1="accent1" accent2="accent2" accent3="accent3" accent4="accent4" accent5="accent5" accent6="accent6" hlink="hlink" folHlink="folHlink"/>
  <p:sldLayoutIdLst>
    <p:sldLayoutId id="2147483668"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 y="0"/>
            <a:ext cx="1840925" cy="1036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09551" y="941388"/>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6248400"/>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765738" y="77788"/>
            <a:ext cx="10426263"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smtClean="0"/>
              <a:t>Name fgchmvb </a:t>
            </a:r>
          </a:p>
        </p:txBody>
      </p:sp>
      <p:sp>
        <p:nvSpPr>
          <p:cNvPr id="3078" name="Rectangle 8"/>
          <p:cNvSpPr>
            <a:spLocks noGrp="1" noChangeArrowheads="1"/>
          </p:cNvSpPr>
          <p:nvPr>
            <p:ph type="body" idx="1"/>
          </p:nvPr>
        </p:nvSpPr>
        <p:spPr bwMode="auto">
          <a:xfrm>
            <a:off x="370418" y="1025525"/>
            <a:ext cx="11451167"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11491384" y="6423026"/>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359858"/>
            <a:ext cx="11474451"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581952394"/>
      </p:ext>
    </p:extLst>
  </p:cSld>
  <p:clrMap bg1="lt1" tx1="dk1" bg2="lt2" tx2="dk2" accent1="accent1" accent2="accent2" accent3="accent3" accent4="accent4" accent5="accent5" accent6="accent6" hlink="hlink" folHlink="folHlink"/>
  <p:sldLayoutIdLst>
    <p:sldLayoutId id="2147483670" r:id="rId1"/>
    <p:sldLayoutId id="2147483671"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590799" y="3378201"/>
            <a:ext cx="5638800" cy="25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01601" y="77789"/>
            <a:ext cx="120904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7898" name="Rectangle 10"/>
          <p:cNvSpPr>
            <a:spLocks noGrp="1" noChangeArrowheads="1"/>
          </p:cNvSpPr>
          <p:nvPr>
            <p:ph type="sldNum" sz="quarter" idx="4"/>
          </p:nvPr>
        </p:nvSpPr>
        <p:spPr bwMode="auto">
          <a:xfrm>
            <a:off x="11491384" y="6470651"/>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324601"/>
            <a:ext cx="11474451"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9194800" y="3378201"/>
            <a:ext cx="5638800" cy="25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5931727"/>
      </p:ext>
    </p:extLst>
  </p:cSld>
  <p:clrMap bg1="lt1" tx1="dk1" bg2="lt2" tx2="dk2" accent1="accent1" accent2="accent2" accent3="accent3" accent4="accent4" accent5="accent5" accent6="accent6" hlink="hlink" folHlink="folHlink"/>
  <p:sldLayoutIdLst>
    <p:sldLayoutId id="2147483673"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 y="0"/>
            <a:ext cx="1840925" cy="1036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09551" y="941388"/>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6248400"/>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765738" y="77788"/>
            <a:ext cx="10426263"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smtClean="0"/>
              <a:t>Name fgchmvb </a:t>
            </a:r>
          </a:p>
        </p:txBody>
      </p:sp>
      <p:sp>
        <p:nvSpPr>
          <p:cNvPr id="3078" name="Rectangle 8"/>
          <p:cNvSpPr>
            <a:spLocks noGrp="1" noChangeArrowheads="1"/>
          </p:cNvSpPr>
          <p:nvPr>
            <p:ph type="body" idx="1"/>
          </p:nvPr>
        </p:nvSpPr>
        <p:spPr bwMode="auto">
          <a:xfrm>
            <a:off x="370418" y="1025525"/>
            <a:ext cx="11451167"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11491384" y="6423026"/>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359858"/>
            <a:ext cx="11474451"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574171555"/>
      </p:ext>
    </p:extLst>
  </p:cSld>
  <p:clrMap bg1="lt1" tx1="dk1" bg2="lt2" tx2="dk2" accent1="accent1" accent2="accent2" accent3="accent3" accent4="accent4" accent5="accent5" accent6="accent6" hlink="hlink" folHlink="folHlink"/>
  <p:sldLayoutIdLst>
    <p:sldLayoutId id="2147483675" r:id="rId1"/>
    <p:sldLayoutId id="2147483676"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12192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79400" y="0"/>
            <a:ext cx="11694584"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Figure 1</a:t>
            </a:r>
          </a:p>
        </p:txBody>
      </p:sp>
      <p:sp>
        <p:nvSpPr>
          <p:cNvPr id="3077" name="Rectangle 3"/>
          <p:cNvSpPr>
            <a:spLocks noGrp="1" noChangeArrowheads="1"/>
          </p:cNvSpPr>
          <p:nvPr>
            <p:ph type="body" idx="1"/>
          </p:nvPr>
        </p:nvSpPr>
        <p:spPr bwMode="auto">
          <a:xfrm>
            <a:off x="552451" y="1600200"/>
            <a:ext cx="4876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p:ph type="sldNum" sz="quarter" idx="4"/>
          </p:nvPr>
        </p:nvSpPr>
        <p:spPr bwMode="auto">
          <a:xfrm>
            <a:off x="11491384" y="6473826"/>
            <a:ext cx="694267"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5E12E99D-42F8-4B90-BC1F-2FD222301686}"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1" y="6400800"/>
            <a:ext cx="11487151"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120719" y="77774"/>
            <a:ext cx="11906157"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2267657332"/>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590799" y="3378201"/>
            <a:ext cx="5638800" cy="25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01601" y="77789"/>
            <a:ext cx="120904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7898" name="Rectangle 10"/>
          <p:cNvSpPr>
            <a:spLocks noGrp="1" noChangeArrowheads="1"/>
          </p:cNvSpPr>
          <p:nvPr>
            <p:ph type="sldNum" sz="quarter" idx="4"/>
          </p:nvPr>
        </p:nvSpPr>
        <p:spPr bwMode="auto">
          <a:xfrm>
            <a:off x="11491384" y="6470651"/>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324601"/>
            <a:ext cx="11474451"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9194800" y="3378201"/>
            <a:ext cx="5638800" cy="25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78786195"/>
      </p:ext>
    </p:extLst>
  </p:cSld>
  <p:clrMap bg1="lt1" tx1="dk1" bg2="lt2" tx2="dk2" accent1="accent1" accent2="accent2" accent3="accent3" accent4="accent4" accent5="accent5" accent6="accent6" hlink="hlink" folHlink="folHlink"/>
  <p:sldLayoutIdLst>
    <p:sldLayoutId id="2147483680"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 y="0"/>
            <a:ext cx="1840925" cy="1036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09551" y="941388"/>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6248400"/>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765738" y="77788"/>
            <a:ext cx="10426263"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smtClean="0"/>
              <a:t>Name fgchmvb </a:t>
            </a:r>
          </a:p>
        </p:txBody>
      </p:sp>
      <p:sp>
        <p:nvSpPr>
          <p:cNvPr id="3078" name="Rectangle 8"/>
          <p:cNvSpPr>
            <a:spLocks noGrp="1" noChangeArrowheads="1"/>
          </p:cNvSpPr>
          <p:nvPr>
            <p:ph type="body" idx="1"/>
          </p:nvPr>
        </p:nvSpPr>
        <p:spPr bwMode="auto">
          <a:xfrm>
            <a:off x="370418" y="1025525"/>
            <a:ext cx="11451167"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11491384" y="6423026"/>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359858"/>
            <a:ext cx="11474451"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51459573"/>
      </p:ext>
    </p:extLst>
  </p:cSld>
  <p:clrMap bg1="lt1" tx1="dk1" bg2="lt2" tx2="dk2" accent1="accent1" accent2="accent2" accent3="accent3" accent4="accent4" accent5="accent5" accent6="accent6" hlink="hlink" folHlink="folHlink"/>
  <p:sldLayoutIdLst>
    <p:sldLayoutId id="2147483682" r:id="rId1"/>
    <p:sldLayoutId id="2147483683"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12192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79400" y="0"/>
            <a:ext cx="11694584"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Figure 1</a:t>
            </a:r>
          </a:p>
        </p:txBody>
      </p:sp>
      <p:sp>
        <p:nvSpPr>
          <p:cNvPr id="3077" name="Rectangle 3"/>
          <p:cNvSpPr>
            <a:spLocks noGrp="1" noChangeArrowheads="1"/>
          </p:cNvSpPr>
          <p:nvPr>
            <p:ph type="body" idx="1"/>
          </p:nvPr>
        </p:nvSpPr>
        <p:spPr bwMode="auto">
          <a:xfrm>
            <a:off x="552451" y="1600200"/>
            <a:ext cx="4876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p:ph type="sldNum" sz="quarter" idx="4"/>
          </p:nvPr>
        </p:nvSpPr>
        <p:spPr bwMode="auto">
          <a:xfrm>
            <a:off x="11491384" y="6473826"/>
            <a:ext cx="694267"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5E12E99D-42F8-4B90-BC1F-2FD222301686}"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1" y="6400800"/>
            <a:ext cx="11487151"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120719" y="77774"/>
            <a:ext cx="11906157"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2248150521"/>
      </p:ext>
    </p:extLst>
  </p:cSld>
  <p:clrMap bg1="lt1" tx1="dk1" bg2="lt2" tx2="dk2" accent1="accent1" accent2="accent2" accent3="accent3" accent4="accent4" accent5="accent5" accent6="accent6" hlink="hlink" folHlink="folHlink"/>
  <p:sldLayoutIdLst>
    <p:sldLayoutId id="2147483685"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2"/>
            <a:ext cx="12192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344608" y="101600"/>
            <a:ext cx="1146639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078" name="Rectangle 8"/>
          <p:cNvSpPr>
            <a:spLocks noGrp="1" noChangeArrowheads="1"/>
          </p:cNvSpPr>
          <p:nvPr>
            <p:ph type="body" idx="1"/>
          </p:nvPr>
        </p:nvSpPr>
        <p:spPr bwMode="auto">
          <a:xfrm>
            <a:off x="390550" y="1054100"/>
            <a:ext cx="11451167"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11491384" y="6470651"/>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defTabSz="914400" fontAlgn="base">
              <a:spcAft>
                <a:spcPct val="0"/>
              </a:spcAft>
              <a:defRPr/>
            </a:pPr>
            <a:fld id="{2378B25E-053D-4AA2-A71D-1D9F2F8C0927}" type="slidenum">
              <a:rPr lang="en-US" smtClean="0"/>
              <a:pPr defTabSz="914400" fontAlgn="base">
                <a:spcAft>
                  <a:spcPct val="0"/>
                </a:spcAft>
                <a:defRPr/>
              </a:pPr>
              <a:t>‹#›</a:t>
            </a:fld>
            <a:endParaRPr lang="en-US" dirty="0"/>
          </a:p>
        </p:txBody>
      </p:sp>
      <p:sp>
        <p:nvSpPr>
          <p:cNvPr id="5" name="Footer Placeholder 4"/>
          <p:cNvSpPr>
            <a:spLocks noGrp="1"/>
          </p:cNvSpPr>
          <p:nvPr>
            <p:ph type="ftr" sz="quarter" idx="3"/>
          </p:nvPr>
        </p:nvSpPr>
        <p:spPr>
          <a:xfrm>
            <a:off x="0" y="6400801"/>
            <a:ext cx="11474451"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defTabSz="914400"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368104877"/>
      </p:ext>
    </p:extLst>
  </p:cSld>
  <p:clrMap bg1="lt1" tx1="dk1" bg2="lt2" tx2="dk2" accent1="accent1" accent2="accent2" accent3="accent3" accent4="accent4" accent5="accent5" accent6="accent6" hlink="hlink" folHlink="folHlink"/>
  <p:sldLayoutIdLst>
    <p:sldLayoutId id="2147483687"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1012372"/>
            <a:ext cx="8915399" cy="2262781"/>
          </a:xfrm>
        </p:spPr>
        <p:txBody>
          <a:bodyPr/>
          <a:lstStyle/>
          <a:p>
            <a:pPr algn="ctr"/>
            <a:r>
              <a:rPr lang="en-US" b="1" dirty="0"/>
              <a:t>Firms in Competitive</a:t>
            </a:r>
            <a:br>
              <a:rPr lang="en-US" b="1" dirty="0"/>
            </a:br>
            <a:r>
              <a:rPr lang="en-US" b="1" dirty="0"/>
              <a:t>Markets</a:t>
            </a:r>
          </a:p>
        </p:txBody>
      </p:sp>
      <p:sp>
        <p:nvSpPr>
          <p:cNvPr id="3" name="Subtitle 2"/>
          <p:cNvSpPr>
            <a:spLocks noGrp="1"/>
          </p:cNvSpPr>
          <p:nvPr>
            <p:ph type="subTitle" idx="1"/>
          </p:nvPr>
        </p:nvSpPr>
        <p:spPr>
          <a:xfrm>
            <a:off x="2589212" y="3549470"/>
            <a:ext cx="8915399" cy="2145936"/>
          </a:xfrm>
        </p:spPr>
        <p:txBody>
          <a:bodyPr/>
          <a:lstStyle/>
          <a:p>
            <a:r>
              <a:rPr lang="en-US" b="1" dirty="0" smtClean="0"/>
              <a:t>United Int. University</a:t>
            </a:r>
          </a:p>
          <a:p>
            <a:r>
              <a:rPr lang="en-US" b="1" dirty="0" smtClean="0"/>
              <a:t>Microeconomics</a:t>
            </a:r>
          </a:p>
          <a:p>
            <a:r>
              <a:rPr lang="en-US" b="1" dirty="0" smtClean="0"/>
              <a:t>Chap-14</a:t>
            </a:r>
          </a:p>
          <a:p>
            <a:r>
              <a:rPr lang="en-US" b="1" smtClean="0"/>
              <a:t>Faculty:</a:t>
            </a:r>
            <a:endParaRPr lang="en-US" b="1" dirty="0"/>
          </a:p>
        </p:txBody>
      </p:sp>
    </p:spTree>
    <p:extLst>
      <p:ext uri="{BB962C8B-B14F-4D97-AF65-F5344CB8AC3E}">
        <p14:creationId xmlns:p14="http://schemas.microsoft.com/office/powerpoint/2010/main" val="16107789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t"/>
          <a:lstStyle/>
          <a:p>
            <a:r>
              <a:rPr lang="en-US" altLang="en-US" dirty="0" smtClean="0"/>
              <a:t>What is a Competitive Market?</a:t>
            </a:r>
          </a:p>
        </p:txBody>
      </p:sp>
      <p:sp>
        <p:nvSpPr>
          <p:cNvPr id="10243" name="Content Placeholder 2"/>
          <p:cNvSpPr>
            <a:spLocks noGrp="1"/>
          </p:cNvSpPr>
          <p:nvPr>
            <p:ph idx="1"/>
          </p:nvPr>
        </p:nvSpPr>
        <p:spPr/>
        <p:txBody>
          <a:bodyPr/>
          <a:lstStyle/>
          <a:p>
            <a:pPr marL="0" indent="0">
              <a:buNone/>
            </a:pPr>
            <a:r>
              <a:rPr lang="en-US" altLang="en-US" dirty="0" smtClean="0">
                <a:solidFill>
                  <a:srgbClr val="C00000"/>
                </a:solidFill>
              </a:rPr>
              <a:t>Perfectly competitive market:</a:t>
            </a:r>
          </a:p>
          <a:p>
            <a:r>
              <a:rPr lang="en-US" dirty="0"/>
              <a:t>a market with </a:t>
            </a:r>
            <a:r>
              <a:rPr lang="en-US" dirty="0" smtClean="0"/>
              <a:t>many buyers </a:t>
            </a:r>
            <a:r>
              <a:rPr lang="en-US" dirty="0"/>
              <a:t>and sellers </a:t>
            </a:r>
            <a:r>
              <a:rPr lang="en-US" dirty="0" smtClean="0"/>
              <a:t>trading identical </a:t>
            </a:r>
            <a:r>
              <a:rPr lang="en-US" dirty="0"/>
              <a:t>products so </a:t>
            </a:r>
            <a:r>
              <a:rPr lang="en-US" dirty="0" smtClean="0"/>
              <a:t>that each </a:t>
            </a:r>
            <a:r>
              <a:rPr lang="en-US" dirty="0"/>
              <a:t>buyer and seller is </a:t>
            </a:r>
            <a:r>
              <a:rPr lang="en-US" dirty="0" smtClean="0"/>
              <a:t>a price </a:t>
            </a:r>
            <a:r>
              <a:rPr lang="en-US" dirty="0"/>
              <a:t>taker</a:t>
            </a:r>
            <a:endParaRPr lang="en-US" altLang="en-US" dirty="0" smtClean="0">
              <a:solidFill>
                <a:srgbClr val="C00000"/>
              </a:solidFill>
            </a:endParaRPr>
          </a:p>
          <a:p>
            <a:pPr marL="571500" indent="-514350">
              <a:buFont typeface="+mj-lt"/>
              <a:buAutoNum type="arabicPeriod"/>
            </a:pPr>
            <a:r>
              <a:rPr lang="en-US" altLang="en-US" dirty="0" smtClean="0"/>
              <a:t>Market with many buyers and sellers</a:t>
            </a:r>
          </a:p>
          <a:p>
            <a:pPr marL="571500" indent="-514350">
              <a:buFont typeface="+mj-lt"/>
              <a:buAutoNum type="arabicPeriod"/>
            </a:pPr>
            <a:r>
              <a:rPr lang="en-US" altLang="en-US" dirty="0" smtClean="0"/>
              <a:t>Trading identical products</a:t>
            </a:r>
          </a:p>
          <a:p>
            <a:pPr lvl="1"/>
            <a:r>
              <a:rPr lang="en-US" altLang="en-US" dirty="0" smtClean="0"/>
              <a:t>each buyer and seller is a price taker (takes the price as given)</a:t>
            </a:r>
          </a:p>
          <a:p>
            <a:pPr marL="571500" indent="-514350">
              <a:buFont typeface="+mj-lt"/>
              <a:buAutoNum type="arabicPeriod"/>
            </a:pPr>
            <a:r>
              <a:rPr lang="en-US" altLang="en-US" dirty="0" smtClean="0"/>
              <a:t>Firms can freely enter or exit the market</a:t>
            </a:r>
          </a:p>
          <a:p>
            <a:pPr lvl="1"/>
            <a:endParaRPr lang="en-US" altLang="en-US" dirty="0" smtClean="0"/>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CA564438-DAC8-4C7F-9B5C-099CF36D0AEA}" type="slidenum">
              <a:rPr lang="en-US" altLang="en-US" sz="1200">
                <a:solidFill>
                  <a:srgbClr val="002060"/>
                </a:solidFill>
              </a:rPr>
              <a:pPr defTabSz="914400" eaLnBrk="1" hangingPunct="1"/>
              <a:t>2</a:t>
            </a:fld>
            <a:endParaRPr lang="en-US" altLang="en-US" sz="1200">
              <a:solidFill>
                <a:srgbClr val="002060"/>
              </a:solidFill>
            </a:endParaRPr>
          </a:p>
        </p:txBody>
      </p:sp>
      <p:sp>
        <p:nvSpPr>
          <p:cNvPr id="102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913225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wrap="square" anchor="t"/>
          <a:lstStyle/>
          <a:p>
            <a:r>
              <a:rPr lang="en-US" altLang="en-US" dirty="0" smtClean="0"/>
              <a:t>Revenue </a:t>
            </a:r>
            <a:r>
              <a:rPr lang="en-US" altLang="en-US" dirty="0"/>
              <a:t>of a Competitive Firm</a:t>
            </a:r>
            <a:endParaRPr lang="en-US" altLang="en-US" dirty="0" smtClean="0"/>
          </a:p>
        </p:txBody>
      </p:sp>
      <p:sp>
        <p:nvSpPr>
          <p:cNvPr id="11267" name="Content Placeholder 2"/>
          <p:cNvSpPr>
            <a:spLocks noGrp="1"/>
          </p:cNvSpPr>
          <p:nvPr>
            <p:ph idx="1"/>
          </p:nvPr>
        </p:nvSpPr>
        <p:spPr/>
        <p:txBody>
          <a:bodyPr/>
          <a:lstStyle/>
          <a:p>
            <a:r>
              <a:rPr lang="en-US" altLang="en-US" dirty="0" smtClean="0"/>
              <a:t>Total revenue, TR = P </a:t>
            </a:r>
            <a:r>
              <a:rPr lang="en-US" altLang="en-US" dirty="0" smtClean="0">
                <a:cs typeface="Arial" charset="0"/>
              </a:rPr>
              <a:t>ˣ </a:t>
            </a:r>
            <a:r>
              <a:rPr lang="en-US" altLang="en-US" dirty="0" smtClean="0"/>
              <a:t>Q</a:t>
            </a:r>
          </a:p>
          <a:p>
            <a:r>
              <a:rPr lang="en-US" altLang="en-US" dirty="0"/>
              <a:t>Average revenue, AR = TR / Q</a:t>
            </a:r>
          </a:p>
          <a:p>
            <a:r>
              <a:rPr lang="en-US" altLang="en-US" dirty="0" smtClean="0"/>
              <a:t>Marginal </a:t>
            </a:r>
            <a:r>
              <a:rPr lang="en-US" altLang="en-US" dirty="0"/>
              <a:t>revenue, MR = ∆TR / ∆Q</a:t>
            </a:r>
          </a:p>
          <a:p>
            <a:pPr lvl="1"/>
            <a:r>
              <a:rPr lang="en-US" altLang="en-US" dirty="0"/>
              <a:t>Change in </a:t>
            </a:r>
            <a:r>
              <a:rPr lang="en-US" altLang="en-US" dirty="0" smtClean="0"/>
              <a:t>TR </a:t>
            </a:r>
            <a:r>
              <a:rPr lang="en-US" altLang="en-US" dirty="0"/>
              <a:t>from an additional unit sold</a:t>
            </a:r>
          </a:p>
          <a:p>
            <a:r>
              <a:rPr lang="en-US" altLang="en-US" dirty="0"/>
              <a:t>For competitive firms</a:t>
            </a:r>
          </a:p>
          <a:p>
            <a:pPr lvl="1"/>
            <a:r>
              <a:rPr lang="en-US" altLang="en-US" dirty="0"/>
              <a:t>AR = P</a:t>
            </a:r>
          </a:p>
          <a:p>
            <a:pPr lvl="1"/>
            <a:r>
              <a:rPr lang="en-US" altLang="en-US" dirty="0"/>
              <a:t>MR = P</a:t>
            </a:r>
          </a:p>
          <a:p>
            <a:endParaRPr lang="en-US" altLang="en-US" dirty="0" smtClean="0"/>
          </a:p>
        </p:txBody>
      </p:sp>
      <p:sp>
        <p:nvSpPr>
          <p:cNvPr id="112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E8514C36-F789-42EA-A465-21F80A17B2A4}" type="slidenum">
              <a:rPr lang="en-US" altLang="en-US" sz="1200">
                <a:solidFill>
                  <a:srgbClr val="002060"/>
                </a:solidFill>
              </a:rPr>
              <a:pPr defTabSz="914400" eaLnBrk="1" hangingPunct="1"/>
              <a:t>3</a:t>
            </a:fld>
            <a:endParaRPr lang="en-US" altLang="en-US" sz="1200">
              <a:solidFill>
                <a:srgbClr val="002060"/>
              </a:solidFill>
            </a:endParaRPr>
          </a:p>
        </p:txBody>
      </p:sp>
      <p:sp>
        <p:nvSpPr>
          <p:cNvPr id="112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42779637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00940"/>
            <a:ext cx="8839200" cy="661061"/>
          </a:xfrm>
        </p:spPr>
        <p:txBody>
          <a:bodyPr/>
          <a:lstStyle/>
          <a:p>
            <a:r>
              <a:rPr lang="en-US" dirty="0">
                <a:solidFill>
                  <a:schemeClr val="accent6">
                    <a:lumMod val="50000"/>
                  </a:schemeClr>
                </a:solidFill>
              </a:rPr>
              <a:t>Active Learning </a:t>
            </a:r>
            <a:r>
              <a:rPr lang="en-US" dirty="0" smtClean="0">
                <a:solidFill>
                  <a:schemeClr val="accent6">
                    <a:lumMod val="50000"/>
                  </a:schemeClr>
                </a:solidFill>
              </a:rPr>
              <a:t>1</a:t>
            </a:r>
            <a:r>
              <a:rPr lang="en-US" dirty="0">
                <a:solidFill>
                  <a:schemeClr val="accent6">
                    <a:lumMod val="50000"/>
                  </a:schemeClr>
                </a:solidFill>
              </a:rPr>
              <a:t>	</a:t>
            </a:r>
            <a:r>
              <a:rPr lang="en-US" dirty="0" smtClean="0">
                <a:solidFill>
                  <a:schemeClr val="accent6">
                    <a:lumMod val="50000"/>
                  </a:schemeClr>
                </a:solidFill>
              </a:rPr>
              <a:t>	</a:t>
            </a:r>
            <a:r>
              <a:rPr lang="en-US" dirty="0">
                <a:solidFill>
                  <a:schemeClr val="accent6">
                    <a:lumMod val="50000"/>
                  </a:schemeClr>
                </a:solidFill>
              </a:rPr>
              <a:t>	</a:t>
            </a:r>
            <a:r>
              <a:rPr lang="en-US" dirty="0" smtClean="0">
                <a:solidFill>
                  <a:srgbClr val="AE1221"/>
                </a:solidFill>
              </a:rPr>
              <a:t>Answers</a:t>
            </a:r>
            <a:endParaRPr lang="en-US" dirty="0"/>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4</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55" name="Rectangle 28"/>
          <p:cNvSpPr>
            <a:spLocks noChangeArrowheads="1"/>
          </p:cNvSpPr>
          <p:nvPr/>
        </p:nvSpPr>
        <p:spPr bwMode="auto">
          <a:xfrm>
            <a:off x="7977188" y="2216151"/>
            <a:ext cx="1839913"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endParaRPr lang="en-US" sz="2400">
              <a:solidFill>
                <a:srgbClr val="000000"/>
              </a:solidFill>
              <a:latin typeface="Arial"/>
              <a:cs typeface="Arial"/>
            </a:endParaRPr>
          </a:p>
        </p:txBody>
      </p:sp>
      <p:sp>
        <p:nvSpPr>
          <p:cNvPr id="56" name="Rectangle 2"/>
          <p:cNvSpPr>
            <a:spLocks noChangeArrowheads="1"/>
          </p:cNvSpPr>
          <p:nvPr/>
        </p:nvSpPr>
        <p:spPr bwMode="auto">
          <a:xfrm>
            <a:off x="2519363" y="1228726"/>
            <a:ext cx="7280275" cy="4808537"/>
          </a:xfrm>
          <a:prstGeom prst="rect">
            <a:avLst/>
          </a:prstGeom>
          <a:solidFill>
            <a:schemeClr val="bg1"/>
          </a:solidFill>
          <a:ln w="9525">
            <a:solidFill>
              <a:schemeClr val="tx1"/>
            </a:solidFill>
            <a:miter lim="800000"/>
            <a:headEnd/>
            <a:tailEnd/>
          </a:ln>
        </p:spPr>
        <p:txBody>
          <a:bodyPr wrap="none" anchor="ctr"/>
          <a:lstStyle/>
          <a:p>
            <a:pPr defTabSz="914400"/>
            <a:endParaRPr lang="en-US">
              <a:solidFill>
                <a:srgbClr val="000000"/>
              </a:solidFill>
              <a:latin typeface="Arial"/>
              <a:cs typeface="Arial"/>
            </a:endParaRPr>
          </a:p>
        </p:txBody>
      </p:sp>
      <p:sp>
        <p:nvSpPr>
          <p:cNvPr id="57" name="Rectangle 9"/>
          <p:cNvSpPr>
            <a:spLocks noChangeArrowheads="1"/>
          </p:cNvSpPr>
          <p:nvPr/>
        </p:nvSpPr>
        <p:spPr bwMode="auto">
          <a:xfrm>
            <a:off x="4491037" y="5403851"/>
            <a:ext cx="1874838" cy="636587"/>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$50</a:t>
            </a:r>
          </a:p>
        </p:txBody>
      </p:sp>
      <p:sp>
        <p:nvSpPr>
          <p:cNvPr id="58" name="Rectangle 10"/>
          <p:cNvSpPr>
            <a:spLocks noChangeArrowheads="1"/>
          </p:cNvSpPr>
          <p:nvPr/>
        </p:nvSpPr>
        <p:spPr bwMode="auto">
          <a:xfrm>
            <a:off x="3459163" y="5403851"/>
            <a:ext cx="1031875" cy="636587"/>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59" name="Rectangle 11"/>
          <p:cNvSpPr>
            <a:spLocks noChangeArrowheads="1"/>
          </p:cNvSpPr>
          <p:nvPr/>
        </p:nvSpPr>
        <p:spPr bwMode="auto">
          <a:xfrm>
            <a:off x="2514600" y="5403851"/>
            <a:ext cx="944562" cy="636587"/>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5</a:t>
            </a:r>
          </a:p>
        </p:txBody>
      </p:sp>
      <p:sp>
        <p:nvSpPr>
          <p:cNvPr id="60" name="Rectangle 13"/>
          <p:cNvSpPr>
            <a:spLocks noChangeArrowheads="1"/>
          </p:cNvSpPr>
          <p:nvPr/>
        </p:nvSpPr>
        <p:spPr bwMode="auto">
          <a:xfrm>
            <a:off x="4491037" y="4765676"/>
            <a:ext cx="1874838"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$40</a:t>
            </a:r>
          </a:p>
        </p:txBody>
      </p:sp>
      <p:sp>
        <p:nvSpPr>
          <p:cNvPr id="61" name="Rectangle 14"/>
          <p:cNvSpPr>
            <a:spLocks noChangeArrowheads="1"/>
          </p:cNvSpPr>
          <p:nvPr/>
        </p:nvSpPr>
        <p:spPr bwMode="auto">
          <a:xfrm>
            <a:off x="3459163" y="4765676"/>
            <a:ext cx="1031875"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62" name="Rectangle 15"/>
          <p:cNvSpPr>
            <a:spLocks noChangeArrowheads="1"/>
          </p:cNvSpPr>
          <p:nvPr/>
        </p:nvSpPr>
        <p:spPr bwMode="auto">
          <a:xfrm>
            <a:off x="2514600" y="4765676"/>
            <a:ext cx="944562"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4</a:t>
            </a:r>
          </a:p>
        </p:txBody>
      </p:sp>
      <p:sp>
        <p:nvSpPr>
          <p:cNvPr id="63" name="Rectangle 18"/>
          <p:cNvSpPr>
            <a:spLocks noChangeArrowheads="1"/>
          </p:cNvSpPr>
          <p:nvPr/>
        </p:nvSpPr>
        <p:spPr bwMode="auto">
          <a:xfrm>
            <a:off x="3459163" y="4130675"/>
            <a:ext cx="1031875" cy="635000"/>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64" name="Rectangle 19"/>
          <p:cNvSpPr>
            <a:spLocks noChangeArrowheads="1"/>
          </p:cNvSpPr>
          <p:nvPr/>
        </p:nvSpPr>
        <p:spPr bwMode="auto">
          <a:xfrm>
            <a:off x="2514600" y="4130675"/>
            <a:ext cx="944562" cy="635000"/>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3</a:t>
            </a:r>
          </a:p>
        </p:txBody>
      </p:sp>
      <p:grpSp>
        <p:nvGrpSpPr>
          <p:cNvPr id="65" name="Group 72"/>
          <p:cNvGrpSpPr>
            <a:grpSpLocks/>
          </p:cNvGrpSpPr>
          <p:nvPr/>
        </p:nvGrpSpPr>
        <p:grpSpPr bwMode="auto">
          <a:xfrm>
            <a:off x="6365875" y="3490913"/>
            <a:ext cx="1611312" cy="2549525"/>
            <a:chOff x="3156" y="2383"/>
            <a:chExt cx="1015" cy="1606"/>
          </a:xfrm>
        </p:grpSpPr>
        <p:sp>
          <p:nvSpPr>
            <p:cNvPr id="66" name="Rectangle 8"/>
            <p:cNvSpPr>
              <a:spLocks noChangeArrowheads="1"/>
            </p:cNvSpPr>
            <p:nvPr/>
          </p:nvSpPr>
          <p:spPr bwMode="auto">
            <a:xfrm>
              <a:off x="3156" y="3588"/>
              <a:ext cx="1015" cy="401"/>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67" name="Rectangle 12"/>
            <p:cNvSpPr>
              <a:spLocks noChangeArrowheads="1"/>
            </p:cNvSpPr>
            <p:nvPr/>
          </p:nvSpPr>
          <p:spPr bwMode="auto">
            <a:xfrm>
              <a:off x="3156" y="3186"/>
              <a:ext cx="1015" cy="402"/>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68" name="Rectangle 16"/>
            <p:cNvSpPr>
              <a:spLocks noChangeArrowheads="1"/>
            </p:cNvSpPr>
            <p:nvPr/>
          </p:nvSpPr>
          <p:spPr bwMode="auto">
            <a:xfrm>
              <a:off x="3156" y="2786"/>
              <a:ext cx="1015" cy="400"/>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69" name="Rectangle 68"/>
            <p:cNvSpPr>
              <a:spLocks noChangeArrowheads="1"/>
            </p:cNvSpPr>
            <p:nvPr/>
          </p:nvSpPr>
          <p:spPr bwMode="auto">
            <a:xfrm>
              <a:off x="3156" y="2383"/>
              <a:ext cx="1015" cy="403"/>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grpSp>
      <p:sp>
        <p:nvSpPr>
          <p:cNvPr id="70" name="Rectangle 22"/>
          <p:cNvSpPr>
            <a:spLocks noChangeArrowheads="1"/>
          </p:cNvSpPr>
          <p:nvPr/>
        </p:nvSpPr>
        <p:spPr bwMode="auto">
          <a:xfrm>
            <a:off x="3459163" y="3490913"/>
            <a:ext cx="1031875" cy="639763"/>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71" name="Rectangle 23"/>
          <p:cNvSpPr>
            <a:spLocks noChangeArrowheads="1"/>
          </p:cNvSpPr>
          <p:nvPr/>
        </p:nvSpPr>
        <p:spPr bwMode="auto">
          <a:xfrm>
            <a:off x="2514600" y="3490913"/>
            <a:ext cx="944562" cy="639763"/>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2</a:t>
            </a:r>
          </a:p>
        </p:txBody>
      </p:sp>
      <p:sp>
        <p:nvSpPr>
          <p:cNvPr id="72" name="Rectangle 24"/>
          <p:cNvSpPr>
            <a:spLocks noChangeArrowheads="1"/>
          </p:cNvSpPr>
          <p:nvPr/>
        </p:nvSpPr>
        <p:spPr bwMode="auto">
          <a:xfrm>
            <a:off x="6365875" y="2854326"/>
            <a:ext cx="1611312" cy="636587"/>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73" name="Rectangle 26"/>
          <p:cNvSpPr>
            <a:spLocks noChangeArrowheads="1"/>
          </p:cNvSpPr>
          <p:nvPr/>
        </p:nvSpPr>
        <p:spPr bwMode="auto">
          <a:xfrm>
            <a:off x="3459163" y="2854326"/>
            <a:ext cx="1031875" cy="636587"/>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74" name="Rectangle 27"/>
          <p:cNvSpPr>
            <a:spLocks noChangeArrowheads="1"/>
          </p:cNvSpPr>
          <p:nvPr/>
        </p:nvSpPr>
        <p:spPr bwMode="auto">
          <a:xfrm>
            <a:off x="2514600" y="2854326"/>
            <a:ext cx="944562" cy="636587"/>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a:t>
            </a:r>
          </a:p>
        </p:txBody>
      </p:sp>
      <p:sp>
        <p:nvSpPr>
          <p:cNvPr id="75" name="Rectangle 29"/>
          <p:cNvSpPr>
            <a:spLocks noChangeArrowheads="1"/>
          </p:cNvSpPr>
          <p:nvPr/>
        </p:nvSpPr>
        <p:spPr bwMode="auto">
          <a:xfrm>
            <a:off x="6365875" y="2216151"/>
            <a:ext cx="1611312"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n/a</a:t>
            </a:r>
          </a:p>
        </p:txBody>
      </p:sp>
      <p:grpSp>
        <p:nvGrpSpPr>
          <p:cNvPr id="76" name="Group 71"/>
          <p:cNvGrpSpPr>
            <a:grpSpLocks/>
          </p:cNvGrpSpPr>
          <p:nvPr/>
        </p:nvGrpSpPr>
        <p:grpSpPr bwMode="auto">
          <a:xfrm>
            <a:off x="4491037" y="2216151"/>
            <a:ext cx="1874838" cy="2549525"/>
            <a:chOff x="1975" y="1580"/>
            <a:chExt cx="1181" cy="1606"/>
          </a:xfrm>
        </p:grpSpPr>
        <p:sp>
          <p:nvSpPr>
            <p:cNvPr id="77" name="Rectangle 17"/>
            <p:cNvSpPr>
              <a:spLocks noChangeArrowheads="1"/>
            </p:cNvSpPr>
            <p:nvPr/>
          </p:nvSpPr>
          <p:spPr bwMode="auto">
            <a:xfrm>
              <a:off x="1975" y="2786"/>
              <a:ext cx="1181" cy="400"/>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$30</a:t>
              </a:r>
            </a:p>
          </p:txBody>
        </p:sp>
        <p:sp>
          <p:nvSpPr>
            <p:cNvPr id="78" name="Rectangle 21"/>
            <p:cNvSpPr>
              <a:spLocks noChangeArrowheads="1"/>
            </p:cNvSpPr>
            <p:nvPr/>
          </p:nvSpPr>
          <p:spPr bwMode="auto">
            <a:xfrm>
              <a:off x="1975" y="2383"/>
              <a:ext cx="1181" cy="403"/>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$20</a:t>
              </a:r>
            </a:p>
          </p:txBody>
        </p:sp>
        <p:sp>
          <p:nvSpPr>
            <p:cNvPr id="79" name="Rectangle 25"/>
            <p:cNvSpPr>
              <a:spLocks noChangeArrowheads="1"/>
            </p:cNvSpPr>
            <p:nvPr/>
          </p:nvSpPr>
          <p:spPr bwMode="auto">
            <a:xfrm>
              <a:off x="1975" y="1982"/>
              <a:ext cx="1181" cy="401"/>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80" name="Rectangle 30"/>
            <p:cNvSpPr>
              <a:spLocks noChangeArrowheads="1"/>
            </p:cNvSpPr>
            <p:nvPr/>
          </p:nvSpPr>
          <p:spPr bwMode="auto">
            <a:xfrm>
              <a:off x="1975" y="1580"/>
              <a:ext cx="1181" cy="402"/>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$0</a:t>
              </a:r>
            </a:p>
          </p:txBody>
        </p:sp>
      </p:grpSp>
      <p:sp>
        <p:nvSpPr>
          <p:cNvPr id="81" name="Rectangle 31"/>
          <p:cNvSpPr>
            <a:spLocks noChangeArrowheads="1"/>
          </p:cNvSpPr>
          <p:nvPr/>
        </p:nvSpPr>
        <p:spPr bwMode="auto">
          <a:xfrm>
            <a:off x="3459163" y="2216151"/>
            <a:ext cx="1031875"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sp>
        <p:nvSpPr>
          <p:cNvPr id="82" name="Rectangle 32"/>
          <p:cNvSpPr>
            <a:spLocks noChangeArrowheads="1"/>
          </p:cNvSpPr>
          <p:nvPr/>
        </p:nvSpPr>
        <p:spPr bwMode="auto">
          <a:xfrm>
            <a:off x="2514600" y="2216151"/>
            <a:ext cx="944562" cy="638175"/>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0</a:t>
            </a:r>
          </a:p>
        </p:txBody>
      </p:sp>
      <p:sp>
        <p:nvSpPr>
          <p:cNvPr id="83" name="Rectangle 33"/>
          <p:cNvSpPr>
            <a:spLocks noChangeArrowheads="1"/>
          </p:cNvSpPr>
          <p:nvPr/>
        </p:nvSpPr>
        <p:spPr bwMode="auto">
          <a:xfrm>
            <a:off x="7977188" y="1219200"/>
            <a:ext cx="1839913" cy="996950"/>
          </a:xfrm>
          <a:prstGeom prst="rect">
            <a:avLst/>
          </a:prstGeom>
          <a:noFill/>
          <a:ln w="9525">
            <a:noFill/>
            <a:miter lim="800000"/>
            <a:headEnd/>
            <a:tailEnd/>
          </a:ln>
        </p:spPr>
        <p:txBody>
          <a:bodyPr anchor="ctr" anchorCtr="1"/>
          <a:lstStyle/>
          <a:p>
            <a:pPr algn="ctr" defTabSz="914400">
              <a:lnSpc>
                <a:spcPct val="105000"/>
              </a:lnSpc>
              <a:spcBef>
                <a:spcPct val="45000"/>
              </a:spcBef>
              <a:buClr>
                <a:srgbClr val="00B85C"/>
              </a:buClr>
              <a:buSzPct val="120000"/>
            </a:pPr>
            <a:endParaRPr lang="en-US" sz="2400">
              <a:solidFill>
                <a:srgbClr val="FFFFFF"/>
              </a:solidFill>
              <a:latin typeface="Arial"/>
              <a:cs typeface="Arial"/>
            </a:endParaRPr>
          </a:p>
        </p:txBody>
      </p:sp>
      <p:sp>
        <p:nvSpPr>
          <p:cNvPr id="84" name="Rectangle 34"/>
          <p:cNvSpPr>
            <a:spLocks noChangeArrowheads="1"/>
          </p:cNvSpPr>
          <p:nvPr/>
        </p:nvSpPr>
        <p:spPr bwMode="auto">
          <a:xfrm>
            <a:off x="6365875" y="1219200"/>
            <a:ext cx="1611312" cy="996950"/>
          </a:xfrm>
          <a:prstGeom prst="rect">
            <a:avLst/>
          </a:prstGeom>
          <a:noFill/>
          <a:ln w="9525">
            <a:noFill/>
            <a:miter lim="800000"/>
            <a:headEnd/>
            <a:tailEnd/>
          </a:ln>
        </p:spPr>
        <p:txBody>
          <a:bodyPr anchor="ctr" anchorCtr="1"/>
          <a:lstStyle/>
          <a:p>
            <a:pPr algn="ctr" defTabSz="914400">
              <a:lnSpc>
                <a:spcPct val="105000"/>
              </a:lnSpc>
              <a:spcBef>
                <a:spcPct val="45000"/>
              </a:spcBef>
              <a:buClr>
                <a:srgbClr val="00B85C"/>
              </a:buClr>
              <a:buSzPct val="120000"/>
            </a:pPr>
            <a:endParaRPr lang="en-US" sz="2400" b="1">
              <a:solidFill>
                <a:srgbClr val="000000"/>
              </a:solidFill>
              <a:latin typeface="Arial"/>
              <a:cs typeface="Arial"/>
            </a:endParaRPr>
          </a:p>
        </p:txBody>
      </p:sp>
      <p:sp>
        <p:nvSpPr>
          <p:cNvPr id="85" name="Rectangle 35"/>
          <p:cNvSpPr>
            <a:spLocks noChangeArrowheads="1"/>
          </p:cNvSpPr>
          <p:nvPr/>
        </p:nvSpPr>
        <p:spPr bwMode="auto">
          <a:xfrm>
            <a:off x="4491037" y="1219200"/>
            <a:ext cx="1874838" cy="996950"/>
          </a:xfrm>
          <a:prstGeom prst="rect">
            <a:avLst/>
          </a:prstGeom>
          <a:noFill/>
          <a:ln w="9525">
            <a:noFill/>
            <a:miter lim="800000"/>
            <a:headEnd/>
            <a:tailEnd/>
          </a:ln>
        </p:spPr>
        <p:txBody>
          <a:bodyPr anchor="ctr" anchorCtr="1"/>
          <a:lstStyle/>
          <a:p>
            <a:pPr algn="ctr" defTabSz="914400">
              <a:lnSpc>
                <a:spcPct val="105000"/>
              </a:lnSpc>
              <a:spcBef>
                <a:spcPct val="45000"/>
              </a:spcBef>
              <a:buClr>
                <a:srgbClr val="00B85C"/>
              </a:buClr>
              <a:buSzPct val="120000"/>
            </a:pPr>
            <a:r>
              <a:rPr lang="en-US" sz="2400" i="1">
                <a:solidFill>
                  <a:srgbClr val="000000"/>
                </a:solidFill>
                <a:latin typeface="Arial"/>
                <a:cs typeface="Arial"/>
              </a:rPr>
              <a:t>TR</a:t>
            </a:r>
            <a:r>
              <a:rPr lang="en-US" sz="2400" b="1">
                <a:solidFill>
                  <a:srgbClr val="000000"/>
                </a:solidFill>
                <a:latin typeface="Arial"/>
                <a:cs typeface="Arial"/>
              </a:rPr>
              <a:t> </a:t>
            </a:r>
            <a:r>
              <a:rPr lang="en-US" sz="2400">
                <a:solidFill>
                  <a:srgbClr val="000000"/>
                </a:solidFill>
                <a:latin typeface="Arial"/>
                <a:cs typeface="Arial"/>
              </a:rPr>
              <a:t>= </a:t>
            </a:r>
            <a:r>
              <a:rPr lang="en-US" sz="2400" b="1" i="1">
                <a:solidFill>
                  <a:srgbClr val="000000"/>
                </a:solidFill>
                <a:latin typeface="Arial"/>
                <a:cs typeface="Arial"/>
              </a:rPr>
              <a:t>P</a:t>
            </a:r>
            <a:r>
              <a:rPr lang="en-US" sz="2400">
                <a:solidFill>
                  <a:srgbClr val="000000"/>
                </a:solidFill>
                <a:latin typeface="Arial"/>
                <a:cs typeface="Arial"/>
              </a:rPr>
              <a:t> x </a:t>
            </a:r>
            <a:r>
              <a:rPr lang="en-US" sz="2400" b="1" i="1">
                <a:solidFill>
                  <a:srgbClr val="000000"/>
                </a:solidFill>
                <a:latin typeface="Arial"/>
                <a:cs typeface="Arial"/>
              </a:rPr>
              <a:t>Q</a:t>
            </a:r>
          </a:p>
        </p:txBody>
      </p:sp>
      <p:sp>
        <p:nvSpPr>
          <p:cNvPr id="86" name="Rectangle 36"/>
          <p:cNvSpPr>
            <a:spLocks noChangeArrowheads="1"/>
          </p:cNvSpPr>
          <p:nvPr/>
        </p:nvSpPr>
        <p:spPr bwMode="auto">
          <a:xfrm>
            <a:off x="3459163" y="1219200"/>
            <a:ext cx="1031875" cy="996950"/>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b="1" i="1">
                <a:solidFill>
                  <a:srgbClr val="000000"/>
                </a:solidFill>
                <a:latin typeface="Arial"/>
                <a:cs typeface="Arial"/>
              </a:rPr>
              <a:t>P</a:t>
            </a:r>
          </a:p>
        </p:txBody>
      </p:sp>
      <p:sp>
        <p:nvSpPr>
          <p:cNvPr id="87" name="Rectangle 37"/>
          <p:cNvSpPr>
            <a:spLocks noChangeArrowheads="1"/>
          </p:cNvSpPr>
          <p:nvPr/>
        </p:nvSpPr>
        <p:spPr bwMode="auto">
          <a:xfrm>
            <a:off x="2514600" y="1219200"/>
            <a:ext cx="944562" cy="996950"/>
          </a:xfrm>
          <a:prstGeom prst="rect">
            <a:avLst/>
          </a:prstGeom>
          <a:noFill/>
          <a:ln w="9525">
            <a:noFill/>
            <a:miter lim="800000"/>
            <a:headEnd/>
            <a:tailEnd/>
          </a:ln>
        </p:spPr>
        <p:txBody>
          <a:bodyPr anchor="ctr" anchorCtr="1"/>
          <a:lstStyle/>
          <a:p>
            <a:pPr defTabSz="914400">
              <a:lnSpc>
                <a:spcPct val="105000"/>
              </a:lnSpc>
              <a:spcBef>
                <a:spcPct val="45000"/>
              </a:spcBef>
              <a:buClr>
                <a:srgbClr val="00B85C"/>
              </a:buClr>
              <a:buSzPct val="120000"/>
            </a:pPr>
            <a:r>
              <a:rPr lang="en-US" sz="2400" b="1" i="1">
                <a:solidFill>
                  <a:srgbClr val="000000"/>
                </a:solidFill>
                <a:latin typeface="Arial"/>
                <a:cs typeface="Arial"/>
              </a:rPr>
              <a:t>Q</a:t>
            </a:r>
          </a:p>
        </p:txBody>
      </p:sp>
      <p:sp>
        <p:nvSpPr>
          <p:cNvPr id="88" name="Line 38"/>
          <p:cNvSpPr>
            <a:spLocks noChangeShapeType="1"/>
          </p:cNvSpPr>
          <p:nvPr/>
        </p:nvSpPr>
        <p:spPr bwMode="auto">
          <a:xfrm>
            <a:off x="2514600" y="1219200"/>
            <a:ext cx="7302500" cy="0"/>
          </a:xfrm>
          <a:prstGeom prst="line">
            <a:avLst/>
          </a:prstGeom>
          <a:noFill/>
          <a:ln w="28575" cap="sq">
            <a:solidFill>
              <a:schemeClr val="tx1"/>
            </a:solidFill>
            <a:round/>
            <a:headEnd/>
            <a:tailEnd/>
          </a:ln>
        </p:spPr>
        <p:txBody>
          <a:bodyPr/>
          <a:lstStyle/>
          <a:p>
            <a:pPr defTabSz="914400"/>
            <a:endParaRPr lang="en-US">
              <a:solidFill>
                <a:srgbClr val="000000"/>
              </a:solidFill>
              <a:latin typeface="Arial"/>
              <a:cs typeface="Arial"/>
            </a:endParaRPr>
          </a:p>
        </p:txBody>
      </p:sp>
      <p:sp>
        <p:nvSpPr>
          <p:cNvPr id="89" name="Line 39"/>
          <p:cNvSpPr>
            <a:spLocks noChangeShapeType="1"/>
          </p:cNvSpPr>
          <p:nvPr/>
        </p:nvSpPr>
        <p:spPr bwMode="auto">
          <a:xfrm>
            <a:off x="2514600" y="2216150"/>
            <a:ext cx="730250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0" name="Line 40"/>
          <p:cNvSpPr>
            <a:spLocks noChangeShapeType="1"/>
          </p:cNvSpPr>
          <p:nvPr/>
        </p:nvSpPr>
        <p:spPr bwMode="auto">
          <a:xfrm>
            <a:off x="2514600" y="2854325"/>
            <a:ext cx="730250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1" name="Line 41"/>
          <p:cNvSpPr>
            <a:spLocks noChangeShapeType="1"/>
          </p:cNvSpPr>
          <p:nvPr/>
        </p:nvSpPr>
        <p:spPr bwMode="auto">
          <a:xfrm>
            <a:off x="2514600" y="3490912"/>
            <a:ext cx="730250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2" name="Line 42"/>
          <p:cNvSpPr>
            <a:spLocks noChangeShapeType="1"/>
          </p:cNvSpPr>
          <p:nvPr/>
        </p:nvSpPr>
        <p:spPr bwMode="auto">
          <a:xfrm>
            <a:off x="2514600" y="4130675"/>
            <a:ext cx="730250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3" name="Line 43"/>
          <p:cNvSpPr>
            <a:spLocks noChangeShapeType="1"/>
          </p:cNvSpPr>
          <p:nvPr/>
        </p:nvSpPr>
        <p:spPr bwMode="auto">
          <a:xfrm>
            <a:off x="2514600" y="4765675"/>
            <a:ext cx="730250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4" name="Line 44"/>
          <p:cNvSpPr>
            <a:spLocks noChangeShapeType="1"/>
          </p:cNvSpPr>
          <p:nvPr/>
        </p:nvSpPr>
        <p:spPr bwMode="auto">
          <a:xfrm>
            <a:off x="2514600" y="5403850"/>
            <a:ext cx="730250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5" name="Line 45"/>
          <p:cNvSpPr>
            <a:spLocks noChangeShapeType="1"/>
          </p:cNvSpPr>
          <p:nvPr/>
        </p:nvSpPr>
        <p:spPr bwMode="auto">
          <a:xfrm>
            <a:off x="2514600" y="6040437"/>
            <a:ext cx="7302500" cy="0"/>
          </a:xfrm>
          <a:prstGeom prst="line">
            <a:avLst/>
          </a:prstGeom>
          <a:noFill/>
          <a:ln w="28575" cap="sq">
            <a:solidFill>
              <a:schemeClr val="tx1"/>
            </a:solidFill>
            <a:round/>
            <a:headEnd/>
            <a:tailEnd/>
          </a:ln>
        </p:spPr>
        <p:txBody>
          <a:bodyPr/>
          <a:lstStyle/>
          <a:p>
            <a:pPr defTabSz="914400"/>
            <a:endParaRPr lang="en-US">
              <a:solidFill>
                <a:srgbClr val="000000"/>
              </a:solidFill>
              <a:latin typeface="Arial"/>
              <a:cs typeface="Arial"/>
            </a:endParaRPr>
          </a:p>
        </p:txBody>
      </p:sp>
      <p:sp>
        <p:nvSpPr>
          <p:cNvPr id="96" name="Line 46"/>
          <p:cNvSpPr>
            <a:spLocks noChangeShapeType="1"/>
          </p:cNvSpPr>
          <p:nvPr/>
        </p:nvSpPr>
        <p:spPr bwMode="auto">
          <a:xfrm>
            <a:off x="2514600" y="1219201"/>
            <a:ext cx="0" cy="4821237"/>
          </a:xfrm>
          <a:prstGeom prst="line">
            <a:avLst/>
          </a:prstGeom>
          <a:noFill/>
          <a:ln w="28575" cap="sq">
            <a:solidFill>
              <a:schemeClr val="tx1"/>
            </a:solidFill>
            <a:round/>
            <a:headEnd/>
            <a:tailEnd/>
          </a:ln>
        </p:spPr>
        <p:txBody>
          <a:bodyPr/>
          <a:lstStyle/>
          <a:p>
            <a:pPr defTabSz="914400"/>
            <a:endParaRPr lang="en-US">
              <a:solidFill>
                <a:srgbClr val="000000"/>
              </a:solidFill>
              <a:latin typeface="Arial"/>
              <a:cs typeface="Arial"/>
            </a:endParaRPr>
          </a:p>
        </p:txBody>
      </p:sp>
      <p:sp>
        <p:nvSpPr>
          <p:cNvPr id="97" name="Line 47"/>
          <p:cNvSpPr>
            <a:spLocks noChangeShapeType="1"/>
          </p:cNvSpPr>
          <p:nvPr/>
        </p:nvSpPr>
        <p:spPr bwMode="auto">
          <a:xfrm>
            <a:off x="3459162" y="1219201"/>
            <a:ext cx="0" cy="4821237"/>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8" name="Line 48"/>
          <p:cNvSpPr>
            <a:spLocks noChangeShapeType="1"/>
          </p:cNvSpPr>
          <p:nvPr/>
        </p:nvSpPr>
        <p:spPr bwMode="auto">
          <a:xfrm>
            <a:off x="4491037" y="1219201"/>
            <a:ext cx="0" cy="4821237"/>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99" name="Line 49"/>
          <p:cNvSpPr>
            <a:spLocks noChangeShapeType="1"/>
          </p:cNvSpPr>
          <p:nvPr/>
        </p:nvSpPr>
        <p:spPr bwMode="auto">
          <a:xfrm>
            <a:off x="6365875" y="1219201"/>
            <a:ext cx="0" cy="4821237"/>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100" name="Line 50"/>
          <p:cNvSpPr>
            <a:spLocks noChangeShapeType="1"/>
          </p:cNvSpPr>
          <p:nvPr/>
        </p:nvSpPr>
        <p:spPr bwMode="auto">
          <a:xfrm>
            <a:off x="7977187" y="1219201"/>
            <a:ext cx="0" cy="4821237"/>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nvGrpSpPr>
          <p:cNvPr id="101" name="Group 51"/>
          <p:cNvGrpSpPr>
            <a:grpSpLocks/>
          </p:cNvGrpSpPr>
          <p:nvPr/>
        </p:nvGrpSpPr>
        <p:grpSpPr bwMode="auto">
          <a:xfrm>
            <a:off x="7999412" y="1262063"/>
            <a:ext cx="1663700" cy="933451"/>
            <a:chOff x="4251" y="208"/>
            <a:chExt cx="1048" cy="588"/>
          </a:xfrm>
        </p:grpSpPr>
        <p:grpSp>
          <p:nvGrpSpPr>
            <p:cNvPr id="102" name="Group 52"/>
            <p:cNvGrpSpPr>
              <a:grpSpLocks/>
            </p:cNvGrpSpPr>
            <p:nvPr/>
          </p:nvGrpSpPr>
          <p:grpSpPr bwMode="auto">
            <a:xfrm>
              <a:off x="4806" y="208"/>
              <a:ext cx="493" cy="588"/>
              <a:chOff x="4630" y="1788"/>
              <a:chExt cx="493" cy="588"/>
            </a:xfrm>
          </p:grpSpPr>
          <p:sp>
            <p:nvSpPr>
              <p:cNvPr id="104" name="Rectangle 53"/>
              <p:cNvSpPr>
                <a:spLocks noChangeArrowheads="1"/>
              </p:cNvSpPr>
              <p:nvPr/>
            </p:nvSpPr>
            <p:spPr bwMode="auto">
              <a:xfrm>
                <a:off x="4630" y="1788"/>
                <a:ext cx="493" cy="291"/>
              </a:xfrm>
              <a:prstGeom prst="rect">
                <a:avLst/>
              </a:prstGeom>
              <a:noFill/>
              <a:ln w="9525">
                <a:noFill/>
                <a:miter lim="800000"/>
                <a:headEnd/>
                <a:tailEnd/>
              </a:ln>
            </p:spPr>
            <p:txBody>
              <a:bodyPr wrap="none">
                <a:spAutoFit/>
              </a:bodyPr>
              <a:lstStyle/>
              <a:p>
                <a:pPr algn="ctr" defTabSz="914400"/>
                <a:r>
                  <a:rPr lang="en-US" sz="2400" b="1" dirty="0">
                    <a:solidFill>
                      <a:srgbClr val="000000"/>
                    </a:solidFill>
                    <a:latin typeface="Arial"/>
                    <a:cs typeface="Arial"/>
                  </a:rPr>
                  <a:t>∆</a:t>
                </a:r>
                <a:r>
                  <a:rPr lang="en-US" sz="2400" i="1" dirty="0">
                    <a:solidFill>
                      <a:srgbClr val="000000"/>
                    </a:solidFill>
                    <a:latin typeface="Arial"/>
                    <a:cs typeface="Arial"/>
                  </a:rPr>
                  <a:t>TR</a:t>
                </a:r>
              </a:p>
            </p:txBody>
          </p:sp>
          <p:sp>
            <p:nvSpPr>
              <p:cNvPr id="105" name="Rectangle 54"/>
              <p:cNvSpPr>
                <a:spLocks noChangeArrowheads="1"/>
              </p:cNvSpPr>
              <p:nvPr/>
            </p:nvSpPr>
            <p:spPr bwMode="auto">
              <a:xfrm>
                <a:off x="4669" y="2085"/>
                <a:ext cx="385" cy="291"/>
              </a:xfrm>
              <a:prstGeom prst="rect">
                <a:avLst/>
              </a:prstGeom>
              <a:noFill/>
              <a:ln w="9525">
                <a:noFill/>
                <a:miter lim="800000"/>
                <a:headEnd/>
                <a:tailEnd/>
              </a:ln>
            </p:spPr>
            <p:txBody>
              <a:bodyPr wrap="none">
                <a:spAutoFit/>
              </a:bodyPr>
              <a:lstStyle/>
              <a:p>
                <a:pPr algn="ctr" defTabSz="914400"/>
                <a:r>
                  <a:rPr lang="en-US" sz="2400" b="1">
                    <a:solidFill>
                      <a:srgbClr val="000000"/>
                    </a:solidFill>
                    <a:latin typeface="Arial"/>
                    <a:cs typeface="Arial"/>
                  </a:rPr>
                  <a:t>∆</a:t>
                </a:r>
                <a:r>
                  <a:rPr lang="en-US" sz="2400" b="1" i="1">
                    <a:solidFill>
                      <a:srgbClr val="000000"/>
                    </a:solidFill>
                    <a:latin typeface="Arial"/>
                    <a:cs typeface="Arial"/>
                  </a:rPr>
                  <a:t>Q</a:t>
                </a:r>
              </a:p>
            </p:txBody>
          </p:sp>
          <p:sp>
            <p:nvSpPr>
              <p:cNvPr id="106" name="Line 55"/>
              <p:cNvSpPr>
                <a:spLocks noChangeShapeType="1"/>
              </p:cNvSpPr>
              <p:nvPr/>
            </p:nvSpPr>
            <p:spPr bwMode="auto">
              <a:xfrm>
                <a:off x="4658" y="2075"/>
                <a:ext cx="452"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03" name="Rectangle 56"/>
            <p:cNvSpPr>
              <a:spLocks noChangeArrowheads="1"/>
            </p:cNvSpPr>
            <p:nvPr/>
          </p:nvSpPr>
          <p:spPr bwMode="auto">
            <a:xfrm>
              <a:off x="4251" y="358"/>
              <a:ext cx="595" cy="291"/>
            </a:xfrm>
            <a:prstGeom prst="rect">
              <a:avLst/>
            </a:prstGeom>
            <a:noFill/>
            <a:ln w="9525">
              <a:noFill/>
              <a:miter lim="800000"/>
              <a:headEnd/>
              <a:tailEnd/>
            </a:ln>
          </p:spPr>
          <p:txBody>
            <a:bodyPr wrap="none">
              <a:spAutoFit/>
            </a:bodyPr>
            <a:lstStyle/>
            <a:p>
              <a:pPr defTabSz="914400"/>
              <a:r>
                <a:rPr lang="en-US" sz="2400" i="1">
                  <a:solidFill>
                    <a:srgbClr val="000000"/>
                  </a:solidFill>
                  <a:latin typeface="Arial"/>
                  <a:cs typeface="Arial"/>
                </a:rPr>
                <a:t>MR</a:t>
              </a:r>
              <a:r>
                <a:rPr lang="en-US" sz="2400">
                  <a:solidFill>
                    <a:srgbClr val="000000"/>
                  </a:solidFill>
                  <a:latin typeface="Arial"/>
                  <a:cs typeface="Arial"/>
                </a:rPr>
                <a:t> =</a:t>
              </a:r>
            </a:p>
          </p:txBody>
        </p:sp>
      </p:grpSp>
      <p:grpSp>
        <p:nvGrpSpPr>
          <p:cNvPr id="107" name="Group 57"/>
          <p:cNvGrpSpPr>
            <a:grpSpLocks/>
          </p:cNvGrpSpPr>
          <p:nvPr/>
        </p:nvGrpSpPr>
        <p:grpSpPr bwMode="auto">
          <a:xfrm>
            <a:off x="6445250" y="1266825"/>
            <a:ext cx="1416050" cy="933449"/>
            <a:chOff x="4458" y="1245"/>
            <a:chExt cx="892" cy="588"/>
          </a:xfrm>
        </p:grpSpPr>
        <p:grpSp>
          <p:nvGrpSpPr>
            <p:cNvPr id="108" name="Group 58"/>
            <p:cNvGrpSpPr>
              <a:grpSpLocks/>
            </p:cNvGrpSpPr>
            <p:nvPr/>
          </p:nvGrpSpPr>
          <p:grpSpPr bwMode="auto">
            <a:xfrm>
              <a:off x="4975" y="1245"/>
              <a:ext cx="375" cy="588"/>
              <a:chOff x="4975" y="1245"/>
              <a:chExt cx="375" cy="588"/>
            </a:xfrm>
          </p:grpSpPr>
          <p:sp>
            <p:nvSpPr>
              <p:cNvPr id="110" name="Rectangle 59"/>
              <p:cNvSpPr>
                <a:spLocks noChangeArrowheads="1"/>
              </p:cNvSpPr>
              <p:nvPr/>
            </p:nvSpPr>
            <p:spPr bwMode="auto">
              <a:xfrm>
                <a:off x="4975" y="1245"/>
                <a:ext cx="375" cy="291"/>
              </a:xfrm>
              <a:prstGeom prst="rect">
                <a:avLst/>
              </a:prstGeom>
              <a:noFill/>
              <a:ln w="9525">
                <a:noFill/>
                <a:miter lim="800000"/>
                <a:headEnd/>
                <a:tailEnd/>
              </a:ln>
            </p:spPr>
            <p:txBody>
              <a:bodyPr wrap="none">
                <a:spAutoFit/>
              </a:bodyPr>
              <a:lstStyle/>
              <a:p>
                <a:pPr algn="ctr" defTabSz="914400"/>
                <a:r>
                  <a:rPr lang="en-US" sz="2400" i="1">
                    <a:solidFill>
                      <a:srgbClr val="000000"/>
                    </a:solidFill>
                    <a:latin typeface="Arial"/>
                    <a:cs typeface="Arial"/>
                  </a:rPr>
                  <a:t>TR</a:t>
                </a:r>
              </a:p>
            </p:txBody>
          </p:sp>
          <p:sp>
            <p:nvSpPr>
              <p:cNvPr id="111" name="Rectangle 60"/>
              <p:cNvSpPr>
                <a:spLocks noChangeArrowheads="1"/>
              </p:cNvSpPr>
              <p:nvPr/>
            </p:nvSpPr>
            <p:spPr bwMode="auto">
              <a:xfrm>
                <a:off x="5014" y="1542"/>
                <a:ext cx="267" cy="291"/>
              </a:xfrm>
              <a:prstGeom prst="rect">
                <a:avLst/>
              </a:prstGeom>
              <a:noFill/>
              <a:ln w="9525">
                <a:noFill/>
                <a:miter lim="800000"/>
                <a:headEnd/>
                <a:tailEnd/>
              </a:ln>
            </p:spPr>
            <p:txBody>
              <a:bodyPr wrap="none">
                <a:spAutoFit/>
              </a:bodyPr>
              <a:lstStyle/>
              <a:p>
                <a:pPr algn="ctr" defTabSz="914400"/>
                <a:r>
                  <a:rPr lang="en-US" sz="2400" b="1" i="1">
                    <a:solidFill>
                      <a:srgbClr val="000000"/>
                    </a:solidFill>
                    <a:latin typeface="Arial"/>
                    <a:cs typeface="Arial"/>
                  </a:rPr>
                  <a:t>Q</a:t>
                </a:r>
              </a:p>
            </p:txBody>
          </p:sp>
          <p:sp>
            <p:nvSpPr>
              <p:cNvPr id="112" name="Line 61"/>
              <p:cNvSpPr>
                <a:spLocks noChangeShapeType="1"/>
              </p:cNvSpPr>
              <p:nvPr/>
            </p:nvSpPr>
            <p:spPr bwMode="auto">
              <a:xfrm>
                <a:off x="5016" y="1532"/>
                <a:ext cx="299"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09" name="Rectangle 62"/>
            <p:cNvSpPr>
              <a:spLocks noChangeArrowheads="1"/>
            </p:cNvSpPr>
            <p:nvPr/>
          </p:nvSpPr>
          <p:spPr bwMode="auto">
            <a:xfrm>
              <a:off x="4458" y="1392"/>
              <a:ext cx="563" cy="291"/>
            </a:xfrm>
            <a:prstGeom prst="rect">
              <a:avLst/>
            </a:prstGeom>
            <a:noFill/>
            <a:ln w="9525">
              <a:noFill/>
              <a:miter lim="800000"/>
              <a:headEnd/>
              <a:tailEnd/>
            </a:ln>
          </p:spPr>
          <p:txBody>
            <a:bodyPr wrap="none">
              <a:spAutoFit/>
            </a:bodyPr>
            <a:lstStyle/>
            <a:p>
              <a:pPr defTabSz="914400"/>
              <a:r>
                <a:rPr lang="en-US" sz="2400" i="1">
                  <a:solidFill>
                    <a:srgbClr val="000000"/>
                  </a:solidFill>
                  <a:latin typeface="Arial"/>
                  <a:cs typeface="Arial"/>
                </a:rPr>
                <a:t>AR</a:t>
              </a:r>
              <a:r>
                <a:rPr lang="en-US" sz="2400">
                  <a:solidFill>
                    <a:srgbClr val="000000"/>
                  </a:solidFill>
                  <a:latin typeface="Arial"/>
                  <a:cs typeface="Arial"/>
                </a:rPr>
                <a:t> =</a:t>
              </a:r>
            </a:p>
          </p:txBody>
        </p:sp>
      </p:grpSp>
      <p:sp>
        <p:nvSpPr>
          <p:cNvPr id="113" name="Rectangle 69"/>
          <p:cNvSpPr>
            <a:spLocks noChangeArrowheads="1"/>
          </p:cNvSpPr>
          <p:nvPr/>
        </p:nvSpPr>
        <p:spPr bwMode="auto">
          <a:xfrm>
            <a:off x="7983538" y="5702300"/>
            <a:ext cx="1808163" cy="322262"/>
          </a:xfrm>
          <a:prstGeom prst="rect">
            <a:avLst/>
          </a:prstGeom>
          <a:pattFill prst="wdUpDiag">
            <a:fgClr>
              <a:srgbClr val="969696"/>
            </a:fgClr>
            <a:bgClr>
              <a:schemeClr val="bg1"/>
            </a:bgClr>
          </a:pattFill>
          <a:ln w="9525">
            <a:noFill/>
            <a:miter lim="800000"/>
            <a:headEnd/>
            <a:tailEnd/>
          </a:ln>
        </p:spPr>
        <p:txBody>
          <a:bodyPr wrap="none" anchor="ctr"/>
          <a:lstStyle/>
          <a:p>
            <a:pPr defTabSz="914400"/>
            <a:endParaRPr lang="en-US">
              <a:solidFill>
                <a:srgbClr val="000000"/>
              </a:solidFill>
              <a:latin typeface="Arial"/>
              <a:cs typeface="Arial"/>
            </a:endParaRPr>
          </a:p>
        </p:txBody>
      </p:sp>
      <p:sp>
        <p:nvSpPr>
          <p:cNvPr id="114" name="Rectangle 70"/>
          <p:cNvSpPr>
            <a:spLocks noChangeArrowheads="1"/>
          </p:cNvSpPr>
          <p:nvPr/>
        </p:nvSpPr>
        <p:spPr bwMode="auto">
          <a:xfrm>
            <a:off x="7981951" y="2225676"/>
            <a:ext cx="1804987" cy="276225"/>
          </a:xfrm>
          <a:prstGeom prst="rect">
            <a:avLst/>
          </a:prstGeom>
          <a:pattFill prst="wdUpDiag">
            <a:fgClr>
              <a:srgbClr val="969696"/>
            </a:fgClr>
            <a:bgClr>
              <a:schemeClr val="bg1"/>
            </a:bgClr>
          </a:pattFill>
          <a:ln w="9525">
            <a:noFill/>
            <a:miter lim="800000"/>
            <a:headEnd/>
            <a:tailEnd/>
          </a:ln>
        </p:spPr>
        <p:txBody>
          <a:bodyPr wrap="none" anchor="ctr"/>
          <a:lstStyle/>
          <a:p>
            <a:pPr defTabSz="914400"/>
            <a:endParaRPr lang="en-US">
              <a:solidFill>
                <a:srgbClr val="000000"/>
              </a:solidFill>
              <a:latin typeface="Arial"/>
              <a:cs typeface="Arial"/>
            </a:endParaRPr>
          </a:p>
        </p:txBody>
      </p:sp>
      <p:grpSp>
        <p:nvGrpSpPr>
          <p:cNvPr id="115" name="Group 79"/>
          <p:cNvGrpSpPr>
            <a:grpSpLocks/>
          </p:cNvGrpSpPr>
          <p:nvPr/>
        </p:nvGrpSpPr>
        <p:grpSpPr bwMode="auto">
          <a:xfrm>
            <a:off x="7977188" y="2509838"/>
            <a:ext cx="1839913" cy="2549525"/>
            <a:chOff x="4171" y="1765"/>
            <a:chExt cx="1159" cy="1606"/>
          </a:xfrm>
        </p:grpSpPr>
        <p:sp>
          <p:nvSpPr>
            <p:cNvPr id="116" name="Rectangle 80"/>
            <p:cNvSpPr>
              <a:spLocks noChangeArrowheads="1"/>
            </p:cNvSpPr>
            <p:nvPr/>
          </p:nvSpPr>
          <p:spPr bwMode="auto">
            <a:xfrm>
              <a:off x="4171" y="2969"/>
              <a:ext cx="1159" cy="402"/>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endParaRPr lang="en-US" sz="2400">
                <a:solidFill>
                  <a:srgbClr val="000000"/>
                </a:solidFill>
                <a:latin typeface="Arial"/>
                <a:cs typeface="Arial"/>
              </a:endParaRPr>
            </a:p>
          </p:txBody>
        </p:sp>
        <p:sp>
          <p:nvSpPr>
            <p:cNvPr id="117" name="Rectangle 81"/>
            <p:cNvSpPr>
              <a:spLocks noChangeArrowheads="1"/>
            </p:cNvSpPr>
            <p:nvPr/>
          </p:nvSpPr>
          <p:spPr bwMode="auto">
            <a:xfrm>
              <a:off x="4171" y="2569"/>
              <a:ext cx="1159" cy="400"/>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endParaRPr lang="en-US" sz="2400">
                <a:solidFill>
                  <a:srgbClr val="000000"/>
                </a:solidFill>
                <a:latin typeface="Arial"/>
                <a:cs typeface="Arial"/>
              </a:endParaRPr>
            </a:p>
          </p:txBody>
        </p:sp>
        <p:sp>
          <p:nvSpPr>
            <p:cNvPr id="118" name="Rectangle 82"/>
            <p:cNvSpPr>
              <a:spLocks noChangeArrowheads="1"/>
            </p:cNvSpPr>
            <p:nvPr/>
          </p:nvSpPr>
          <p:spPr bwMode="auto">
            <a:xfrm>
              <a:off x="4171" y="2166"/>
              <a:ext cx="1159" cy="403"/>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endParaRPr lang="en-US" sz="2400">
                <a:solidFill>
                  <a:srgbClr val="000000"/>
                </a:solidFill>
                <a:latin typeface="Arial"/>
                <a:cs typeface="Arial"/>
              </a:endParaRPr>
            </a:p>
          </p:txBody>
        </p:sp>
        <p:sp>
          <p:nvSpPr>
            <p:cNvPr id="119" name="Rectangle 83"/>
            <p:cNvSpPr>
              <a:spLocks noChangeArrowheads="1"/>
            </p:cNvSpPr>
            <p:nvPr/>
          </p:nvSpPr>
          <p:spPr bwMode="auto">
            <a:xfrm>
              <a:off x="4171" y="1765"/>
              <a:ext cx="1159" cy="401"/>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endParaRPr lang="en-US" sz="2400">
                <a:solidFill>
                  <a:srgbClr val="000000"/>
                </a:solidFill>
                <a:latin typeface="Arial"/>
                <a:cs typeface="Arial"/>
              </a:endParaRPr>
            </a:p>
          </p:txBody>
        </p:sp>
      </p:grpSp>
      <p:sp>
        <p:nvSpPr>
          <p:cNvPr id="120" name="Rectangle 63"/>
          <p:cNvSpPr>
            <a:spLocks noChangeArrowheads="1"/>
          </p:cNvSpPr>
          <p:nvPr/>
        </p:nvSpPr>
        <p:spPr bwMode="auto">
          <a:xfrm>
            <a:off x="7977188" y="5059362"/>
            <a:ext cx="1839913" cy="636588"/>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000000"/>
                </a:solidFill>
                <a:latin typeface="Arial"/>
                <a:cs typeface="Arial"/>
              </a:rPr>
              <a:t>$10</a:t>
            </a:r>
          </a:p>
        </p:txBody>
      </p:sp>
      <p:grpSp>
        <p:nvGrpSpPr>
          <p:cNvPr id="121" name="Group 84"/>
          <p:cNvGrpSpPr>
            <a:grpSpLocks/>
          </p:cNvGrpSpPr>
          <p:nvPr/>
        </p:nvGrpSpPr>
        <p:grpSpPr bwMode="auto">
          <a:xfrm>
            <a:off x="7977188" y="2509838"/>
            <a:ext cx="1839913" cy="2549525"/>
            <a:chOff x="4171" y="1765"/>
            <a:chExt cx="1159" cy="1606"/>
          </a:xfrm>
        </p:grpSpPr>
        <p:sp>
          <p:nvSpPr>
            <p:cNvPr id="122" name="Rectangle 64"/>
            <p:cNvSpPr>
              <a:spLocks noChangeArrowheads="1"/>
            </p:cNvSpPr>
            <p:nvPr/>
          </p:nvSpPr>
          <p:spPr bwMode="auto">
            <a:xfrm>
              <a:off x="4171" y="2969"/>
              <a:ext cx="1159" cy="402"/>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123" name="Rectangle 65"/>
            <p:cNvSpPr>
              <a:spLocks noChangeArrowheads="1"/>
            </p:cNvSpPr>
            <p:nvPr/>
          </p:nvSpPr>
          <p:spPr bwMode="auto">
            <a:xfrm>
              <a:off x="4171" y="2569"/>
              <a:ext cx="1159" cy="400"/>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124" name="Rectangle 66"/>
            <p:cNvSpPr>
              <a:spLocks noChangeArrowheads="1"/>
            </p:cNvSpPr>
            <p:nvPr/>
          </p:nvSpPr>
          <p:spPr bwMode="auto">
            <a:xfrm>
              <a:off x="4171" y="2166"/>
              <a:ext cx="1159" cy="403"/>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sp>
          <p:nvSpPr>
            <p:cNvPr id="125" name="Rectangle 67"/>
            <p:cNvSpPr>
              <a:spLocks noChangeArrowheads="1"/>
            </p:cNvSpPr>
            <p:nvPr/>
          </p:nvSpPr>
          <p:spPr bwMode="auto">
            <a:xfrm>
              <a:off x="4171" y="1765"/>
              <a:ext cx="1159" cy="401"/>
            </a:xfrm>
            <a:prstGeom prst="rect">
              <a:avLst/>
            </a:prstGeom>
            <a:solidFill>
              <a:schemeClr val="bg1"/>
            </a:solidFill>
            <a:ln w="9525">
              <a:solidFill>
                <a:schemeClr val="tx1"/>
              </a:solidFill>
              <a:miter lim="800000"/>
              <a:headEnd/>
              <a:tailEnd/>
            </a:ln>
          </p:spPr>
          <p:txBody>
            <a:bodyPr anchor="ctr" anchorCtr="1"/>
            <a:lstStyle/>
            <a:p>
              <a:pPr defTabSz="914400">
                <a:lnSpc>
                  <a:spcPct val="105000"/>
                </a:lnSpc>
                <a:spcBef>
                  <a:spcPct val="45000"/>
                </a:spcBef>
                <a:buClr>
                  <a:srgbClr val="00B85C"/>
                </a:buClr>
                <a:buSzPct val="120000"/>
              </a:pPr>
              <a:r>
                <a:rPr lang="en-US" sz="2400">
                  <a:solidFill>
                    <a:srgbClr val="FF3300"/>
                  </a:solidFill>
                  <a:latin typeface="Arial"/>
                  <a:cs typeface="Arial"/>
                </a:rPr>
                <a:t>$10</a:t>
              </a:r>
            </a:p>
          </p:txBody>
        </p:sp>
      </p:grpSp>
      <p:sp>
        <p:nvSpPr>
          <p:cNvPr id="126" name="Line 68"/>
          <p:cNvSpPr>
            <a:spLocks noChangeShapeType="1"/>
          </p:cNvSpPr>
          <p:nvPr/>
        </p:nvSpPr>
        <p:spPr bwMode="auto">
          <a:xfrm>
            <a:off x="9817100" y="1219201"/>
            <a:ext cx="0" cy="4821237"/>
          </a:xfrm>
          <a:prstGeom prst="line">
            <a:avLst/>
          </a:prstGeom>
          <a:noFill/>
          <a:ln w="28575" cap="sq">
            <a:solidFill>
              <a:schemeClr val="tx1"/>
            </a:solidFill>
            <a:round/>
            <a:headEnd/>
            <a:tailEnd/>
          </a:ln>
        </p:spPr>
        <p:txBody>
          <a:bodyPr/>
          <a:lstStyle/>
          <a:p>
            <a:pPr defTabSz="914400"/>
            <a:endParaRPr lang="en-US">
              <a:solidFill>
                <a:srgbClr val="000000"/>
              </a:solidFill>
              <a:latin typeface="Arial"/>
              <a:cs typeface="Arial"/>
            </a:endParaRPr>
          </a:p>
        </p:txBody>
      </p:sp>
      <p:grpSp>
        <p:nvGrpSpPr>
          <p:cNvPr id="127" name="Group 88"/>
          <p:cNvGrpSpPr>
            <a:grpSpLocks/>
          </p:cNvGrpSpPr>
          <p:nvPr/>
        </p:nvGrpSpPr>
        <p:grpSpPr bwMode="auto">
          <a:xfrm>
            <a:off x="4322763" y="2428876"/>
            <a:ext cx="3846513" cy="3311525"/>
            <a:chOff x="1869" y="1714"/>
            <a:chExt cx="2423" cy="2086"/>
          </a:xfrm>
        </p:grpSpPr>
        <p:sp>
          <p:nvSpPr>
            <p:cNvPr id="128" name="Text Box 85"/>
            <p:cNvSpPr txBox="1">
              <a:spLocks noChangeArrowheads="1"/>
            </p:cNvSpPr>
            <p:nvPr/>
          </p:nvSpPr>
          <p:spPr bwMode="auto">
            <a:xfrm>
              <a:off x="2338" y="2283"/>
              <a:ext cx="1460" cy="584"/>
            </a:xfrm>
            <a:prstGeom prst="rect">
              <a:avLst/>
            </a:prstGeom>
            <a:solidFill>
              <a:srgbClr val="CCFFCC"/>
            </a:solidFill>
            <a:ln w="9525">
              <a:noFill/>
              <a:miter lim="800000"/>
              <a:headEnd/>
              <a:tailEnd/>
            </a:ln>
            <a:effectLst>
              <a:outerShdw blurRad="50800" dist="38100" dir="2700000" algn="tl" rotWithShape="0">
                <a:prstClr val="black">
                  <a:alpha val="40000"/>
                </a:prstClr>
              </a:outerShdw>
            </a:effectLst>
          </p:spPr>
          <p:txBody>
            <a:bodyPr>
              <a:spAutoFit/>
            </a:bodyPr>
            <a:lstStyle/>
            <a:p>
              <a:pPr algn="ctr" defTabSz="914400">
                <a:lnSpc>
                  <a:spcPct val="105000"/>
                </a:lnSpc>
                <a:spcBef>
                  <a:spcPct val="50000"/>
                </a:spcBef>
                <a:defRPr/>
              </a:pPr>
              <a:r>
                <a:rPr lang="en-US" sz="2600" dirty="0">
                  <a:solidFill>
                    <a:srgbClr val="000000"/>
                  </a:solidFill>
                  <a:latin typeface="Arial"/>
                  <a:cs typeface="Arial"/>
                </a:rPr>
                <a:t>Notice that </a:t>
              </a:r>
              <a:br>
                <a:rPr lang="en-US" sz="2600" dirty="0">
                  <a:solidFill>
                    <a:srgbClr val="000000"/>
                  </a:solidFill>
                  <a:latin typeface="Arial"/>
                  <a:cs typeface="Arial"/>
                </a:rPr>
              </a:br>
              <a:r>
                <a:rPr lang="en-US" sz="2600" i="1" dirty="0">
                  <a:solidFill>
                    <a:srgbClr val="000000"/>
                  </a:solidFill>
                  <a:latin typeface="Arial"/>
                  <a:cs typeface="Arial"/>
                </a:rPr>
                <a:t>MR</a:t>
              </a:r>
              <a:r>
                <a:rPr lang="en-US" sz="2600" dirty="0">
                  <a:solidFill>
                    <a:srgbClr val="000000"/>
                  </a:solidFill>
                  <a:latin typeface="Arial"/>
                  <a:cs typeface="Arial"/>
                </a:rPr>
                <a:t> = </a:t>
              </a:r>
              <a:r>
                <a:rPr lang="en-US" sz="2600" b="1" i="1" dirty="0">
                  <a:solidFill>
                    <a:srgbClr val="000000"/>
                  </a:solidFill>
                  <a:latin typeface="Arial"/>
                  <a:cs typeface="Arial"/>
                </a:rPr>
                <a:t>P</a:t>
              </a:r>
            </a:p>
          </p:txBody>
        </p:sp>
        <p:sp>
          <p:nvSpPr>
            <p:cNvPr id="129" name="AutoShape 86"/>
            <p:cNvSpPr>
              <a:spLocks/>
            </p:cNvSpPr>
            <p:nvPr/>
          </p:nvSpPr>
          <p:spPr bwMode="auto">
            <a:xfrm>
              <a:off x="3884" y="1819"/>
              <a:ext cx="408" cy="1841"/>
            </a:xfrm>
            <a:prstGeom prst="leftBrace">
              <a:avLst>
                <a:gd name="adj1" fmla="val 44371"/>
                <a:gd name="adj2" fmla="val 41986"/>
              </a:avLst>
            </a:prstGeom>
            <a:noFill/>
            <a:ln w="38100">
              <a:solidFill>
                <a:srgbClr val="00CC00"/>
              </a:solidFill>
              <a:round/>
              <a:headEnd/>
              <a:tailEnd/>
            </a:ln>
          </p:spPr>
          <p:txBody>
            <a:bodyPr wrap="none" anchor="ctr"/>
            <a:lstStyle/>
            <a:p>
              <a:pPr defTabSz="914400"/>
              <a:endParaRPr lang="en-US">
                <a:solidFill>
                  <a:srgbClr val="000000"/>
                </a:solidFill>
                <a:latin typeface="Arial"/>
                <a:cs typeface="Arial"/>
              </a:endParaRPr>
            </a:p>
          </p:txBody>
        </p:sp>
        <p:sp>
          <p:nvSpPr>
            <p:cNvPr id="130" name="AutoShape 87"/>
            <p:cNvSpPr>
              <a:spLocks/>
            </p:cNvSpPr>
            <p:nvPr/>
          </p:nvSpPr>
          <p:spPr bwMode="auto">
            <a:xfrm>
              <a:off x="1869" y="1714"/>
              <a:ext cx="386" cy="2086"/>
            </a:xfrm>
            <a:prstGeom prst="rightBrace">
              <a:avLst>
                <a:gd name="adj1" fmla="val 52340"/>
                <a:gd name="adj2" fmla="val 42282"/>
              </a:avLst>
            </a:prstGeom>
            <a:noFill/>
            <a:ln w="38100">
              <a:solidFill>
                <a:srgbClr val="00CC00"/>
              </a:solidFill>
              <a:round/>
              <a:headEnd/>
              <a:tailEnd/>
            </a:ln>
          </p:spPr>
          <p:txBody>
            <a:bodyPr wrap="none" anchor="ctr"/>
            <a:lstStyle/>
            <a:p>
              <a:pPr defTabSz="914400"/>
              <a:endParaRPr lang="en-US">
                <a:solidFill>
                  <a:srgbClr val="000000"/>
                </a:solidFill>
                <a:latin typeface="Arial"/>
                <a:cs typeface="Arial"/>
              </a:endParaRPr>
            </a:p>
          </p:txBody>
        </p:sp>
      </p:grpSp>
    </p:spTree>
    <p:extLst>
      <p:ext uri="{BB962C8B-B14F-4D97-AF65-F5344CB8AC3E}">
        <p14:creationId xmlns:p14="http://schemas.microsoft.com/office/powerpoint/2010/main" val="2838306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strips(downRight)">
                                      <p:cBhvr>
                                        <p:cTn id="7" dur="500"/>
                                        <p:tgtEl>
                                          <p:spTgt spid="76"/>
                                        </p:tgtEl>
                                      </p:cBhvr>
                                    </p:animEffect>
                                  </p:childTnLst>
                                  <p:subTnLst>
                                    <p:animClr clrSpc="rgb" dir="cw">
                                      <p:cBhvr override="childStyle">
                                        <p:cTn dur="1" fill="hold" display="0" masterRel="nextClick" afterEffect="1"/>
                                        <p:tgtEl>
                                          <p:spTgt spid="76"/>
                                        </p:tgtEl>
                                        <p:attrNameLst>
                                          <p:attrName>ppt_c</p:attrName>
                                        </p:attrNameLst>
                                      </p:cBhvr>
                                      <p:to>
                                        <a:schemeClr val="tx1"/>
                                      </p:to>
                                    </p:animClr>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strips(downRight)">
                                      <p:cBhvr>
                                        <p:cTn id="12" dur="500"/>
                                        <p:tgtEl>
                                          <p:spTgt spid="65"/>
                                        </p:tgtEl>
                                      </p:cBhvr>
                                    </p:animEffect>
                                  </p:childTnLst>
                                  <p:subTnLst>
                                    <p:animClr clrSpc="rgb" dir="cw">
                                      <p:cBhvr override="childStyle">
                                        <p:cTn dur="1" fill="hold" display="0" masterRel="nextClick" afterEffect="1"/>
                                        <p:tgtEl>
                                          <p:spTgt spid="65"/>
                                        </p:tgtEl>
                                        <p:attrNameLst>
                                          <p:attrName>ppt_c</p:attrName>
                                        </p:attrNameLst>
                                      </p:cBhvr>
                                      <p:to>
                                        <a:schemeClr val="tx1"/>
                                      </p:to>
                                    </p:animClr>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strips(downRight)">
                                      <p:cBhvr>
                                        <p:cTn id="17" dur="5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t"/>
          <a:lstStyle/>
          <a:p>
            <a:r>
              <a:rPr lang="en-US" dirty="0"/>
              <a:t>MR = P  for a Competitive Firm</a:t>
            </a:r>
            <a:endParaRPr lang="en-US" altLang="en-US" dirty="0" smtClean="0"/>
          </a:p>
        </p:txBody>
      </p:sp>
      <p:sp>
        <p:nvSpPr>
          <p:cNvPr id="10243" name="Content Placeholder 2"/>
          <p:cNvSpPr>
            <a:spLocks noGrp="1"/>
          </p:cNvSpPr>
          <p:nvPr>
            <p:ph idx="1"/>
          </p:nvPr>
        </p:nvSpPr>
        <p:spPr/>
        <p:txBody>
          <a:bodyPr/>
          <a:lstStyle/>
          <a:p>
            <a:pPr eaLnBrk="1" hangingPunct="1"/>
            <a:r>
              <a:rPr lang="en-US" dirty="0"/>
              <a:t>A competitive firm </a:t>
            </a:r>
            <a:endParaRPr lang="en-US" dirty="0" smtClean="0"/>
          </a:p>
          <a:p>
            <a:pPr lvl="1" eaLnBrk="1" hangingPunct="1"/>
            <a:r>
              <a:rPr lang="en-US" dirty="0" smtClean="0"/>
              <a:t>Can </a:t>
            </a:r>
            <a:r>
              <a:rPr lang="en-US" dirty="0"/>
              <a:t>keep increasing its output without affecting the market price.    </a:t>
            </a:r>
          </a:p>
          <a:p>
            <a:pPr lvl="1" eaLnBrk="1" hangingPunct="1"/>
            <a:r>
              <a:rPr lang="en-US" dirty="0"/>
              <a:t>So, each one-unit increase in </a:t>
            </a:r>
            <a:r>
              <a:rPr lang="en-US" b="1" i="1" dirty="0"/>
              <a:t>Q</a:t>
            </a:r>
            <a:r>
              <a:rPr lang="en-US" dirty="0"/>
              <a:t> causes revenue to rise by </a:t>
            </a:r>
            <a:r>
              <a:rPr lang="en-US" b="1" i="1" dirty="0"/>
              <a:t>P</a:t>
            </a:r>
            <a:r>
              <a:rPr lang="en-US" dirty="0"/>
              <a:t>, i.e.,  </a:t>
            </a:r>
            <a:r>
              <a:rPr lang="en-US" i="1" dirty="0"/>
              <a:t>MR</a:t>
            </a:r>
            <a:r>
              <a:rPr lang="en-US" dirty="0"/>
              <a:t> = </a:t>
            </a:r>
            <a:r>
              <a:rPr lang="en-US" b="1" i="1" dirty="0"/>
              <a:t>P</a:t>
            </a:r>
            <a:r>
              <a:rPr lang="en-US" dirty="0"/>
              <a:t>. </a:t>
            </a:r>
            <a:endParaRPr lang="en-US" dirty="0" smtClean="0"/>
          </a:p>
          <a:p>
            <a:pPr marL="0" indent="0" algn="ctr" eaLnBrk="1" hangingPunct="1">
              <a:buNone/>
            </a:pPr>
            <a:r>
              <a:rPr lang="en-US" sz="3600" i="1" dirty="0">
                <a:solidFill>
                  <a:srgbClr val="FF0000"/>
                </a:solidFill>
                <a:cs typeface="Arial"/>
              </a:rPr>
              <a:t>MR</a:t>
            </a:r>
            <a:r>
              <a:rPr lang="en-US" sz="3600" dirty="0">
                <a:solidFill>
                  <a:srgbClr val="FF0000"/>
                </a:solidFill>
                <a:cs typeface="Arial"/>
              </a:rPr>
              <a:t> = </a:t>
            </a:r>
            <a:r>
              <a:rPr lang="en-US" sz="3600" b="1" i="1" dirty="0">
                <a:solidFill>
                  <a:srgbClr val="FF0000"/>
                </a:solidFill>
                <a:cs typeface="Arial"/>
              </a:rPr>
              <a:t>P</a:t>
            </a:r>
            <a:r>
              <a:rPr lang="en-US" sz="3600" dirty="0">
                <a:solidFill>
                  <a:srgbClr val="FF0000"/>
                </a:solidFill>
                <a:cs typeface="Arial"/>
              </a:rPr>
              <a:t>  is only true for firms in competitive markets</a:t>
            </a:r>
          </a:p>
          <a:p>
            <a:pPr eaLnBrk="1" hangingPunct="1"/>
            <a:endParaRPr lang="en-US" dirty="0"/>
          </a:p>
          <a:p>
            <a:endParaRPr lang="en-US" altLang="en-US" dirty="0" smtClean="0"/>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hangingPunct="1"/>
            <a:fld id="{259799E4-073D-4DEE-ABB2-1331C6D87829}" type="slidenum">
              <a:rPr lang="en-US" altLang="en-US" sz="1200">
                <a:solidFill>
                  <a:srgbClr val="002060"/>
                </a:solidFill>
              </a:rPr>
              <a:pPr algn="ctr" defTabSz="914400" eaLnBrk="1" hangingPunct="1"/>
              <a:t>5</a:t>
            </a:fld>
            <a:endParaRPr lang="en-US" altLang="en-US" sz="1200">
              <a:solidFill>
                <a:srgbClr val="002060"/>
              </a:solidFill>
            </a:endParaRPr>
          </a:p>
        </p:txBody>
      </p:sp>
      <p:sp>
        <p:nvSpPr>
          <p:cNvPr id="102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263405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lstStyle/>
          <a:p>
            <a:r>
              <a:rPr lang="en-US" altLang="en-US" smtClean="0"/>
              <a:t>Profit Maximization</a:t>
            </a:r>
          </a:p>
        </p:txBody>
      </p:sp>
      <p:sp>
        <p:nvSpPr>
          <p:cNvPr id="14339" name="Content Placeholder 2"/>
          <p:cNvSpPr>
            <a:spLocks noGrp="1"/>
          </p:cNvSpPr>
          <p:nvPr>
            <p:ph idx="1"/>
          </p:nvPr>
        </p:nvSpPr>
        <p:spPr/>
        <p:txBody>
          <a:bodyPr/>
          <a:lstStyle/>
          <a:p>
            <a:r>
              <a:rPr lang="en-US" altLang="en-US" dirty="0" smtClean="0"/>
              <a:t>What Q maximizes a firm’s profit?</a:t>
            </a:r>
          </a:p>
          <a:p>
            <a:pPr lvl="1"/>
            <a:r>
              <a:rPr lang="en-US" altLang="en-US" dirty="0" smtClean="0"/>
              <a:t>Think at the margin</a:t>
            </a:r>
          </a:p>
          <a:p>
            <a:pPr lvl="1"/>
            <a:r>
              <a:rPr lang="en-US" altLang="en-US" dirty="0"/>
              <a:t>If Q increases by one </a:t>
            </a:r>
            <a:r>
              <a:rPr lang="en-US" altLang="en-US" dirty="0" smtClean="0"/>
              <a:t>unit </a:t>
            </a:r>
          </a:p>
          <a:p>
            <a:pPr lvl="2"/>
            <a:r>
              <a:rPr lang="en-US" altLang="en-US" dirty="0" smtClean="0"/>
              <a:t>Revenue rises </a:t>
            </a:r>
            <a:r>
              <a:rPr lang="en-US" altLang="en-US" dirty="0"/>
              <a:t>by MR</a:t>
            </a:r>
            <a:r>
              <a:rPr lang="en-US" altLang="en-US" dirty="0" smtClean="0"/>
              <a:t>, cost </a:t>
            </a:r>
            <a:r>
              <a:rPr lang="en-US" altLang="en-US" dirty="0"/>
              <a:t>rises by MC</a:t>
            </a:r>
            <a:endParaRPr lang="en-US" altLang="en-US" dirty="0" smtClean="0"/>
          </a:p>
          <a:p>
            <a:r>
              <a:rPr lang="en-US" altLang="en-US" dirty="0" smtClean="0"/>
              <a:t>Compare marginal revenue with marginal cost</a:t>
            </a:r>
          </a:p>
          <a:p>
            <a:pPr lvl="1"/>
            <a:r>
              <a:rPr lang="en-US" altLang="en-US" dirty="0" smtClean="0"/>
              <a:t>If MR &gt; MC: increase Q to raise profit</a:t>
            </a:r>
          </a:p>
          <a:p>
            <a:pPr lvl="1"/>
            <a:r>
              <a:rPr lang="en-US" altLang="en-US" dirty="0" smtClean="0"/>
              <a:t>If MR &lt; MC: decrease </a:t>
            </a:r>
            <a:r>
              <a:rPr lang="en-US" altLang="en-US" dirty="0"/>
              <a:t>Q to raise profit</a:t>
            </a:r>
            <a:endParaRPr lang="en-US" altLang="en-US" dirty="0" smtClean="0"/>
          </a:p>
          <a:p>
            <a:pPr lvl="1"/>
            <a:r>
              <a:rPr lang="en-US" altLang="en-US" dirty="0" smtClean="0"/>
              <a:t>Maximize profit for Q where MR = MC</a:t>
            </a:r>
          </a:p>
        </p:txBody>
      </p:sp>
      <p:sp>
        <p:nvSpPr>
          <p:cNvPr id="143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8A367694-F088-45EF-96E3-8B5FAC495D12}" type="slidenum">
              <a:rPr lang="en-US" altLang="en-US" sz="1200">
                <a:solidFill>
                  <a:srgbClr val="002060"/>
                </a:solidFill>
              </a:rPr>
              <a:pPr defTabSz="914400" eaLnBrk="1" hangingPunct="1"/>
              <a:t>6</a:t>
            </a:fld>
            <a:endParaRPr lang="en-US" altLang="en-US" sz="1200">
              <a:solidFill>
                <a:srgbClr val="002060"/>
              </a:solidFill>
            </a:endParaRPr>
          </a:p>
        </p:txBody>
      </p:sp>
      <p:sp>
        <p:nvSpPr>
          <p:cNvPr id="143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24775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1"/>
          <p:cNvGrpSpPr>
            <a:grpSpLocks/>
          </p:cNvGrpSpPr>
          <p:nvPr/>
        </p:nvGrpSpPr>
        <p:grpSpPr bwMode="auto">
          <a:xfrm>
            <a:off x="5197476" y="3935414"/>
            <a:ext cx="4887913" cy="473075"/>
            <a:chOff x="2314" y="2374"/>
            <a:chExt cx="3079" cy="298"/>
          </a:xfrm>
        </p:grpSpPr>
        <p:sp>
          <p:nvSpPr>
            <p:cNvPr id="15394" name="Line 18"/>
            <p:cNvSpPr>
              <a:spLocks noChangeShapeType="1"/>
            </p:cNvSpPr>
            <p:nvPr/>
          </p:nvSpPr>
          <p:spPr bwMode="auto">
            <a:xfrm>
              <a:off x="2726" y="2525"/>
              <a:ext cx="2250" cy="0"/>
            </a:xfrm>
            <a:prstGeom prst="line">
              <a:avLst/>
            </a:prstGeom>
            <a:noFill/>
            <a:ln w="28575">
              <a:solidFill>
                <a:srgbClr val="CC0000"/>
              </a:solidFill>
              <a:round/>
              <a:headEnd/>
              <a:tailEnd/>
            </a:ln>
          </p:spPr>
          <p:txBody>
            <a:bodyPr/>
            <a:lstStyle/>
            <a:p>
              <a:pPr defTabSz="914400"/>
              <a:endParaRPr lang="en-US">
                <a:solidFill>
                  <a:srgbClr val="000000"/>
                </a:solidFill>
                <a:latin typeface="Arial"/>
                <a:cs typeface="Arial"/>
              </a:endParaRPr>
            </a:p>
          </p:txBody>
        </p:sp>
        <p:sp>
          <p:nvSpPr>
            <p:cNvPr id="15395" name="Text Box 25"/>
            <p:cNvSpPr txBox="1">
              <a:spLocks noChangeArrowheads="1"/>
            </p:cNvSpPr>
            <p:nvPr/>
          </p:nvSpPr>
          <p:spPr bwMode="auto">
            <a:xfrm>
              <a:off x="2314" y="2374"/>
              <a:ext cx="387" cy="298"/>
            </a:xfrm>
            <a:prstGeom prst="rect">
              <a:avLst/>
            </a:prstGeom>
            <a:noFill/>
            <a:ln w="9525">
              <a:noFill/>
              <a:miter lim="800000"/>
              <a:headEnd/>
              <a:tailEnd/>
            </a:ln>
          </p:spPr>
          <p:txBody>
            <a:bodyPr>
              <a:spAutoFit/>
            </a:bodyPr>
            <a:lstStyle/>
            <a:p>
              <a:pPr algn="r" defTabSz="914400">
                <a:spcBef>
                  <a:spcPct val="50000"/>
                </a:spcBef>
              </a:pPr>
              <a:r>
                <a:rPr lang="en-US" sz="2500" b="1" i="1">
                  <a:solidFill>
                    <a:srgbClr val="000000"/>
                  </a:solidFill>
                  <a:latin typeface="Arial"/>
                  <a:cs typeface="Arial"/>
                </a:rPr>
                <a:t>P</a:t>
              </a:r>
              <a:r>
                <a:rPr lang="en-US" sz="2500" b="1" baseline="-25000">
                  <a:solidFill>
                    <a:srgbClr val="000000"/>
                  </a:solidFill>
                  <a:latin typeface="Arial"/>
                  <a:cs typeface="Arial"/>
                </a:rPr>
                <a:t>1</a:t>
              </a:r>
            </a:p>
          </p:txBody>
        </p:sp>
        <p:sp>
          <p:nvSpPr>
            <p:cNvPr id="15396" name="Text Box 48"/>
            <p:cNvSpPr txBox="1">
              <a:spLocks noChangeArrowheads="1"/>
            </p:cNvSpPr>
            <p:nvPr/>
          </p:nvSpPr>
          <p:spPr bwMode="auto">
            <a:xfrm>
              <a:off x="5010" y="2401"/>
              <a:ext cx="383"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MR</a:t>
              </a:r>
            </a:p>
          </p:txBody>
        </p:sp>
      </p:grpSp>
      <p:sp>
        <p:nvSpPr>
          <p:cNvPr id="15365" name="Rectangle 2"/>
          <p:cNvSpPr>
            <a:spLocks noGrp="1" noChangeArrowheads="1"/>
          </p:cNvSpPr>
          <p:nvPr>
            <p:ph type="title"/>
          </p:nvPr>
        </p:nvSpPr>
        <p:spPr/>
        <p:txBody>
          <a:bodyPr/>
          <a:lstStyle/>
          <a:p>
            <a:pPr eaLnBrk="1" hangingPunct="1"/>
            <a:r>
              <a:rPr lang="en-US" sz="3400"/>
              <a:t>MC and the Firm’s Supply Decision</a:t>
            </a:r>
          </a:p>
        </p:txBody>
      </p:sp>
      <p:sp>
        <p:nvSpPr>
          <p:cNvPr id="104451" name="Rectangle 3"/>
          <p:cNvSpPr>
            <a:spLocks noGrp="1" noChangeArrowheads="1"/>
          </p:cNvSpPr>
          <p:nvPr>
            <p:ph type="body" sz="quarter" idx="12"/>
          </p:nvPr>
        </p:nvSpPr>
        <p:spPr>
          <a:xfrm>
            <a:off x="1739900" y="1346200"/>
            <a:ext cx="3365500" cy="4826000"/>
          </a:xfrm>
        </p:spPr>
        <p:txBody>
          <a:bodyPr/>
          <a:lstStyle/>
          <a:p>
            <a:pPr eaLnBrk="1" hangingPunct="1"/>
            <a:r>
              <a:rPr lang="en-US" sz="2800" dirty="0"/>
              <a:t>At </a:t>
            </a:r>
            <a:r>
              <a:rPr lang="en-US" sz="2800" b="1" i="1" dirty="0" err="1"/>
              <a:t>Q</a:t>
            </a:r>
            <a:r>
              <a:rPr lang="en-US" sz="2800" b="1" baseline="-25000" dirty="0" err="1"/>
              <a:t>a</a:t>
            </a:r>
            <a:r>
              <a:rPr lang="en-US" sz="2800" dirty="0"/>
              <a:t>, </a:t>
            </a:r>
            <a:r>
              <a:rPr lang="en-US" sz="2800" i="1" dirty="0"/>
              <a:t>MC</a:t>
            </a:r>
            <a:r>
              <a:rPr lang="en-US" sz="2800" dirty="0"/>
              <a:t> &lt; </a:t>
            </a:r>
            <a:r>
              <a:rPr lang="en-US" sz="2800" i="1" dirty="0"/>
              <a:t>MR</a:t>
            </a:r>
            <a:r>
              <a:rPr lang="en-US" sz="2800" dirty="0"/>
              <a:t>.</a:t>
            </a:r>
          </a:p>
          <a:p>
            <a:pPr eaLnBrk="1" hangingPunct="1">
              <a:spcBef>
                <a:spcPct val="20000"/>
              </a:spcBef>
            </a:pPr>
            <a:r>
              <a:rPr lang="en-US" sz="2800" dirty="0"/>
              <a:t>So, increase </a:t>
            </a:r>
            <a:r>
              <a:rPr lang="en-US" sz="2800" b="1" i="1" dirty="0"/>
              <a:t>Q</a:t>
            </a:r>
            <a:r>
              <a:rPr lang="en-US" sz="2800" dirty="0"/>
              <a:t> </a:t>
            </a:r>
            <a:br>
              <a:rPr lang="en-US" sz="2800" dirty="0"/>
            </a:br>
            <a:r>
              <a:rPr lang="en-US" sz="2800" dirty="0"/>
              <a:t>to raise profit. </a:t>
            </a:r>
          </a:p>
          <a:p>
            <a:pPr eaLnBrk="1" hangingPunct="1">
              <a:spcBef>
                <a:spcPct val="60000"/>
              </a:spcBef>
            </a:pPr>
            <a:r>
              <a:rPr lang="en-US" sz="2800" dirty="0"/>
              <a:t>At </a:t>
            </a:r>
            <a:r>
              <a:rPr lang="en-US" sz="2800" b="1" i="1" dirty="0" err="1"/>
              <a:t>Q</a:t>
            </a:r>
            <a:r>
              <a:rPr lang="en-US" sz="2800" b="1" baseline="-25000" dirty="0" err="1"/>
              <a:t>b</a:t>
            </a:r>
            <a:r>
              <a:rPr lang="en-US" sz="2800" dirty="0"/>
              <a:t>, </a:t>
            </a:r>
            <a:r>
              <a:rPr lang="en-US" sz="2800" i="1" dirty="0"/>
              <a:t>MC</a:t>
            </a:r>
            <a:r>
              <a:rPr lang="en-US" sz="2800" dirty="0"/>
              <a:t> &gt; </a:t>
            </a:r>
            <a:r>
              <a:rPr lang="en-US" sz="2800" i="1" dirty="0"/>
              <a:t>MR</a:t>
            </a:r>
            <a:r>
              <a:rPr lang="en-US" sz="2800" dirty="0"/>
              <a:t>.</a:t>
            </a:r>
          </a:p>
          <a:p>
            <a:pPr eaLnBrk="1" hangingPunct="1">
              <a:spcBef>
                <a:spcPct val="20000"/>
              </a:spcBef>
            </a:pPr>
            <a:r>
              <a:rPr lang="en-US" sz="2800" dirty="0"/>
              <a:t>So, reduce </a:t>
            </a:r>
            <a:r>
              <a:rPr lang="en-US" sz="2800" b="1" i="1" dirty="0"/>
              <a:t>Q</a:t>
            </a:r>
            <a:r>
              <a:rPr lang="en-US" sz="2800" dirty="0"/>
              <a:t> </a:t>
            </a:r>
            <a:br>
              <a:rPr lang="en-US" sz="2800" dirty="0"/>
            </a:br>
            <a:r>
              <a:rPr lang="en-US" sz="2800" dirty="0"/>
              <a:t>to raise profit. </a:t>
            </a:r>
          </a:p>
          <a:p>
            <a:pPr eaLnBrk="1" hangingPunct="1">
              <a:spcBef>
                <a:spcPct val="60000"/>
              </a:spcBef>
            </a:pPr>
            <a:r>
              <a:rPr lang="en-US" sz="2800" dirty="0"/>
              <a:t>At </a:t>
            </a:r>
            <a:r>
              <a:rPr lang="en-US" sz="2800" b="1" i="1" dirty="0"/>
              <a:t>Q</a:t>
            </a:r>
            <a:r>
              <a:rPr lang="en-US" sz="2800" b="1" baseline="-25000" dirty="0"/>
              <a:t>1</a:t>
            </a:r>
            <a:r>
              <a:rPr lang="en-US" sz="2800" dirty="0"/>
              <a:t>, </a:t>
            </a:r>
            <a:r>
              <a:rPr lang="en-US" sz="2800" i="1" dirty="0"/>
              <a:t>MC</a:t>
            </a:r>
            <a:r>
              <a:rPr lang="en-US" sz="2800" dirty="0"/>
              <a:t> = </a:t>
            </a:r>
            <a:r>
              <a:rPr lang="en-US" sz="2800" i="1" dirty="0"/>
              <a:t>MR</a:t>
            </a:r>
            <a:r>
              <a:rPr lang="en-US" sz="2800" dirty="0"/>
              <a:t>.</a:t>
            </a:r>
          </a:p>
          <a:p>
            <a:pPr eaLnBrk="1" hangingPunct="1">
              <a:spcBef>
                <a:spcPct val="20000"/>
              </a:spcBef>
            </a:pPr>
            <a:r>
              <a:rPr lang="en-US" sz="2800" dirty="0"/>
              <a:t>Changing </a:t>
            </a:r>
            <a:r>
              <a:rPr lang="en-US" sz="2800" b="1" i="1" dirty="0"/>
              <a:t>Q</a:t>
            </a:r>
            <a:r>
              <a:rPr lang="en-US" sz="2800" dirty="0"/>
              <a:t> </a:t>
            </a:r>
            <a:br>
              <a:rPr lang="en-US" sz="2800" dirty="0"/>
            </a:br>
            <a:r>
              <a:rPr lang="en-US" sz="2800" dirty="0"/>
              <a:t>would lower profit. </a:t>
            </a:r>
          </a:p>
        </p:txBody>
      </p:sp>
      <p:grpSp>
        <p:nvGrpSpPr>
          <p:cNvPr id="3" name="Group 61"/>
          <p:cNvGrpSpPr>
            <a:grpSpLocks/>
          </p:cNvGrpSpPr>
          <p:nvPr/>
        </p:nvGrpSpPr>
        <p:grpSpPr bwMode="auto">
          <a:xfrm>
            <a:off x="5230813" y="1698625"/>
            <a:ext cx="4864100" cy="4146550"/>
            <a:chOff x="2335" y="1070"/>
            <a:chExt cx="3064" cy="2612"/>
          </a:xfrm>
        </p:grpSpPr>
        <p:grpSp>
          <p:nvGrpSpPr>
            <p:cNvPr id="4" name="Group 4"/>
            <p:cNvGrpSpPr>
              <a:grpSpLocks/>
            </p:cNvGrpSpPr>
            <p:nvPr/>
          </p:nvGrpSpPr>
          <p:grpSpPr bwMode="auto">
            <a:xfrm>
              <a:off x="2730" y="1335"/>
              <a:ext cx="2357" cy="2206"/>
              <a:chOff x="1489" y="785"/>
              <a:chExt cx="3650" cy="2492"/>
            </a:xfrm>
          </p:grpSpPr>
          <p:sp>
            <p:nvSpPr>
              <p:cNvPr id="15392"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15393"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5390" name="Text Box 7"/>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15391" name="Text Box 8"/>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defTabSz="914400">
                <a:spcBef>
                  <a:spcPct val="50000"/>
                </a:spcBef>
              </a:pPr>
              <a:r>
                <a:rPr lang="en-US" sz="2500">
                  <a:solidFill>
                    <a:srgbClr val="000000"/>
                  </a:solidFill>
                  <a:latin typeface="Arial"/>
                  <a:cs typeface="Arial"/>
                </a:rPr>
                <a:t>Costs</a:t>
              </a:r>
            </a:p>
          </p:txBody>
        </p:sp>
      </p:grpSp>
      <p:grpSp>
        <p:nvGrpSpPr>
          <p:cNvPr id="5" name="Group 54"/>
          <p:cNvGrpSpPr>
            <a:grpSpLocks/>
          </p:cNvGrpSpPr>
          <p:nvPr/>
        </p:nvGrpSpPr>
        <p:grpSpPr bwMode="auto">
          <a:xfrm>
            <a:off x="6116639" y="2287589"/>
            <a:ext cx="3322637" cy="3157537"/>
            <a:chOff x="2893" y="1336"/>
            <a:chExt cx="2093" cy="1989"/>
          </a:xfrm>
        </p:grpSpPr>
        <p:sp>
          <p:nvSpPr>
            <p:cNvPr id="15387" name="Line 9"/>
            <p:cNvSpPr>
              <a:spLocks noChangeShapeType="1"/>
            </p:cNvSpPr>
            <p:nvPr/>
          </p:nvSpPr>
          <p:spPr bwMode="auto">
            <a:xfrm flipV="1">
              <a:off x="2893" y="1568"/>
              <a:ext cx="1690" cy="1757"/>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15388" name="Text Box 15"/>
            <p:cNvSpPr txBox="1">
              <a:spLocks noChangeArrowheads="1"/>
            </p:cNvSpPr>
            <p:nvPr/>
          </p:nvSpPr>
          <p:spPr bwMode="auto">
            <a:xfrm>
              <a:off x="4603" y="1336"/>
              <a:ext cx="383" cy="240"/>
            </a:xfrm>
            <a:prstGeom prst="rect">
              <a:avLst/>
            </a:prstGeom>
            <a:noFill/>
            <a:ln w="9525">
              <a:noFill/>
              <a:miter lim="800000"/>
              <a:headEnd/>
              <a:tailEnd/>
            </a:ln>
          </p:spPr>
          <p:txBody>
            <a:bodyPr lIns="0" tIns="0" rIns="0" bIns="0">
              <a:spAutoFit/>
            </a:bodyPr>
            <a:lstStyle/>
            <a:p>
              <a:pPr defTabSz="914400">
                <a:spcBef>
                  <a:spcPct val="50000"/>
                </a:spcBef>
              </a:pPr>
              <a:r>
                <a:rPr lang="en-US" sz="2500" i="1" dirty="0">
                  <a:solidFill>
                    <a:srgbClr val="000000"/>
                  </a:solidFill>
                  <a:latin typeface="Arial"/>
                  <a:cs typeface="Arial"/>
                </a:rPr>
                <a:t>MC</a:t>
              </a:r>
            </a:p>
          </p:txBody>
        </p:sp>
      </p:grpSp>
      <p:grpSp>
        <p:nvGrpSpPr>
          <p:cNvPr id="6" name="Group 56"/>
          <p:cNvGrpSpPr>
            <a:grpSpLocks/>
          </p:cNvGrpSpPr>
          <p:nvPr/>
        </p:nvGrpSpPr>
        <p:grpSpPr bwMode="auto">
          <a:xfrm>
            <a:off x="7164389" y="4102101"/>
            <a:ext cx="422275" cy="1914525"/>
            <a:chOff x="3553" y="2479"/>
            <a:chExt cx="266" cy="1206"/>
          </a:xfrm>
        </p:grpSpPr>
        <p:sp>
          <p:nvSpPr>
            <p:cNvPr id="15384" name="Text Box 26"/>
            <p:cNvSpPr txBox="1">
              <a:spLocks noChangeArrowheads="1"/>
            </p:cNvSpPr>
            <p:nvPr/>
          </p:nvSpPr>
          <p:spPr bwMode="auto">
            <a:xfrm>
              <a:off x="3553" y="3445"/>
              <a:ext cx="266"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b="1" i="1">
                  <a:solidFill>
                    <a:srgbClr val="000000"/>
                  </a:solidFill>
                  <a:latin typeface="Arial"/>
                  <a:cs typeface="Arial"/>
                </a:rPr>
                <a:t>Q</a:t>
              </a:r>
              <a:r>
                <a:rPr lang="en-US" sz="2500" b="1" baseline="-25000">
                  <a:solidFill>
                    <a:srgbClr val="000000"/>
                  </a:solidFill>
                  <a:latin typeface="Arial"/>
                  <a:cs typeface="Arial"/>
                </a:rPr>
                <a:t>1</a:t>
              </a:r>
            </a:p>
          </p:txBody>
        </p:sp>
        <p:sp>
          <p:nvSpPr>
            <p:cNvPr id="15385" name="Line 29"/>
            <p:cNvSpPr>
              <a:spLocks noChangeShapeType="1"/>
            </p:cNvSpPr>
            <p:nvPr/>
          </p:nvSpPr>
          <p:spPr bwMode="auto">
            <a:xfrm>
              <a:off x="3665" y="2528"/>
              <a:ext cx="0" cy="909"/>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15386" name="Oval 14"/>
            <p:cNvSpPr>
              <a:spLocks noChangeArrowheads="1"/>
            </p:cNvSpPr>
            <p:nvPr/>
          </p:nvSpPr>
          <p:spPr bwMode="auto">
            <a:xfrm>
              <a:off x="3620" y="2479"/>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grpSp>
      <p:grpSp>
        <p:nvGrpSpPr>
          <p:cNvPr id="7" name="Group 57"/>
          <p:cNvGrpSpPr>
            <a:grpSpLocks/>
          </p:cNvGrpSpPr>
          <p:nvPr/>
        </p:nvGrpSpPr>
        <p:grpSpPr bwMode="auto">
          <a:xfrm>
            <a:off x="6537326" y="4103689"/>
            <a:ext cx="449263" cy="1914525"/>
            <a:chOff x="3158" y="2480"/>
            <a:chExt cx="283" cy="1206"/>
          </a:xfrm>
        </p:grpSpPr>
        <p:sp>
          <p:nvSpPr>
            <p:cNvPr id="15380" name="Text Box 34"/>
            <p:cNvSpPr txBox="1">
              <a:spLocks noChangeArrowheads="1"/>
            </p:cNvSpPr>
            <p:nvPr/>
          </p:nvSpPr>
          <p:spPr bwMode="auto">
            <a:xfrm>
              <a:off x="3158" y="3446"/>
              <a:ext cx="283"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b="1" i="1">
                  <a:solidFill>
                    <a:srgbClr val="000000"/>
                  </a:solidFill>
                  <a:latin typeface="Arial"/>
                  <a:cs typeface="Arial"/>
                </a:rPr>
                <a:t>Q</a:t>
              </a:r>
              <a:r>
                <a:rPr lang="en-US" sz="2500" b="1" baseline="-25000">
                  <a:solidFill>
                    <a:srgbClr val="000000"/>
                  </a:solidFill>
                  <a:latin typeface="Arial"/>
                  <a:cs typeface="Arial"/>
                </a:rPr>
                <a:t>a</a:t>
              </a:r>
            </a:p>
          </p:txBody>
        </p:sp>
        <p:sp>
          <p:nvSpPr>
            <p:cNvPr id="15381" name="Line 42"/>
            <p:cNvSpPr>
              <a:spLocks noChangeShapeType="1"/>
            </p:cNvSpPr>
            <p:nvPr/>
          </p:nvSpPr>
          <p:spPr bwMode="auto">
            <a:xfrm>
              <a:off x="3290" y="2529"/>
              <a:ext cx="0" cy="909"/>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15382" name="Oval 43"/>
            <p:cNvSpPr>
              <a:spLocks noChangeArrowheads="1"/>
            </p:cNvSpPr>
            <p:nvPr/>
          </p:nvSpPr>
          <p:spPr bwMode="auto">
            <a:xfrm>
              <a:off x="3245" y="2480"/>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sp>
          <p:nvSpPr>
            <p:cNvPr id="15383" name="Oval 44"/>
            <p:cNvSpPr>
              <a:spLocks noChangeArrowheads="1"/>
            </p:cNvSpPr>
            <p:nvPr/>
          </p:nvSpPr>
          <p:spPr bwMode="auto">
            <a:xfrm>
              <a:off x="3246" y="2869"/>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grpSp>
      <p:grpSp>
        <p:nvGrpSpPr>
          <p:cNvPr id="8" name="Group 55"/>
          <p:cNvGrpSpPr>
            <a:grpSpLocks/>
          </p:cNvGrpSpPr>
          <p:nvPr/>
        </p:nvGrpSpPr>
        <p:grpSpPr bwMode="auto">
          <a:xfrm>
            <a:off x="7713664" y="3563939"/>
            <a:ext cx="401637" cy="2454275"/>
            <a:chOff x="3899" y="2140"/>
            <a:chExt cx="253" cy="1546"/>
          </a:xfrm>
        </p:grpSpPr>
        <p:sp>
          <p:nvSpPr>
            <p:cNvPr id="15376" name="Text Box 35"/>
            <p:cNvSpPr txBox="1">
              <a:spLocks noChangeArrowheads="1"/>
            </p:cNvSpPr>
            <p:nvPr/>
          </p:nvSpPr>
          <p:spPr bwMode="auto">
            <a:xfrm>
              <a:off x="3899" y="3446"/>
              <a:ext cx="253"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b="1" i="1">
                  <a:solidFill>
                    <a:srgbClr val="000000"/>
                  </a:solidFill>
                  <a:latin typeface="Arial"/>
                  <a:cs typeface="Arial"/>
                </a:rPr>
                <a:t>Q</a:t>
              </a:r>
              <a:r>
                <a:rPr lang="en-US" sz="2500" b="1" baseline="-25000">
                  <a:solidFill>
                    <a:srgbClr val="000000"/>
                  </a:solidFill>
                  <a:latin typeface="Arial"/>
                  <a:cs typeface="Arial"/>
                </a:rPr>
                <a:t>b</a:t>
              </a:r>
            </a:p>
          </p:txBody>
        </p:sp>
        <p:sp>
          <p:nvSpPr>
            <p:cNvPr id="15377" name="Line 45"/>
            <p:cNvSpPr>
              <a:spLocks noChangeShapeType="1"/>
            </p:cNvSpPr>
            <p:nvPr/>
          </p:nvSpPr>
          <p:spPr bwMode="auto">
            <a:xfrm>
              <a:off x="3995" y="2171"/>
              <a:ext cx="0" cy="1268"/>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15378" name="Oval 46"/>
            <p:cNvSpPr>
              <a:spLocks noChangeArrowheads="1"/>
            </p:cNvSpPr>
            <p:nvPr/>
          </p:nvSpPr>
          <p:spPr bwMode="auto">
            <a:xfrm>
              <a:off x="3950" y="2480"/>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sp>
          <p:nvSpPr>
            <p:cNvPr id="15379" name="Oval 47"/>
            <p:cNvSpPr>
              <a:spLocks noChangeArrowheads="1"/>
            </p:cNvSpPr>
            <p:nvPr/>
          </p:nvSpPr>
          <p:spPr bwMode="auto">
            <a:xfrm>
              <a:off x="3948" y="2140"/>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grpSp>
      <p:sp>
        <p:nvSpPr>
          <p:cNvPr id="104508" name="Rectangle 60"/>
          <p:cNvSpPr>
            <a:spLocks noChangeArrowheads="1"/>
          </p:cNvSpPr>
          <p:nvPr/>
        </p:nvSpPr>
        <p:spPr bwMode="auto">
          <a:xfrm>
            <a:off x="2912188" y="723901"/>
            <a:ext cx="6467475" cy="473075"/>
          </a:xfrm>
          <a:prstGeom prst="rect">
            <a:avLst/>
          </a:prstGeom>
          <a:solidFill>
            <a:srgbClr val="FFCCFF"/>
          </a:solidFill>
          <a:ln w="9525">
            <a:noFill/>
            <a:miter lim="800000"/>
            <a:headEnd/>
            <a:tailEnd/>
          </a:ln>
          <a:effectLst>
            <a:outerShdw blurRad="50800" dist="38100" dir="2700000" algn="tl" rotWithShape="0">
              <a:prstClr val="black">
                <a:alpha val="40000"/>
              </a:prstClr>
            </a:outerShdw>
          </a:effectLst>
        </p:spPr>
        <p:txBody>
          <a:bodyPr>
            <a:spAutoFit/>
          </a:bodyPr>
          <a:lstStyle/>
          <a:p>
            <a:pPr algn="ctr" defTabSz="914400"/>
            <a:r>
              <a:rPr lang="en-US" sz="2500" dirty="0">
                <a:solidFill>
                  <a:srgbClr val="000000"/>
                </a:solidFill>
                <a:latin typeface="Arial"/>
                <a:cs typeface="Arial"/>
              </a:rPr>
              <a:t>Rule:  </a:t>
            </a:r>
            <a:r>
              <a:rPr lang="en-US" sz="2500" i="1" dirty="0">
                <a:solidFill>
                  <a:srgbClr val="000000"/>
                </a:solidFill>
                <a:latin typeface="Arial"/>
                <a:cs typeface="Arial"/>
              </a:rPr>
              <a:t>MR</a:t>
            </a:r>
            <a:r>
              <a:rPr lang="en-US" sz="2500" dirty="0">
                <a:solidFill>
                  <a:srgbClr val="000000"/>
                </a:solidFill>
                <a:latin typeface="Arial"/>
                <a:cs typeface="Arial"/>
              </a:rPr>
              <a:t> = </a:t>
            </a:r>
            <a:r>
              <a:rPr lang="en-US" sz="2500" i="1" dirty="0">
                <a:solidFill>
                  <a:srgbClr val="000000"/>
                </a:solidFill>
                <a:latin typeface="Arial"/>
                <a:cs typeface="Arial"/>
              </a:rPr>
              <a:t>MC</a:t>
            </a:r>
            <a:r>
              <a:rPr lang="en-US" sz="2500" dirty="0">
                <a:solidFill>
                  <a:srgbClr val="000000"/>
                </a:solidFill>
                <a:latin typeface="Arial"/>
                <a:cs typeface="Arial"/>
              </a:rPr>
              <a:t> at the profit-maximizing </a:t>
            </a:r>
            <a:r>
              <a:rPr lang="en-US" sz="2500" b="1" i="1" dirty="0">
                <a:solidFill>
                  <a:srgbClr val="000000"/>
                </a:solidFill>
                <a:latin typeface="Arial"/>
                <a:cs typeface="Arial"/>
              </a:rPr>
              <a:t>Q</a:t>
            </a:r>
            <a:r>
              <a:rPr lang="en-US" sz="2500" dirty="0">
                <a:solidFill>
                  <a:srgbClr val="000000"/>
                </a:solidFill>
                <a:latin typeface="Arial"/>
                <a:cs typeface="Arial"/>
              </a:rPr>
              <a:t>.</a:t>
            </a:r>
          </a:p>
        </p:txBody>
      </p:sp>
      <p:sp>
        <p:nvSpPr>
          <p:cNvPr id="104510" name="Line 62"/>
          <p:cNvSpPr>
            <a:spLocks noChangeShapeType="1"/>
          </p:cNvSpPr>
          <p:nvPr/>
        </p:nvSpPr>
        <p:spPr bwMode="auto">
          <a:xfrm>
            <a:off x="6740525" y="5613400"/>
            <a:ext cx="349250" cy="0"/>
          </a:xfrm>
          <a:prstGeom prst="line">
            <a:avLst/>
          </a:prstGeom>
          <a:noFill/>
          <a:ln w="53975">
            <a:solidFill>
              <a:srgbClr val="FF0000"/>
            </a:solidFill>
            <a:round/>
            <a:headEnd/>
            <a:tailEnd type="triangle" w="med" len="med"/>
          </a:ln>
        </p:spPr>
        <p:txBody>
          <a:bodyPr/>
          <a:lstStyle/>
          <a:p>
            <a:pPr defTabSz="914400"/>
            <a:endParaRPr lang="en-US">
              <a:solidFill>
                <a:srgbClr val="000000"/>
              </a:solidFill>
              <a:latin typeface="Arial"/>
              <a:cs typeface="Arial"/>
            </a:endParaRPr>
          </a:p>
        </p:txBody>
      </p:sp>
      <p:sp>
        <p:nvSpPr>
          <p:cNvPr id="104511" name="Line 63"/>
          <p:cNvSpPr>
            <a:spLocks noChangeShapeType="1"/>
          </p:cNvSpPr>
          <p:nvPr/>
        </p:nvSpPr>
        <p:spPr bwMode="auto">
          <a:xfrm>
            <a:off x="7518400" y="5614988"/>
            <a:ext cx="344488" cy="0"/>
          </a:xfrm>
          <a:prstGeom prst="line">
            <a:avLst/>
          </a:prstGeom>
          <a:noFill/>
          <a:ln w="53975">
            <a:solidFill>
              <a:srgbClr val="FF0000"/>
            </a:solidFill>
            <a:round/>
            <a:headEnd type="triangle" w="med" len="med"/>
            <a:tailEnd/>
          </a:ln>
        </p:spPr>
        <p:txBody>
          <a:bodyPr/>
          <a:lstStyle/>
          <a:p>
            <a:pPr defTabSz="914400"/>
            <a:endParaRPr lang="en-US">
              <a:solidFill>
                <a:srgbClr val="000000"/>
              </a:solidFill>
              <a:latin typeface="Arial"/>
              <a:cs typeface="Arial"/>
            </a:endParaRPr>
          </a:p>
        </p:txBody>
      </p:sp>
      <p:sp>
        <p:nvSpPr>
          <p:cNvPr id="15375" name="FlagCount" hidden="1">
            <a:hlinkClick r:id="rId3" action="ppaction://hlinkfile"/>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defTabSz="914400"/>
            <a:r>
              <a:rPr lang="en-US" sz="1400" b="1">
                <a:solidFill>
                  <a:srgbClr val="000000"/>
                </a:solidFill>
                <a:latin typeface="Tahoma" pitchFamily="34" charset="0"/>
                <a:cs typeface="Arial" charset="0"/>
              </a:rPr>
              <a:t>0</a:t>
            </a:r>
          </a:p>
        </p:txBody>
      </p:sp>
      <p:sp>
        <p:nvSpPr>
          <p:cNvPr id="9" name="Footer Placeholder 8"/>
          <p:cNvSpPr>
            <a:spLocks noGrp="1"/>
          </p:cNvSpPr>
          <p:nvPr>
            <p:ph type="ftr" sz="quarter" idx="14"/>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10" name="Slide Number Placeholder 9"/>
          <p:cNvSpPr>
            <a:spLocks noGrp="1"/>
          </p:cNvSpPr>
          <p:nvPr>
            <p:ph type="sldNum" sz="quarter" idx="13"/>
          </p:nvPr>
        </p:nvSpPr>
        <p:spPr/>
        <p:txBody>
          <a:bodyPr/>
          <a:lstStyle/>
          <a:p>
            <a:pPr defTabSz="914400">
              <a:defRPr/>
            </a:pPr>
            <a:fld id="{2F37425F-5E17-4209-B948-B5CE2119E408}" type="slidenum">
              <a:rPr lang="en-US">
                <a:latin typeface="Arial"/>
              </a:rPr>
              <a:pPr defTabSz="914400">
                <a:defRPr/>
              </a:pPr>
              <a:t>7</a:t>
            </a:fld>
            <a:endParaRPr lang="en-US" dirty="0">
              <a:latin typeface="Arial"/>
            </a:endParaRPr>
          </a:p>
        </p:txBody>
      </p:sp>
    </p:spTree>
    <p:extLst>
      <p:ext uri="{BB962C8B-B14F-4D97-AF65-F5344CB8AC3E}">
        <p14:creationId xmlns:p14="http://schemas.microsoft.com/office/powerpoint/2010/main" val="293800531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Effect transition="in" filter="wipe(left)">
                                      <p:cBhvr>
                                        <p:cTn id="12" dur="500"/>
                                        <p:tgtEl>
                                          <p:spTgt spid="104451">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4451">
                                            <p:txEl>
                                              <p:pRg st="1" end="1"/>
                                            </p:txEl>
                                          </p:spTgt>
                                        </p:tgtEl>
                                        <p:attrNameLst>
                                          <p:attrName>style.visibility</p:attrName>
                                        </p:attrNameLst>
                                      </p:cBhvr>
                                      <p:to>
                                        <p:strVal val="visible"/>
                                      </p:to>
                                    </p:set>
                                    <p:animEffect transition="in" filter="wipe(left)">
                                      <p:cBhvr>
                                        <p:cTn id="20" dur="500"/>
                                        <p:tgtEl>
                                          <p:spTgt spid="104451">
                                            <p:txEl>
                                              <p:pRg st="1" end="1"/>
                                            </p:txEl>
                                          </p:spTgt>
                                        </p:tgtEl>
                                      </p:cBhvr>
                                    </p:animEffect>
                                  </p:childTnLst>
                                </p:cTn>
                              </p:par>
                              <p:par>
                                <p:cTn id="21" presetID="17" presetClass="entr" presetSubtype="8" fill="hold" grpId="0" nodeType="withEffect">
                                  <p:stCondLst>
                                    <p:cond delay="0"/>
                                  </p:stCondLst>
                                  <p:childTnLst>
                                    <p:set>
                                      <p:cBhvr>
                                        <p:cTn id="22" dur="1" fill="hold">
                                          <p:stCondLst>
                                            <p:cond delay="0"/>
                                          </p:stCondLst>
                                        </p:cTn>
                                        <p:tgtEl>
                                          <p:spTgt spid="104510"/>
                                        </p:tgtEl>
                                        <p:attrNameLst>
                                          <p:attrName>style.visibility</p:attrName>
                                        </p:attrNameLst>
                                      </p:cBhvr>
                                      <p:to>
                                        <p:strVal val="visible"/>
                                      </p:to>
                                    </p:set>
                                    <p:anim calcmode="lin" valueType="num">
                                      <p:cBhvr>
                                        <p:cTn id="23" dur="500" fill="hold"/>
                                        <p:tgtEl>
                                          <p:spTgt spid="104510"/>
                                        </p:tgtEl>
                                        <p:attrNameLst>
                                          <p:attrName>ppt_x</p:attrName>
                                        </p:attrNameLst>
                                      </p:cBhvr>
                                      <p:tavLst>
                                        <p:tav tm="0">
                                          <p:val>
                                            <p:strVal val="#ppt_x-#ppt_w/2"/>
                                          </p:val>
                                        </p:tav>
                                        <p:tav tm="100000">
                                          <p:val>
                                            <p:strVal val="#ppt_x"/>
                                          </p:val>
                                        </p:tav>
                                      </p:tavLst>
                                    </p:anim>
                                    <p:anim calcmode="lin" valueType="num">
                                      <p:cBhvr>
                                        <p:cTn id="24" dur="500" fill="hold"/>
                                        <p:tgtEl>
                                          <p:spTgt spid="104510"/>
                                        </p:tgtEl>
                                        <p:attrNameLst>
                                          <p:attrName>ppt_y</p:attrName>
                                        </p:attrNameLst>
                                      </p:cBhvr>
                                      <p:tavLst>
                                        <p:tav tm="0">
                                          <p:val>
                                            <p:strVal val="#ppt_y"/>
                                          </p:val>
                                        </p:tav>
                                        <p:tav tm="100000">
                                          <p:val>
                                            <p:strVal val="#ppt_y"/>
                                          </p:val>
                                        </p:tav>
                                      </p:tavLst>
                                    </p:anim>
                                    <p:anim calcmode="lin" valueType="num">
                                      <p:cBhvr>
                                        <p:cTn id="25" dur="500" fill="hold"/>
                                        <p:tgtEl>
                                          <p:spTgt spid="104510"/>
                                        </p:tgtEl>
                                        <p:attrNameLst>
                                          <p:attrName>ppt_w</p:attrName>
                                        </p:attrNameLst>
                                      </p:cBhvr>
                                      <p:tavLst>
                                        <p:tav tm="0">
                                          <p:val>
                                            <p:fltVal val="0"/>
                                          </p:val>
                                        </p:tav>
                                        <p:tav tm="100000">
                                          <p:val>
                                            <p:strVal val="#ppt_w"/>
                                          </p:val>
                                        </p:tav>
                                      </p:tavLst>
                                    </p:anim>
                                    <p:anim calcmode="lin" valueType="num">
                                      <p:cBhvr>
                                        <p:cTn id="26" dur="500" fill="hold"/>
                                        <p:tgtEl>
                                          <p:spTgt spid="10451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4451">
                                            <p:txEl>
                                              <p:pRg st="2" end="2"/>
                                            </p:txEl>
                                          </p:spTgt>
                                        </p:tgtEl>
                                        <p:attrNameLst>
                                          <p:attrName>style.visibility</p:attrName>
                                        </p:attrNameLst>
                                      </p:cBhvr>
                                      <p:to>
                                        <p:strVal val="visible"/>
                                      </p:to>
                                    </p:set>
                                    <p:animEffect transition="in" filter="wipe(left)">
                                      <p:cBhvr>
                                        <p:cTn id="31" dur="500"/>
                                        <p:tgtEl>
                                          <p:spTgt spid="104451">
                                            <p:txEl>
                                              <p:pRg st="2" end="2"/>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4451">
                                            <p:txEl>
                                              <p:pRg st="3" end="3"/>
                                            </p:txEl>
                                          </p:spTgt>
                                        </p:tgtEl>
                                        <p:attrNameLst>
                                          <p:attrName>style.visibility</p:attrName>
                                        </p:attrNameLst>
                                      </p:cBhvr>
                                      <p:to>
                                        <p:strVal val="visible"/>
                                      </p:to>
                                    </p:set>
                                    <p:animEffect transition="in" filter="wipe(left)">
                                      <p:cBhvr>
                                        <p:cTn id="39" dur="500"/>
                                        <p:tgtEl>
                                          <p:spTgt spid="104451">
                                            <p:txEl>
                                              <p:pRg st="3" end="3"/>
                                            </p:txEl>
                                          </p:spTgt>
                                        </p:tgtEl>
                                      </p:cBhvr>
                                    </p:animEffect>
                                  </p:childTnLst>
                                </p:cTn>
                              </p:par>
                              <p:par>
                                <p:cTn id="40" presetID="17" presetClass="entr" presetSubtype="2" fill="hold" grpId="0" nodeType="withEffect">
                                  <p:stCondLst>
                                    <p:cond delay="0"/>
                                  </p:stCondLst>
                                  <p:childTnLst>
                                    <p:set>
                                      <p:cBhvr>
                                        <p:cTn id="41" dur="1" fill="hold">
                                          <p:stCondLst>
                                            <p:cond delay="0"/>
                                          </p:stCondLst>
                                        </p:cTn>
                                        <p:tgtEl>
                                          <p:spTgt spid="104511"/>
                                        </p:tgtEl>
                                        <p:attrNameLst>
                                          <p:attrName>style.visibility</p:attrName>
                                        </p:attrNameLst>
                                      </p:cBhvr>
                                      <p:to>
                                        <p:strVal val="visible"/>
                                      </p:to>
                                    </p:set>
                                    <p:anim calcmode="lin" valueType="num">
                                      <p:cBhvr>
                                        <p:cTn id="42" dur="500" fill="hold"/>
                                        <p:tgtEl>
                                          <p:spTgt spid="104511"/>
                                        </p:tgtEl>
                                        <p:attrNameLst>
                                          <p:attrName>ppt_x</p:attrName>
                                        </p:attrNameLst>
                                      </p:cBhvr>
                                      <p:tavLst>
                                        <p:tav tm="0">
                                          <p:val>
                                            <p:strVal val="#ppt_x+#ppt_w/2"/>
                                          </p:val>
                                        </p:tav>
                                        <p:tav tm="100000">
                                          <p:val>
                                            <p:strVal val="#ppt_x"/>
                                          </p:val>
                                        </p:tav>
                                      </p:tavLst>
                                    </p:anim>
                                    <p:anim calcmode="lin" valueType="num">
                                      <p:cBhvr>
                                        <p:cTn id="43" dur="500" fill="hold"/>
                                        <p:tgtEl>
                                          <p:spTgt spid="104511"/>
                                        </p:tgtEl>
                                        <p:attrNameLst>
                                          <p:attrName>ppt_y</p:attrName>
                                        </p:attrNameLst>
                                      </p:cBhvr>
                                      <p:tavLst>
                                        <p:tav tm="0">
                                          <p:val>
                                            <p:strVal val="#ppt_y"/>
                                          </p:val>
                                        </p:tav>
                                        <p:tav tm="100000">
                                          <p:val>
                                            <p:strVal val="#ppt_y"/>
                                          </p:val>
                                        </p:tav>
                                      </p:tavLst>
                                    </p:anim>
                                    <p:anim calcmode="lin" valueType="num">
                                      <p:cBhvr>
                                        <p:cTn id="44" dur="500" fill="hold"/>
                                        <p:tgtEl>
                                          <p:spTgt spid="104511"/>
                                        </p:tgtEl>
                                        <p:attrNameLst>
                                          <p:attrName>ppt_w</p:attrName>
                                        </p:attrNameLst>
                                      </p:cBhvr>
                                      <p:tavLst>
                                        <p:tav tm="0">
                                          <p:val>
                                            <p:fltVal val="0"/>
                                          </p:val>
                                        </p:tav>
                                        <p:tav tm="100000">
                                          <p:val>
                                            <p:strVal val="#ppt_w"/>
                                          </p:val>
                                        </p:tav>
                                      </p:tavLst>
                                    </p:anim>
                                    <p:anim calcmode="lin" valueType="num">
                                      <p:cBhvr>
                                        <p:cTn id="45" dur="500" fill="hold"/>
                                        <p:tgtEl>
                                          <p:spTgt spid="104511"/>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4451">
                                            <p:txEl>
                                              <p:pRg st="4" end="4"/>
                                            </p:txEl>
                                          </p:spTgt>
                                        </p:tgtEl>
                                        <p:attrNameLst>
                                          <p:attrName>style.visibility</p:attrName>
                                        </p:attrNameLst>
                                      </p:cBhvr>
                                      <p:to>
                                        <p:strVal val="visible"/>
                                      </p:to>
                                    </p:set>
                                    <p:animEffect transition="in" filter="wipe(left)">
                                      <p:cBhvr>
                                        <p:cTn id="50" dur="500"/>
                                        <p:tgtEl>
                                          <p:spTgt spid="104451">
                                            <p:txEl>
                                              <p:pRg st="4" end="4"/>
                                            </p:txEl>
                                          </p:spTgt>
                                        </p:tgtEl>
                                      </p:cBhvr>
                                    </p:animEffect>
                                  </p:childTnLst>
                                </p:cTn>
                              </p:par>
                              <p:par>
                                <p:cTn id="51" presetID="22" presetClass="entr" presetSubtype="1" fill="hold"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up)">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4451">
                                            <p:txEl>
                                              <p:pRg st="5" end="5"/>
                                            </p:txEl>
                                          </p:spTgt>
                                        </p:tgtEl>
                                        <p:attrNameLst>
                                          <p:attrName>style.visibility</p:attrName>
                                        </p:attrNameLst>
                                      </p:cBhvr>
                                      <p:to>
                                        <p:strVal val="visible"/>
                                      </p:to>
                                    </p:set>
                                    <p:animEffect transition="in" filter="wipe(left)">
                                      <p:cBhvr>
                                        <p:cTn id="58" dur="500"/>
                                        <p:tgtEl>
                                          <p:spTgt spid="104451">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04508"/>
                                        </p:tgtEl>
                                        <p:attrNameLst>
                                          <p:attrName>style.visibility</p:attrName>
                                        </p:attrNameLst>
                                      </p:cBhvr>
                                      <p:to>
                                        <p:strVal val="visible"/>
                                      </p:to>
                                    </p:set>
                                    <p:animEffect transition="in" filter="fade">
                                      <p:cBhvr>
                                        <p:cTn id="63" dur="500"/>
                                        <p:tgtEl>
                                          <p:spTgt spid="104508"/>
                                        </p:tgtEl>
                                      </p:cBhvr>
                                    </p:animEffect>
                                  </p:childTnLst>
                                </p:cTn>
                              </p:par>
                              <p:par>
                                <p:cTn id="64" presetID="10" presetClass="exit" presetSubtype="0" fill="hold" nodeType="withEffect">
                                  <p:stCondLst>
                                    <p:cond delay="0"/>
                                  </p:stCondLst>
                                  <p:childTnLst>
                                    <p:animEffect transition="out" filter="fade">
                                      <p:cBhvr>
                                        <p:cTn id="65" dur="500"/>
                                        <p:tgtEl>
                                          <p:spTgt spid="7"/>
                                        </p:tgtEl>
                                      </p:cBhvr>
                                    </p:animEffect>
                                    <p:set>
                                      <p:cBhvr>
                                        <p:cTn id="66" dur="1" fill="hold">
                                          <p:stCondLst>
                                            <p:cond delay="499"/>
                                          </p:stCondLst>
                                        </p:cTn>
                                        <p:tgtEl>
                                          <p:spTgt spid="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8"/>
                                        </p:tgtEl>
                                      </p:cBhvr>
                                    </p:animEffect>
                                    <p:set>
                                      <p:cBhvr>
                                        <p:cTn id="69" dur="1" fill="hold">
                                          <p:stCondLst>
                                            <p:cond delay="499"/>
                                          </p:stCondLst>
                                        </p:cTn>
                                        <p:tgtEl>
                                          <p:spTgt spid="8"/>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104511"/>
                                        </p:tgtEl>
                                      </p:cBhvr>
                                    </p:animEffect>
                                    <p:set>
                                      <p:cBhvr>
                                        <p:cTn id="72" dur="1" fill="hold">
                                          <p:stCondLst>
                                            <p:cond delay="499"/>
                                          </p:stCondLst>
                                        </p:cTn>
                                        <p:tgtEl>
                                          <p:spTgt spid="104511"/>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104510"/>
                                        </p:tgtEl>
                                      </p:cBhvr>
                                    </p:animEffect>
                                    <p:set>
                                      <p:cBhvr>
                                        <p:cTn id="75" dur="1" fill="hold">
                                          <p:stCondLst>
                                            <p:cond delay="499"/>
                                          </p:stCondLst>
                                        </p:cTn>
                                        <p:tgtEl>
                                          <p:spTgt spid="1045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bldLvl="5"/>
      <p:bldP spid="104508" grpId="0" animBg="1"/>
      <p:bldP spid="104510" grpId="0" animBg="1"/>
      <p:bldP spid="104510" grpId="1" animBg="1"/>
      <p:bldP spid="104511" grpId="0" animBg="1"/>
      <p:bldP spid="104511" grpId="1"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41"/>
          <p:cNvGrpSpPr>
            <a:grpSpLocks/>
          </p:cNvGrpSpPr>
          <p:nvPr/>
        </p:nvGrpSpPr>
        <p:grpSpPr bwMode="auto">
          <a:xfrm>
            <a:off x="5197476" y="3935414"/>
            <a:ext cx="4994275" cy="473075"/>
            <a:chOff x="2314" y="2479"/>
            <a:chExt cx="3146" cy="298"/>
          </a:xfrm>
        </p:grpSpPr>
        <p:sp>
          <p:nvSpPr>
            <p:cNvPr id="16415" name="Line 3"/>
            <p:cNvSpPr>
              <a:spLocks noChangeShapeType="1"/>
            </p:cNvSpPr>
            <p:nvPr/>
          </p:nvSpPr>
          <p:spPr bwMode="auto">
            <a:xfrm>
              <a:off x="2726" y="2630"/>
              <a:ext cx="2250" cy="0"/>
            </a:xfrm>
            <a:prstGeom prst="line">
              <a:avLst/>
            </a:prstGeom>
            <a:noFill/>
            <a:ln w="28575">
              <a:solidFill>
                <a:schemeClr val="bg2">
                  <a:lumMod val="50000"/>
                </a:schemeClr>
              </a:solidFill>
              <a:round/>
              <a:headEnd/>
              <a:tailEnd/>
            </a:ln>
          </p:spPr>
          <p:txBody>
            <a:bodyPr/>
            <a:lstStyle/>
            <a:p>
              <a:pPr defTabSz="914400"/>
              <a:endParaRPr lang="en-US">
                <a:solidFill>
                  <a:srgbClr val="000000"/>
                </a:solidFill>
                <a:latin typeface="Arial"/>
                <a:cs typeface="Arial"/>
              </a:endParaRPr>
            </a:p>
          </p:txBody>
        </p:sp>
        <p:sp>
          <p:nvSpPr>
            <p:cNvPr id="16416" name="Text Box 4"/>
            <p:cNvSpPr txBox="1">
              <a:spLocks noChangeArrowheads="1"/>
            </p:cNvSpPr>
            <p:nvPr/>
          </p:nvSpPr>
          <p:spPr bwMode="auto">
            <a:xfrm>
              <a:off x="2314" y="2479"/>
              <a:ext cx="387" cy="298"/>
            </a:xfrm>
            <a:prstGeom prst="rect">
              <a:avLst/>
            </a:prstGeom>
            <a:noFill/>
            <a:ln w="9525">
              <a:noFill/>
              <a:miter lim="800000"/>
              <a:headEnd/>
              <a:tailEnd/>
            </a:ln>
          </p:spPr>
          <p:txBody>
            <a:bodyPr>
              <a:spAutoFit/>
            </a:bodyPr>
            <a:lstStyle/>
            <a:p>
              <a:pPr algn="r" defTabSz="914400">
                <a:spcBef>
                  <a:spcPct val="50000"/>
                </a:spcBef>
              </a:pPr>
              <a:r>
                <a:rPr lang="en-US" sz="2500" b="1" i="1">
                  <a:solidFill>
                    <a:srgbClr val="000000"/>
                  </a:solidFill>
                  <a:latin typeface="Arial"/>
                  <a:cs typeface="Arial"/>
                </a:rPr>
                <a:t>P</a:t>
              </a:r>
              <a:r>
                <a:rPr lang="en-US" sz="2500" b="1" baseline="-25000">
                  <a:solidFill>
                    <a:srgbClr val="000000"/>
                  </a:solidFill>
                  <a:latin typeface="Arial"/>
                  <a:cs typeface="Arial"/>
                </a:rPr>
                <a:t>1</a:t>
              </a:r>
            </a:p>
          </p:txBody>
        </p:sp>
        <p:sp>
          <p:nvSpPr>
            <p:cNvPr id="16417" name="Text Box 5"/>
            <p:cNvSpPr txBox="1">
              <a:spLocks noChangeArrowheads="1"/>
            </p:cNvSpPr>
            <p:nvPr/>
          </p:nvSpPr>
          <p:spPr bwMode="auto">
            <a:xfrm>
              <a:off x="5010" y="2506"/>
              <a:ext cx="450"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MR</a:t>
              </a:r>
              <a:endParaRPr lang="en-US" sz="2500" i="1" baseline="-25000">
                <a:solidFill>
                  <a:srgbClr val="000000"/>
                </a:solidFill>
                <a:latin typeface="Arial"/>
                <a:cs typeface="Arial"/>
              </a:endParaRPr>
            </a:p>
          </p:txBody>
        </p:sp>
      </p:grpSp>
      <p:grpSp>
        <p:nvGrpSpPr>
          <p:cNvPr id="3" name="Group 42"/>
          <p:cNvGrpSpPr>
            <a:grpSpLocks/>
          </p:cNvGrpSpPr>
          <p:nvPr/>
        </p:nvGrpSpPr>
        <p:grpSpPr bwMode="auto">
          <a:xfrm>
            <a:off x="5194301" y="2787651"/>
            <a:ext cx="4994275" cy="473075"/>
            <a:chOff x="2312" y="1756"/>
            <a:chExt cx="3146" cy="298"/>
          </a:xfrm>
        </p:grpSpPr>
        <p:sp>
          <p:nvSpPr>
            <p:cNvPr id="16412" name="Line 7"/>
            <p:cNvSpPr>
              <a:spLocks noChangeShapeType="1"/>
            </p:cNvSpPr>
            <p:nvPr/>
          </p:nvSpPr>
          <p:spPr bwMode="auto">
            <a:xfrm>
              <a:off x="2724" y="1907"/>
              <a:ext cx="2250" cy="0"/>
            </a:xfrm>
            <a:prstGeom prst="line">
              <a:avLst/>
            </a:prstGeom>
            <a:noFill/>
            <a:ln w="28575">
              <a:solidFill>
                <a:srgbClr val="CC0000"/>
              </a:solidFill>
              <a:round/>
              <a:headEnd/>
              <a:tailEnd/>
            </a:ln>
          </p:spPr>
          <p:txBody>
            <a:bodyPr/>
            <a:lstStyle/>
            <a:p>
              <a:pPr defTabSz="914400"/>
              <a:endParaRPr lang="en-US">
                <a:solidFill>
                  <a:srgbClr val="000000"/>
                </a:solidFill>
                <a:latin typeface="Arial"/>
                <a:cs typeface="Arial"/>
              </a:endParaRPr>
            </a:p>
          </p:txBody>
        </p:sp>
        <p:sp>
          <p:nvSpPr>
            <p:cNvPr id="16413" name="Text Box 8"/>
            <p:cNvSpPr txBox="1">
              <a:spLocks noChangeArrowheads="1"/>
            </p:cNvSpPr>
            <p:nvPr/>
          </p:nvSpPr>
          <p:spPr bwMode="auto">
            <a:xfrm>
              <a:off x="2312" y="1756"/>
              <a:ext cx="387" cy="298"/>
            </a:xfrm>
            <a:prstGeom prst="rect">
              <a:avLst/>
            </a:prstGeom>
            <a:noFill/>
            <a:ln w="9525">
              <a:noFill/>
              <a:miter lim="800000"/>
              <a:headEnd/>
              <a:tailEnd/>
            </a:ln>
          </p:spPr>
          <p:txBody>
            <a:bodyPr>
              <a:spAutoFit/>
            </a:bodyPr>
            <a:lstStyle/>
            <a:p>
              <a:pPr algn="r" defTabSz="914400">
                <a:spcBef>
                  <a:spcPct val="50000"/>
                </a:spcBef>
              </a:pPr>
              <a:r>
                <a:rPr lang="en-US" sz="2500" b="1" i="1">
                  <a:solidFill>
                    <a:srgbClr val="000000"/>
                  </a:solidFill>
                  <a:latin typeface="Arial"/>
                  <a:cs typeface="Arial"/>
                </a:rPr>
                <a:t>P</a:t>
              </a:r>
              <a:r>
                <a:rPr lang="en-US" sz="2500" b="1" baseline="-25000">
                  <a:solidFill>
                    <a:srgbClr val="000000"/>
                  </a:solidFill>
                  <a:latin typeface="Arial"/>
                  <a:cs typeface="Arial"/>
                </a:rPr>
                <a:t>2</a:t>
              </a:r>
            </a:p>
          </p:txBody>
        </p:sp>
        <p:sp>
          <p:nvSpPr>
            <p:cNvPr id="16414" name="Text Box 9"/>
            <p:cNvSpPr txBox="1">
              <a:spLocks noChangeArrowheads="1"/>
            </p:cNvSpPr>
            <p:nvPr/>
          </p:nvSpPr>
          <p:spPr bwMode="auto">
            <a:xfrm>
              <a:off x="5015" y="1790"/>
              <a:ext cx="443"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MR</a:t>
              </a:r>
              <a:r>
                <a:rPr lang="en-US" sz="2500" b="1" baseline="-25000">
                  <a:solidFill>
                    <a:srgbClr val="000000"/>
                  </a:solidFill>
                  <a:latin typeface="Arial"/>
                  <a:cs typeface="Arial"/>
                </a:rPr>
                <a:t>2</a:t>
              </a:r>
            </a:p>
          </p:txBody>
        </p:sp>
      </p:grpSp>
      <p:sp>
        <p:nvSpPr>
          <p:cNvPr id="16390" name="Rectangle 10"/>
          <p:cNvSpPr>
            <a:spLocks noGrp="1" noChangeArrowheads="1"/>
          </p:cNvSpPr>
          <p:nvPr>
            <p:ph type="title"/>
          </p:nvPr>
        </p:nvSpPr>
        <p:spPr/>
        <p:txBody>
          <a:bodyPr/>
          <a:lstStyle/>
          <a:p>
            <a:pPr eaLnBrk="1" hangingPunct="1"/>
            <a:r>
              <a:rPr lang="en-US" sz="3400"/>
              <a:t>MC and the Firm’s Supply Decision</a:t>
            </a:r>
          </a:p>
        </p:txBody>
      </p:sp>
      <p:sp>
        <p:nvSpPr>
          <p:cNvPr id="107531" name="Rectangle 11"/>
          <p:cNvSpPr>
            <a:spLocks noGrp="1" noChangeArrowheads="1"/>
          </p:cNvSpPr>
          <p:nvPr>
            <p:ph type="body" sz="quarter" idx="12"/>
          </p:nvPr>
        </p:nvSpPr>
        <p:spPr>
          <a:xfrm>
            <a:off x="1828800" y="806450"/>
            <a:ext cx="3365500" cy="5518150"/>
          </a:xfrm>
        </p:spPr>
        <p:txBody>
          <a:bodyPr/>
          <a:lstStyle/>
          <a:p>
            <a:pPr eaLnBrk="1" hangingPunct="1">
              <a:spcBef>
                <a:spcPct val="50000"/>
              </a:spcBef>
            </a:pPr>
            <a:r>
              <a:rPr lang="en-US" sz="2800" dirty="0"/>
              <a:t>If price rises to </a:t>
            </a:r>
            <a:r>
              <a:rPr lang="en-US" sz="2800" b="1" i="1" dirty="0"/>
              <a:t>P</a:t>
            </a:r>
            <a:r>
              <a:rPr lang="en-US" sz="2800" b="1" baseline="-25000" dirty="0"/>
              <a:t>2</a:t>
            </a:r>
            <a:r>
              <a:rPr lang="en-US" sz="2800" dirty="0"/>
              <a:t>,</a:t>
            </a:r>
          </a:p>
          <a:p>
            <a:pPr eaLnBrk="1" hangingPunct="1">
              <a:spcBef>
                <a:spcPct val="20000"/>
              </a:spcBef>
            </a:pPr>
            <a:r>
              <a:rPr lang="en-US" sz="2800" dirty="0"/>
              <a:t>then the profit-maximizing quantity rises to </a:t>
            </a:r>
            <a:r>
              <a:rPr lang="en-US" sz="2800" b="1" i="1" dirty="0"/>
              <a:t>Q</a:t>
            </a:r>
            <a:r>
              <a:rPr lang="en-US" sz="2800" b="1" baseline="-25000" dirty="0"/>
              <a:t>2</a:t>
            </a:r>
            <a:r>
              <a:rPr lang="en-US" sz="2800" dirty="0"/>
              <a:t>. </a:t>
            </a:r>
          </a:p>
          <a:p>
            <a:pPr eaLnBrk="1" hangingPunct="1">
              <a:spcBef>
                <a:spcPct val="50000"/>
              </a:spcBef>
            </a:pPr>
            <a:r>
              <a:rPr lang="en-US" sz="2800" dirty="0"/>
              <a:t>The </a:t>
            </a:r>
            <a:r>
              <a:rPr lang="en-US" sz="2800" i="1" dirty="0"/>
              <a:t>MC</a:t>
            </a:r>
            <a:r>
              <a:rPr lang="en-US" sz="2800" dirty="0"/>
              <a:t> curve determines the </a:t>
            </a:r>
            <a:br>
              <a:rPr lang="en-US" sz="2800" dirty="0"/>
            </a:br>
            <a:r>
              <a:rPr lang="en-US" sz="2800" dirty="0"/>
              <a:t>firm’s </a:t>
            </a:r>
            <a:r>
              <a:rPr lang="en-US" sz="2800" b="1" i="1" dirty="0"/>
              <a:t>Q</a:t>
            </a:r>
            <a:r>
              <a:rPr lang="en-US" sz="2800" dirty="0"/>
              <a:t> at any price.  </a:t>
            </a:r>
          </a:p>
          <a:p>
            <a:pPr eaLnBrk="1" hangingPunct="1">
              <a:spcBef>
                <a:spcPct val="50000"/>
              </a:spcBef>
            </a:pPr>
            <a:r>
              <a:rPr lang="en-US" sz="2800" dirty="0"/>
              <a:t>Hence, the MC curve is the firm’s supply curve</a:t>
            </a:r>
          </a:p>
        </p:txBody>
      </p:sp>
      <p:grpSp>
        <p:nvGrpSpPr>
          <p:cNvPr id="4" name="Group 13"/>
          <p:cNvGrpSpPr>
            <a:grpSpLocks/>
          </p:cNvGrpSpPr>
          <p:nvPr/>
        </p:nvGrpSpPr>
        <p:grpSpPr bwMode="auto">
          <a:xfrm>
            <a:off x="5857875" y="2119314"/>
            <a:ext cx="3741738" cy="3502025"/>
            <a:chOff x="1489" y="785"/>
            <a:chExt cx="3650" cy="2492"/>
          </a:xfrm>
        </p:grpSpPr>
        <p:sp>
          <p:nvSpPr>
            <p:cNvPr id="16410" name="Line 14"/>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16411" name="Line 15"/>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6393" name="Text Box 16"/>
          <p:cNvSpPr txBox="1">
            <a:spLocks noChangeArrowheads="1"/>
          </p:cNvSpPr>
          <p:nvPr/>
        </p:nvSpPr>
        <p:spPr bwMode="auto">
          <a:xfrm>
            <a:off x="9558339" y="5372101"/>
            <a:ext cx="536575" cy="473075"/>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16394" name="Text Box 17"/>
          <p:cNvSpPr txBox="1">
            <a:spLocks noChangeArrowheads="1"/>
          </p:cNvSpPr>
          <p:nvPr/>
        </p:nvSpPr>
        <p:spPr bwMode="auto">
          <a:xfrm>
            <a:off x="5235575" y="1698626"/>
            <a:ext cx="1098550" cy="473075"/>
          </a:xfrm>
          <a:prstGeom prst="rect">
            <a:avLst/>
          </a:prstGeom>
          <a:noFill/>
          <a:ln w="9525">
            <a:noFill/>
            <a:miter lim="800000"/>
            <a:headEnd/>
            <a:tailEnd/>
          </a:ln>
        </p:spPr>
        <p:txBody>
          <a:bodyPr>
            <a:spAutoFit/>
          </a:bodyPr>
          <a:lstStyle/>
          <a:p>
            <a:pPr algn="r" defTabSz="914400">
              <a:spcBef>
                <a:spcPct val="50000"/>
              </a:spcBef>
            </a:pPr>
            <a:r>
              <a:rPr lang="en-US" sz="2500">
                <a:solidFill>
                  <a:srgbClr val="000000"/>
                </a:solidFill>
                <a:latin typeface="Arial"/>
                <a:cs typeface="Arial"/>
              </a:rPr>
              <a:t>Costs</a:t>
            </a:r>
          </a:p>
        </p:txBody>
      </p:sp>
      <p:grpSp>
        <p:nvGrpSpPr>
          <p:cNvPr id="5" name="Group 18"/>
          <p:cNvGrpSpPr>
            <a:grpSpLocks/>
          </p:cNvGrpSpPr>
          <p:nvPr/>
        </p:nvGrpSpPr>
        <p:grpSpPr bwMode="auto">
          <a:xfrm>
            <a:off x="6116639" y="2287589"/>
            <a:ext cx="3322637" cy="3157537"/>
            <a:chOff x="2893" y="1336"/>
            <a:chExt cx="2093" cy="1989"/>
          </a:xfrm>
        </p:grpSpPr>
        <p:sp>
          <p:nvSpPr>
            <p:cNvPr id="16408" name="Line 19"/>
            <p:cNvSpPr>
              <a:spLocks noChangeShapeType="1"/>
            </p:cNvSpPr>
            <p:nvPr/>
          </p:nvSpPr>
          <p:spPr bwMode="auto">
            <a:xfrm flipV="1">
              <a:off x="2893" y="1568"/>
              <a:ext cx="1690" cy="1757"/>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16409" name="Text Box 20"/>
            <p:cNvSpPr txBox="1">
              <a:spLocks noChangeArrowheads="1"/>
            </p:cNvSpPr>
            <p:nvPr/>
          </p:nvSpPr>
          <p:spPr bwMode="auto">
            <a:xfrm>
              <a:off x="4603" y="1336"/>
              <a:ext cx="383"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MC</a:t>
              </a:r>
            </a:p>
          </p:txBody>
        </p:sp>
      </p:grpSp>
      <p:grpSp>
        <p:nvGrpSpPr>
          <p:cNvPr id="6" name="Group 21"/>
          <p:cNvGrpSpPr>
            <a:grpSpLocks/>
          </p:cNvGrpSpPr>
          <p:nvPr/>
        </p:nvGrpSpPr>
        <p:grpSpPr bwMode="auto">
          <a:xfrm>
            <a:off x="7164389" y="4102101"/>
            <a:ext cx="422275" cy="1914525"/>
            <a:chOff x="3553" y="2479"/>
            <a:chExt cx="266" cy="1206"/>
          </a:xfrm>
        </p:grpSpPr>
        <p:sp>
          <p:nvSpPr>
            <p:cNvPr id="16405" name="Text Box 22"/>
            <p:cNvSpPr txBox="1">
              <a:spLocks noChangeArrowheads="1"/>
            </p:cNvSpPr>
            <p:nvPr/>
          </p:nvSpPr>
          <p:spPr bwMode="auto">
            <a:xfrm>
              <a:off x="3553" y="3445"/>
              <a:ext cx="266"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b="1" i="1">
                  <a:solidFill>
                    <a:srgbClr val="000000"/>
                  </a:solidFill>
                  <a:latin typeface="Arial"/>
                  <a:cs typeface="Arial"/>
                </a:rPr>
                <a:t>Q</a:t>
              </a:r>
              <a:r>
                <a:rPr lang="en-US" sz="2500" b="1" baseline="-25000">
                  <a:solidFill>
                    <a:srgbClr val="000000"/>
                  </a:solidFill>
                  <a:latin typeface="Arial"/>
                  <a:cs typeface="Arial"/>
                </a:rPr>
                <a:t>1</a:t>
              </a:r>
            </a:p>
          </p:txBody>
        </p:sp>
        <p:sp>
          <p:nvSpPr>
            <p:cNvPr id="16406" name="Line 23"/>
            <p:cNvSpPr>
              <a:spLocks noChangeShapeType="1"/>
            </p:cNvSpPr>
            <p:nvPr/>
          </p:nvSpPr>
          <p:spPr bwMode="auto">
            <a:xfrm>
              <a:off x="3665" y="2528"/>
              <a:ext cx="0" cy="909"/>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16407" name="Oval 24"/>
            <p:cNvSpPr>
              <a:spLocks noChangeArrowheads="1"/>
            </p:cNvSpPr>
            <p:nvPr/>
          </p:nvSpPr>
          <p:spPr bwMode="auto">
            <a:xfrm>
              <a:off x="3620" y="2479"/>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grpSp>
      <p:grpSp>
        <p:nvGrpSpPr>
          <p:cNvPr id="7" name="Group 25"/>
          <p:cNvGrpSpPr>
            <a:grpSpLocks/>
          </p:cNvGrpSpPr>
          <p:nvPr/>
        </p:nvGrpSpPr>
        <p:grpSpPr bwMode="auto">
          <a:xfrm>
            <a:off x="8266114" y="2954338"/>
            <a:ext cx="422275" cy="3060700"/>
            <a:chOff x="4247" y="1756"/>
            <a:chExt cx="266" cy="1928"/>
          </a:xfrm>
        </p:grpSpPr>
        <p:sp>
          <p:nvSpPr>
            <p:cNvPr id="16402" name="Line 26"/>
            <p:cNvSpPr>
              <a:spLocks noChangeShapeType="1"/>
            </p:cNvSpPr>
            <p:nvPr/>
          </p:nvSpPr>
          <p:spPr bwMode="auto">
            <a:xfrm>
              <a:off x="4356" y="1805"/>
              <a:ext cx="0" cy="1631"/>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16403" name="Oval 27"/>
            <p:cNvSpPr>
              <a:spLocks noChangeArrowheads="1"/>
            </p:cNvSpPr>
            <p:nvPr/>
          </p:nvSpPr>
          <p:spPr bwMode="auto">
            <a:xfrm>
              <a:off x="4311" y="1756"/>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sp>
          <p:nvSpPr>
            <p:cNvPr id="16404" name="Text Box 28"/>
            <p:cNvSpPr txBox="1">
              <a:spLocks noChangeArrowheads="1"/>
            </p:cNvSpPr>
            <p:nvPr/>
          </p:nvSpPr>
          <p:spPr bwMode="auto">
            <a:xfrm>
              <a:off x="4247" y="3444"/>
              <a:ext cx="266"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b="1" i="1">
                  <a:solidFill>
                    <a:srgbClr val="000000"/>
                  </a:solidFill>
                  <a:latin typeface="Arial"/>
                  <a:cs typeface="Arial"/>
                </a:rPr>
                <a:t>Q</a:t>
              </a:r>
              <a:r>
                <a:rPr lang="en-US" sz="2500" b="1" baseline="-25000">
                  <a:solidFill>
                    <a:srgbClr val="000000"/>
                  </a:solidFill>
                  <a:latin typeface="Arial"/>
                  <a:cs typeface="Arial"/>
                </a:rPr>
                <a:t>2</a:t>
              </a:r>
            </a:p>
          </p:txBody>
        </p:sp>
      </p:grpSp>
      <p:sp>
        <p:nvSpPr>
          <p:cNvPr id="107564" name="Rectangle 44"/>
          <p:cNvSpPr>
            <a:spLocks noChangeArrowheads="1"/>
          </p:cNvSpPr>
          <p:nvPr/>
        </p:nvSpPr>
        <p:spPr bwMode="auto">
          <a:xfrm>
            <a:off x="6336754" y="806451"/>
            <a:ext cx="2949575" cy="892175"/>
          </a:xfrm>
          <a:prstGeom prst="rect">
            <a:avLst/>
          </a:prstGeom>
          <a:solidFill>
            <a:srgbClr val="FFCCFF"/>
          </a:solidFill>
          <a:ln w="9525">
            <a:noFill/>
            <a:miter lim="800000"/>
            <a:headEnd/>
            <a:tailEnd/>
          </a:ln>
          <a:effectLst>
            <a:outerShdw blurRad="50800" dist="38100" dir="2700000" algn="tl" rotWithShape="0">
              <a:prstClr val="black">
                <a:alpha val="40000"/>
              </a:prstClr>
            </a:outerShdw>
          </a:effectLst>
        </p:spPr>
        <p:txBody>
          <a:bodyPr>
            <a:spAutoFit/>
          </a:bodyPr>
          <a:lstStyle/>
          <a:p>
            <a:pPr defTabSz="914400">
              <a:lnSpc>
                <a:spcPct val="105000"/>
              </a:lnSpc>
              <a:spcBef>
                <a:spcPct val="40000"/>
              </a:spcBef>
              <a:buClr>
                <a:srgbClr val="00B85C"/>
              </a:buClr>
              <a:buSzPct val="120000"/>
            </a:pPr>
            <a:r>
              <a:rPr lang="en-US" sz="2500" dirty="0">
                <a:solidFill>
                  <a:srgbClr val="000000"/>
                </a:solidFill>
                <a:latin typeface="Arial"/>
                <a:cs typeface="Arial"/>
              </a:rPr>
              <a:t>the </a:t>
            </a:r>
            <a:r>
              <a:rPr lang="en-US" sz="2500" i="1" dirty="0">
                <a:solidFill>
                  <a:srgbClr val="000000"/>
                </a:solidFill>
                <a:latin typeface="Arial"/>
                <a:cs typeface="Arial"/>
              </a:rPr>
              <a:t>MC</a:t>
            </a:r>
            <a:r>
              <a:rPr lang="en-US" sz="2500" dirty="0">
                <a:solidFill>
                  <a:srgbClr val="000000"/>
                </a:solidFill>
                <a:latin typeface="Arial"/>
                <a:cs typeface="Arial"/>
              </a:rPr>
              <a:t> curve </a:t>
            </a:r>
            <a:r>
              <a:rPr lang="en-US" sz="2500" u="sng" dirty="0">
                <a:solidFill>
                  <a:srgbClr val="000000"/>
                </a:solidFill>
                <a:latin typeface="Arial"/>
                <a:cs typeface="Arial"/>
              </a:rPr>
              <a:t>is</a:t>
            </a:r>
            <a:r>
              <a:rPr lang="en-US" sz="2500" dirty="0">
                <a:solidFill>
                  <a:srgbClr val="000000"/>
                </a:solidFill>
                <a:latin typeface="Arial"/>
                <a:cs typeface="Arial"/>
              </a:rPr>
              <a:t> the firm’s supply curve.</a:t>
            </a:r>
          </a:p>
        </p:txBody>
      </p:sp>
      <p:sp>
        <p:nvSpPr>
          <p:cNvPr id="107566" name="Line 46"/>
          <p:cNvSpPr>
            <a:spLocks noChangeShapeType="1"/>
          </p:cNvSpPr>
          <p:nvPr/>
        </p:nvSpPr>
        <p:spPr bwMode="auto">
          <a:xfrm>
            <a:off x="7354888" y="5621338"/>
            <a:ext cx="1073150" cy="0"/>
          </a:xfrm>
          <a:prstGeom prst="line">
            <a:avLst/>
          </a:prstGeom>
          <a:noFill/>
          <a:ln w="53975">
            <a:solidFill>
              <a:srgbClr val="008000"/>
            </a:solidFill>
            <a:round/>
            <a:headEnd/>
            <a:tailEnd type="triangle" w="med" len="med"/>
          </a:ln>
        </p:spPr>
        <p:txBody>
          <a:bodyPr/>
          <a:lstStyle/>
          <a:p>
            <a:pPr defTabSz="914400"/>
            <a:endParaRPr lang="en-US">
              <a:solidFill>
                <a:srgbClr val="000000"/>
              </a:solidFill>
              <a:latin typeface="Arial"/>
              <a:cs typeface="Arial"/>
            </a:endParaRPr>
          </a:p>
        </p:txBody>
      </p:sp>
      <p:sp>
        <p:nvSpPr>
          <p:cNvPr id="107567" name="Line 47"/>
          <p:cNvSpPr>
            <a:spLocks noChangeShapeType="1"/>
          </p:cNvSpPr>
          <p:nvPr/>
        </p:nvSpPr>
        <p:spPr bwMode="auto">
          <a:xfrm flipH="1" flipV="1">
            <a:off x="5851525" y="3068638"/>
            <a:ext cx="7938" cy="1085850"/>
          </a:xfrm>
          <a:prstGeom prst="line">
            <a:avLst/>
          </a:prstGeom>
          <a:noFill/>
          <a:ln w="53975">
            <a:solidFill>
              <a:srgbClr val="008000"/>
            </a:solidFill>
            <a:round/>
            <a:headEnd/>
            <a:tailEnd type="triangle" w="med" len="med"/>
          </a:ln>
        </p:spPr>
        <p:txBody>
          <a:bodyPr/>
          <a:lstStyle/>
          <a:p>
            <a:pPr defTabSz="914400"/>
            <a:endParaRPr lang="en-US">
              <a:solidFill>
                <a:srgbClr val="000000"/>
              </a:solidFill>
              <a:latin typeface="Arial"/>
              <a:cs typeface="Arial"/>
            </a:endParaRPr>
          </a:p>
        </p:txBody>
      </p:sp>
      <p:sp>
        <p:nvSpPr>
          <p:cNvPr id="16401" name="FlagCount" hidden="1">
            <a:hlinkClick r:id="rId3" action="ppaction://hlinkfile"/>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defTabSz="914400"/>
            <a:r>
              <a:rPr lang="en-US" sz="1400" b="1">
                <a:solidFill>
                  <a:srgbClr val="000000"/>
                </a:solidFill>
                <a:latin typeface="Tahoma" pitchFamily="34" charset="0"/>
                <a:cs typeface="Arial" charset="0"/>
              </a:rPr>
              <a:t>0</a:t>
            </a:r>
          </a:p>
        </p:txBody>
      </p:sp>
      <p:sp>
        <p:nvSpPr>
          <p:cNvPr id="8" name="Footer Placeholder 7"/>
          <p:cNvSpPr>
            <a:spLocks noGrp="1"/>
          </p:cNvSpPr>
          <p:nvPr>
            <p:ph type="ftr" sz="quarter" idx="14"/>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9" name="Slide Number Placeholder 8"/>
          <p:cNvSpPr>
            <a:spLocks noGrp="1"/>
          </p:cNvSpPr>
          <p:nvPr>
            <p:ph type="sldNum" sz="quarter" idx="13"/>
          </p:nvPr>
        </p:nvSpPr>
        <p:spPr/>
        <p:txBody>
          <a:bodyPr/>
          <a:lstStyle/>
          <a:p>
            <a:pPr defTabSz="914400">
              <a:defRPr/>
            </a:pPr>
            <a:fld id="{2F37425F-5E17-4209-B948-B5CE2119E408}" type="slidenum">
              <a:rPr lang="en-US">
                <a:latin typeface="Arial"/>
              </a:rPr>
              <a:pPr defTabSz="914400">
                <a:defRPr/>
              </a:pPr>
              <a:t>8</a:t>
            </a:fld>
            <a:endParaRPr lang="en-US" dirty="0">
              <a:latin typeface="Arial"/>
            </a:endParaRPr>
          </a:p>
        </p:txBody>
      </p:sp>
    </p:spTree>
    <p:extLst>
      <p:ext uri="{BB962C8B-B14F-4D97-AF65-F5344CB8AC3E}">
        <p14:creationId xmlns:p14="http://schemas.microsoft.com/office/powerpoint/2010/main" val="2582274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31">
                                            <p:txEl>
                                              <p:pRg st="0" end="0"/>
                                            </p:txEl>
                                          </p:spTgt>
                                        </p:tgtEl>
                                        <p:attrNameLst>
                                          <p:attrName>style.visibility</p:attrName>
                                        </p:attrNameLst>
                                      </p:cBhvr>
                                      <p:to>
                                        <p:strVal val="visible"/>
                                      </p:to>
                                    </p:set>
                                    <p:animEffect transition="in" filter="wipe(left)">
                                      <p:cBhvr>
                                        <p:cTn id="7" dur="500"/>
                                        <p:tgtEl>
                                          <p:spTgt spid="107531">
                                            <p:txEl>
                                              <p:pRg st="0" end="0"/>
                                            </p:txEl>
                                          </p:spTgt>
                                        </p:tgtEl>
                                      </p:cBhvr>
                                    </p:animEffect>
                                  </p:childTnLst>
                                </p:cTn>
                              </p:par>
                            </p:childTnLst>
                          </p:cTn>
                        </p:par>
                        <p:par>
                          <p:cTn id="8" fill="hold">
                            <p:stCondLst>
                              <p:cond delay="500"/>
                            </p:stCondLst>
                            <p:childTnLst>
                              <p:par>
                                <p:cTn id="9" presetID="17" presetClass="entr" presetSubtype="4" fill="hold" grpId="0" nodeType="afterEffect">
                                  <p:stCondLst>
                                    <p:cond delay="0"/>
                                  </p:stCondLst>
                                  <p:childTnLst>
                                    <p:set>
                                      <p:cBhvr>
                                        <p:cTn id="10" dur="1" fill="hold">
                                          <p:stCondLst>
                                            <p:cond delay="0"/>
                                          </p:stCondLst>
                                        </p:cTn>
                                        <p:tgtEl>
                                          <p:spTgt spid="107567"/>
                                        </p:tgtEl>
                                        <p:attrNameLst>
                                          <p:attrName>style.visibility</p:attrName>
                                        </p:attrNameLst>
                                      </p:cBhvr>
                                      <p:to>
                                        <p:strVal val="visible"/>
                                      </p:to>
                                    </p:set>
                                    <p:anim calcmode="lin" valueType="num">
                                      <p:cBhvr>
                                        <p:cTn id="11" dur="500" fill="hold"/>
                                        <p:tgtEl>
                                          <p:spTgt spid="107567"/>
                                        </p:tgtEl>
                                        <p:attrNameLst>
                                          <p:attrName>ppt_x</p:attrName>
                                        </p:attrNameLst>
                                      </p:cBhvr>
                                      <p:tavLst>
                                        <p:tav tm="0">
                                          <p:val>
                                            <p:strVal val="#ppt_x"/>
                                          </p:val>
                                        </p:tav>
                                        <p:tav tm="100000">
                                          <p:val>
                                            <p:strVal val="#ppt_x"/>
                                          </p:val>
                                        </p:tav>
                                      </p:tavLst>
                                    </p:anim>
                                    <p:anim calcmode="lin" valueType="num">
                                      <p:cBhvr>
                                        <p:cTn id="12" dur="500" fill="hold"/>
                                        <p:tgtEl>
                                          <p:spTgt spid="107567"/>
                                        </p:tgtEl>
                                        <p:attrNameLst>
                                          <p:attrName>ppt_y</p:attrName>
                                        </p:attrNameLst>
                                      </p:cBhvr>
                                      <p:tavLst>
                                        <p:tav tm="0">
                                          <p:val>
                                            <p:strVal val="#ppt_y+#ppt_h/2"/>
                                          </p:val>
                                        </p:tav>
                                        <p:tav tm="100000">
                                          <p:val>
                                            <p:strVal val="#ppt_y"/>
                                          </p:val>
                                        </p:tav>
                                      </p:tavLst>
                                    </p:anim>
                                    <p:anim calcmode="lin" valueType="num">
                                      <p:cBhvr>
                                        <p:cTn id="13" dur="500" fill="hold"/>
                                        <p:tgtEl>
                                          <p:spTgt spid="107567"/>
                                        </p:tgtEl>
                                        <p:attrNameLst>
                                          <p:attrName>ppt_w</p:attrName>
                                        </p:attrNameLst>
                                      </p:cBhvr>
                                      <p:tavLst>
                                        <p:tav tm="0">
                                          <p:val>
                                            <p:strVal val="#ppt_w"/>
                                          </p:val>
                                        </p:tav>
                                        <p:tav tm="100000">
                                          <p:val>
                                            <p:strVal val="#ppt_w"/>
                                          </p:val>
                                        </p:tav>
                                      </p:tavLst>
                                    </p:anim>
                                    <p:anim calcmode="lin" valueType="num">
                                      <p:cBhvr>
                                        <p:cTn id="14" dur="500" fill="hold"/>
                                        <p:tgtEl>
                                          <p:spTgt spid="107567"/>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18" presetClass="entr" presetSubtype="3"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trips(upRigh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7531">
                                            <p:txEl>
                                              <p:pRg st="1" end="1"/>
                                            </p:txEl>
                                          </p:spTgt>
                                        </p:tgtEl>
                                        <p:attrNameLst>
                                          <p:attrName>style.visibility</p:attrName>
                                        </p:attrNameLst>
                                      </p:cBhvr>
                                      <p:to>
                                        <p:strVal val="visible"/>
                                      </p:to>
                                    </p:set>
                                    <p:animEffect transition="in" filter="wipe(left)">
                                      <p:cBhvr>
                                        <p:cTn id="23" dur="500"/>
                                        <p:tgtEl>
                                          <p:spTgt spid="107531">
                                            <p:txEl>
                                              <p:pRg st="1" end="1"/>
                                            </p:txEl>
                                          </p:spTgt>
                                        </p:tgtEl>
                                      </p:cBhvr>
                                    </p:animEffect>
                                  </p:childTnLst>
                                </p:cTn>
                              </p:par>
                            </p:childTnLst>
                          </p:cTn>
                        </p:par>
                        <p:par>
                          <p:cTn id="24" fill="hold">
                            <p:stCondLst>
                              <p:cond delay="500"/>
                            </p:stCondLst>
                            <p:childTnLst>
                              <p:par>
                                <p:cTn id="25" presetID="17" presetClass="entr" presetSubtype="8" fill="hold" grpId="0" nodeType="afterEffect">
                                  <p:stCondLst>
                                    <p:cond delay="0"/>
                                  </p:stCondLst>
                                  <p:childTnLst>
                                    <p:set>
                                      <p:cBhvr>
                                        <p:cTn id="26" dur="1" fill="hold">
                                          <p:stCondLst>
                                            <p:cond delay="0"/>
                                          </p:stCondLst>
                                        </p:cTn>
                                        <p:tgtEl>
                                          <p:spTgt spid="107566"/>
                                        </p:tgtEl>
                                        <p:attrNameLst>
                                          <p:attrName>style.visibility</p:attrName>
                                        </p:attrNameLst>
                                      </p:cBhvr>
                                      <p:to>
                                        <p:strVal val="visible"/>
                                      </p:to>
                                    </p:set>
                                    <p:anim calcmode="lin" valueType="num">
                                      <p:cBhvr>
                                        <p:cTn id="27" dur="500" fill="hold"/>
                                        <p:tgtEl>
                                          <p:spTgt spid="107566"/>
                                        </p:tgtEl>
                                        <p:attrNameLst>
                                          <p:attrName>ppt_x</p:attrName>
                                        </p:attrNameLst>
                                      </p:cBhvr>
                                      <p:tavLst>
                                        <p:tav tm="0">
                                          <p:val>
                                            <p:strVal val="#ppt_x-#ppt_w/2"/>
                                          </p:val>
                                        </p:tav>
                                        <p:tav tm="100000">
                                          <p:val>
                                            <p:strVal val="#ppt_x"/>
                                          </p:val>
                                        </p:tav>
                                      </p:tavLst>
                                    </p:anim>
                                    <p:anim calcmode="lin" valueType="num">
                                      <p:cBhvr>
                                        <p:cTn id="28" dur="500" fill="hold"/>
                                        <p:tgtEl>
                                          <p:spTgt spid="107566"/>
                                        </p:tgtEl>
                                        <p:attrNameLst>
                                          <p:attrName>ppt_y</p:attrName>
                                        </p:attrNameLst>
                                      </p:cBhvr>
                                      <p:tavLst>
                                        <p:tav tm="0">
                                          <p:val>
                                            <p:strVal val="#ppt_y"/>
                                          </p:val>
                                        </p:tav>
                                        <p:tav tm="100000">
                                          <p:val>
                                            <p:strVal val="#ppt_y"/>
                                          </p:val>
                                        </p:tav>
                                      </p:tavLst>
                                    </p:anim>
                                    <p:anim calcmode="lin" valueType="num">
                                      <p:cBhvr>
                                        <p:cTn id="29" dur="500" fill="hold"/>
                                        <p:tgtEl>
                                          <p:spTgt spid="107566"/>
                                        </p:tgtEl>
                                        <p:attrNameLst>
                                          <p:attrName>ppt_w</p:attrName>
                                        </p:attrNameLst>
                                      </p:cBhvr>
                                      <p:tavLst>
                                        <p:tav tm="0">
                                          <p:val>
                                            <p:fltVal val="0"/>
                                          </p:val>
                                        </p:tav>
                                        <p:tav tm="100000">
                                          <p:val>
                                            <p:strVal val="#ppt_w"/>
                                          </p:val>
                                        </p:tav>
                                      </p:tavLst>
                                    </p:anim>
                                    <p:anim calcmode="lin" valueType="num">
                                      <p:cBhvr>
                                        <p:cTn id="30" dur="500" fill="hold"/>
                                        <p:tgtEl>
                                          <p:spTgt spid="107566"/>
                                        </p:tgtEl>
                                        <p:attrNameLst>
                                          <p:attrName>ppt_h</p:attrName>
                                        </p:attrNameLst>
                                      </p:cBhvr>
                                      <p:tavLst>
                                        <p:tav tm="0">
                                          <p:val>
                                            <p:strVal val="#ppt_h"/>
                                          </p:val>
                                        </p:tav>
                                        <p:tav tm="100000">
                                          <p:val>
                                            <p:strVal val="#ppt_h"/>
                                          </p:val>
                                        </p:tav>
                                      </p:tavLst>
                                    </p:anim>
                                  </p:childTnLst>
                                </p:cTn>
                              </p:par>
                              <p:par>
                                <p:cTn id="31" presetID="22" presetClass="entr" presetSubtype="1"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up)">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500"/>
                                        <p:tgtEl>
                                          <p:spTgt spid="107566"/>
                                        </p:tgtEl>
                                      </p:cBhvr>
                                    </p:animEffect>
                                    <p:set>
                                      <p:cBhvr>
                                        <p:cTn id="38" dur="1" fill="hold">
                                          <p:stCondLst>
                                            <p:cond delay="499"/>
                                          </p:stCondLst>
                                        </p:cTn>
                                        <p:tgtEl>
                                          <p:spTgt spid="107566"/>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107567"/>
                                        </p:tgtEl>
                                      </p:cBhvr>
                                    </p:animEffect>
                                    <p:set>
                                      <p:cBhvr>
                                        <p:cTn id="41" dur="1" fill="hold">
                                          <p:stCondLst>
                                            <p:cond delay="499"/>
                                          </p:stCondLst>
                                        </p:cTn>
                                        <p:tgtEl>
                                          <p:spTgt spid="107567"/>
                                        </p:tgtEl>
                                        <p:attrNameLst>
                                          <p:attrName>style.visibility</p:attrName>
                                        </p:attrNameLst>
                                      </p:cBhvr>
                                      <p:to>
                                        <p:strVal val="hidden"/>
                                      </p:to>
                                    </p:set>
                                  </p:childTnLst>
                                </p:cTn>
                              </p:par>
                              <p:par>
                                <p:cTn id="42" presetID="22" presetClass="entr" presetSubtype="8" fill="hold" grpId="0" nodeType="withEffect">
                                  <p:stCondLst>
                                    <p:cond delay="0"/>
                                  </p:stCondLst>
                                  <p:childTnLst>
                                    <p:set>
                                      <p:cBhvr>
                                        <p:cTn id="43" dur="1" fill="hold">
                                          <p:stCondLst>
                                            <p:cond delay="0"/>
                                          </p:stCondLst>
                                        </p:cTn>
                                        <p:tgtEl>
                                          <p:spTgt spid="107531">
                                            <p:txEl>
                                              <p:pRg st="2" end="2"/>
                                            </p:txEl>
                                          </p:spTgt>
                                        </p:tgtEl>
                                        <p:attrNameLst>
                                          <p:attrName>style.visibility</p:attrName>
                                        </p:attrNameLst>
                                      </p:cBhvr>
                                      <p:to>
                                        <p:strVal val="visible"/>
                                      </p:to>
                                    </p:set>
                                    <p:animEffect transition="in" filter="wipe(left)">
                                      <p:cBhvr>
                                        <p:cTn id="44" dur="500"/>
                                        <p:tgtEl>
                                          <p:spTgt spid="107531">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7531">
                                            <p:txEl>
                                              <p:pRg st="3" end="3"/>
                                            </p:txEl>
                                          </p:spTgt>
                                        </p:tgtEl>
                                        <p:attrNameLst>
                                          <p:attrName>style.visibility</p:attrName>
                                        </p:attrNameLst>
                                      </p:cBhvr>
                                      <p:to>
                                        <p:strVal val="visible"/>
                                      </p:to>
                                    </p:set>
                                    <p:animEffect transition="in" filter="wipe(left)">
                                      <p:cBhvr>
                                        <p:cTn id="49" dur="500"/>
                                        <p:tgtEl>
                                          <p:spTgt spid="107531">
                                            <p:txEl>
                                              <p:pRg st="3" end="3"/>
                                            </p:txEl>
                                          </p:spTgt>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107564"/>
                                        </p:tgtEl>
                                        <p:attrNameLst>
                                          <p:attrName>style.visibility</p:attrName>
                                        </p:attrNameLst>
                                      </p:cBhvr>
                                      <p:to>
                                        <p:strVal val="visible"/>
                                      </p:to>
                                    </p:set>
                                    <p:animEffect transition="in" filter="fade">
                                      <p:cBhvr>
                                        <p:cTn id="53" dur="500"/>
                                        <p:tgtEl>
                                          <p:spTgt spid="107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31" grpId="0" build="p" bldLvl="5"/>
      <p:bldP spid="107564" grpId="0" animBg="1"/>
      <p:bldP spid="107566" grpId="0" animBg="1"/>
      <p:bldP spid="107566" grpId="1" animBg="1"/>
      <p:bldP spid="107567" grpId="0" animBg="1"/>
      <p:bldP spid="10756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Shutdown vs. Exit</a:t>
            </a:r>
          </a:p>
        </p:txBody>
      </p:sp>
      <p:sp>
        <p:nvSpPr>
          <p:cNvPr id="3" name="Content Placeholder 2"/>
          <p:cNvSpPr>
            <a:spLocks noGrp="1"/>
          </p:cNvSpPr>
          <p:nvPr>
            <p:ph idx="1"/>
          </p:nvPr>
        </p:nvSpPr>
        <p:spPr/>
        <p:txBody>
          <a:bodyPr/>
          <a:lstStyle/>
          <a:p>
            <a:r>
              <a:rPr lang="en-US" dirty="0"/>
              <a:t>Shutdown:  </a:t>
            </a:r>
            <a:endParaRPr lang="en-US" dirty="0" smtClean="0"/>
          </a:p>
          <a:p>
            <a:pPr lvl="1"/>
            <a:r>
              <a:rPr lang="en-US" dirty="0" smtClean="0"/>
              <a:t>A </a:t>
            </a:r>
            <a:r>
              <a:rPr lang="en-US" u="sng" dirty="0"/>
              <a:t>short-run decision </a:t>
            </a:r>
            <a:r>
              <a:rPr lang="en-US" dirty="0"/>
              <a:t>not to produce anything because of market conditions.  </a:t>
            </a:r>
          </a:p>
          <a:p>
            <a:r>
              <a:rPr lang="en-US" dirty="0"/>
              <a:t>Exit:  </a:t>
            </a:r>
            <a:endParaRPr lang="en-US" dirty="0" smtClean="0"/>
          </a:p>
          <a:p>
            <a:pPr lvl="1"/>
            <a:r>
              <a:rPr lang="en-US" dirty="0" smtClean="0"/>
              <a:t>A </a:t>
            </a:r>
            <a:r>
              <a:rPr lang="en-US" u="sng" dirty="0"/>
              <a:t>long-run decision </a:t>
            </a:r>
            <a:r>
              <a:rPr lang="en-US" dirty="0"/>
              <a:t>to leave the market. </a:t>
            </a:r>
          </a:p>
          <a:p>
            <a:r>
              <a:rPr lang="en-US" dirty="0"/>
              <a:t>A key difference: </a:t>
            </a:r>
          </a:p>
          <a:p>
            <a:pPr lvl="1"/>
            <a:r>
              <a:rPr lang="en-US" dirty="0"/>
              <a:t>If shut down in SR, must still pay FC.</a:t>
            </a:r>
          </a:p>
          <a:p>
            <a:pPr lvl="1"/>
            <a:r>
              <a:rPr lang="en-US" dirty="0"/>
              <a:t>If </a:t>
            </a:r>
            <a:r>
              <a:rPr lang="en-US" dirty="0" smtClean="0"/>
              <a:t>exit </a:t>
            </a:r>
            <a:r>
              <a:rPr lang="en-US" dirty="0"/>
              <a:t>in LR, zero costs. </a:t>
            </a:r>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9</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31259197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Short-run </a:t>
            </a:r>
            <a:r>
              <a:rPr lang="en-US" dirty="0"/>
              <a:t>Decision to Shut Down</a:t>
            </a:r>
          </a:p>
        </p:txBody>
      </p:sp>
      <p:sp>
        <p:nvSpPr>
          <p:cNvPr id="3" name="Content Placeholder 2"/>
          <p:cNvSpPr>
            <a:spLocks noGrp="1"/>
          </p:cNvSpPr>
          <p:nvPr>
            <p:ph idx="1"/>
          </p:nvPr>
        </p:nvSpPr>
        <p:spPr/>
        <p:txBody>
          <a:bodyPr/>
          <a:lstStyle/>
          <a:p>
            <a:r>
              <a:rPr lang="en-US" dirty="0" smtClean="0"/>
              <a:t>Should a firm shut-down in the short run?</a:t>
            </a:r>
          </a:p>
          <a:p>
            <a:pPr lvl="1"/>
            <a:r>
              <a:rPr lang="en-US" dirty="0" smtClean="0"/>
              <a:t>Cost </a:t>
            </a:r>
            <a:r>
              <a:rPr lang="en-US" dirty="0"/>
              <a:t>of shutting </a:t>
            </a:r>
            <a:r>
              <a:rPr lang="en-US" dirty="0" smtClean="0"/>
              <a:t>down = </a:t>
            </a:r>
            <a:r>
              <a:rPr lang="en-US" dirty="0"/>
              <a:t>revenue </a:t>
            </a:r>
            <a:r>
              <a:rPr lang="en-US" dirty="0" smtClean="0"/>
              <a:t>loss</a:t>
            </a:r>
          </a:p>
          <a:p>
            <a:pPr marL="457200" lvl="1" indent="0">
              <a:buNone/>
            </a:pPr>
            <a:r>
              <a:rPr lang="en-US" dirty="0"/>
              <a:t>	</a:t>
            </a:r>
            <a:r>
              <a:rPr lang="en-US" dirty="0" smtClean="0"/>
              <a:t>				  </a:t>
            </a:r>
            <a:r>
              <a:rPr lang="en-US" dirty="0"/>
              <a:t>= TR</a:t>
            </a:r>
          </a:p>
          <a:p>
            <a:pPr lvl="1"/>
            <a:r>
              <a:rPr lang="en-US" dirty="0"/>
              <a:t>Benefit of shutting </a:t>
            </a:r>
            <a:r>
              <a:rPr lang="en-US" dirty="0" smtClean="0"/>
              <a:t>down = cost </a:t>
            </a:r>
            <a:r>
              <a:rPr lang="en-US" dirty="0"/>
              <a:t>savings </a:t>
            </a:r>
            <a:endParaRPr lang="en-US" dirty="0" smtClean="0"/>
          </a:p>
          <a:p>
            <a:pPr marL="457200" lvl="1" indent="0">
              <a:buNone/>
            </a:pPr>
            <a:r>
              <a:rPr lang="en-US" dirty="0"/>
              <a:t>	</a:t>
            </a:r>
            <a:r>
              <a:rPr lang="en-US" dirty="0" smtClean="0"/>
              <a:t>				     = VC </a:t>
            </a:r>
          </a:p>
          <a:p>
            <a:pPr marL="457200" lvl="1" indent="0">
              <a:buNone/>
            </a:pPr>
            <a:r>
              <a:rPr lang="en-US" dirty="0" smtClean="0"/>
              <a:t>(because the firm </a:t>
            </a:r>
            <a:r>
              <a:rPr lang="en-US" dirty="0"/>
              <a:t>must still pay FC)</a:t>
            </a:r>
          </a:p>
          <a:p>
            <a:r>
              <a:rPr lang="en-US" dirty="0" smtClean="0"/>
              <a:t>Shut </a:t>
            </a:r>
            <a:r>
              <a:rPr lang="en-US" dirty="0"/>
              <a:t>down if </a:t>
            </a:r>
            <a:r>
              <a:rPr lang="en-US" dirty="0" smtClean="0"/>
              <a:t>TR &lt; VC, or </a:t>
            </a:r>
            <a:r>
              <a:rPr lang="en-US" sz="3600" i="1" dirty="0">
                <a:solidFill>
                  <a:srgbClr val="FF0000"/>
                </a:solidFill>
                <a:cs typeface="Arial"/>
              </a:rPr>
              <a:t>P</a:t>
            </a:r>
            <a:r>
              <a:rPr lang="en-US" sz="3600" dirty="0">
                <a:solidFill>
                  <a:srgbClr val="FF0000"/>
                </a:solidFill>
                <a:cs typeface="Arial"/>
              </a:rPr>
              <a:t> &lt; </a:t>
            </a:r>
            <a:r>
              <a:rPr lang="en-US" sz="3600" i="1" dirty="0">
                <a:solidFill>
                  <a:srgbClr val="FF0000"/>
                </a:solidFill>
                <a:cs typeface="Arial"/>
              </a:rPr>
              <a:t>AVC</a:t>
            </a:r>
          </a:p>
          <a:p>
            <a:pPr marL="0" indent="0">
              <a:buNone/>
            </a:pPr>
            <a:endParaRPr lang="en-US" dirty="0"/>
          </a:p>
          <a:p>
            <a:endParaRPr lang="en-US" dirty="0"/>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10</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69262672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2" name="Rectangle 2"/>
          <p:cNvSpPr>
            <a:spLocks noGrp="1" noChangeArrowheads="1"/>
          </p:cNvSpPr>
          <p:nvPr>
            <p:ph type="title"/>
          </p:nvPr>
        </p:nvSpPr>
        <p:spPr/>
        <p:txBody>
          <a:bodyPr>
            <a:normAutofit fontScale="90000"/>
          </a:bodyPr>
          <a:lstStyle/>
          <a:p>
            <a:pPr algn="ctr" eaLnBrk="1" hangingPunct="1"/>
            <a:r>
              <a:rPr lang="en-US" dirty="0" smtClean="0"/>
              <a:t>A Competitive Firm’s SR Supply Curve</a:t>
            </a:r>
          </a:p>
        </p:txBody>
      </p:sp>
      <p:sp>
        <p:nvSpPr>
          <p:cNvPr id="110595" name="Rectangle 3"/>
          <p:cNvSpPr>
            <a:spLocks noGrp="1" noChangeArrowheads="1"/>
          </p:cNvSpPr>
          <p:nvPr>
            <p:ph type="body" sz="quarter" idx="12"/>
          </p:nvPr>
        </p:nvSpPr>
        <p:spPr>
          <a:xfrm>
            <a:off x="6651625" y="533400"/>
            <a:ext cx="3340100" cy="5516561"/>
          </a:xfrm>
          <a:solidFill>
            <a:schemeClr val="bg1"/>
          </a:solidFill>
          <a:effectLst>
            <a:outerShdw blurRad="50800" dist="38100" dir="2700000" algn="tl" rotWithShape="0">
              <a:prstClr val="black">
                <a:alpha val="40000"/>
              </a:prstClr>
            </a:outerShdw>
          </a:effectLst>
        </p:spPr>
        <p:txBody>
          <a:bodyPr/>
          <a:lstStyle/>
          <a:p>
            <a:pPr eaLnBrk="1" hangingPunct="1"/>
            <a:r>
              <a:rPr lang="en-US" sz="2800" dirty="0"/>
              <a:t>The firm’s short run supply curve is the portion of its </a:t>
            </a:r>
            <a:r>
              <a:rPr lang="en-US" sz="2800" i="1" dirty="0"/>
              <a:t>MC</a:t>
            </a:r>
            <a:r>
              <a:rPr lang="en-US" sz="2800" dirty="0"/>
              <a:t> curve above </a:t>
            </a:r>
            <a:r>
              <a:rPr lang="en-US" sz="2800" i="1" dirty="0"/>
              <a:t>AVC</a:t>
            </a:r>
            <a:r>
              <a:rPr lang="en-US" sz="2800" dirty="0"/>
              <a:t>.</a:t>
            </a:r>
          </a:p>
        </p:txBody>
      </p:sp>
      <p:grpSp>
        <p:nvGrpSpPr>
          <p:cNvPr id="2" name="Group 21"/>
          <p:cNvGrpSpPr>
            <a:grpSpLocks/>
          </p:cNvGrpSpPr>
          <p:nvPr/>
        </p:nvGrpSpPr>
        <p:grpSpPr bwMode="auto">
          <a:xfrm>
            <a:off x="4706938" y="1903410"/>
            <a:ext cx="4864100" cy="4146550"/>
            <a:chOff x="2335" y="1070"/>
            <a:chExt cx="3064" cy="2612"/>
          </a:xfrm>
        </p:grpSpPr>
        <p:grpSp>
          <p:nvGrpSpPr>
            <p:cNvPr id="3" name="Group 22"/>
            <p:cNvGrpSpPr>
              <a:grpSpLocks/>
            </p:cNvGrpSpPr>
            <p:nvPr/>
          </p:nvGrpSpPr>
          <p:grpSpPr bwMode="auto">
            <a:xfrm>
              <a:off x="2730" y="1335"/>
              <a:ext cx="2357" cy="2206"/>
              <a:chOff x="1489" y="785"/>
              <a:chExt cx="3650" cy="2492"/>
            </a:xfrm>
          </p:grpSpPr>
          <p:sp>
            <p:nvSpPr>
              <p:cNvPr id="19485" name="Line 23"/>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19486" name="Line 24"/>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9483" name="Text Box 25"/>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19484" name="Text Box 26"/>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defTabSz="914400">
                <a:spcBef>
                  <a:spcPct val="50000"/>
                </a:spcBef>
              </a:pPr>
              <a:r>
                <a:rPr lang="en-US" sz="2500">
                  <a:solidFill>
                    <a:srgbClr val="000000"/>
                  </a:solidFill>
                  <a:latin typeface="Arial"/>
                  <a:cs typeface="Arial"/>
                </a:rPr>
                <a:t>Costs</a:t>
              </a:r>
            </a:p>
          </p:txBody>
        </p:sp>
      </p:grpSp>
      <p:grpSp>
        <p:nvGrpSpPr>
          <p:cNvPr id="4" name="Group 27"/>
          <p:cNvGrpSpPr>
            <a:grpSpLocks/>
          </p:cNvGrpSpPr>
          <p:nvPr/>
        </p:nvGrpSpPr>
        <p:grpSpPr bwMode="auto">
          <a:xfrm>
            <a:off x="6138864" y="2492373"/>
            <a:ext cx="2676525" cy="3181350"/>
            <a:chOff x="3237" y="1336"/>
            <a:chExt cx="1686" cy="2004"/>
          </a:xfrm>
        </p:grpSpPr>
        <p:sp>
          <p:nvSpPr>
            <p:cNvPr id="19480" name="Line 9"/>
            <p:cNvSpPr>
              <a:spLocks noChangeShapeType="1"/>
            </p:cNvSpPr>
            <p:nvPr/>
          </p:nvSpPr>
          <p:spPr bwMode="auto">
            <a:xfrm flipV="1">
              <a:off x="3237" y="1568"/>
              <a:ext cx="1346" cy="1772"/>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19481" name="Text Box 14"/>
            <p:cNvSpPr txBox="1">
              <a:spLocks noChangeArrowheads="1"/>
            </p:cNvSpPr>
            <p:nvPr/>
          </p:nvSpPr>
          <p:spPr bwMode="auto">
            <a:xfrm>
              <a:off x="4540" y="1336"/>
              <a:ext cx="383"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MC</a:t>
              </a:r>
            </a:p>
          </p:txBody>
        </p:sp>
      </p:grpSp>
      <p:grpSp>
        <p:nvGrpSpPr>
          <p:cNvPr id="5" name="Group 28"/>
          <p:cNvGrpSpPr>
            <a:grpSpLocks/>
          </p:cNvGrpSpPr>
          <p:nvPr/>
        </p:nvGrpSpPr>
        <p:grpSpPr bwMode="auto">
          <a:xfrm>
            <a:off x="5643564" y="2905123"/>
            <a:ext cx="3851275" cy="1516062"/>
            <a:chOff x="2925" y="1596"/>
            <a:chExt cx="2426" cy="955"/>
          </a:xfrm>
        </p:grpSpPr>
        <p:sp>
          <p:nvSpPr>
            <p:cNvPr id="19478" name="Arc 10"/>
            <p:cNvSpPr>
              <a:spLocks/>
            </p:cNvSpPr>
            <p:nvPr/>
          </p:nvSpPr>
          <p:spPr bwMode="auto">
            <a:xfrm flipH="1" flipV="1">
              <a:off x="2925" y="159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wrap="none" anchor="ctr"/>
            <a:lstStyle/>
            <a:p>
              <a:pPr defTabSz="914400"/>
              <a:endParaRPr lang="en-US">
                <a:solidFill>
                  <a:srgbClr val="000000"/>
                </a:solidFill>
                <a:latin typeface="Arial"/>
                <a:cs typeface="Arial"/>
              </a:endParaRPr>
            </a:p>
          </p:txBody>
        </p:sp>
        <p:sp>
          <p:nvSpPr>
            <p:cNvPr id="19479" name="Text Box 15"/>
            <p:cNvSpPr txBox="1">
              <a:spLocks noChangeArrowheads="1"/>
            </p:cNvSpPr>
            <p:nvPr/>
          </p:nvSpPr>
          <p:spPr bwMode="auto">
            <a:xfrm>
              <a:off x="4886" y="1964"/>
              <a:ext cx="465"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ATC</a:t>
              </a:r>
            </a:p>
          </p:txBody>
        </p:sp>
      </p:grpSp>
      <p:grpSp>
        <p:nvGrpSpPr>
          <p:cNvPr id="6" name="Group 29"/>
          <p:cNvGrpSpPr>
            <a:grpSpLocks/>
          </p:cNvGrpSpPr>
          <p:nvPr/>
        </p:nvGrpSpPr>
        <p:grpSpPr bwMode="auto">
          <a:xfrm>
            <a:off x="5510214" y="2232023"/>
            <a:ext cx="3965575" cy="2787650"/>
            <a:chOff x="2841" y="1172"/>
            <a:chExt cx="2498" cy="1756"/>
          </a:xfrm>
        </p:grpSpPr>
        <p:sp>
          <p:nvSpPr>
            <p:cNvPr id="19476" name="Arc 11"/>
            <p:cNvSpPr>
              <a:spLocks/>
            </p:cNvSpPr>
            <p:nvPr/>
          </p:nvSpPr>
          <p:spPr bwMode="auto">
            <a:xfrm rot="-239273" flipH="1" flipV="1">
              <a:off x="2841" y="1172"/>
              <a:ext cx="1921" cy="1756"/>
            </a:xfrm>
            <a:custGeom>
              <a:avLst/>
              <a:gdLst>
                <a:gd name="T0" fmla="*/ 0 w 20862"/>
                <a:gd name="T1" fmla="*/ 0 h 21600"/>
                <a:gd name="T2" fmla="*/ 0 w 20862"/>
                <a:gd name="T3" fmla="*/ 0 h 21600"/>
                <a:gd name="T4" fmla="*/ 0 w 20862"/>
                <a:gd name="T5" fmla="*/ 0 h 21600"/>
                <a:gd name="T6" fmla="*/ 0 60000 65536"/>
                <a:gd name="T7" fmla="*/ 0 60000 65536"/>
                <a:gd name="T8" fmla="*/ 0 60000 65536"/>
                <a:gd name="T9" fmla="*/ 0 w 20862"/>
                <a:gd name="T10" fmla="*/ 0 h 21600"/>
                <a:gd name="T11" fmla="*/ 20862 w 20862"/>
                <a:gd name="T12" fmla="*/ 21600 h 21600"/>
              </a:gdLst>
              <a:ahLst/>
              <a:cxnLst>
                <a:cxn ang="T6">
                  <a:pos x="T0" y="T1"/>
                </a:cxn>
                <a:cxn ang="T7">
                  <a:pos x="T2" y="T3"/>
                </a:cxn>
                <a:cxn ang="T8">
                  <a:pos x="T4" y="T5"/>
                </a:cxn>
              </a:cxnLst>
              <a:rect l="T9" t="T10" r="T11" b="T12"/>
              <a:pathLst>
                <a:path w="20862" h="21600" fill="none" extrusionOk="0">
                  <a:moveTo>
                    <a:pt x="-1" y="3663"/>
                  </a:moveTo>
                  <a:cubicBezTo>
                    <a:pt x="3559" y="1275"/>
                    <a:pt x="7748" y="-1"/>
                    <a:pt x="12035" y="0"/>
                  </a:cubicBezTo>
                  <a:cubicBezTo>
                    <a:pt x="15077" y="0"/>
                    <a:pt x="18085" y="642"/>
                    <a:pt x="20862" y="1885"/>
                  </a:cubicBezTo>
                </a:path>
                <a:path w="20862" h="21600" stroke="0" extrusionOk="0">
                  <a:moveTo>
                    <a:pt x="-1" y="3663"/>
                  </a:moveTo>
                  <a:cubicBezTo>
                    <a:pt x="3559" y="1275"/>
                    <a:pt x="7748" y="-1"/>
                    <a:pt x="12035" y="0"/>
                  </a:cubicBezTo>
                  <a:cubicBezTo>
                    <a:pt x="15077" y="0"/>
                    <a:pt x="18085" y="642"/>
                    <a:pt x="20862" y="1885"/>
                  </a:cubicBezTo>
                  <a:lnTo>
                    <a:pt x="12035" y="21600"/>
                  </a:lnTo>
                  <a:close/>
                </a:path>
              </a:pathLst>
            </a:custGeom>
            <a:noFill/>
            <a:ln w="38100">
              <a:solidFill>
                <a:srgbClr val="333399"/>
              </a:solidFill>
              <a:round/>
              <a:headEnd/>
              <a:tailEnd/>
            </a:ln>
          </p:spPr>
          <p:txBody>
            <a:bodyPr wrap="none" anchor="ctr"/>
            <a:lstStyle/>
            <a:p>
              <a:pPr defTabSz="914400"/>
              <a:endParaRPr lang="en-US">
                <a:solidFill>
                  <a:srgbClr val="000000"/>
                </a:solidFill>
                <a:latin typeface="Arial"/>
                <a:cs typeface="Arial"/>
              </a:endParaRPr>
            </a:p>
          </p:txBody>
        </p:sp>
        <p:sp>
          <p:nvSpPr>
            <p:cNvPr id="19477" name="Text Box 16"/>
            <p:cNvSpPr txBox="1">
              <a:spLocks noChangeArrowheads="1"/>
            </p:cNvSpPr>
            <p:nvPr/>
          </p:nvSpPr>
          <p:spPr bwMode="auto">
            <a:xfrm>
              <a:off x="4844" y="2356"/>
              <a:ext cx="495"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AVC</a:t>
              </a:r>
            </a:p>
          </p:txBody>
        </p:sp>
      </p:grpSp>
      <p:sp>
        <p:nvSpPr>
          <p:cNvPr id="110609" name="Line 17"/>
          <p:cNvSpPr>
            <a:spLocks noChangeShapeType="1"/>
          </p:cNvSpPr>
          <p:nvPr/>
        </p:nvSpPr>
        <p:spPr bwMode="auto">
          <a:xfrm flipV="1">
            <a:off x="6651626" y="2882899"/>
            <a:ext cx="1636713" cy="2155825"/>
          </a:xfrm>
          <a:prstGeom prst="line">
            <a:avLst/>
          </a:prstGeom>
          <a:noFill/>
          <a:ln w="44450">
            <a:solidFill>
              <a:srgbClr val="FF0505"/>
            </a:solidFill>
            <a:round/>
            <a:headEnd/>
            <a:tailEnd/>
          </a:ln>
        </p:spPr>
        <p:txBody>
          <a:bodyPr/>
          <a:lstStyle/>
          <a:p>
            <a:pPr defTabSz="914400"/>
            <a:endParaRPr lang="en-US">
              <a:solidFill>
                <a:srgbClr val="000000"/>
              </a:solidFill>
              <a:latin typeface="Arial"/>
              <a:cs typeface="Arial"/>
            </a:endParaRPr>
          </a:p>
        </p:txBody>
      </p:sp>
      <p:sp>
        <p:nvSpPr>
          <p:cNvPr id="110610" name="Line 18"/>
          <p:cNvSpPr>
            <a:spLocks noChangeShapeType="1"/>
          </p:cNvSpPr>
          <p:nvPr/>
        </p:nvSpPr>
        <p:spPr bwMode="auto">
          <a:xfrm flipH="1">
            <a:off x="5338764" y="5043485"/>
            <a:ext cx="1328737" cy="0"/>
          </a:xfrm>
          <a:prstGeom prst="line">
            <a:avLst/>
          </a:prstGeom>
          <a:noFill/>
          <a:ln w="44450">
            <a:solidFill>
              <a:srgbClr val="FF0505"/>
            </a:solidFill>
            <a:round/>
            <a:headEnd/>
            <a:tailEnd/>
          </a:ln>
        </p:spPr>
        <p:txBody>
          <a:bodyPr/>
          <a:lstStyle/>
          <a:p>
            <a:pPr defTabSz="914400"/>
            <a:endParaRPr lang="en-US">
              <a:solidFill>
                <a:srgbClr val="000000"/>
              </a:solidFill>
              <a:latin typeface="Arial"/>
              <a:cs typeface="Arial"/>
            </a:endParaRPr>
          </a:p>
        </p:txBody>
      </p:sp>
      <p:sp>
        <p:nvSpPr>
          <p:cNvPr id="110611" name="Line 19"/>
          <p:cNvSpPr>
            <a:spLocks noChangeShapeType="1"/>
          </p:cNvSpPr>
          <p:nvPr/>
        </p:nvSpPr>
        <p:spPr bwMode="auto">
          <a:xfrm flipV="1">
            <a:off x="5343526" y="5038723"/>
            <a:ext cx="4763" cy="785812"/>
          </a:xfrm>
          <a:prstGeom prst="line">
            <a:avLst/>
          </a:prstGeom>
          <a:noFill/>
          <a:ln w="44450">
            <a:solidFill>
              <a:srgbClr val="FF0505"/>
            </a:solidFill>
            <a:round/>
            <a:headEnd/>
            <a:tailEnd/>
          </a:ln>
        </p:spPr>
        <p:txBody>
          <a:bodyPr/>
          <a:lstStyle/>
          <a:p>
            <a:pPr defTabSz="914400"/>
            <a:endParaRPr lang="en-US">
              <a:solidFill>
                <a:srgbClr val="000000"/>
              </a:solidFill>
              <a:latin typeface="Arial"/>
              <a:cs typeface="Arial"/>
            </a:endParaRPr>
          </a:p>
        </p:txBody>
      </p:sp>
      <p:grpSp>
        <p:nvGrpSpPr>
          <p:cNvPr id="7" name="Group 34"/>
          <p:cNvGrpSpPr>
            <a:grpSpLocks/>
          </p:cNvGrpSpPr>
          <p:nvPr/>
        </p:nvGrpSpPr>
        <p:grpSpPr bwMode="auto">
          <a:xfrm>
            <a:off x="1752601" y="2338527"/>
            <a:ext cx="3500438" cy="2663684"/>
            <a:chOff x="474" y="1344"/>
            <a:chExt cx="2205" cy="1693"/>
          </a:xfrm>
        </p:grpSpPr>
        <p:sp>
          <p:nvSpPr>
            <p:cNvPr id="19474" name="AutoShape 20"/>
            <p:cNvSpPr>
              <a:spLocks/>
            </p:cNvSpPr>
            <p:nvPr/>
          </p:nvSpPr>
          <p:spPr bwMode="auto">
            <a:xfrm>
              <a:off x="2456" y="1354"/>
              <a:ext cx="223" cy="1683"/>
            </a:xfrm>
            <a:prstGeom prst="leftBrace">
              <a:avLst>
                <a:gd name="adj1" fmla="val 62892"/>
                <a:gd name="adj2" fmla="val 50000"/>
              </a:avLst>
            </a:prstGeom>
            <a:noFill/>
            <a:ln w="19050">
              <a:solidFill>
                <a:srgbClr val="990033"/>
              </a:solidFill>
              <a:round/>
              <a:headEnd/>
              <a:tailEnd/>
            </a:ln>
          </p:spPr>
          <p:txBody>
            <a:bodyPr wrap="none" anchor="ctr"/>
            <a:lstStyle/>
            <a:p>
              <a:pPr defTabSz="914400"/>
              <a:endParaRPr lang="en-US">
                <a:solidFill>
                  <a:srgbClr val="000000"/>
                </a:solidFill>
                <a:latin typeface="Arial"/>
                <a:cs typeface="Arial"/>
              </a:endParaRPr>
            </a:p>
          </p:txBody>
        </p:sp>
        <p:sp>
          <p:nvSpPr>
            <p:cNvPr id="19475" name="Text Box 32"/>
            <p:cNvSpPr txBox="1">
              <a:spLocks noChangeArrowheads="1"/>
            </p:cNvSpPr>
            <p:nvPr/>
          </p:nvSpPr>
          <p:spPr bwMode="auto">
            <a:xfrm>
              <a:off x="474" y="1344"/>
              <a:ext cx="1920" cy="921"/>
            </a:xfrm>
            <a:prstGeom prst="rect">
              <a:avLst/>
            </a:prstGeom>
            <a:solidFill>
              <a:srgbClr val="FFCCCC"/>
            </a:solidFill>
            <a:ln w="9525">
              <a:noFill/>
              <a:miter lim="800000"/>
              <a:headEnd/>
              <a:tailEnd/>
            </a:ln>
          </p:spPr>
          <p:txBody>
            <a:bodyPr wrap="square">
              <a:spAutoFit/>
            </a:bodyPr>
            <a:lstStyle/>
            <a:p>
              <a:pPr defTabSz="914400">
                <a:lnSpc>
                  <a:spcPct val="105000"/>
                </a:lnSpc>
                <a:spcBef>
                  <a:spcPct val="50000"/>
                </a:spcBef>
              </a:pPr>
              <a:r>
                <a:rPr lang="en-US" sz="2800" dirty="0">
                  <a:solidFill>
                    <a:srgbClr val="000000"/>
                  </a:solidFill>
                  <a:latin typeface="Arial"/>
                  <a:cs typeface="Arial"/>
                </a:rPr>
                <a:t>If </a:t>
              </a:r>
              <a:r>
                <a:rPr lang="en-US" sz="2800" b="1" i="1" dirty="0">
                  <a:solidFill>
                    <a:srgbClr val="000000"/>
                  </a:solidFill>
                  <a:latin typeface="Arial"/>
                  <a:cs typeface="Arial"/>
                </a:rPr>
                <a:t>P</a:t>
              </a:r>
              <a:r>
                <a:rPr lang="en-US" sz="2800" dirty="0">
                  <a:solidFill>
                    <a:srgbClr val="000000"/>
                  </a:solidFill>
                  <a:latin typeface="Arial"/>
                  <a:cs typeface="Arial"/>
                </a:rPr>
                <a:t> &gt; </a:t>
              </a:r>
              <a:r>
                <a:rPr lang="en-US" sz="2800" i="1" dirty="0">
                  <a:solidFill>
                    <a:srgbClr val="000000"/>
                  </a:solidFill>
                  <a:latin typeface="Arial"/>
                  <a:cs typeface="Arial"/>
                </a:rPr>
                <a:t>AVC</a:t>
              </a:r>
              <a:r>
                <a:rPr lang="en-US" sz="2800" dirty="0">
                  <a:solidFill>
                    <a:srgbClr val="000000"/>
                  </a:solidFill>
                  <a:latin typeface="Arial"/>
                  <a:cs typeface="Arial"/>
                </a:rPr>
                <a:t>, then firm produces </a:t>
              </a:r>
              <a:r>
                <a:rPr lang="en-US" sz="2800" b="1" i="1" dirty="0">
                  <a:solidFill>
                    <a:srgbClr val="000000"/>
                  </a:solidFill>
                  <a:latin typeface="Arial"/>
                  <a:cs typeface="Arial"/>
                </a:rPr>
                <a:t>Q</a:t>
              </a:r>
              <a:r>
                <a:rPr lang="en-US" sz="2800" dirty="0">
                  <a:solidFill>
                    <a:srgbClr val="000000"/>
                  </a:solidFill>
                  <a:latin typeface="Arial"/>
                  <a:cs typeface="Arial"/>
                </a:rPr>
                <a:t> where </a:t>
              </a:r>
              <a:r>
                <a:rPr lang="en-US" sz="2800" b="1" i="1" dirty="0">
                  <a:solidFill>
                    <a:srgbClr val="000000"/>
                  </a:solidFill>
                  <a:latin typeface="Arial"/>
                  <a:cs typeface="Arial"/>
                </a:rPr>
                <a:t>P</a:t>
              </a:r>
              <a:r>
                <a:rPr lang="en-US" sz="2800" dirty="0">
                  <a:solidFill>
                    <a:srgbClr val="000000"/>
                  </a:solidFill>
                  <a:latin typeface="Arial"/>
                  <a:cs typeface="Arial"/>
                </a:rPr>
                <a:t> = </a:t>
              </a:r>
              <a:r>
                <a:rPr lang="en-US" sz="2800" i="1" dirty="0">
                  <a:solidFill>
                    <a:srgbClr val="000000"/>
                  </a:solidFill>
                  <a:latin typeface="Arial"/>
                  <a:cs typeface="Arial"/>
                </a:rPr>
                <a:t>MC</a:t>
              </a:r>
              <a:r>
                <a:rPr lang="en-US" sz="2800" dirty="0">
                  <a:solidFill>
                    <a:srgbClr val="000000"/>
                  </a:solidFill>
                  <a:latin typeface="Arial"/>
                  <a:cs typeface="Arial"/>
                </a:rPr>
                <a:t>.</a:t>
              </a:r>
            </a:p>
          </p:txBody>
        </p:sp>
      </p:grpSp>
      <p:grpSp>
        <p:nvGrpSpPr>
          <p:cNvPr id="8" name="Group 35"/>
          <p:cNvGrpSpPr>
            <a:grpSpLocks/>
          </p:cNvGrpSpPr>
          <p:nvPr/>
        </p:nvGrpSpPr>
        <p:grpSpPr bwMode="auto">
          <a:xfrm>
            <a:off x="1752601" y="4799012"/>
            <a:ext cx="3508376" cy="1449388"/>
            <a:chOff x="474" y="2894"/>
            <a:chExt cx="2210" cy="913"/>
          </a:xfrm>
        </p:grpSpPr>
        <p:sp>
          <p:nvSpPr>
            <p:cNvPr id="19472" name="AutoShape 30"/>
            <p:cNvSpPr>
              <a:spLocks/>
            </p:cNvSpPr>
            <p:nvPr/>
          </p:nvSpPr>
          <p:spPr bwMode="auto">
            <a:xfrm>
              <a:off x="2461" y="3060"/>
              <a:ext cx="223" cy="479"/>
            </a:xfrm>
            <a:prstGeom prst="leftBrace">
              <a:avLst>
                <a:gd name="adj1" fmla="val 28252"/>
                <a:gd name="adj2" fmla="val 50000"/>
              </a:avLst>
            </a:prstGeom>
            <a:noFill/>
            <a:ln w="19050">
              <a:solidFill>
                <a:srgbClr val="990033"/>
              </a:solidFill>
              <a:round/>
              <a:headEnd/>
              <a:tailEnd/>
            </a:ln>
          </p:spPr>
          <p:txBody>
            <a:bodyPr wrap="none" anchor="ctr"/>
            <a:lstStyle/>
            <a:p>
              <a:pPr defTabSz="914400"/>
              <a:endParaRPr lang="en-US">
                <a:solidFill>
                  <a:srgbClr val="000000"/>
                </a:solidFill>
                <a:latin typeface="Arial"/>
                <a:cs typeface="Arial"/>
              </a:endParaRPr>
            </a:p>
          </p:txBody>
        </p:sp>
        <p:sp>
          <p:nvSpPr>
            <p:cNvPr id="19473" name="Text Box 33"/>
            <p:cNvSpPr txBox="1">
              <a:spLocks noChangeArrowheads="1"/>
            </p:cNvSpPr>
            <p:nvPr/>
          </p:nvSpPr>
          <p:spPr bwMode="auto">
            <a:xfrm>
              <a:off x="474" y="2894"/>
              <a:ext cx="1920" cy="913"/>
            </a:xfrm>
            <a:prstGeom prst="rect">
              <a:avLst/>
            </a:prstGeom>
            <a:solidFill>
              <a:srgbClr val="FFCCCC"/>
            </a:solidFill>
            <a:ln w="9525">
              <a:noFill/>
              <a:miter lim="800000"/>
              <a:headEnd/>
              <a:tailEnd/>
            </a:ln>
          </p:spPr>
          <p:txBody>
            <a:bodyPr wrap="square">
              <a:spAutoFit/>
            </a:bodyPr>
            <a:lstStyle/>
            <a:p>
              <a:pPr defTabSz="914400">
                <a:lnSpc>
                  <a:spcPct val="105000"/>
                </a:lnSpc>
                <a:spcBef>
                  <a:spcPct val="50000"/>
                </a:spcBef>
              </a:pPr>
              <a:r>
                <a:rPr lang="en-US" sz="2800" dirty="0">
                  <a:solidFill>
                    <a:srgbClr val="000000"/>
                  </a:solidFill>
                  <a:latin typeface="Arial"/>
                  <a:cs typeface="Arial"/>
                </a:rPr>
                <a:t>If </a:t>
              </a:r>
              <a:r>
                <a:rPr lang="en-US" sz="2800" b="1" i="1" dirty="0">
                  <a:solidFill>
                    <a:srgbClr val="000000"/>
                  </a:solidFill>
                  <a:latin typeface="Arial"/>
                  <a:cs typeface="Arial"/>
                </a:rPr>
                <a:t>P</a:t>
              </a:r>
              <a:r>
                <a:rPr lang="en-US" sz="2800" dirty="0">
                  <a:solidFill>
                    <a:srgbClr val="000000"/>
                  </a:solidFill>
                  <a:latin typeface="Arial"/>
                  <a:cs typeface="Arial"/>
                </a:rPr>
                <a:t> &lt; </a:t>
              </a:r>
              <a:r>
                <a:rPr lang="en-US" sz="2800" i="1" dirty="0">
                  <a:solidFill>
                    <a:srgbClr val="000000"/>
                  </a:solidFill>
                  <a:latin typeface="Arial"/>
                  <a:cs typeface="Arial"/>
                </a:rPr>
                <a:t>AVC</a:t>
              </a:r>
              <a:r>
                <a:rPr lang="en-US" sz="2800" dirty="0">
                  <a:solidFill>
                    <a:srgbClr val="000000"/>
                  </a:solidFill>
                  <a:latin typeface="Arial"/>
                  <a:cs typeface="Arial"/>
                </a:rPr>
                <a:t>, then firm shuts down (produces </a:t>
              </a:r>
              <a:r>
                <a:rPr lang="en-US" sz="2800" b="1" i="1" dirty="0">
                  <a:solidFill>
                    <a:srgbClr val="000000"/>
                  </a:solidFill>
                  <a:latin typeface="Arial"/>
                  <a:cs typeface="Arial"/>
                </a:rPr>
                <a:t>Q</a:t>
              </a:r>
              <a:r>
                <a:rPr lang="en-US" sz="2800" dirty="0">
                  <a:solidFill>
                    <a:srgbClr val="000000"/>
                  </a:solidFill>
                  <a:latin typeface="Arial"/>
                  <a:cs typeface="Arial"/>
                </a:rPr>
                <a:t> = 0).</a:t>
              </a:r>
            </a:p>
          </p:txBody>
        </p:sp>
      </p:grpSp>
      <p:sp>
        <p:nvSpPr>
          <p:cNvPr id="19471" name="FlagCount" hidden="1">
            <a:hlinkClick r:id="rId3" action="ppaction://hlinkfile"/>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defTabSz="914400"/>
            <a:r>
              <a:rPr lang="en-US" sz="1400" b="1">
                <a:solidFill>
                  <a:srgbClr val="000000"/>
                </a:solidFill>
                <a:latin typeface="Tahoma" pitchFamily="34" charset="0"/>
                <a:cs typeface="Arial" charset="0"/>
              </a:rPr>
              <a:t>0</a:t>
            </a:r>
          </a:p>
        </p:txBody>
      </p:sp>
      <p:sp>
        <p:nvSpPr>
          <p:cNvPr id="9" name="Footer Placeholder 8"/>
          <p:cNvSpPr>
            <a:spLocks noGrp="1"/>
          </p:cNvSpPr>
          <p:nvPr>
            <p:ph type="ftr" sz="quarter" idx="14"/>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10" name="Slide Number Placeholder 9"/>
          <p:cNvSpPr>
            <a:spLocks noGrp="1"/>
          </p:cNvSpPr>
          <p:nvPr>
            <p:ph type="sldNum" sz="quarter" idx="13"/>
          </p:nvPr>
        </p:nvSpPr>
        <p:spPr/>
        <p:txBody>
          <a:bodyPr/>
          <a:lstStyle/>
          <a:p>
            <a:pPr defTabSz="914400">
              <a:defRPr/>
            </a:pPr>
            <a:fld id="{2F37425F-5E17-4209-B948-B5CE2119E408}" type="slidenum">
              <a:rPr lang="en-US">
                <a:latin typeface="Arial"/>
              </a:rPr>
              <a:pPr defTabSz="914400">
                <a:defRPr/>
              </a:pPr>
              <a:t>11</a:t>
            </a:fld>
            <a:endParaRPr lang="en-US" dirty="0">
              <a:latin typeface="Arial"/>
            </a:endParaRPr>
          </a:p>
        </p:txBody>
      </p:sp>
    </p:spTree>
    <p:extLst>
      <p:ext uri="{BB962C8B-B14F-4D97-AF65-F5344CB8AC3E}">
        <p14:creationId xmlns:p14="http://schemas.microsoft.com/office/powerpoint/2010/main" val="144966772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110609"/>
                                        </p:tgtEl>
                                        <p:attrNameLst>
                                          <p:attrName>style.visibility</p:attrName>
                                        </p:attrNameLst>
                                      </p:cBhvr>
                                      <p:to>
                                        <p:strVal val="visible"/>
                                      </p:to>
                                    </p:set>
                                    <p:animEffect transition="in" filter="strips(downLeft)">
                                      <p:cBhvr>
                                        <p:cTn id="11" dur="500"/>
                                        <p:tgtEl>
                                          <p:spTgt spid="11060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10610"/>
                                        </p:tgtEl>
                                        <p:attrNameLst>
                                          <p:attrName>style.visibility</p:attrName>
                                        </p:attrNameLst>
                                      </p:cBhvr>
                                      <p:to>
                                        <p:strVal val="visible"/>
                                      </p:to>
                                    </p:set>
                                    <p:animEffect transition="in" filter="wipe(right)">
                                      <p:cBhvr>
                                        <p:cTn id="23" dur="500"/>
                                        <p:tgtEl>
                                          <p:spTgt spid="110610"/>
                                        </p:tgtEl>
                                      </p:cBhvr>
                                    </p:animEffect>
                                  </p:childTnLst>
                                </p:cTn>
                              </p:par>
                            </p:childTnLst>
                          </p:cTn>
                        </p:par>
                        <p:par>
                          <p:cTn id="24" fill="hold">
                            <p:stCondLst>
                              <p:cond delay="1000"/>
                            </p:stCondLst>
                            <p:childTnLst>
                              <p:par>
                                <p:cTn id="25" presetID="22" presetClass="entr" presetSubtype="1" fill="hold" grpId="0" nodeType="afterEffect">
                                  <p:stCondLst>
                                    <p:cond delay="0"/>
                                  </p:stCondLst>
                                  <p:childTnLst>
                                    <p:set>
                                      <p:cBhvr>
                                        <p:cTn id="26" dur="1" fill="hold">
                                          <p:stCondLst>
                                            <p:cond delay="0"/>
                                          </p:stCondLst>
                                        </p:cTn>
                                        <p:tgtEl>
                                          <p:spTgt spid="110611"/>
                                        </p:tgtEl>
                                        <p:attrNameLst>
                                          <p:attrName>style.visibility</p:attrName>
                                        </p:attrNameLst>
                                      </p:cBhvr>
                                      <p:to>
                                        <p:strVal val="visible"/>
                                      </p:to>
                                    </p:set>
                                    <p:animEffect transition="in" filter="wipe(up)">
                                      <p:cBhvr>
                                        <p:cTn id="27" dur="500"/>
                                        <p:tgtEl>
                                          <p:spTgt spid="1106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10595"/>
                                        </p:tgtEl>
                                        <p:attrNameLst>
                                          <p:attrName>style.visibility</p:attrName>
                                        </p:attrNameLst>
                                      </p:cBhvr>
                                      <p:to>
                                        <p:strVal val="visible"/>
                                      </p:to>
                                    </p:set>
                                    <p:animEffect transition="in" filter="fade">
                                      <p:cBhvr>
                                        <p:cTn id="36"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animBg="1" autoUpdateAnimBg="0"/>
      <p:bldP spid="110609" grpId="0" animBg="1"/>
      <p:bldP spid="110610" grpId="0" animBg="1"/>
      <p:bldP spid="1106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wrap="square"/>
          <a:lstStyle/>
          <a:p>
            <a:r>
              <a:rPr lang="en-US" altLang="en-US" dirty="0"/>
              <a:t>The Irrelevance of Sunk Costs</a:t>
            </a:r>
            <a:endParaRPr lang="en-US" altLang="en-US" dirty="0" smtClean="0"/>
          </a:p>
        </p:txBody>
      </p:sp>
      <p:sp>
        <p:nvSpPr>
          <p:cNvPr id="23555" name="Content Placeholder 2"/>
          <p:cNvSpPr>
            <a:spLocks noGrp="1"/>
          </p:cNvSpPr>
          <p:nvPr>
            <p:ph idx="1"/>
          </p:nvPr>
        </p:nvSpPr>
        <p:spPr/>
        <p:txBody>
          <a:bodyPr/>
          <a:lstStyle/>
          <a:p>
            <a:r>
              <a:rPr lang="en-US" altLang="en-US" dirty="0" smtClean="0"/>
              <a:t>Sunk cost</a:t>
            </a:r>
          </a:p>
          <a:p>
            <a:pPr lvl="1"/>
            <a:r>
              <a:rPr lang="en-US" altLang="en-US" dirty="0" smtClean="0"/>
              <a:t>A cost that has already been committed and cannot be recovered</a:t>
            </a:r>
          </a:p>
          <a:p>
            <a:pPr lvl="1"/>
            <a:r>
              <a:rPr lang="en-US" altLang="en-US" dirty="0" smtClean="0"/>
              <a:t>Should be ignored when making decisions</a:t>
            </a:r>
          </a:p>
          <a:p>
            <a:pPr lvl="1"/>
            <a:r>
              <a:rPr lang="en-US" altLang="en-US" dirty="0" smtClean="0"/>
              <a:t>You must </a:t>
            </a:r>
            <a:r>
              <a:rPr lang="en-US" altLang="en-US" dirty="0"/>
              <a:t>pay them regardless of your choice</a:t>
            </a:r>
            <a:endParaRPr lang="en-US" altLang="en-US" dirty="0" smtClean="0"/>
          </a:p>
          <a:p>
            <a:pPr lvl="1"/>
            <a:r>
              <a:rPr lang="en-US" altLang="en-US" dirty="0" smtClean="0"/>
              <a:t>In the short run, FC are sunk costs </a:t>
            </a:r>
          </a:p>
          <a:p>
            <a:pPr lvl="2"/>
            <a:r>
              <a:rPr lang="en-US" altLang="en-US" dirty="0"/>
              <a:t>So, FC should not matter in the decision to shut down</a:t>
            </a:r>
            <a:endParaRPr lang="en-US" altLang="en-US" dirty="0" smtClean="0"/>
          </a:p>
          <a:p>
            <a:pPr lvl="1"/>
            <a:endParaRPr lang="en-US" altLang="en-US" dirty="0" smtClean="0"/>
          </a:p>
        </p:txBody>
      </p:sp>
      <p:sp>
        <p:nvSpPr>
          <p:cNvPr id="2355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7E7EA0E3-5ED6-4AB9-9A37-B9431E78EE54}" type="slidenum">
              <a:rPr lang="en-US" altLang="en-US" sz="1200">
                <a:solidFill>
                  <a:srgbClr val="002060"/>
                </a:solidFill>
              </a:rPr>
              <a:pPr defTabSz="914400" eaLnBrk="1" hangingPunct="1"/>
              <a:t>12</a:t>
            </a:fld>
            <a:endParaRPr lang="en-US" altLang="en-US" sz="1200">
              <a:solidFill>
                <a:srgbClr val="002060"/>
              </a:solidFill>
            </a:endParaRPr>
          </a:p>
        </p:txBody>
      </p:sp>
      <p:sp>
        <p:nvSpPr>
          <p:cNvPr id="235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237575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wrap="square"/>
          <a:lstStyle/>
          <a:p>
            <a:r>
              <a:rPr lang="en-US" altLang="en-US" dirty="0"/>
              <a:t>A Firm’s Long-Run </a:t>
            </a:r>
            <a:r>
              <a:rPr lang="en-US" altLang="en-US" dirty="0" smtClean="0"/>
              <a:t>Decision</a:t>
            </a:r>
          </a:p>
        </p:txBody>
      </p:sp>
      <p:sp>
        <p:nvSpPr>
          <p:cNvPr id="26627" name="Content Placeholder 2"/>
          <p:cNvSpPr>
            <a:spLocks noGrp="1"/>
          </p:cNvSpPr>
          <p:nvPr>
            <p:ph idx="1"/>
          </p:nvPr>
        </p:nvSpPr>
        <p:spPr/>
        <p:txBody>
          <a:bodyPr/>
          <a:lstStyle/>
          <a:p>
            <a:r>
              <a:rPr lang="en-US" altLang="en-US" dirty="0" smtClean="0"/>
              <a:t>Should a firm exit or enter in the long run?</a:t>
            </a:r>
          </a:p>
          <a:p>
            <a:pPr lvl="1"/>
            <a:r>
              <a:rPr lang="en-US" altLang="en-US" sz="3000" dirty="0"/>
              <a:t>Cost of exiting market = revenue loss = TR</a:t>
            </a:r>
          </a:p>
          <a:p>
            <a:pPr lvl="1"/>
            <a:r>
              <a:rPr lang="en-US" altLang="en-US" sz="3000" dirty="0"/>
              <a:t>Benefit of exiting market = cost savings = TC (remember, FC = 0 in long run)</a:t>
            </a:r>
          </a:p>
          <a:p>
            <a:r>
              <a:rPr lang="en-US" altLang="en-US" dirty="0" smtClean="0"/>
              <a:t>Firm’s long-run decision</a:t>
            </a:r>
          </a:p>
          <a:p>
            <a:pPr lvl="1"/>
            <a:r>
              <a:rPr lang="en-US" altLang="en-US" sz="3000" u="sng" dirty="0"/>
              <a:t>Exit</a:t>
            </a:r>
            <a:r>
              <a:rPr lang="en-US" altLang="en-US" sz="3000" dirty="0"/>
              <a:t> the market if: </a:t>
            </a:r>
            <a:r>
              <a:rPr lang="en-US" altLang="en-US" sz="3000" dirty="0">
                <a:solidFill>
                  <a:srgbClr val="FF0000"/>
                </a:solidFill>
              </a:rPr>
              <a:t>TR &lt; TC </a:t>
            </a:r>
          </a:p>
          <a:p>
            <a:pPr marL="457200" lvl="1" indent="0">
              <a:buNone/>
            </a:pPr>
            <a:r>
              <a:rPr lang="en-US" altLang="en-US" sz="3000" dirty="0"/>
              <a:t>			(same as: </a:t>
            </a:r>
            <a:r>
              <a:rPr lang="en-US" altLang="en-US" sz="3000" dirty="0">
                <a:solidFill>
                  <a:srgbClr val="FF0000"/>
                </a:solidFill>
              </a:rPr>
              <a:t>P &lt; ATC</a:t>
            </a:r>
            <a:r>
              <a:rPr lang="en-US" altLang="en-US" sz="3000" dirty="0"/>
              <a:t>)</a:t>
            </a:r>
          </a:p>
          <a:p>
            <a:pPr lvl="1"/>
            <a:r>
              <a:rPr lang="en-US" altLang="en-US" sz="3000" u="sng" dirty="0"/>
              <a:t>Enter</a:t>
            </a:r>
            <a:r>
              <a:rPr lang="en-US" altLang="en-US" sz="3000" dirty="0"/>
              <a:t> the market if: TR &gt; TC </a:t>
            </a:r>
          </a:p>
          <a:p>
            <a:pPr marL="457200" lvl="1" indent="0">
              <a:buNone/>
            </a:pPr>
            <a:r>
              <a:rPr lang="en-US" altLang="en-US" sz="3000" dirty="0"/>
              <a:t>			(same as: P &gt; ATC)</a:t>
            </a:r>
          </a:p>
        </p:txBody>
      </p:sp>
      <p:sp>
        <p:nvSpPr>
          <p:cNvPr id="2662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F36344CA-F0E6-45D8-BD45-A2BB600DE31A}" type="slidenum">
              <a:rPr lang="en-US" altLang="en-US" sz="1200">
                <a:solidFill>
                  <a:srgbClr val="002060"/>
                </a:solidFill>
              </a:rPr>
              <a:pPr defTabSz="914400" eaLnBrk="1" hangingPunct="1"/>
              <a:t>13</a:t>
            </a:fld>
            <a:endParaRPr lang="en-US" altLang="en-US" sz="1200">
              <a:solidFill>
                <a:srgbClr val="002060"/>
              </a:solidFill>
            </a:endParaRPr>
          </a:p>
        </p:txBody>
      </p:sp>
      <p:sp>
        <p:nvSpPr>
          <p:cNvPr id="2662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0894295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8" name="Rectangle 9"/>
          <p:cNvSpPr>
            <a:spLocks noGrp="1" noChangeArrowheads="1"/>
          </p:cNvSpPr>
          <p:nvPr>
            <p:ph type="title"/>
          </p:nvPr>
        </p:nvSpPr>
        <p:spPr/>
        <p:txBody>
          <a:bodyPr>
            <a:normAutofit fontScale="90000"/>
          </a:bodyPr>
          <a:lstStyle/>
          <a:p>
            <a:pPr algn="ctr" eaLnBrk="1" hangingPunct="1"/>
            <a:r>
              <a:rPr lang="en-US" dirty="0" smtClean="0"/>
              <a:t>The Competitive Firm’s LR Supply Curve</a:t>
            </a:r>
          </a:p>
        </p:txBody>
      </p:sp>
      <p:sp>
        <p:nvSpPr>
          <p:cNvPr id="118786" name="Rectangle 2"/>
          <p:cNvSpPr>
            <a:spLocks noGrp="1" noChangeArrowheads="1"/>
          </p:cNvSpPr>
          <p:nvPr>
            <p:ph type="body" sz="quarter" idx="12"/>
          </p:nvPr>
        </p:nvSpPr>
        <p:spPr>
          <a:xfrm>
            <a:off x="5995988" y="685800"/>
            <a:ext cx="4443413" cy="5041900"/>
          </a:xfrm>
          <a:solidFill>
            <a:schemeClr val="bg1"/>
          </a:solidFill>
          <a:effectLst>
            <a:outerShdw blurRad="50800" dist="38100" dir="2700000" algn="tl" rotWithShape="0">
              <a:prstClr val="black">
                <a:alpha val="40000"/>
              </a:prstClr>
            </a:outerShdw>
          </a:effectLst>
        </p:spPr>
        <p:txBody>
          <a:bodyPr/>
          <a:lstStyle/>
          <a:p>
            <a:pPr eaLnBrk="1" hangingPunct="1"/>
            <a:r>
              <a:rPr lang="en-US" sz="2800" dirty="0"/>
              <a:t>The firm’s LR supply curve is the portion of its </a:t>
            </a:r>
            <a:r>
              <a:rPr lang="en-US" sz="2800" i="1" dirty="0"/>
              <a:t>MC</a:t>
            </a:r>
            <a:r>
              <a:rPr lang="en-US" sz="2800" dirty="0"/>
              <a:t> curve above </a:t>
            </a:r>
            <a:r>
              <a:rPr lang="en-US" sz="2800" i="1" dirty="0"/>
              <a:t>LRATC</a:t>
            </a:r>
            <a:r>
              <a:rPr lang="en-US" sz="2800" dirty="0"/>
              <a:t>.</a:t>
            </a:r>
          </a:p>
        </p:txBody>
      </p:sp>
      <p:grpSp>
        <p:nvGrpSpPr>
          <p:cNvPr id="2" name="Group 3"/>
          <p:cNvGrpSpPr>
            <a:grpSpLocks/>
          </p:cNvGrpSpPr>
          <p:nvPr/>
        </p:nvGrpSpPr>
        <p:grpSpPr bwMode="auto">
          <a:xfrm>
            <a:off x="3581400" y="1698625"/>
            <a:ext cx="4864100" cy="4146550"/>
            <a:chOff x="2335" y="1070"/>
            <a:chExt cx="3064" cy="2612"/>
          </a:xfrm>
        </p:grpSpPr>
        <p:grpSp>
          <p:nvGrpSpPr>
            <p:cNvPr id="3" name="Group 4"/>
            <p:cNvGrpSpPr>
              <a:grpSpLocks/>
            </p:cNvGrpSpPr>
            <p:nvPr/>
          </p:nvGrpSpPr>
          <p:grpSpPr bwMode="auto">
            <a:xfrm>
              <a:off x="2730" y="1335"/>
              <a:ext cx="2357" cy="2206"/>
              <a:chOff x="1489" y="785"/>
              <a:chExt cx="3650" cy="2492"/>
            </a:xfrm>
          </p:grpSpPr>
          <p:sp>
            <p:nvSpPr>
              <p:cNvPr id="23572"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23573"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23570" name="Text Box 7"/>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23571" name="Text Box 8"/>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defTabSz="914400">
                <a:spcBef>
                  <a:spcPct val="50000"/>
                </a:spcBef>
              </a:pPr>
              <a:r>
                <a:rPr lang="en-US" sz="2500">
                  <a:solidFill>
                    <a:srgbClr val="000000"/>
                  </a:solidFill>
                  <a:latin typeface="Arial"/>
                  <a:cs typeface="Arial"/>
                </a:rPr>
                <a:t>Costs</a:t>
              </a:r>
            </a:p>
          </p:txBody>
        </p:sp>
      </p:grpSp>
      <p:grpSp>
        <p:nvGrpSpPr>
          <p:cNvPr id="4" name="Group 10"/>
          <p:cNvGrpSpPr>
            <a:grpSpLocks/>
          </p:cNvGrpSpPr>
          <p:nvPr/>
        </p:nvGrpSpPr>
        <p:grpSpPr bwMode="auto">
          <a:xfrm>
            <a:off x="5013326" y="2287588"/>
            <a:ext cx="2676525" cy="3181350"/>
            <a:chOff x="3237" y="1336"/>
            <a:chExt cx="1686" cy="2004"/>
          </a:xfrm>
        </p:grpSpPr>
        <p:sp>
          <p:nvSpPr>
            <p:cNvPr id="23567" name="Line 11"/>
            <p:cNvSpPr>
              <a:spLocks noChangeShapeType="1"/>
            </p:cNvSpPr>
            <p:nvPr/>
          </p:nvSpPr>
          <p:spPr bwMode="auto">
            <a:xfrm flipV="1">
              <a:off x="3237" y="1568"/>
              <a:ext cx="1346" cy="1772"/>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23568" name="Text Box 12"/>
            <p:cNvSpPr txBox="1">
              <a:spLocks noChangeArrowheads="1"/>
            </p:cNvSpPr>
            <p:nvPr/>
          </p:nvSpPr>
          <p:spPr bwMode="auto">
            <a:xfrm>
              <a:off x="4540" y="1336"/>
              <a:ext cx="383" cy="24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MC</a:t>
              </a:r>
            </a:p>
          </p:txBody>
        </p:sp>
      </p:grpSp>
      <p:sp>
        <p:nvSpPr>
          <p:cNvPr id="23560" name="Arc 14"/>
          <p:cNvSpPr>
            <a:spLocks/>
          </p:cNvSpPr>
          <p:nvPr/>
        </p:nvSpPr>
        <p:spPr bwMode="auto">
          <a:xfrm flipH="1" flipV="1">
            <a:off x="4518026" y="2700338"/>
            <a:ext cx="3062287" cy="1516062"/>
          </a:xfrm>
          <a:custGeom>
            <a:avLst/>
            <a:gdLst>
              <a:gd name="T0" fmla="*/ 0 w 32505"/>
              <a:gd name="T1" fmla="*/ 2147483647 h 21600"/>
              <a:gd name="T2" fmla="*/ 2147483647 w 32505"/>
              <a:gd name="T3" fmla="*/ 2147483647 h 21600"/>
              <a:gd name="T4" fmla="*/ 2147483647 w 32505"/>
              <a:gd name="T5" fmla="*/ 2147483647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wrap="none" anchor="ctr"/>
          <a:lstStyle/>
          <a:p>
            <a:pPr defTabSz="914400"/>
            <a:endParaRPr lang="en-US">
              <a:solidFill>
                <a:srgbClr val="000000"/>
              </a:solidFill>
              <a:latin typeface="Arial"/>
              <a:cs typeface="Arial"/>
            </a:endParaRPr>
          </a:p>
        </p:txBody>
      </p:sp>
      <p:sp>
        <p:nvSpPr>
          <p:cNvPr id="23561" name="Text Box 15"/>
          <p:cNvSpPr txBox="1">
            <a:spLocks noChangeArrowheads="1"/>
          </p:cNvSpPr>
          <p:nvPr/>
        </p:nvSpPr>
        <p:spPr bwMode="auto">
          <a:xfrm>
            <a:off x="7466012" y="3265488"/>
            <a:ext cx="1143000" cy="381000"/>
          </a:xfrm>
          <a:prstGeom prst="rect">
            <a:avLst/>
          </a:prstGeom>
          <a:noFill/>
          <a:ln w="9525">
            <a:noFill/>
            <a:miter lim="800000"/>
            <a:headEnd/>
            <a:tailEnd/>
          </a:ln>
        </p:spPr>
        <p:txBody>
          <a:bodyPr lIns="0" tIns="0" rIns="0" bIns="0">
            <a:spAutoFit/>
          </a:bodyPr>
          <a:lstStyle/>
          <a:p>
            <a:pPr defTabSz="914400">
              <a:spcBef>
                <a:spcPct val="50000"/>
              </a:spcBef>
            </a:pPr>
            <a:r>
              <a:rPr lang="en-US" sz="2500" i="1">
                <a:solidFill>
                  <a:srgbClr val="000000"/>
                </a:solidFill>
                <a:latin typeface="Arial"/>
                <a:cs typeface="Arial"/>
              </a:rPr>
              <a:t>LRATC</a:t>
            </a:r>
          </a:p>
        </p:txBody>
      </p:sp>
      <p:grpSp>
        <p:nvGrpSpPr>
          <p:cNvPr id="5" name="Group 28"/>
          <p:cNvGrpSpPr>
            <a:grpSpLocks/>
          </p:cNvGrpSpPr>
          <p:nvPr/>
        </p:nvGrpSpPr>
        <p:grpSpPr bwMode="auto">
          <a:xfrm>
            <a:off x="4213226" y="2678114"/>
            <a:ext cx="2949575" cy="2941637"/>
            <a:chOff x="2733" y="1687"/>
            <a:chExt cx="1858" cy="1853"/>
          </a:xfrm>
        </p:grpSpPr>
        <p:sp>
          <p:nvSpPr>
            <p:cNvPr id="23564" name="Line 19"/>
            <p:cNvSpPr>
              <a:spLocks noChangeShapeType="1"/>
            </p:cNvSpPr>
            <p:nvPr/>
          </p:nvSpPr>
          <p:spPr bwMode="auto">
            <a:xfrm flipV="1">
              <a:off x="3854" y="1687"/>
              <a:ext cx="737" cy="971"/>
            </a:xfrm>
            <a:prstGeom prst="line">
              <a:avLst/>
            </a:prstGeom>
            <a:noFill/>
            <a:ln w="44450">
              <a:solidFill>
                <a:srgbClr val="FF0505"/>
              </a:solidFill>
              <a:round/>
              <a:headEnd/>
              <a:tailEnd/>
            </a:ln>
          </p:spPr>
          <p:txBody>
            <a:bodyPr/>
            <a:lstStyle/>
            <a:p>
              <a:pPr defTabSz="914400"/>
              <a:endParaRPr lang="en-US">
                <a:solidFill>
                  <a:srgbClr val="000000"/>
                </a:solidFill>
                <a:latin typeface="Arial"/>
                <a:cs typeface="Arial"/>
              </a:endParaRPr>
            </a:p>
          </p:txBody>
        </p:sp>
        <p:sp>
          <p:nvSpPr>
            <p:cNvPr id="23565" name="Line 20"/>
            <p:cNvSpPr>
              <a:spLocks noChangeShapeType="1"/>
            </p:cNvSpPr>
            <p:nvPr/>
          </p:nvSpPr>
          <p:spPr bwMode="auto">
            <a:xfrm flipH="1">
              <a:off x="2733" y="2658"/>
              <a:ext cx="1122" cy="0"/>
            </a:xfrm>
            <a:prstGeom prst="line">
              <a:avLst/>
            </a:prstGeom>
            <a:noFill/>
            <a:ln w="44450">
              <a:solidFill>
                <a:srgbClr val="FF0505"/>
              </a:solidFill>
              <a:round/>
              <a:headEnd/>
              <a:tailEnd/>
            </a:ln>
          </p:spPr>
          <p:txBody>
            <a:bodyPr/>
            <a:lstStyle/>
            <a:p>
              <a:pPr defTabSz="914400"/>
              <a:endParaRPr lang="en-US">
                <a:solidFill>
                  <a:srgbClr val="000000"/>
                </a:solidFill>
                <a:latin typeface="Arial"/>
                <a:cs typeface="Arial"/>
              </a:endParaRPr>
            </a:p>
          </p:txBody>
        </p:sp>
        <p:sp>
          <p:nvSpPr>
            <p:cNvPr id="23566" name="Line 21"/>
            <p:cNvSpPr>
              <a:spLocks noChangeShapeType="1"/>
            </p:cNvSpPr>
            <p:nvPr/>
          </p:nvSpPr>
          <p:spPr bwMode="auto">
            <a:xfrm flipV="1">
              <a:off x="2736" y="2661"/>
              <a:ext cx="3" cy="879"/>
            </a:xfrm>
            <a:prstGeom prst="line">
              <a:avLst/>
            </a:prstGeom>
            <a:noFill/>
            <a:ln w="44450">
              <a:solidFill>
                <a:srgbClr val="FF0505"/>
              </a:solidFill>
              <a:round/>
              <a:headEnd/>
              <a:tailEnd/>
            </a:ln>
          </p:spPr>
          <p:txBody>
            <a:bodyPr/>
            <a:lstStyle/>
            <a:p>
              <a:pPr defTabSz="914400"/>
              <a:endParaRPr lang="en-US">
                <a:solidFill>
                  <a:srgbClr val="000000"/>
                </a:solidFill>
                <a:latin typeface="Arial"/>
                <a:cs typeface="Arial"/>
              </a:endParaRPr>
            </a:p>
          </p:txBody>
        </p:sp>
      </p:grpSp>
      <p:sp>
        <p:nvSpPr>
          <p:cNvPr id="23563" name="FlagCount" hidden="1">
            <a:hlinkClick r:id="rId3" action="ppaction://hlinkfile"/>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defTabSz="914400"/>
            <a:r>
              <a:rPr lang="en-US" sz="1400" b="1">
                <a:solidFill>
                  <a:srgbClr val="000000"/>
                </a:solidFill>
                <a:latin typeface="Tahoma" pitchFamily="34" charset="0"/>
                <a:cs typeface="Arial" charset="0"/>
              </a:rPr>
              <a:t>0</a:t>
            </a:r>
          </a:p>
        </p:txBody>
      </p:sp>
      <p:sp>
        <p:nvSpPr>
          <p:cNvPr id="6" name="Footer Placeholder 5"/>
          <p:cNvSpPr>
            <a:spLocks noGrp="1"/>
          </p:cNvSpPr>
          <p:nvPr>
            <p:ph type="ftr" sz="quarter" idx="14"/>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7" name="Slide Number Placeholder 6"/>
          <p:cNvSpPr>
            <a:spLocks noGrp="1"/>
          </p:cNvSpPr>
          <p:nvPr>
            <p:ph type="sldNum" sz="quarter" idx="13"/>
          </p:nvPr>
        </p:nvSpPr>
        <p:spPr/>
        <p:txBody>
          <a:bodyPr/>
          <a:lstStyle/>
          <a:p>
            <a:pPr defTabSz="914400">
              <a:defRPr/>
            </a:pPr>
            <a:fld id="{2F37425F-5E17-4209-B948-B5CE2119E408}" type="slidenum">
              <a:rPr lang="en-US">
                <a:latin typeface="Arial"/>
              </a:rPr>
              <a:pPr defTabSz="914400">
                <a:defRPr/>
              </a:pPr>
              <a:t>14</a:t>
            </a:fld>
            <a:endParaRPr lang="en-US" dirty="0">
              <a:latin typeface="Arial"/>
            </a:endParaRPr>
          </a:p>
        </p:txBody>
      </p:sp>
    </p:spTree>
    <p:extLst>
      <p:ext uri="{BB962C8B-B14F-4D97-AF65-F5344CB8AC3E}">
        <p14:creationId xmlns:p14="http://schemas.microsoft.com/office/powerpoint/2010/main" val="417135029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786"/>
                                        </p:tgtEl>
                                        <p:attrNameLst>
                                          <p:attrName>style.visibility</p:attrName>
                                        </p:attrNameLst>
                                      </p:cBhvr>
                                      <p:to>
                                        <p:strVal val="visible"/>
                                      </p:to>
                                    </p:set>
                                    <p:animEffect transition="in" filter="fade">
                                      <p:cBhvr>
                                        <p:cTn id="12" dur="500"/>
                                        <p:tgtEl>
                                          <p:spTgt spid="118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1676400" y="100940"/>
            <a:ext cx="8991600" cy="661061"/>
          </a:xfrm>
        </p:spPr>
        <p:txBody>
          <a:bodyPr>
            <a:normAutofit/>
          </a:bodyPr>
          <a:lstStyle/>
          <a:p>
            <a:pPr algn="l" eaLnBrk="1" hangingPunct="1">
              <a:defRPr/>
            </a:pPr>
            <a:r>
              <a:rPr lang="en-US" dirty="0">
                <a:solidFill>
                  <a:schemeClr val="accent6">
                    <a:lumMod val="50000"/>
                  </a:schemeClr>
                </a:solidFill>
              </a:rPr>
              <a:t>Active Learning 2		</a:t>
            </a:r>
            <a:r>
              <a:rPr lang="en-US" dirty="0" smtClean="0">
                <a:solidFill>
                  <a:srgbClr val="AE1221"/>
                </a:solidFill>
              </a:rPr>
              <a:t>Answers</a:t>
            </a:r>
            <a:endParaRPr lang="en-US" sz="4800" dirty="0">
              <a:solidFill>
                <a:srgbClr val="CC9900"/>
              </a:solidFill>
              <a:cs typeface="Arial" charset="0"/>
            </a:endParaRPr>
          </a:p>
        </p:txBody>
      </p:sp>
      <p:grpSp>
        <p:nvGrpSpPr>
          <p:cNvPr id="6" name="Group 41"/>
          <p:cNvGrpSpPr>
            <a:grpSpLocks/>
          </p:cNvGrpSpPr>
          <p:nvPr/>
        </p:nvGrpSpPr>
        <p:grpSpPr bwMode="auto">
          <a:xfrm>
            <a:off x="5921376" y="2716212"/>
            <a:ext cx="2600325" cy="971550"/>
            <a:chOff x="2730" y="1883"/>
            <a:chExt cx="1638" cy="612"/>
          </a:xfrm>
        </p:grpSpPr>
        <p:sp>
          <p:nvSpPr>
            <p:cNvPr id="7" name="Rectangle 33"/>
            <p:cNvSpPr>
              <a:spLocks noChangeArrowheads="1"/>
            </p:cNvSpPr>
            <p:nvPr/>
          </p:nvSpPr>
          <p:spPr bwMode="auto">
            <a:xfrm>
              <a:off x="2730" y="1883"/>
              <a:ext cx="1638" cy="612"/>
            </a:xfrm>
            <a:prstGeom prst="rect">
              <a:avLst/>
            </a:prstGeom>
            <a:solidFill>
              <a:srgbClr val="FFCCCC"/>
            </a:solidFill>
            <a:ln w="9525">
              <a:noFill/>
              <a:miter lim="800000"/>
              <a:headEnd/>
              <a:tailEnd/>
            </a:ln>
          </p:spPr>
          <p:txBody>
            <a:bodyPr wrap="none" anchor="ctr"/>
            <a:lstStyle/>
            <a:p>
              <a:pPr defTabSz="914400"/>
              <a:endParaRPr lang="en-US">
                <a:solidFill>
                  <a:srgbClr val="000000"/>
                </a:solidFill>
                <a:latin typeface="Arial"/>
                <a:cs typeface="Arial"/>
              </a:endParaRPr>
            </a:p>
          </p:txBody>
        </p:sp>
        <p:sp>
          <p:nvSpPr>
            <p:cNvPr id="8" name="Text Box 34"/>
            <p:cNvSpPr txBox="1">
              <a:spLocks noChangeArrowheads="1"/>
            </p:cNvSpPr>
            <p:nvPr/>
          </p:nvSpPr>
          <p:spPr bwMode="auto">
            <a:xfrm>
              <a:off x="3219" y="2028"/>
              <a:ext cx="604" cy="298"/>
            </a:xfrm>
            <a:prstGeom prst="rect">
              <a:avLst/>
            </a:prstGeom>
            <a:noFill/>
            <a:ln w="9525">
              <a:noFill/>
              <a:miter lim="800000"/>
              <a:headEnd/>
              <a:tailEnd/>
            </a:ln>
          </p:spPr>
          <p:txBody>
            <a:bodyPr>
              <a:spAutoFit/>
            </a:bodyPr>
            <a:lstStyle/>
            <a:p>
              <a:pPr algn="ctr" defTabSz="914400">
                <a:spcBef>
                  <a:spcPct val="50000"/>
                </a:spcBef>
              </a:pPr>
              <a:r>
                <a:rPr lang="en-US" sz="2500">
                  <a:solidFill>
                    <a:srgbClr val="000000"/>
                  </a:solidFill>
                  <a:latin typeface="Arial"/>
                  <a:cs typeface="Arial"/>
                </a:rPr>
                <a:t>profit</a:t>
              </a:r>
              <a:endParaRPr lang="en-US" sz="2500" i="1">
                <a:solidFill>
                  <a:srgbClr val="000000"/>
                </a:solidFill>
                <a:latin typeface="Arial"/>
                <a:cs typeface="Arial"/>
              </a:endParaRPr>
            </a:p>
          </p:txBody>
        </p:sp>
      </p:grpSp>
      <p:grpSp>
        <p:nvGrpSpPr>
          <p:cNvPr id="9" name="Group 7"/>
          <p:cNvGrpSpPr>
            <a:grpSpLocks/>
          </p:cNvGrpSpPr>
          <p:nvPr/>
        </p:nvGrpSpPr>
        <p:grpSpPr bwMode="auto">
          <a:xfrm>
            <a:off x="4241801" y="1347788"/>
            <a:ext cx="5916613" cy="4113213"/>
            <a:chOff x="1672" y="916"/>
            <a:chExt cx="3727" cy="2591"/>
          </a:xfrm>
        </p:grpSpPr>
        <p:grpSp>
          <p:nvGrpSpPr>
            <p:cNvPr id="10" name="Group 8"/>
            <p:cNvGrpSpPr>
              <a:grpSpLocks/>
            </p:cNvGrpSpPr>
            <p:nvPr/>
          </p:nvGrpSpPr>
          <p:grpSpPr bwMode="auto">
            <a:xfrm>
              <a:off x="2730" y="981"/>
              <a:ext cx="2357" cy="2385"/>
              <a:chOff x="1489" y="785"/>
              <a:chExt cx="3650" cy="2492"/>
            </a:xfrm>
          </p:grpSpPr>
          <p:sp>
            <p:nvSpPr>
              <p:cNvPr id="13"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14"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1"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12" name="Text Box 12"/>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defTabSz="914400">
                <a:spcBef>
                  <a:spcPct val="50000"/>
                </a:spcBef>
              </a:pPr>
              <a:r>
                <a:rPr lang="en-US" sz="2400">
                  <a:solidFill>
                    <a:srgbClr val="000000"/>
                  </a:solidFill>
                  <a:latin typeface="Arial"/>
                  <a:cs typeface="Arial"/>
                </a:rPr>
                <a:t>Costs, </a:t>
              </a:r>
              <a:r>
                <a:rPr lang="en-US" sz="2400" b="1" i="1">
                  <a:solidFill>
                    <a:srgbClr val="000000"/>
                  </a:solidFill>
                  <a:latin typeface="Arial"/>
                  <a:cs typeface="Arial"/>
                </a:rPr>
                <a:t>P</a:t>
              </a:r>
            </a:p>
          </p:txBody>
        </p:sp>
      </p:grpSp>
      <p:grpSp>
        <p:nvGrpSpPr>
          <p:cNvPr id="15" name="Group 13"/>
          <p:cNvGrpSpPr>
            <a:grpSpLocks/>
          </p:cNvGrpSpPr>
          <p:nvPr/>
        </p:nvGrpSpPr>
        <p:grpSpPr bwMode="auto">
          <a:xfrm>
            <a:off x="6726239" y="1903412"/>
            <a:ext cx="2676525" cy="3181350"/>
            <a:chOff x="3237" y="1266"/>
            <a:chExt cx="1686" cy="2004"/>
          </a:xfrm>
        </p:grpSpPr>
        <p:sp>
          <p:nvSpPr>
            <p:cNvPr id="16" name="Line 14"/>
            <p:cNvSpPr>
              <a:spLocks noChangeShapeType="1"/>
            </p:cNvSpPr>
            <p:nvPr/>
          </p:nvSpPr>
          <p:spPr bwMode="auto">
            <a:xfrm flipV="1">
              <a:off x="3237" y="1498"/>
              <a:ext cx="1346" cy="1772"/>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17"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defTabSz="914400">
                <a:spcBef>
                  <a:spcPct val="50000"/>
                </a:spcBef>
              </a:pPr>
              <a:r>
                <a:rPr lang="en-US" sz="2400" i="1">
                  <a:solidFill>
                    <a:srgbClr val="000000"/>
                  </a:solidFill>
                  <a:latin typeface="Arial"/>
                  <a:cs typeface="Arial"/>
                </a:rPr>
                <a:t>MC</a:t>
              </a:r>
            </a:p>
          </p:txBody>
        </p:sp>
      </p:grpSp>
      <p:grpSp>
        <p:nvGrpSpPr>
          <p:cNvPr id="18" name="Group 16"/>
          <p:cNvGrpSpPr>
            <a:grpSpLocks/>
          </p:cNvGrpSpPr>
          <p:nvPr/>
        </p:nvGrpSpPr>
        <p:grpSpPr bwMode="auto">
          <a:xfrm>
            <a:off x="6230939" y="2316163"/>
            <a:ext cx="3851275" cy="1516063"/>
            <a:chOff x="2925" y="1526"/>
            <a:chExt cx="2426" cy="955"/>
          </a:xfrm>
        </p:grpSpPr>
        <p:sp>
          <p:nvSpPr>
            <p:cNvPr id="19"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pPr defTabSz="914400"/>
              <a:endParaRPr lang="en-US">
                <a:solidFill>
                  <a:srgbClr val="000000"/>
                </a:solidFill>
                <a:latin typeface="Arial"/>
                <a:cs typeface="Arial"/>
              </a:endParaRPr>
            </a:p>
          </p:txBody>
        </p:sp>
        <p:sp>
          <p:nvSpPr>
            <p:cNvPr id="20"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defTabSz="914400">
                <a:spcBef>
                  <a:spcPct val="50000"/>
                </a:spcBef>
              </a:pPr>
              <a:r>
                <a:rPr lang="en-US" sz="2400" i="1">
                  <a:solidFill>
                    <a:srgbClr val="000000"/>
                  </a:solidFill>
                  <a:latin typeface="Arial"/>
                  <a:cs typeface="Arial"/>
                </a:rPr>
                <a:t>ATC</a:t>
              </a:r>
            </a:p>
          </p:txBody>
        </p:sp>
      </p:grpSp>
      <p:grpSp>
        <p:nvGrpSpPr>
          <p:cNvPr id="21" name="Group 44"/>
          <p:cNvGrpSpPr>
            <a:grpSpLocks/>
          </p:cNvGrpSpPr>
          <p:nvPr/>
        </p:nvGrpSpPr>
        <p:grpSpPr bwMode="auto">
          <a:xfrm>
            <a:off x="4637088" y="2473325"/>
            <a:ext cx="5511800" cy="457200"/>
            <a:chOff x="1921" y="1730"/>
            <a:chExt cx="3472" cy="288"/>
          </a:xfrm>
        </p:grpSpPr>
        <p:sp>
          <p:nvSpPr>
            <p:cNvPr id="22" name="Line 20"/>
            <p:cNvSpPr>
              <a:spLocks noChangeShapeType="1"/>
            </p:cNvSpPr>
            <p:nvPr/>
          </p:nvSpPr>
          <p:spPr bwMode="auto">
            <a:xfrm>
              <a:off x="2726" y="1881"/>
              <a:ext cx="2250" cy="0"/>
            </a:xfrm>
            <a:prstGeom prst="line">
              <a:avLst/>
            </a:prstGeom>
            <a:noFill/>
            <a:ln w="28575">
              <a:solidFill>
                <a:srgbClr val="CC0000"/>
              </a:solidFill>
              <a:round/>
              <a:headEnd/>
              <a:tailEnd/>
            </a:ln>
          </p:spPr>
          <p:txBody>
            <a:bodyPr/>
            <a:lstStyle/>
            <a:p>
              <a:pPr defTabSz="914400"/>
              <a:endParaRPr lang="en-US">
                <a:solidFill>
                  <a:srgbClr val="000000"/>
                </a:solidFill>
                <a:latin typeface="Arial"/>
                <a:cs typeface="Arial"/>
              </a:endParaRPr>
            </a:p>
          </p:txBody>
        </p:sp>
        <p:sp>
          <p:nvSpPr>
            <p:cNvPr id="23" name="Text Box 21"/>
            <p:cNvSpPr txBox="1">
              <a:spLocks noChangeArrowheads="1"/>
            </p:cNvSpPr>
            <p:nvPr/>
          </p:nvSpPr>
          <p:spPr bwMode="auto">
            <a:xfrm>
              <a:off x="1921" y="1730"/>
              <a:ext cx="795" cy="288"/>
            </a:xfrm>
            <a:prstGeom prst="rect">
              <a:avLst/>
            </a:prstGeom>
            <a:noFill/>
            <a:ln w="9525">
              <a:noFill/>
              <a:miter lim="800000"/>
              <a:headEnd/>
              <a:tailEnd/>
            </a:ln>
          </p:spPr>
          <p:txBody>
            <a:bodyPr>
              <a:spAutoFit/>
            </a:bodyPr>
            <a:lstStyle/>
            <a:p>
              <a:pPr algn="r" defTabSz="914400">
                <a:spcBef>
                  <a:spcPct val="50000"/>
                </a:spcBef>
              </a:pPr>
              <a:r>
                <a:rPr lang="en-US" sz="2400" b="1" i="1">
                  <a:solidFill>
                    <a:srgbClr val="000000"/>
                  </a:solidFill>
                  <a:latin typeface="Arial"/>
                  <a:cs typeface="Arial"/>
                </a:rPr>
                <a:t>P</a:t>
              </a:r>
              <a:r>
                <a:rPr lang="en-US" sz="2400">
                  <a:solidFill>
                    <a:srgbClr val="000000"/>
                  </a:solidFill>
                  <a:latin typeface="Arial"/>
                  <a:cs typeface="Arial"/>
                </a:rPr>
                <a:t> = $10</a:t>
              </a:r>
              <a:endParaRPr lang="en-US" sz="2400" baseline="-25000">
                <a:solidFill>
                  <a:srgbClr val="000000"/>
                </a:solidFill>
                <a:latin typeface="Arial"/>
                <a:cs typeface="Arial"/>
              </a:endParaRPr>
            </a:p>
          </p:txBody>
        </p:sp>
        <p:sp>
          <p:nvSpPr>
            <p:cNvPr id="24" name="Text Box 22"/>
            <p:cNvSpPr txBox="1">
              <a:spLocks noChangeArrowheads="1"/>
            </p:cNvSpPr>
            <p:nvPr/>
          </p:nvSpPr>
          <p:spPr bwMode="auto">
            <a:xfrm>
              <a:off x="5010" y="1757"/>
              <a:ext cx="383" cy="233"/>
            </a:xfrm>
            <a:prstGeom prst="rect">
              <a:avLst/>
            </a:prstGeom>
            <a:noFill/>
            <a:ln w="9525">
              <a:noFill/>
              <a:miter lim="800000"/>
              <a:headEnd/>
              <a:tailEnd/>
            </a:ln>
          </p:spPr>
          <p:txBody>
            <a:bodyPr lIns="0" tIns="0" rIns="0" bIns="0">
              <a:spAutoFit/>
            </a:bodyPr>
            <a:lstStyle/>
            <a:p>
              <a:pPr defTabSz="914400">
                <a:spcBef>
                  <a:spcPct val="50000"/>
                </a:spcBef>
              </a:pPr>
              <a:r>
                <a:rPr lang="en-US" sz="2400" i="1">
                  <a:solidFill>
                    <a:srgbClr val="000000"/>
                  </a:solidFill>
                  <a:latin typeface="Arial"/>
                  <a:cs typeface="Arial"/>
                </a:rPr>
                <a:t>MR</a:t>
              </a:r>
            </a:p>
          </p:txBody>
        </p:sp>
      </p:grpSp>
      <p:grpSp>
        <p:nvGrpSpPr>
          <p:cNvPr id="25" name="Group 23"/>
          <p:cNvGrpSpPr>
            <a:grpSpLocks/>
          </p:cNvGrpSpPr>
          <p:nvPr/>
        </p:nvGrpSpPr>
        <p:grpSpPr bwMode="auto">
          <a:xfrm>
            <a:off x="8313739" y="2641601"/>
            <a:ext cx="422275" cy="3000375"/>
            <a:chOff x="4237" y="1731"/>
            <a:chExt cx="266" cy="1890"/>
          </a:xfrm>
        </p:grpSpPr>
        <p:sp>
          <p:nvSpPr>
            <p:cNvPr id="26" name="Text Box 24"/>
            <p:cNvSpPr txBox="1">
              <a:spLocks noChangeArrowheads="1"/>
            </p:cNvSpPr>
            <p:nvPr/>
          </p:nvSpPr>
          <p:spPr bwMode="auto">
            <a:xfrm>
              <a:off x="4237" y="3381"/>
              <a:ext cx="266"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a:solidFill>
                    <a:srgbClr val="000000"/>
                  </a:solidFill>
                  <a:latin typeface="Arial"/>
                  <a:cs typeface="Arial"/>
                </a:rPr>
                <a:t>50</a:t>
              </a:r>
              <a:endParaRPr lang="en-US" sz="2500" baseline="-25000">
                <a:solidFill>
                  <a:srgbClr val="000000"/>
                </a:solidFill>
                <a:latin typeface="Arial"/>
                <a:cs typeface="Arial"/>
              </a:endParaRPr>
            </a:p>
          </p:txBody>
        </p:sp>
        <p:sp>
          <p:nvSpPr>
            <p:cNvPr id="27" name="Line 25"/>
            <p:cNvSpPr>
              <a:spLocks noChangeShapeType="1"/>
            </p:cNvSpPr>
            <p:nvPr/>
          </p:nvSpPr>
          <p:spPr bwMode="auto">
            <a:xfrm>
              <a:off x="4371" y="1777"/>
              <a:ext cx="0" cy="1590"/>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28" name="Oval 26"/>
            <p:cNvSpPr>
              <a:spLocks noChangeArrowheads="1"/>
            </p:cNvSpPr>
            <p:nvPr/>
          </p:nvSpPr>
          <p:spPr bwMode="auto">
            <a:xfrm>
              <a:off x="4327" y="1731"/>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grpSp>
      <p:grpSp>
        <p:nvGrpSpPr>
          <p:cNvPr id="29" name="Group 43"/>
          <p:cNvGrpSpPr>
            <a:grpSpLocks/>
          </p:cNvGrpSpPr>
          <p:nvPr/>
        </p:nvGrpSpPr>
        <p:grpSpPr bwMode="auto">
          <a:xfrm>
            <a:off x="5324476" y="3506792"/>
            <a:ext cx="3273425" cy="369888"/>
            <a:chOff x="2354" y="2381"/>
            <a:chExt cx="2062" cy="233"/>
          </a:xfrm>
        </p:grpSpPr>
        <p:sp>
          <p:nvSpPr>
            <p:cNvPr id="30" name="Line 28"/>
            <p:cNvSpPr>
              <a:spLocks noChangeShapeType="1"/>
            </p:cNvSpPr>
            <p:nvPr/>
          </p:nvSpPr>
          <p:spPr bwMode="auto">
            <a:xfrm flipH="1">
              <a:off x="2730" y="2498"/>
              <a:ext cx="1641" cy="1"/>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31" name="Oval 29"/>
            <p:cNvSpPr>
              <a:spLocks noChangeArrowheads="1"/>
            </p:cNvSpPr>
            <p:nvPr/>
          </p:nvSpPr>
          <p:spPr bwMode="auto">
            <a:xfrm>
              <a:off x="4328" y="2453"/>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sp>
          <p:nvSpPr>
            <p:cNvPr id="32" name="Text Box 30"/>
            <p:cNvSpPr txBox="1">
              <a:spLocks noChangeArrowheads="1"/>
            </p:cNvSpPr>
            <p:nvPr/>
          </p:nvSpPr>
          <p:spPr bwMode="auto">
            <a:xfrm>
              <a:off x="2354" y="2381"/>
              <a:ext cx="298" cy="233"/>
            </a:xfrm>
            <a:prstGeom prst="rect">
              <a:avLst/>
            </a:prstGeom>
            <a:noFill/>
            <a:ln w="9525">
              <a:noFill/>
              <a:miter lim="800000"/>
              <a:headEnd/>
              <a:tailEnd/>
            </a:ln>
          </p:spPr>
          <p:txBody>
            <a:bodyPr lIns="0" tIns="0" rIns="0" bIns="0">
              <a:spAutoFit/>
            </a:bodyPr>
            <a:lstStyle/>
            <a:p>
              <a:pPr algn="r" defTabSz="914400">
                <a:spcBef>
                  <a:spcPct val="50000"/>
                </a:spcBef>
              </a:pPr>
              <a:r>
                <a:rPr lang="en-US" sz="2400">
                  <a:solidFill>
                    <a:srgbClr val="000000"/>
                  </a:solidFill>
                  <a:latin typeface="Arial"/>
                  <a:cs typeface="Arial"/>
                </a:rPr>
                <a:t>$6</a:t>
              </a:r>
            </a:p>
          </p:txBody>
        </p:sp>
      </p:grpSp>
      <p:sp>
        <p:nvSpPr>
          <p:cNvPr id="33" name="Rectangle 31"/>
          <p:cNvSpPr>
            <a:spLocks noChangeArrowheads="1"/>
          </p:cNvSpPr>
          <p:nvPr/>
        </p:nvSpPr>
        <p:spPr bwMode="auto">
          <a:xfrm>
            <a:off x="6454776" y="838200"/>
            <a:ext cx="3135313" cy="482600"/>
          </a:xfrm>
          <a:prstGeom prst="rect">
            <a:avLst/>
          </a:prstGeom>
          <a:noFill/>
          <a:ln w="9525">
            <a:noFill/>
            <a:miter lim="800000"/>
            <a:headEnd/>
            <a:tailEnd/>
          </a:ln>
        </p:spPr>
        <p:txBody>
          <a:bodyPr/>
          <a:lstStyle/>
          <a:p>
            <a:pPr algn="ctr" defTabSz="914400">
              <a:lnSpc>
                <a:spcPct val="105000"/>
              </a:lnSpc>
              <a:spcBef>
                <a:spcPct val="45000"/>
              </a:spcBef>
              <a:buClr>
                <a:srgbClr val="669900"/>
              </a:buClr>
              <a:buSzPct val="120000"/>
            </a:pPr>
            <a:r>
              <a:rPr lang="en-US" sz="2400" u="sng">
                <a:solidFill>
                  <a:srgbClr val="000000"/>
                </a:solidFill>
                <a:latin typeface="Arial"/>
                <a:cs typeface="Arial"/>
              </a:rPr>
              <a:t>A competitive firm</a:t>
            </a:r>
          </a:p>
        </p:txBody>
      </p:sp>
      <p:sp>
        <p:nvSpPr>
          <p:cNvPr id="34" name="AutoShape 36"/>
          <p:cNvSpPr>
            <a:spLocks/>
          </p:cNvSpPr>
          <p:nvPr/>
        </p:nvSpPr>
        <p:spPr bwMode="auto">
          <a:xfrm>
            <a:off x="5680076" y="2717800"/>
            <a:ext cx="207963" cy="965200"/>
          </a:xfrm>
          <a:prstGeom prst="leftBrace">
            <a:avLst>
              <a:gd name="adj1" fmla="val 38677"/>
              <a:gd name="adj2" fmla="val 50000"/>
            </a:avLst>
          </a:prstGeom>
          <a:noFill/>
          <a:ln w="28575">
            <a:solidFill>
              <a:srgbClr val="FF0000"/>
            </a:solidFill>
            <a:round/>
            <a:headEnd/>
            <a:tailEnd/>
          </a:ln>
        </p:spPr>
        <p:txBody>
          <a:bodyPr wrap="none" anchor="ctr"/>
          <a:lstStyle/>
          <a:p>
            <a:pPr defTabSz="914400"/>
            <a:endParaRPr lang="en-US">
              <a:solidFill>
                <a:srgbClr val="000000"/>
              </a:solidFill>
              <a:latin typeface="Arial"/>
              <a:cs typeface="Arial"/>
            </a:endParaRPr>
          </a:p>
        </p:txBody>
      </p:sp>
      <p:sp>
        <p:nvSpPr>
          <p:cNvPr id="35" name="Line 38"/>
          <p:cNvSpPr>
            <a:spLocks noChangeShapeType="1"/>
          </p:cNvSpPr>
          <p:nvPr/>
        </p:nvSpPr>
        <p:spPr bwMode="auto">
          <a:xfrm>
            <a:off x="4330701" y="2970212"/>
            <a:ext cx="1222375" cy="222250"/>
          </a:xfrm>
          <a:prstGeom prst="line">
            <a:avLst/>
          </a:prstGeom>
          <a:noFill/>
          <a:ln w="38100">
            <a:solidFill>
              <a:schemeClr val="tx1"/>
            </a:solidFill>
            <a:round/>
            <a:headEnd/>
            <a:tailEnd type="triangle" w="lg" len="med"/>
          </a:ln>
        </p:spPr>
        <p:txBody>
          <a:bodyPr/>
          <a:lstStyle/>
          <a:p>
            <a:pPr defTabSz="914400"/>
            <a:endParaRPr lang="en-US">
              <a:solidFill>
                <a:srgbClr val="000000"/>
              </a:solidFill>
              <a:latin typeface="Arial"/>
              <a:cs typeface="Arial"/>
            </a:endParaRPr>
          </a:p>
        </p:txBody>
      </p:sp>
      <p:sp>
        <p:nvSpPr>
          <p:cNvPr id="36" name="Text Box 37"/>
          <p:cNvSpPr txBox="1">
            <a:spLocks noChangeArrowheads="1"/>
          </p:cNvSpPr>
          <p:nvPr/>
        </p:nvSpPr>
        <p:spPr bwMode="auto">
          <a:xfrm>
            <a:off x="2441576" y="1866900"/>
            <a:ext cx="2011363" cy="1708150"/>
          </a:xfrm>
          <a:prstGeom prst="rect">
            <a:avLst/>
          </a:prstGeom>
          <a:solidFill>
            <a:schemeClr val="bg1"/>
          </a:solidFill>
          <a:ln w="9525">
            <a:solidFill>
              <a:schemeClr val="tx1"/>
            </a:solidFill>
            <a:miter lim="800000"/>
            <a:headEnd/>
            <a:tailEnd/>
          </a:ln>
        </p:spPr>
        <p:txBody>
          <a:bodyPr>
            <a:spAutoFit/>
          </a:bodyPr>
          <a:lstStyle/>
          <a:p>
            <a:pPr marL="117475" indent="-117475" defTabSz="914400">
              <a:lnSpc>
                <a:spcPct val="110000"/>
              </a:lnSpc>
              <a:spcBef>
                <a:spcPct val="10000"/>
              </a:spcBef>
            </a:pPr>
            <a:r>
              <a:rPr lang="en-US" sz="2400">
                <a:solidFill>
                  <a:srgbClr val="000000"/>
                </a:solidFill>
                <a:latin typeface="Arial"/>
                <a:cs typeface="Arial"/>
              </a:rPr>
              <a:t>Profit per unit </a:t>
            </a:r>
            <a:br>
              <a:rPr lang="en-US" sz="2400">
                <a:solidFill>
                  <a:srgbClr val="000000"/>
                </a:solidFill>
                <a:latin typeface="Arial"/>
                <a:cs typeface="Arial"/>
              </a:rPr>
            </a:br>
            <a:r>
              <a:rPr lang="en-US" sz="2400">
                <a:solidFill>
                  <a:srgbClr val="000000"/>
                </a:solidFill>
                <a:latin typeface="Arial"/>
                <a:cs typeface="Arial"/>
              </a:rPr>
              <a:t>= </a:t>
            </a:r>
            <a:r>
              <a:rPr lang="en-US" sz="2400" b="1" i="1">
                <a:solidFill>
                  <a:srgbClr val="000000"/>
                </a:solidFill>
                <a:latin typeface="Arial"/>
                <a:cs typeface="Arial"/>
              </a:rPr>
              <a:t>P</a:t>
            </a:r>
            <a:r>
              <a:rPr lang="en-US" sz="2400">
                <a:solidFill>
                  <a:srgbClr val="000000"/>
                </a:solidFill>
                <a:latin typeface="Arial"/>
                <a:cs typeface="Arial"/>
              </a:rPr>
              <a:t> – </a:t>
            </a:r>
            <a:r>
              <a:rPr lang="en-US" sz="2400" i="1">
                <a:solidFill>
                  <a:srgbClr val="000000"/>
                </a:solidFill>
                <a:latin typeface="Arial"/>
                <a:cs typeface="Arial"/>
              </a:rPr>
              <a:t>ATC</a:t>
            </a:r>
            <a:r>
              <a:rPr lang="en-US" sz="2400">
                <a:solidFill>
                  <a:srgbClr val="000000"/>
                </a:solidFill>
                <a:latin typeface="Arial"/>
                <a:cs typeface="Arial"/>
              </a:rPr>
              <a:t/>
            </a:r>
            <a:br>
              <a:rPr lang="en-US" sz="2400">
                <a:solidFill>
                  <a:srgbClr val="000000"/>
                </a:solidFill>
                <a:latin typeface="Arial"/>
                <a:cs typeface="Arial"/>
              </a:rPr>
            </a:br>
            <a:r>
              <a:rPr lang="en-US" sz="2400">
                <a:solidFill>
                  <a:srgbClr val="000000"/>
                </a:solidFill>
                <a:latin typeface="Arial"/>
                <a:cs typeface="Arial"/>
              </a:rPr>
              <a:t>= $10 – 6 </a:t>
            </a:r>
            <a:br>
              <a:rPr lang="en-US" sz="2400">
                <a:solidFill>
                  <a:srgbClr val="000000"/>
                </a:solidFill>
                <a:latin typeface="Arial"/>
                <a:cs typeface="Arial"/>
              </a:rPr>
            </a:br>
            <a:r>
              <a:rPr lang="en-US" sz="2400">
                <a:solidFill>
                  <a:srgbClr val="000000"/>
                </a:solidFill>
                <a:latin typeface="Arial"/>
                <a:cs typeface="Arial"/>
              </a:rPr>
              <a:t>= $4</a:t>
            </a:r>
          </a:p>
        </p:txBody>
      </p:sp>
      <p:sp>
        <p:nvSpPr>
          <p:cNvPr id="37" name="Text Box 39"/>
          <p:cNvSpPr txBox="1">
            <a:spLocks noChangeArrowheads="1"/>
          </p:cNvSpPr>
          <p:nvPr/>
        </p:nvSpPr>
        <p:spPr bwMode="auto">
          <a:xfrm>
            <a:off x="2747964" y="4151312"/>
            <a:ext cx="2574925" cy="1708150"/>
          </a:xfrm>
          <a:prstGeom prst="rect">
            <a:avLst/>
          </a:prstGeom>
          <a:solidFill>
            <a:schemeClr val="bg1"/>
          </a:solidFill>
          <a:ln w="9525">
            <a:solidFill>
              <a:schemeClr val="tx1"/>
            </a:solidFill>
            <a:miter lim="800000"/>
            <a:headEnd/>
            <a:tailEnd/>
          </a:ln>
        </p:spPr>
        <p:txBody>
          <a:bodyPr>
            <a:spAutoFit/>
          </a:bodyPr>
          <a:lstStyle/>
          <a:p>
            <a:pPr marL="117475" indent="-117475" defTabSz="914400">
              <a:lnSpc>
                <a:spcPct val="110000"/>
              </a:lnSpc>
              <a:spcBef>
                <a:spcPct val="10000"/>
              </a:spcBef>
            </a:pPr>
            <a:r>
              <a:rPr lang="en-US" sz="2400">
                <a:solidFill>
                  <a:srgbClr val="000000"/>
                </a:solidFill>
                <a:latin typeface="Arial"/>
                <a:cs typeface="Arial"/>
              </a:rPr>
              <a:t>Total profit </a:t>
            </a:r>
            <a:br>
              <a:rPr lang="en-US" sz="2400">
                <a:solidFill>
                  <a:srgbClr val="000000"/>
                </a:solidFill>
                <a:latin typeface="Arial"/>
                <a:cs typeface="Arial"/>
              </a:rPr>
            </a:br>
            <a:r>
              <a:rPr lang="en-US" sz="2400">
                <a:solidFill>
                  <a:srgbClr val="000000"/>
                </a:solidFill>
                <a:latin typeface="Arial"/>
                <a:cs typeface="Arial"/>
              </a:rPr>
              <a:t>= (</a:t>
            </a:r>
            <a:r>
              <a:rPr lang="en-US" sz="2400" b="1" i="1">
                <a:solidFill>
                  <a:srgbClr val="000000"/>
                </a:solidFill>
                <a:latin typeface="Arial"/>
                <a:cs typeface="Arial"/>
              </a:rPr>
              <a:t>P</a:t>
            </a:r>
            <a:r>
              <a:rPr lang="en-US" sz="2400">
                <a:solidFill>
                  <a:srgbClr val="000000"/>
                </a:solidFill>
                <a:latin typeface="Arial"/>
                <a:cs typeface="Arial"/>
              </a:rPr>
              <a:t> – </a:t>
            </a:r>
            <a:r>
              <a:rPr lang="en-US" sz="2400" i="1">
                <a:solidFill>
                  <a:srgbClr val="000000"/>
                </a:solidFill>
                <a:latin typeface="Arial"/>
                <a:cs typeface="Arial"/>
              </a:rPr>
              <a:t>ATC</a:t>
            </a:r>
            <a:r>
              <a:rPr lang="en-US" sz="2400">
                <a:solidFill>
                  <a:srgbClr val="000000"/>
                </a:solidFill>
                <a:latin typeface="Arial"/>
                <a:cs typeface="Arial"/>
              </a:rPr>
              <a:t>) x </a:t>
            </a:r>
            <a:r>
              <a:rPr lang="en-US" sz="2400" b="1" i="1">
                <a:solidFill>
                  <a:srgbClr val="000000"/>
                </a:solidFill>
                <a:latin typeface="Arial"/>
                <a:cs typeface="Arial"/>
              </a:rPr>
              <a:t>Q</a:t>
            </a:r>
            <a:r>
              <a:rPr lang="en-US" sz="2400">
                <a:solidFill>
                  <a:srgbClr val="000000"/>
                </a:solidFill>
                <a:latin typeface="Arial"/>
                <a:cs typeface="Arial"/>
              </a:rPr>
              <a:t> = $4 x 50</a:t>
            </a:r>
            <a:br>
              <a:rPr lang="en-US" sz="2400">
                <a:solidFill>
                  <a:srgbClr val="000000"/>
                </a:solidFill>
                <a:latin typeface="Arial"/>
                <a:cs typeface="Arial"/>
              </a:rPr>
            </a:br>
            <a:r>
              <a:rPr lang="en-US" sz="2400">
                <a:solidFill>
                  <a:srgbClr val="000000"/>
                </a:solidFill>
                <a:latin typeface="Arial"/>
                <a:cs typeface="Arial"/>
              </a:rPr>
              <a:t>= $200</a:t>
            </a:r>
          </a:p>
        </p:txBody>
      </p:sp>
      <p:sp>
        <p:nvSpPr>
          <p:cNvPr id="4" name="Footer Placeholder 3"/>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73728" name="Slide Number Placeholder 73727"/>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15</a:t>
            </a:fld>
            <a:endParaRPr lang="en-US">
              <a:latin typeface="Arial"/>
            </a:endParaRPr>
          </a:p>
        </p:txBody>
      </p:sp>
    </p:spTree>
    <p:extLst>
      <p:ext uri="{BB962C8B-B14F-4D97-AF65-F5344CB8AC3E}">
        <p14:creationId xmlns:p14="http://schemas.microsoft.com/office/powerpoint/2010/main" val="15719533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subTnLst>
                                    <p:animClr clrSpc="rgb" dir="cw">
                                      <p:cBhvr override="childStyle">
                                        <p:cTn dur="1" fill="hold" display="0" masterRel="nextClick" afterEffect="1"/>
                                        <p:tgtEl>
                                          <p:spTgt spid="35"/>
                                        </p:tgtEl>
                                        <p:attrNameLst>
                                          <p:attrName>ppt_c</p:attrName>
                                        </p:attrNameLst>
                                      </p:cBhvr>
                                      <p:to>
                                        <a:srgbClr val="B2B2B2"/>
                                      </p:to>
                                    </p:animClr>
                                  </p:subTnLst>
                                </p:cTn>
                              </p:par>
                              <p:par>
                                <p:cTn id="12" presetID="10" presetClass="entr" presetSubtype="0" fill="hold" grpId="0"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childTnLst>
                                  <p:subTnLst>
                                    <p:animClr clrSpc="rgb" dir="cw">
                                      <p:cBhvr override="childStyle">
                                        <p:cTn dur="1" fill="hold" display="0" masterRel="nextClick" afterEffect="1"/>
                                        <p:tgtEl>
                                          <p:spTgt spid="34"/>
                                        </p:tgtEl>
                                        <p:attrNameLst>
                                          <p:attrName>ppt_c</p:attrName>
                                        </p:attrNameLst>
                                      </p:cBhvr>
                                      <p:to>
                                        <a:srgbClr val="B2B2B2"/>
                                      </p:to>
                                    </p:animClr>
                                  </p:sub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right)">
                                      <p:cBhvr>
                                        <p:cTn id="19" dur="500"/>
                                        <p:tgtEl>
                                          <p:spTgt spid="37"/>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p:txBody>
          <a:bodyPr>
            <a:normAutofit/>
          </a:bodyPr>
          <a:lstStyle/>
          <a:p>
            <a:pPr algn="l" eaLnBrk="1" hangingPunct="1">
              <a:defRPr/>
            </a:pPr>
            <a:r>
              <a:rPr lang="en-US" dirty="0">
                <a:solidFill>
                  <a:schemeClr val="accent6">
                    <a:lumMod val="50000"/>
                  </a:schemeClr>
                </a:solidFill>
              </a:rPr>
              <a:t>Active Learning 3		</a:t>
            </a:r>
            <a:r>
              <a:rPr lang="en-US" dirty="0" smtClean="0">
                <a:solidFill>
                  <a:srgbClr val="AE1221"/>
                </a:solidFill>
              </a:rPr>
              <a:t>Answers</a:t>
            </a:r>
            <a:endParaRPr lang="en-US" sz="4800" dirty="0">
              <a:solidFill>
                <a:srgbClr val="CC9900"/>
              </a:solidFill>
              <a:cs typeface="Arial" charset="0"/>
            </a:endParaRPr>
          </a:p>
        </p:txBody>
      </p:sp>
      <p:grpSp>
        <p:nvGrpSpPr>
          <p:cNvPr id="6" name="Group 23"/>
          <p:cNvGrpSpPr>
            <a:grpSpLocks/>
          </p:cNvGrpSpPr>
          <p:nvPr/>
        </p:nvGrpSpPr>
        <p:grpSpPr bwMode="auto">
          <a:xfrm>
            <a:off x="5929314" y="4403725"/>
            <a:ext cx="1360487" cy="528638"/>
            <a:chOff x="2735" y="2534"/>
            <a:chExt cx="857" cy="333"/>
          </a:xfrm>
        </p:grpSpPr>
        <p:sp>
          <p:nvSpPr>
            <p:cNvPr id="7" name="Rectangle 24"/>
            <p:cNvSpPr>
              <a:spLocks noChangeArrowheads="1"/>
            </p:cNvSpPr>
            <p:nvPr/>
          </p:nvSpPr>
          <p:spPr bwMode="auto">
            <a:xfrm>
              <a:off x="2735" y="2534"/>
              <a:ext cx="857" cy="333"/>
            </a:xfrm>
            <a:prstGeom prst="rect">
              <a:avLst/>
            </a:prstGeom>
            <a:solidFill>
              <a:srgbClr val="FFCCCC"/>
            </a:solidFill>
            <a:ln w="9525">
              <a:noFill/>
              <a:miter lim="800000"/>
              <a:headEnd/>
              <a:tailEnd/>
            </a:ln>
          </p:spPr>
          <p:txBody>
            <a:bodyPr wrap="none" anchor="ctr"/>
            <a:lstStyle/>
            <a:p>
              <a:pPr defTabSz="914400"/>
              <a:endParaRPr lang="en-US">
                <a:solidFill>
                  <a:srgbClr val="000000"/>
                </a:solidFill>
                <a:latin typeface="Arial"/>
                <a:cs typeface="Arial"/>
              </a:endParaRPr>
            </a:p>
          </p:txBody>
        </p:sp>
        <p:sp>
          <p:nvSpPr>
            <p:cNvPr id="8" name="Text Box 25"/>
            <p:cNvSpPr txBox="1">
              <a:spLocks noChangeArrowheads="1"/>
            </p:cNvSpPr>
            <p:nvPr/>
          </p:nvSpPr>
          <p:spPr bwMode="auto">
            <a:xfrm>
              <a:off x="2844" y="2548"/>
              <a:ext cx="604" cy="298"/>
            </a:xfrm>
            <a:prstGeom prst="rect">
              <a:avLst/>
            </a:prstGeom>
            <a:noFill/>
            <a:ln w="9525">
              <a:noFill/>
              <a:miter lim="800000"/>
              <a:headEnd/>
              <a:tailEnd/>
            </a:ln>
          </p:spPr>
          <p:txBody>
            <a:bodyPr>
              <a:spAutoFit/>
            </a:bodyPr>
            <a:lstStyle/>
            <a:p>
              <a:pPr algn="ctr" defTabSz="914400">
                <a:spcBef>
                  <a:spcPct val="50000"/>
                </a:spcBef>
              </a:pPr>
              <a:r>
                <a:rPr lang="en-US" sz="2500">
                  <a:solidFill>
                    <a:srgbClr val="000000"/>
                  </a:solidFill>
                  <a:latin typeface="Arial"/>
                  <a:cs typeface="Arial"/>
                </a:rPr>
                <a:t>loss</a:t>
              </a:r>
              <a:endParaRPr lang="en-US" sz="2500" i="1">
                <a:solidFill>
                  <a:srgbClr val="000000"/>
                </a:solidFill>
                <a:latin typeface="Arial"/>
                <a:cs typeface="Arial"/>
              </a:endParaRPr>
            </a:p>
          </p:txBody>
        </p:sp>
      </p:grpSp>
      <p:grpSp>
        <p:nvGrpSpPr>
          <p:cNvPr id="9" name="Group 43"/>
          <p:cNvGrpSpPr>
            <a:grpSpLocks/>
          </p:cNvGrpSpPr>
          <p:nvPr/>
        </p:nvGrpSpPr>
        <p:grpSpPr bwMode="auto">
          <a:xfrm>
            <a:off x="4614864" y="4705351"/>
            <a:ext cx="5534025" cy="473075"/>
            <a:chOff x="1909" y="2764"/>
            <a:chExt cx="3486" cy="298"/>
          </a:xfrm>
        </p:grpSpPr>
        <p:sp>
          <p:nvSpPr>
            <p:cNvPr id="10" name="Line 27"/>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pPr defTabSz="914400"/>
              <a:endParaRPr lang="en-US">
                <a:solidFill>
                  <a:srgbClr val="000000"/>
                </a:solidFill>
                <a:latin typeface="Arial"/>
                <a:cs typeface="Arial"/>
              </a:endParaRPr>
            </a:p>
          </p:txBody>
        </p:sp>
        <p:sp>
          <p:nvSpPr>
            <p:cNvPr id="11" name="Text Box 29"/>
            <p:cNvSpPr txBox="1">
              <a:spLocks noChangeArrowheads="1"/>
            </p:cNvSpPr>
            <p:nvPr/>
          </p:nvSpPr>
          <p:spPr bwMode="auto">
            <a:xfrm>
              <a:off x="5012" y="2791"/>
              <a:ext cx="383" cy="240"/>
            </a:xfrm>
            <a:prstGeom prst="rect">
              <a:avLst/>
            </a:prstGeom>
            <a:noFill/>
            <a:ln w="9525">
              <a:noFill/>
              <a:miter lim="800000"/>
              <a:headEnd/>
              <a:tailEnd/>
            </a:ln>
          </p:spPr>
          <p:txBody>
            <a:bodyPr lIns="0" tIns="0" rIns="0" bIns="0">
              <a:spAutoFit/>
            </a:bodyPr>
            <a:lstStyle/>
            <a:p>
              <a:pPr defTabSz="914400">
                <a:spcBef>
                  <a:spcPct val="50000"/>
                </a:spcBef>
              </a:pPr>
              <a:r>
                <a:rPr lang="en-US" sz="2500" i="1" dirty="0">
                  <a:solidFill>
                    <a:srgbClr val="B2B2B2"/>
                  </a:solidFill>
                  <a:latin typeface="Arial"/>
                  <a:cs typeface="Arial"/>
                </a:rPr>
                <a:t>MR</a:t>
              </a:r>
            </a:p>
          </p:txBody>
        </p:sp>
        <p:sp>
          <p:nvSpPr>
            <p:cNvPr id="12" name="Text Box 41"/>
            <p:cNvSpPr txBox="1">
              <a:spLocks noChangeArrowheads="1"/>
            </p:cNvSpPr>
            <p:nvPr/>
          </p:nvSpPr>
          <p:spPr bwMode="auto">
            <a:xfrm>
              <a:off x="1909" y="2764"/>
              <a:ext cx="829" cy="298"/>
            </a:xfrm>
            <a:prstGeom prst="rect">
              <a:avLst/>
            </a:prstGeom>
            <a:noFill/>
            <a:ln w="9525">
              <a:noFill/>
              <a:miter lim="800000"/>
              <a:headEnd/>
              <a:tailEnd/>
            </a:ln>
          </p:spPr>
          <p:txBody>
            <a:bodyPr>
              <a:spAutoFit/>
            </a:bodyPr>
            <a:lstStyle/>
            <a:p>
              <a:pPr algn="r" defTabSz="914400">
                <a:spcBef>
                  <a:spcPct val="50000"/>
                </a:spcBef>
              </a:pPr>
              <a:r>
                <a:rPr lang="en-US" sz="2500" b="1" i="1">
                  <a:solidFill>
                    <a:srgbClr val="000000"/>
                  </a:solidFill>
                  <a:latin typeface="Arial"/>
                  <a:cs typeface="Arial"/>
                </a:rPr>
                <a:t>P</a:t>
              </a:r>
              <a:r>
                <a:rPr lang="en-US" sz="2500">
                  <a:solidFill>
                    <a:srgbClr val="000000"/>
                  </a:solidFill>
                  <a:latin typeface="Arial"/>
                  <a:cs typeface="Arial"/>
                </a:rPr>
                <a:t> = $3</a:t>
              </a:r>
              <a:endParaRPr lang="en-US" sz="2500" baseline="-25000">
                <a:solidFill>
                  <a:srgbClr val="000000"/>
                </a:solidFill>
                <a:latin typeface="Arial"/>
                <a:cs typeface="Arial"/>
              </a:endParaRPr>
            </a:p>
          </p:txBody>
        </p:sp>
      </p:grpSp>
      <p:grpSp>
        <p:nvGrpSpPr>
          <p:cNvPr id="13" name="Group 7"/>
          <p:cNvGrpSpPr>
            <a:grpSpLocks/>
          </p:cNvGrpSpPr>
          <p:nvPr/>
        </p:nvGrpSpPr>
        <p:grpSpPr bwMode="auto">
          <a:xfrm>
            <a:off x="4238626" y="1938338"/>
            <a:ext cx="5916613" cy="4113212"/>
            <a:chOff x="1672" y="916"/>
            <a:chExt cx="3727" cy="2591"/>
          </a:xfrm>
        </p:grpSpPr>
        <p:grpSp>
          <p:nvGrpSpPr>
            <p:cNvPr id="14" name="Group 8"/>
            <p:cNvGrpSpPr>
              <a:grpSpLocks/>
            </p:cNvGrpSpPr>
            <p:nvPr/>
          </p:nvGrpSpPr>
          <p:grpSpPr bwMode="auto">
            <a:xfrm>
              <a:off x="2730" y="981"/>
              <a:ext cx="2357" cy="2385"/>
              <a:chOff x="1489" y="785"/>
              <a:chExt cx="3650" cy="2492"/>
            </a:xfrm>
          </p:grpSpPr>
          <p:sp>
            <p:nvSpPr>
              <p:cNvPr id="17"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18"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15"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16" name="Text Box 12"/>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defTabSz="914400">
                <a:spcBef>
                  <a:spcPct val="50000"/>
                </a:spcBef>
              </a:pPr>
              <a:r>
                <a:rPr lang="en-US" sz="2400">
                  <a:solidFill>
                    <a:srgbClr val="000000"/>
                  </a:solidFill>
                  <a:latin typeface="Arial"/>
                  <a:cs typeface="Arial"/>
                </a:rPr>
                <a:t>Costs, </a:t>
              </a:r>
              <a:r>
                <a:rPr lang="en-US" sz="2400" b="1" i="1">
                  <a:solidFill>
                    <a:srgbClr val="000000"/>
                  </a:solidFill>
                  <a:latin typeface="Arial"/>
                  <a:cs typeface="Arial"/>
                </a:rPr>
                <a:t>P</a:t>
              </a:r>
            </a:p>
          </p:txBody>
        </p:sp>
      </p:grpSp>
      <p:grpSp>
        <p:nvGrpSpPr>
          <p:cNvPr id="19" name="Group 13"/>
          <p:cNvGrpSpPr>
            <a:grpSpLocks/>
          </p:cNvGrpSpPr>
          <p:nvPr/>
        </p:nvGrpSpPr>
        <p:grpSpPr bwMode="auto">
          <a:xfrm>
            <a:off x="6723064" y="2493963"/>
            <a:ext cx="2676525" cy="3181350"/>
            <a:chOff x="3237" y="1266"/>
            <a:chExt cx="1686" cy="2004"/>
          </a:xfrm>
        </p:grpSpPr>
        <p:sp>
          <p:nvSpPr>
            <p:cNvPr id="20" name="Line 14"/>
            <p:cNvSpPr>
              <a:spLocks noChangeShapeType="1"/>
            </p:cNvSpPr>
            <p:nvPr/>
          </p:nvSpPr>
          <p:spPr bwMode="auto">
            <a:xfrm flipV="1">
              <a:off x="3237" y="1498"/>
              <a:ext cx="1346" cy="1772"/>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21"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defTabSz="914400">
                <a:spcBef>
                  <a:spcPct val="50000"/>
                </a:spcBef>
              </a:pPr>
              <a:r>
                <a:rPr lang="en-US" sz="2400" i="1">
                  <a:solidFill>
                    <a:srgbClr val="000000"/>
                  </a:solidFill>
                  <a:latin typeface="Arial"/>
                  <a:cs typeface="Arial"/>
                </a:rPr>
                <a:t>MC</a:t>
              </a:r>
            </a:p>
          </p:txBody>
        </p:sp>
      </p:grpSp>
      <p:grpSp>
        <p:nvGrpSpPr>
          <p:cNvPr id="22" name="Group 16"/>
          <p:cNvGrpSpPr>
            <a:grpSpLocks/>
          </p:cNvGrpSpPr>
          <p:nvPr/>
        </p:nvGrpSpPr>
        <p:grpSpPr bwMode="auto">
          <a:xfrm>
            <a:off x="6227764" y="2906713"/>
            <a:ext cx="3851275" cy="1516062"/>
            <a:chOff x="2925" y="1526"/>
            <a:chExt cx="2426" cy="955"/>
          </a:xfrm>
        </p:grpSpPr>
        <p:sp>
          <p:nvSpPr>
            <p:cNvPr id="23"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pPr defTabSz="914400"/>
              <a:endParaRPr lang="en-US">
                <a:solidFill>
                  <a:srgbClr val="000000"/>
                </a:solidFill>
                <a:latin typeface="Arial"/>
                <a:cs typeface="Arial"/>
              </a:endParaRPr>
            </a:p>
          </p:txBody>
        </p:sp>
        <p:sp>
          <p:nvSpPr>
            <p:cNvPr id="24"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defTabSz="914400">
                <a:spcBef>
                  <a:spcPct val="50000"/>
                </a:spcBef>
              </a:pPr>
              <a:r>
                <a:rPr lang="en-US" sz="2400" i="1">
                  <a:solidFill>
                    <a:srgbClr val="000000"/>
                  </a:solidFill>
                  <a:latin typeface="Arial"/>
                  <a:cs typeface="Arial"/>
                </a:rPr>
                <a:t>ATC</a:t>
              </a:r>
            </a:p>
          </p:txBody>
        </p:sp>
      </p:grpSp>
      <p:sp>
        <p:nvSpPr>
          <p:cNvPr id="25" name="Rectangle 19"/>
          <p:cNvSpPr>
            <a:spLocks noChangeArrowheads="1"/>
          </p:cNvSpPr>
          <p:nvPr/>
        </p:nvSpPr>
        <p:spPr bwMode="auto">
          <a:xfrm>
            <a:off x="6451601" y="1428750"/>
            <a:ext cx="3135313" cy="482600"/>
          </a:xfrm>
          <a:prstGeom prst="rect">
            <a:avLst/>
          </a:prstGeom>
          <a:noFill/>
          <a:ln w="9525">
            <a:noFill/>
            <a:miter lim="800000"/>
            <a:headEnd/>
            <a:tailEnd/>
          </a:ln>
        </p:spPr>
        <p:txBody>
          <a:bodyPr/>
          <a:lstStyle/>
          <a:p>
            <a:pPr algn="ctr" defTabSz="914400">
              <a:lnSpc>
                <a:spcPct val="105000"/>
              </a:lnSpc>
              <a:spcBef>
                <a:spcPct val="45000"/>
              </a:spcBef>
              <a:buClr>
                <a:srgbClr val="669900"/>
              </a:buClr>
              <a:buSzPct val="120000"/>
            </a:pPr>
            <a:r>
              <a:rPr lang="en-US" sz="2400" u="sng">
                <a:solidFill>
                  <a:srgbClr val="000000"/>
                </a:solidFill>
                <a:latin typeface="Arial"/>
                <a:cs typeface="Arial"/>
              </a:rPr>
              <a:t>A competitive firm</a:t>
            </a:r>
          </a:p>
        </p:txBody>
      </p:sp>
      <p:sp>
        <p:nvSpPr>
          <p:cNvPr id="26" name="Text Box 35"/>
          <p:cNvSpPr txBox="1">
            <a:spLocks noChangeArrowheads="1"/>
          </p:cNvSpPr>
          <p:nvPr/>
        </p:nvSpPr>
        <p:spPr bwMode="auto">
          <a:xfrm>
            <a:off x="7616826" y="4445000"/>
            <a:ext cx="2532063" cy="457200"/>
          </a:xfrm>
          <a:prstGeom prst="rect">
            <a:avLst/>
          </a:prstGeom>
          <a:noFill/>
          <a:ln w="9525">
            <a:noFill/>
            <a:miter lim="800000"/>
            <a:headEnd/>
            <a:tailEnd/>
          </a:ln>
        </p:spPr>
        <p:txBody>
          <a:bodyPr>
            <a:spAutoFit/>
          </a:bodyPr>
          <a:lstStyle/>
          <a:p>
            <a:pPr defTabSz="914400">
              <a:spcBef>
                <a:spcPct val="50000"/>
              </a:spcBef>
            </a:pPr>
            <a:r>
              <a:rPr lang="en-US" sz="2400">
                <a:solidFill>
                  <a:srgbClr val="000000"/>
                </a:solidFill>
                <a:latin typeface="Arial"/>
                <a:cs typeface="Arial"/>
              </a:rPr>
              <a:t>loss per unit = $2</a:t>
            </a:r>
            <a:endParaRPr lang="en-US" sz="2400" i="1">
              <a:solidFill>
                <a:srgbClr val="000000"/>
              </a:solidFill>
              <a:latin typeface="Arial"/>
              <a:cs typeface="Arial"/>
            </a:endParaRPr>
          </a:p>
        </p:txBody>
      </p:sp>
      <p:sp>
        <p:nvSpPr>
          <p:cNvPr id="27" name="AutoShape 36"/>
          <p:cNvSpPr>
            <a:spLocks/>
          </p:cNvSpPr>
          <p:nvPr/>
        </p:nvSpPr>
        <p:spPr bwMode="auto">
          <a:xfrm flipH="1">
            <a:off x="7378700" y="4421188"/>
            <a:ext cx="273050" cy="508000"/>
          </a:xfrm>
          <a:prstGeom prst="leftBrace">
            <a:avLst>
              <a:gd name="adj1" fmla="val 34953"/>
              <a:gd name="adj2" fmla="val 50000"/>
            </a:avLst>
          </a:prstGeom>
          <a:noFill/>
          <a:ln w="28575">
            <a:solidFill>
              <a:srgbClr val="FF0000"/>
            </a:solidFill>
            <a:round/>
            <a:headEnd/>
            <a:tailEnd/>
          </a:ln>
        </p:spPr>
        <p:txBody>
          <a:bodyPr wrap="none" anchor="ctr"/>
          <a:lstStyle/>
          <a:p>
            <a:pPr defTabSz="914400"/>
            <a:endParaRPr lang="en-US">
              <a:solidFill>
                <a:srgbClr val="000000"/>
              </a:solidFill>
              <a:latin typeface="Arial"/>
              <a:cs typeface="Arial"/>
            </a:endParaRPr>
          </a:p>
        </p:txBody>
      </p:sp>
      <p:sp>
        <p:nvSpPr>
          <p:cNvPr id="28" name="Text Box 39"/>
          <p:cNvSpPr txBox="1">
            <a:spLocks noChangeArrowheads="1"/>
          </p:cNvSpPr>
          <p:nvPr/>
        </p:nvSpPr>
        <p:spPr bwMode="auto">
          <a:xfrm>
            <a:off x="2463801" y="2505075"/>
            <a:ext cx="2574925" cy="1708150"/>
          </a:xfrm>
          <a:prstGeom prst="rect">
            <a:avLst/>
          </a:prstGeom>
          <a:solidFill>
            <a:schemeClr val="bg1"/>
          </a:solidFill>
          <a:ln w="9525">
            <a:solidFill>
              <a:schemeClr val="tx1"/>
            </a:solidFill>
            <a:miter lim="800000"/>
            <a:headEnd/>
            <a:tailEnd/>
          </a:ln>
        </p:spPr>
        <p:txBody>
          <a:bodyPr>
            <a:spAutoFit/>
          </a:bodyPr>
          <a:lstStyle/>
          <a:p>
            <a:pPr marL="117475" indent="-117475" defTabSz="914400">
              <a:lnSpc>
                <a:spcPct val="110000"/>
              </a:lnSpc>
              <a:spcBef>
                <a:spcPct val="10000"/>
              </a:spcBef>
            </a:pPr>
            <a:r>
              <a:rPr lang="en-US" sz="2400">
                <a:solidFill>
                  <a:srgbClr val="000000"/>
                </a:solidFill>
                <a:latin typeface="Arial"/>
                <a:cs typeface="Arial"/>
              </a:rPr>
              <a:t>Total loss </a:t>
            </a:r>
            <a:br>
              <a:rPr lang="en-US" sz="2400">
                <a:solidFill>
                  <a:srgbClr val="000000"/>
                </a:solidFill>
                <a:latin typeface="Arial"/>
                <a:cs typeface="Arial"/>
              </a:rPr>
            </a:br>
            <a:r>
              <a:rPr lang="en-US" sz="2400">
                <a:solidFill>
                  <a:srgbClr val="000000"/>
                </a:solidFill>
                <a:latin typeface="Arial"/>
                <a:cs typeface="Arial"/>
              </a:rPr>
              <a:t>= (</a:t>
            </a:r>
            <a:r>
              <a:rPr lang="en-US" sz="2400" i="1">
                <a:solidFill>
                  <a:srgbClr val="000000"/>
                </a:solidFill>
                <a:latin typeface="Arial"/>
                <a:cs typeface="Arial"/>
              </a:rPr>
              <a:t>ATC</a:t>
            </a:r>
            <a:r>
              <a:rPr lang="en-US" sz="2400">
                <a:solidFill>
                  <a:srgbClr val="000000"/>
                </a:solidFill>
                <a:latin typeface="Arial"/>
                <a:cs typeface="Arial"/>
              </a:rPr>
              <a:t> – </a:t>
            </a:r>
            <a:r>
              <a:rPr lang="en-US" sz="2400" b="1" i="1">
                <a:solidFill>
                  <a:srgbClr val="000000"/>
                </a:solidFill>
                <a:latin typeface="Arial"/>
                <a:cs typeface="Arial"/>
              </a:rPr>
              <a:t>P</a:t>
            </a:r>
            <a:r>
              <a:rPr lang="en-US" sz="2400">
                <a:solidFill>
                  <a:srgbClr val="000000"/>
                </a:solidFill>
                <a:latin typeface="Arial"/>
                <a:cs typeface="Arial"/>
              </a:rPr>
              <a:t>) x </a:t>
            </a:r>
            <a:r>
              <a:rPr lang="en-US" sz="2400" b="1" i="1">
                <a:solidFill>
                  <a:srgbClr val="000000"/>
                </a:solidFill>
                <a:latin typeface="Arial"/>
                <a:cs typeface="Arial"/>
              </a:rPr>
              <a:t>Q</a:t>
            </a:r>
            <a:r>
              <a:rPr lang="en-US" sz="2400">
                <a:solidFill>
                  <a:srgbClr val="000000"/>
                </a:solidFill>
                <a:latin typeface="Arial"/>
                <a:cs typeface="Arial"/>
              </a:rPr>
              <a:t> = $2 x 30</a:t>
            </a:r>
            <a:br>
              <a:rPr lang="en-US" sz="2400">
                <a:solidFill>
                  <a:srgbClr val="000000"/>
                </a:solidFill>
                <a:latin typeface="Arial"/>
                <a:cs typeface="Arial"/>
              </a:rPr>
            </a:br>
            <a:r>
              <a:rPr lang="en-US" sz="2400">
                <a:solidFill>
                  <a:srgbClr val="000000"/>
                </a:solidFill>
                <a:latin typeface="Arial"/>
                <a:cs typeface="Arial"/>
              </a:rPr>
              <a:t>= $60</a:t>
            </a:r>
          </a:p>
        </p:txBody>
      </p:sp>
      <p:grpSp>
        <p:nvGrpSpPr>
          <p:cNvPr id="29" name="Group 42"/>
          <p:cNvGrpSpPr>
            <a:grpSpLocks/>
          </p:cNvGrpSpPr>
          <p:nvPr/>
        </p:nvGrpSpPr>
        <p:grpSpPr bwMode="auto">
          <a:xfrm>
            <a:off x="5375275" y="4208463"/>
            <a:ext cx="1912938" cy="381000"/>
            <a:chOff x="2388" y="2451"/>
            <a:chExt cx="1205" cy="240"/>
          </a:xfrm>
        </p:grpSpPr>
        <p:sp>
          <p:nvSpPr>
            <p:cNvPr id="30" name="Line 21"/>
            <p:cNvSpPr>
              <a:spLocks noChangeShapeType="1"/>
            </p:cNvSpPr>
            <p:nvPr/>
          </p:nvSpPr>
          <p:spPr bwMode="auto">
            <a:xfrm flipH="1" flipV="1">
              <a:off x="2730" y="2571"/>
              <a:ext cx="863" cy="0"/>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31" name="Text Box 40"/>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defTabSz="914400">
                <a:spcBef>
                  <a:spcPct val="50000"/>
                </a:spcBef>
              </a:pPr>
              <a:r>
                <a:rPr lang="en-US" sz="2500">
                  <a:solidFill>
                    <a:srgbClr val="000000"/>
                  </a:solidFill>
                  <a:latin typeface="Arial"/>
                  <a:cs typeface="Arial"/>
                </a:rPr>
                <a:t>$5</a:t>
              </a:r>
            </a:p>
          </p:txBody>
        </p:sp>
      </p:grpSp>
      <p:grpSp>
        <p:nvGrpSpPr>
          <p:cNvPr id="32" name="Group 30"/>
          <p:cNvGrpSpPr>
            <a:grpSpLocks/>
          </p:cNvGrpSpPr>
          <p:nvPr/>
        </p:nvGrpSpPr>
        <p:grpSpPr bwMode="auto">
          <a:xfrm>
            <a:off x="7072314" y="4325938"/>
            <a:ext cx="422275" cy="1892300"/>
            <a:chOff x="3455" y="2485"/>
            <a:chExt cx="266" cy="1192"/>
          </a:xfrm>
        </p:grpSpPr>
        <p:sp>
          <p:nvSpPr>
            <p:cNvPr id="33" name="Text Box 31"/>
            <p:cNvSpPr txBox="1">
              <a:spLocks noChangeArrowheads="1"/>
            </p:cNvSpPr>
            <p:nvPr/>
          </p:nvSpPr>
          <p:spPr bwMode="auto">
            <a:xfrm>
              <a:off x="3455" y="3437"/>
              <a:ext cx="266" cy="240"/>
            </a:xfrm>
            <a:prstGeom prst="rect">
              <a:avLst/>
            </a:prstGeom>
            <a:noFill/>
            <a:ln w="9525">
              <a:noFill/>
              <a:miter lim="800000"/>
              <a:headEnd/>
              <a:tailEnd/>
            </a:ln>
          </p:spPr>
          <p:txBody>
            <a:bodyPr lIns="0" tIns="0" rIns="0" bIns="0">
              <a:spAutoFit/>
            </a:bodyPr>
            <a:lstStyle/>
            <a:p>
              <a:pPr algn="ctr" defTabSz="914400">
                <a:spcBef>
                  <a:spcPct val="50000"/>
                </a:spcBef>
              </a:pPr>
              <a:r>
                <a:rPr lang="en-US" sz="2500">
                  <a:solidFill>
                    <a:srgbClr val="000000"/>
                  </a:solidFill>
                  <a:latin typeface="Arial"/>
                  <a:cs typeface="Arial"/>
                </a:rPr>
                <a:t>30</a:t>
              </a:r>
              <a:endParaRPr lang="en-US" sz="2500" baseline="-25000">
                <a:solidFill>
                  <a:srgbClr val="000000"/>
                </a:solidFill>
                <a:latin typeface="Arial"/>
                <a:cs typeface="Arial"/>
              </a:endParaRPr>
            </a:p>
          </p:txBody>
        </p:sp>
        <p:sp>
          <p:nvSpPr>
            <p:cNvPr id="34" name="Line 32"/>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pPr defTabSz="914400"/>
              <a:endParaRPr lang="en-US">
                <a:solidFill>
                  <a:srgbClr val="000000"/>
                </a:solidFill>
                <a:latin typeface="Arial"/>
                <a:cs typeface="Arial"/>
              </a:endParaRPr>
            </a:p>
          </p:txBody>
        </p:sp>
        <p:sp>
          <p:nvSpPr>
            <p:cNvPr id="35" name="Oval 33"/>
            <p:cNvSpPr>
              <a:spLocks noChangeArrowheads="1"/>
            </p:cNvSpPr>
            <p:nvPr/>
          </p:nvSpPr>
          <p:spPr bwMode="auto">
            <a:xfrm>
              <a:off x="3549" y="2830"/>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sp>
          <p:nvSpPr>
            <p:cNvPr id="36" name="Oval 34"/>
            <p:cNvSpPr>
              <a:spLocks noChangeArrowheads="1"/>
            </p:cNvSpPr>
            <p:nvPr/>
          </p:nvSpPr>
          <p:spPr bwMode="auto">
            <a:xfrm>
              <a:off x="3547" y="2485"/>
              <a:ext cx="88" cy="87"/>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grpSp>
      <p:sp>
        <p:nvSpPr>
          <p:cNvPr id="4" name="Footer Placeholder 3"/>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73728" name="Slide Number Placeholder 73727"/>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16</a:t>
            </a:fld>
            <a:endParaRPr lang="en-US">
              <a:latin typeface="Arial"/>
            </a:endParaRPr>
          </a:p>
        </p:txBody>
      </p:sp>
    </p:spTree>
    <p:extLst>
      <p:ext uri="{BB962C8B-B14F-4D97-AF65-F5344CB8AC3E}">
        <p14:creationId xmlns:p14="http://schemas.microsoft.com/office/powerpoint/2010/main" val="1117788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Supply:  Assumptions</a:t>
            </a: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All </a:t>
            </a:r>
            <a:r>
              <a:rPr lang="en-US" dirty="0"/>
              <a:t>existing firms and potential entrants have identical costs.</a:t>
            </a:r>
          </a:p>
          <a:p>
            <a:pPr marL="514350" indent="-514350">
              <a:buFont typeface="+mj-lt"/>
              <a:buAutoNum type="arabicPeriod"/>
            </a:pPr>
            <a:r>
              <a:rPr lang="en-US" dirty="0" smtClean="0"/>
              <a:t>Each </a:t>
            </a:r>
            <a:r>
              <a:rPr lang="en-US" dirty="0"/>
              <a:t>firm’s costs do not change as other firms enter or exit the market.</a:t>
            </a:r>
          </a:p>
          <a:p>
            <a:pPr marL="514350" indent="-514350">
              <a:buFont typeface="+mj-lt"/>
              <a:buAutoNum type="arabicPeriod"/>
            </a:pPr>
            <a:r>
              <a:rPr lang="en-US" dirty="0" smtClean="0"/>
              <a:t>The </a:t>
            </a:r>
            <a:r>
              <a:rPr lang="en-US" dirty="0"/>
              <a:t>number of firms in the market is </a:t>
            </a:r>
            <a:endParaRPr lang="en-US" dirty="0" smtClean="0"/>
          </a:p>
          <a:p>
            <a:pPr lvl="1"/>
            <a:r>
              <a:rPr lang="en-US" dirty="0" smtClean="0"/>
              <a:t>fixed </a:t>
            </a:r>
            <a:r>
              <a:rPr lang="en-US" dirty="0"/>
              <a:t>in the short run </a:t>
            </a:r>
            <a:r>
              <a:rPr lang="en-US" dirty="0" smtClean="0"/>
              <a:t>(</a:t>
            </a:r>
            <a:r>
              <a:rPr lang="en-US" dirty="0"/>
              <a:t>due to fixed costs)</a:t>
            </a:r>
          </a:p>
          <a:p>
            <a:pPr lvl="1"/>
            <a:r>
              <a:rPr lang="en-US" dirty="0"/>
              <a:t>variable in the long run </a:t>
            </a:r>
            <a:r>
              <a:rPr lang="en-US" dirty="0" smtClean="0"/>
              <a:t>(</a:t>
            </a:r>
            <a:r>
              <a:rPr lang="en-US" dirty="0"/>
              <a:t>due to free entry and exit)</a:t>
            </a:r>
          </a:p>
          <a:p>
            <a:endParaRPr lang="en-US" dirty="0"/>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17</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207709128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SR Market Supply Curve</a:t>
            </a:r>
          </a:p>
        </p:txBody>
      </p:sp>
      <p:sp>
        <p:nvSpPr>
          <p:cNvPr id="3" name="Content Placeholder 2"/>
          <p:cNvSpPr>
            <a:spLocks noGrp="1"/>
          </p:cNvSpPr>
          <p:nvPr>
            <p:ph idx="1"/>
          </p:nvPr>
        </p:nvSpPr>
        <p:spPr/>
        <p:txBody>
          <a:bodyPr/>
          <a:lstStyle/>
          <a:p>
            <a:r>
              <a:rPr lang="en-US" dirty="0"/>
              <a:t>As long as P ≥ </a:t>
            </a:r>
            <a:r>
              <a:rPr lang="en-US" dirty="0" smtClean="0"/>
              <a:t>AVC</a:t>
            </a:r>
          </a:p>
          <a:p>
            <a:pPr lvl="1"/>
            <a:r>
              <a:rPr lang="en-US" dirty="0" smtClean="0"/>
              <a:t>Each </a:t>
            </a:r>
            <a:r>
              <a:rPr lang="en-US" dirty="0"/>
              <a:t>firm will produce its profit-maximizing quantity, where MR = MC. </a:t>
            </a:r>
          </a:p>
          <a:p>
            <a:r>
              <a:rPr lang="en-US" dirty="0"/>
              <a:t>Recall from Chapter 4:  </a:t>
            </a:r>
            <a:endParaRPr lang="en-US" dirty="0" smtClean="0"/>
          </a:p>
          <a:p>
            <a:pPr lvl="1"/>
            <a:r>
              <a:rPr lang="en-US" dirty="0" smtClean="0"/>
              <a:t>At </a:t>
            </a:r>
            <a:r>
              <a:rPr lang="en-US" dirty="0"/>
              <a:t>each price, the market quantity supplied is </a:t>
            </a:r>
            <a:r>
              <a:rPr lang="en-US" dirty="0" smtClean="0"/>
              <a:t>the </a:t>
            </a:r>
            <a:r>
              <a:rPr lang="en-US" dirty="0"/>
              <a:t>sum of quantities supplied by all firms</a:t>
            </a:r>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18</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161045828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Entry &amp; Exit in the Long Run</a:t>
            </a:r>
          </a:p>
        </p:txBody>
      </p:sp>
      <p:sp>
        <p:nvSpPr>
          <p:cNvPr id="3" name="Content Placeholder 2"/>
          <p:cNvSpPr>
            <a:spLocks noGrp="1"/>
          </p:cNvSpPr>
          <p:nvPr>
            <p:ph idx="1"/>
          </p:nvPr>
        </p:nvSpPr>
        <p:spPr/>
        <p:txBody>
          <a:bodyPr/>
          <a:lstStyle/>
          <a:p>
            <a:r>
              <a:rPr lang="en-US" dirty="0"/>
              <a:t>In the </a:t>
            </a:r>
            <a:r>
              <a:rPr lang="en-US" dirty="0" smtClean="0"/>
              <a:t>long run, </a:t>
            </a:r>
            <a:r>
              <a:rPr lang="en-US" dirty="0"/>
              <a:t>the number of firms can change due to entry </a:t>
            </a:r>
            <a:r>
              <a:rPr lang="en-US" dirty="0" smtClean="0"/>
              <a:t>and exit:  </a:t>
            </a:r>
            <a:endParaRPr lang="en-US" dirty="0"/>
          </a:p>
          <a:p>
            <a:pPr lvl="1"/>
            <a:r>
              <a:rPr lang="en-US" dirty="0"/>
              <a:t>If existing firms earn positive economic </a:t>
            </a:r>
            <a:r>
              <a:rPr lang="en-US" dirty="0" smtClean="0"/>
              <a:t>profit:</a:t>
            </a:r>
          </a:p>
          <a:p>
            <a:pPr lvl="2"/>
            <a:r>
              <a:rPr lang="en-US" dirty="0" smtClean="0"/>
              <a:t>New </a:t>
            </a:r>
            <a:r>
              <a:rPr lang="en-US" dirty="0"/>
              <a:t>firms enter, </a:t>
            </a:r>
            <a:r>
              <a:rPr lang="en-US" dirty="0" smtClean="0"/>
              <a:t>SR </a:t>
            </a:r>
            <a:r>
              <a:rPr lang="en-US" dirty="0"/>
              <a:t>market supply shifts </a:t>
            </a:r>
            <a:r>
              <a:rPr lang="en-US" dirty="0" smtClean="0"/>
              <a:t>right  </a:t>
            </a:r>
            <a:endParaRPr lang="en-US" dirty="0"/>
          </a:p>
          <a:p>
            <a:pPr lvl="2"/>
            <a:r>
              <a:rPr lang="en-US" dirty="0" smtClean="0"/>
              <a:t>P falls</a:t>
            </a:r>
            <a:r>
              <a:rPr lang="en-US" dirty="0"/>
              <a:t>, reducing profits and slowing </a:t>
            </a:r>
            <a:r>
              <a:rPr lang="en-US" dirty="0" smtClean="0"/>
              <a:t>entry </a:t>
            </a:r>
            <a:endParaRPr lang="en-US" dirty="0"/>
          </a:p>
          <a:p>
            <a:pPr lvl="1"/>
            <a:r>
              <a:rPr lang="en-US" dirty="0"/>
              <a:t>If existing firms incur </a:t>
            </a:r>
            <a:r>
              <a:rPr lang="en-US" dirty="0" smtClean="0"/>
              <a:t>losses:</a:t>
            </a:r>
          </a:p>
          <a:p>
            <a:pPr lvl="2"/>
            <a:r>
              <a:rPr lang="en-US" dirty="0" smtClean="0"/>
              <a:t>Some </a:t>
            </a:r>
            <a:r>
              <a:rPr lang="en-US" dirty="0"/>
              <a:t>firms exit, </a:t>
            </a:r>
            <a:r>
              <a:rPr lang="en-US" dirty="0" smtClean="0"/>
              <a:t>SR </a:t>
            </a:r>
            <a:r>
              <a:rPr lang="en-US" dirty="0"/>
              <a:t>market supply shifts </a:t>
            </a:r>
            <a:r>
              <a:rPr lang="en-US" dirty="0" smtClean="0"/>
              <a:t>left  </a:t>
            </a:r>
            <a:endParaRPr lang="en-US" dirty="0"/>
          </a:p>
          <a:p>
            <a:pPr lvl="2"/>
            <a:r>
              <a:rPr lang="en-US" dirty="0" smtClean="0"/>
              <a:t>P rises</a:t>
            </a:r>
            <a:r>
              <a:rPr lang="en-US" dirty="0"/>
              <a:t>, reducing remaining firms’ </a:t>
            </a:r>
            <a:r>
              <a:rPr lang="en-US" dirty="0" smtClean="0"/>
              <a:t>losses</a:t>
            </a:r>
            <a:endParaRPr lang="en-US" dirty="0"/>
          </a:p>
          <a:p>
            <a:endParaRPr lang="en-US" dirty="0"/>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19</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318961636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wrap="square" anchor="t"/>
          <a:lstStyle/>
          <a:p>
            <a:r>
              <a:rPr lang="en-US" dirty="0"/>
              <a:t>The Zero-Profit Condition</a:t>
            </a:r>
            <a:endParaRPr lang="en-US" altLang="en-US" dirty="0" smtClean="0"/>
          </a:p>
        </p:txBody>
      </p:sp>
      <p:sp>
        <p:nvSpPr>
          <p:cNvPr id="35843" name="Content Placeholder 2"/>
          <p:cNvSpPr>
            <a:spLocks noGrp="1"/>
          </p:cNvSpPr>
          <p:nvPr>
            <p:ph idx="1"/>
          </p:nvPr>
        </p:nvSpPr>
        <p:spPr/>
        <p:txBody>
          <a:bodyPr/>
          <a:lstStyle/>
          <a:p>
            <a:r>
              <a:rPr lang="en-US" altLang="en-US" dirty="0" smtClean="0"/>
              <a:t>Why do competitive firms stay in business if they make zero profit? </a:t>
            </a:r>
          </a:p>
          <a:p>
            <a:pPr lvl="1"/>
            <a:r>
              <a:rPr lang="en-US" altLang="en-US" sz="2800" dirty="0"/>
              <a:t>Profit = total revenue – total cost</a:t>
            </a:r>
          </a:p>
          <a:p>
            <a:pPr lvl="1"/>
            <a:r>
              <a:rPr lang="en-US" altLang="en-US" sz="2800" dirty="0">
                <a:solidFill>
                  <a:srgbClr val="FF0000"/>
                </a:solidFill>
              </a:rPr>
              <a:t>Total cost includes all implicit costs like the opportunity cost of the owner’s time and money</a:t>
            </a:r>
          </a:p>
          <a:p>
            <a:pPr lvl="1"/>
            <a:r>
              <a:rPr lang="en-US" altLang="en-US" sz="2800" dirty="0"/>
              <a:t>Zero-profit equilibrium</a:t>
            </a:r>
          </a:p>
          <a:p>
            <a:pPr lvl="2"/>
            <a:r>
              <a:rPr lang="en-US" altLang="en-US" dirty="0" smtClean="0"/>
              <a:t>Economic profit is zero</a:t>
            </a:r>
          </a:p>
          <a:p>
            <a:pPr lvl="2"/>
            <a:r>
              <a:rPr lang="en-US" altLang="en-US" dirty="0" smtClean="0"/>
              <a:t>Accounting profit is positive</a:t>
            </a:r>
          </a:p>
        </p:txBody>
      </p:sp>
      <p:sp>
        <p:nvSpPr>
          <p:cNvPr id="358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D0BEB856-DD5D-4AB5-968C-54B0B7A70EC6}" type="slidenum">
              <a:rPr lang="en-US" altLang="en-US" sz="1200">
                <a:solidFill>
                  <a:srgbClr val="002060"/>
                </a:solidFill>
              </a:rPr>
              <a:pPr defTabSz="914400" eaLnBrk="1" hangingPunct="1"/>
              <a:t>20</a:t>
            </a:fld>
            <a:endParaRPr lang="en-US" altLang="en-US" sz="1200">
              <a:solidFill>
                <a:srgbClr val="002060"/>
              </a:solidFill>
            </a:endParaRPr>
          </a:p>
        </p:txBody>
      </p:sp>
      <p:sp>
        <p:nvSpPr>
          <p:cNvPr id="358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4035168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pPr algn="ctr" eaLnBrk="1" hangingPunct="1"/>
            <a:r>
              <a:rPr lang="en-US" sz="3500" dirty="0"/>
              <a:t>The LR Market Supply Curve</a:t>
            </a:r>
          </a:p>
        </p:txBody>
      </p:sp>
      <p:grpSp>
        <p:nvGrpSpPr>
          <p:cNvPr id="2" name="Group 3"/>
          <p:cNvGrpSpPr>
            <a:grpSpLocks/>
          </p:cNvGrpSpPr>
          <p:nvPr/>
        </p:nvGrpSpPr>
        <p:grpSpPr bwMode="auto">
          <a:xfrm>
            <a:off x="3519489" y="3148013"/>
            <a:ext cx="1952625" cy="2203450"/>
            <a:chOff x="837" y="2095"/>
            <a:chExt cx="1230" cy="1388"/>
          </a:xfrm>
        </p:grpSpPr>
        <p:sp>
          <p:nvSpPr>
            <p:cNvPr id="34852" name="Line 4"/>
            <p:cNvSpPr>
              <a:spLocks noChangeShapeType="1"/>
            </p:cNvSpPr>
            <p:nvPr/>
          </p:nvSpPr>
          <p:spPr bwMode="auto">
            <a:xfrm flipV="1">
              <a:off x="837" y="2293"/>
              <a:ext cx="944" cy="1190"/>
            </a:xfrm>
            <a:prstGeom prst="line">
              <a:avLst/>
            </a:prstGeom>
            <a:noFill/>
            <a:ln w="38100">
              <a:solidFill>
                <a:srgbClr val="333399"/>
              </a:solidFill>
              <a:round/>
              <a:headEnd/>
              <a:tailEnd/>
            </a:ln>
          </p:spPr>
          <p:txBody>
            <a:bodyPr/>
            <a:lstStyle/>
            <a:p>
              <a:pPr defTabSz="914400"/>
              <a:endParaRPr lang="en-US">
                <a:solidFill>
                  <a:srgbClr val="000000"/>
                </a:solidFill>
                <a:latin typeface="Arial"/>
                <a:cs typeface="Arial"/>
              </a:endParaRPr>
            </a:p>
          </p:txBody>
        </p:sp>
        <p:sp>
          <p:nvSpPr>
            <p:cNvPr id="34853" name="Text Box 5"/>
            <p:cNvSpPr txBox="1">
              <a:spLocks noChangeArrowheads="1"/>
            </p:cNvSpPr>
            <p:nvPr/>
          </p:nvSpPr>
          <p:spPr bwMode="auto">
            <a:xfrm>
              <a:off x="1684" y="2095"/>
              <a:ext cx="383" cy="233"/>
            </a:xfrm>
            <a:prstGeom prst="rect">
              <a:avLst/>
            </a:prstGeom>
            <a:noFill/>
            <a:ln w="9525">
              <a:noFill/>
              <a:miter lim="800000"/>
              <a:headEnd/>
              <a:tailEnd/>
            </a:ln>
          </p:spPr>
          <p:txBody>
            <a:bodyPr lIns="0" tIns="0" rIns="0" bIns="0">
              <a:spAutoFit/>
            </a:bodyPr>
            <a:lstStyle/>
            <a:p>
              <a:pPr algn="ctr" defTabSz="914400">
                <a:spcBef>
                  <a:spcPct val="50000"/>
                </a:spcBef>
              </a:pPr>
              <a:r>
                <a:rPr lang="en-US" sz="2400" i="1">
                  <a:solidFill>
                    <a:srgbClr val="000000"/>
                  </a:solidFill>
                  <a:latin typeface="Arial"/>
                  <a:cs typeface="Arial"/>
                </a:rPr>
                <a:t>MC</a:t>
              </a:r>
            </a:p>
          </p:txBody>
        </p:sp>
      </p:grpSp>
      <p:grpSp>
        <p:nvGrpSpPr>
          <p:cNvPr id="3" name="Group 67"/>
          <p:cNvGrpSpPr>
            <a:grpSpLocks/>
          </p:cNvGrpSpPr>
          <p:nvPr/>
        </p:nvGrpSpPr>
        <p:grpSpPr bwMode="auto">
          <a:xfrm>
            <a:off x="6384925" y="2706689"/>
            <a:ext cx="3975100" cy="3470275"/>
            <a:chOff x="2887" y="1376"/>
            <a:chExt cx="2504" cy="2186"/>
          </a:xfrm>
        </p:grpSpPr>
        <p:sp>
          <p:nvSpPr>
            <p:cNvPr id="34845" name="Text Box 10"/>
            <p:cNvSpPr txBox="1">
              <a:spLocks noChangeArrowheads="1"/>
            </p:cNvSpPr>
            <p:nvPr/>
          </p:nvSpPr>
          <p:spPr bwMode="auto">
            <a:xfrm>
              <a:off x="3574" y="1376"/>
              <a:ext cx="991" cy="288"/>
            </a:xfrm>
            <a:prstGeom prst="rect">
              <a:avLst/>
            </a:prstGeom>
            <a:noFill/>
            <a:ln w="9525">
              <a:noFill/>
              <a:miter lim="800000"/>
              <a:headEnd/>
              <a:tailEnd/>
            </a:ln>
          </p:spPr>
          <p:txBody>
            <a:bodyPr>
              <a:spAutoFit/>
            </a:bodyPr>
            <a:lstStyle/>
            <a:p>
              <a:pPr algn="ctr" defTabSz="914400">
                <a:spcBef>
                  <a:spcPct val="50000"/>
                </a:spcBef>
              </a:pPr>
              <a:r>
                <a:rPr lang="en-US" sz="2400" u="sng">
                  <a:solidFill>
                    <a:srgbClr val="000000"/>
                  </a:solidFill>
                  <a:latin typeface="Arial"/>
                  <a:cs typeface="Arial"/>
                </a:rPr>
                <a:t>Market</a:t>
              </a:r>
            </a:p>
          </p:txBody>
        </p:sp>
        <p:grpSp>
          <p:nvGrpSpPr>
            <p:cNvPr id="4" name="Group 12"/>
            <p:cNvGrpSpPr>
              <a:grpSpLocks/>
            </p:cNvGrpSpPr>
            <p:nvPr/>
          </p:nvGrpSpPr>
          <p:grpSpPr bwMode="auto">
            <a:xfrm>
              <a:off x="3056" y="1791"/>
              <a:ext cx="1710" cy="1436"/>
              <a:chOff x="3049" y="1681"/>
              <a:chExt cx="1864" cy="1932"/>
            </a:xfrm>
          </p:grpSpPr>
          <p:sp>
            <p:nvSpPr>
              <p:cNvPr id="34850" name="Line 13"/>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34851" name="Line 14"/>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34847" name="Text Box 15"/>
            <p:cNvSpPr txBox="1">
              <a:spLocks noChangeArrowheads="1"/>
            </p:cNvSpPr>
            <p:nvPr/>
          </p:nvSpPr>
          <p:spPr bwMode="auto">
            <a:xfrm>
              <a:off x="4732" y="3082"/>
              <a:ext cx="355"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34848" name="Text Box 16"/>
            <p:cNvSpPr txBox="1">
              <a:spLocks noChangeArrowheads="1"/>
            </p:cNvSpPr>
            <p:nvPr/>
          </p:nvSpPr>
          <p:spPr bwMode="auto">
            <a:xfrm>
              <a:off x="2887" y="1541"/>
              <a:ext cx="298" cy="298"/>
            </a:xfrm>
            <a:prstGeom prst="rect">
              <a:avLst/>
            </a:prstGeom>
            <a:noFill/>
            <a:ln w="9525">
              <a:noFill/>
              <a:miter lim="800000"/>
              <a:headEnd/>
              <a:tailEnd/>
            </a:ln>
          </p:spPr>
          <p:txBody>
            <a:bodyPr>
              <a:spAutoFit/>
            </a:bodyPr>
            <a:lstStyle/>
            <a:p>
              <a:pPr algn="r" defTabSz="914400">
                <a:spcBef>
                  <a:spcPct val="50000"/>
                </a:spcBef>
              </a:pPr>
              <a:r>
                <a:rPr lang="en-US" sz="2500" b="1" i="1">
                  <a:solidFill>
                    <a:srgbClr val="000000"/>
                  </a:solidFill>
                  <a:latin typeface="Arial"/>
                  <a:cs typeface="Arial"/>
                </a:rPr>
                <a:t>P</a:t>
              </a:r>
            </a:p>
          </p:txBody>
        </p:sp>
        <p:sp>
          <p:nvSpPr>
            <p:cNvPr id="34849" name="Text Box 17"/>
            <p:cNvSpPr txBox="1">
              <a:spLocks noChangeArrowheads="1"/>
            </p:cNvSpPr>
            <p:nvPr/>
          </p:nvSpPr>
          <p:spPr bwMode="auto">
            <a:xfrm>
              <a:off x="4547" y="3274"/>
              <a:ext cx="844" cy="288"/>
            </a:xfrm>
            <a:prstGeom prst="rect">
              <a:avLst/>
            </a:prstGeom>
            <a:noFill/>
            <a:ln w="9525">
              <a:noFill/>
              <a:miter lim="800000"/>
              <a:headEnd/>
              <a:tailEnd/>
            </a:ln>
          </p:spPr>
          <p:txBody>
            <a:bodyPr>
              <a:spAutoFit/>
            </a:bodyPr>
            <a:lstStyle/>
            <a:p>
              <a:pPr algn="ctr" defTabSz="914400">
                <a:spcBef>
                  <a:spcPct val="50000"/>
                </a:spcBef>
              </a:pPr>
              <a:r>
                <a:rPr lang="en-US" sz="2400">
                  <a:solidFill>
                    <a:srgbClr val="4D4D4D"/>
                  </a:solidFill>
                  <a:latin typeface="Arial"/>
                  <a:cs typeface="Arial"/>
                </a:rPr>
                <a:t>(market)</a:t>
              </a:r>
            </a:p>
          </p:txBody>
        </p:sp>
      </p:grpSp>
      <p:grpSp>
        <p:nvGrpSpPr>
          <p:cNvPr id="5" name="Group 69"/>
          <p:cNvGrpSpPr>
            <a:grpSpLocks/>
          </p:cNvGrpSpPr>
          <p:nvPr/>
        </p:nvGrpSpPr>
        <p:grpSpPr bwMode="auto">
          <a:xfrm>
            <a:off x="2760664" y="2668589"/>
            <a:ext cx="3533775" cy="3514725"/>
            <a:chOff x="401" y="1352"/>
            <a:chExt cx="2226" cy="2214"/>
          </a:xfrm>
        </p:grpSpPr>
        <p:sp>
          <p:nvSpPr>
            <p:cNvPr id="34838" name="Text Box 19"/>
            <p:cNvSpPr txBox="1">
              <a:spLocks noChangeArrowheads="1"/>
            </p:cNvSpPr>
            <p:nvPr/>
          </p:nvSpPr>
          <p:spPr bwMode="auto">
            <a:xfrm>
              <a:off x="997" y="1352"/>
              <a:ext cx="991" cy="288"/>
            </a:xfrm>
            <a:prstGeom prst="rect">
              <a:avLst/>
            </a:prstGeom>
            <a:noFill/>
            <a:ln w="9525">
              <a:noFill/>
              <a:miter lim="800000"/>
              <a:headEnd/>
              <a:tailEnd/>
            </a:ln>
          </p:spPr>
          <p:txBody>
            <a:bodyPr>
              <a:spAutoFit/>
            </a:bodyPr>
            <a:lstStyle/>
            <a:p>
              <a:pPr algn="ctr" defTabSz="914400">
                <a:spcBef>
                  <a:spcPct val="50000"/>
                </a:spcBef>
              </a:pPr>
              <a:r>
                <a:rPr lang="en-US" sz="2400" u="sng">
                  <a:solidFill>
                    <a:srgbClr val="000000"/>
                  </a:solidFill>
                  <a:latin typeface="Arial"/>
                  <a:cs typeface="Arial"/>
                </a:rPr>
                <a:t>One firm</a:t>
              </a:r>
            </a:p>
          </p:txBody>
        </p:sp>
        <p:grpSp>
          <p:nvGrpSpPr>
            <p:cNvPr id="6" name="Group 21"/>
            <p:cNvGrpSpPr>
              <a:grpSpLocks/>
            </p:cNvGrpSpPr>
            <p:nvPr/>
          </p:nvGrpSpPr>
          <p:grpSpPr bwMode="auto">
            <a:xfrm>
              <a:off x="562" y="1793"/>
              <a:ext cx="1606" cy="1431"/>
              <a:chOff x="1489" y="785"/>
              <a:chExt cx="3650" cy="2492"/>
            </a:xfrm>
          </p:grpSpPr>
          <p:sp>
            <p:nvSpPr>
              <p:cNvPr id="34843" name="Line 2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sp>
            <p:nvSpPr>
              <p:cNvPr id="34844" name="Line 2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pPr defTabSz="914400"/>
                <a:endParaRPr lang="en-US">
                  <a:solidFill>
                    <a:srgbClr val="000000"/>
                  </a:solidFill>
                  <a:latin typeface="Arial"/>
                  <a:cs typeface="Arial"/>
                </a:endParaRPr>
              </a:p>
            </p:txBody>
          </p:sp>
        </p:grpSp>
        <p:sp>
          <p:nvSpPr>
            <p:cNvPr id="34840" name="Text Box 24"/>
            <p:cNvSpPr txBox="1">
              <a:spLocks noChangeArrowheads="1"/>
            </p:cNvSpPr>
            <p:nvPr/>
          </p:nvSpPr>
          <p:spPr bwMode="auto">
            <a:xfrm>
              <a:off x="2135" y="3079"/>
              <a:ext cx="338" cy="298"/>
            </a:xfrm>
            <a:prstGeom prst="rect">
              <a:avLst/>
            </a:prstGeom>
            <a:noFill/>
            <a:ln w="9525">
              <a:noFill/>
              <a:miter lim="800000"/>
              <a:headEnd/>
              <a:tailEnd/>
            </a:ln>
          </p:spPr>
          <p:txBody>
            <a:bodyPr>
              <a:spAutoFit/>
            </a:bodyPr>
            <a:lstStyle/>
            <a:p>
              <a:pPr defTabSz="914400">
                <a:spcBef>
                  <a:spcPct val="50000"/>
                </a:spcBef>
              </a:pPr>
              <a:r>
                <a:rPr lang="en-US" sz="2500" b="1" i="1">
                  <a:solidFill>
                    <a:srgbClr val="000000"/>
                  </a:solidFill>
                  <a:latin typeface="Arial"/>
                  <a:cs typeface="Arial"/>
                </a:rPr>
                <a:t>Q</a:t>
              </a:r>
            </a:p>
          </p:txBody>
        </p:sp>
        <p:sp>
          <p:nvSpPr>
            <p:cNvPr id="34841" name="Text Box 25"/>
            <p:cNvSpPr txBox="1">
              <a:spLocks noChangeArrowheads="1"/>
            </p:cNvSpPr>
            <p:nvPr/>
          </p:nvSpPr>
          <p:spPr bwMode="auto">
            <a:xfrm>
              <a:off x="401" y="1544"/>
              <a:ext cx="284" cy="298"/>
            </a:xfrm>
            <a:prstGeom prst="rect">
              <a:avLst/>
            </a:prstGeom>
            <a:noFill/>
            <a:ln w="9525">
              <a:noFill/>
              <a:miter lim="800000"/>
              <a:headEnd/>
              <a:tailEnd/>
            </a:ln>
          </p:spPr>
          <p:txBody>
            <a:bodyPr>
              <a:spAutoFit/>
            </a:bodyPr>
            <a:lstStyle/>
            <a:p>
              <a:pPr algn="r" defTabSz="914400">
                <a:spcBef>
                  <a:spcPct val="50000"/>
                </a:spcBef>
              </a:pPr>
              <a:r>
                <a:rPr lang="en-US" sz="2500" b="1" i="1">
                  <a:solidFill>
                    <a:srgbClr val="000000"/>
                  </a:solidFill>
                  <a:latin typeface="Arial"/>
                  <a:cs typeface="Arial"/>
                </a:rPr>
                <a:t>P</a:t>
              </a:r>
            </a:p>
          </p:txBody>
        </p:sp>
        <p:sp>
          <p:nvSpPr>
            <p:cNvPr id="34842" name="Text Box 26"/>
            <p:cNvSpPr txBox="1">
              <a:spLocks noChangeArrowheads="1"/>
            </p:cNvSpPr>
            <p:nvPr/>
          </p:nvSpPr>
          <p:spPr bwMode="auto">
            <a:xfrm>
              <a:off x="2017" y="3278"/>
              <a:ext cx="610" cy="288"/>
            </a:xfrm>
            <a:prstGeom prst="rect">
              <a:avLst/>
            </a:prstGeom>
            <a:noFill/>
            <a:ln w="9525">
              <a:noFill/>
              <a:miter lim="800000"/>
              <a:headEnd/>
              <a:tailEnd/>
            </a:ln>
          </p:spPr>
          <p:txBody>
            <a:bodyPr>
              <a:spAutoFit/>
            </a:bodyPr>
            <a:lstStyle/>
            <a:p>
              <a:pPr algn="ctr" defTabSz="914400">
                <a:spcBef>
                  <a:spcPct val="50000"/>
                </a:spcBef>
              </a:pPr>
              <a:r>
                <a:rPr lang="en-US" sz="2400">
                  <a:solidFill>
                    <a:srgbClr val="4D4D4D"/>
                  </a:solidFill>
                  <a:latin typeface="Arial"/>
                  <a:cs typeface="Arial"/>
                </a:rPr>
                <a:t>(firm)</a:t>
              </a:r>
            </a:p>
          </p:txBody>
        </p:sp>
      </p:grpSp>
      <p:sp>
        <p:nvSpPr>
          <p:cNvPr id="145445" name="Text Box 37"/>
          <p:cNvSpPr txBox="1">
            <a:spLocks noChangeArrowheads="1"/>
          </p:cNvSpPr>
          <p:nvPr/>
        </p:nvSpPr>
        <p:spPr bwMode="auto">
          <a:xfrm>
            <a:off x="2278064" y="1108076"/>
            <a:ext cx="2593975" cy="1306513"/>
          </a:xfrm>
          <a:prstGeom prst="rect">
            <a:avLst/>
          </a:prstGeom>
          <a:solidFill>
            <a:srgbClr val="B8E08C"/>
          </a:solidFill>
          <a:ln w="9525">
            <a:noFill/>
            <a:miter lim="800000"/>
            <a:headEnd/>
            <a:tailEnd/>
          </a:ln>
        </p:spPr>
        <p:txBody>
          <a:bodyPr/>
          <a:lstStyle/>
          <a:p>
            <a:pPr defTabSz="914400">
              <a:lnSpc>
                <a:spcPct val="105000"/>
              </a:lnSpc>
              <a:spcBef>
                <a:spcPct val="30000"/>
              </a:spcBef>
            </a:pPr>
            <a:r>
              <a:rPr lang="en-US" sz="2500" dirty="0">
                <a:solidFill>
                  <a:srgbClr val="000000"/>
                </a:solidFill>
                <a:latin typeface="Arial"/>
                <a:cs typeface="Arial"/>
              </a:rPr>
              <a:t>In the long run, </a:t>
            </a:r>
            <a:br>
              <a:rPr lang="en-US" sz="2500" dirty="0">
                <a:solidFill>
                  <a:srgbClr val="000000"/>
                </a:solidFill>
                <a:latin typeface="Arial"/>
                <a:cs typeface="Arial"/>
              </a:rPr>
            </a:br>
            <a:r>
              <a:rPr lang="en-US" sz="2500" dirty="0">
                <a:solidFill>
                  <a:srgbClr val="000000"/>
                </a:solidFill>
                <a:latin typeface="Arial"/>
                <a:cs typeface="Arial"/>
              </a:rPr>
              <a:t>the typical firm </a:t>
            </a:r>
            <a:br>
              <a:rPr lang="en-US" sz="2500" dirty="0">
                <a:solidFill>
                  <a:srgbClr val="000000"/>
                </a:solidFill>
                <a:latin typeface="Arial"/>
                <a:cs typeface="Arial"/>
              </a:rPr>
            </a:br>
            <a:r>
              <a:rPr lang="en-US" sz="2500" dirty="0">
                <a:solidFill>
                  <a:srgbClr val="000000"/>
                </a:solidFill>
                <a:latin typeface="Arial"/>
                <a:cs typeface="Arial"/>
              </a:rPr>
              <a:t>earns zero profit.</a:t>
            </a:r>
          </a:p>
        </p:txBody>
      </p:sp>
      <p:grpSp>
        <p:nvGrpSpPr>
          <p:cNvPr id="7" name="Group 70"/>
          <p:cNvGrpSpPr>
            <a:grpSpLocks/>
          </p:cNvGrpSpPr>
          <p:nvPr/>
        </p:nvGrpSpPr>
        <p:grpSpPr bwMode="auto">
          <a:xfrm>
            <a:off x="3121025" y="3468688"/>
            <a:ext cx="3003550" cy="1111250"/>
            <a:chOff x="628" y="1856"/>
            <a:chExt cx="1892" cy="700"/>
          </a:xfrm>
        </p:grpSpPr>
        <p:sp>
          <p:nvSpPr>
            <p:cNvPr id="34836" name="Arc 61"/>
            <p:cNvSpPr>
              <a:spLocks/>
            </p:cNvSpPr>
            <p:nvPr/>
          </p:nvSpPr>
          <p:spPr bwMode="auto">
            <a:xfrm flipH="1" flipV="1">
              <a:off x="628" y="1856"/>
              <a:ext cx="1344" cy="700"/>
            </a:xfrm>
            <a:custGeom>
              <a:avLst/>
              <a:gdLst>
                <a:gd name="T0" fmla="*/ 0 w 34271"/>
                <a:gd name="T1" fmla="*/ 0 h 21600"/>
                <a:gd name="T2" fmla="*/ 0 w 34271"/>
                <a:gd name="T3" fmla="*/ 0 h 21600"/>
                <a:gd name="T4" fmla="*/ 0 w 34271"/>
                <a:gd name="T5" fmla="*/ 0 h 21600"/>
                <a:gd name="T6" fmla="*/ 0 60000 65536"/>
                <a:gd name="T7" fmla="*/ 0 60000 65536"/>
                <a:gd name="T8" fmla="*/ 0 60000 65536"/>
                <a:gd name="T9" fmla="*/ 0 w 34271"/>
                <a:gd name="T10" fmla="*/ 0 h 21600"/>
                <a:gd name="T11" fmla="*/ 34271 w 34271"/>
                <a:gd name="T12" fmla="*/ 21600 h 21600"/>
              </a:gdLst>
              <a:ahLst/>
              <a:cxnLst>
                <a:cxn ang="T6">
                  <a:pos x="T0" y="T1"/>
                </a:cxn>
                <a:cxn ang="T7">
                  <a:pos x="T2" y="T3"/>
                </a:cxn>
                <a:cxn ang="T8">
                  <a:pos x="T4" y="T5"/>
                </a:cxn>
              </a:cxnLst>
              <a:rect l="T9" t="T10" r="T11" b="T12"/>
              <a:pathLst>
                <a:path w="34271" h="21600" fill="none" extrusionOk="0">
                  <a:moveTo>
                    <a:pt x="0" y="9663"/>
                  </a:moveTo>
                  <a:cubicBezTo>
                    <a:pt x="4001" y="3628"/>
                    <a:pt x="10761" y="-1"/>
                    <a:pt x="18002" y="0"/>
                  </a:cubicBezTo>
                  <a:cubicBezTo>
                    <a:pt x="24237" y="0"/>
                    <a:pt x="30168" y="2694"/>
                    <a:pt x="34270" y="7391"/>
                  </a:cubicBezTo>
                </a:path>
                <a:path w="34271" h="21600" stroke="0" extrusionOk="0">
                  <a:moveTo>
                    <a:pt x="0" y="9663"/>
                  </a:moveTo>
                  <a:cubicBezTo>
                    <a:pt x="4001" y="3628"/>
                    <a:pt x="10761" y="-1"/>
                    <a:pt x="18002" y="0"/>
                  </a:cubicBezTo>
                  <a:cubicBezTo>
                    <a:pt x="24237" y="0"/>
                    <a:pt x="30168" y="2694"/>
                    <a:pt x="34270" y="7391"/>
                  </a:cubicBezTo>
                  <a:lnTo>
                    <a:pt x="18002" y="21600"/>
                  </a:lnTo>
                  <a:close/>
                </a:path>
              </a:pathLst>
            </a:custGeom>
            <a:noFill/>
            <a:ln w="38100">
              <a:solidFill>
                <a:srgbClr val="333399"/>
              </a:solidFill>
              <a:round/>
              <a:headEnd/>
              <a:tailEnd/>
            </a:ln>
          </p:spPr>
          <p:txBody>
            <a:bodyPr wrap="none" anchor="ctr"/>
            <a:lstStyle/>
            <a:p>
              <a:pPr defTabSz="914400"/>
              <a:endParaRPr lang="en-US">
                <a:solidFill>
                  <a:srgbClr val="000000"/>
                </a:solidFill>
                <a:latin typeface="Arial"/>
                <a:cs typeface="Arial"/>
              </a:endParaRPr>
            </a:p>
          </p:txBody>
        </p:sp>
        <p:sp>
          <p:nvSpPr>
            <p:cNvPr id="34837" name="Text Box 62"/>
            <p:cNvSpPr txBox="1">
              <a:spLocks noChangeArrowheads="1"/>
            </p:cNvSpPr>
            <p:nvPr/>
          </p:nvSpPr>
          <p:spPr bwMode="auto">
            <a:xfrm>
              <a:off x="1804" y="2016"/>
              <a:ext cx="716" cy="233"/>
            </a:xfrm>
            <a:prstGeom prst="rect">
              <a:avLst/>
            </a:prstGeom>
            <a:noFill/>
            <a:ln w="9525">
              <a:noFill/>
              <a:miter lim="800000"/>
              <a:headEnd/>
              <a:tailEnd/>
            </a:ln>
          </p:spPr>
          <p:txBody>
            <a:bodyPr lIns="0" tIns="0" rIns="0" bIns="0">
              <a:spAutoFit/>
            </a:bodyPr>
            <a:lstStyle/>
            <a:p>
              <a:pPr algn="ctr" defTabSz="914400">
                <a:spcBef>
                  <a:spcPct val="50000"/>
                </a:spcBef>
              </a:pPr>
              <a:r>
                <a:rPr lang="en-US" sz="2400" i="1">
                  <a:solidFill>
                    <a:srgbClr val="000000"/>
                  </a:solidFill>
                  <a:latin typeface="Arial"/>
                  <a:cs typeface="Arial"/>
                </a:rPr>
                <a:t>LRATC</a:t>
              </a:r>
            </a:p>
          </p:txBody>
        </p:sp>
      </p:grpSp>
      <p:grpSp>
        <p:nvGrpSpPr>
          <p:cNvPr id="8" name="Group 65"/>
          <p:cNvGrpSpPr>
            <a:grpSpLocks/>
          </p:cNvGrpSpPr>
          <p:nvPr/>
        </p:nvGrpSpPr>
        <p:grpSpPr bwMode="auto">
          <a:xfrm>
            <a:off x="6653213" y="4225929"/>
            <a:ext cx="3687762" cy="671513"/>
            <a:chOff x="3056" y="2333"/>
            <a:chExt cx="2323" cy="423"/>
          </a:xfrm>
        </p:grpSpPr>
        <p:sp>
          <p:nvSpPr>
            <p:cNvPr id="34834" name="Line 41"/>
            <p:cNvSpPr>
              <a:spLocks noChangeShapeType="1"/>
            </p:cNvSpPr>
            <p:nvPr/>
          </p:nvSpPr>
          <p:spPr bwMode="auto">
            <a:xfrm>
              <a:off x="3056" y="2556"/>
              <a:ext cx="1573" cy="0"/>
            </a:xfrm>
            <a:prstGeom prst="line">
              <a:avLst/>
            </a:prstGeom>
            <a:noFill/>
            <a:ln w="28575">
              <a:solidFill>
                <a:srgbClr val="CC0000"/>
              </a:solidFill>
              <a:round/>
              <a:headEnd/>
              <a:tailEnd/>
            </a:ln>
          </p:spPr>
          <p:txBody>
            <a:bodyPr/>
            <a:lstStyle/>
            <a:p>
              <a:pPr defTabSz="914400"/>
              <a:endParaRPr lang="en-US">
                <a:solidFill>
                  <a:srgbClr val="000000"/>
                </a:solidFill>
                <a:latin typeface="Arial"/>
                <a:cs typeface="Arial"/>
              </a:endParaRPr>
            </a:p>
          </p:txBody>
        </p:sp>
        <p:sp>
          <p:nvSpPr>
            <p:cNvPr id="34835" name="Text Box 63"/>
            <p:cNvSpPr txBox="1">
              <a:spLocks noChangeArrowheads="1"/>
            </p:cNvSpPr>
            <p:nvPr/>
          </p:nvSpPr>
          <p:spPr bwMode="auto">
            <a:xfrm>
              <a:off x="4624" y="2333"/>
              <a:ext cx="755" cy="423"/>
            </a:xfrm>
            <a:prstGeom prst="rect">
              <a:avLst/>
            </a:prstGeom>
            <a:noFill/>
            <a:ln w="9525">
              <a:noFill/>
              <a:miter lim="800000"/>
              <a:headEnd/>
              <a:tailEnd/>
            </a:ln>
          </p:spPr>
          <p:txBody>
            <a:bodyPr lIns="0" tIns="0" rIns="0" bIns="0">
              <a:spAutoFit/>
            </a:bodyPr>
            <a:lstStyle/>
            <a:p>
              <a:pPr defTabSz="914400">
                <a:lnSpc>
                  <a:spcPct val="90000"/>
                </a:lnSpc>
              </a:pPr>
              <a:r>
                <a:rPr lang="en-US" sz="2400" dirty="0">
                  <a:solidFill>
                    <a:srgbClr val="000000"/>
                  </a:solidFill>
                  <a:latin typeface="Arial"/>
                  <a:cs typeface="Arial"/>
                </a:rPr>
                <a:t>long-run</a:t>
              </a:r>
            </a:p>
            <a:p>
              <a:pPr defTabSz="914400">
                <a:lnSpc>
                  <a:spcPct val="90000"/>
                </a:lnSpc>
              </a:pPr>
              <a:r>
                <a:rPr lang="en-US" sz="2400" dirty="0">
                  <a:solidFill>
                    <a:srgbClr val="000000"/>
                  </a:solidFill>
                  <a:latin typeface="Arial"/>
                  <a:cs typeface="Arial"/>
                </a:rPr>
                <a:t>supply</a:t>
              </a:r>
              <a:endParaRPr lang="en-US" sz="2400" baseline="-25000" dirty="0">
                <a:solidFill>
                  <a:srgbClr val="000000"/>
                </a:solidFill>
                <a:latin typeface="Arial"/>
                <a:cs typeface="Arial"/>
              </a:endParaRPr>
            </a:p>
          </p:txBody>
        </p:sp>
      </p:grpSp>
      <p:grpSp>
        <p:nvGrpSpPr>
          <p:cNvPr id="9" name="Group 74"/>
          <p:cNvGrpSpPr>
            <a:grpSpLocks/>
          </p:cNvGrpSpPr>
          <p:nvPr/>
        </p:nvGrpSpPr>
        <p:grpSpPr bwMode="auto">
          <a:xfrm>
            <a:off x="1844676" y="3963988"/>
            <a:ext cx="1109663" cy="1200150"/>
            <a:chOff x="258" y="2497"/>
            <a:chExt cx="699" cy="756"/>
          </a:xfrm>
        </p:grpSpPr>
        <p:sp>
          <p:nvSpPr>
            <p:cNvPr id="34832" name="Text Box 8"/>
            <p:cNvSpPr txBox="1">
              <a:spLocks noChangeArrowheads="1"/>
            </p:cNvSpPr>
            <p:nvPr/>
          </p:nvSpPr>
          <p:spPr bwMode="auto">
            <a:xfrm>
              <a:off x="258" y="2497"/>
              <a:ext cx="561" cy="756"/>
            </a:xfrm>
            <a:prstGeom prst="rect">
              <a:avLst/>
            </a:prstGeom>
            <a:noFill/>
            <a:ln w="9525">
              <a:noFill/>
              <a:miter lim="800000"/>
              <a:headEnd/>
              <a:tailEnd/>
            </a:ln>
          </p:spPr>
          <p:txBody>
            <a:bodyPr>
              <a:spAutoFit/>
            </a:bodyPr>
            <a:lstStyle/>
            <a:p>
              <a:pPr algn="ctr" defTabSz="914400"/>
              <a:r>
                <a:rPr lang="en-US" sz="2400" b="1" i="1">
                  <a:solidFill>
                    <a:srgbClr val="000000"/>
                  </a:solidFill>
                  <a:latin typeface="Arial"/>
                  <a:cs typeface="Arial"/>
                </a:rPr>
                <a:t>P</a:t>
              </a:r>
              <a:r>
                <a:rPr lang="en-US" sz="2400">
                  <a:solidFill>
                    <a:srgbClr val="000000"/>
                  </a:solidFill>
                  <a:latin typeface="Arial"/>
                  <a:cs typeface="Arial"/>
                </a:rPr>
                <a:t> = min. </a:t>
              </a:r>
              <a:r>
                <a:rPr lang="en-US" sz="2400" i="1">
                  <a:solidFill>
                    <a:srgbClr val="000000"/>
                  </a:solidFill>
                  <a:latin typeface="Arial"/>
                  <a:cs typeface="Arial"/>
                </a:rPr>
                <a:t>ATC</a:t>
              </a:r>
            </a:p>
          </p:txBody>
        </p:sp>
        <p:sp>
          <p:nvSpPr>
            <p:cNvPr id="34833" name="AutoShape 72"/>
            <p:cNvSpPr>
              <a:spLocks/>
            </p:cNvSpPr>
            <p:nvPr/>
          </p:nvSpPr>
          <p:spPr bwMode="auto">
            <a:xfrm>
              <a:off x="741" y="2542"/>
              <a:ext cx="216" cy="679"/>
            </a:xfrm>
            <a:prstGeom prst="rightBrace">
              <a:avLst>
                <a:gd name="adj1" fmla="val 35466"/>
                <a:gd name="adj2" fmla="val 50000"/>
              </a:avLst>
            </a:prstGeom>
            <a:noFill/>
            <a:ln w="19050">
              <a:solidFill>
                <a:srgbClr val="A50021"/>
              </a:solidFill>
              <a:round/>
              <a:headEnd/>
              <a:tailEnd/>
            </a:ln>
          </p:spPr>
          <p:txBody>
            <a:bodyPr wrap="none" anchor="ctr"/>
            <a:lstStyle/>
            <a:p>
              <a:pPr defTabSz="914400"/>
              <a:endParaRPr lang="en-US">
                <a:solidFill>
                  <a:srgbClr val="000000"/>
                </a:solidFill>
                <a:latin typeface="Arial"/>
                <a:cs typeface="Arial"/>
              </a:endParaRPr>
            </a:p>
          </p:txBody>
        </p:sp>
      </p:grpSp>
      <p:sp>
        <p:nvSpPr>
          <p:cNvPr id="145415" name="Line 7"/>
          <p:cNvSpPr>
            <a:spLocks noChangeShapeType="1"/>
          </p:cNvSpPr>
          <p:nvPr/>
        </p:nvSpPr>
        <p:spPr bwMode="auto">
          <a:xfrm>
            <a:off x="3014663" y="4576764"/>
            <a:ext cx="3624262" cy="9525"/>
          </a:xfrm>
          <a:prstGeom prst="line">
            <a:avLst/>
          </a:prstGeom>
          <a:noFill/>
          <a:ln w="12700">
            <a:solidFill>
              <a:srgbClr val="CC0000"/>
            </a:solidFill>
            <a:prstDash val="lgDash"/>
            <a:round/>
            <a:headEnd/>
            <a:tailEnd/>
          </a:ln>
        </p:spPr>
        <p:txBody>
          <a:bodyPr/>
          <a:lstStyle/>
          <a:p>
            <a:pPr defTabSz="914400"/>
            <a:endParaRPr lang="en-US">
              <a:solidFill>
                <a:srgbClr val="000000"/>
              </a:solidFill>
              <a:latin typeface="Arial"/>
              <a:cs typeface="Arial"/>
            </a:endParaRPr>
          </a:p>
        </p:txBody>
      </p:sp>
      <p:sp>
        <p:nvSpPr>
          <p:cNvPr id="34829" name="Oval 71"/>
          <p:cNvSpPr>
            <a:spLocks noChangeAspect="1" noChangeArrowheads="1"/>
          </p:cNvSpPr>
          <p:nvPr/>
        </p:nvSpPr>
        <p:spPr bwMode="auto">
          <a:xfrm>
            <a:off x="4079875" y="4524375"/>
            <a:ext cx="115888" cy="114300"/>
          </a:xfrm>
          <a:prstGeom prst="ellipse">
            <a:avLst/>
          </a:prstGeom>
          <a:solidFill>
            <a:srgbClr val="000000"/>
          </a:solidFill>
          <a:ln w="9525">
            <a:noFill/>
            <a:prstDash val="dash"/>
            <a:round/>
            <a:headEnd/>
            <a:tailEnd/>
          </a:ln>
        </p:spPr>
        <p:txBody>
          <a:bodyPr wrap="none" anchor="ctr"/>
          <a:lstStyle/>
          <a:p>
            <a:pPr defTabSz="914400"/>
            <a:endParaRPr lang="en-US">
              <a:solidFill>
                <a:srgbClr val="000000"/>
              </a:solidFill>
              <a:latin typeface="Arial"/>
              <a:cs typeface="Arial"/>
            </a:endParaRPr>
          </a:p>
        </p:txBody>
      </p:sp>
      <p:sp>
        <p:nvSpPr>
          <p:cNvPr id="145481" name="Text Box 73"/>
          <p:cNvSpPr txBox="1">
            <a:spLocks noChangeArrowheads="1"/>
          </p:cNvSpPr>
          <p:nvPr/>
        </p:nvSpPr>
        <p:spPr bwMode="auto">
          <a:xfrm>
            <a:off x="6862764" y="1081088"/>
            <a:ext cx="3349625" cy="1249362"/>
          </a:xfrm>
          <a:prstGeom prst="rect">
            <a:avLst/>
          </a:prstGeom>
          <a:solidFill>
            <a:srgbClr val="FFCCCC"/>
          </a:solidFill>
          <a:ln w="9525">
            <a:noFill/>
            <a:miter lim="800000"/>
            <a:headEnd/>
            <a:tailEnd/>
          </a:ln>
        </p:spPr>
        <p:txBody>
          <a:bodyPr/>
          <a:lstStyle/>
          <a:p>
            <a:pPr defTabSz="914400">
              <a:lnSpc>
                <a:spcPct val="105000"/>
              </a:lnSpc>
              <a:spcBef>
                <a:spcPct val="30000"/>
              </a:spcBef>
            </a:pPr>
            <a:r>
              <a:rPr lang="en-US" sz="2500">
                <a:solidFill>
                  <a:srgbClr val="000000"/>
                </a:solidFill>
                <a:latin typeface="Arial"/>
                <a:cs typeface="Arial"/>
              </a:rPr>
              <a:t>The LR market supply curve is horizontal at </a:t>
            </a:r>
            <a:br>
              <a:rPr lang="en-US" sz="2500">
                <a:solidFill>
                  <a:srgbClr val="000000"/>
                </a:solidFill>
                <a:latin typeface="Arial"/>
                <a:cs typeface="Arial"/>
              </a:rPr>
            </a:br>
            <a:r>
              <a:rPr lang="en-US" sz="2500" b="1" i="1">
                <a:solidFill>
                  <a:srgbClr val="000000"/>
                </a:solidFill>
                <a:latin typeface="Arial"/>
                <a:cs typeface="Arial"/>
              </a:rPr>
              <a:t>P</a:t>
            </a:r>
            <a:r>
              <a:rPr lang="en-US" sz="2500">
                <a:solidFill>
                  <a:srgbClr val="000000"/>
                </a:solidFill>
                <a:latin typeface="Arial"/>
                <a:cs typeface="Arial"/>
              </a:rPr>
              <a:t> = minimum </a:t>
            </a:r>
            <a:r>
              <a:rPr lang="en-US" sz="2500" i="1">
                <a:solidFill>
                  <a:srgbClr val="000000"/>
                </a:solidFill>
                <a:latin typeface="Arial"/>
                <a:cs typeface="Arial"/>
              </a:rPr>
              <a:t>ATC</a:t>
            </a:r>
            <a:r>
              <a:rPr lang="en-US" sz="2500">
                <a:solidFill>
                  <a:srgbClr val="000000"/>
                </a:solidFill>
                <a:latin typeface="Arial"/>
                <a:cs typeface="Arial"/>
              </a:rPr>
              <a:t>.</a:t>
            </a:r>
          </a:p>
        </p:txBody>
      </p:sp>
      <p:sp>
        <p:nvSpPr>
          <p:cNvPr id="34831" name="FlagCount" hidden="1">
            <a:hlinkClick r:id="rId3" action="ppaction://hlinkfile"/>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defTabSz="914400"/>
            <a:r>
              <a:rPr lang="en-US" sz="1400" b="1">
                <a:solidFill>
                  <a:srgbClr val="000000"/>
                </a:solidFill>
                <a:latin typeface="Tahoma" pitchFamily="34" charset="0"/>
                <a:cs typeface="Arial" charset="0"/>
              </a:rPr>
              <a:t>0</a:t>
            </a:r>
          </a:p>
        </p:txBody>
      </p:sp>
      <p:sp>
        <p:nvSpPr>
          <p:cNvPr id="11" name="Footer Placeholder 10"/>
          <p:cNvSpPr>
            <a:spLocks noGrp="1"/>
          </p:cNvSpPr>
          <p:nvPr>
            <p:ph type="ftr" sz="quarter" idx="14"/>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
        <p:nvSpPr>
          <p:cNvPr id="12" name="Slide Number Placeholder 11"/>
          <p:cNvSpPr>
            <a:spLocks noGrp="1"/>
          </p:cNvSpPr>
          <p:nvPr>
            <p:ph type="sldNum" sz="quarter" idx="13"/>
          </p:nvPr>
        </p:nvSpPr>
        <p:spPr/>
        <p:txBody>
          <a:bodyPr/>
          <a:lstStyle/>
          <a:p>
            <a:pPr defTabSz="914400">
              <a:defRPr/>
            </a:pPr>
            <a:fld id="{2F37425F-5E17-4209-B948-B5CE2119E408}" type="slidenum">
              <a:rPr lang="en-US">
                <a:latin typeface="Arial"/>
              </a:rPr>
              <a:pPr defTabSz="914400">
                <a:defRPr/>
              </a:pPr>
              <a:t>21</a:t>
            </a:fld>
            <a:endParaRPr lang="en-US" dirty="0">
              <a:latin typeface="Arial"/>
            </a:endParaRPr>
          </a:p>
        </p:txBody>
      </p:sp>
    </p:spTree>
    <p:extLst>
      <p:ext uri="{BB962C8B-B14F-4D97-AF65-F5344CB8AC3E}">
        <p14:creationId xmlns:p14="http://schemas.microsoft.com/office/powerpoint/2010/main" val="208096091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5445"/>
                                        </p:tgtEl>
                                        <p:attrNameLst>
                                          <p:attrName>style.visibility</p:attrName>
                                        </p:attrNameLst>
                                      </p:cBhvr>
                                      <p:to>
                                        <p:strVal val="visible"/>
                                      </p:to>
                                    </p:set>
                                    <p:animEffect transition="in" filter="fade">
                                      <p:cBhvr>
                                        <p:cTn id="7" dur="500"/>
                                        <p:tgtEl>
                                          <p:spTgt spid="14544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5415"/>
                                        </p:tgtEl>
                                        <p:attrNameLst>
                                          <p:attrName>style.visibility</p:attrName>
                                        </p:attrNameLst>
                                      </p:cBhvr>
                                      <p:to>
                                        <p:strVal val="visible"/>
                                      </p:to>
                                    </p:set>
                                    <p:animEffect transition="in" filter="wipe(left)">
                                      <p:cBhvr>
                                        <p:cTn id="16" dur="500"/>
                                        <p:tgtEl>
                                          <p:spTgt spid="1454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5481"/>
                                        </p:tgtEl>
                                        <p:attrNameLst>
                                          <p:attrName>style.visibility</p:attrName>
                                        </p:attrNameLst>
                                      </p:cBhvr>
                                      <p:to>
                                        <p:strVal val="visible"/>
                                      </p:to>
                                    </p:set>
                                    <p:animEffect transition="in" filter="fade">
                                      <p:cBhvr>
                                        <p:cTn id="21" dur="500"/>
                                        <p:tgtEl>
                                          <p:spTgt spid="145481"/>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trips(upRight)">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45" grpId="0" animBg="1" autoUpdateAnimBg="0"/>
      <p:bldP spid="145415" grpId="0" animBg="1"/>
      <p:bldP spid="145481"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wrap="square" anchor="t"/>
          <a:lstStyle/>
          <a:p>
            <a:r>
              <a:rPr lang="en-US" altLang="en-US" dirty="0" smtClean="0"/>
              <a:t>Long-Run Supply Curve</a:t>
            </a:r>
          </a:p>
        </p:txBody>
      </p:sp>
      <p:sp>
        <p:nvSpPr>
          <p:cNvPr id="41987" name="Content Placeholder 2"/>
          <p:cNvSpPr>
            <a:spLocks noGrp="1"/>
          </p:cNvSpPr>
          <p:nvPr>
            <p:ph idx="1"/>
          </p:nvPr>
        </p:nvSpPr>
        <p:spPr/>
        <p:txBody>
          <a:bodyPr/>
          <a:lstStyle/>
          <a:p>
            <a:r>
              <a:rPr lang="en-US" altLang="en-US" dirty="0"/>
              <a:t>Long-run supply </a:t>
            </a:r>
            <a:r>
              <a:rPr lang="en-US" altLang="en-US" dirty="0" smtClean="0"/>
              <a:t>curve is horizontal if:</a:t>
            </a:r>
          </a:p>
          <a:p>
            <a:pPr lvl="1"/>
            <a:r>
              <a:rPr lang="en-US" altLang="en-US" dirty="0" smtClean="0"/>
              <a:t>All firms </a:t>
            </a:r>
            <a:r>
              <a:rPr lang="en-US" altLang="en-US" dirty="0"/>
              <a:t>have identical costs, and</a:t>
            </a:r>
          </a:p>
          <a:p>
            <a:pPr lvl="1"/>
            <a:r>
              <a:rPr lang="en-US" altLang="en-US" dirty="0" smtClean="0"/>
              <a:t>And costs </a:t>
            </a:r>
            <a:r>
              <a:rPr lang="en-US" altLang="en-US" dirty="0"/>
              <a:t>do not change as other firms enter or exit the market</a:t>
            </a:r>
          </a:p>
          <a:p>
            <a:r>
              <a:rPr lang="en-US" altLang="en-US" dirty="0" smtClean="0"/>
              <a:t>Long-run supply curve might slope upward if:</a:t>
            </a:r>
          </a:p>
          <a:p>
            <a:pPr lvl="1"/>
            <a:r>
              <a:rPr lang="en-US" altLang="en-US" dirty="0" smtClean="0"/>
              <a:t>Firms have different costs</a:t>
            </a:r>
          </a:p>
          <a:p>
            <a:pPr lvl="1"/>
            <a:r>
              <a:rPr lang="en-US" altLang="en-US" dirty="0" smtClean="0"/>
              <a:t>Or costs rise as firms enter the market</a:t>
            </a:r>
          </a:p>
        </p:txBody>
      </p:sp>
      <p:sp>
        <p:nvSpPr>
          <p:cNvPr id="419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fld id="{FBFA167D-BEC2-4C01-8F38-9FDB22951DE0}" type="slidenum">
              <a:rPr lang="en-US" altLang="en-US" sz="1200">
                <a:solidFill>
                  <a:srgbClr val="002060"/>
                </a:solidFill>
              </a:rPr>
              <a:pPr defTabSz="914400" eaLnBrk="1" hangingPunct="1"/>
              <a:t>22</a:t>
            </a:fld>
            <a:endParaRPr lang="en-US" altLang="en-US" sz="1200">
              <a:solidFill>
                <a:srgbClr val="002060"/>
              </a:solidFill>
            </a:endParaRPr>
          </a:p>
        </p:txBody>
      </p:sp>
      <p:sp>
        <p:nvSpPr>
          <p:cNvPr id="419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defTabSz="914400"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9194152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Long-Run Supply Curve</a:t>
            </a:r>
            <a:endParaRPr lang="en-US" dirty="0"/>
          </a:p>
        </p:txBody>
      </p:sp>
      <p:sp>
        <p:nvSpPr>
          <p:cNvPr id="3" name="Content Placeholder 2"/>
          <p:cNvSpPr>
            <a:spLocks noGrp="1"/>
          </p:cNvSpPr>
          <p:nvPr>
            <p:ph idx="1"/>
          </p:nvPr>
        </p:nvSpPr>
        <p:spPr/>
        <p:txBody>
          <a:bodyPr/>
          <a:lstStyle/>
          <a:p>
            <a:r>
              <a:rPr lang="en-US" dirty="0" smtClean="0"/>
              <a:t>Costs rise as firms enter the market</a:t>
            </a:r>
          </a:p>
          <a:p>
            <a:pPr lvl="1"/>
            <a:r>
              <a:rPr lang="en-US" sz="3000" dirty="0"/>
              <a:t>In some industries, the supply of a key input is limited (e.g., amount of land suitable for farming is fixed).</a:t>
            </a:r>
          </a:p>
          <a:p>
            <a:pPr lvl="1"/>
            <a:r>
              <a:rPr lang="en-US" sz="3000" dirty="0"/>
              <a:t>The entry of new firms increases demand for this input, causing its price to rise.  </a:t>
            </a:r>
          </a:p>
          <a:p>
            <a:pPr lvl="1"/>
            <a:r>
              <a:rPr lang="en-US" sz="3000" dirty="0"/>
              <a:t>This increases all firms’ costs.  </a:t>
            </a:r>
          </a:p>
          <a:p>
            <a:pPr lvl="1"/>
            <a:r>
              <a:rPr lang="en-US" sz="3000" dirty="0"/>
              <a:t>Hence, an increase in P is required to increase the market quantity supplied, so </a:t>
            </a:r>
            <a:r>
              <a:rPr lang="en-US" sz="3000" u="sng" dirty="0"/>
              <a:t>the supply curve is upward-sloping</a:t>
            </a:r>
            <a:r>
              <a:rPr lang="en-US" sz="3000" dirty="0"/>
              <a:t>. </a:t>
            </a:r>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23</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151513976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Efficiency of a Competitive Market</a:t>
            </a:r>
          </a:p>
        </p:txBody>
      </p:sp>
      <p:sp>
        <p:nvSpPr>
          <p:cNvPr id="3" name="Content Placeholder 2"/>
          <p:cNvSpPr>
            <a:spLocks noGrp="1"/>
          </p:cNvSpPr>
          <p:nvPr>
            <p:ph idx="1"/>
          </p:nvPr>
        </p:nvSpPr>
        <p:spPr/>
        <p:txBody>
          <a:bodyPr/>
          <a:lstStyle/>
          <a:p>
            <a:r>
              <a:rPr lang="en-US" dirty="0"/>
              <a:t>Profit-maximization</a:t>
            </a:r>
            <a:r>
              <a:rPr lang="en-US" dirty="0" smtClean="0"/>
              <a:t>: Q where </a:t>
            </a:r>
            <a:r>
              <a:rPr lang="en-US" dirty="0" smtClean="0">
                <a:solidFill>
                  <a:srgbClr val="FF0000"/>
                </a:solidFill>
              </a:rPr>
              <a:t>MC </a:t>
            </a:r>
            <a:r>
              <a:rPr lang="en-US" dirty="0">
                <a:solidFill>
                  <a:srgbClr val="FF0000"/>
                </a:solidFill>
              </a:rPr>
              <a:t>= MR</a:t>
            </a:r>
          </a:p>
          <a:p>
            <a:pPr lvl="1"/>
            <a:r>
              <a:rPr lang="en-US" dirty="0"/>
              <a:t>Perfect competition</a:t>
            </a:r>
            <a:r>
              <a:rPr lang="en-US" dirty="0" smtClean="0"/>
              <a:t>: P </a:t>
            </a:r>
            <a:r>
              <a:rPr lang="en-US" dirty="0"/>
              <a:t>= MR</a:t>
            </a:r>
          </a:p>
          <a:p>
            <a:pPr lvl="1"/>
            <a:r>
              <a:rPr lang="en-US" dirty="0"/>
              <a:t>So, in the competitive </a:t>
            </a:r>
            <a:r>
              <a:rPr lang="en-US" dirty="0" smtClean="0"/>
              <a:t>equilibrium:  </a:t>
            </a:r>
            <a:r>
              <a:rPr lang="en-US" dirty="0"/>
              <a:t>P = MC</a:t>
            </a:r>
          </a:p>
          <a:p>
            <a:r>
              <a:rPr lang="en-US" dirty="0" smtClean="0"/>
              <a:t>The </a:t>
            </a:r>
            <a:r>
              <a:rPr lang="en-US" dirty="0"/>
              <a:t>competitive </a:t>
            </a:r>
            <a:r>
              <a:rPr lang="en-US" dirty="0" smtClean="0"/>
              <a:t>equilibrium </a:t>
            </a:r>
            <a:r>
              <a:rPr lang="en-US" dirty="0"/>
              <a:t>is </a:t>
            </a:r>
            <a:r>
              <a:rPr lang="en-US" dirty="0" smtClean="0"/>
              <a:t>efficient</a:t>
            </a:r>
          </a:p>
          <a:p>
            <a:pPr lvl="1"/>
            <a:r>
              <a:rPr lang="en-US" dirty="0" smtClean="0"/>
              <a:t>Maximizes </a:t>
            </a:r>
            <a:r>
              <a:rPr lang="en-US" dirty="0"/>
              <a:t>total surplus </a:t>
            </a:r>
            <a:r>
              <a:rPr lang="en-US" dirty="0" smtClean="0"/>
              <a:t>because P = MC</a:t>
            </a:r>
          </a:p>
          <a:p>
            <a:pPr lvl="2"/>
            <a:r>
              <a:rPr lang="en-US" dirty="0" smtClean="0"/>
              <a:t>MC </a:t>
            </a:r>
            <a:r>
              <a:rPr lang="en-US" dirty="0"/>
              <a:t>is </a:t>
            </a:r>
            <a:r>
              <a:rPr lang="en-US" dirty="0" smtClean="0"/>
              <a:t>the cost </a:t>
            </a:r>
            <a:r>
              <a:rPr lang="en-US" dirty="0"/>
              <a:t>of producing the marginal </a:t>
            </a:r>
            <a:r>
              <a:rPr lang="en-US" dirty="0" smtClean="0"/>
              <a:t>unit </a:t>
            </a:r>
            <a:endParaRPr lang="en-US" dirty="0"/>
          </a:p>
          <a:p>
            <a:pPr lvl="2"/>
            <a:r>
              <a:rPr lang="en-US" dirty="0" smtClean="0"/>
              <a:t>P is </a:t>
            </a:r>
            <a:r>
              <a:rPr lang="en-US" dirty="0"/>
              <a:t>value to buyers of the marginal </a:t>
            </a:r>
            <a:r>
              <a:rPr lang="en-US" dirty="0" smtClean="0"/>
              <a:t>unit</a:t>
            </a:r>
            <a:endParaRPr lang="en-US" dirty="0"/>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24</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855140258"/>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000" dirty="0"/>
              <a:t>A competitive firm is a price taker</a:t>
            </a:r>
          </a:p>
          <a:p>
            <a:pPr lvl="1"/>
            <a:r>
              <a:rPr lang="en-US" sz="2800" dirty="0"/>
              <a:t>Its revenue is proportional to the amount of output it produces.</a:t>
            </a:r>
          </a:p>
          <a:p>
            <a:pPr lvl="1"/>
            <a:r>
              <a:rPr lang="en-US" sz="2800" dirty="0"/>
              <a:t>P = MR = AR</a:t>
            </a:r>
          </a:p>
          <a:p>
            <a:pPr lvl="1"/>
            <a:r>
              <a:rPr lang="en-US" sz="2800" dirty="0"/>
              <a:t>The firm’s marginal-cost curve is its supply curve</a:t>
            </a:r>
          </a:p>
          <a:p>
            <a:r>
              <a:rPr lang="en-US" sz="3000" dirty="0"/>
              <a:t>Short run: a firm cannot recover its FC</a:t>
            </a:r>
          </a:p>
          <a:p>
            <a:pPr lvl="1"/>
            <a:r>
              <a:rPr lang="en-US" sz="2800" dirty="0"/>
              <a:t>Shut down temporarily if P &lt; AVC</a:t>
            </a:r>
          </a:p>
          <a:p>
            <a:r>
              <a:rPr lang="en-US" sz="3000" dirty="0"/>
              <a:t>Long run: the firm can recover both FC and VC</a:t>
            </a:r>
          </a:p>
          <a:p>
            <a:pPr lvl="1"/>
            <a:r>
              <a:rPr lang="en-US" sz="2800" dirty="0"/>
              <a:t>Exit if P &lt; ATC</a:t>
            </a:r>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25</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2183589405"/>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a:xfrm>
            <a:off x="1816912" y="1054100"/>
            <a:ext cx="8698688" cy="5422900"/>
          </a:xfrm>
        </p:spPr>
        <p:txBody>
          <a:bodyPr/>
          <a:lstStyle/>
          <a:p>
            <a:r>
              <a:rPr lang="en-US" sz="3000" dirty="0"/>
              <a:t>In a market with free entry and exit, profit is driven to zero in the long run. </a:t>
            </a:r>
          </a:p>
          <a:p>
            <a:pPr lvl="1"/>
            <a:r>
              <a:rPr lang="en-US" sz="2800" dirty="0"/>
              <a:t>All firms produce at efficient scale, P = min ATC</a:t>
            </a:r>
          </a:p>
          <a:p>
            <a:pPr lvl="1"/>
            <a:r>
              <a:rPr lang="en-US" sz="2800" dirty="0"/>
              <a:t>The number of firms adjusts to satisfy the quantity demanded at this price.</a:t>
            </a:r>
          </a:p>
          <a:p>
            <a:r>
              <a:rPr lang="en-US" sz="3000" dirty="0"/>
              <a:t>Changes in demand have different effects over different time horizons. </a:t>
            </a:r>
          </a:p>
          <a:p>
            <a:pPr lvl="1"/>
            <a:r>
              <a:rPr lang="en-US" sz="2800" dirty="0"/>
              <a:t>Short run, an increase in demand raises prices and leads to profits (a decrease in demand lowers prices and leads to losses). </a:t>
            </a:r>
          </a:p>
          <a:p>
            <a:pPr lvl="1"/>
            <a:r>
              <a:rPr lang="en-US" sz="2800" dirty="0"/>
              <a:t>Long run: zero-profit equilibrium</a:t>
            </a:r>
            <a:endParaRPr lang="en-US" sz="2600" dirty="0"/>
          </a:p>
        </p:txBody>
      </p:sp>
      <p:sp>
        <p:nvSpPr>
          <p:cNvPr id="4" name="Slide Number Placeholder 3"/>
          <p:cNvSpPr>
            <a:spLocks noGrp="1"/>
          </p:cNvSpPr>
          <p:nvPr>
            <p:ph type="sldNum" sz="quarter" idx="10"/>
          </p:nvPr>
        </p:nvSpPr>
        <p:spPr/>
        <p:txBody>
          <a:bodyPr/>
          <a:lstStyle/>
          <a:p>
            <a:pPr defTabSz="914400">
              <a:defRPr/>
            </a:pPr>
            <a:fld id="{073C29DC-2178-4274-9150-45F8EBD31C2D}" type="slidenum">
              <a:rPr lang="en-US">
                <a:latin typeface="Arial"/>
              </a:rPr>
              <a:pPr defTabSz="914400">
                <a:defRPr/>
              </a:pPr>
              <a:t>26</a:t>
            </a:fld>
            <a:endParaRPr lang="en-US">
              <a:latin typeface="Arial"/>
            </a:endParaRPr>
          </a:p>
        </p:txBody>
      </p:sp>
      <p:sp>
        <p:nvSpPr>
          <p:cNvPr id="5" name="Footer Placeholder 4"/>
          <p:cNvSpPr>
            <a:spLocks noGrp="1"/>
          </p:cNvSpPr>
          <p:nvPr>
            <p:ph type="ftr" sz="quarter" idx="11"/>
          </p:nvPr>
        </p:nvSpPr>
        <p:spPr/>
        <p:txBody>
          <a:bodyPr/>
          <a:lstStyle/>
          <a:p>
            <a:pPr defTabSz="914400">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spTree>
    <p:extLst>
      <p:ext uri="{BB962C8B-B14F-4D97-AF65-F5344CB8AC3E}">
        <p14:creationId xmlns:p14="http://schemas.microsoft.com/office/powerpoint/2010/main" val="248553106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54F6613E-5ED7-40ED-90A8-F639BE712C0E}"/>
    </a:ext>
  </a:ext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_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_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_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453</TotalTime>
  <Words>3413</Words>
  <Application>Microsoft Office PowerPoint</Application>
  <PresentationFormat>Custom</PresentationFormat>
  <Paragraphs>380</Paragraphs>
  <Slides>26</Slides>
  <Notes>25</Notes>
  <HiddenSlides>0</HiddenSlides>
  <MMClips>0</MMClips>
  <ScaleCrop>false</ScaleCrop>
  <HeadingPairs>
    <vt:vector size="4" baseType="variant">
      <vt:variant>
        <vt:lpstr>Theme</vt:lpstr>
      </vt:variant>
      <vt:variant>
        <vt:i4>11</vt:i4>
      </vt:variant>
      <vt:variant>
        <vt:lpstr>Slide Titles</vt:lpstr>
      </vt:variant>
      <vt:variant>
        <vt:i4>26</vt:i4>
      </vt:variant>
    </vt:vector>
  </HeadingPairs>
  <TitlesOfParts>
    <vt:vector size="37" baseType="lpstr">
      <vt:lpstr>Wisp</vt:lpstr>
      <vt:lpstr>Intro / Summary</vt:lpstr>
      <vt:lpstr>ActiveLearning</vt:lpstr>
      <vt:lpstr>Chapter content</vt:lpstr>
      <vt:lpstr>1_ActiveLearning</vt:lpstr>
      <vt:lpstr>1_Chapter content</vt:lpstr>
      <vt:lpstr>Figure</vt:lpstr>
      <vt:lpstr>2_ActiveLearning</vt:lpstr>
      <vt:lpstr>2_Chapter content</vt:lpstr>
      <vt:lpstr>1_Figure</vt:lpstr>
      <vt:lpstr>1_Intro / Summary</vt:lpstr>
      <vt:lpstr>Firms in Competitive Markets</vt:lpstr>
      <vt:lpstr>What is a Competitive Market?</vt:lpstr>
      <vt:lpstr>Revenue of a Competitive Firm</vt:lpstr>
      <vt:lpstr>Active Learning 1   Answers</vt:lpstr>
      <vt:lpstr>MR = P  for a Competitive Firm</vt:lpstr>
      <vt:lpstr>Profit Maximization</vt:lpstr>
      <vt:lpstr>MC and the Firm’s Supply Decision</vt:lpstr>
      <vt:lpstr>MC and the Firm’s Supply Decision</vt:lpstr>
      <vt:lpstr>Shutdown vs. Exit</vt:lpstr>
      <vt:lpstr>Short-run Decision to Shut Down</vt:lpstr>
      <vt:lpstr>A Competitive Firm’s SR Supply Curve</vt:lpstr>
      <vt:lpstr>The Irrelevance of Sunk Costs</vt:lpstr>
      <vt:lpstr>A Firm’s Long-Run Decision</vt:lpstr>
      <vt:lpstr>The Competitive Firm’s LR Supply Curve</vt:lpstr>
      <vt:lpstr>Active Learning 2  Answers</vt:lpstr>
      <vt:lpstr>Active Learning 3  Answers</vt:lpstr>
      <vt:lpstr>Market Supply:  Assumptions</vt:lpstr>
      <vt:lpstr>The SR Market Supply Curve</vt:lpstr>
      <vt:lpstr>Entry &amp; Exit in the Long Run</vt:lpstr>
      <vt:lpstr>The Zero-Profit Condition</vt:lpstr>
      <vt:lpstr>The LR Market Supply Curve</vt:lpstr>
      <vt:lpstr>Long-Run Supply Curve</vt:lpstr>
      <vt:lpstr>Long-Run Supply Curve</vt:lpstr>
      <vt:lpstr>Efficiency of a Competitive Market</vt:lpstr>
      <vt:lpstr>Summary </vt:lpstr>
      <vt:lpstr>Summary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Firms in Competitive Markets</dc:title>
  <dc:creator>Chandra Tabassum</dc:creator>
  <cp:lastModifiedBy>Dr. Mohammad Akhtaruzzaman</cp:lastModifiedBy>
  <cp:revision>8</cp:revision>
  <dcterms:created xsi:type="dcterms:W3CDTF">2020-09-08T17:35:09Z</dcterms:created>
  <dcterms:modified xsi:type="dcterms:W3CDTF">2025-10-09T07:09:44Z</dcterms:modified>
</cp:coreProperties>
</file>