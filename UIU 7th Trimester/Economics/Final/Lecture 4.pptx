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 id="259" r:id="rId7"/>
    <p:sldId id="260" r:id="rId8"/>
    <p:sldId id="265" r:id="rId9"/>
    <p:sldId id="261" r:id="rId10"/>
    <p:sldId id="262" r:id="rId11"/>
    <p:sldId id="263" r:id="rId12"/>
    <p:sldId id="264" r:id="rId13"/>
    <p:sldId id="266" r:id="rId14"/>
  </p:sldIdLst>
  <p:sldSz cx="9144000" cy="6858000" type="screen4x3"/>
  <p:notesSz cx="6858000" cy="994537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728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97284"/>
          </a:xfrm>
          <a:prstGeom prst="rect">
            <a:avLst/>
          </a:prstGeom>
        </p:spPr>
        <p:txBody>
          <a:bodyPr vert="horz" lIns="91440" tIns="45720" rIns="91440" bIns="45720" rtlCol="0"/>
          <a:lstStyle>
            <a:lvl1pPr algn="r">
              <a:defRPr sz="1200"/>
            </a:lvl1pPr>
          </a:lstStyle>
          <a:p>
            <a:fld id="{F1E91D6E-9D63-4F8A-A2ED-680E61BF50DE}" type="datetimeFigureOut">
              <a:rPr lang="en-US" smtClean="0"/>
            </a:fld>
            <a:endParaRPr lang="en-US"/>
          </a:p>
        </p:txBody>
      </p:sp>
      <p:sp>
        <p:nvSpPr>
          <p:cNvPr id="4" name="Slide Image Placeholder 3"/>
          <p:cNvSpPr>
            <a:spLocks noGrp="1" noRot="1" noChangeAspect="1"/>
          </p:cNvSpPr>
          <p:nvPr>
            <p:ph type="sldImg" idx="2"/>
          </p:nvPr>
        </p:nvSpPr>
        <p:spPr>
          <a:xfrm>
            <a:off x="942975" y="746125"/>
            <a:ext cx="4972050" cy="372903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724202"/>
            <a:ext cx="5486400" cy="447556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446678"/>
            <a:ext cx="2971800" cy="49728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9446678"/>
            <a:ext cx="2971800" cy="497284"/>
          </a:xfrm>
          <a:prstGeom prst="rect">
            <a:avLst/>
          </a:prstGeom>
        </p:spPr>
        <p:txBody>
          <a:bodyPr vert="horz" lIns="91440" tIns="45720" rIns="91440" bIns="45720" rtlCol="0" anchor="b"/>
          <a:lstStyle>
            <a:lvl1pPr algn="r">
              <a:defRPr sz="1200"/>
            </a:lvl1pPr>
          </a:lstStyle>
          <a:p>
            <a:fld id="{D9E4264D-137C-4BA8-9B85-28CF0267BD1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E4264D-137C-4BA8-9B85-28CF0267BD1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38200" y="762000"/>
            <a:ext cx="7543800" cy="4653915"/>
          </a:xfrm>
          <a:prstGeom prst="rect">
            <a:avLst/>
          </a:prstGeom>
        </p:spPr>
        <p:txBody>
          <a:bodyPr wrap="square">
            <a:spAutoFit/>
          </a:bodyPr>
          <a:lstStyle/>
          <a:p>
            <a:pPr algn="ctr"/>
            <a:r>
              <a:rPr lang="en-US" sz="3600" b="1" dirty="0" smtClean="0"/>
              <a:t>Macroeconomics</a:t>
            </a:r>
            <a:br>
              <a:rPr lang="en-US" sz="3600" b="1" dirty="0" smtClean="0"/>
            </a:br>
            <a:r>
              <a:rPr lang="en-US" sz="2800" b="1" dirty="0" smtClean="0"/>
              <a:t>ECN 2214</a:t>
            </a:r>
            <a:br>
              <a:rPr lang="en-US" sz="2800" b="1" dirty="0" smtClean="0"/>
            </a:br>
            <a:br>
              <a:rPr lang="en-US" sz="3600" b="1" dirty="0" smtClean="0"/>
            </a:br>
            <a:r>
              <a:rPr lang="en-US" sz="3200" b="1" dirty="0" smtClean="0"/>
              <a:t>Lecture 4</a:t>
            </a:r>
            <a:br>
              <a:rPr lang="en-US" sz="3200" b="1" dirty="0" smtClean="0"/>
            </a:br>
            <a:br>
              <a:rPr lang="en-US" sz="3200" b="1" dirty="0" smtClean="0"/>
            </a:br>
            <a:r>
              <a:rPr lang="en-US" sz="3200" b="1" dirty="0" smtClean="0"/>
              <a:t>Savings, Investment and Financial System</a:t>
            </a:r>
            <a:endParaRPr lang="en-US" sz="3200" b="1" dirty="0" smtClean="0"/>
          </a:p>
          <a:p>
            <a:pPr algn="ctr"/>
            <a:br>
              <a:rPr lang="en-US" sz="3200" b="1" dirty="0" smtClean="0"/>
            </a:br>
            <a:r>
              <a:rPr lang="en-US" sz="2000" b="1" dirty="0" smtClean="0">
                <a:solidFill>
                  <a:srgbClr val="C00000"/>
                </a:solidFill>
              </a:rPr>
              <a:t>Musharrat Shabnam Shuchi</a:t>
            </a:r>
            <a:br>
              <a:rPr lang="en-US" sz="2000" dirty="0" smtClean="0"/>
            </a:br>
            <a:r>
              <a:rPr lang="en-US" sz="2000" dirty="0" smtClean="0"/>
              <a:t>Lecturer, Dept. of Economics, UIU</a:t>
            </a:r>
            <a:br>
              <a:rPr lang="en-US" sz="2000" dirty="0" smtClean="0"/>
            </a:br>
            <a:br>
              <a:rPr lang="en-US" sz="1050" dirty="0" smtClean="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609600"/>
            <a:ext cx="7467600" cy="6309420"/>
          </a:xfrm>
          <a:prstGeom prst="rect">
            <a:avLst/>
          </a:prstGeom>
          <a:noFill/>
        </p:spPr>
        <p:txBody>
          <a:bodyPr wrap="square" rtlCol="0">
            <a:spAutoFit/>
          </a:bodyPr>
          <a:lstStyle/>
          <a:p>
            <a:pPr algn="just">
              <a:buFont typeface="Wingdings" panose="05000000000000000000" pitchFamily="2" charset="2"/>
              <a:buChar char="§"/>
            </a:pPr>
            <a:r>
              <a:rPr lang="en-US" dirty="0" smtClean="0"/>
              <a:t>   </a:t>
            </a:r>
            <a:r>
              <a:rPr lang="en-US" sz="2400" b="1" dirty="0" smtClean="0">
                <a:latin typeface="Cambria" panose="02040503050406030204" pitchFamily="18" charset="0"/>
                <a:cs typeface="Times New Roman" panose="02020603050405020304" pitchFamily="18" charset="0"/>
              </a:rPr>
              <a:t>Financial System</a:t>
            </a:r>
            <a:endParaRPr lang="en-US" sz="2000" b="1" dirty="0" smtClean="0">
              <a:latin typeface="Cambria" panose="020405030504060302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group of institutions in the economy that help to match one person’s saving with another person’s investment. The financial system is made up of various financial institutions that help coordinate savers and borrowers. </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Financial institutions can be grouped into two categories: </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Financial Markets</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Financial Intermediaries</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b="1" u="sng" dirty="0" smtClean="0">
                <a:latin typeface="Times New Roman" panose="02020603050405020304" pitchFamily="18" charset="0"/>
                <a:cs typeface="Times New Roman" panose="02020603050405020304" pitchFamily="18" charset="0"/>
              </a:rPr>
              <a:t>Financial Markets:</a:t>
            </a:r>
            <a:endParaRPr lang="en-US" sz="2000" b="1" u="sng"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Financial markets are the institutions through which a person who wants to save can directly supply funds to a person who wants to borrow. The two most important financial markets in our economy are:  </a:t>
            </a:r>
            <a:r>
              <a:rPr lang="en-US" sz="2000" b="1" dirty="0" smtClean="0">
                <a:latin typeface="Times New Roman" panose="02020603050405020304" pitchFamily="18" charset="0"/>
                <a:cs typeface="Times New Roman" panose="02020603050405020304" pitchFamily="18" charset="0"/>
              </a:rPr>
              <a:t>bond market </a:t>
            </a:r>
            <a:r>
              <a:rPr lang="en-US" sz="2000" dirty="0" smtClean="0">
                <a:latin typeface="Times New Roman" panose="02020603050405020304" pitchFamily="18" charset="0"/>
                <a:cs typeface="Times New Roman" panose="02020603050405020304" pitchFamily="18" charset="0"/>
              </a:rPr>
              <a:t>and </a:t>
            </a:r>
            <a:endParaRPr lang="en-US" sz="2000" dirty="0" smtClean="0">
              <a:latin typeface="Times New Roman" panose="02020603050405020304" pitchFamily="18" charset="0"/>
              <a:cs typeface="Times New Roman" panose="02020603050405020304" pitchFamily="18" charset="0"/>
            </a:endParaRPr>
          </a:p>
          <a:p>
            <a:pPr algn="just"/>
            <a:r>
              <a:rPr lang="en-US" sz="2000" b="1" dirty="0" smtClean="0">
                <a:latin typeface="Times New Roman" panose="02020603050405020304" pitchFamily="18" charset="0"/>
                <a:cs typeface="Times New Roman" panose="02020603050405020304" pitchFamily="18" charset="0"/>
              </a:rPr>
              <a:t>stock market.</a:t>
            </a:r>
            <a:endParaRPr lang="en-US" sz="2000" b="1" dirty="0" smtClean="0">
              <a:latin typeface="Times New Roman" panose="02020603050405020304" pitchFamily="18" charset="0"/>
              <a:cs typeface="Times New Roman" panose="02020603050405020304" pitchFamily="18" charset="0"/>
            </a:endParaRPr>
          </a:p>
          <a:p>
            <a:pPr algn="just"/>
            <a:endParaRPr lang="en-US" sz="2000" b="1"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457200"/>
            <a:ext cx="8458200" cy="5323205"/>
          </a:xfrm>
          <a:prstGeom prst="rect">
            <a:avLst/>
          </a:prstGeom>
          <a:noFill/>
        </p:spPr>
        <p:txBody>
          <a:bodyPr wrap="square" rtlCol="0">
            <a:spAutoFit/>
          </a:bodyPr>
          <a:lstStyle/>
          <a:p>
            <a:r>
              <a:rPr lang="en-US" sz="2000" b="1" i="1" dirty="0" smtClean="0">
                <a:latin typeface="Times New Roman" panose="02020603050405020304" pitchFamily="18" charset="0"/>
                <a:cs typeface="Times New Roman" panose="02020603050405020304" pitchFamily="18" charset="0"/>
              </a:rPr>
              <a:t>Bond Market:</a:t>
            </a:r>
            <a:endParaRPr lang="en-US" sz="2000" b="1" i="1"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 bond is a certificate of indebtedness that specifies the obligations of the borrower to the holder of the bond.</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Put simply, a bond is an IOU. It identifies:</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1. the time at which the loan will be repaid, called the date of maturity</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2. the rate of interest that will be paid periodically until the loan  matures.</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i="1" dirty="0" smtClean="0">
                <a:latin typeface="Times New Roman" panose="02020603050405020304" pitchFamily="18" charset="0"/>
                <a:cs typeface="Times New Roman" panose="02020603050405020304" pitchFamily="18" charset="0"/>
              </a:rPr>
              <a:t>Characteristics of Bond:</a:t>
            </a:r>
            <a:endParaRPr lang="en-US" sz="2000" i="1"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000" i="1" dirty="0" smtClean="0">
                <a:latin typeface="Times New Roman" panose="02020603050405020304" pitchFamily="18" charset="0"/>
                <a:cs typeface="Times New Roman" panose="02020603050405020304" pitchFamily="18" charset="0"/>
              </a:rPr>
              <a:t>Term</a:t>
            </a:r>
            <a:r>
              <a:rPr lang="en-US" sz="2000" dirty="0" smtClean="0">
                <a:latin typeface="Times New Roman" panose="02020603050405020304" pitchFamily="18" charset="0"/>
                <a:cs typeface="Times New Roman" panose="02020603050405020304" pitchFamily="18" charset="0"/>
              </a:rPr>
              <a:t>: the length of time until the bond matures. Some bonds have short terms, such as a few months, while others have terms as long as thirty years.</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interest rate on a bond depends, on its term. Long-term bonds are riskier than short-term bonds because holders of long-term bonds have to wait longer for repayment of principal. </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33400"/>
            <a:ext cx="7620000" cy="1785104"/>
          </a:xfrm>
          <a:prstGeom prst="rect">
            <a:avLst/>
          </a:prstGeom>
          <a:noFill/>
        </p:spPr>
        <p:txBody>
          <a:bodyPr wrap="square" rtlCol="0">
            <a:spAutoFit/>
          </a:bodyPr>
          <a:lstStyle/>
          <a:p>
            <a:endParaRPr lang="en-US" dirty="0" smtClean="0">
              <a:solidFill>
                <a:srgbClr val="FF0000"/>
              </a:solidFill>
              <a:latin typeface="Times New Roman" panose="02020603050405020304" pitchFamily="18" charset="0"/>
              <a:cs typeface="Times New Roman" panose="02020603050405020304" pitchFamily="18" charset="0"/>
            </a:endParaRPr>
          </a:p>
          <a:p>
            <a:endParaRPr lang="en-US" sz="2800" b="1" dirty="0" smtClean="0"/>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400" dirty="0"/>
          </a:p>
        </p:txBody>
      </p:sp>
      <p:sp>
        <p:nvSpPr>
          <p:cNvPr id="3" name="TextBox 2"/>
          <p:cNvSpPr txBox="1"/>
          <p:nvPr/>
        </p:nvSpPr>
        <p:spPr>
          <a:xfrm>
            <a:off x="609600" y="609600"/>
            <a:ext cx="8229600" cy="5940088"/>
          </a:xfrm>
          <a:prstGeom prst="rect">
            <a:avLst/>
          </a:prstGeom>
          <a:noFill/>
        </p:spPr>
        <p:txBody>
          <a:bodyPr wrap="square" rtlCol="0">
            <a:spAutoFit/>
          </a:bodyPr>
          <a:lstStyle/>
          <a:p>
            <a:pPr algn="just"/>
            <a:r>
              <a:rPr lang="en-US" sz="2000" dirty="0" smtClean="0">
                <a:latin typeface="Times New Roman" panose="02020603050405020304" pitchFamily="18" charset="0"/>
                <a:cs typeface="Times New Roman" panose="02020603050405020304" pitchFamily="18" charset="0"/>
              </a:rPr>
              <a:t>If a holder of a long-term bond needs his money earlier than the distant date of maturity, he has no choice but to sell the bond to someone else, perhaps at a reduced price. To compensate for this risk, long-term bonds usually pay higher interest rates than short-term bonds.</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000" i="1" dirty="0" smtClean="0">
                <a:latin typeface="Times New Roman" panose="02020603050405020304" pitchFamily="18" charset="0"/>
                <a:cs typeface="Times New Roman" panose="02020603050405020304" pitchFamily="18" charset="0"/>
              </a:rPr>
              <a:t>Credit Risk</a:t>
            </a:r>
            <a:r>
              <a:rPr lang="en-US" sz="2000" dirty="0" smtClean="0">
                <a:latin typeface="Times New Roman" panose="02020603050405020304" pitchFamily="18" charset="0"/>
                <a:cs typeface="Times New Roman" panose="02020603050405020304" pitchFamily="18" charset="0"/>
              </a:rPr>
              <a:t>: The probability that the borrower will fail to pay some of the interest or principal. Such a failure to pay is called a default. Borrowers can (and sometimes do) default on their loans by declaring bankruptcy. When bond buyers perceive that the probability of default is high, they demand a higher interest rate to compensate them for this risk. </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i="1" dirty="0" smtClean="0">
                <a:latin typeface="Times New Roman" panose="02020603050405020304" pitchFamily="18" charset="0"/>
                <a:cs typeface="Times New Roman" panose="02020603050405020304" pitchFamily="18" charset="0"/>
              </a:rPr>
              <a:t> Tax Treatment</a:t>
            </a:r>
            <a:r>
              <a:rPr lang="en-US" sz="2000" dirty="0" smtClean="0">
                <a:latin typeface="Times New Roman" panose="02020603050405020304" pitchFamily="18" charset="0"/>
                <a:cs typeface="Times New Roman" panose="02020603050405020304" pitchFamily="18" charset="0"/>
              </a:rPr>
              <a:t>:  the way the tax laws treat the interest earned on the bond. The interest on most bonds is taxable income; that is, the bond owner has to pay a portion of the interest in income taxes. By contrast, when state and local governments issue bonds, called municipal bonds, the bond owners are not required to pay federal income tax on the interest income. Because of this tax advantage, bonds issued by state and local governments typically pay a lower interest rate than bonds issued by corporations or the federal government.</a:t>
            </a:r>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81000"/>
            <a:ext cx="8382000" cy="5940088"/>
          </a:xfrm>
          <a:prstGeom prst="rect">
            <a:avLst/>
          </a:prstGeom>
          <a:noFill/>
        </p:spPr>
        <p:txBody>
          <a:bodyPr wrap="square" rtlCol="0">
            <a:spAutoFit/>
          </a:bodyPr>
          <a:lstStyle/>
          <a:p>
            <a:r>
              <a:rPr lang="en-US" sz="2000" b="1" i="1" dirty="0" smtClean="0">
                <a:latin typeface="Times New Roman" panose="02020603050405020304" pitchFamily="18" charset="0"/>
                <a:cs typeface="Times New Roman" panose="02020603050405020304" pitchFamily="18" charset="0"/>
              </a:rPr>
              <a:t> Stock Market</a:t>
            </a:r>
            <a:endParaRPr lang="en-US" sz="2000" b="1" i="1" dirty="0" smtClean="0">
              <a:latin typeface="Times New Roman" panose="02020603050405020304" pitchFamily="18" charset="0"/>
              <a:cs typeface="Times New Roman" panose="02020603050405020304" pitchFamily="18" charset="0"/>
            </a:endParaRPr>
          </a:p>
          <a:p>
            <a:endParaRPr lang="en-US" sz="2000" b="1" i="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Stock represents ownership in a firm and is, therefore, a claim to the profits that the firm makes.</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After a corporation issues stock by selling shares to the public, these shares trade among stockholders on organized stock exchanges. </a:t>
            </a:r>
            <a:endParaRPr lang="en-US" sz="2000" dirty="0" smtClean="0">
              <a:latin typeface="Times New Roman" panose="02020603050405020304" pitchFamily="18" charset="0"/>
              <a:cs typeface="Times New Roman" panose="02020603050405020304" pitchFamily="18" charset="0"/>
            </a:endParaRPr>
          </a:p>
          <a:p>
            <a:pPr algn="just"/>
            <a:endParaRPr lang="en-US" sz="2000" b="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The prices at which shares trade on stock exchanges are determined by the supply of and demand for the stock in these companies. </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Because stock represents ownership in a corporation, the demand for a stock (and thus its price) reflects people’s perception of the corporation’s future profitability.</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When people become optimistic about a company’s future, they raise their demand for its stock and thereby bid up the price of a share of stock. Conversely, when people come to expect a company to have little profit or even losses, the price of a share falls.</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838200"/>
            <a:ext cx="7924800" cy="5324535"/>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Difference Between Stock and Bond</a:t>
            </a:r>
            <a:endParaRPr lang="en-US" sz="2000" b="1" dirty="0" smtClean="0">
              <a:latin typeface="Times New Roman" panose="02020603050405020304" pitchFamily="18" charset="0"/>
              <a:cs typeface="Times New Roman" panose="02020603050405020304" pitchFamily="18" charset="0"/>
            </a:endParaRPr>
          </a:p>
          <a:p>
            <a:endParaRPr lang="en-US" sz="2000" b="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The sale of stock to raise money is called  </a:t>
            </a:r>
            <a:r>
              <a:rPr lang="en-US" sz="2000" b="1" dirty="0" smtClean="0">
                <a:latin typeface="Times New Roman" panose="02020603050405020304" pitchFamily="18" charset="0"/>
                <a:cs typeface="Times New Roman" panose="02020603050405020304" pitchFamily="18" charset="0"/>
              </a:rPr>
              <a:t>equity finance</a:t>
            </a:r>
            <a:r>
              <a:rPr lang="en-US" sz="2000" dirty="0" smtClean="0">
                <a:latin typeface="Times New Roman" panose="02020603050405020304" pitchFamily="18" charset="0"/>
                <a:cs typeface="Times New Roman" panose="02020603050405020304" pitchFamily="18" charset="0"/>
              </a:rPr>
              <a:t>, whereas the sale of bonds is called  </a:t>
            </a:r>
            <a:r>
              <a:rPr lang="en-US" sz="2000" b="1" dirty="0" smtClean="0">
                <a:latin typeface="Times New Roman" panose="02020603050405020304" pitchFamily="18" charset="0"/>
                <a:cs typeface="Times New Roman" panose="02020603050405020304" pitchFamily="18" charset="0"/>
              </a:rPr>
              <a:t>debt finance.</a:t>
            </a:r>
            <a:endParaRPr lang="en-US" sz="2000" b="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b="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The owner of shares of  stock is a part owner of the industry/corporation. while the owner of a bond is a creditor of the corporation. </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If an industry/corporation is very profitable, the stockholders enjoy the benefits of these profits. whereas the bondholders get only the interest on their bonds. </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And if the corporation runs into financial difficulty, the bondholders are paid what they are due before stockholders receive anything at all.</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Compared to bonds, stocks offer the holder both higher risk and potentially higher return.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33400"/>
            <a:ext cx="7696200" cy="1711238"/>
          </a:xfrm>
          <a:prstGeom prst="rect">
            <a:avLst/>
          </a:prstGeom>
          <a:noFill/>
        </p:spPr>
        <p:txBody>
          <a:bodyPr wrap="square" rtlCol="0">
            <a:spAutoFit/>
          </a:bodyPr>
          <a:lstStyle/>
          <a:p>
            <a:pPr marL="285750" indent="-285750">
              <a:lnSpc>
                <a:spcPct val="105000"/>
              </a:lnSpc>
              <a:spcBef>
                <a:spcPct val="35000"/>
              </a:spcBef>
              <a:buClr>
                <a:srgbClr val="339966"/>
              </a:buClr>
              <a:buSzPct val="120000"/>
            </a:pPr>
            <a:endParaRPr lang="en-US" sz="2000" dirty="0" smtClean="0">
              <a:latin typeface="Times New Roman" panose="02020603050405020304" pitchFamily="18" charset="0"/>
              <a:cs typeface="Times New Roman" panose="02020603050405020304" pitchFamily="18" charset="0"/>
            </a:endParaRPr>
          </a:p>
          <a:p>
            <a:endParaRPr lang="en-US" sz="2400" b="1" i="1" dirty="0" smtClean="0">
              <a:latin typeface="Times New Roman" panose="02020603050405020304" pitchFamily="18" charset="0"/>
              <a:cs typeface="Times New Roman" panose="02020603050405020304" pitchFamily="18" charset="0"/>
            </a:endParaRPr>
          </a:p>
          <a:p>
            <a:endParaRPr lang="en-US" sz="2800" b="1" dirty="0" smtClean="0"/>
          </a:p>
          <a:p>
            <a:endParaRPr lang="en-US" sz="2800" b="1" dirty="0"/>
          </a:p>
        </p:txBody>
      </p:sp>
      <p:sp>
        <p:nvSpPr>
          <p:cNvPr id="3" name="TextBox 2"/>
          <p:cNvSpPr txBox="1"/>
          <p:nvPr/>
        </p:nvSpPr>
        <p:spPr>
          <a:xfrm>
            <a:off x="533400" y="533400"/>
            <a:ext cx="8077200" cy="6555641"/>
          </a:xfrm>
          <a:prstGeom prst="rect">
            <a:avLst/>
          </a:prstGeom>
          <a:noFill/>
        </p:spPr>
        <p:txBody>
          <a:bodyPr wrap="square" rtlCol="0">
            <a:spAutoFit/>
          </a:bodyPr>
          <a:lstStyle/>
          <a:p>
            <a:pPr algn="just">
              <a:buFont typeface="Arial" panose="020B0604020202020204" pitchFamily="34" charset="0"/>
              <a:buChar char="•"/>
            </a:pPr>
            <a:r>
              <a:rPr lang="en-US" dirty="0" smtClean="0"/>
              <a:t> </a:t>
            </a:r>
            <a:r>
              <a:rPr lang="en-US" sz="2000" dirty="0" smtClean="0">
                <a:latin typeface="Times New Roman" panose="02020603050405020304" pitchFamily="18" charset="0"/>
                <a:cs typeface="Times New Roman" panose="02020603050405020304" pitchFamily="18" charset="0"/>
              </a:rPr>
              <a:t>Various stock indexes are available to monitor the overall level of stock prices. A  stock index is computed as an average of a group of stock prices.</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Because stock prices reflect expected profitability, these stock indexes are watched closely as possible indicators of future economic conditions. </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b="1" u="sng" dirty="0" smtClean="0">
                <a:latin typeface="Times New Roman" panose="02020603050405020304" pitchFamily="18" charset="0"/>
                <a:cs typeface="Times New Roman" panose="02020603050405020304" pitchFamily="18" charset="0"/>
              </a:rPr>
              <a:t>Financial Intermediaries</a:t>
            </a:r>
            <a:endParaRPr lang="en-US" sz="2000" b="1" u="sng"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Financial intermediaries are financial institutions through which savers can indirectly provide funds to borrowers. The term intermediary reflects the role of these institutions in standing between savers and borrowers.</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Two most important financial intermediaries: banks and mutual funds.</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b="1" i="1" dirty="0" smtClean="0">
                <a:latin typeface="Times New Roman" panose="02020603050405020304" pitchFamily="18" charset="0"/>
                <a:cs typeface="Times New Roman" panose="02020603050405020304" pitchFamily="18" charset="0"/>
              </a:rPr>
              <a:t>Banks:</a:t>
            </a:r>
            <a:endParaRPr lang="en-US" sz="2000" b="1" i="1" dirty="0" smtClean="0">
              <a:latin typeface="Times New Roman" panose="02020603050405020304" pitchFamily="18" charset="0"/>
              <a:cs typeface="Times New Roman" panose="02020603050405020304" pitchFamily="18" charset="0"/>
            </a:endParaRPr>
          </a:p>
          <a:p>
            <a:pPr algn="just"/>
            <a:endParaRPr lang="en-US" sz="2000" b="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Banks are the financial intermediaries with which people are most familiar.</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Primary job of banks is to take in deposits from people who want to save and use these deposits to make loans to people who want to borrow.  </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9200" y="1219200"/>
            <a:ext cx="7391400" cy="677108"/>
          </a:xfrm>
          <a:prstGeom prst="rect">
            <a:avLst/>
          </a:prstGeom>
          <a:noFill/>
        </p:spPr>
        <p:txBody>
          <a:bodyPr wrap="square" rtlCol="0">
            <a:spAutoFit/>
          </a:bodyPr>
          <a:lstStyle/>
          <a:p>
            <a:endParaRPr lang="en-US" sz="2000" dirty="0" smtClean="0">
              <a:latin typeface="Times New Roman" panose="02020603050405020304" pitchFamily="18" charset="0"/>
              <a:cs typeface="Times New Roman" panose="02020603050405020304" pitchFamily="18" charset="0"/>
            </a:endParaRPr>
          </a:p>
          <a:p>
            <a:endParaRPr lang="en-US" dirty="0"/>
          </a:p>
        </p:txBody>
      </p:sp>
      <p:sp>
        <p:nvSpPr>
          <p:cNvPr id="3" name="TextBox 2"/>
          <p:cNvSpPr txBox="1"/>
          <p:nvPr/>
        </p:nvSpPr>
        <p:spPr>
          <a:xfrm>
            <a:off x="533400" y="457200"/>
            <a:ext cx="8001000" cy="6247864"/>
          </a:xfrm>
          <a:prstGeom prst="rect">
            <a:avLst/>
          </a:prstGeom>
          <a:noFill/>
        </p:spPr>
        <p:txBody>
          <a:bodyPr wrap="square" rtlCol="0">
            <a:spAutoFit/>
          </a:bodyPr>
          <a:lstStyle/>
          <a:p>
            <a:pPr algn="just">
              <a:buFont typeface="Arial" panose="020B0604020202020204" pitchFamily="34" charset="0"/>
              <a:buChar char="•"/>
            </a:pPr>
            <a:r>
              <a:rPr lang="en-US" dirty="0" smtClean="0"/>
              <a:t> </a:t>
            </a:r>
            <a:r>
              <a:rPr lang="en-US" sz="2000" dirty="0" smtClean="0">
                <a:latin typeface="Times New Roman" panose="02020603050405020304" pitchFamily="18" charset="0"/>
                <a:cs typeface="Times New Roman" panose="02020603050405020304" pitchFamily="18" charset="0"/>
              </a:rPr>
              <a:t>Banks pay depositors interest on their deposits and charge borrowers slightly higher interest on their loans.</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The difference between these rates of interest covers the banks’ costs and returns some profit to the owners of the banks. </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They facilitate purchases of goods and services by allowing people to write checks against their deposits and to access those deposits with debit cards.</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In other words, banks help create a special asset that people can use as a medium of exchange.</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 bank’s role in providing a medium of exchange distinguishes it from many other financial institutions. </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r>
              <a:rPr lang="en-US" sz="2000" b="1" i="1" dirty="0" smtClean="0">
                <a:latin typeface="Times New Roman" panose="02020603050405020304" pitchFamily="18" charset="0"/>
                <a:cs typeface="Times New Roman" panose="02020603050405020304" pitchFamily="18" charset="0"/>
              </a:rPr>
              <a:t>Mutual Funds:</a:t>
            </a:r>
            <a:endParaRPr lang="en-US" sz="2000" b="1" i="1" dirty="0" smtClean="0">
              <a:latin typeface="Times New Roman" panose="02020603050405020304" pitchFamily="18" charset="0"/>
              <a:cs typeface="Times New Roman" panose="02020603050405020304" pitchFamily="18" charset="0"/>
            </a:endParaRPr>
          </a:p>
          <a:p>
            <a:pPr algn="just"/>
            <a:endParaRPr lang="en-US" sz="2000" b="1" i="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 mutual fund is an institution that sells shares to the public and uses the proceeds to buy a selection, or portfolio, of various types of stocks, bonds, or both stocks and bonds. </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990600"/>
            <a:ext cx="7772400" cy="4401205"/>
          </a:xfrm>
          <a:prstGeom prst="rect">
            <a:avLst/>
          </a:prstGeom>
          <a:noFill/>
        </p:spPr>
        <p:txBody>
          <a:bodyPr wrap="square" rtlCol="0">
            <a:spAutoFit/>
          </a:bodyPr>
          <a:lstStyle/>
          <a:p>
            <a:pPr algn="just">
              <a:buFont typeface="Arial" panose="020B0604020202020204" pitchFamily="34" charset="0"/>
              <a:buChar char="•"/>
            </a:pPr>
            <a:r>
              <a:rPr lang="en-US" dirty="0" smtClean="0"/>
              <a:t>  </a:t>
            </a:r>
            <a:r>
              <a:rPr lang="en-US" sz="2000" dirty="0" smtClean="0">
                <a:latin typeface="Times New Roman" panose="02020603050405020304" pitchFamily="18" charset="0"/>
                <a:cs typeface="Times New Roman" panose="02020603050405020304" pitchFamily="18" charset="0"/>
              </a:rPr>
              <a:t>The shareholder of the mutual fund accepts all the risk and return associated with the portfolio. If the value of the portfolio rises, the shareholder benefits; if the value of the portfolio falls, the shareholder suffers the loss. </a:t>
            </a: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Advantages of Mutual Fund:</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1. They allow people with small amounts of money to diversify their holdings.</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2. Mutual funds give ordinary people access to the skills of professional money managers. The managers of most mutual funds pay close attention to the developments and prospects of the companies in which they buy stock.</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04800"/>
            <a:ext cx="8001000" cy="683264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National Saving Identity in Closed Economy</a:t>
            </a:r>
            <a:r>
              <a:rPr lang="en-US" dirty="0" smtClean="0"/>
              <a:t>:</a:t>
            </a:r>
            <a:endParaRPr lang="en-US" dirty="0" smtClean="0"/>
          </a:p>
          <a:p>
            <a:endParaRPr lang="en-US" dirty="0" smtClean="0"/>
          </a:p>
          <a:p>
            <a:pPr algn="just"/>
            <a:r>
              <a:rPr lang="en-US" sz="2000" dirty="0" smtClean="0">
                <a:latin typeface="Times New Roman" panose="02020603050405020304" pitchFamily="18" charset="0"/>
                <a:cs typeface="Times New Roman" panose="02020603050405020304" pitchFamily="18" charset="0"/>
              </a:rPr>
              <a:t>A closed economy does not engage in international trade, imports and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exports are exactly zero. Therefore, net exports (NX) are also zero. In this case, we can write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Y = C + I + G</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This equation states that GDP is the sum of consumption, investment, and government purchases. Each unit of output sold in a closed economy is consumed ,invested, or bought by the government</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subtracting C and G from both sides of this equation. We obtain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Y – C – G = I</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left side of this equation (Y – C – G) is the total income in the economy that remains after paying for consumption and government purchases: This amount is called national saving.</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Substituting S for Y – C – G, we can write the last equation as</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S = I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This equation states that saving equals investment.</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304800"/>
            <a:ext cx="8534400" cy="7786747"/>
          </a:xfrm>
          <a:prstGeom prst="rect">
            <a:avLst/>
          </a:prstGeom>
          <a:noFill/>
        </p:spPr>
        <p:txBody>
          <a:bodyPr wrap="square" rtlCol="0">
            <a:spAutoFit/>
          </a:bodyPr>
          <a:lstStyle/>
          <a:p>
            <a:pPr algn="just"/>
            <a:r>
              <a:rPr lang="en-US" sz="2000" dirty="0" smtClean="0">
                <a:latin typeface="Times New Roman" panose="02020603050405020304" pitchFamily="18" charset="0"/>
                <a:cs typeface="Times New Roman" panose="02020603050405020304" pitchFamily="18" charset="0"/>
              </a:rPr>
              <a:t>We can then write national saving in either of two ways:</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S = Y – C – G</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S = (Y – T – C) + (T – G)</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second equation separates national saving into two pieces: private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saving (Y – T – C) and public saving (T – G).</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en-US" sz="2000" b="1" dirty="0" smtClean="0">
                <a:latin typeface="Times New Roman" panose="02020603050405020304" pitchFamily="18" charset="0"/>
                <a:cs typeface="Times New Roman" panose="02020603050405020304" pitchFamily="18" charset="0"/>
              </a:rPr>
              <a:t>Private saving </a:t>
            </a:r>
            <a:r>
              <a:rPr lang="en-US" sz="2000" dirty="0" smtClean="0">
                <a:latin typeface="Times New Roman" panose="02020603050405020304" pitchFamily="18" charset="0"/>
                <a:cs typeface="Times New Roman" panose="02020603050405020304" pitchFamily="18" charset="0"/>
              </a:rPr>
              <a:t>is the amount of income that households have left after paying their taxes and paying for their consumption. In particular, because households receive income of Y, pay taxes of T, and spend C on consumption, private saving is Y – T – C.</a:t>
            </a:r>
            <a:endParaRPr lang="en-US" sz="2000" dirty="0" smtClean="0">
              <a:latin typeface="Times New Roman" panose="02020603050405020304" pitchFamily="18" charset="0"/>
              <a:cs typeface="Times New Roman" panose="02020603050405020304" pitchFamily="18" charset="0"/>
            </a:endParaRPr>
          </a:p>
          <a:p>
            <a:pPr algn="just"/>
            <a:r>
              <a:rPr lang="en-US" sz="2000" b="1" dirty="0" smtClean="0">
                <a:latin typeface="Times New Roman" panose="02020603050405020304" pitchFamily="18" charset="0"/>
                <a:cs typeface="Times New Roman" panose="02020603050405020304" pitchFamily="18" charset="0"/>
              </a:rPr>
              <a:t>Public saving </a:t>
            </a:r>
            <a:r>
              <a:rPr lang="en-US" sz="2000" dirty="0" smtClean="0">
                <a:latin typeface="Times New Roman" panose="02020603050405020304" pitchFamily="18" charset="0"/>
                <a:cs typeface="Times New Roman" panose="02020603050405020304" pitchFamily="18" charset="0"/>
              </a:rPr>
              <a:t>is the amount of tax revenue that the government has left after paying for its spending. The government receives T in tax revenue and spends G on goods and services.</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 If T exceeds G, the government runs a budget surplus because it receives more money than it spends. This surplus of T – G represents public saving</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 If the government spends more than it receives in tax revenue, then G is larger than  T. In this case, the government runs a budget deficit.</a:t>
            </a:r>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8101</Words>
  <Application>WPS Presentation</Application>
  <PresentationFormat>On-screen Show (4:3)</PresentationFormat>
  <Paragraphs>150</Paragraphs>
  <Slides>11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Cambria</vt:lpstr>
      <vt:lpstr>Times New Roman</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acer</dc:creator>
  <cp:lastModifiedBy>Musharrat Shabnam Shuchi</cp:lastModifiedBy>
  <cp:revision>43</cp:revision>
  <dcterms:created xsi:type="dcterms:W3CDTF">2006-08-16T00:00:00Z</dcterms:created>
  <dcterms:modified xsi:type="dcterms:W3CDTF">2024-12-28T03:14:19Z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BCD4E02166D04F558B630695A459B301_13</vt:lpwstr>
  </property>
  <property fmtid="{D5CDD505-2E9C-101B-9397-08002B2CF9AE}" pid="3" name="KSOProductBuildVer">
    <vt:lpwstr>1033-12.2.0.19307</vt:lpwstr>
  </property>
</Properties>
</file>