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4"/>
  </p:notesMasterIdLst>
  <p:handoutMasterIdLst>
    <p:handoutMasterId r:id="rId35"/>
  </p:handoutMasterIdLst>
  <p:sldIdLst>
    <p:sldId id="256" r:id="rId2"/>
    <p:sldId id="27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6858000" type="screen4x3"/>
  <p:notesSz cx="6858000" cy="99456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6" d="100"/>
          <a:sy n="76" d="100"/>
        </p:scale>
        <p:origin x="-120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1"/>
            <a:ext cx="2971800" cy="496888"/>
          </a:xfrm>
          <a:prstGeom prst="rect">
            <a:avLst/>
          </a:prstGeom>
        </p:spPr>
        <p:txBody>
          <a:bodyPr vert="horz" lIns="91440" tIns="45720" rIns="91440" bIns="45720" rtlCol="0"/>
          <a:lstStyle>
            <a:lvl1pPr algn="r">
              <a:defRPr sz="1200"/>
            </a:lvl1pPr>
          </a:lstStyle>
          <a:p>
            <a:fld id="{87746404-45B8-4367-B27E-4007C37D2AD1}" type="datetimeFigureOut">
              <a:rPr lang="en-US" smtClean="0"/>
              <a:t>10/8/2025</a:t>
            </a:fld>
            <a:endParaRPr lang="en-US"/>
          </a:p>
        </p:txBody>
      </p:sp>
      <p:sp>
        <p:nvSpPr>
          <p:cNvPr id="4" name="Footer Placeholder 3"/>
          <p:cNvSpPr>
            <a:spLocks noGrp="1"/>
          </p:cNvSpPr>
          <p:nvPr>
            <p:ph type="ftr" sz="quarter" idx="2"/>
          </p:nvPr>
        </p:nvSpPr>
        <p:spPr>
          <a:xfrm>
            <a:off x="0" y="9447213"/>
            <a:ext cx="2971800" cy="4968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9447213"/>
            <a:ext cx="2971800" cy="496887"/>
          </a:xfrm>
          <a:prstGeom prst="rect">
            <a:avLst/>
          </a:prstGeom>
        </p:spPr>
        <p:txBody>
          <a:bodyPr vert="horz" lIns="91440" tIns="45720" rIns="91440" bIns="45720" rtlCol="0" anchor="b"/>
          <a:lstStyle>
            <a:lvl1pPr algn="r">
              <a:defRPr sz="1200"/>
            </a:lvl1pPr>
          </a:lstStyle>
          <a:p>
            <a:fld id="{52E7635E-4C2E-40D1-A602-929BDACB0BFB}" type="slidenum">
              <a:rPr lang="en-US" smtClean="0"/>
              <a:t>‹#›</a:t>
            </a:fld>
            <a:endParaRPr lang="en-US"/>
          </a:p>
        </p:txBody>
      </p:sp>
    </p:spTree>
    <p:extLst>
      <p:ext uri="{BB962C8B-B14F-4D97-AF65-F5344CB8AC3E}">
        <p14:creationId xmlns:p14="http://schemas.microsoft.com/office/powerpoint/2010/main" val="38679687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728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97284"/>
          </a:xfrm>
          <a:prstGeom prst="rect">
            <a:avLst/>
          </a:prstGeom>
        </p:spPr>
        <p:txBody>
          <a:bodyPr vert="horz" lIns="91440" tIns="45720" rIns="91440" bIns="45720" rtlCol="0"/>
          <a:lstStyle>
            <a:lvl1pPr algn="r">
              <a:defRPr sz="1200"/>
            </a:lvl1pPr>
          </a:lstStyle>
          <a:p>
            <a:fld id="{AC96430C-42BB-41F8-81D9-59349FC7EF9D}" type="datetimeFigureOut">
              <a:rPr lang="en-US" smtClean="0"/>
              <a:t>10/8/2025</a:t>
            </a:fld>
            <a:endParaRPr lang="en-US"/>
          </a:p>
        </p:txBody>
      </p:sp>
      <p:sp>
        <p:nvSpPr>
          <p:cNvPr id="4" name="Slide Image Placeholder 3"/>
          <p:cNvSpPr>
            <a:spLocks noGrp="1" noRot="1" noChangeAspect="1"/>
          </p:cNvSpPr>
          <p:nvPr>
            <p:ph type="sldImg" idx="2"/>
          </p:nvPr>
        </p:nvSpPr>
        <p:spPr>
          <a:xfrm>
            <a:off x="942975" y="746125"/>
            <a:ext cx="4972050" cy="372903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724202"/>
            <a:ext cx="5486400" cy="447556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46678"/>
            <a:ext cx="2971800" cy="49728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9446678"/>
            <a:ext cx="2971800" cy="497284"/>
          </a:xfrm>
          <a:prstGeom prst="rect">
            <a:avLst/>
          </a:prstGeom>
        </p:spPr>
        <p:txBody>
          <a:bodyPr vert="horz" lIns="91440" tIns="45720" rIns="91440" bIns="45720" rtlCol="0" anchor="b"/>
          <a:lstStyle>
            <a:lvl1pPr algn="r">
              <a:defRPr sz="1200"/>
            </a:lvl1pPr>
          </a:lstStyle>
          <a:p>
            <a:fld id="{A64FB700-F37C-4C94-802D-0F870937AE5E}" type="slidenum">
              <a:rPr lang="en-US" smtClean="0"/>
              <a:t>‹#›</a:t>
            </a:fld>
            <a:endParaRPr lang="en-US"/>
          </a:p>
        </p:txBody>
      </p:sp>
    </p:spTree>
    <p:extLst>
      <p:ext uri="{BB962C8B-B14F-4D97-AF65-F5344CB8AC3E}">
        <p14:creationId xmlns:p14="http://schemas.microsoft.com/office/powerpoint/2010/main" val="922135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64FB700-F37C-4C94-802D-0F870937AE5E}"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64FB700-F37C-4C94-802D-0F870937AE5E}" type="slidenum">
              <a:rPr lang="en-US" smtClean="0"/>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r>
              <a:rPr lang="en-US" smtClean="0"/>
              <a:t>1/29/2017</a:t>
            </a:r>
            <a:endParaRPr lang="en-US"/>
          </a:p>
        </p:txBody>
      </p:sp>
      <p:sp>
        <p:nvSpPr>
          <p:cNvPr id="5" name="Footer Placeholder 4"/>
          <p:cNvSpPr>
            <a:spLocks noGrp="1"/>
          </p:cNvSpPr>
          <p:nvPr>
            <p:ph type="ftr" sz="quarter" idx="11"/>
          </p:nvPr>
        </p:nvSpPr>
        <p:spPr/>
        <p:txBody>
          <a:bodyPr/>
          <a:lstStyle/>
          <a:p>
            <a:r>
              <a:rPr lang="en-US" smtClean="0"/>
              <a:t>Shuchi Shabnam</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1/29/2017</a:t>
            </a:r>
            <a:endParaRPr lang="en-US"/>
          </a:p>
        </p:txBody>
      </p:sp>
      <p:sp>
        <p:nvSpPr>
          <p:cNvPr id="5" name="Footer Placeholder 4"/>
          <p:cNvSpPr>
            <a:spLocks noGrp="1"/>
          </p:cNvSpPr>
          <p:nvPr>
            <p:ph type="ftr" sz="quarter" idx="11"/>
          </p:nvPr>
        </p:nvSpPr>
        <p:spPr/>
        <p:txBody>
          <a:bodyPr/>
          <a:lstStyle/>
          <a:p>
            <a:r>
              <a:rPr lang="en-US" smtClean="0"/>
              <a:t>Shuchi Shabnam</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1/29/2017</a:t>
            </a:r>
            <a:endParaRPr lang="en-US"/>
          </a:p>
        </p:txBody>
      </p:sp>
      <p:sp>
        <p:nvSpPr>
          <p:cNvPr id="5" name="Footer Placeholder 4"/>
          <p:cNvSpPr>
            <a:spLocks noGrp="1"/>
          </p:cNvSpPr>
          <p:nvPr>
            <p:ph type="ftr" sz="quarter" idx="11"/>
          </p:nvPr>
        </p:nvSpPr>
        <p:spPr/>
        <p:txBody>
          <a:bodyPr/>
          <a:lstStyle/>
          <a:p>
            <a:r>
              <a:rPr lang="en-US" smtClean="0"/>
              <a:t>Shuchi Shabnam</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r>
              <a:rPr lang="en-US" smtClean="0"/>
              <a:t>1/29/2017</a:t>
            </a:r>
            <a:endParaRPr lang="en-US"/>
          </a:p>
        </p:txBody>
      </p:sp>
      <p:sp>
        <p:nvSpPr>
          <p:cNvPr id="6" name="Footer Placeholder 5"/>
          <p:cNvSpPr>
            <a:spLocks noGrp="1"/>
          </p:cNvSpPr>
          <p:nvPr>
            <p:ph type="ftr" sz="quarter" idx="11"/>
          </p:nvPr>
        </p:nvSpPr>
        <p:spPr/>
        <p:txBody>
          <a:bodyPr/>
          <a:lstStyle/>
          <a:p>
            <a:r>
              <a:rPr lang="en-US" smtClean="0"/>
              <a:t>Shuchi Shabnam</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en-US" smtClean="0"/>
              <a:t>1/29/2017</a:t>
            </a:r>
            <a:endParaRPr lang="en-US"/>
          </a:p>
        </p:txBody>
      </p:sp>
      <p:sp>
        <p:nvSpPr>
          <p:cNvPr id="8" name="Footer Placeholder 7"/>
          <p:cNvSpPr>
            <a:spLocks noGrp="1"/>
          </p:cNvSpPr>
          <p:nvPr>
            <p:ph type="ftr" sz="quarter" idx="11"/>
          </p:nvPr>
        </p:nvSpPr>
        <p:spPr/>
        <p:txBody>
          <a:bodyPr/>
          <a:lstStyle/>
          <a:p>
            <a:r>
              <a:rPr lang="en-US" smtClean="0"/>
              <a:t>Shuchi Shabnam</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r>
              <a:rPr lang="en-US" smtClean="0"/>
              <a:t>1/29/2017</a:t>
            </a:r>
            <a:endParaRPr lang="en-US"/>
          </a:p>
        </p:txBody>
      </p:sp>
      <p:sp>
        <p:nvSpPr>
          <p:cNvPr id="4" name="Footer Placeholder 3"/>
          <p:cNvSpPr>
            <a:spLocks noGrp="1"/>
          </p:cNvSpPr>
          <p:nvPr>
            <p:ph type="ftr" sz="quarter" idx="11"/>
          </p:nvPr>
        </p:nvSpPr>
        <p:spPr/>
        <p:txBody>
          <a:bodyPr/>
          <a:lstStyle/>
          <a:p>
            <a:r>
              <a:rPr lang="en-US" smtClean="0"/>
              <a:t>Shuchi Shabnam</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1/29/2017</a:t>
            </a:r>
            <a:endParaRPr lang="en-US"/>
          </a:p>
        </p:txBody>
      </p:sp>
      <p:sp>
        <p:nvSpPr>
          <p:cNvPr id="3" name="Footer Placeholder 2"/>
          <p:cNvSpPr>
            <a:spLocks noGrp="1"/>
          </p:cNvSpPr>
          <p:nvPr>
            <p:ph type="ftr" sz="quarter" idx="11"/>
          </p:nvPr>
        </p:nvSpPr>
        <p:spPr/>
        <p:txBody>
          <a:bodyPr/>
          <a:lstStyle/>
          <a:p>
            <a:r>
              <a:rPr lang="en-US" smtClean="0"/>
              <a:t>Shuchi Shabnam</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1/29/2017</a:t>
            </a:r>
            <a:endParaRPr lang="en-US"/>
          </a:p>
        </p:txBody>
      </p:sp>
      <p:sp>
        <p:nvSpPr>
          <p:cNvPr id="6" name="Footer Placeholder 5"/>
          <p:cNvSpPr>
            <a:spLocks noGrp="1"/>
          </p:cNvSpPr>
          <p:nvPr>
            <p:ph type="ftr" sz="quarter" idx="11"/>
          </p:nvPr>
        </p:nvSpPr>
        <p:spPr/>
        <p:txBody>
          <a:bodyPr/>
          <a:lstStyle/>
          <a:p>
            <a:r>
              <a:rPr lang="en-US" smtClean="0"/>
              <a:t>Shuchi Shabnam</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1/29/2017</a:t>
            </a:r>
            <a:endParaRPr lang="en-US"/>
          </a:p>
        </p:txBody>
      </p:sp>
      <p:sp>
        <p:nvSpPr>
          <p:cNvPr id="6" name="Footer Placeholder 5"/>
          <p:cNvSpPr>
            <a:spLocks noGrp="1"/>
          </p:cNvSpPr>
          <p:nvPr>
            <p:ph type="ftr" sz="quarter" idx="11"/>
          </p:nvPr>
        </p:nvSpPr>
        <p:spPr/>
        <p:txBody>
          <a:bodyPr/>
          <a:lstStyle/>
          <a:p>
            <a:r>
              <a:rPr lang="en-US" smtClean="0"/>
              <a:t>Shuchi Shabnam</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1/29/2017</a:t>
            </a:r>
            <a:endParaRPr lang="en-US"/>
          </a:p>
        </p:txBody>
      </p:sp>
      <p:sp>
        <p:nvSpPr>
          <p:cNvPr id="5" name="Footer Placeholder 4"/>
          <p:cNvSpPr>
            <a:spLocks noGrp="1"/>
          </p:cNvSpPr>
          <p:nvPr>
            <p:ph type="ftr" sz="quarter" idx="11"/>
          </p:nvPr>
        </p:nvSpPr>
        <p:spPr/>
        <p:txBody>
          <a:bodyPr/>
          <a:lstStyle/>
          <a:p>
            <a:r>
              <a:rPr lang="en-US" smtClean="0"/>
              <a:t>Shuchi Shabnam</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1/29/2017</a:t>
            </a:r>
            <a:endParaRPr lang="en-US"/>
          </a:p>
        </p:txBody>
      </p:sp>
      <p:sp>
        <p:nvSpPr>
          <p:cNvPr id="5" name="Footer Placeholder 4"/>
          <p:cNvSpPr>
            <a:spLocks noGrp="1"/>
          </p:cNvSpPr>
          <p:nvPr>
            <p:ph type="ftr" sz="quarter" idx="11"/>
          </p:nvPr>
        </p:nvSpPr>
        <p:spPr/>
        <p:txBody>
          <a:bodyPr/>
          <a:lstStyle/>
          <a:p>
            <a:r>
              <a:rPr lang="en-US" smtClean="0"/>
              <a:t>Shuchi Shabnam</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1/29/2017</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Shuchi Shabnam</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371600"/>
            <a:ext cx="7772400" cy="1470025"/>
          </a:xfrm>
        </p:spPr>
        <p:txBody>
          <a:bodyPr/>
          <a:lstStyle/>
          <a:p>
            <a:r>
              <a:rPr lang="en-US" b="1" dirty="0" smtClean="0"/>
              <a:t>Macroeconomics</a:t>
            </a:r>
            <a:r>
              <a:rPr lang="en-US" dirty="0" smtClean="0"/>
              <a:t/>
            </a:r>
            <a:br>
              <a:rPr lang="en-US" dirty="0" smtClean="0"/>
            </a:br>
            <a:r>
              <a:rPr lang="en-US" sz="3200" b="1" dirty="0" smtClean="0"/>
              <a:t>ECO 4101 (E)</a:t>
            </a:r>
            <a:endParaRPr lang="en-US" b="1" dirty="0"/>
          </a:p>
        </p:txBody>
      </p:sp>
      <p:sp>
        <p:nvSpPr>
          <p:cNvPr id="3" name="Subtitle 2"/>
          <p:cNvSpPr>
            <a:spLocks noGrp="1"/>
          </p:cNvSpPr>
          <p:nvPr>
            <p:ph type="subTitle" idx="1"/>
          </p:nvPr>
        </p:nvSpPr>
        <p:spPr>
          <a:xfrm>
            <a:off x="1524000" y="3962400"/>
            <a:ext cx="6400800" cy="1752600"/>
          </a:xfrm>
        </p:spPr>
        <p:txBody>
          <a:bodyPr>
            <a:normAutofit/>
          </a:bodyPr>
          <a:lstStyle/>
          <a:p>
            <a:r>
              <a:rPr lang="en-US" sz="2800" b="1" dirty="0" smtClean="0">
                <a:solidFill>
                  <a:srgbClr val="002060"/>
                </a:solidFill>
              </a:rPr>
              <a:t>Summer 2025</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2</a:t>
            </a:fld>
            <a:endParaRPr lang="en-US"/>
          </a:p>
        </p:txBody>
      </p:sp>
      <p:sp>
        <p:nvSpPr>
          <p:cNvPr id="3" name="TextBox 2"/>
          <p:cNvSpPr txBox="1"/>
          <p:nvPr/>
        </p:nvSpPr>
        <p:spPr>
          <a:xfrm>
            <a:off x="990600" y="2438400"/>
            <a:ext cx="7239000" cy="2123658"/>
          </a:xfrm>
          <a:prstGeom prst="rect">
            <a:avLst/>
          </a:prstGeom>
          <a:noFill/>
        </p:spPr>
        <p:txBody>
          <a:bodyPr wrap="square" rtlCol="0">
            <a:spAutoFit/>
          </a:bodyPr>
          <a:lstStyle/>
          <a:p>
            <a:pPr algn="ctr"/>
            <a:r>
              <a:rPr lang="en-US" sz="3200" b="1" dirty="0" smtClean="0">
                <a:latin typeface="+mj-lt"/>
              </a:rPr>
              <a:t>Lecture 1</a:t>
            </a:r>
          </a:p>
          <a:p>
            <a:pPr algn="ctr"/>
            <a:r>
              <a:rPr lang="en-US" sz="3200" b="1" dirty="0" smtClean="0">
                <a:latin typeface="+mj-lt"/>
              </a:rPr>
              <a:t>Chapter 23</a:t>
            </a:r>
          </a:p>
          <a:p>
            <a:pPr algn="ctr"/>
            <a:endParaRPr lang="en-US" sz="3200" b="1" dirty="0" smtClean="0">
              <a:latin typeface="+mj-lt"/>
            </a:endParaRPr>
          </a:p>
          <a:p>
            <a:pPr algn="ctr"/>
            <a:r>
              <a:rPr lang="en-US" sz="3600" b="1" dirty="0" smtClean="0">
                <a:latin typeface="+mj-lt"/>
              </a:rPr>
              <a:t>Basic Concepts of Macroeconomic</a:t>
            </a:r>
            <a:r>
              <a:rPr lang="en-US" sz="3600" b="1" dirty="0" smtClean="0"/>
              <a:t>s</a:t>
            </a:r>
            <a:endParaRPr lang="en-US" sz="3600"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90600" y="762000"/>
            <a:ext cx="7315200" cy="369332"/>
          </a:xfrm>
          <a:prstGeom prst="rect">
            <a:avLst/>
          </a:prstGeom>
          <a:noFill/>
        </p:spPr>
        <p:txBody>
          <a:bodyPr wrap="square" rtlCol="0">
            <a:spAutoFit/>
          </a:bodyPr>
          <a:lstStyle/>
          <a:p>
            <a:endParaRPr lang="en-US"/>
          </a:p>
        </p:txBody>
      </p:sp>
      <p:sp>
        <p:nvSpPr>
          <p:cNvPr id="4" name="TextBox 3"/>
          <p:cNvSpPr txBox="1"/>
          <p:nvPr/>
        </p:nvSpPr>
        <p:spPr>
          <a:xfrm>
            <a:off x="685800" y="457200"/>
            <a:ext cx="7848600" cy="6032421"/>
          </a:xfrm>
          <a:prstGeom prst="rect">
            <a:avLst/>
          </a:prstGeom>
          <a:noFill/>
        </p:spPr>
        <p:txBody>
          <a:bodyPr wrap="square" rtlCol="0">
            <a:spAutoFit/>
          </a:bodyPr>
          <a:lstStyle/>
          <a:p>
            <a:r>
              <a:rPr lang="en-US" sz="2000" dirty="0" smtClean="0">
                <a:latin typeface="Cambria" panose="02040503050406030204" pitchFamily="18" charset="0"/>
              </a:rPr>
              <a:t>The subject matter of Economics is divided into two broad categories:</a:t>
            </a:r>
          </a:p>
          <a:p>
            <a:endParaRPr lang="en-US" sz="800" dirty="0" smtClean="0">
              <a:latin typeface="+mj-lt"/>
            </a:endParaRPr>
          </a:p>
          <a:p>
            <a:pPr>
              <a:buFont typeface="Wingdings" panose="05000000000000000000" pitchFamily="2" charset="2"/>
              <a:buChar char="§"/>
            </a:pPr>
            <a:r>
              <a:rPr lang="en-US" sz="2000" dirty="0" smtClean="0">
                <a:latin typeface="+mj-lt"/>
              </a:rPr>
              <a:t>   Microeconomics</a:t>
            </a:r>
          </a:p>
          <a:p>
            <a:pPr>
              <a:buFont typeface="Wingdings" panose="05000000000000000000" pitchFamily="2" charset="2"/>
              <a:buChar char="§"/>
            </a:pPr>
            <a:r>
              <a:rPr lang="en-US" sz="2000" dirty="0" smtClean="0">
                <a:latin typeface="+mj-lt"/>
              </a:rPr>
              <a:t>   Macroeconomics</a:t>
            </a:r>
          </a:p>
          <a:p>
            <a:pPr>
              <a:buFont typeface="Wingdings" panose="05000000000000000000" pitchFamily="2" charset="2"/>
              <a:buChar char="§"/>
            </a:pPr>
            <a:endParaRPr lang="en-US" sz="800" dirty="0" smtClean="0">
              <a:latin typeface="+mj-lt"/>
            </a:endParaRPr>
          </a:p>
          <a:p>
            <a:pPr algn="just"/>
            <a:r>
              <a:rPr lang="en-US" sz="2000" dirty="0" smtClean="0">
                <a:latin typeface="Cambria" panose="02040503050406030204" pitchFamily="18" charset="0"/>
              </a:rPr>
              <a:t> </a:t>
            </a:r>
            <a:r>
              <a:rPr lang="en-US" sz="2000" b="1" dirty="0" smtClean="0">
                <a:latin typeface="Cambria" panose="02040503050406030204" pitchFamily="18" charset="0"/>
              </a:rPr>
              <a:t>Microeconomics </a:t>
            </a:r>
            <a:r>
              <a:rPr lang="en-US" sz="2000" dirty="0" smtClean="0">
                <a:latin typeface="+mj-lt"/>
              </a:rPr>
              <a:t>is the study of how individual households and firms make decisions and how they interact with one another in markets. </a:t>
            </a:r>
          </a:p>
          <a:p>
            <a:pPr algn="just"/>
            <a:endParaRPr lang="en-US" sz="800" dirty="0" smtClean="0">
              <a:latin typeface="+mj-lt"/>
            </a:endParaRPr>
          </a:p>
          <a:p>
            <a:pPr algn="just"/>
            <a:r>
              <a:rPr lang="en-US" sz="2000" b="1" dirty="0" smtClean="0">
                <a:latin typeface="Cambria" panose="02040503050406030204" pitchFamily="18" charset="0"/>
              </a:rPr>
              <a:t>Macroeconomics </a:t>
            </a:r>
            <a:r>
              <a:rPr lang="en-US" sz="2000" dirty="0" smtClean="0">
                <a:latin typeface="+mj-lt"/>
              </a:rPr>
              <a:t>is the study of the economy as a whole. </a:t>
            </a:r>
          </a:p>
          <a:p>
            <a:pPr algn="just"/>
            <a:endParaRPr lang="en-US" sz="800" dirty="0" smtClean="0">
              <a:latin typeface="+mj-lt"/>
            </a:endParaRPr>
          </a:p>
          <a:p>
            <a:pPr algn="just"/>
            <a:r>
              <a:rPr lang="en-US" sz="2000" b="1" dirty="0" smtClean="0">
                <a:latin typeface="+mj-lt"/>
              </a:rPr>
              <a:t>Macroeconomists address diverse questions, for example:</a:t>
            </a:r>
          </a:p>
          <a:p>
            <a:pPr algn="just">
              <a:buFont typeface="Arial" panose="020B0604020202020204" pitchFamily="34" charset="0"/>
              <a:buChar char="•"/>
            </a:pPr>
            <a:r>
              <a:rPr lang="en-US" sz="2000" b="1" dirty="0" smtClean="0">
                <a:latin typeface="+mj-lt"/>
              </a:rPr>
              <a:t>  </a:t>
            </a:r>
            <a:r>
              <a:rPr lang="en-US" sz="2200" i="1" dirty="0" smtClean="0">
                <a:latin typeface="+mj-lt"/>
              </a:rPr>
              <a:t>Why is average income high in some countries while it is low in others? </a:t>
            </a:r>
          </a:p>
          <a:p>
            <a:pPr algn="just">
              <a:buFont typeface="Arial" panose="020B0604020202020204" pitchFamily="34" charset="0"/>
              <a:buChar char="•"/>
            </a:pPr>
            <a:r>
              <a:rPr lang="en-US" sz="2200" i="1" dirty="0" smtClean="0">
                <a:latin typeface="+mj-lt"/>
              </a:rPr>
              <a:t> Why do prices sometimes rise rapidly while at other times they are more stable?  </a:t>
            </a:r>
          </a:p>
          <a:p>
            <a:pPr algn="just">
              <a:buFont typeface="Arial" panose="020B0604020202020204" pitchFamily="34" charset="0"/>
              <a:buChar char="•"/>
            </a:pPr>
            <a:r>
              <a:rPr lang="en-US" sz="2200" i="1" dirty="0" smtClean="0">
                <a:latin typeface="+mj-lt"/>
              </a:rPr>
              <a:t> What can the government do to promote rapid growth in incomes, low inflation, and stable employment? </a:t>
            </a:r>
          </a:p>
          <a:p>
            <a:pPr algn="just"/>
            <a:endParaRPr lang="en-US" sz="2000" i="1" dirty="0" smtClean="0">
              <a:latin typeface="+mj-lt"/>
            </a:endParaRPr>
          </a:p>
          <a:p>
            <a:pPr algn="just"/>
            <a:r>
              <a:rPr lang="en-US" sz="2200" dirty="0" smtClean="0">
                <a:latin typeface="+mj-lt"/>
              </a:rPr>
              <a:t>These questions are all macroeconomic in nature because they concern the workings of the </a:t>
            </a:r>
            <a:r>
              <a:rPr lang="en-US" sz="2200" b="1" dirty="0" smtClean="0">
                <a:latin typeface="+mj-lt"/>
              </a:rPr>
              <a:t>entire economy.</a:t>
            </a:r>
          </a:p>
          <a:p>
            <a:endParaRPr lang="en-US" i="1" dirty="0">
              <a:latin typeface="+mj-lt"/>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451889"/>
            <a:ext cx="8229600" cy="4062651"/>
          </a:xfrm>
          <a:prstGeom prst="rect">
            <a:avLst/>
          </a:prstGeom>
          <a:noFill/>
        </p:spPr>
        <p:txBody>
          <a:bodyPr wrap="square" rtlCol="0">
            <a:spAutoFit/>
          </a:bodyPr>
          <a:lstStyle/>
          <a:p>
            <a:pPr algn="just">
              <a:buFont typeface="Wingdings" panose="05000000000000000000" pitchFamily="2" charset="2"/>
              <a:buChar char="§"/>
            </a:pPr>
            <a:r>
              <a:rPr lang="en-US" sz="2000" dirty="0" smtClean="0"/>
              <a:t>  Microeconomics &amp; Macroeconomics are closely linked:</a:t>
            </a:r>
          </a:p>
          <a:p>
            <a:r>
              <a:rPr lang="en-US" dirty="0" smtClean="0"/>
              <a:t> </a:t>
            </a:r>
            <a:endParaRPr lang="en-US" sz="800" dirty="0" smtClean="0"/>
          </a:p>
          <a:p>
            <a:pPr algn="just"/>
            <a:r>
              <a:rPr lang="en-US" sz="2000" dirty="0" smtClean="0"/>
              <a:t>Because the economy as a whole is a collection of many households and many firms interacting in many markets, microeconomics and macroeconomics are closely linked. The basic tools of supply and demand, for instance, are as central to macroeconomic analysis as they are to microeconomic analysis. </a:t>
            </a:r>
          </a:p>
          <a:p>
            <a:pPr algn="just"/>
            <a:endParaRPr lang="en-US" sz="2000" dirty="0" smtClean="0"/>
          </a:p>
          <a:p>
            <a:pPr algn="just"/>
            <a:endParaRPr lang="en-US" sz="2000" dirty="0" smtClean="0"/>
          </a:p>
          <a:p>
            <a:pPr algn="just"/>
            <a:endParaRPr lang="en-US" sz="2000" dirty="0" smtClean="0"/>
          </a:p>
          <a:p>
            <a:pPr algn="just"/>
            <a:endParaRPr lang="en-US" sz="2000" dirty="0" smtClean="0"/>
          </a:p>
          <a:p>
            <a:pPr algn="just"/>
            <a:endParaRPr lang="en-US" sz="2000" dirty="0" smtClean="0"/>
          </a:p>
          <a:p>
            <a:pPr algn="just"/>
            <a:endParaRPr lang="en-US" sz="2000" dirty="0" smtClean="0"/>
          </a:p>
        </p:txBody>
      </p:sp>
      <p:sp>
        <p:nvSpPr>
          <p:cNvPr id="3" name="Slide Number Placeholder 2"/>
          <p:cNvSpPr>
            <a:spLocks noGrp="1"/>
          </p:cNvSpPr>
          <p:nvPr>
            <p:ph type="sldNum" sz="quarter" idx="12"/>
          </p:nvPr>
        </p:nvSpPr>
        <p:spPr/>
        <p:txBody>
          <a:bodyPr/>
          <a:lstStyle/>
          <a:p>
            <a:fld id="{B6F15528-21DE-4FAA-801E-634DDDAF4B2B}" type="slidenum">
              <a:rPr lang="en-US" smtClean="0"/>
              <a:t>4</a:t>
            </a:fld>
            <a:endParaRPr lang="en-US"/>
          </a:p>
        </p:txBody>
      </p:sp>
      <p:pic>
        <p:nvPicPr>
          <p:cNvPr id="1026" name="Picture 2" descr="C:\Users\acer\Desktop\market_clearing_price.png"/>
          <p:cNvPicPr>
            <a:picLocks noChangeAspect="1" noChangeArrowheads="1"/>
          </p:cNvPicPr>
          <p:nvPr/>
        </p:nvPicPr>
        <p:blipFill>
          <a:blip r:embed="rId2" cstate="print">
            <a:lum bright="-10000" contrast="-10000"/>
          </a:blip>
          <a:srcRect/>
          <a:stretch>
            <a:fillRect/>
          </a:stretch>
        </p:blipFill>
        <p:spPr bwMode="auto">
          <a:xfrm>
            <a:off x="838200" y="2895600"/>
            <a:ext cx="3810000" cy="3429000"/>
          </a:xfrm>
          <a:prstGeom prst="rect">
            <a:avLst/>
          </a:prstGeom>
          <a:noFill/>
        </p:spPr>
      </p:pic>
      <p:pic>
        <p:nvPicPr>
          <p:cNvPr id="1027" name="Picture 3" descr="C:\Users\acer\Desktop\te-demand-aggregate-supply.jpe"/>
          <p:cNvPicPr>
            <a:picLocks noChangeAspect="1" noChangeArrowheads="1"/>
          </p:cNvPicPr>
          <p:nvPr/>
        </p:nvPicPr>
        <p:blipFill>
          <a:blip r:embed="rId3" cstate="print">
            <a:lum bright="-10000" contrast="-20000"/>
          </a:blip>
          <a:srcRect/>
          <a:stretch>
            <a:fillRect/>
          </a:stretch>
        </p:blipFill>
        <p:spPr bwMode="auto">
          <a:xfrm>
            <a:off x="4953000" y="2895600"/>
            <a:ext cx="3429000" cy="342900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9600" y="685800"/>
            <a:ext cx="7924800" cy="7109639"/>
          </a:xfrm>
          <a:prstGeom prst="rect">
            <a:avLst/>
          </a:prstGeom>
          <a:noFill/>
        </p:spPr>
        <p:txBody>
          <a:bodyPr wrap="square" rtlCol="0">
            <a:spAutoFit/>
          </a:bodyPr>
          <a:lstStyle/>
          <a:p>
            <a:pPr>
              <a:buFont typeface="Wingdings" panose="05000000000000000000" pitchFamily="2" charset="2"/>
              <a:buChar char="§"/>
            </a:pPr>
            <a:r>
              <a:rPr lang="en-US" dirty="0" smtClean="0"/>
              <a:t>  </a:t>
            </a:r>
            <a:r>
              <a:rPr lang="en-US" sz="2000" b="1" dirty="0" smtClean="0">
                <a:latin typeface="Cambria" panose="02040503050406030204" pitchFamily="18" charset="0"/>
              </a:rPr>
              <a:t>Objectives and Instruments of Macroeconomics:</a:t>
            </a:r>
          </a:p>
          <a:p>
            <a:endParaRPr lang="en-US" sz="800" b="1" dirty="0" smtClean="0">
              <a:latin typeface="Cambria" panose="02040503050406030204" pitchFamily="18" charset="0"/>
            </a:endParaRPr>
          </a:p>
          <a:p>
            <a:pPr algn="just"/>
            <a:r>
              <a:rPr lang="en-US" sz="2200" i="1" dirty="0" smtClean="0">
                <a:latin typeface="+mj-lt"/>
              </a:rPr>
              <a:t>How do economists evaluate  an economy’s overall performance? What are the tools that governments can use to pursue their economic goals?</a:t>
            </a:r>
          </a:p>
          <a:p>
            <a:pPr algn="just"/>
            <a:endParaRPr lang="en-US" sz="800" i="1" dirty="0" smtClean="0">
              <a:latin typeface="+mj-lt"/>
            </a:endParaRPr>
          </a:p>
          <a:p>
            <a:pPr algn="just">
              <a:buFont typeface="Arial" panose="020B0604020202020204" pitchFamily="34" charset="0"/>
              <a:buChar char="•"/>
            </a:pPr>
            <a:r>
              <a:rPr lang="en-US" sz="2000" dirty="0" smtClean="0">
                <a:latin typeface="+mj-lt"/>
              </a:rPr>
              <a:t> </a:t>
            </a:r>
            <a:r>
              <a:rPr lang="en-US" sz="2000" b="1" dirty="0" smtClean="0">
                <a:latin typeface="Cambria" panose="02040503050406030204" pitchFamily="18" charset="0"/>
              </a:rPr>
              <a:t>Measuring the performance of the economy: </a:t>
            </a:r>
            <a:r>
              <a:rPr lang="en-US" sz="2200" dirty="0" smtClean="0">
                <a:solidFill>
                  <a:srgbClr val="00B0F0"/>
                </a:solidFill>
                <a:latin typeface="+mj-lt"/>
              </a:rPr>
              <a:t>The major macroeconomic goals are a high level and rapid growth of output, low unemployment, and stable prices.</a:t>
            </a:r>
          </a:p>
          <a:p>
            <a:pPr algn="just">
              <a:buFont typeface="Arial" panose="020B0604020202020204" pitchFamily="34" charset="0"/>
              <a:buChar char="•"/>
            </a:pPr>
            <a:endParaRPr lang="en-US" sz="2000" dirty="0" smtClean="0">
              <a:latin typeface="+mj-lt"/>
            </a:endParaRPr>
          </a:p>
          <a:p>
            <a:pPr algn="just"/>
            <a:r>
              <a:rPr lang="en-US" sz="2000" dirty="0" smtClean="0">
                <a:latin typeface="+mj-lt"/>
              </a:rPr>
              <a:t> </a:t>
            </a:r>
            <a:r>
              <a:rPr lang="en-US" sz="2000" b="1" i="1" dirty="0" smtClean="0">
                <a:latin typeface="+mj-lt"/>
              </a:rPr>
              <a:t>Output: </a:t>
            </a:r>
          </a:p>
          <a:p>
            <a:pPr algn="just"/>
            <a:endParaRPr lang="en-US" sz="800" b="1" i="1" dirty="0" smtClean="0">
              <a:latin typeface="+mj-lt"/>
            </a:endParaRPr>
          </a:p>
          <a:p>
            <a:pPr algn="just"/>
            <a:r>
              <a:rPr lang="en-US" sz="2200" dirty="0" smtClean="0">
                <a:latin typeface="+mj-lt"/>
              </a:rPr>
              <a:t>The ultimate objective of economic activity is to provide the goods and services that the population desires. The most comprehensive measure of the total output in an economy is the  gross domestic product  (GDP). </a:t>
            </a:r>
            <a:r>
              <a:rPr lang="en-US" sz="2200" b="1" dirty="0" smtClean="0">
                <a:solidFill>
                  <a:srgbClr val="FF0000"/>
                </a:solidFill>
                <a:latin typeface="+mj-lt"/>
              </a:rPr>
              <a:t>GDP is the measure of the market value of all final goods and services produced in an economy at a certain period of time usually one fiscal year.</a:t>
            </a:r>
          </a:p>
          <a:p>
            <a:endParaRPr lang="en-US" sz="2000" dirty="0" smtClean="0">
              <a:latin typeface="+mj-lt"/>
            </a:endParaRPr>
          </a:p>
          <a:p>
            <a:endParaRPr lang="en-US" sz="2000" dirty="0" smtClean="0">
              <a:latin typeface="+mj-lt"/>
            </a:endParaRPr>
          </a:p>
          <a:p>
            <a:r>
              <a:rPr lang="en-US" sz="2000" dirty="0" smtClean="0">
                <a:latin typeface="+mj-lt"/>
              </a:rPr>
              <a:t> </a:t>
            </a:r>
          </a:p>
          <a:p>
            <a:endParaRPr lang="en-US" dirty="0" smtClean="0">
              <a:latin typeface="+mj-lt"/>
            </a:endParaRPr>
          </a:p>
          <a:p>
            <a:endParaRPr lang="en-US" dirty="0">
              <a:latin typeface="+mj-lt"/>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t>5</a:t>
            </a:fld>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762000"/>
            <a:ext cx="7696200" cy="5755422"/>
          </a:xfrm>
          <a:prstGeom prst="rect">
            <a:avLst/>
          </a:prstGeom>
          <a:noFill/>
        </p:spPr>
        <p:txBody>
          <a:bodyPr wrap="square" rtlCol="0">
            <a:spAutoFit/>
          </a:bodyPr>
          <a:lstStyle/>
          <a:p>
            <a:r>
              <a:rPr lang="en-US" sz="2400" b="1" i="1" dirty="0" smtClean="0">
                <a:latin typeface="+mj-lt"/>
              </a:rPr>
              <a:t> </a:t>
            </a:r>
            <a:r>
              <a:rPr lang="en-US" sz="2400" b="1" i="1" dirty="0" smtClean="0">
                <a:solidFill>
                  <a:srgbClr val="C00000"/>
                </a:solidFill>
                <a:latin typeface="+mj-lt"/>
              </a:rPr>
              <a:t>High Employment, Low Unemployment:</a:t>
            </a:r>
          </a:p>
          <a:p>
            <a:endParaRPr lang="en-US" sz="2000" b="1" i="1" dirty="0" smtClean="0">
              <a:latin typeface="+mj-lt"/>
            </a:endParaRPr>
          </a:p>
          <a:p>
            <a:pPr algn="just"/>
            <a:r>
              <a:rPr lang="en-US" sz="2000" dirty="0" smtClean="0">
                <a:solidFill>
                  <a:srgbClr val="00B0F0"/>
                </a:solidFill>
                <a:latin typeface="+mj-lt"/>
              </a:rPr>
              <a:t> </a:t>
            </a:r>
            <a:r>
              <a:rPr lang="en-US" sz="2200" b="1" dirty="0" smtClean="0">
                <a:solidFill>
                  <a:srgbClr val="00B0F0"/>
                </a:solidFill>
                <a:latin typeface="+mj-lt"/>
              </a:rPr>
              <a:t>Of all the macroeconomic indicators, employment and unemployment are most directly felt by individuals</a:t>
            </a:r>
            <a:r>
              <a:rPr lang="en-US" sz="2200" dirty="0" smtClean="0">
                <a:latin typeface="+mj-lt"/>
              </a:rPr>
              <a:t>. People want to be able to get high-paying jobs without searching or waiting too long, and they want to have job security and good benefits. In macroeconomic terms, these are the basic objectives of high employment, which is the counterpart of   low unemployment.</a:t>
            </a:r>
          </a:p>
          <a:p>
            <a:pPr algn="just"/>
            <a:endParaRPr lang="en-US" sz="2200" dirty="0" smtClean="0">
              <a:latin typeface="+mj-lt"/>
            </a:endParaRPr>
          </a:p>
          <a:p>
            <a:pPr algn="just"/>
            <a:r>
              <a:rPr lang="en-US" sz="2200" b="1" dirty="0" smtClean="0">
                <a:solidFill>
                  <a:srgbClr val="00B0F0"/>
                </a:solidFill>
                <a:latin typeface="+mj-lt"/>
              </a:rPr>
              <a:t>The unemployment rate tends to reflect the state of the business cycle: when output is falling, the demand for labor falls and the unemployment rate rises. </a:t>
            </a:r>
            <a:r>
              <a:rPr lang="en-US" sz="2200" dirty="0" smtClean="0">
                <a:latin typeface="+mj-lt"/>
              </a:rPr>
              <a:t>Unemployment reached epidemic proportions in the Great Depression of the 1930s, when as much as one-quarter of the workforce was idled.</a:t>
            </a:r>
          </a:p>
          <a:p>
            <a:pPr algn="just"/>
            <a:endParaRPr lang="en-US" sz="2000" dirty="0" smtClean="0">
              <a:latin typeface="+mj-lt"/>
            </a:endParaRPr>
          </a:p>
          <a:p>
            <a:pPr algn="just"/>
            <a:endParaRPr lang="en-US" sz="2000" b="1" i="1" dirty="0" smtClean="0">
              <a:latin typeface="+mj-lt"/>
            </a:endParaRPr>
          </a:p>
          <a:p>
            <a:pPr algn="just"/>
            <a:r>
              <a:rPr lang="en-US" sz="2000" b="1" i="1" dirty="0" smtClean="0">
                <a:latin typeface="+mj-lt"/>
              </a:rPr>
              <a:t> </a:t>
            </a:r>
            <a:endParaRPr lang="en-US" sz="2000" b="1" i="1" dirty="0">
              <a:latin typeface="+mj-lt"/>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200" y="533400"/>
            <a:ext cx="7467600" cy="7140416"/>
          </a:xfrm>
          <a:prstGeom prst="rect">
            <a:avLst/>
          </a:prstGeom>
          <a:noFill/>
        </p:spPr>
        <p:txBody>
          <a:bodyPr wrap="square" rtlCol="0">
            <a:spAutoFit/>
          </a:bodyPr>
          <a:lstStyle/>
          <a:p>
            <a:r>
              <a:rPr lang="en-US" sz="2400" b="1" i="1" dirty="0" smtClean="0">
                <a:latin typeface="+mj-lt"/>
              </a:rPr>
              <a:t> </a:t>
            </a:r>
            <a:r>
              <a:rPr lang="en-US" sz="2400" b="1" i="1" dirty="0" smtClean="0">
                <a:solidFill>
                  <a:srgbClr val="C00000"/>
                </a:solidFill>
                <a:latin typeface="+mj-lt"/>
              </a:rPr>
              <a:t>Price Stability:</a:t>
            </a:r>
          </a:p>
          <a:p>
            <a:endParaRPr lang="en-US" sz="800" b="1" i="1" dirty="0" smtClean="0">
              <a:latin typeface="+mj-lt"/>
            </a:endParaRPr>
          </a:p>
          <a:p>
            <a:pPr algn="just"/>
            <a:r>
              <a:rPr lang="en-US" sz="2200" dirty="0" smtClean="0">
                <a:latin typeface="+mj-lt"/>
              </a:rPr>
              <a:t>The third macroeconomic objective is  price stability. This is defined as a low and stable inflation rate. The inflation rate is the percentage change in the overall level of prices from one year to the next.</a:t>
            </a:r>
          </a:p>
          <a:p>
            <a:pPr algn="just"/>
            <a:r>
              <a:rPr lang="en-US" sz="2200" dirty="0" smtClean="0">
                <a:latin typeface="+mj-lt"/>
              </a:rPr>
              <a:t>To track prices, government statisticians construct  price indexes,   or measures of the overall price level. An important example is the  </a:t>
            </a:r>
            <a:r>
              <a:rPr lang="en-US" sz="2200" b="1" dirty="0" smtClean="0">
                <a:solidFill>
                  <a:srgbClr val="00B0F0"/>
                </a:solidFill>
                <a:latin typeface="+mj-lt"/>
              </a:rPr>
              <a:t>consumer price index (CPI), </a:t>
            </a:r>
            <a:r>
              <a:rPr lang="en-US" sz="2200" dirty="0" smtClean="0">
                <a:latin typeface="+mj-lt"/>
              </a:rPr>
              <a:t>which measures the trend in the average price of goods and services bought by consumers. </a:t>
            </a:r>
          </a:p>
          <a:p>
            <a:endParaRPr lang="en-US" sz="800" dirty="0" smtClean="0">
              <a:latin typeface="+mj-lt"/>
            </a:endParaRPr>
          </a:p>
          <a:p>
            <a:pPr>
              <a:buFont typeface="Arial" panose="020B0604020202020204" pitchFamily="34" charset="0"/>
              <a:buChar char="•"/>
            </a:pPr>
            <a:r>
              <a:rPr lang="en-US" sz="2000" dirty="0" smtClean="0">
                <a:latin typeface="+mj-lt"/>
              </a:rPr>
              <a:t> </a:t>
            </a:r>
            <a:r>
              <a:rPr lang="en-US" sz="2400" b="1" dirty="0" smtClean="0">
                <a:solidFill>
                  <a:srgbClr val="C00000"/>
                </a:solidFill>
                <a:latin typeface="+mj-lt"/>
              </a:rPr>
              <a:t>To summarize:</a:t>
            </a:r>
          </a:p>
          <a:p>
            <a:endParaRPr lang="en-US" sz="400" b="1" dirty="0" smtClean="0">
              <a:latin typeface="+mj-lt"/>
            </a:endParaRPr>
          </a:p>
          <a:p>
            <a:r>
              <a:rPr lang="en-US" sz="2400" b="1" dirty="0" smtClean="0">
                <a:latin typeface="+mj-lt"/>
              </a:rPr>
              <a:t>The goals of macroeconomic policy are: </a:t>
            </a:r>
          </a:p>
          <a:p>
            <a:r>
              <a:rPr lang="en-US" sz="2000" dirty="0" smtClean="0">
                <a:latin typeface="+mj-lt"/>
              </a:rPr>
              <a:t> 1.    </a:t>
            </a:r>
            <a:r>
              <a:rPr lang="en-US" sz="2200" i="1" dirty="0" smtClean="0">
                <a:latin typeface="+mj-lt"/>
              </a:rPr>
              <a:t>A high and growing level of national output   </a:t>
            </a:r>
          </a:p>
          <a:p>
            <a:r>
              <a:rPr lang="en-US" sz="2200" dirty="0" smtClean="0">
                <a:latin typeface="+mj-lt"/>
              </a:rPr>
              <a:t> 2.    </a:t>
            </a:r>
            <a:r>
              <a:rPr lang="en-US" sz="2200" i="1" dirty="0" smtClean="0">
                <a:latin typeface="+mj-lt"/>
              </a:rPr>
              <a:t>High employment with low unemployment   </a:t>
            </a:r>
          </a:p>
          <a:p>
            <a:r>
              <a:rPr lang="en-US" sz="2200" dirty="0" smtClean="0">
                <a:latin typeface="+mj-lt"/>
              </a:rPr>
              <a:t> 3.    </a:t>
            </a:r>
            <a:r>
              <a:rPr lang="en-US" sz="2200" i="1" dirty="0" smtClean="0">
                <a:latin typeface="+mj-lt"/>
              </a:rPr>
              <a:t>A stable or gently rising price level </a:t>
            </a:r>
          </a:p>
          <a:p>
            <a:endParaRPr lang="en-US" sz="2200" dirty="0" smtClean="0">
              <a:latin typeface="+mj-lt"/>
            </a:endParaRPr>
          </a:p>
          <a:p>
            <a:endParaRPr lang="en-US" sz="2000" b="1" i="1" dirty="0" smtClean="0">
              <a:latin typeface="+mj-lt"/>
            </a:endParaRPr>
          </a:p>
          <a:p>
            <a:r>
              <a:rPr lang="en-US" sz="2000" dirty="0" smtClean="0">
                <a:latin typeface="+mj-lt"/>
              </a:rPr>
              <a:t> </a:t>
            </a:r>
          </a:p>
          <a:p>
            <a:endParaRPr lang="en-US" sz="2000" b="1" i="1" dirty="0" smtClean="0">
              <a:latin typeface="+mj-lt"/>
            </a:endParaRPr>
          </a:p>
          <a:p>
            <a:r>
              <a:rPr lang="en-US" sz="2000" b="1" i="1" dirty="0" smtClean="0">
                <a:latin typeface="+mj-lt"/>
              </a:rPr>
              <a:t> </a:t>
            </a:r>
            <a:endParaRPr lang="en-US" sz="2000" b="1" i="1" dirty="0">
              <a:latin typeface="+mj-lt"/>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609600"/>
            <a:ext cx="7772400" cy="5539978"/>
          </a:xfrm>
          <a:prstGeom prst="rect">
            <a:avLst/>
          </a:prstGeom>
          <a:noFill/>
        </p:spPr>
        <p:txBody>
          <a:bodyPr wrap="square" rtlCol="0">
            <a:spAutoFit/>
          </a:bodyPr>
          <a:lstStyle/>
          <a:p>
            <a:pPr>
              <a:buFont typeface="Wingdings" panose="05000000000000000000" pitchFamily="2" charset="2"/>
              <a:buChar char="§"/>
            </a:pPr>
            <a:r>
              <a:rPr lang="en-US" dirty="0" smtClean="0"/>
              <a:t> </a:t>
            </a:r>
            <a:r>
              <a:rPr lang="en-US" sz="2400" b="1" dirty="0" smtClean="0">
                <a:solidFill>
                  <a:srgbClr val="C00000"/>
                </a:solidFill>
                <a:latin typeface="Cambria" panose="02040503050406030204" pitchFamily="18" charset="0"/>
              </a:rPr>
              <a:t>The Tools of Macroeconomic Policy:</a:t>
            </a:r>
          </a:p>
          <a:p>
            <a:pPr>
              <a:buFont typeface="Wingdings" panose="05000000000000000000" pitchFamily="2" charset="2"/>
              <a:buChar char="§"/>
            </a:pPr>
            <a:endParaRPr lang="en-US" sz="800" b="1" dirty="0" smtClean="0">
              <a:latin typeface="Cambria" panose="02040503050406030204" pitchFamily="18" charset="0"/>
            </a:endParaRPr>
          </a:p>
          <a:p>
            <a:pPr algn="just"/>
            <a:r>
              <a:rPr lang="en-US" sz="2200" dirty="0" smtClean="0">
                <a:latin typeface="+mj-lt"/>
              </a:rPr>
              <a:t>Governments have certain instruments that they can use to affect macroeconomic activity. </a:t>
            </a:r>
          </a:p>
          <a:p>
            <a:pPr algn="just"/>
            <a:endParaRPr lang="en-US" sz="1200" dirty="0" smtClean="0">
              <a:latin typeface="+mj-lt"/>
            </a:endParaRPr>
          </a:p>
          <a:p>
            <a:pPr algn="just"/>
            <a:r>
              <a:rPr lang="en-US" sz="2200" i="1" dirty="0" smtClean="0">
                <a:latin typeface="+mj-lt"/>
              </a:rPr>
              <a:t>A  policy instrument is an economic variable under the control of government that can affect one or more of the macroeconomic goals.</a:t>
            </a:r>
          </a:p>
          <a:p>
            <a:pPr algn="just"/>
            <a:r>
              <a:rPr lang="en-US" sz="800" i="1" dirty="0" smtClean="0">
                <a:latin typeface="+mj-lt"/>
              </a:rPr>
              <a:t> </a:t>
            </a:r>
          </a:p>
          <a:p>
            <a:pPr algn="just"/>
            <a:r>
              <a:rPr lang="en-US" sz="2200" dirty="0" smtClean="0">
                <a:latin typeface="+mj-lt"/>
              </a:rPr>
              <a:t>By changing </a:t>
            </a:r>
            <a:r>
              <a:rPr lang="en-US" sz="2200" b="1" dirty="0" smtClean="0">
                <a:solidFill>
                  <a:srgbClr val="00B0F0"/>
                </a:solidFill>
                <a:latin typeface="+mj-lt"/>
              </a:rPr>
              <a:t>monetary, fiscal</a:t>
            </a:r>
            <a:r>
              <a:rPr lang="en-US" sz="2200" dirty="0" smtClean="0">
                <a:latin typeface="+mj-lt"/>
              </a:rPr>
              <a:t>, and other policies, governments can avoid the worst excesses of the business cycle or increase the growth rate of potential output.  </a:t>
            </a:r>
          </a:p>
          <a:p>
            <a:pPr algn="just"/>
            <a:endParaRPr lang="en-US" sz="1200" dirty="0" smtClean="0">
              <a:latin typeface="+mj-lt"/>
            </a:endParaRPr>
          </a:p>
          <a:p>
            <a:pPr algn="just"/>
            <a:r>
              <a:rPr lang="en-US" sz="2200" dirty="0" smtClean="0">
                <a:latin typeface="+mj-lt"/>
              </a:rPr>
              <a:t>This mean an economy  has two major kinds of policies that can </a:t>
            </a:r>
          </a:p>
          <a:p>
            <a:pPr algn="just"/>
            <a:r>
              <a:rPr lang="en-US" sz="2200" dirty="0" smtClean="0">
                <a:latin typeface="+mj-lt"/>
              </a:rPr>
              <a:t>be used to pursue its macroeconomic goals—</a:t>
            </a:r>
          </a:p>
          <a:p>
            <a:endParaRPr lang="en-US" sz="2200" dirty="0" smtClean="0">
              <a:latin typeface="+mj-lt"/>
            </a:endParaRPr>
          </a:p>
          <a:p>
            <a:pPr>
              <a:buFont typeface="Arial" panose="020B0604020202020204" pitchFamily="34" charset="0"/>
              <a:buChar char="•"/>
            </a:pPr>
            <a:r>
              <a:rPr lang="en-US" sz="2200" dirty="0" smtClean="0">
                <a:latin typeface="+mj-lt"/>
              </a:rPr>
              <a:t> </a:t>
            </a:r>
            <a:r>
              <a:rPr lang="en-US" sz="2400" b="1" dirty="0" smtClean="0">
                <a:solidFill>
                  <a:srgbClr val="00B0F0"/>
                </a:solidFill>
                <a:latin typeface="+mj-lt"/>
              </a:rPr>
              <a:t>Fiscal policy </a:t>
            </a:r>
          </a:p>
          <a:p>
            <a:pPr>
              <a:buFont typeface="Arial" panose="020B0604020202020204" pitchFamily="34" charset="0"/>
              <a:buChar char="•"/>
            </a:pPr>
            <a:r>
              <a:rPr lang="en-US" sz="2400" b="1" dirty="0" smtClean="0">
                <a:solidFill>
                  <a:srgbClr val="00B0F0"/>
                </a:solidFill>
                <a:latin typeface="+mj-lt"/>
              </a:rPr>
              <a:t> Monetary policy.</a:t>
            </a:r>
            <a:endParaRPr lang="en-US" sz="2400" b="1" dirty="0">
              <a:solidFill>
                <a:srgbClr val="00B0F0"/>
              </a:solidFill>
              <a:latin typeface="+mj-lt"/>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457200"/>
            <a:ext cx="7620000" cy="7171194"/>
          </a:xfrm>
          <a:prstGeom prst="rect">
            <a:avLst/>
          </a:prstGeom>
          <a:noFill/>
        </p:spPr>
        <p:txBody>
          <a:bodyPr wrap="square" rtlCol="0">
            <a:spAutoFit/>
          </a:bodyPr>
          <a:lstStyle/>
          <a:p>
            <a:r>
              <a:rPr lang="en-US" sz="2400" b="1" i="1" dirty="0" smtClean="0">
                <a:solidFill>
                  <a:srgbClr val="00B0F0"/>
                </a:solidFill>
                <a:latin typeface="+mj-lt"/>
              </a:rPr>
              <a:t>Fiscal Policy</a:t>
            </a:r>
          </a:p>
          <a:p>
            <a:endParaRPr lang="en-US" sz="800" b="1" i="1" dirty="0" smtClean="0">
              <a:latin typeface="+mj-lt"/>
            </a:endParaRPr>
          </a:p>
          <a:p>
            <a:pPr algn="just"/>
            <a:r>
              <a:rPr lang="en-US" sz="2200" dirty="0" smtClean="0">
                <a:latin typeface="+mj-lt"/>
              </a:rPr>
              <a:t>Fiscal policy consists of government expenditure and taxation. Government expenditure influences the relative size of collective spending and private consumption. Taxation increases private saving. In addition, it affects investment and potential output. </a:t>
            </a:r>
            <a:r>
              <a:rPr lang="en-US" sz="2200" dirty="0" smtClean="0">
                <a:solidFill>
                  <a:srgbClr val="FF0000"/>
                </a:solidFill>
                <a:latin typeface="+mj-lt"/>
              </a:rPr>
              <a:t>Fiscal policy is primarily used to affect long-term economic growth through its impact on national saving and investment; it is also used to stimulate spending in deep or sharp recessions</a:t>
            </a:r>
            <a:r>
              <a:rPr lang="en-US" sz="2200" dirty="0" smtClean="0">
                <a:latin typeface="+mj-lt"/>
              </a:rPr>
              <a:t>. </a:t>
            </a:r>
          </a:p>
          <a:p>
            <a:pPr algn="just"/>
            <a:endParaRPr lang="en-US" sz="800" dirty="0" smtClean="0">
              <a:latin typeface="+mj-lt"/>
            </a:endParaRPr>
          </a:p>
          <a:p>
            <a:pPr algn="just"/>
            <a:r>
              <a:rPr lang="en-US" sz="2400" b="1" i="1" dirty="0" smtClean="0">
                <a:solidFill>
                  <a:srgbClr val="00B0F0"/>
                </a:solidFill>
              </a:rPr>
              <a:t>Monetary Policy</a:t>
            </a:r>
          </a:p>
          <a:p>
            <a:pPr algn="just"/>
            <a:endParaRPr lang="en-US" sz="800" b="1" i="1" dirty="0" smtClean="0"/>
          </a:p>
          <a:p>
            <a:pPr algn="just"/>
            <a:r>
              <a:rPr lang="en-US" sz="2000" b="1" i="1" dirty="0" smtClean="0"/>
              <a:t> </a:t>
            </a:r>
            <a:r>
              <a:rPr lang="en-US" sz="2200" dirty="0" smtClean="0"/>
              <a:t>Monetary policy, conducted by the central bank, determines short-run interest rates. It thereby affects credit conditions, including asset prices such as stock and bond prices and exchange rates. </a:t>
            </a:r>
            <a:r>
              <a:rPr lang="en-US" sz="2200" dirty="0" smtClean="0">
                <a:solidFill>
                  <a:srgbClr val="FF0000"/>
                </a:solidFill>
              </a:rPr>
              <a:t>Changes in interest rates, along with other financial conditions, affect spending in sectors such as business investment, housing, and foreign trade. </a:t>
            </a:r>
            <a:r>
              <a:rPr lang="en-US" sz="2200" dirty="0">
                <a:solidFill>
                  <a:srgbClr val="FF0000"/>
                </a:solidFill>
              </a:rPr>
              <a:t>But the most important impact is on </a:t>
            </a:r>
            <a:r>
              <a:rPr lang="en-US" sz="2200" dirty="0" smtClean="0">
                <a:solidFill>
                  <a:srgbClr val="FF0000"/>
                </a:solidFill>
              </a:rPr>
              <a:t>price </a:t>
            </a:r>
            <a:r>
              <a:rPr lang="en-US" sz="2200" dirty="0">
                <a:solidFill>
                  <a:srgbClr val="FF0000"/>
                </a:solidFill>
              </a:rPr>
              <a:t>level. </a:t>
            </a:r>
            <a:endParaRPr lang="en-US" sz="2200" dirty="0" smtClean="0">
              <a:solidFill>
                <a:srgbClr val="FF0000"/>
              </a:solidFill>
            </a:endParaRPr>
          </a:p>
          <a:p>
            <a:pPr algn="just"/>
            <a:endParaRPr lang="en-US" sz="2000" dirty="0" smtClean="0">
              <a:latin typeface="+mj-lt"/>
            </a:endParaRPr>
          </a:p>
          <a:p>
            <a:pPr algn="just"/>
            <a:endParaRPr lang="en-US" sz="2000" dirty="0" smtClean="0">
              <a:latin typeface="+mj-lt"/>
            </a:endParaRPr>
          </a:p>
          <a:p>
            <a:pPr algn="just"/>
            <a:endParaRPr lang="en-US" sz="2000" dirty="0" smtClean="0">
              <a:latin typeface="+mj-lt"/>
            </a:endParaRPr>
          </a:p>
          <a:p>
            <a:pPr algn="just"/>
            <a:endParaRPr lang="en-US" sz="2000" dirty="0">
              <a:latin typeface="+mj-lt"/>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10</a:t>
            </a:fld>
            <a:endParaRPr lang="en-US"/>
          </a:p>
        </p:txBody>
      </p:sp>
      <p:sp>
        <p:nvSpPr>
          <p:cNvPr id="4" name="TextBox 3"/>
          <p:cNvSpPr txBox="1"/>
          <p:nvPr/>
        </p:nvSpPr>
        <p:spPr>
          <a:xfrm>
            <a:off x="762000" y="457200"/>
            <a:ext cx="7598079" cy="6032421"/>
          </a:xfrm>
          <a:prstGeom prst="rect">
            <a:avLst/>
          </a:prstGeom>
          <a:noFill/>
        </p:spPr>
        <p:txBody>
          <a:bodyPr wrap="square" rtlCol="0">
            <a:spAutoFit/>
          </a:bodyPr>
          <a:lstStyle/>
          <a:p>
            <a:pPr>
              <a:buFont typeface="Wingdings" panose="05000000000000000000" pitchFamily="2" charset="2"/>
              <a:buChar char="§"/>
            </a:pPr>
            <a:r>
              <a:rPr lang="en-US" dirty="0" smtClean="0"/>
              <a:t>  </a:t>
            </a:r>
            <a:r>
              <a:rPr lang="en-US" sz="2400" b="1" dirty="0" smtClean="0">
                <a:solidFill>
                  <a:srgbClr val="C00000"/>
                </a:solidFill>
                <a:latin typeface="Cambria" panose="02040503050406030204" pitchFamily="18" charset="0"/>
              </a:rPr>
              <a:t>The Circular Flow Model:</a:t>
            </a:r>
          </a:p>
          <a:p>
            <a:endParaRPr lang="en-US" sz="800" b="1" dirty="0" smtClean="0">
              <a:latin typeface="Cambria" panose="02040503050406030204" pitchFamily="18" charset="0"/>
            </a:endParaRPr>
          </a:p>
          <a:p>
            <a:pPr marL="342900" indent="-342900" algn="just">
              <a:buFont typeface="Arial" pitchFamily="34" charset="0"/>
              <a:buChar char="•"/>
            </a:pPr>
            <a:r>
              <a:rPr lang="en-US" sz="2200" dirty="0" smtClean="0"/>
              <a:t>The circular flow model describes all the transactions between households and firms in a simple economy. </a:t>
            </a:r>
          </a:p>
          <a:p>
            <a:pPr marL="171450" indent="-171450" algn="just">
              <a:buFont typeface="Arial" pitchFamily="34" charset="0"/>
              <a:buChar char="•"/>
            </a:pPr>
            <a:endParaRPr lang="en-US" sz="800" dirty="0" smtClean="0"/>
          </a:p>
          <a:p>
            <a:pPr marL="342900" indent="-342900" algn="just">
              <a:buFont typeface="Arial" pitchFamily="34" charset="0"/>
              <a:buChar char="•"/>
            </a:pPr>
            <a:r>
              <a:rPr lang="en-US" sz="2200" dirty="0" smtClean="0"/>
              <a:t>It simplifies matters by assuming that all goods and services are bought by households and that households spend all of their income.</a:t>
            </a:r>
          </a:p>
          <a:p>
            <a:pPr marL="171450" indent="-171450" algn="just">
              <a:buFont typeface="Arial" pitchFamily="34" charset="0"/>
              <a:buChar char="•"/>
            </a:pPr>
            <a:endParaRPr lang="en-US" sz="800" dirty="0" smtClean="0"/>
          </a:p>
          <a:p>
            <a:pPr marL="342900" indent="-342900" algn="just">
              <a:buFont typeface="Arial" pitchFamily="34" charset="0"/>
              <a:buChar char="•"/>
            </a:pPr>
            <a:r>
              <a:rPr lang="en-US" sz="2200" dirty="0" smtClean="0"/>
              <a:t>In this economy, when households buy goods and services from firms, these expenditures flow through the markets for goods and services. </a:t>
            </a:r>
          </a:p>
          <a:p>
            <a:pPr marL="171450" indent="-171450" algn="just">
              <a:buFont typeface="Arial" pitchFamily="34" charset="0"/>
              <a:buChar char="•"/>
            </a:pPr>
            <a:endParaRPr lang="en-US" sz="800" dirty="0"/>
          </a:p>
          <a:p>
            <a:pPr marL="342900" indent="-342900" algn="just">
              <a:buFont typeface="Arial" pitchFamily="34" charset="0"/>
              <a:buChar char="•"/>
            </a:pPr>
            <a:r>
              <a:rPr lang="en-US" sz="2200" dirty="0" smtClean="0"/>
              <a:t>When the firms in turn use the money they receive from sales to pay workers’ wages, landowners’ rent, and firm owners’ profit, this income flows through the markets for the factors of production. </a:t>
            </a:r>
          </a:p>
          <a:p>
            <a:pPr marL="171450" indent="-171450" algn="just">
              <a:buFont typeface="Arial" pitchFamily="34" charset="0"/>
              <a:buChar char="•"/>
            </a:pPr>
            <a:endParaRPr lang="en-US" sz="800" dirty="0"/>
          </a:p>
          <a:p>
            <a:pPr marL="342900" indent="-342900" algn="just">
              <a:buFont typeface="Arial" pitchFamily="34" charset="0"/>
              <a:buChar char="•"/>
            </a:pPr>
            <a:r>
              <a:rPr lang="en-US" sz="2200" dirty="0" smtClean="0">
                <a:solidFill>
                  <a:srgbClr val="00B0F0"/>
                </a:solidFill>
              </a:rPr>
              <a:t>Money continuously flows from households to firms and then back to households.</a:t>
            </a:r>
            <a:endParaRPr lang="en-US" sz="2200" dirty="0">
              <a:solidFill>
                <a:srgbClr val="00B0F0"/>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11</a:t>
            </a:fld>
            <a:endParaRPr lang="en-US"/>
          </a:p>
        </p:txBody>
      </p:sp>
      <p:pic>
        <p:nvPicPr>
          <p:cNvPr id="1026" name="Picture 2"/>
          <p:cNvPicPr>
            <a:picLocks noChangeAspect="1" noChangeArrowheads="1"/>
          </p:cNvPicPr>
          <p:nvPr/>
        </p:nvPicPr>
        <p:blipFill>
          <a:blip r:embed="rId2" cstate="print">
            <a:lum bright="-10000" contrast="-20000"/>
          </a:blip>
          <a:srcRect/>
          <a:stretch>
            <a:fillRect/>
          </a:stretch>
        </p:blipFill>
        <p:spPr bwMode="auto">
          <a:xfrm>
            <a:off x="990600" y="762000"/>
            <a:ext cx="7315200" cy="4800600"/>
          </a:xfrm>
          <a:prstGeom prst="rect">
            <a:avLst/>
          </a:prstGeom>
          <a:noFill/>
          <a:ln w="9525">
            <a:noFill/>
            <a:miter lim="800000"/>
            <a:headEnd/>
            <a:tailEnd/>
          </a:ln>
          <a:effectLst/>
        </p:spPr>
      </p:pic>
      <p:sp>
        <p:nvSpPr>
          <p:cNvPr id="6" name="TextBox 5"/>
          <p:cNvSpPr txBox="1"/>
          <p:nvPr/>
        </p:nvSpPr>
        <p:spPr>
          <a:xfrm>
            <a:off x="2133600" y="5715000"/>
            <a:ext cx="5943600" cy="400110"/>
          </a:xfrm>
          <a:prstGeom prst="rect">
            <a:avLst/>
          </a:prstGeom>
          <a:noFill/>
        </p:spPr>
        <p:txBody>
          <a:bodyPr wrap="square" rtlCol="0">
            <a:spAutoFit/>
          </a:bodyPr>
          <a:lstStyle/>
          <a:p>
            <a:pPr algn="ctr"/>
            <a:r>
              <a:rPr lang="en-US" sz="2000" b="1" dirty="0" smtClean="0"/>
              <a:t>Figure : Circular Flow of National Income</a:t>
            </a:r>
            <a:endParaRPr lang="en-US" sz="2000" b="1"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12</a:t>
            </a:fld>
            <a:endParaRPr lang="en-US"/>
          </a:p>
        </p:txBody>
      </p:sp>
      <p:sp>
        <p:nvSpPr>
          <p:cNvPr id="4" name="TextBox 3"/>
          <p:cNvSpPr txBox="1"/>
          <p:nvPr/>
        </p:nvSpPr>
        <p:spPr>
          <a:xfrm>
            <a:off x="685800" y="381000"/>
            <a:ext cx="7848600" cy="6832640"/>
          </a:xfrm>
          <a:prstGeom prst="rect">
            <a:avLst/>
          </a:prstGeom>
          <a:noFill/>
        </p:spPr>
        <p:txBody>
          <a:bodyPr wrap="square" rtlCol="0">
            <a:spAutoFit/>
          </a:bodyPr>
          <a:lstStyle/>
          <a:p>
            <a:pPr algn="just">
              <a:buFont typeface="Arial" panose="020B0604020202020204" pitchFamily="34" charset="0"/>
              <a:buChar char="•"/>
            </a:pPr>
            <a:r>
              <a:rPr lang="en-US" sz="2200" dirty="0" smtClean="0"/>
              <a:t> The circular flow model of national income and expenditure is a fundamental representation of the macroeconomic activity between the major players in the economy: </a:t>
            </a:r>
            <a:r>
              <a:rPr lang="en-US" sz="2200" b="1" i="1" dirty="0" smtClean="0"/>
              <a:t>Consumers and Producers</a:t>
            </a:r>
          </a:p>
          <a:p>
            <a:pPr algn="just">
              <a:buFont typeface="Arial" panose="020B0604020202020204" pitchFamily="34" charset="0"/>
              <a:buChar char="•"/>
            </a:pPr>
            <a:endParaRPr lang="en-US" sz="1200" i="1" dirty="0" smtClean="0"/>
          </a:p>
          <a:p>
            <a:pPr algn="just">
              <a:buFont typeface="Arial" panose="020B0604020202020204" pitchFamily="34" charset="0"/>
              <a:buChar char="•"/>
            </a:pPr>
            <a:r>
              <a:rPr lang="en-US" sz="2200" i="1" dirty="0" smtClean="0"/>
              <a:t>  </a:t>
            </a:r>
            <a:r>
              <a:rPr lang="en-US" sz="2200" dirty="0" smtClean="0"/>
              <a:t>The various components of national income and expenditure (revenue, spending, factor payments) are shown in the diagram in such a manner that </a:t>
            </a:r>
            <a:r>
              <a:rPr lang="en-US" sz="2200" b="1" dirty="0" smtClean="0">
                <a:solidFill>
                  <a:srgbClr val="00B050"/>
                </a:solidFill>
              </a:rPr>
              <a:t>national income </a:t>
            </a:r>
            <a:r>
              <a:rPr lang="en-US" sz="2200" b="1" i="1" dirty="0" smtClean="0">
                <a:solidFill>
                  <a:srgbClr val="00B050"/>
                </a:solidFill>
              </a:rPr>
              <a:t>equal</a:t>
            </a:r>
            <a:r>
              <a:rPr lang="en-US" sz="2200" b="1" dirty="0" smtClean="0">
                <a:solidFill>
                  <a:srgbClr val="00B050"/>
                </a:solidFill>
              </a:rPr>
              <a:t>s national expenditure.</a:t>
            </a:r>
          </a:p>
          <a:p>
            <a:pPr algn="just">
              <a:buFont typeface="Arial" panose="020B0604020202020204" pitchFamily="34" charset="0"/>
              <a:buChar char="•"/>
            </a:pPr>
            <a:endParaRPr lang="en-US" sz="1200" i="1" dirty="0" smtClean="0"/>
          </a:p>
          <a:p>
            <a:pPr algn="just">
              <a:buFont typeface="Arial" panose="020B0604020202020204" pitchFamily="34" charset="0"/>
              <a:buChar char="•"/>
            </a:pPr>
            <a:r>
              <a:rPr lang="en-US" sz="2200" i="1" dirty="0" smtClean="0"/>
              <a:t>  </a:t>
            </a:r>
            <a:r>
              <a:rPr lang="en-US" sz="2200" dirty="0" smtClean="0">
                <a:solidFill>
                  <a:srgbClr val="00B0F0"/>
                </a:solidFill>
              </a:rPr>
              <a:t>In this model the consumers (household sector) provides various factors of production such as land, labor, capital to producers (Firms) who produce goods and services by coordinating them.</a:t>
            </a:r>
          </a:p>
          <a:p>
            <a:pPr algn="just">
              <a:buFont typeface="Arial" panose="020B0604020202020204" pitchFamily="34" charset="0"/>
              <a:buChar char="•"/>
            </a:pPr>
            <a:endParaRPr lang="en-US" sz="1200" dirty="0" smtClean="0"/>
          </a:p>
          <a:p>
            <a:pPr algn="just">
              <a:buFont typeface="Arial" panose="020B0604020202020204" pitchFamily="34" charset="0"/>
              <a:buChar char="•"/>
            </a:pPr>
            <a:r>
              <a:rPr lang="en-US" sz="2200" dirty="0" smtClean="0"/>
              <a:t> Producers or firms in return makes payment in the form of rent, wages, interest and profits to the household sector.</a:t>
            </a:r>
          </a:p>
          <a:p>
            <a:pPr algn="just">
              <a:buFont typeface="Arial" panose="020B0604020202020204" pitchFamily="34" charset="0"/>
              <a:buChar char="•"/>
            </a:pPr>
            <a:endParaRPr lang="en-US" sz="1200" dirty="0" smtClean="0"/>
          </a:p>
          <a:p>
            <a:pPr algn="just">
              <a:buFont typeface="Arial" panose="020B0604020202020204" pitchFamily="34" charset="0"/>
              <a:buChar char="•"/>
            </a:pPr>
            <a:r>
              <a:rPr lang="en-US" sz="2200" dirty="0" smtClean="0"/>
              <a:t>  </a:t>
            </a:r>
            <a:r>
              <a:rPr lang="en-US" sz="2200" dirty="0" smtClean="0">
                <a:solidFill>
                  <a:srgbClr val="00B050"/>
                </a:solidFill>
              </a:rPr>
              <a:t>Again household sector spends this income to fulfill its wants in the form of consumption expenditure. Producers supplies them goods and services produced and gets income in return of it.</a:t>
            </a:r>
          </a:p>
          <a:p>
            <a:pPr algn="just">
              <a:buFont typeface="Arial" panose="020B0604020202020204" pitchFamily="34" charset="0"/>
              <a:buChar char="•"/>
            </a:pPr>
            <a:endParaRPr lang="en-US" sz="2000" dirty="0" smtClean="0"/>
          </a:p>
          <a:p>
            <a:pPr algn="just"/>
            <a:endParaRPr lang="en-US" sz="2000" dirty="0" smtClean="0"/>
          </a:p>
          <a:p>
            <a:pPr algn="just"/>
            <a:r>
              <a:rPr lang="en-US" sz="2000" dirty="0" smtClean="0"/>
              <a:t>                                      </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13</a:t>
            </a:fld>
            <a:endParaRPr lang="en-US"/>
          </a:p>
        </p:txBody>
      </p:sp>
      <p:sp>
        <p:nvSpPr>
          <p:cNvPr id="3" name="TextBox 2"/>
          <p:cNvSpPr txBox="1"/>
          <p:nvPr/>
        </p:nvSpPr>
        <p:spPr>
          <a:xfrm>
            <a:off x="1066800" y="1447800"/>
            <a:ext cx="7162800" cy="4093428"/>
          </a:xfrm>
          <a:prstGeom prst="rect">
            <a:avLst/>
          </a:prstGeom>
          <a:noFill/>
        </p:spPr>
        <p:txBody>
          <a:bodyPr wrap="square" rtlCol="0">
            <a:spAutoFit/>
          </a:bodyPr>
          <a:lstStyle/>
          <a:p>
            <a:pPr algn="just">
              <a:buFont typeface="Wingdings" panose="05000000000000000000" pitchFamily="2" charset="2"/>
              <a:buChar char="§"/>
            </a:pPr>
            <a:r>
              <a:rPr lang="en-US" dirty="0" smtClean="0"/>
              <a:t>  </a:t>
            </a:r>
            <a:r>
              <a:rPr lang="en-US" sz="2400" dirty="0" smtClean="0"/>
              <a:t>Thus expenditure of one sector becomes the income of the  other. Similarly the supply of goods and services by one sector of the economy becomes the demand for the other sector. That is according to the circular flow model we can conclude that:</a:t>
            </a:r>
          </a:p>
          <a:p>
            <a:pPr algn="just"/>
            <a:endParaRPr lang="en-US" sz="2800" dirty="0" smtClean="0"/>
          </a:p>
          <a:p>
            <a:pPr algn="ctr"/>
            <a:r>
              <a:rPr lang="en-US" sz="2000" b="1" i="1" dirty="0" smtClean="0"/>
              <a:t> </a:t>
            </a:r>
            <a:r>
              <a:rPr lang="en-US" sz="2400" b="1" i="1" dirty="0" smtClean="0">
                <a:solidFill>
                  <a:srgbClr val="FF0000"/>
                </a:solidFill>
              </a:rPr>
              <a:t>National Income = National Expenditure</a:t>
            </a:r>
          </a:p>
          <a:p>
            <a:pPr algn="ctr"/>
            <a:endParaRPr lang="en-US" sz="2000" b="1" i="1" dirty="0" smtClean="0"/>
          </a:p>
          <a:p>
            <a:endParaRPr lang="en-US" sz="2000" b="1" i="1" dirty="0" smtClean="0"/>
          </a:p>
          <a:p>
            <a:pPr>
              <a:buFont typeface="Wingdings" panose="05000000000000000000" pitchFamily="2" charset="2"/>
              <a:buChar char="§"/>
            </a:pPr>
            <a:r>
              <a:rPr lang="en-US" sz="2000" b="1" i="1" dirty="0" smtClean="0"/>
              <a:t>   </a:t>
            </a:r>
            <a:r>
              <a:rPr lang="en-US" sz="2400" dirty="0" smtClean="0"/>
              <a:t>This process is unending and forms the circular flow of income and expenditure.</a:t>
            </a:r>
            <a:endParaRPr lang="en-US" sz="2400" b="1" i="1"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14</a:t>
            </a:fld>
            <a:endParaRPr lang="en-US"/>
          </a:p>
        </p:txBody>
      </p:sp>
      <p:sp>
        <p:nvSpPr>
          <p:cNvPr id="3" name="TextBox 2"/>
          <p:cNvSpPr txBox="1"/>
          <p:nvPr/>
        </p:nvSpPr>
        <p:spPr>
          <a:xfrm>
            <a:off x="838200" y="609600"/>
            <a:ext cx="7391400" cy="5416868"/>
          </a:xfrm>
          <a:prstGeom prst="rect">
            <a:avLst/>
          </a:prstGeom>
          <a:noFill/>
        </p:spPr>
        <p:txBody>
          <a:bodyPr wrap="square" rtlCol="0">
            <a:spAutoFit/>
          </a:bodyPr>
          <a:lstStyle/>
          <a:p>
            <a:pPr>
              <a:buFont typeface="Wingdings" panose="05000000000000000000" pitchFamily="2" charset="2"/>
              <a:buChar char="§"/>
            </a:pPr>
            <a:r>
              <a:rPr lang="en-US" sz="2000" dirty="0" smtClean="0"/>
              <a:t>  </a:t>
            </a:r>
            <a:r>
              <a:rPr lang="en-US" sz="2400" b="1" dirty="0" smtClean="0">
                <a:solidFill>
                  <a:srgbClr val="FF0000"/>
                </a:solidFill>
                <a:latin typeface="Cambria" panose="02040503050406030204" pitchFamily="18" charset="0"/>
              </a:rPr>
              <a:t>Macroeconomic Equilibrium</a:t>
            </a:r>
            <a:r>
              <a:rPr lang="en-US" sz="2400" dirty="0" smtClean="0">
                <a:solidFill>
                  <a:srgbClr val="FF0000"/>
                </a:solidFill>
              </a:rPr>
              <a:t>:</a:t>
            </a:r>
          </a:p>
          <a:p>
            <a:pPr>
              <a:buFont typeface="Wingdings" panose="05000000000000000000" pitchFamily="2" charset="2"/>
              <a:buChar char="§"/>
            </a:pPr>
            <a:endParaRPr lang="en-US" sz="1200" dirty="0" smtClean="0"/>
          </a:p>
          <a:p>
            <a:r>
              <a:rPr lang="en-US" sz="2200" dirty="0" smtClean="0"/>
              <a:t> Aggregate supply and demand curves are often used to help analyze macroeconomic conditions. </a:t>
            </a:r>
          </a:p>
          <a:p>
            <a:endParaRPr lang="en-US" sz="1200" dirty="0" smtClean="0"/>
          </a:p>
          <a:p>
            <a:pPr algn="just">
              <a:buFont typeface="Arial" panose="020B0604020202020204" pitchFamily="34" charset="0"/>
              <a:buChar char="•"/>
            </a:pPr>
            <a:r>
              <a:rPr lang="en-US" sz="2000" dirty="0" smtClean="0"/>
              <a:t> </a:t>
            </a:r>
            <a:r>
              <a:rPr lang="en-US" sz="2200" b="1" i="1" dirty="0" smtClean="0">
                <a:solidFill>
                  <a:srgbClr val="00B0F0"/>
                </a:solidFill>
              </a:rPr>
              <a:t>Aggregate Supply</a:t>
            </a:r>
            <a:r>
              <a:rPr lang="en-US" sz="2200" b="1" dirty="0" smtClean="0">
                <a:solidFill>
                  <a:srgbClr val="00B0F0"/>
                </a:solidFill>
              </a:rPr>
              <a:t>: </a:t>
            </a:r>
            <a:r>
              <a:rPr lang="en-US" sz="2200" dirty="0" smtClean="0"/>
              <a:t>Aggregate supply refers to the total quantity of goods and services that the economy’s businesses willingly produce and sell in a given period. Aggregate supply (often written AS) depends upon the price level, the productive capacity of the economy, and the level of costs. </a:t>
            </a:r>
          </a:p>
          <a:p>
            <a:pPr algn="just">
              <a:buFont typeface="Arial" panose="020B0604020202020204" pitchFamily="34" charset="0"/>
              <a:buChar char="•"/>
            </a:pPr>
            <a:endParaRPr lang="en-US" sz="1200" dirty="0" smtClean="0"/>
          </a:p>
          <a:p>
            <a:pPr algn="just">
              <a:buFont typeface="Arial" panose="020B0604020202020204" pitchFamily="34" charset="0"/>
              <a:buChar char="•"/>
            </a:pPr>
            <a:r>
              <a:rPr lang="en-US" sz="2000" dirty="0" smtClean="0"/>
              <a:t> </a:t>
            </a:r>
            <a:r>
              <a:rPr lang="en-US" sz="2200" b="1" i="1" dirty="0" smtClean="0">
                <a:solidFill>
                  <a:srgbClr val="00B0F0"/>
                </a:solidFill>
              </a:rPr>
              <a:t>Aggregate Demand: </a:t>
            </a:r>
            <a:r>
              <a:rPr lang="en-US" sz="2200" dirty="0" smtClean="0"/>
              <a:t>aggregate demand refers to the total amount that different sectors in the economy willingly spend in a given period. Aggregate demand ( often written AD ) equals total spending on goods and services. </a:t>
            </a:r>
            <a:r>
              <a:rPr lang="en-US" sz="2200" dirty="0" smtClean="0">
                <a:solidFill>
                  <a:srgbClr val="00B0F0"/>
                </a:solidFill>
              </a:rPr>
              <a:t>It depends on the level of prices, as well as on monetary policy, fiscal policy, and other factors. </a:t>
            </a:r>
            <a:endParaRPr lang="en-US" sz="2200" dirty="0">
              <a:solidFill>
                <a:srgbClr val="00B0F0"/>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15</a:t>
            </a:fld>
            <a:endParaRPr lang="en-US"/>
          </a:p>
        </p:txBody>
      </p:sp>
      <p:pic>
        <p:nvPicPr>
          <p:cNvPr id="2050" name="Picture 2"/>
          <p:cNvPicPr>
            <a:picLocks noChangeAspect="1" noChangeArrowheads="1"/>
          </p:cNvPicPr>
          <p:nvPr/>
        </p:nvPicPr>
        <p:blipFill>
          <a:blip r:embed="rId2" cstate="print"/>
          <a:srcRect/>
          <a:stretch>
            <a:fillRect/>
          </a:stretch>
        </p:blipFill>
        <p:spPr bwMode="auto">
          <a:xfrm>
            <a:off x="1828800" y="177800"/>
            <a:ext cx="5334000" cy="4318000"/>
          </a:xfrm>
          <a:prstGeom prst="rect">
            <a:avLst/>
          </a:prstGeom>
          <a:noFill/>
          <a:ln w="9525">
            <a:noFill/>
            <a:miter lim="800000"/>
            <a:headEnd/>
            <a:tailEnd/>
          </a:ln>
          <a:effectLst/>
        </p:spPr>
      </p:pic>
      <p:sp>
        <p:nvSpPr>
          <p:cNvPr id="5" name="TextBox 4"/>
          <p:cNvSpPr txBox="1"/>
          <p:nvPr/>
        </p:nvSpPr>
        <p:spPr>
          <a:xfrm>
            <a:off x="838200" y="5029200"/>
            <a:ext cx="7696200" cy="1323439"/>
          </a:xfrm>
          <a:prstGeom prst="rect">
            <a:avLst/>
          </a:prstGeom>
          <a:noFill/>
        </p:spPr>
        <p:txBody>
          <a:bodyPr wrap="square" rtlCol="0">
            <a:spAutoFit/>
          </a:bodyPr>
          <a:lstStyle/>
          <a:p>
            <a:pPr algn="just"/>
            <a:r>
              <a:rPr lang="en-US" sz="2000" dirty="0" smtClean="0"/>
              <a:t>National output and the overall price level are determined at the intersection of the aggregate demand and supply curves, at point  E. This equilibrium occurs at an overall price level where firms willingly produce and sell what consumers and other demanders willingly buy.</a:t>
            </a:r>
            <a:endParaRPr lang="en-US" sz="2000" dirty="0"/>
          </a:p>
        </p:txBody>
      </p:sp>
      <p:sp>
        <p:nvSpPr>
          <p:cNvPr id="6" name="TextBox 5"/>
          <p:cNvSpPr txBox="1"/>
          <p:nvPr/>
        </p:nvSpPr>
        <p:spPr>
          <a:xfrm>
            <a:off x="2590800" y="4572000"/>
            <a:ext cx="4648200" cy="338554"/>
          </a:xfrm>
          <a:prstGeom prst="rect">
            <a:avLst/>
          </a:prstGeom>
          <a:noFill/>
        </p:spPr>
        <p:txBody>
          <a:bodyPr wrap="square" rtlCol="0">
            <a:spAutoFit/>
          </a:bodyPr>
          <a:lstStyle/>
          <a:p>
            <a:pPr algn="ctr"/>
            <a:r>
              <a:rPr lang="en-US" sz="1600" i="1" dirty="0" smtClean="0"/>
              <a:t>Figure: Aggregate Demand Supply Equilibrium</a:t>
            </a:r>
            <a:endParaRPr lang="en-US" sz="1600" i="1"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16</a:t>
            </a:fld>
            <a:endParaRPr lang="en-US"/>
          </a:p>
        </p:txBody>
      </p:sp>
      <p:sp>
        <p:nvSpPr>
          <p:cNvPr id="3" name="Rectangle 2"/>
          <p:cNvSpPr/>
          <p:nvPr/>
        </p:nvSpPr>
        <p:spPr>
          <a:xfrm>
            <a:off x="914400" y="2057400"/>
            <a:ext cx="7391400" cy="1631216"/>
          </a:xfrm>
          <a:prstGeom prst="rect">
            <a:avLst/>
          </a:prstGeom>
        </p:spPr>
        <p:txBody>
          <a:bodyPr wrap="square">
            <a:spAutoFit/>
          </a:bodyPr>
          <a:lstStyle/>
          <a:p>
            <a:pPr algn="ctr"/>
            <a:r>
              <a:rPr lang="en-US" sz="3200" b="1" dirty="0" smtClean="0">
                <a:latin typeface="+mj-lt"/>
              </a:rPr>
              <a:t>Lecture 2</a:t>
            </a:r>
          </a:p>
          <a:p>
            <a:pPr algn="ctr"/>
            <a:endParaRPr lang="en-US" sz="3200" b="1" dirty="0" smtClean="0">
              <a:latin typeface="+mj-lt"/>
            </a:endParaRPr>
          </a:p>
          <a:p>
            <a:pPr algn="ctr"/>
            <a:r>
              <a:rPr lang="en-US" sz="3600" b="1" dirty="0" smtClean="0">
                <a:latin typeface="+mj-lt"/>
              </a:rPr>
              <a:t>Measuring National Income</a:t>
            </a:r>
            <a:endParaRPr lang="en-US" sz="4000" b="1" dirty="0">
              <a:latin typeface="+mj-lt"/>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17</a:t>
            </a:fld>
            <a:endParaRPr lang="en-US"/>
          </a:p>
        </p:txBody>
      </p:sp>
      <p:sp>
        <p:nvSpPr>
          <p:cNvPr id="3" name="TextBox 2"/>
          <p:cNvSpPr txBox="1"/>
          <p:nvPr/>
        </p:nvSpPr>
        <p:spPr>
          <a:xfrm>
            <a:off x="762000" y="1524000"/>
            <a:ext cx="7696200" cy="3908762"/>
          </a:xfrm>
          <a:prstGeom prst="rect">
            <a:avLst/>
          </a:prstGeom>
          <a:noFill/>
        </p:spPr>
        <p:txBody>
          <a:bodyPr wrap="square" rtlCol="0">
            <a:spAutoFit/>
          </a:bodyPr>
          <a:lstStyle/>
          <a:p>
            <a:pPr>
              <a:buFont typeface="Wingdings" panose="05000000000000000000" pitchFamily="2" charset="2"/>
              <a:buChar char="§"/>
            </a:pPr>
            <a:r>
              <a:rPr lang="en-US" dirty="0" smtClean="0"/>
              <a:t> </a:t>
            </a:r>
            <a:r>
              <a:rPr lang="en-US" sz="3200" b="1" dirty="0" smtClean="0">
                <a:solidFill>
                  <a:srgbClr val="C00000"/>
                </a:solidFill>
                <a:latin typeface="+mj-lt"/>
              </a:rPr>
              <a:t>National Income:</a:t>
            </a:r>
          </a:p>
          <a:p>
            <a:pPr>
              <a:buFont typeface="Wingdings" panose="05000000000000000000" pitchFamily="2" charset="2"/>
              <a:buChar char="§"/>
            </a:pPr>
            <a:endParaRPr lang="en-US" sz="2000" b="1" dirty="0" smtClean="0">
              <a:latin typeface="+mj-lt"/>
            </a:endParaRPr>
          </a:p>
          <a:p>
            <a:r>
              <a:rPr lang="en-US" sz="2400" dirty="0" smtClean="0">
                <a:latin typeface="Times New Roman" panose="02020603050405020304" pitchFamily="18" charset="0"/>
                <a:cs typeface="Times New Roman" panose="02020603050405020304" pitchFamily="18" charset="0"/>
              </a:rPr>
              <a:t>National income  is the money value of  output of goods and services produced within an economy over a period of time. Measuring the level and rate of growth of national income  is important in order to understand  the rate of economic growth.</a:t>
            </a:r>
          </a:p>
          <a:p>
            <a:endParaRPr lang="en-US" sz="800"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There are several measures of National Income, but the  most widely used measures are: GDP and GNP</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18</a:t>
            </a:fld>
            <a:endParaRPr lang="en-US"/>
          </a:p>
        </p:txBody>
      </p:sp>
      <p:sp>
        <p:nvSpPr>
          <p:cNvPr id="4" name="TextBox 3"/>
          <p:cNvSpPr txBox="1"/>
          <p:nvPr/>
        </p:nvSpPr>
        <p:spPr>
          <a:xfrm>
            <a:off x="838200" y="533400"/>
            <a:ext cx="7696200" cy="6340197"/>
          </a:xfrm>
          <a:prstGeom prst="rect">
            <a:avLst/>
          </a:prstGeom>
          <a:noFill/>
        </p:spPr>
        <p:txBody>
          <a:bodyPr wrap="square" rtlCol="0">
            <a:spAutoFit/>
          </a:bodyPr>
          <a:lstStyle/>
          <a:p>
            <a:pPr>
              <a:buFont typeface="Wingdings" panose="05000000000000000000" pitchFamily="2" charset="2"/>
              <a:buChar char="§"/>
            </a:pPr>
            <a:r>
              <a:rPr lang="en-US" dirty="0" smtClean="0"/>
              <a:t>  </a:t>
            </a:r>
            <a:r>
              <a:rPr lang="en-US" sz="2800" b="1" dirty="0" smtClean="0">
                <a:solidFill>
                  <a:srgbClr val="C00000"/>
                </a:solidFill>
                <a:latin typeface="+mj-lt"/>
              </a:rPr>
              <a:t>Gross Domestic Product (GDP):</a:t>
            </a:r>
          </a:p>
          <a:p>
            <a:endParaRPr lang="en-US" sz="1200" b="1" dirty="0" smtClean="0">
              <a:latin typeface="+mj-lt"/>
            </a:endParaRPr>
          </a:p>
          <a:p>
            <a:r>
              <a:rPr lang="en-US" sz="2400" i="1" dirty="0" smtClean="0">
                <a:latin typeface="Times New Roman" panose="02020603050405020304" pitchFamily="18" charset="0"/>
                <a:cs typeface="Times New Roman" panose="02020603050405020304" pitchFamily="18" charset="0"/>
              </a:rPr>
              <a:t>Gross domestic product (GDP) is the market value of all final goods and services produced within a country in a given period of time.</a:t>
            </a:r>
          </a:p>
          <a:p>
            <a:endParaRPr lang="en-US" sz="2000" i="1" dirty="0" smtClean="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 </a:t>
            </a:r>
            <a:r>
              <a:rPr lang="en-US" sz="2400" b="1" dirty="0" smtClean="0">
                <a:solidFill>
                  <a:srgbClr val="FF0000"/>
                </a:solidFill>
                <a:latin typeface="Times New Roman" panose="02020603050405020304" pitchFamily="18" charset="0"/>
                <a:cs typeface="Times New Roman" panose="02020603050405020304" pitchFamily="18" charset="0"/>
              </a:rPr>
              <a:t>“GDP is the Market Value . . .” </a:t>
            </a:r>
          </a:p>
          <a:p>
            <a:pPr algn="just"/>
            <a:r>
              <a:rPr lang="en-US" sz="2200" dirty="0" smtClean="0">
                <a:latin typeface="Times New Roman" panose="02020603050405020304" pitchFamily="18" charset="0"/>
                <a:cs typeface="Times New Roman" panose="02020603050405020304" pitchFamily="18" charset="0"/>
              </a:rPr>
              <a:t>GDP adds together many different kinds of products into a single measure of the value of economic activity. To do this, it uses market prices. Because market prices measure the amount people are willing to pay for different goods, they reflect the value of those goods and also the contribution of  the good in GDP.</a:t>
            </a:r>
          </a:p>
          <a:p>
            <a:endParaRPr lang="en-US" sz="20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For Example: If the price of an apple is twice the price of an orange, then an apple contributes twice as much to GDP as does an orange. </a:t>
            </a:r>
          </a:p>
          <a:p>
            <a:endParaRPr lang="en-US" sz="2000" dirty="0" smtClean="0">
              <a:latin typeface="Times New Roman" panose="02020603050405020304" pitchFamily="18" charset="0"/>
              <a:cs typeface="Times New Roman" panose="02020603050405020304" pitchFamily="18" charset="0"/>
            </a:endParaRPr>
          </a:p>
          <a:p>
            <a:endParaRPr lang="en-US" sz="2800" b="1" dirty="0">
              <a:latin typeface="+mj-lt"/>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19</a:t>
            </a:fld>
            <a:endParaRPr lang="en-US"/>
          </a:p>
        </p:txBody>
      </p:sp>
      <p:sp>
        <p:nvSpPr>
          <p:cNvPr id="3" name="TextBox 2"/>
          <p:cNvSpPr txBox="1"/>
          <p:nvPr/>
        </p:nvSpPr>
        <p:spPr>
          <a:xfrm>
            <a:off x="533400" y="381000"/>
            <a:ext cx="8077200" cy="5847755"/>
          </a:xfrm>
          <a:prstGeom prst="rect">
            <a:avLst/>
          </a:prstGeom>
          <a:noFill/>
        </p:spPr>
        <p:txBody>
          <a:bodyPr wrap="square" rtlCol="0">
            <a:spAutoFit/>
          </a:bodyPr>
          <a:lstStyle/>
          <a:p>
            <a:pPr>
              <a:buFont typeface="Arial" panose="020B0604020202020204" pitchFamily="34" charset="0"/>
              <a:buChar char="•"/>
            </a:pPr>
            <a:r>
              <a:rPr lang="en-US" dirty="0" smtClean="0"/>
              <a:t>   </a:t>
            </a:r>
            <a:r>
              <a:rPr lang="en-US" sz="2000" dirty="0" smtClean="0">
                <a:solidFill>
                  <a:srgbClr val="FF0000"/>
                </a:solidFill>
                <a:latin typeface="Times New Roman" panose="02020603050405020304" pitchFamily="18" charset="0"/>
                <a:cs typeface="Times New Roman" panose="02020603050405020304" pitchFamily="18" charset="0"/>
              </a:rPr>
              <a:t>“. . . of All . . .”</a:t>
            </a:r>
          </a:p>
          <a:p>
            <a:pPr algn="just"/>
            <a:r>
              <a:rPr lang="en-US" dirty="0" smtClean="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It includes all items produced in the economy &amp; sold legally in markets. </a:t>
            </a:r>
          </a:p>
          <a:p>
            <a:pPr algn="just"/>
            <a:endParaRPr lang="en-US" sz="1200" dirty="0" smtClean="0">
              <a:latin typeface="Times New Roman" panose="02020603050405020304" pitchFamily="18" charset="0"/>
              <a:cs typeface="Times New Roman" panose="02020603050405020304" pitchFamily="18" charset="0"/>
            </a:endParaRPr>
          </a:p>
          <a:p>
            <a:pPr algn="just"/>
            <a:r>
              <a:rPr lang="en-US" sz="2200" dirty="0" smtClean="0">
                <a:latin typeface="Times New Roman" panose="02020603050405020304" pitchFamily="18" charset="0"/>
                <a:cs typeface="Times New Roman" panose="02020603050405020304" pitchFamily="18" charset="0"/>
              </a:rPr>
              <a:t>For Example: GDP measures the market value of apples and oranges, books and movies, haircuts and healthcare, and on and on. </a:t>
            </a:r>
          </a:p>
          <a:p>
            <a:pPr algn="just"/>
            <a:endParaRPr lang="en-US" sz="1200" dirty="0" smtClean="0">
              <a:latin typeface="Times New Roman" panose="02020603050405020304" pitchFamily="18" charset="0"/>
              <a:cs typeface="Times New Roman" panose="02020603050405020304" pitchFamily="18" charset="0"/>
            </a:endParaRPr>
          </a:p>
          <a:p>
            <a:pPr algn="just"/>
            <a:r>
              <a:rPr lang="en-US" sz="2200" dirty="0" smtClean="0">
                <a:latin typeface="Times New Roman" panose="02020603050405020304" pitchFamily="18" charset="0"/>
                <a:cs typeface="Times New Roman" panose="02020603050405020304" pitchFamily="18" charset="0"/>
              </a:rPr>
              <a:t>GDP also includes the market value of the housing services. For rental housing, GDP includes the value of rent where rent equals both the tenant’s expenditure and the landlord’s income.</a:t>
            </a:r>
          </a:p>
          <a:p>
            <a:pPr algn="just"/>
            <a:endParaRPr lang="en-US" sz="1200" dirty="0" smtClean="0">
              <a:latin typeface="Times New Roman" panose="02020603050405020304" pitchFamily="18" charset="0"/>
              <a:cs typeface="Times New Roman" panose="02020603050405020304" pitchFamily="18" charset="0"/>
            </a:endParaRPr>
          </a:p>
          <a:p>
            <a:pPr algn="just"/>
            <a:r>
              <a:rPr lang="en-US" sz="2200" b="1" dirty="0" smtClean="0">
                <a:solidFill>
                  <a:srgbClr val="00B0F0"/>
                </a:solidFill>
                <a:latin typeface="Times New Roman" panose="02020603050405020304" pitchFamily="18" charset="0"/>
                <a:cs typeface="Times New Roman" panose="02020603050405020304" pitchFamily="18" charset="0"/>
              </a:rPr>
              <a:t>But if </a:t>
            </a:r>
            <a:r>
              <a:rPr lang="en-US" sz="2200" dirty="0" smtClean="0">
                <a:solidFill>
                  <a:srgbClr val="00B0F0"/>
                </a:solidFill>
                <a:latin typeface="Times New Roman" panose="02020603050405020304" pitchFamily="18" charset="0"/>
                <a:cs typeface="Times New Roman" panose="02020603050405020304" pitchFamily="18" charset="0"/>
              </a:rPr>
              <a:t>people own the place where they live and, therefore, do not pay rent, then the government includes this owner-occupied housing in GDP by estimating its rental value. </a:t>
            </a:r>
          </a:p>
          <a:p>
            <a:pPr algn="just"/>
            <a:endParaRPr lang="en-US" sz="1200" dirty="0" smtClean="0">
              <a:latin typeface="Times New Roman" panose="02020603050405020304" pitchFamily="18" charset="0"/>
              <a:cs typeface="Times New Roman" panose="02020603050405020304" pitchFamily="18" charset="0"/>
            </a:endParaRPr>
          </a:p>
          <a:p>
            <a:pPr algn="just"/>
            <a:r>
              <a:rPr lang="en-US" sz="2200" b="1" dirty="0" smtClean="0">
                <a:latin typeface="Times New Roman" panose="02020603050405020304" pitchFamily="18" charset="0"/>
                <a:cs typeface="Times New Roman" panose="02020603050405020304" pitchFamily="18" charset="0"/>
              </a:rPr>
              <a:t>Which goods are not included the calculation of GDP</a:t>
            </a:r>
            <a:r>
              <a:rPr lang="en-US" sz="2200" dirty="0" smtClean="0">
                <a:latin typeface="Times New Roman" panose="02020603050405020304" pitchFamily="18" charset="0"/>
                <a:cs typeface="Times New Roman" panose="02020603050405020304" pitchFamily="18" charset="0"/>
              </a:rPr>
              <a:t>:</a:t>
            </a:r>
          </a:p>
          <a:p>
            <a:pPr algn="just"/>
            <a:r>
              <a:rPr lang="en-US" sz="2200" dirty="0" smtClean="0">
                <a:latin typeface="Times New Roman" panose="02020603050405020304" pitchFamily="18" charset="0"/>
                <a:cs typeface="Times New Roman" panose="02020603050405020304" pitchFamily="18" charset="0"/>
              </a:rPr>
              <a:t>There are some products, however, that GDP excludes because measuring them is so difficult. </a:t>
            </a:r>
          </a:p>
          <a:p>
            <a:pPr algn="just"/>
            <a:r>
              <a:rPr lang="en-US" sz="2200" b="1" dirty="0" smtClean="0">
                <a:latin typeface="Times New Roman" panose="02020603050405020304" pitchFamily="18" charset="0"/>
                <a:cs typeface="Times New Roman" panose="02020603050405020304" pitchFamily="18" charset="0"/>
              </a:rPr>
              <a:t>1. Unreported Activities: </a:t>
            </a:r>
            <a:r>
              <a:rPr lang="en-US" sz="2200" dirty="0" smtClean="0">
                <a:latin typeface="Times New Roman" panose="02020603050405020304" pitchFamily="18" charset="0"/>
                <a:cs typeface="Times New Roman" panose="02020603050405020304" pitchFamily="18" charset="0"/>
              </a:rPr>
              <a:t>GDP excludes most items produced and sold illicitly, such as illegal drugs.</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20</a:t>
            </a:fld>
            <a:endParaRPr lang="en-US"/>
          </a:p>
        </p:txBody>
      </p:sp>
      <p:sp>
        <p:nvSpPr>
          <p:cNvPr id="4" name="TextBox 3"/>
          <p:cNvSpPr txBox="1"/>
          <p:nvPr/>
        </p:nvSpPr>
        <p:spPr>
          <a:xfrm>
            <a:off x="457200" y="381000"/>
            <a:ext cx="8077200" cy="6586418"/>
          </a:xfrm>
          <a:prstGeom prst="rect">
            <a:avLst/>
          </a:prstGeom>
          <a:noFill/>
        </p:spPr>
        <p:txBody>
          <a:bodyPr wrap="square" rtlCol="0">
            <a:spAutoFit/>
          </a:bodyPr>
          <a:lstStyle/>
          <a:p>
            <a:pPr algn="just"/>
            <a:r>
              <a:rPr lang="en-US" sz="2200" b="1" dirty="0" smtClean="0">
                <a:latin typeface="Times New Roman" panose="02020603050405020304" pitchFamily="18" charset="0"/>
                <a:cs typeface="Times New Roman" panose="02020603050405020304" pitchFamily="18" charset="0"/>
              </a:rPr>
              <a:t>2.</a:t>
            </a:r>
            <a:r>
              <a:rPr lang="en-US" sz="2000" dirty="0" smtClean="0">
                <a:latin typeface="Times New Roman" panose="02020603050405020304" pitchFamily="18" charset="0"/>
                <a:cs typeface="Times New Roman" panose="02020603050405020304" pitchFamily="18" charset="0"/>
              </a:rPr>
              <a:t> </a:t>
            </a:r>
            <a:r>
              <a:rPr lang="en-US" sz="2200" b="1" dirty="0" smtClean="0">
                <a:latin typeface="Times New Roman" panose="02020603050405020304" pitchFamily="18" charset="0"/>
                <a:cs typeface="Times New Roman" panose="02020603050405020304" pitchFamily="18" charset="0"/>
              </a:rPr>
              <a:t>Non market goods and services: </a:t>
            </a:r>
            <a:r>
              <a:rPr lang="en-US" sz="2000" dirty="0" smtClean="0">
                <a:latin typeface="Times New Roman" panose="02020603050405020304" pitchFamily="18" charset="0"/>
                <a:cs typeface="Times New Roman" panose="02020603050405020304" pitchFamily="18" charset="0"/>
              </a:rPr>
              <a:t>It also excludes most items that are produced and consumed at home and, therefore, never enter the marketplace. </a:t>
            </a:r>
          </a:p>
          <a:p>
            <a:pPr algn="just"/>
            <a:r>
              <a:rPr lang="en-US" sz="2000" dirty="0" smtClean="0">
                <a:latin typeface="Times New Roman" panose="02020603050405020304" pitchFamily="18" charset="0"/>
                <a:cs typeface="Times New Roman" panose="02020603050405020304" pitchFamily="18" charset="0"/>
              </a:rPr>
              <a:t>For example, Vegetables you buy at the grocery store are part of GDP; vegetables you grow in your garden are not.</a:t>
            </a:r>
          </a:p>
          <a:p>
            <a:pPr algn="just"/>
            <a:endParaRPr lang="en-US" sz="12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200" b="1" dirty="0" smtClean="0">
                <a:latin typeface="Times New Roman" panose="02020603050405020304" pitchFamily="18" charset="0"/>
                <a:cs typeface="Times New Roman" panose="02020603050405020304" pitchFamily="18" charset="0"/>
              </a:rPr>
              <a:t> </a:t>
            </a:r>
            <a:r>
              <a:rPr lang="en-US" sz="2200" b="1" dirty="0" smtClean="0">
                <a:solidFill>
                  <a:srgbClr val="FF0000"/>
                </a:solidFill>
                <a:latin typeface="Times New Roman" panose="02020603050405020304" pitchFamily="18" charset="0"/>
                <a:cs typeface="Times New Roman" panose="02020603050405020304" pitchFamily="18" charset="0"/>
              </a:rPr>
              <a:t>“. . . Final . . .”</a:t>
            </a:r>
          </a:p>
          <a:p>
            <a:pPr algn="just"/>
            <a:r>
              <a:rPr lang="en-US" sz="2000" dirty="0" smtClean="0">
                <a:latin typeface="Times New Roman" panose="02020603050405020304" pitchFamily="18" charset="0"/>
                <a:cs typeface="Times New Roman" panose="02020603050405020304" pitchFamily="18" charset="0"/>
              </a:rPr>
              <a:t>GDP includes only the value of final goods. This is done because the value </a:t>
            </a:r>
          </a:p>
          <a:p>
            <a:pPr algn="just"/>
            <a:r>
              <a:rPr lang="en-US" sz="2000" dirty="0" smtClean="0">
                <a:latin typeface="Times New Roman" panose="02020603050405020304" pitchFamily="18" charset="0"/>
                <a:cs typeface="Times New Roman" panose="02020603050405020304" pitchFamily="18" charset="0"/>
              </a:rPr>
              <a:t>of intermediate goods is already included in the prices of the final goods. Adding the market value of the intermediate good to the market value of the final good would be double counting. That is, it would (incorrectly) count the intermediate good twice as the value addition of the intermediate goods are already included in the value of final good</a:t>
            </a:r>
          </a:p>
          <a:p>
            <a:pPr algn="just"/>
            <a:endParaRPr lang="en-US" sz="1200" dirty="0" smtClean="0">
              <a:latin typeface="Times New Roman" panose="02020603050405020304" pitchFamily="18" charset="0"/>
              <a:cs typeface="Times New Roman" panose="02020603050405020304" pitchFamily="18" charset="0"/>
            </a:endParaRPr>
          </a:p>
          <a:p>
            <a:pPr algn="just"/>
            <a:r>
              <a:rPr lang="en-US" sz="2000" b="1" dirty="0" smtClean="0">
                <a:latin typeface="Times New Roman" panose="02020603050405020304" pitchFamily="18" charset="0"/>
                <a:cs typeface="Times New Roman" panose="02020603050405020304" pitchFamily="18" charset="0"/>
              </a:rPr>
              <a:t>For example: </a:t>
            </a:r>
          </a:p>
          <a:p>
            <a:pPr algn="just"/>
            <a:r>
              <a:rPr lang="en-US" sz="2000" dirty="0" smtClean="0">
                <a:latin typeface="Times New Roman" panose="02020603050405020304" pitchFamily="18" charset="0"/>
                <a:cs typeface="Times New Roman" panose="02020603050405020304" pitchFamily="18" charset="0"/>
              </a:rPr>
              <a:t>Suppose the market value of bread is 70 TK</a:t>
            </a:r>
          </a:p>
          <a:p>
            <a:pPr algn="just"/>
            <a:endParaRPr lang="en-US" sz="14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Farmer          Miller          Baker          seller</a:t>
            </a:r>
          </a:p>
          <a:p>
            <a:pPr algn="just"/>
            <a:r>
              <a:rPr lang="en-US" sz="2000" dirty="0" smtClean="0">
                <a:latin typeface="Times New Roman" panose="02020603050405020304" pitchFamily="18" charset="0"/>
                <a:cs typeface="Times New Roman" panose="02020603050405020304" pitchFamily="18" charset="0"/>
              </a:rPr>
              <a:t>(Wheat)         (Flour)        (Bread)</a:t>
            </a:r>
          </a:p>
          <a:p>
            <a:pPr algn="just"/>
            <a:r>
              <a:rPr lang="en-US" sz="2000" dirty="0" smtClean="0">
                <a:latin typeface="Times New Roman" panose="02020603050405020304" pitchFamily="18" charset="0"/>
                <a:cs typeface="Times New Roman" panose="02020603050405020304" pitchFamily="18" charset="0"/>
              </a:rPr>
              <a:t>  20                  30              65                 70</a:t>
            </a:r>
          </a:p>
          <a:p>
            <a:pPr algn="just"/>
            <a:endParaRPr lang="en-US" sz="1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Here , wheat and flour is intermediate goods</a:t>
            </a:r>
          </a:p>
          <a:p>
            <a:pPr algn="just"/>
            <a:r>
              <a:rPr lang="en-US" sz="2000" dirty="0" smtClean="0">
                <a:latin typeface="Times New Roman" panose="02020603050405020304" pitchFamily="18" charset="0"/>
                <a:cs typeface="Times New Roman" panose="02020603050405020304" pitchFamily="18" charset="0"/>
              </a:rPr>
              <a:t>   </a:t>
            </a:r>
          </a:p>
        </p:txBody>
      </p:sp>
      <p:cxnSp>
        <p:nvCxnSpPr>
          <p:cNvPr id="6" name="Straight Arrow Connector 5"/>
          <p:cNvCxnSpPr/>
          <p:nvPr/>
        </p:nvCxnSpPr>
        <p:spPr>
          <a:xfrm>
            <a:off x="3533384" y="5864268"/>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2552700" y="5234836"/>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3777119" y="5260432"/>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028700" y="5867400"/>
            <a:ext cx="838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2422742" y="5868988"/>
            <a:ext cx="685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1333500" y="5257800"/>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21</a:t>
            </a:fld>
            <a:endParaRPr lang="en-US"/>
          </a:p>
        </p:txBody>
      </p:sp>
      <p:sp>
        <p:nvSpPr>
          <p:cNvPr id="3" name="TextBox 2"/>
          <p:cNvSpPr txBox="1"/>
          <p:nvPr/>
        </p:nvSpPr>
        <p:spPr>
          <a:xfrm>
            <a:off x="762000" y="609600"/>
            <a:ext cx="7620000" cy="5693866"/>
          </a:xfrm>
          <a:prstGeom prst="rect">
            <a:avLst/>
          </a:prstGeom>
          <a:noFill/>
        </p:spPr>
        <p:txBody>
          <a:bodyPr wrap="square" rtlCol="0">
            <a:spAutoFit/>
          </a:bodyPr>
          <a:lstStyle/>
          <a:p>
            <a:pPr>
              <a:buFont typeface="Arial" panose="020B0604020202020204" pitchFamily="34" charset="0"/>
              <a:buChar char="•"/>
            </a:pPr>
            <a:r>
              <a:rPr lang="en-US" sz="2400" dirty="0" smtClean="0"/>
              <a:t> </a:t>
            </a:r>
            <a:r>
              <a:rPr lang="en-US" sz="2400" dirty="0" smtClean="0">
                <a:solidFill>
                  <a:srgbClr val="FF0000"/>
                </a:solidFill>
              </a:rPr>
              <a:t>“. . . Goods and Services . . .”</a:t>
            </a:r>
          </a:p>
          <a:p>
            <a:pPr algn="just"/>
            <a:r>
              <a:rPr lang="en-US" sz="2000" dirty="0" smtClean="0">
                <a:latin typeface="Times New Roman" panose="02020603050405020304" pitchFamily="18" charset="0"/>
                <a:cs typeface="Times New Roman" panose="02020603050405020304" pitchFamily="18" charset="0"/>
              </a:rPr>
              <a:t>GDP includes both tangible goods (food, clothing, cars) and intangible services (haircuts, housecleaning, doctor visits). </a:t>
            </a:r>
          </a:p>
          <a:p>
            <a:pPr algn="just"/>
            <a:endParaRPr lang="en-US" sz="16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a:t>
            </a:r>
            <a:r>
              <a:rPr lang="en-US" sz="2400" dirty="0" smtClean="0">
                <a:solidFill>
                  <a:srgbClr val="FF0000"/>
                </a:solidFill>
                <a:latin typeface="Times New Roman" panose="02020603050405020304" pitchFamily="18" charset="0"/>
                <a:cs typeface="Times New Roman" panose="02020603050405020304" pitchFamily="18" charset="0"/>
              </a:rPr>
              <a:t>“. . . Produced . . .”</a:t>
            </a:r>
          </a:p>
          <a:p>
            <a:pPr algn="just"/>
            <a:r>
              <a:rPr lang="en-US" sz="2000" dirty="0" smtClean="0">
                <a:latin typeface="Times New Roman" panose="02020603050405020304" pitchFamily="18" charset="0"/>
                <a:cs typeface="Times New Roman" panose="02020603050405020304" pitchFamily="18" charset="0"/>
              </a:rPr>
              <a:t>GDP includes goods and services currently produced. It does not include transactions involving items produced in the past. </a:t>
            </a:r>
          </a:p>
          <a:p>
            <a:pPr algn="just"/>
            <a:r>
              <a:rPr lang="en-US" sz="2000" b="1" dirty="0" smtClean="0">
                <a:latin typeface="Times New Roman" panose="02020603050405020304" pitchFamily="18" charset="0"/>
                <a:cs typeface="Times New Roman" panose="02020603050405020304" pitchFamily="18" charset="0"/>
              </a:rPr>
              <a:t>For example: </a:t>
            </a:r>
          </a:p>
          <a:p>
            <a:pPr algn="just"/>
            <a:r>
              <a:rPr lang="en-US" sz="2000" dirty="0" smtClean="0">
                <a:latin typeface="Times New Roman" panose="02020603050405020304" pitchFamily="18" charset="0"/>
                <a:cs typeface="Times New Roman" panose="02020603050405020304" pitchFamily="18" charset="0"/>
              </a:rPr>
              <a:t>When Ford produces and sells a new car, the value of the car is included in GDP. When one person sells a used car to another person, the value of the used car is not included in GDP.</a:t>
            </a:r>
          </a:p>
          <a:p>
            <a:pPr algn="just"/>
            <a:endParaRPr lang="en-US" sz="16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a:t>
            </a:r>
            <a:r>
              <a:rPr lang="en-US" sz="2400" dirty="0" smtClean="0">
                <a:solidFill>
                  <a:srgbClr val="FF0000"/>
                </a:solidFill>
                <a:latin typeface="Times New Roman" panose="02020603050405020304" pitchFamily="18" charset="0"/>
                <a:cs typeface="Times New Roman" panose="02020603050405020304" pitchFamily="18" charset="0"/>
              </a:rPr>
              <a:t>“. . . Within a Country . . .”</a:t>
            </a:r>
          </a:p>
          <a:p>
            <a:pPr algn="just"/>
            <a:r>
              <a:rPr lang="en-US" sz="2000" dirty="0" smtClean="0">
                <a:latin typeface="Times New Roman" panose="02020603050405020304" pitchFamily="18" charset="0"/>
                <a:cs typeface="Times New Roman" panose="02020603050405020304" pitchFamily="18" charset="0"/>
              </a:rPr>
              <a:t>GDP measures the value of production within the geographic boundaries of a country. GDP includes the output of foreign owned business that are located in the country. Thus, items are included in a nation’s GDP if they are produced domestically, </a:t>
            </a:r>
            <a:r>
              <a:rPr lang="en-US" sz="2000" smtClean="0">
                <a:latin typeface="Times New Roman" panose="02020603050405020304" pitchFamily="18" charset="0"/>
                <a:cs typeface="Times New Roman" panose="02020603050405020304" pitchFamily="18" charset="0"/>
              </a:rPr>
              <a:t>regardless </a:t>
            </a:r>
            <a:r>
              <a:rPr lang="en-US" sz="2000" smtClean="0">
                <a:latin typeface="Times New Roman" panose="02020603050405020304" pitchFamily="18" charset="0"/>
                <a:cs typeface="Times New Roman" panose="02020603050405020304" pitchFamily="18" charset="0"/>
              </a:rPr>
              <a:t>of </a:t>
            </a:r>
            <a:r>
              <a:rPr lang="en-US" sz="2000" dirty="0" smtClean="0">
                <a:latin typeface="Times New Roman" panose="02020603050405020304" pitchFamily="18" charset="0"/>
                <a:cs typeface="Times New Roman" panose="02020603050405020304" pitchFamily="18" charset="0"/>
              </a:rPr>
              <a:t>the nationality of the producer.</a:t>
            </a:r>
          </a:p>
          <a:p>
            <a:pPr algn="just"/>
            <a:endParaRPr 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22</a:t>
            </a:fld>
            <a:endParaRPr lang="en-US"/>
          </a:p>
        </p:txBody>
      </p:sp>
      <p:sp>
        <p:nvSpPr>
          <p:cNvPr id="3" name="TextBox 2"/>
          <p:cNvSpPr txBox="1"/>
          <p:nvPr/>
        </p:nvSpPr>
        <p:spPr>
          <a:xfrm>
            <a:off x="685800" y="457200"/>
            <a:ext cx="7848600" cy="5570756"/>
          </a:xfrm>
          <a:prstGeom prst="rect">
            <a:avLst/>
          </a:prstGeom>
          <a:noFill/>
        </p:spPr>
        <p:txBody>
          <a:bodyPr wrap="square" rtlCol="0">
            <a:spAutoFit/>
          </a:bodyPr>
          <a:lstStyle/>
          <a:p>
            <a:pPr>
              <a:buFont typeface="Arial" panose="020B0604020202020204" pitchFamily="34" charset="0"/>
              <a:buChar char="•"/>
            </a:pPr>
            <a:r>
              <a:rPr lang="en-US" dirty="0" smtClean="0"/>
              <a:t> </a:t>
            </a:r>
            <a:r>
              <a:rPr lang="en-US" sz="2400" dirty="0" smtClean="0">
                <a:solidFill>
                  <a:srgbClr val="FF0000"/>
                </a:solidFill>
              </a:rPr>
              <a:t>“. . . In a Given Period of Time.”</a:t>
            </a:r>
          </a:p>
          <a:p>
            <a:pPr algn="just"/>
            <a:r>
              <a:rPr lang="en-US" sz="2000" dirty="0" smtClean="0"/>
              <a:t>GDP measures the value of production that takes place within a specific interval of time. Usually, that interval is a year or a quarter (three months). GDP measures the economy’s flow of income and expenditure during that interval.</a:t>
            </a:r>
          </a:p>
          <a:p>
            <a:pPr algn="just"/>
            <a:endParaRPr lang="en-US" sz="1200" dirty="0" smtClean="0"/>
          </a:p>
          <a:p>
            <a:pPr algn="just">
              <a:buFont typeface="Wingdings" panose="05000000000000000000" pitchFamily="2" charset="2"/>
              <a:buChar char="§"/>
            </a:pPr>
            <a:r>
              <a:rPr lang="en-US" dirty="0" smtClean="0"/>
              <a:t>  </a:t>
            </a:r>
            <a:r>
              <a:rPr lang="en-US" sz="2400" b="1" dirty="0" smtClean="0">
                <a:solidFill>
                  <a:srgbClr val="FF0000"/>
                </a:solidFill>
                <a:latin typeface="+mj-lt"/>
              </a:rPr>
              <a:t>Methods of Calculating GDP:</a:t>
            </a:r>
          </a:p>
          <a:p>
            <a:pPr algn="just">
              <a:buFont typeface="Wingdings" panose="05000000000000000000" pitchFamily="2" charset="2"/>
              <a:buChar char="§"/>
            </a:pPr>
            <a:endParaRPr lang="en-US" sz="800" b="1" dirty="0" smtClean="0">
              <a:latin typeface="+mj-lt"/>
            </a:endParaRPr>
          </a:p>
          <a:p>
            <a:pPr algn="just"/>
            <a:r>
              <a:rPr lang="en-US" sz="2400" b="1" i="1" dirty="0" smtClean="0">
                <a:latin typeface="Times New Roman" panose="02020603050405020304" pitchFamily="18" charset="0"/>
                <a:cs typeface="Times New Roman" panose="02020603050405020304" pitchFamily="18" charset="0"/>
              </a:rPr>
              <a:t>Income Method: </a:t>
            </a:r>
            <a:r>
              <a:rPr lang="en-US" sz="2000" dirty="0" smtClean="0">
                <a:latin typeface="Times New Roman" panose="02020603050405020304" pitchFamily="18" charset="0"/>
                <a:cs typeface="Times New Roman" panose="02020603050405020304" pitchFamily="18" charset="0"/>
              </a:rPr>
              <a:t>Adding up the income of all consumers, producers  income of government and the foreigners in the domestic economy.</a:t>
            </a:r>
          </a:p>
          <a:p>
            <a:pPr algn="just"/>
            <a:endParaRPr lang="en-US" sz="1000" dirty="0" smtClean="0">
              <a:latin typeface="Times New Roman" panose="02020603050405020304" pitchFamily="18" charset="0"/>
              <a:cs typeface="Times New Roman" panose="02020603050405020304" pitchFamily="18" charset="0"/>
            </a:endParaRPr>
          </a:p>
          <a:p>
            <a:pPr algn="just"/>
            <a:r>
              <a:rPr lang="en-US" sz="2400" b="1" i="1" dirty="0" smtClean="0">
                <a:latin typeface="Times New Roman" panose="02020603050405020304" pitchFamily="18" charset="0"/>
                <a:cs typeface="Times New Roman" panose="02020603050405020304" pitchFamily="18" charset="0"/>
              </a:rPr>
              <a:t>Expenditure Method: </a:t>
            </a:r>
            <a:r>
              <a:rPr lang="en-US" sz="2000" dirty="0" smtClean="0">
                <a:latin typeface="Times New Roman" panose="02020603050405020304" pitchFamily="18" charset="0"/>
                <a:cs typeface="Times New Roman" panose="02020603050405020304" pitchFamily="18" charset="0"/>
              </a:rPr>
              <a:t>Adding up the expenditure of all consumers, producers,  the government and foreigners on good and services made in the domestic economy.</a:t>
            </a:r>
          </a:p>
          <a:p>
            <a:pPr algn="just"/>
            <a:endParaRPr lang="en-US" sz="12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NOTE: </a:t>
            </a:r>
            <a:r>
              <a:rPr lang="en-US" sz="2000" dirty="0" smtClean="0">
                <a:latin typeface="Times New Roman" panose="02020603050405020304" pitchFamily="18" charset="0"/>
                <a:cs typeface="Times New Roman" panose="02020603050405020304" pitchFamily="18" charset="0"/>
              </a:rPr>
              <a:t>According to the circular flow model GDP calculated by income method must be equal to the GDP calculated by expenditure method. Because all expenditure in the economy ends up as someone’s income, GDP is the same regardless of how we compute it.</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23</a:t>
            </a:fld>
            <a:endParaRPr lang="en-US"/>
          </a:p>
        </p:txBody>
      </p:sp>
      <p:sp>
        <p:nvSpPr>
          <p:cNvPr id="3" name="TextBox 2"/>
          <p:cNvSpPr txBox="1"/>
          <p:nvPr/>
        </p:nvSpPr>
        <p:spPr>
          <a:xfrm>
            <a:off x="914400" y="457200"/>
            <a:ext cx="7620000" cy="6078587"/>
          </a:xfrm>
          <a:prstGeom prst="rect">
            <a:avLst/>
          </a:prstGeom>
          <a:noFill/>
        </p:spPr>
        <p:txBody>
          <a:bodyPr wrap="square" rtlCol="0">
            <a:spAutoFit/>
          </a:bodyPr>
          <a:lstStyle/>
          <a:p>
            <a:r>
              <a:rPr lang="en-US" sz="2400" b="1" dirty="0" smtClean="0">
                <a:latin typeface="Times New Roman" panose="02020603050405020304" pitchFamily="18" charset="0"/>
                <a:cs typeface="Times New Roman" panose="02020603050405020304" pitchFamily="18" charset="0"/>
              </a:rPr>
              <a:t>But…..</a:t>
            </a:r>
          </a:p>
          <a:p>
            <a:pPr algn="just"/>
            <a:r>
              <a:rPr lang="en-US" sz="2100" dirty="0" smtClean="0">
                <a:latin typeface="Times New Roman" panose="02020603050405020304" pitchFamily="18" charset="0"/>
                <a:cs typeface="Times New Roman" panose="02020603050405020304" pitchFamily="18" charset="0"/>
              </a:rPr>
              <a:t>In real life we can see that The two ways of calculating  GDP give almost exactly the same answer.</a:t>
            </a:r>
          </a:p>
          <a:p>
            <a:pPr algn="just"/>
            <a:r>
              <a:rPr lang="en-US" sz="2100" dirty="0" smtClean="0">
                <a:latin typeface="Times New Roman" panose="02020603050405020304" pitchFamily="18" charset="0"/>
                <a:cs typeface="Times New Roman" panose="02020603050405020304" pitchFamily="18" charset="0"/>
              </a:rPr>
              <a:t> Why “almost”? Although the two measures should be precisely the same, data sources are not perfect. The difference between the two calculations of GDP is called the statistical discrepancy.)</a:t>
            </a:r>
          </a:p>
          <a:p>
            <a:pPr algn="just"/>
            <a:endParaRPr lang="en-US" sz="12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2000" dirty="0" smtClean="0">
                <a:latin typeface="Times New Roman" panose="02020603050405020304" pitchFamily="18" charset="0"/>
                <a:cs typeface="Times New Roman" panose="02020603050405020304" pitchFamily="18" charset="0"/>
              </a:rPr>
              <a:t> </a:t>
            </a:r>
            <a:r>
              <a:rPr lang="en-US" sz="2400" b="1" dirty="0" smtClean="0">
                <a:latin typeface="+mj-lt"/>
                <a:cs typeface="Times New Roman" panose="02020603050405020304" pitchFamily="18" charset="0"/>
              </a:rPr>
              <a:t>Components of GDP:</a:t>
            </a:r>
            <a:r>
              <a:rPr lang="en-US" sz="2000" dirty="0" smtClean="0">
                <a:latin typeface="Times New Roman" panose="02020603050405020304" pitchFamily="18" charset="0"/>
                <a:cs typeface="Times New Roman" panose="02020603050405020304" pitchFamily="18" charset="0"/>
              </a:rPr>
              <a:t> </a:t>
            </a:r>
          </a:p>
          <a:p>
            <a:pPr algn="just"/>
            <a:r>
              <a:rPr lang="en-US" sz="2100" dirty="0" smtClean="0">
                <a:latin typeface="Times New Roman" panose="02020603050405020304" pitchFamily="18" charset="0"/>
                <a:cs typeface="Times New Roman" panose="02020603050405020304" pitchFamily="18" charset="0"/>
              </a:rPr>
              <a:t>GDP (denoted by Y) is divided into four components: consumption (C), investment (I), government purchases (G), and net exports (NX).</a:t>
            </a:r>
          </a:p>
          <a:p>
            <a:pPr algn="just"/>
            <a:endParaRPr lang="en-US" sz="2000" dirty="0" smtClean="0">
              <a:latin typeface="Times New Roman" panose="02020603050405020304" pitchFamily="18" charset="0"/>
              <a:cs typeface="Times New Roman" panose="02020603050405020304" pitchFamily="18" charset="0"/>
            </a:endParaRPr>
          </a:p>
          <a:p>
            <a:pPr algn="ctr"/>
            <a:r>
              <a:rPr lang="nn-NO" sz="2000" b="1" i="1" dirty="0" smtClean="0">
                <a:solidFill>
                  <a:srgbClr val="00B0F0"/>
                </a:solidFill>
                <a:latin typeface="Times New Roman" panose="02020603050405020304" pitchFamily="18" charset="0"/>
                <a:cs typeface="Times New Roman" panose="02020603050405020304" pitchFamily="18" charset="0"/>
              </a:rPr>
              <a:t>Y = C + I + G + NX.</a:t>
            </a:r>
          </a:p>
          <a:p>
            <a:pPr algn="ctr"/>
            <a:endParaRPr lang="nn-NO" sz="1600" b="1" i="1" dirty="0" smtClean="0">
              <a:latin typeface="Times New Roman" panose="02020603050405020304" pitchFamily="18" charset="0"/>
              <a:cs typeface="Times New Roman" panose="02020603050405020304" pitchFamily="18" charset="0"/>
            </a:endParaRPr>
          </a:p>
          <a:p>
            <a:pPr algn="just"/>
            <a:r>
              <a:rPr lang="nn-NO" sz="2000" b="1" i="1" dirty="0" smtClean="0">
                <a:solidFill>
                  <a:srgbClr val="FF0000"/>
                </a:solidFill>
                <a:latin typeface="Times New Roman" panose="02020603050405020304" pitchFamily="18" charset="0"/>
                <a:cs typeface="Times New Roman" panose="02020603050405020304" pitchFamily="18" charset="0"/>
              </a:rPr>
              <a:t>Consumption:</a:t>
            </a:r>
            <a:r>
              <a:rPr lang="nn-NO" sz="2000" i="1" dirty="0" smtClean="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Consumption is spending by households on goods and services, </a:t>
            </a:r>
            <a:r>
              <a:rPr lang="en-US" sz="2000" dirty="0" smtClean="0">
                <a:solidFill>
                  <a:srgbClr val="00B0F0"/>
                </a:solidFill>
                <a:latin typeface="Times New Roman" panose="02020603050405020304" pitchFamily="18" charset="0"/>
                <a:cs typeface="Times New Roman" panose="02020603050405020304" pitchFamily="18" charset="0"/>
              </a:rPr>
              <a:t>with the exception of purchases of new housing</a:t>
            </a:r>
            <a:r>
              <a:rPr lang="en-US" sz="2000" dirty="0" smtClean="0">
                <a:latin typeface="Times New Roman" panose="02020603050405020304" pitchFamily="18" charset="0"/>
                <a:cs typeface="Times New Roman" panose="02020603050405020304" pitchFamily="18" charset="0"/>
              </a:rPr>
              <a:t>. Goods include household spending on durable goods, such as automobiles and appliances, and nondurable goods, such as food and clothing. Services include such intangible items as haircuts and medical care. </a:t>
            </a:r>
          </a:p>
          <a:p>
            <a:pPr algn="ctr"/>
            <a:endParaRPr lang="en-US" sz="2000" i="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24</a:t>
            </a:fld>
            <a:endParaRPr lang="en-US"/>
          </a:p>
        </p:txBody>
      </p:sp>
      <p:sp>
        <p:nvSpPr>
          <p:cNvPr id="3" name="TextBox 2"/>
          <p:cNvSpPr txBox="1"/>
          <p:nvPr/>
        </p:nvSpPr>
        <p:spPr>
          <a:xfrm>
            <a:off x="914400" y="603873"/>
            <a:ext cx="7620000" cy="6247864"/>
          </a:xfrm>
          <a:prstGeom prst="rect">
            <a:avLst/>
          </a:prstGeom>
          <a:noFill/>
        </p:spPr>
        <p:txBody>
          <a:bodyPr wrap="square" rtlCol="0">
            <a:spAutoFit/>
          </a:bodyPr>
          <a:lstStyle/>
          <a:p>
            <a:r>
              <a:rPr lang="en-US" sz="2000" b="1" i="1" dirty="0" smtClean="0">
                <a:solidFill>
                  <a:srgbClr val="FF0000"/>
                </a:solidFill>
                <a:latin typeface="Times New Roman" panose="02020603050405020304" pitchFamily="18" charset="0"/>
                <a:cs typeface="Times New Roman" panose="02020603050405020304" pitchFamily="18" charset="0"/>
              </a:rPr>
              <a:t>Investment :</a:t>
            </a:r>
            <a:r>
              <a:rPr lang="en-US" sz="2000" i="1" dirty="0" smtClean="0">
                <a:latin typeface="Times New Roman" panose="02020603050405020304" pitchFamily="18" charset="0"/>
                <a:cs typeface="Times New Roman" panose="02020603050405020304" pitchFamily="18" charset="0"/>
              </a:rPr>
              <a:t> </a:t>
            </a:r>
            <a:r>
              <a:rPr lang="en-US" sz="2100" dirty="0" smtClean="0">
                <a:latin typeface="Times New Roman" panose="02020603050405020304" pitchFamily="18" charset="0"/>
                <a:cs typeface="Times New Roman" panose="02020603050405020304" pitchFamily="18" charset="0"/>
              </a:rPr>
              <a:t>Investment is the purchase of goods that will be used in the future to produce more goods and services. It is the sum of purchases of capital equipment, inventories, and structures.</a:t>
            </a:r>
          </a:p>
          <a:p>
            <a:endParaRPr lang="en-US" sz="1200" dirty="0" smtClean="0">
              <a:latin typeface="Times New Roman" panose="02020603050405020304" pitchFamily="18" charset="0"/>
              <a:cs typeface="Times New Roman" panose="02020603050405020304" pitchFamily="18" charset="0"/>
            </a:endParaRPr>
          </a:p>
          <a:p>
            <a:r>
              <a:rPr lang="en-US" sz="2000" b="1" i="1" dirty="0" smtClean="0">
                <a:solidFill>
                  <a:srgbClr val="FF0000"/>
                </a:solidFill>
                <a:latin typeface="Times New Roman" panose="02020603050405020304" pitchFamily="18" charset="0"/>
                <a:cs typeface="Times New Roman" panose="02020603050405020304" pitchFamily="18" charset="0"/>
              </a:rPr>
              <a:t>Government Purchases: </a:t>
            </a:r>
            <a:r>
              <a:rPr lang="en-US" sz="2100" dirty="0" smtClean="0">
                <a:latin typeface="Times New Roman" panose="02020603050405020304" pitchFamily="18" charset="0"/>
                <a:cs typeface="Times New Roman" panose="02020603050405020304" pitchFamily="18" charset="0"/>
              </a:rPr>
              <a:t>Government purchases include spending on goods and services by local, state, and federal governments. It includes the salaries of government workers as well as expenditures on public works. </a:t>
            </a:r>
          </a:p>
          <a:p>
            <a:endParaRPr lang="en-US" sz="1200" dirty="0" smtClean="0">
              <a:latin typeface="Times New Roman" panose="02020603050405020304" pitchFamily="18" charset="0"/>
              <a:cs typeface="Times New Roman" panose="02020603050405020304" pitchFamily="18" charset="0"/>
            </a:endParaRPr>
          </a:p>
          <a:p>
            <a:r>
              <a:rPr lang="en-US" sz="2000" b="1" i="1" dirty="0" smtClean="0">
                <a:solidFill>
                  <a:srgbClr val="FF0000"/>
                </a:solidFill>
                <a:latin typeface="Times New Roman" panose="02020603050405020304" pitchFamily="18" charset="0"/>
                <a:cs typeface="Times New Roman" panose="02020603050405020304" pitchFamily="18" charset="0"/>
              </a:rPr>
              <a:t>Net Exports: </a:t>
            </a:r>
            <a:r>
              <a:rPr lang="en-US" sz="2100" dirty="0" smtClean="0">
                <a:latin typeface="Times New Roman" panose="02020603050405020304" pitchFamily="18" charset="0"/>
                <a:cs typeface="Times New Roman" panose="02020603050405020304" pitchFamily="18" charset="0"/>
              </a:rPr>
              <a:t>Net exports equal the foreign purchases of domestically produced goods (exports) minus the domestic purchases of foreign goods (imports). </a:t>
            </a:r>
          </a:p>
          <a:p>
            <a:endParaRPr lang="en-US" sz="2000"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2" cstate="print">
            <a:lum bright="-20000"/>
          </a:blip>
          <a:srcRect/>
          <a:stretch>
            <a:fillRect/>
          </a:stretch>
        </p:blipFill>
        <p:spPr bwMode="auto">
          <a:xfrm>
            <a:off x="1066800" y="4495800"/>
            <a:ext cx="3657600" cy="1828800"/>
          </a:xfrm>
          <a:prstGeom prst="rect">
            <a:avLst/>
          </a:prstGeom>
          <a:noFill/>
          <a:ln w="9525">
            <a:noFill/>
            <a:miter lim="800000"/>
            <a:headEnd/>
            <a:tailEnd/>
          </a:ln>
          <a:effectLst/>
        </p:spPr>
      </p:pic>
      <p:sp>
        <p:nvSpPr>
          <p:cNvPr id="5" name="TextBox 4"/>
          <p:cNvSpPr txBox="1"/>
          <p:nvPr/>
        </p:nvSpPr>
        <p:spPr>
          <a:xfrm>
            <a:off x="5105400" y="4495800"/>
            <a:ext cx="3124200" cy="1631216"/>
          </a:xfrm>
          <a:prstGeom prst="rect">
            <a:avLst/>
          </a:prstGeom>
          <a:noFill/>
        </p:spPr>
        <p:txBody>
          <a:bodyPr wrap="square" rtlCol="0">
            <a:spAutoFit/>
          </a:bodyPr>
          <a:lstStyle/>
          <a:p>
            <a:r>
              <a:rPr lang="en-US" sz="2000" dirty="0" smtClean="0"/>
              <a:t>This table shows total GDP for the U.S. economy in 2009 and the breakdown of GDP among its four components.</a:t>
            </a:r>
            <a:endParaRPr lang="en-US" sz="20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25</a:t>
            </a:fld>
            <a:endParaRPr lang="en-US"/>
          </a:p>
        </p:txBody>
      </p:sp>
      <p:sp>
        <p:nvSpPr>
          <p:cNvPr id="3" name="TextBox 2"/>
          <p:cNvSpPr txBox="1"/>
          <p:nvPr/>
        </p:nvSpPr>
        <p:spPr>
          <a:xfrm>
            <a:off x="685799" y="457201"/>
            <a:ext cx="8153401" cy="7171194"/>
          </a:xfrm>
          <a:prstGeom prst="rect">
            <a:avLst/>
          </a:prstGeom>
          <a:noFill/>
        </p:spPr>
        <p:txBody>
          <a:bodyPr wrap="square" rtlCol="0">
            <a:spAutoFit/>
          </a:bodyPr>
          <a:lstStyle/>
          <a:p>
            <a:pPr>
              <a:buFont typeface="Wingdings" panose="05000000000000000000" pitchFamily="2" charset="2"/>
              <a:buChar char="§"/>
            </a:pPr>
            <a:r>
              <a:rPr lang="en-US" dirty="0" smtClean="0"/>
              <a:t> </a:t>
            </a:r>
            <a:r>
              <a:rPr lang="en-US" sz="2400" b="1" dirty="0" smtClean="0">
                <a:solidFill>
                  <a:srgbClr val="C00000"/>
                </a:solidFill>
                <a:latin typeface="+mj-lt"/>
              </a:rPr>
              <a:t>Real versus Nominal GDP:</a:t>
            </a:r>
          </a:p>
          <a:p>
            <a:endParaRPr lang="en-US" sz="800" dirty="0" smtClean="0">
              <a:latin typeface="Times New Roman" panose="02020603050405020304" pitchFamily="18" charset="0"/>
              <a:cs typeface="Times New Roman" panose="02020603050405020304" pitchFamily="18" charset="0"/>
            </a:endParaRPr>
          </a:p>
          <a:p>
            <a:r>
              <a:rPr lang="en-US" sz="2200" dirty="0" smtClean="0">
                <a:latin typeface="Times New Roman" panose="02020603050405020304" pitchFamily="18" charset="0"/>
                <a:cs typeface="Times New Roman" panose="02020603050405020304" pitchFamily="18" charset="0"/>
              </a:rPr>
              <a:t>GDP measures the total market value of all good and services in       the economy.  Now GDP increases from year to year , then at least </a:t>
            </a:r>
          </a:p>
          <a:p>
            <a:pPr algn="just"/>
            <a:r>
              <a:rPr lang="en-US" sz="2200" dirty="0" smtClean="0">
                <a:latin typeface="Times New Roman" panose="02020603050405020304" pitchFamily="18" charset="0"/>
                <a:cs typeface="Times New Roman" panose="02020603050405020304" pitchFamily="18" charset="0"/>
              </a:rPr>
              <a:t>one of two things must be true: </a:t>
            </a:r>
          </a:p>
          <a:p>
            <a:pPr marL="457200" indent="-457200" algn="just">
              <a:buAutoNum type="arabicParenBoth"/>
            </a:pPr>
            <a:r>
              <a:rPr lang="en-US" sz="2200" dirty="0" smtClean="0">
                <a:solidFill>
                  <a:srgbClr val="00B0F0"/>
                </a:solidFill>
                <a:latin typeface="Times New Roman" panose="02020603050405020304" pitchFamily="18" charset="0"/>
                <a:cs typeface="Times New Roman" panose="02020603050405020304" pitchFamily="18" charset="0"/>
              </a:rPr>
              <a:t>the economy is producing a larger output of goods and services, </a:t>
            </a:r>
          </a:p>
          <a:p>
            <a:pPr marL="457200" indent="-457200" algn="just"/>
            <a:r>
              <a:rPr lang="en-US" sz="2200" dirty="0" smtClean="0">
                <a:solidFill>
                  <a:srgbClr val="00B0F0"/>
                </a:solidFill>
                <a:latin typeface="Times New Roman" panose="02020603050405020304" pitchFamily="18" charset="0"/>
                <a:cs typeface="Times New Roman" panose="02020603050405020304" pitchFamily="18" charset="0"/>
              </a:rPr>
              <a:t>(2) or, goods and services are being sold at higher prices. </a:t>
            </a:r>
          </a:p>
          <a:p>
            <a:pPr marL="457200" indent="-457200" algn="just"/>
            <a:endParaRPr lang="en-US" sz="1200" dirty="0" smtClean="0">
              <a:latin typeface="Times New Roman" panose="02020603050405020304" pitchFamily="18" charset="0"/>
              <a:cs typeface="Times New Roman" panose="02020603050405020304" pitchFamily="18" charset="0"/>
            </a:endParaRPr>
          </a:p>
          <a:p>
            <a:pPr marL="457200" indent="-457200"/>
            <a:r>
              <a:rPr lang="en-US" sz="2000" dirty="0" smtClean="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When studying changes in the economy over time, economists wants to separate these two effects. In particular, they want a measure of the total quantity of goods and services the economy   is producing that is not affected by changes in the price. To do  this, economists use a measure called  real GDP.</a:t>
            </a:r>
          </a:p>
          <a:p>
            <a:pPr marL="457200" indent="-457200"/>
            <a:endParaRPr lang="en-US" sz="1200" dirty="0" smtClean="0">
              <a:latin typeface="Times New Roman" panose="02020603050405020304" pitchFamily="18" charset="0"/>
              <a:cs typeface="Times New Roman" panose="02020603050405020304" pitchFamily="18" charset="0"/>
            </a:endParaRPr>
          </a:p>
          <a:p>
            <a:pPr marL="457200" indent="-457200"/>
            <a:r>
              <a:rPr lang="en-US" sz="2000" b="1" dirty="0" smtClean="0">
                <a:solidFill>
                  <a:srgbClr val="FF0000"/>
                </a:solidFill>
                <a:latin typeface="Times New Roman" panose="02020603050405020304" pitchFamily="18" charset="0"/>
                <a:cs typeface="Times New Roman" panose="02020603050405020304" pitchFamily="18" charset="0"/>
              </a:rPr>
              <a:t>Nominal GDP: </a:t>
            </a:r>
            <a:r>
              <a:rPr lang="en-US" sz="2200" dirty="0" smtClean="0">
                <a:latin typeface="Times New Roman" panose="02020603050405020304" pitchFamily="18" charset="0"/>
                <a:cs typeface="Times New Roman" panose="02020603050405020304" pitchFamily="18" charset="0"/>
              </a:rPr>
              <a:t>Production of goods and services measured at current period’ market price.</a:t>
            </a:r>
          </a:p>
          <a:p>
            <a:pPr marL="457200" indent="-457200"/>
            <a:endParaRPr lang="en-US" sz="1200" dirty="0" smtClean="0">
              <a:latin typeface="Times New Roman" panose="02020603050405020304" pitchFamily="18" charset="0"/>
              <a:cs typeface="Times New Roman" panose="02020603050405020304" pitchFamily="18" charset="0"/>
            </a:endParaRPr>
          </a:p>
          <a:p>
            <a:pPr marL="457200" indent="-457200"/>
            <a:r>
              <a:rPr lang="en-US" sz="2000" b="1" dirty="0" smtClean="0">
                <a:solidFill>
                  <a:srgbClr val="FF0000"/>
                </a:solidFill>
                <a:latin typeface="Times New Roman" panose="02020603050405020304" pitchFamily="18" charset="0"/>
                <a:cs typeface="Times New Roman" panose="02020603050405020304" pitchFamily="18" charset="0"/>
              </a:rPr>
              <a:t>Real GDP: </a:t>
            </a:r>
            <a:r>
              <a:rPr lang="en-US" sz="2200" dirty="0" smtClean="0">
                <a:latin typeface="Times New Roman" panose="02020603050405020304" pitchFamily="18" charset="0"/>
                <a:cs typeface="Times New Roman" panose="02020603050405020304" pitchFamily="18" charset="0"/>
              </a:rPr>
              <a:t>Production of  goods and services measured at a constant price/ base year’s price</a:t>
            </a:r>
          </a:p>
          <a:p>
            <a:pPr marL="457200" indent="-457200"/>
            <a:endParaRPr lang="en-US" sz="2000" dirty="0" smtClean="0">
              <a:latin typeface="Times New Roman" panose="02020603050405020304" pitchFamily="18" charset="0"/>
              <a:cs typeface="Times New Roman" panose="02020603050405020304" pitchFamily="18" charset="0"/>
            </a:endParaRPr>
          </a:p>
          <a:p>
            <a:pPr marL="457200" indent="-457200"/>
            <a:endParaRPr lang="en-US" sz="2000" dirty="0" smtClean="0">
              <a:latin typeface="Times New Roman" panose="02020603050405020304" pitchFamily="18" charset="0"/>
              <a:cs typeface="Times New Roman" panose="02020603050405020304" pitchFamily="18" charset="0"/>
            </a:endParaRPr>
          </a:p>
          <a:p>
            <a:pPr marL="457200" indent="-457200"/>
            <a:endParaRPr lang="en-US" sz="2000" dirty="0" smtClean="0">
              <a:latin typeface="Times New Roman" panose="02020603050405020304" pitchFamily="18" charset="0"/>
              <a:cs typeface="Times New Roman" panose="02020603050405020304" pitchFamily="18" charset="0"/>
            </a:endParaRPr>
          </a:p>
          <a:p>
            <a:pPr marL="457200" indent="-457200"/>
            <a:endParaRPr lang="en-US" sz="20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26</a:t>
            </a:fld>
            <a:endParaRPr lang="en-US"/>
          </a:p>
        </p:txBody>
      </p:sp>
      <p:sp>
        <p:nvSpPr>
          <p:cNvPr id="3" name="TextBox 2"/>
          <p:cNvSpPr txBox="1"/>
          <p:nvPr/>
        </p:nvSpPr>
        <p:spPr>
          <a:xfrm>
            <a:off x="609600" y="685800"/>
            <a:ext cx="8077200" cy="5447645"/>
          </a:xfrm>
          <a:prstGeom prst="rect">
            <a:avLst/>
          </a:prstGeom>
          <a:noFill/>
        </p:spPr>
        <p:txBody>
          <a:bodyPr wrap="square" rtlCol="0">
            <a:spAutoFit/>
          </a:bodyPr>
          <a:lstStyle/>
          <a:p>
            <a:pPr>
              <a:buFont typeface="Wingdings" panose="05000000000000000000" pitchFamily="2" charset="2"/>
              <a:buChar char="§"/>
            </a:pPr>
            <a:r>
              <a:rPr lang="en-US" dirty="0" smtClean="0"/>
              <a:t> </a:t>
            </a:r>
            <a:r>
              <a:rPr lang="en-US" sz="2400" b="1" dirty="0" smtClean="0">
                <a:solidFill>
                  <a:srgbClr val="FF0000"/>
                </a:solidFill>
                <a:latin typeface="+mj-lt"/>
              </a:rPr>
              <a:t>Example of GDP Calculation</a:t>
            </a:r>
            <a:r>
              <a:rPr lang="en-US" sz="2400" b="1" dirty="0" smtClean="0">
                <a:solidFill>
                  <a:srgbClr val="FF0000"/>
                </a:solidFill>
              </a:rPr>
              <a:t>:</a:t>
            </a:r>
          </a:p>
          <a:p>
            <a:pPr>
              <a:buFont typeface="Wingdings" panose="05000000000000000000" pitchFamily="2" charset="2"/>
              <a:buChar char="§"/>
            </a:pPr>
            <a:endParaRPr lang="en-US" dirty="0" smtClean="0"/>
          </a:p>
          <a:p>
            <a:endParaRPr lang="en-US" dirty="0" smtClean="0"/>
          </a:p>
          <a:p>
            <a:pPr>
              <a:buFont typeface="Wingdings" panose="05000000000000000000" pitchFamily="2" charset="2"/>
              <a:buChar char="§"/>
            </a:pPr>
            <a:endParaRPr lang="en-US" dirty="0" smtClean="0"/>
          </a:p>
          <a:p>
            <a:pPr>
              <a:buFont typeface="Wingdings" panose="05000000000000000000" pitchFamily="2" charset="2"/>
              <a:buChar char="§"/>
            </a:pPr>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p:txBody>
      </p:sp>
      <p:pic>
        <p:nvPicPr>
          <p:cNvPr id="2051" name="Picture 3"/>
          <p:cNvPicPr>
            <a:picLocks noChangeAspect="1" noChangeArrowheads="1"/>
          </p:cNvPicPr>
          <p:nvPr/>
        </p:nvPicPr>
        <p:blipFill>
          <a:blip r:embed="rId2" cstate="print">
            <a:lum bright="-10000"/>
          </a:blip>
          <a:srcRect/>
          <a:stretch>
            <a:fillRect/>
          </a:stretch>
        </p:blipFill>
        <p:spPr bwMode="auto">
          <a:xfrm>
            <a:off x="685800" y="1371599"/>
            <a:ext cx="7848600" cy="476184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27</a:t>
            </a:fld>
            <a:endParaRPr lang="en-US"/>
          </a:p>
        </p:txBody>
      </p:sp>
      <p:sp>
        <p:nvSpPr>
          <p:cNvPr id="3" name="TextBox 2"/>
          <p:cNvSpPr txBox="1"/>
          <p:nvPr/>
        </p:nvSpPr>
        <p:spPr>
          <a:xfrm>
            <a:off x="762000" y="457200"/>
            <a:ext cx="7772400" cy="5678478"/>
          </a:xfrm>
          <a:prstGeom prst="rect">
            <a:avLst/>
          </a:prstGeom>
          <a:noFill/>
        </p:spPr>
        <p:txBody>
          <a:bodyPr wrap="square" rtlCol="0">
            <a:spAutoFit/>
          </a:bodyPr>
          <a:lstStyle/>
          <a:p>
            <a:r>
              <a:rPr lang="en-US" sz="2600" b="1" dirty="0" smtClean="0">
                <a:solidFill>
                  <a:srgbClr val="C00000"/>
                </a:solidFill>
                <a:latin typeface="+mj-lt"/>
              </a:rPr>
              <a:t>To sum up: </a:t>
            </a:r>
          </a:p>
          <a:p>
            <a:endParaRPr lang="en-US" sz="800" b="1" dirty="0" smtClean="0">
              <a:latin typeface="+mj-lt"/>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a:t>
            </a:r>
            <a:r>
              <a:rPr lang="en-US" sz="2100" dirty="0" smtClean="0">
                <a:latin typeface="Times New Roman" panose="02020603050405020304" pitchFamily="18" charset="0"/>
                <a:cs typeface="Times New Roman" panose="02020603050405020304" pitchFamily="18" charset="0"/>
              </a:rPr>
              <a:t>Nominal GDP uses current prices to place a value on the economy’s production of goods and services. </a:t>
            </a:r>
          </a:p>
          <a:p>
            <a:pPr algn="just"/>
            <a:endParaRPr lang="en-US" sz="14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a:t>
            </a:r>
            <a:r>
              <a:rPr lang="en-US" sz="2100" dirty="0" smtClean="0">
                <a:latin typeface="Times New Roman" panose="02020603050405020304" pitchFamily="18" charset="0"/>
                <a:cs typeface="Times New Roman" panose="02020603050405020304" pitchFamily="18" charset="0"/>
              </a:rPr>
              <a:t>Real GDP uses constant base-year prices to place a value on the economy’s production of goods and services. </a:t>
            </a:r>
          </a:p>
          <a:p>
            <a:pPr algn="just"/>
            <a:endParaRPr lang="en-US" sz="1400" dirty="0" smtClean="0">
              <a:latin typeface="Times New Roman" panose="02020603050405020304" pitchFamily="18" charset="0"/>
              <a:cs typeface="Times New Roman" panose="02020603050405020304" pitchFamily="18" charset="0"/>
            </a:endParaRPr>
          </a:p>
          <a:p>
            <a:pPr algn="just"/>
            <a:r>
              <a:rPr lang="en-US" sz="2100" dirty="0" smtClean="0">
                <a:solidFill>
                  <a:srgbClr val="00B0F0"/>
                </a:solidFill>
                <a:latin typeface="Times New Roman" panose="02020603050405020304" pitchFamily="18" charset="0"/>
                <a:cs typeface="Times New Roman" panose="02020603050405020304" pitchFamily="18" charset="0"/>
              </a:rPr>
              <a:t>Because real GDP is not affected by changes in prices, changes in real GDP reflect only changes in the amount of production. Thus, real GDP is a measure of the economy’s production of goods and services.</a:t>
            </a:r>
          </a:p>
          <a:p>
            <a:pPr algn="just"/>
            <a:endParaRPr lang="en-US" sz="1400" dirty="0" smtClean="0">
              <a:latin typeface="Times New Roman" panose="02020603050405020304" pitchFamily="18" charset="0"/>
              <a:cs typeface="Times New Roman" panose="02020603050405020304" pitchFamily="18" charset="0"/>
            </a:endParaRPr>
          </a:p>
          <a:p>
            <a:pPr algn="just"/>
            <a:r>
              <a:rPr lang="en-US" sz="2100" dirty="0" smtClean="0">
                <a:latin typeface="Times New Roman" panose="02020603050405020304" pitchFamily="18" charset="0"/>
                <a:cs typeface="Times New Roman" panose="02020603050405020304" pitchFamily="18" charset="0"/>
              </a:rPr>
              <a:t>Our goal in computing GDP is to measure how well the overall economy is performing. Because real GDP measures the economy’s production of goods and services, it reflects the economy’s ability to satisfy people’s needs and desires. </a:t>
            </a:r>
          </a:p>
          <a:p>
            <a:pPr algn="just"/>
            <a:endParaRPr lang="en-US" sz="1400" dirty="0" smtClean="0">
              <a:latin typeface="Times New Roman" panose="02020603050405020304" pitchFamily="18" charset="0"/>
              <a:cs typeface="Times New Roman" panose="02020603050405020304" pitchFamily="18" charset="0"/>
            </a:endParaRPr>
          </a:p>
          <a:p>
            <a:pPr algn="just"/>
            <a:r>
              <a:rPr lang="en-US" sz="2100" b="1" i="1" dirty="0" smtClean="0">
                <a:solidFill>
                  <a:srgbClr val="00B0F0"/>
                </a:solidFill>
                <a:latin typeface="Times New Roman" panose="02020603050405020304" pitchFamily="18" charset="0"/>
                <a:cs typeface="Times New Roman" panose="02020603050405020304" pitchFamily="18" charset="0"/>
              </a:rPr>
              <a:t>Thus, real GDP is a better measure of economic well-being than is nominal GDP.</a:t>
            </a:r>
            <a:endParaRPr lang="en-US" sz="2100" b="1" i="1" dirty="0">
              <a:solidFill>
                <a:srgbClr val="00B0F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28</a:t>
            </a:fld>
            <a:endParaRPr lang="en-US"/>
          </a:p>
        </p:txBody>
      </p:sp>
      <p:sp>
        <p:nvSpPr>
          <p:cNvPr id="3" name="TextBox 2"/>
          <p:cNvSpPr txBox="1"/>
          <p:nvPr/>
        </p:nvSpPr>
        <p:spPr>
          <a:xfrm>
            <a:off x="685800" y="457200"/>
            <a:ext cx="7924800" cy="5832366"/>
          </a:xfrm>
          <a:prstGeom prst="rect">
            <a:avLst/>
          </a:prstGeom>
          <a:noFill/>
        </p:spPr>
        <p:txBody>
          <a:bodyPr wrap="square" rtlCol="0">
            <a:spAutoFit/>
          </a:bodyPr>
          <a:lstStyle/>
          <a:p>
            <a:pPr>
              <a:buFont typeface="Arial" panose="020B0604020202020204" pitchFamily="34" charset="0"/>
              <a:buChar char="•"/>
            </a:pPr>
            <a:r>
              <a:rPr lang="en-US" sz="2400" b="1" dirty="0" smtClean="0">
                <a:solidFill>
                  <a:srgbClr val="C00000"/>
                </a:solidFill>
                <a:latin typeface="+mj-lt"/>
              </a:rPr>
              <a:t>  </a:t>
            </a:r>
            <a:r>
              <a:rPr lang="en-US" sz="2400" b="1" dirty="0" smtClean="0">
                <a:solidFill>
                  <a:srgbClr val="FF0000"/>
                </a:solidFill>
                <a:latin typeface="+mj-lt"/>
              </a:rPr>
              <a:t>GDP Deflator</a:t>
            </a:r>
            <a:r>
              <a:rPr lang="en-US" b="1" dirty="0" smtClean="0">
                <a:solidFill>
                  <a:srgbClr val="FF0000"/>
                </a:solidFill>
              </a:rPr>
              <a:t>:</a:t>
            </a:r>
            <a:r>
              <a:rPr lang="en-US" dirty="0" smtClean="0">
                <a:solidFill>
                  <a:srgbClr val="FF0000"/>
                </a:solidFill>
              </a:rPr>
              <a:t> </a:t>
            </a:r>
          </a:p>
          <a:p>
            <a:endParaRPr lang="en-US" sz="800" dirty="0" smtClean="0"/>
          </a:p>
          <a:p>
            <a:pPr algn="just"/>
            <a:r>
              <a:rPr lang="en-US" sz="2100" dirty="0" smtClean="0">
                <a:latin typeface="Times New Roman" panose="02020603050405020304" pitchFamily="18" charset="0"/>
                <a:cs typeface="Times New Roman" panose="02020603050405020304" pitchFamily="18" charset="0"/>
              </a:rPr>
              <a:t>Nominal GDP reflects </a:t>
            </a:r>
            <a:r>
              <a:rPr lang="en-US" sz="2100" b="1" dirty="0" smtClean="0">
                <a:latin typeface="Times New Roman" panose="02020603050405020304" pitchFamily="18" charset="0"/>
                <a:cs typeface="Times New Roman" panose="02020603050405020304" pitchFamily="18" charset="0"/>
              </a:rPr>
              <a:t>both the quantities </a:t>
            </a:r>
            <a:r>
              <a:rPr lang="en-US" sz="2100" dirty="0" smtClean="0">
                <a:latin typeface="Times New Roman" panose="02020603050405020304" pitchFamily="18" charset="0"/>
                <a:cs typeface="Times New Roman" panose="02020603050405020304" pitchFamily="18" charset="0"/>
              </a:rPr>
              <a:t>of goods and services the economy is producing and </a:t>
            </a:r>
            <a:r>
              <a:rPr lang="en-US" sz="2100" b="1" dirty="0" smtClean="0">
                <a:latin typeface="Times New Roman" panose="02020603050405020304" pitchFamily="18" charset="0"/>
                <a:cs typeface="Times New Roman" panose="02020603050405020304" pitchFamily="18" charset="0"/>
              </a:rPr>
              <a:t>the prices </a:t>
            </a:r>
            <a:r>
              <a:rPr lang="en-US" sz="2100" dirty="0" smtClean="0">
                <a:latin typeface="Times New Roman" panose="02020603050405020304" pitchFamily="18" charset="0"/>
                <a:cs typeface="Times New Roman" panose="02020603050405020304" pitchFamily="18" charset="0"/>
              </a:rPr>
              <a:t>of those goods and services</a:t>
            </a:r>
            <a:r>
              <a:rPr lang="en-US" sz="2100" dirty="0" smtClean="0"/>
              <a:t>.</a:t>
            </a:r>
          </a:p>
          <a:p>
            <a:pPr algn="just"/>
            <a:endParaRPr lang="en-US" sz="1200" dirty="0" smtClean="0"/>
          </a:p>
          <a:p>
            <a:pPr algn="just"/>
            <a:r>
              <a:rPr lang="en-US" sz="2100" dirty="0" smtClean="0">
                <a:solidFill>
                  <a:srgbClr val="00B0F0"/>
                </a:solidFill>
                <a:latin typeface="Times New Roman" panose="02020603050405020304" pitchFamily="18" charset="0"/>
                <a:cs typeface="Times New Roman" panose="02020603050405020304" pitchFamily="18" charset="0"/>
              </a:rPr>
              <a:t>Holding prices constant at base-year levels, real GDP reflects </a:t>
            </a:r>
            <a:r>
              <a:rPr lang="en-US" sz="2100" b="1" dirty="0" smtClean="0">
                <a:solidFill>
                  <a:srgbClr val="00B0F0"/>
                </a:solidFill>
                <a:latin typeface="Times New Roman" panose="02020603050405020304" pitchFamily="18" charset="0"/>
                <a:cs typeface="Times New Roman" panose="02020603050405020304" pitchFamily="18" charset="0"/>
              </a:rPr>
              <a:t>only the </a:t>
            </a:r>
          </a:p>
          <a:p>
            <a:pPr algn="just"/>
            <a:r>
              <a:rPr lang="en-US" sz="2100" b="1" dirty="0" smtClean="0">
                <a:solidFill>
                  <a:srgbClr val="00B0F0"/>
                </a:solidFill>
                <a:latin typeface="Times New Roman" panose="02020603050405020304" pitchFamily="18" charset="0"/>
                <a:cs typeface="Times New Roman" panose="02020603050405020304" pitchFamily="18" charset="0"/>
              </a:rPr>
              <a:t>quantities </a:t>
            </a:r>
            <a:r>
              <a:rPr lang="en-US" sz="2100" dirty="0" smtClean="0">
                <a:solidFill>
                  <a:srgbClr val="00B0F0"/>
                </a:solidFill>
                <a:latin typeface="Times New Roman" panose="02020603050405020304" pitchFamily="18" charset="0"/>
                <a:cs typeface="Times New Roman" panose="02020603050405020304" pitchFamily="18" charset="0"/>
              </a:rPr>
              <a:t>produced.</a:t>
            </a:r>
          </a:p>
          <a:p>
            <a:pPr algn="just"/>
            <a:endParaRPr lang="en-US" sz="1200" dirty="0" smtClean="0">
              <a:latin typeface="Times New Roman" panose="02020603050405020304" pitchFamily="18" charset="0"/>
              <a:cs typeface="Times New Roman" panose="02020603050405020304" pitchFamily="18" charset="0"/>
            </a:endParaRPr>
          </a:p>
          <a:p>
            <a:pPr algn="just"/>
            <a:r>
              <a:rPr lang="en-US" sz="2100" dirty="0" smtClean="0">
                <a:latin typeface="Times New Roman" panose="02020603050405020304" pitchFamily="18" charset="0"/>
                <a:cs typeface="Times New Roman" panose="02020603050405020304" pitchFamily="18" charset="0"/>
              </a:rPr>
              <a:t>From these two statistics, we can compute an another measure, </a:t>
            </a:r>
            <a:r>
              <a:rPr lang="en-US" sz="2100" dirty="0" smtClean="0">
                <a:solidFill>
                  <a:srgbClr val="00B0F0"/>
                </a:solidFill>
                <a:latin typeface="Times New Roman" panose="02020603050405020304" pitchFamily="18" charset="0"/>
                <a:cs typeface="Times New Roman" panose="02020603050405020304" pitchFamily="18" charset="0"/>
              </a:rPr>
              <a:t>called the GDP deflator, which reflects </a:t>
            </a:r>
            <a:r>
              <a:rPr lang="en-US" sz="2100" b="1" dirty="0" smtClean="0">
                <a:solidFill>
                  <a:srgbClr val="00B0F0"/>
                </a:solidFill>
                <a:latin typeface="Times New Roman" panose="02020603050405020304" pitchFamily="18" charset="0"/>
                <a:cs typeface="Times New Roman" panose="02020603050405020304" pitchFamily="18" charset="0"/>
              </a:rPr>
              <a:t>only the prices </a:t>
            </a:r>
            <a:r>
              <a:rPr lang="en-US" sz="2100" dirty="0" smtClean="0">
                <a:solidFill>
                  <a:srgbClr val="00B0F0"/>
                </a:solidFill>
                <a:latin typeface="Times New Roman" panose="02020603050405020304" pitchFamily="18" charset="0"/>
                <a:cs typeface="Times New Roman" panose="02020603050405020304" pitchFamily="18" charset="0"/>
              </a:rPr>
              <a:t>of goods and services.</a:t>
            </a:r>
            <a:r>
              <a:rPr lang="en-US" sz="2100" b="1" dirty="0" smtClean="0">
                <a:solidFill>
                  <a:srgbClr val="00B0F0"/>
                </a:solidFill>
                <a:latin typeface="Times New Roman" panose="02020603050405020304" pitchFamily="18" charset="0"/>
                <a:cs typeface="Times New Roman" panose="02020603050405020304" pitchFamily="18" charset="0"/>
              </a:rPr>
              <a:t> </a:t>
            </a:r>
            <a:endParaRPr lang="en-US" sz="2100" dirty="0" smtClean="0">
              <a:solidFill>
                <a:srgbClr val="00B0F0"/>
              </a:solidFill>
              <a:latin typeface="Times New Roman" panose="02020603050405020304" pitchFamily="18" charset="0"/>
              <a:cs typeface="Times New Roman" panose="02020603050405020304" pitchFamily="18" charset="0"/>
            </a:endParaRPr>
          </a:p>
          <a:p>
            <a:pPr algn="just"/>
            <a:r>
              <a:rPr lang="en-US" sz="2100" dirty="0" smtClean="0">
                <a:latin typeface="Times New Roman" panose="02020603050405020304" pitchFamily="18" charset="0"/>
                <a:cs typeface="Times New Roman" panose="02020603050405020304" pitchFamily="18" charset="0"/>
              </a:rPr>
              <a:t>The GDP deflator is calculated as follows:</a:t>
            </a:r>
          </a:p>
          <a:p>
            <a:pPr algn="just"/>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endParaRPr lang="en-US" sz="2000" dirty="0" smtClean="0"/>
          </a:p>
          <a:p>
            <a:pPr>
              <a:buFont typeface="Wingdings" panose="05000000000000000000" pitchFamily="2" charset="2"/>
              <a:buChar char="ü"/>
            </a:pPr>
            <a:r>
              <a:rPr lang="en-US" dirty="0" smtClean="0"/>
              <a:t> </a:t>
            </a:r>
            <a:r>
              <a:rPr lang="en-US" sz="2100" dirty="0" smtClean="0">
                <a:solidFill>
                  <a:srgbClr val="00B0F0"/>
                </a:solidFill>
                <a:latin typeface="Times New Roman" panose="02020603050405020304" pitchFamily="18" charset="0"/>
                <a:cs typeface="Times New Roman" panose="02020603050405020304" pitchFamily="18" charset="0"/>
              </a:rPr>
              <a:t>Because nominal GDP and real GDP must be the same in the base year, the GDP deflator for the base year always equals 100. </a:t>
            </a:r>
          </a:p>
          <a:p>
            <a:pPr>
              <a:buFont typeface="Wingdings" panose="05000000000000000000" pitchFamily="2" charset="2"/>
              <a:buChar char="ü"/>
            </a:pPr>
            <a:endParaRPr lang="en-US" sz="800" dirty="0" smtClean="0">
              <a:solidFill>
                <a:srgbClr val="00B0F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 The GDP deflator for subsequent years measures the change in nominal GDP from the base year that cannot be attributable to a change in real GDP.</a:t>
            </a:r>
            <a:endParaRPr lang="en-US"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2" cstate="print">
            <a:lum bright="-10000"/>
          </a:blip>
          <a:srcRect/>
          <a:stretch>
            <a:fillRect/>
          </a:stretch>
        </p:blipFill>
        <p:spPr bwMode="auto">
          <a:xfrm>
            <a:off x="2362199" y="3810000"/>
            <a:ext cx="4572001" cy="84216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29</a:t>
            </a:fld>
            <a:endParaRPr lang="en-US"/>
          </a:p>
        </p:txBody>
      </p:sp>
      <p:sp>
        <p:nvSpPr>
          <p:cNvPr id="3" name="TextBox 2"/>
          <p:cNvSpPr txBox="1"/>
          <p:nvPr/>
        </p:nvSpPr>
        <p:spPr>
          <a:xfrm>
            <a:off x="685800" y="533400"/>
            <a:ext cx="7848600" cy="5539978"/>
          </a:xfrm>
          <a:prstGeom prst="rect">
            <a:avLst/>
          </a:prstGeom>
          <a:noFill/>
        </p:spPr>
        <p:txBody>
          <a:bodyPr wrap="square" rtlCol="0">
            <a:spAutoFit/>
          </a:bodyPr>
          <a:lstStyle/>
          <a:p>
            <a:pPr>
              <a:buFont typeface="Wingdings" panose="05000000000000000000" pitchFamily="2" charset="2"/>
              <a:buChar char="ü"/>
            </a:pPr>
            <a:r>
              <a:rPr lang="en-US" dirty="0" smtClean="0"/>
              <a:t> </a:t>
            </a:r>
            <a:r>
              <a:rPr lang="en-US" sz="2200" dirty="0" smtClean="0">
                <a:latin typeface="Times New Roman" panose="02020603050405020304" pitchFamily="18" charset="0"/>
                <a:cs typeface="Times New Roman" panose="02020603050405020304" pitchFamily="18" charset="0"/>
              </a:rPr>
              <a:t>The GDP deflator measures the current level of prices relative to the level of prices in the base year. </a:t>
            </a:r>
            <a:r>
              <a:rPr lang="en-US" sz="2200" dirty="0" smtClean="0">
                <a:solidFill>
                  <a:srgbClr val="00B0F0"/>
                </a:solidFill>
                <a:latin typeface="Times New Roman" panose="02020603050405020304" pitchFamily="18" charset="0"/>
                <a:cs typeface="Times New Roman" panose="02020603050405020304" pitchFamily="18" charset="0"/>
              </a:rPr>
              <a:t>So basically the GDP deflator reflects what’s happening to </a:t>
            </a:r>
            <a:r>
              <a:rPr lang="en-US" sz="2200" b="1" dirty="0" smtClean="0">
                <a:solidFill>
                  <a:srgbClr val="00B0F0"/>
                </a:solidFill>
                <a:latin typeface="Times New Roman" panose="02020603050405020304" pitchFamily="18" charset="0"/>
                <a:cs typeface="Times New Roman" panose="02020603050405020304" pitchFamily="18" charset="0"/>
              </a:rPr>
              <a:t>prices,</a:t>
            </a:r>
            <a:r>
              <a:rPr lang="en-US" sz="2200" dirty="0" smtClean="0">
                <a:solidFill>
                  <a:srgbClr val="00B0F0"/>
                </a:solidFill>
                <a:latin typeface="Times New Roman" panose="02020603050405020304" pitchFamily="18" charset="0"/>
                <a:cs typeface="Times New Roman" panose="02020603050405020304" pitchFamily="18" charset="0"/>
              </a:rPr>
              <a:t> not </a:t>
            </a:r>
            <a:r>
              <a:rPr lang="en-US" sz="2200" b="1" dirty="0" smtClean="0">
                <a:solidFill>
                  <a:srgbClr val="00B0F0"/>
                </a:solidFill>
                <a:latin typeface="Times New Roman" panose="02020603050405020304" pitchFamily="18" charset="0"/>
                <a:cs typeface="Times New Roman" panose="02020603050405020304" pitchFamily="18" charset="0"/>
              </a:rPr>
              <a:t>quantities.</a:t>
            </a:r>
          </a:p>
          <a:p>
            <a:pPr>
              <a:buFont typeface="Wingdings" panose="05000000000000000000" pitchFamily="2" charset="2"/>
              <a:buChar char="ü"/>
            </a:pPr>
            <a:endParaRPr lang="en-US" sz="1400" b="1"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000" b="1" dirty="0" smtClean="0">
                <a:solidFill>
                  <a:srgbClr val="FF0000"/>
                </a:solidFill>
                <a:latin typeface="Times New Roman" panose="02020603050405020304" pitchFamily="18" charset="0"/>
                <a:cs typeface="Times New Roman" panose="02020603050405020304" pitchFamily="18" charset="0"/>
              </a:rPr>
              <a:t> </a:t>
            </a:r>
            <a:r>
              <a:rPr lang="en-US" sz="2400" b="1" dirty="0" smtClean="0">
                <a:solidFill>
                  <a:srgbClr val="FF0000"/>
                </a:solidFill>
                <a:latin typeface="+mj-lt"/>
                <a:cs typeface="Times New Roman" panose="02020603050405020304" pitchFamily="18" charset="0"/>
              </a:rPr>
              <a:t>GDP Deflator can be used to measure Inflation:</a:t>
            </a:r>
            <a:r>
              <a:rPr lang="en-US" sz="2400" dirty="0" smtClean="0">
                <a:solidFill>
                  <a:srgbClr val="FF0000"/>
                </a:solidFill>
                <a:latin typeface="+mj-lt"/>
                <a:cs typeface="Times New Roman" panose="02020603050405020304" pitchFamily="18" charset="0"/>
              </a:rPr>
              <a:t> </a:t>
            </a:r>
          </a:p>
          <a:p>
            <a:pPr algn="just"/>
            <a:endParaRPr lang="en-US" sz="800" dirty="0" smtClean="0">
              <a:solidFill>
                <a:srgbClr val="FF0000"/>
              </a:solidFill>
              <a:latin typeface="+mj-lt"/>
              <a:cs typeface="Times New Roman" panose="02020603050405020304" pitchFamily="18" charset="0"/>
            </a:endParaRPr>
          </a:p>
          <a:p>
            <a:pPr algn="just"/>
            <a:r>
              <a:rPr lang="en-US" sz="2200" dirty="0" smtClean="0">
                <a:latin typeface="Times New Roman" panose="02020603050405020304" pitchFamily="18" charset="0"/>
                <a:cs typeface="Times New Roman" panose="02020603050405020304" pitchFamily="18" charset="0"/>
              </a:rPr>
              <a:t>The GDP deflator is one measure that </a:t>
            </a:r>
            <a:r>
              <a:rPr lang="en-US" sz="2200" dirty="0" smtClean="0">
                <a:solidFill>
                  <a:srgbClr val="00B0F0"/>
                </a:solidFill>
                <a:latin typeface="Times New Roman" panose="02020603050405020304" pitchFamily="18" charset="0"/>
                <a:cs typeface="Times New Roman" panose="02020603050405020304" pitchFamily="18" charset="0"/>
              </a:rPr>
              <a:t>economists use to monitor the average level of prices in the economy and thus the rate of inflation. </a:t>
            </a:r>
            <a:r>
              <a:rPr lang="en-US" sz="2200" dirty="0" smtClean="0">
                <a:latin typeface="Times New Roman" panose="02020603050405020304" pitchFamily="18" charset="0"/>
                <a:cs typeface="Times New Roman" panose="02020603050405020304" pitchFamily="18" charset="0"/>
              </a:rPr>
              <a:t>Using the GDP deflator, the inflation rate between two consecutive years is computed as follows:</a:t>
            </a:r>
          </a:p>
          <a:p>
            <a:pPr algn="just"/>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endParaRPr lang="en-US" sz="1000" dirty="0" smtClean="0">
              <a:latin typeface="Times New Roman" panose="02020603050405020304" pitchFamily="18" charset="0"/>
              <a:cs typeface="Times New Roman" panose="02020603050405020304" pitchFamily="18" charset="0"/>
            </a:endParaRPr>
          </a:p>
          <a:p>
            <a:pPr algn="just"/>
            <a:r>
              <a:rPr lang="en-US" sz="2200" dirty="0" smtClean="0">
                <a:latin typeface="Times New Roman" panose="02020603050405020304" pitchFamily="18" charset="0"/>
                <a:cs typeface="Times New Roman" panose="02020603050405020304" pitchFamily="18" charset="0"/>
              </a:rPr>
              <a:t>It is called deflator because it can be used to take inflation out of nominal GDP—that is, to “deflate” nominal GDP for the rise that is due to increases in prices.  </a:t>
            </a:r>
            <a:endParaRPr lang="en-US" sz="2200" dirty="0">
              <a:latin typeface="Times New Roman" panose="02020603050405020304" pitchFamily="18" charset="0"/>
              <a:cs typeface="Times New Roman" panose="02020603050405020304" pitchFamily="18" charset="0"/>
            </a:endParaRPr>
          </a:p>
        </p:txBody>
      </p:sp>
      <p:pic>
        <p:nvPicPr>
          <p:cNvPr id="4098" name="Picture 2"/>
          <p:cNvPicPr>
            <a:picLocks noChangeAspect="1" noChangeArrowheads="1"/>
          </p:cNvPicPr>
          <p:nvPr/>
        </p:nvPicPr>
        <p:blipFill>
          <a:blip r:embed="rId2" cstate="print">
            <a:lum bright="-10000"/>
          </a:blip>
          <a:srcRect/>
          <a:stretch>
            <a:fillRect/>
          </a:stretch>
        </p:blipFill>
        <p:spPr bwMode="auto">
          <a:xfrm>
            <a:off x="1371600" y="3886200"/>
            <a:ext cx="6334125" cy="914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30</a:t>
            </a:fld>
            <a:endParaRPr lang="en-US"/>
          </a:p>
        </p:txBody>
      </p:sp>
      <p:sp>
        <p:nvSpPr>
          <p:cNvPr id="3" name="TextBox 2"/>
          <p:cNvSpPr txBox="1"/>
          <p:nvPr/>
        </p:nvSpPr>
        <p:spPr>
          <a:xfrm>
            <a:off x="914400" y="838200"/>
            <a:ext cx="7239000" cy="1015663"/>
          </a:xfrm>
          <a:prstGeom prst="rect">
            <a:avLst/>
          </a:prstGeom>
          <a:noFill/>
        </p:spPr>
        <p:txBody>
          <a:bodyPr wrap="square" rtlCol="0">
            <a:spAutoFit/>
          </a:bodyPr>
          <a:lstStyle/>
          <a:p>
            <a:r>
              <a:rPr lang="en-US" sz="2000" b="1" dirty="0" smtClean="0">
                <a:latin typeface="+mj-lt"/>
              </a:rPr>
              <a:t>Example of GDP Deflator:</a:t>
            </a:r>
          </a:p>
          <a:p>
            <a:endParaRPr lang="en-US" sz="2000" b="1" dirty="0" smtClean="0">
              <a:latin typeface="+mj-lt"/>
            </a:endParaRPr>
          </a:p>
          <a:p>
            <a:endParaRPr lang="en-US" sz="2000" b="1" dirty="0">
              <a:latin typeface="+mj-lt"/>
            </a:endParaRPr>
          </a:p>
        </p:txBody>
      </p:sp>
      <p:pic>
        <p:nvPicPr>
          <p:cNvPr id="5122" name="Picture 2"/>
          <p:cNvPicPr>
            <a:picLocks noChangeAspect="1" noChangeArrowheads="1"/>
          </p:cNvPicPr>
          <p:nvPr/>
        </p:nvPicPr>
        <p:blipFill>
          <a:blip r:embed="rId2" cstate="print">
            <a:lum bright="-10000"/>
          </a:blip>
          <a:srcRect/>
          <a:stretch>
            <a:fillRect/>
          </a:stretch>
        </p:blipFill>
        <p:spPr bwMode="auto">
          <a:xfrm>
            <a:off x="990600" y="1676400"/>
            <a:ext cx="7467600" cy="3124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31</a:t>
            </a:fld>
            <a:endParaRPr lang="en-US"/>
          </a:p>
        </p:txBody>
      </p:sp>
      <p:sp>
        <p:nvSpPr>
          <p:cNvPr id="3" name="TextBox 2"/>
          <p:cNvSpPr txBox="1"/>
          <p:nvPr/>
        </p:nvSpPr>
        <p:spPr>
          <a:xfrm>
            <a:off x="685800" y="487025"/>
            <a:ext cx="7696200" cy="7509748"/>
          </a:xfrm>
          <a:prstGeom prst="rect">
            <a:avLst/>
          </a:prstGeom>
          <a:noFill/>
        </p:spPr>
        <p:txBody>
          <a:bodyPr wrap="square" rtlCol="0">
            <a:spAutoFit/>
          </a:bodyPr>
          <a:lstStyle/>
          <a:p>
            <a:pPr>
              <a:buFont typeface="Wingdings" panose="05000000000000000000" pitchFamily="2" charset="2"/>
              <a:buChar char="§"/>
            </a:pPr>
            <a:r>
              <a:rPr lang="en-US" sz="2400" b="1" dirty="0" smtClean="0">
                <a:latin typeface="+mj-lt"/>
              </a:rPr>
              <a:t>  </a:t>
            </a:r>
            <a:r>
              <a:rPr lang="en-US" sz="2400" b="1" dirty="0" smtClean="0">
                <a:solidFill>
                  <a:srgbClr val="C00000"/>
                </a:solidFill>
                <a:latin typeface="+mj-lt"/>
              </a:rPr>
              <a:t>Is GDP a Good Measure of Economic Well-Being?</a:t>
            </a:r>
          </a:p>
          <a:p>
            <a:pPr>
              <a:buFont typeface="Wingdings" panose="05000000000000000000" pitchFamily="2" charset="2"/>
              <a:buChar char="§"/>
            </a:pPr>
            <a:endParaRPr lang="en-US" sz="1000" b="1" dirty="0" smtClean="0">
              <a:latin typeface="+mj-lt"/>
            </a:endParaRPr>
          </a:p>
          <a:p>
            <a:pPr algn="just">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 </a:t>
            </a:r>
            <a:r>
              <a:rPr lang="en-US" sz="2100" i="1" dirty="0" smtClean="0">
                <a:latin typeface="Times New Roman" panose="02020603050405020304" pitchFamily="18" charset="0"/>
                <a:cs typeface="Times New Roman" panose="02020603050405020304" pitchFamily="18" charset="0"/>
              </a:rPr>
              <a:t>The Underground Economy</a:t>
            </a:r>
            <a:r>
              <a:rPr lang="en-US" sz="2100" dirty="0" smtClean="0">
                <a:latin typeface="Times New Roman" panose="02020603050405020304" pitchFamily="18" charset="0"/>
                <a:cs typeface="Times New Roman" panose="02020603050405020304" pitchFamily="18" charset="0"/>
              </a:rPr>
              <a:t>: The gross domestic product misses many transactions that take place in the underground economy. </a:t>
            </a:r>
            <a:r>
              <a:rPr lang="en-US" sz="2100" dirty="0" smtClean="0">
                <a:solidFill>
                  <a:srgbClr val="00B0F0"/>
                </a:solidFill>
                <a:latin typeface="Times New Roman" panose="02020603050405020304" pitchFamily="18" charset="0"/>
                <a:cs typeface="Times New Roman" panose="02020603050405020304" pitchFamily="18" charset="0"/>
              </a:rPr>
              <a:t>The underground, gray, informal, or shadow economy involves otherwise legal transactions that go unreported or unrecorded. </a:t>
            </a:r>
          </a:p>
          <a:p>
            <a:pPr algn="just">
              <a:buFont typeface="Wingdings" panose="05000000000000000000" pitchFamily="2" charset="2"/>
              <a:buChar char="ü"/>
            </a:pPr>
            <a:endParaRPr lang="en-US" sz="14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 </a:t>
            </a:r>
            <a:r>
              <a:rPr lang="en-US" sz="2100" dirty="0" smtClean="0">
                <a:latin typeface="Times New Roman" panose="02020603050405020304" pitchFamily="18" charset="0"/>
                <a:cs typeface="Times New Roman" panose="02020603050405020304" pitchFamily="18" charset="0"/>
              </a:rPr>
              <a:t>GDP is not, however, a perfect measure of well-being. </a:t>
            </a:r>
            <a:r>
              <a:rPr lang="en-US" sz="2100" dirty="0" smtClean="0">
                <a:solidFill>
                  <a:srgbClr val="00B0F0"/>
                </a:solidFill>
                <a:latin typeface="Times New Roman" panose="02020603050405020304" pitchFamily="18" charset="0"/>
                <a:cs typeface="Times New Roman" panose="02020603050405020304" pitchFamily="18" charset="0"/>
              </a:rPr>
              <a:t>Some things that contribute to a good life are left out of GDP. </a:t>
            </a:r>
          </a:p>
          <a:p>
            <a:pPr algn="just">
              <a:buFont typeface="Wingdings" panose="05000000000000000000" pitchFamily="2" charset="2"/>
              <a:buChar char="ü"/>
            </a:pPr>
            <a:endParaRPr lang="en-US" sz="14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 </a:t>
            </a:r>
            <a:r>
              <a:rPr lang="en-US" sz="2100" dirty="0" smtClean="0">
                <a:latin typeface="Times New Roman" panose="02020603050405020304" pitchFamily="18" charset="0"/>
                <a:cs typeface="Times New Roman" panose="02020603050405020304" pitchFamily="18" charset="0"/>
              </a:rPr>
              <a:t>Because GDP uses market prices to value goods and services, </a:t>
            </a:r>
            <a:r>
              <a:rPr lang="en-US" sz="2100" dirty="0" smtClean="0">
                <a:solidFill>
                  <a:srgbClr val="00B0F0"/>
                </a:solidFill>
                <a:latin typeface="Times New Roman" panose="02020603050405020304" pitchFamily="18" charset="0"/>
                <a:cs typeface="Times New Roman" panose="02020603050405020304" pitchFamily="18" charset="0"/>
              </a:rPr>
              <a:t>it excludes the value of almost all activity that takes place outside markets. </a:t>
            </a:r>
          </a:p>
          <a:p>
            <a:pPr algn="just">
              <a:buFont typeface="Wingdings" panose="05000000000000000000" pitchFamily="2" charset="2"/>
              <a:buChar char="ü"/>
            </a:pPr>
            <a:endParaRPr lang="en-US" sz="14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 </a:t>
            </a:r>
            <a:r>
              <a:rPr lang="en-US" sz="2100" dirty="0" smtClean="0">
                <a:solidFill>
                  <a:srgbClr val="00B0F0"/>
                </a:solidFill>
                <a:latin typeface="Times New Roman" panose="02020603050405020304" pitchFamily="18" charset="0"/>
                <a:cs typeface="Times New Roman" panose="02020603050405020304" pitchFamily="18" charset="0"/>
              </a:rPr>
              <a:t>Another thing that GDP excludes is the quality of the environment. </a:t>
            </a:r>
            <a:r>
              <a:rPr lang="en-US" sz="2100" dirty="0" smtClean="0">
                <a:latin typeface="Times New Roman" panose="02020603050405020304" pitchFamily="18" charset="0"/>
                <a:cs typeface="Times New Roman" panose="02020603050405020304" pitchFamily="18" charset="0"/>
              </a:rPr>
              <a:t>GDP  reflects the factory’s  production, but not the  harm that it inflicts on the environment.</a:t>
            </a:r>
          </a:p>
          <a:p>
            <a:pPr algn="just"/>
            <a:endParaRPr lang="en-US" sz="14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 </a:t>
            </a:r>
            <a:r>
              <a:rPr lang="en-US" sz="2100" dirty="0" smtClean="0">
                <a:solidFill>
                  <a:srgbClr val="00B0F0"/>
                </a:solidFill>
                <a:latin typeface="Times New Roman" panose="02020603050405020304" pitchFamily="18" charset="0"/>
                <a:cs typeface="Times New Roman" panose="02020603050405020304" pitchFamily="18" charset="0"/>
              </a:rPr>
              <a:t>GDP does not capture the income inequality exits in the economy.</a:t>
            </a:r>
          </a:p>
          <a:p>
            <a:pPr algn="just"/>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endParaRPr lang="en-US" sz="2000" dirty="0" smtClean="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t>32</a:t>
            </a:fld>
            <a:endParaRPr lang="en-US"/>
          </a:p>
        </p:txBody>
      </p:sp>
      <p:sp>
        <p:nvSpPr>
          <p:cNvPr id="3" name="TextBox 2"/>
          <p:cNvSpPr txBox="1"/>
          <p:nvPr/>
        </p:nvSpPr>
        <p:spPr>
          <a:xfrm>
            <a:off x="838200" y="914400"/>
            <a:ext cx="7772400" cy="4862870"/>
          </a:xfrm>
          <a:prstGeom prst="rect">
            <a:avLst/>
          </a:prstGeom>
          <a:noFill/>
        </p:spPr>
        <p:txBody>
          <a:bodyPr wrap="square" rtlCol="0">
            <a:spAutoFit/>
          </a:bodyPr>
          <a:lstStyle/>
          <a:p>
            <a:pPr>
              <a:buFont typeface="Arial" panose="020B0604020202020204" pitchFamily="34" charset="0"/>
              <a:buChar char="•"/>
            </a:pPr>
            <a:r>
              <a:rPr lang="en-US" sz="2000" b="1" i="1" dirty="0" smtClean="0">
                <a:latin typeface="Times New Roman" panose="02020603050405020304" pitchFamily="18" charset="0"/>
                <a:cs typeface="Times New Roman" panose="02020603050405020304" pitchFamily="18" charset="0"/>
              </a:rPr>
              <a:t>  </a:t>
            </a:r>
            <a:r>
              <a:rPr lang="en-US" sz="2400" b="1" i="1" dirty="0" smtClean="0">
                <a:solidFill>
                  <a:srgbClr val="C00000"/>
                </a:solidFill>
                <a:latin typeface="Times New Roman" panose="02020603050405020304" pitchFamily="18" charset="0"/>
                <a:cs typeface="Times New Roman" panose="02020603050405020304" pitchFamily="18" charset="0"/>
              </a:rPr>
              <a:t>Per Capita GDP:</a:t>
            </a:r>
          </a:p>
          <a:p>
            <a:pPr>
              <a:buFont typeface="Arial" panose="020B0604020202020204" pitchFamily="34" charset="0"/>
              <a:buChar char="•"/>
            </a:pPr>
            <a:endParaRPr lang="en-US" sz="1000" b="1" i="1" dirty="0" smtClean="0">
              <a:solidFill>
                <a:srgbClr val="C00000"/>
              </a:solidFill>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 </a:t>
            </a:r>
            <a:r>
              <a:rPr lang="en-US" sz="2100" dirty="0" smtClean="0">
                <a:latin typeface="Times New Roman" panose="02020603050405020304" pitchFamily="18" charset="0"/>
                <a:cs typeface="Times New Roman" panose="02020603050405020304" pitchFamily="18" charset="0"/>
              </a:rPr>
              <a:t>One of the main use of national income is in measuring the economic well being of the population through the concept of the standard of  living. </a:t>
            </a:r>
            <a:r>
              <a:rPr lang="en-US" sz="2100" dirty="0" smtClean="0">
                <a:solidFill>
                  <a:srgbClr val="00B0F0"/>
                </a:solidFill>
                <a:latin typeface="Times New Roman" panose="02020603050405020304" pitchFamily="18" charset="0"/>
                <a:cs typeface="Times New Roman" panose="02020603050405020304" pitchFamily="18" charset="0"/>
              </a:rPr>
              <a:t>Per capita GDP is particularly helpful in measuring the standard of living</a:t>
            </a:r>
            <a:r>
              <a:rPr lang="en-US" sz="2100" dirty="0" smtClean="0">
                <a:latin typeface="Times New Roman" panose="02020603050405020304" pitchFamily="18" charset="0"/>
                <a:cs typeface="Times New Roman" panose="02020603050405020304" pitchFamily="18" charset="0"/>
              </a:rPr>
              <a:t>.</a:t>
            </a:r>
          </a:p>
          <a:p>
            <a:endParaRPr lang="en-US" sz="2000" dirty="0" smtClean="0">
              <a:latin typeface="Times New Roman" panose="02020603050405020304" pitchFamily="18" charset="0"/>
              <a:cs typeface="Times New Roman" panose="02020603050405020304" pitchFamily="18" charset="0"/>
            </a:endParaRPr>
          </a:p>
          <a:p>
            <a:endParaRPr lang="en-US" sz="2000" b="1" i="1" dirty="0" smtClean="0">
              <a:latin typeface="Times New Roman" panose="02020603050405020304" pitchFamily="18" charset="0"/>
              <a:cs typeface="Times New Roman" panose="02020603050405020304" pitchFamily="18" charset="0"/>
            </a:endParaRPr>
          </a:p>
          <a:p>
            <a:r>
              <a:rPr lang="en-US" sz="2400" b="1" dirty="0" smtClean="0">
                <a:latin typeface="Times New Roman" panose="02020603050405020304" pitchFamily="18" charset="0"/>
                <a:cs typeface="Times New Roman" panose="02020603050405020304" pitchFamily="18" charset="0"/>
              </a:rPr>
              <a:t>Per capita GDP  =  </a:t>
            </a:r>
          </a:p>
          <a:p>
            <a:endParaRPr lang="en-US" sz="20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r>
              <a:rPr lang="en-US" sz="2100" dirty="0" smtClean="0">
                <a:latin typeface="Times New Roman" panose="02020603050405020304" pitchFamily="18" charset="0"/>
                <a:cs typeface="Times New Roman" panose="02020603050405020304" pitchFamily="18" charset="0"/>
              </a:rPr>
              <a:t>Per capita GDP is used when comparing one country to another because it shows the relative performance of the countries. </a:t>
            </a:r>
            <a:r>
              <a:rPr lang="en-US" sz="2100" b="1" dirty="0" smtClean="0">
                <a:solidFill>
                  <a:srgbClr val="00B0F0"/>
                </a:solidFill>
                <a:latin typeface="Times New Roman" panose="02020603050405020304" pitchFamily="18" charset="0"/>
                <a:cs typeface="Times New Roman" panose="02020603050405020304" pitchFamily="18" charset="0"/>
              </a:rPr>
              <a:t>A rise      in per capita GDP signals growth in the economy and tend to translate as an increase in productivity.</a:t>
            </a:r>
            <a:endParaRPr lang="en-US" sz="2100" b="1" dirty="0">
              <a:solidFill>
                <a:srgbClr val="00B0F0"/>
              </a:solidFill>
              <a:latin typeface="Times New Roman" panose="02020603050405020304" pitchFamily="18" charset="0"/>
              <a:cs typeface="Times New Roman" panose="02020603050405020304" pitchFamily="18" charset="0"/>
            </a:endParaRPr>
          </a:p>
        </p:txBody>
      </p:sp>
      <p:sp>
        <p:nvSpPr>
          <p:cNvPr id="2050" name="Rectangle 2"/>
          <p:cNvSpPr>
            <a:spLocks noChangeArrowheads="1"/>
          </p:cNvSpPr>
          <p:nvPr/>
        </p:nvSpPr>
        <p:spPr bwMode="auto">
          <a:xfrm>
            <a:off x="0" y="0"/>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pic>
        <p:nvPicPr>
          <p:cNvPr id="2049"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581400" y="3263837"/>
            <a:ext cx="1645920" cy="721245"/>
          </a:xfrm>
          <a:prstGeom prst="rect">
            <a:avLst/>
          </a:prstGeom>
          <a:noFill/>
        </p:spPr>
      </p:pic>
      <p:sp>
        <p:nvSpPr>
          <p:cNvPr id="2051" name="Rectangle 3"/>
          <p:cNvSpPr>
            <a:spLocks noChangeArrowheads="1"/>
          </p:cNvSpPr>
          <p:nvPr/>
        </p:nvSpPr>
        <p:spPr bwMode="auto">
          <a:xfrm>
            <a:off x="0" y="828675"/>
            <a:ext cx="9144000"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TotalTime>
  <Words>3355</Words>
  <Application>Microsoft Office PowerPoint</Application>
  <PresentationFormat>On-screen Show (4:3)</PresentationFormat>
  <Paragraphs>339</Paragraphs>
  <Slides>32</Slides>
  <Notes>2</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Macroeconomics ECO 4101 (E)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Macroeconomics ECN 2214</dc:title>
  <dc:creator>acer</dc:creator>
  <cp:lastModifiedBy>Dr. Mohammad Akhtaruzzaman</cp:lastModifiedBy>
  <cp:revision>133</cp:revision>
  <dcterms:created xsi:type="dcterms:W3CDTF">2006-08-16T00:00:00Z</dcterms:created>
  <dcterms:modified xsi:type="dcterms:W3CDTF">2025-10-08T07:56:36Z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50BA3661E0424C06B37804CD7A4A8CFB_12</vt:lpwstr>
  </property>
  <property fmtid="{D5CDD505-2E9C-101B-9397-08002B2CF9AE}" pid="3" name="KSOProductBuildVer">
    <vt:lpwstr>1033-12.2.0.17119</vt:lpwstr>
  </property>
</Properties>
</file>