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5" r:id="rId10"/>
    <p:sldId id="264" r:id="rId11"/>
    <p:sldId id="263" r:id="rId12"/>
    <p:sldId id="269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544" autoAdjust="0"/>
    <p:restoredTop sz="94660"/>
  </p:normalViewPr>
  <p:slideViewPr>
    <p:cSldViewPr snapToGrid="0">
      <p:cViewPr>
        <p:scale>
          <a:sx n="95" d="100"/>
          <a:sy n="95" d="100"/>
        </p:scale>
        <p:origin x="-396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1214846"/>
            <a:ext cx="8915399" cy="1815737"/>
          </a:xfrm>
        </p:spPr>
        <p:txBody>
          <a:bodyPr/>
          <a:lstStyle/>
          <a:p>
            <a:pPr algn="ctr"/>
            <a:r>
              <a:rPr lang="en-US" b="1" dirty="0"/>
              <a:t>The Costs of Production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3853543"/>
            <a:ext cx="8915399" cy="267788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United Int. University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Microeconomics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Chapter-13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Faculty</a:t>
            </a:r>
            <a:r>
              <a:rPr lang="en-US" sz="2400" b="1" smtClean="0">
                <a:solidFill>
                  <a:schemeClr val="tx1"/>
                </a:solidFill>
              </a:rPr>
              <a:t>: 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57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Are Costs?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8880" y="2133599"/>
            <a:ext cx="9035732" cy="430638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</a:t>
            </a:r>
            <a:r>
              <a:rPr lang="en-US" b="1" dirty="0" smtClean="0">
                <a:solidFill>
                  <a:schemeClr val="tx1"/>
                </a:solidFill>
              </a:rPr>
              <a:t>otal revenue-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amount a </a:t>
            </a:r>
            <a:r>
              <a:rPr lang="en-US" dirty="0" smtClean="0">
                <a:solidFill>
                  <a:schemeClr val="tx1"/>
                </a:solidFill>
              </a:rPr>
              <a:t>firm receives </a:t>
            </a:r>
            <a:r>
              <a:rPr lang="en-US" dirty="0">
                <a:solidFill>
                  <a:schemeClr val="tx1"/>
                </a:solidFill>
              </a:rPr>
              <a:t>for the </a:t>
            </a:r>
            <a:r>
              <a:rPr lang="en-US" dirty="0" smtClean="0">
                <a:solidFill>
                  <a:schemeClr val="tx1"/>
                </a:solidFill>
              </a:rPr>
              <a:t>sale of </a:t>
            </a:r>
            <a:r>
              <a:rPr lang="en-US" dirty="0">
                <a:solidFill>
                  <a:schemeClr val="tx1"/>
                </a:solidFill>
              </a:rPr>
              <a:t>its output</a:t>
            </a:r>
          </a:p>
          <a:p>
            <a:r>
              <a:rPr lang="en-US" b="1" dirty="0">
                <a:solidFill>
                  <a:schemeClr val="tx1"/>
                </a:solidFill>
              </a:rPr>
              <a:t>T</a:t>
            </a:r>
            <a:r>
              <a:rPr lang="en-US" b="1" dirty="0" smtClean="0">
                <a:solidFill>
                  <a:schemeClr val="tx1"/>
                </a:solidFill>
              </a:rPr>
              <a:t>otal cost- 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market </a:t>
            </a:r>
            <a:r>
              <a:rPr lang="en-US" dirty="0" smtClean="0">
                <a:solidFill>
                  <a:schemeClr val="tx1"/>
                </a:solidFill>
              </a:rPr>
              <a:t>value of </a:t>
            </a:r>
            <a:r>
              <a:rPr lang="en-US" dirty="0">
                <a:solidFill>
                  <a:schemeClr val="tx1"/>
                </a:solidFill>
              </a:rPr>
              <a:t>the inputs a </a:t>
            </a:r>
            <a:r>
              <a:rPr lang="en-US" dirty="0" smtClean="0">
                <a:solidFill>
                  <a:schemeClr val="tx1"/>
                </a:solidFill>
              </a:rPr>
              <a:t>firm uses </a:t>
            </a:r>
            <a:r>
              <a:rPr lang="en-US" dirty="0">
                <a:solidFill>
                  <a:schemeClr val="tx1"/>
                </a:solidFill>
              </a:rPr>
              <a:t>in production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Profit- </a:t>
            </a:r>
            <a:r>
              <a:rPr lang="en-US" dirty="0" smtClean="0">
                <a:solidFill>
                  <a:schemeClr val="tx1"/>
                </a:solidFill>
              </a:rPr>
              <a:t>total </a:t>
            </a:r>
            <a:r>
              <a:rPr lang="en-US" dirty="0">
                <a:solidFill>
                  <a:schemeClr val="tx1"/>
                </a:solidFill>
              </a:rPr>
              <a:t>revenue </a:t>
            </a:r>
            <a:r>
              <a:rPr lang="en-US" dirty="0" smtClean="0">
                <a:solidFill>
                  <a:schemeClr val="tx1"/>
                </a:solidFill>
              </a:rPr>
              <a:t>minus total cost</a:t>
            </a:r>
          </a:p>
          <a:p>
            <a:r>
              <a:rPr lang="en-US" b="1" dirty="0">
                <a:solidFill>
                  <a:schemeClr val="tx1"/>
                </a:solidFill>
              </a:rPr>
              <a:t>Fixed costs </a:t>
            </a:r>
            <a:r>
              <a:rPr lang="en-US" dirty="0">
                <a:solidFill>
                  <a:schemeClr val="tx1"/>
                </a:solidFill>
              </a:rPr>
              <a:t>are expenses that must be paid </a:t>
            </a:r>
            <a:r>
              <a:rPr lang="en-US" dirty="0" smtClean="0">
                <a:solidFill>
                  <a:schemeClr val="tx1"/>
                </a:solidFill>
              </a:rPr>
              <a:t>even if </a:t>
            </a: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smtClean="0">
                <a:solidFill>
                  <a:schemeClr val="tx1"/>
                </a:solidFill>
              </a:rPr>
              <a:t>firm </a:t>
            </a:r>
            <a:r>
              <a:rPr lang="en-US" dirty="0">
                <a:solidFill>
                  <a:schemeClr val="tx1"/>
                </a:solidFill>
              </a:rPr>
              <a:t>produces zero output. Sometimes </a:t>
            </a:r>
            <a:r>
              <a:rPr lang="en-US" dirty="0" smtClean="0">
                <a:solidFill>
                  <a:schemeClr val="tx1"/>
                </a:solidFill>
              </a:rPr>
              <a:t>called “overhead</a:t>
            </a:r>
            <a:r>
              <a:rPr lang="en-US" dirty="0">
                <a:solidFill>
                  <a:schemeClr val="tx1"/>
                </a:solidFill>
              </a:rPr>
              <a:t>” or “sunk costs,” they consist of items </a:t>
            </a:r>
            <a:r>
              <a:rPr lang="en-US" dirty="0" smtClean="0">
                <a:solidFill>
                  <a:schemeClr val="tx1"/>
                </a:solidFill>
              </a:rPr>
              <a:t>such as </a:t>
            </a:r>
            <a:r>
              <a:rPr lang="en-US" dirty="0">
                <a:solidFill>
                  <a:schemeClr val="tx1"/>
                </a:solidFill>
              </a:rPr>
              <a:t>rent for factory or </a:t>
            </a:r>
            <a:r>
              <a:rPr lang="en-US" dirty="0" smtClean="0">
                <a:solidFill>
                  <a:schemeClr val="tx1"/>
                </a:solidFill>
              </a:rPr>
              <a:t>office </a:t>
            </a:r>
            <a:r>
              <a:rPr lang="en-US" dirty="0">
                <a:solidFill>
                  <a:schemeClr val="tx1"/>
                </a:solidFill>
              </a:rPr>
              <a:t>space, interest </a:t>
            </a:r>
            <a:r>
              <a:rPr lang="en-US" dirty="0" smtClean="0">
                <a:solidFill>
                  <a:schemeClr val="tx1"/>
                </a:solidFill>
              </a:rPr>
              <a:t>payments on </a:t>
            </a:r>
            <a:r>
              <a:rPr lang="en-US" dirty="0">
                <a:solidFill>
                  <a:schemeClr val="tx1"/>
                </a:solidFill>
              </a:rPr>
              <a:t>debts, salaries of tenured faculty, and so </a:t>
            </a:r>
            <a:r>
              <a:rPr lang="en-US" dirty="0" smtClean="0">
                <a:solidFill>
                  <a:schemeClr val="tx1"/>
                </a:solidFill>
              </a:rPr>
              <a:t>forth. They </a:t>
            </a:r>
            <a:r>
              <a:rPr lang="en-US" dirty="0">
                <a:solidFill>
                  <a:schemeClr val="tx1"/>
                </a:solidFill>
              </a:rPr>
              <a:t>are </a:t>
            </a:r>
            <a:r>
              <a:rPr lang="en-US" dirty="0" smtClean="0">
                <a:solidFill>
                  <a:schemeClr val="tx1"/>
                </a:solidFill>
              </a:rPr>
              <a:t>fixed </a:t>
            </a:r>
            <a:r>
              <a:rPr lang="en-US" dirty="0">
                <a:solidFill>
                  <a:schemeClr val="tx1"/>
                </a:solidFill>
              </a:rPr>
              <a:t>because they do not change if </a:t>
            </a:r>
            <a:r>
              <a:rPr lang="en-US" dirty="0" smtClean="0">
                <a:solidFill>
                  <a:schemeClr val="tx1"/>
                </a:solidFill>
              </a:rPr>
              <a:t>output changes.</a:t>
            </a:r>
          </a:p>
          <a:p>
            <a:r>
              <a:rPr lang="en-US" b="1" dirty="0">
                <a:solidFill>
                  <a:schemeClr val="tx1"/>
                </a:solidFill>
              </a:rPr>
              <a:t>V</a:t>
            </a:r>
            <a:r>
              <a:rPr lang="en-US" b="1" dirty="0" smtClean="0">
                <a:solidFill>
                  <a:schemeClr val="tx1"/>
                </a:solidFill>
              </a:rPr>
              <a:t>ariable costs-</a:t>
            </a:r>
            <a:r>
              <a:rPr lang="en-US" dirty="0" smtClean="0">
                <a:solidFill>
                  <a:schemeClr val="tx1"/>
                </a:solidFill>
              </a:rPr>
              <a:t>costs </a:t>
            </a:r>
            <a:r>
              <a:rPr lang="en-US" dirty="0">
                <a:solidFill>
                  <a:schemeClr val="tx1"/>
                </a:solidFill>
              </a:rPr>
              <a:t>that vary </a:t>
            </a:r>
            <a:r>
              <a:rPr lang="en-US" dirty="0" smtClean="0">
                <a:solidFill>
                  <a:schemeClr val="tx1"/>
                </a:solidFill>
              </a:rPr>
              <a:t>with the </a:t>
            </a:r>
            <a:r>
              <a:rPr lang="en-US" dirty="0">
                <a:solidFill>
                  <a:schemeClr val="tx1"/>
                </a:solidFill>
              </a:rPr>
              <a:t>quantity of </a:t>
            </a:r>
            <a:r>
              <a:rPr lang="en-US" dirty="0" smtClean="0">
                <a:solidFill>
                  <a:schemeClr val="tx1"/>
                </a:solidFill>
              </a:rPr>
              <a:t>output produced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109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Are Costs?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29" y="2133599"/>
            <a:ext cx="9545183" cy="347311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</a:t>
            </a:r>
            <a:r>
              <a:rPr lang="en-US" b="1" dirty="0" smtClean="0">
                <a:solidFill>
                  <a:schemeClr val="tx1"/>
                </a:solidFill>
              </a:rPr>
              <a:t>xplicit costs-</a:t>
            </a:r>
            <a:r>
              <a:rPr lang="en-US" dirty="0" smtClean="0">
                <a:solidFill>
                  <a:schemeClr val="tx1"/>
                </a:solidFill>
              </a:rPr>
              <a:t>input </a:t>
            </a:r>
            <a:r>
              <a:rPr lang="en-US" dirty="0">
                <a:solidFill>
                  <a:schemeClr val="tx1"/>
                </a:solidFill>
              </a:rPr>
              <a:t>costs that </a:t>
            </a:r>
            <a:r>
              <a:rPr lang="en-US" dirty="0" smtClean="0">
                <a:solidFill>
                  <a:schemeClr val="tx1"/>
                </a:solidFill>
              </a:rPr>
              <a:t>require an </a:t>
            </a:r>
            <a:r>
              <a:rPr lang="en-US" dirty="0">
                <a:solidFill>
                  <a:schemeClr val="tx1"/>
                </a:solidFill>
              </a:rPr>
              <a:t>outlay of money </a:t>
            </a:r>
            <a:r>
              <a:rPr lang="en-US" dirty="0" smtClean="0">
                <a:solidFill>
                  <a:schemeClr val="tx1"/>
                </a:solidFill>
              </a:rPr>
              <a:t>by the firm.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</a:t>
            </a:r>
            <a:r>
              <a:rPr lang="en-US" b="1" dirty="0" smtClean="0">
                <a:solidFill>
                  <a:schemeClr val="tx1"/>
                </a:solidFill>
              </a:rPr>
              <a:t>mplicit costs- </a:t>
            </a:r>
            <a:r>
              <a:rPr lang="en-US" dirty="0" smtClean="0">
                <a:solidFill>
                  <a:schemeClr val="tx1"/>
                </a:solidFill>
              </a:rPr>
              <a:t>input </a:t>
            </a:r>
            <a:r>
              <a:rPr lang="en-US" dirty="0">
                <a:solidFill>
                  <a:schemeClr val="tx1"/>
                </a:solidFill>
              </a:rPr>
              <a:t>costs that do </a:t>
            </a:r>
            <a:r>
              <a:rPr lang="en-US" dirty="0" smtClean="0">
                <a:solidFill>
                  <a:schemeClr val="tx1"/>
                </a:solidFill>
              </a:rPr>
              <a:t>not require </a:t>
            </a:r>
            <a:r>
              <a:rPr lang="en-US" dirty="0">
                <a:solidFill>
                  <a:schemeClr val="tx1"/>
                </a:solidFill>
              </a:rPr>
              <a:t>an outlay </a:t>
            </a:r>
            <a:r>
              <a:rPr lang="en-US" dirty="0" smtClean="0">
                <a:solidFill>
                  <a:schemeClr val="tx1"/>
                </a:solidFill>
              </a:rPr>
              <a:t>of money </a:t>
            </a:r>
            <a:r>
              <a:rPr lang="en-US" dirty="0">
                <a:solidFill>
                  <a:schemeClr val="tx1"/>
                </a:solidFill>
              </a:rPr>
              <a:t>by the </a:t>
            </a:r>
            <a:r>
              <a:rPr lang="en-US" dirty="0" smtClean="0">
                <a:solidFill>
                  <a:schemeClr val="tx1"/>
                </a:solidFill>
              </a:rPr>
              <a:t>firm</a:t>
            </a:r>
          </a:p>
          <a:p>
            <a:r>
              <a:rPr lang="en-US" dirty="0">
                <a:solidFill>
                  <a:schemeClr val="tx1"/>
                </a:solidFill>
              </a:rPr>
              <a:t>The distinction between explicit and implicit costs highlights an </a:t>
            </a:r>
            <a:r>
              <a:rPr lang="en-US" dirty="0" smtClean="0">
                <a:solidFill>
                  <a:schemeClr val="tx1"/>
                </a:solidFill>
              </a:rPr>
              <a:t>important difference </a:t>
            </a:r>
            <a:r>
              <a:rPr lang="en-US" dirty="0">
                <a:solidFill>
                  <a:schemeClr val="tx1"/>
                </a:solidFill>
              </a:rPr>
              <a:t>between how economists and accountants analyze a business. </a:t>
            </a:r>
            <a:r>
              <a:rPr lang="en-US" dirty="0" smtClean="0">
                <a:solidFill>
                  <a:schemeClr val="tx1"/>
                </a:solidFill>
              </a:rPr>
              <a:t>Economists are </a:t>
            </a:r>
            <a:r>
              <a:rPr lang="en-US" dirty="0">
                <a:solidFill>
                  <a:schemeClr val="tx1"/>
                </a:solidFill>
              </a:rPr>
              <a:t>interested in studying how firms make production and pricing </a:t>
            </a:r>
            <a:r>
              <a:rPr lang="en-US" dirty="0" smtClean="0">
                <a:solidFill>
                  <a:schemeClr val="tx1"/>
                </a:solidFill>
              </a:rPr>
              <a:t>decisions. Because </a:t>
            </a:r>
            <a:r>
              <a:rPr lang="en-US" dirty="0">
                <a:solidFill>
                  <a:schemeClr val="tx1"/>
                </a:solidFill>
              </a:rPr>
              <a:t>these decisions are based on both explicit and implicit costs, </a:t>
            </a:r>
            <a:r>
              <a:rPr lang="en-US" dirty="0" smtClean="0">
                <a:solidFill>
                  <a:schemeClr val="tx1"/>
                </a:solidFill>
              </a:rPr>
              <a:t>economists include </a:t>
            </a:r>
            <a:r>
              <a:rPr lang="en-US" dirty="0">
                <a:solidFill>
                  <a:schemeClr val="tx1"/>
                </a:solidFill>
              </a:rPr>
              <a:t>both when measuring a firm’s costs. By contrast, accountants have the </a:t>
            </a:r>
            <a:r>
              <a:rPr lang="en-US" dirty="0" smtClean="0">
                <a:solidFill>
                  <a:schemeClr val="tx1"/>
                </a:solidFill>
              </a:rPr>
              <a:t>job of </a:t>
            </a:r>
            <a:r>
              <a:rPr lang="en-US" dirty="0">
                <a:solidFill>
                  <a:schemeClr val="tx1"/>
                </a:solidFill>
              </a:rPr>
              <a:t>keeping track of the money that flows into and out of firms. As a result, </a:t>
            </a:r>
            <a:r>
              <a:rPr lang="en-US" dirty="0" smtClean="0">
                <a:solidFill>
                  <a:schemeClr val="tx1"/>
                </a:solidFill>
              </a:rPr>
              <a:t>they measure </a:t>
            </a:r>
            <a:r>
              <a:rPr lang="en-US" dirty="0">
                <a:solidFill>
                  <a:schemeClr val="tx1"/>
                </a:solidFill>
              </a:rPr>
              <a:t>the explicit costs but usually ignore the implicit costs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6197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Economic Profit versus Accounting Profit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158" y="2133599"/>
            <a:ext cx="9158454" cy="413485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Economic profit </a:t>
            </a:r>
            <a:r>
              <a:rPr lang="en-US" dirty="0">
                <a:solidFill>
                  <a:schemeClr val="tx1"/>
                </a:solidFill>
              </a:rPr>
              <a:t>total revenue minus total cost, including both explicit and implicit costs</a:t>
            </a:r>
          </a:p>
          <a:p>
            <a:r>
              <a:rPr lang="en-US" b="1" dirty="0">
                <a:solidFill>
                  <a:schemeClr val="tx1"/>
                </a:solidFill>
              </a:rPr>
              <a:t>Accounting profit- </a:t>
            </a:r>
            <a:r>
              <a:rPr lang="en-US" dirty="0">
                <a:solidFill>
                  <a:schemeClr val="tx1"/>
                </a:solidFill>
              </a:rPr>
              <a:t>total revenue minus total explicit </a:t>
            </a:r>
            <a:r>
              <a:rPr lang="en-US" dirty="0" smtClean="0">
                <a:solidFill>
                  <a:schemeClr val="tx1"/>
                </a:solidFill>
              </a:rPr>
              <a:t>cost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Because </a:t>
            </a: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smtClean="0">
                <a:solidFill>
                  <a:schemeClr val="tx1"/>
                </a:solidFill>
              </a:rPr>
              <a:t>accountant ignores </a:t>
            </a:r>
            <a:r>
              <a:rPr lang="en-US" dirty="0">
                <a:solidFill>
                  <a:schemeClr val="tx1"/>
                </a:solidFill>
              </a:rPr>
              <a:t>the implicit costs, accounting profit is usually larger than economic profit.</a:t>
            </a:r>
          </a:p>
          <a:p>
            <a:r>
              <a:rPr lang="en-US" dirty="0">
                <a:solidFill>
                  <a:schemeClr val="tx1"/>
                </a:solidFill>
              </a:rPr>
              <a:t>For a business to be profitable from an economist’s standpoint, total revenue </a:t>
            </a:r>
            <a:r>
              <a:rPr lang="en-US" dirty="0" smtClean="0">
                <a:solidFill>
                  <a:schemeClr val="tx1"/>
                </a:solidFill>
              </a:rPr>
              <a:t>must exceed </a:t>
            </a:r>
            <a:r>
              <a:rPr lang="en-US" dirty="0">
                <a:solidFill>
                  <a:schemeClr val="tx1"/>
                </a:solidFill>
              </a:rPr>
              <a:t>all the opportunity costs, both explicit and implicit.</a:t>
            </a:r>
          </a:p>
          <a:p>
            <a:r>
              <a:rPr lang="en-US" dirty="0">
                <a:solidFill>
                  <a:schemeClr val="tx1"/>
                </a:solidFill>
              </a:rPr>
              <a:t>Economic profit is an important concept because it motivates the firms </a:t>
            </a:r>
            <a:r>
              <a:rPr lang="en-US" dirty="0" smtClean="0">
                <a:solidFill>
                  <a:schemeClr val="tx1"/>
                </a:solidFill>
              </a:rPr>
              <a:t>that supply </a:t>
            </a:r>
            <a:r>
              <a:rPr lang="en-US" dirty="0">
                <a:solidFill>
                  <a:schemeClr val="tx1"/>
                </a:solidFill>
              </a:rPr>
              <a:t>goods and services. As we will see, a firm making positive economic </a:t>
            </a:r>
            <a:r>
              <a:rPr lang="en-US" dirty="0" smtClean="0">
                <a:solidFill>
                  <a:schemeClr val="tx1"/>
                </a:solidFill>
              </a:rPr>
              <a:t>profit will </a:t>
            </a:r>
            <a:r>
              <a:rPr lang="en-US" dirty="0">
                <a:solidFill>
                  <a:schemeClr val="tx1"/>
                </a:solidFill>
              </a:rPr>
              <a:t>stay in business. It is covering all its opportunity costs and has some </a:t>
            </a:r>
            <a:r>
              <a:rPr lang="en-US" dirty="0" smtClean="0">
                <a:solidFill>
                  <a:schemeClr val="tx1"/>
                </a:solidFill>
              </a:rPr>
              <a:t>revenue left </a:t>
            </a:r>
            <a:r>
              <a:rPr lang="en-US" dirty="0">
                <a:solidFill>
                  <a:schemeClr val="tx1"/>
                </a:solidFill>
              </a:rPr>
              <a:t>to reward the firm owners.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When </a:t>
            </a:r>
            <a:r>
              <a:rPr lang="en-US" dirty="0">
                <a:solidFill>
                  <a:schemeClr val="tx1"/>
                </a:solidFill>
              </a:rPr>
              <a:t>a firm is making economic losses (</a:t>
            </a:r>
            <a:r>
              <a:rPr lang="en-US" dirty="0" smtClean="0">
                <a:solidFill>
                  <a:schemeClr val="tx1"/>
                </a:solidFill>
              </a:rPr>
              <a:t>that is</a:t>
            </a:r>
            <a:r>
              <a:rPr lang="en-US" dirty="0">
                <a:solidFill>
                  <a:schemeClr val="tx1"/>
                </a:solidFill>
              </a:rPr>
              <a:t>, when economic profits are negative), the business owners are failing to </a:t>
            </a:r>
            <a:r>
              <a:rPr lang="en-US" dirty="0" smtClean="0">
                <a:solidFill>
                  <a:schemeClr val="tx1"/>
                </a:solidFill>
              </a:rPr>
              <a:t>earn enough </a:t>
            </a:r>
            <a:r>
              <a:rPr lang="en-US" dirty="0">
                <a:solidFill>
                  <a:schemeClr val="tx1"/>
                </a:solidFill>
              </a:rPr>
              <a:t>revenue to cover all the costs of production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understand </a:t>
            </a:r>
            <a:r>
              <a:rPr lang="en-US" dirty="0">
                <a:solidFill>
                  <a:schemeClr val="tx1"/>
                </a:solidFill>
              </a:rPr>
              <a:t>business decisions, we need to keep an eye on economic profit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3830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Production and Costs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Firms incur costs when they buy inputs to produce the goods and services </a:t>
            </a:r>
            <a:r>
              <a:rPr lang="en-US" dirty="0" smtClean="0">
                <a:solidFill>
                  <a:schemeClr val="tx1"/>
                </a:solidFill>
              </a:rPr>
              <a:t>that they </a:t>
            </a:r>
            <a:r>
              <a:rPr lang="en-US" dirty="0">
                <a:solidFill>
                  <a:schemeClr val="tx1"/>
                </a:solidFill>
              </a:rPr>
              <a:t>plan to sell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>
                <a:solidFill>
                  <a:schemeClr val="tx1"/>
                </a:solidFill>
              </a:rPr>
              <a:t>P</a:t>
            </a:r>
            <a:r>
              <a:rPr lang="en-US" b="1" dirty="0" smtClean="0">
                <a:solidFill>
                  <a:schemeClr val="tx1"/>
                </a:solidFill>
              </a:rPr>
              <a:t>roduction function-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relationship </a:t>
            </a:r>
            <a:r>
              <a:rPr lang="en-US" dirty="0" smtClean="0">
                <a:solidFill>
                  <a:schemeClr val="tx1"/>
                </a:solidFill>
              </a:rPr>
              <a:t>between the </a:t>
            </a:r>
            <a:r>
              <a:rPr lang="en-US" dirty="0">
                <a:solidFill>
                  <a:schemeClr val="tx1"/>
                </a:solidFill>
              </a:rPr>
              <a:t>quantity of </a:t>
            </a:r>
            <a:r>
              <a:rPr lang="en-US" dirty="0" smtClean="0">
                <a:solidFill>
                  <a:schemeClr val="tx1"/>
                </a:solidFill>
              </a:rPr>
              <a:t>inputs used </a:t>
            </a:r>
            <a:r>
              <a:rPr lang="en-US" dirty="0">
                <a:solidFill>
                  <a:schemeClr val="tx1"/>
                </a:solidFill>
              </a:rPr>
              <a:t>to make a good </a:t>
            </a:r>
            <a:r>
              <a:rPr lang="en-US" dirty="0" smtClean="0">
                <a:solidFill>
                  <a:schemeClr val="tx1"/>
                </a:solidFill>
              </a:rPr>
              <a:t>and the </a:t>
            </a:r>
            <a:r>
              <a:rPr lang="en-US" dirty="0">
                <a:solidFill>
                  <a:schemeClr val="tx1"/>
                </a:solidFill>
              </a:rPr>
              <a:t>quantity of output </a:t>
            </a:r>
            <a:r>
              <a:rPr lang="en-US" dirty="0" smtClean="0">
                <a:solidFill>
                  <a:schemeClr val="tx1"/>
                </a:solidFill>
              </a:rPr>
              <a:t>of that </a:t>
            </a:r>
            <a:r>
              <a:rPr lang="en-US" dirty="0">
                <a:solidFill>
                  <a:schemeClr val="tx1"/>
                </a:solidFill>
              </a:rPr>
              <a:t>good</a:t>
            </a: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b="1" dirty="0" smtClean="0">
                <a:solidFill>
                  <a:schemeClr val="tx1"/>
                </a:solidFill>
              </a:rPr>
              <a:t>arginal </a:t>
            </a:r>
            <a:r>
              <a:rPr lang="en-US" b="1" dirty="0">
                <a:solidFill>
                  <a:schemeClr val="tx1"/>
                </a:solidFill>
              </a:rPr>
              <a:t>product </a:t>
            </a:r>
            <a:r>
              <a:rPr lang="en-US" dirty="0">
                <a:solidFill>
                  <a:schemeClr val="tx1"/>
                </a:solidFill>
              </a:rPr>
              <a:t>of any input in the production process is the increase </a:t>
            </a:r>
            <a:r>
              <a:rPr lang="en-US" dirty="0" smtClean="0">
                <a:solidFill>
                  <a:schemeClr val="tx1"/>
                </a:solidFill>
              </a:rPr>
              <a:t>in the </a:t>
            </a:r>
            <a:r>
              <a:rPr lang="en-US" dirty="0">
                <a:solidFill>
                  <a:schemeClr val="tx1"/>
                </a:solidFill>
              </a:rPr>
              <a:t>quantity of output obtained from one additional unit of that input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>
                <a:solidFill>
                  <a:schemeClr val="tx1"/>
                </a:solidFill>
              </a:rPr>
              <a:t>D</a:t>
            </a:r>
            <a:r>
              <a:rPr lang="en-US" b="1" dirty="0" smtClean="0">
                <a:solidFill>
                  <a:schemeClr val="tx1"/>
                </a:solidFill>
              </a:rPr>
              <a:t>iminishing marginal product- 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property </a:t>
            </a:r>
            <a:r>
              <a:rPr lang="en-US" dirty="0" smtClean="0">
                <a:solidFill>
                  <a:schemeClr val="tx1"/>
                </a:solidFill>
              </a:rPr>
              <a:t>whereby the </a:t>
            </a:r>
            <a:r>
              <a:rPr lang="en-US" dirty="0">
                <a:solidFill>
                  <a:schemeClr val="tx1"/>
                </a:solidFill>
              </a:rPr>
              <a:t>marginal </a:t>
            </a:r>
            <a:r>
              <a:rPr lang="en-US" dirty="0" smtClean="0">
                <a:solidFill>
                  <a:schemeClr val="tx1"/>
                </a:solidFill>
              </a:rPr>
              <a:t>product of </a:t>
            </a:r>
            <a:r>
              <a:rPr lang="en-US" dirty="0">
                <a:solidFill>
                  <a:schemeClr val="tx1"/>
                </a:solidFill>
              </a:rPr>
              <a:t>an input declines </a:t>
            </a:r>
            <a:r>
              <a:rPr lang="en-US" dirty="0" smtClean="0">
                <a:solidFill>
                  <a:schemeClr val="tx1"/>
                </a:solidFill>
              </a:rPr>
              <a:t>as the </a:t>
            </a:r>
            <a:r>
              <a:rPr lang="en-US" dirty="0">
                <a:solidFill>
                  <a:schemeClr val="tx1"/>
                </a:solidFill>
              </a:rPr>
              <a:t>quantity of the </a:t>
            </a:r>
            <a:r>
              <a:rPr lang="en-US" dirty="0" smtClean="0">
                <a:solidFill>
                  <a:schemeClr val="tx1"/>
                </a:solidFill>
              </a:rPr>
              <a:t>input increases</a:t>
            </a:r>
          </a:p>
          <a:p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en-US" dirty="0" smtClean="0">
                <a:solidFill>
                  <a:schemeClr val="tx1"/>
                </a:solidFill>
              </a:rPr>
              <a:t>he slope of </a:t>
            </a:r>
            <a:r>
              <a:rPr lang="en-US" dirty="0">
                <a:solidFill>
                  <a:schemeClr val="tx1"/>
                </a:solidFill>
              </a:rPr>
              <a:t>the production function measures the marginal product. As the number </a:t>
            </a:r>
            <a:r>
              <a:rPr lang="en-US" dirty="0" smtClean="0">
                <a:solidFill>
                  <a:schemeClr val="tx1"/>
                </a:solidFill>
              </a:rPr>
              <a:t>of workers </a:t>
            </a:r>
            <a:r>
              <a:rPr lang="en-US" dirty="0">
                <a:solidFill>
                  <a:schemeClr val="tx1"/>
                </a:solidFill>
              </a:rPr>
              <a:t>increases, the marginal product declines, and the production </a:t>
            </a:r>
            <a:r>
              <a:rPr lang="en-US" dirty="0" smtClean="0">
                <a:solidFill>
                  <a:schemeClr val="tx1"/>
                </a:solidFill>
              </a:rPr>
              <a:t>function becomes </a:t>
            </a:r>
            <a:r>
              <a:rPr lang="en-US" dirty="0">
                <a:solidFill>
                  <a:schemeClr val="tx1"/>
                </a:solidFill>
              </a:rPr>
              <a:t>flatter</a:t>
            </a:r>
          </a:p>
        </p:txBody>
      </p:sp>
    </p:spTree>
    <p:extLst>
      <p:ext uri="{BB962C8B-B14F-4D97-AF65-F5344CB8AC3E}">
        <p14:creationId xmlns:p14="http://schemas.microsoft.com/office/powerpoint/2010/main" val="121790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Diminishing Marginal Product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2011680"/>
            <a:ext cx="9006892" cy="458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54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Production Function </a:t>
            </a:r>
            <a:r>
              <a:rPr lang="en-US" b="1" dirty="0"/>
              <a:t>and Total-Cost</a:t>
            </a:r>
            <a:br>
              <a:rPr lang="en-US" b="1" dirty="0"/>
            </a:br>
            <a:r>
              <a:rPr lang="en-US" b="1" dirty="0"/>
              <a:t>Curve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7558" y="1905001"/>
            <a:ext cx="9252284" cy="459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66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Average and Marginal Cost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1305" y="1905000"/>
            <a:ext cx="9483307" cy="4580021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dirty="0" smtClean="0">
                <a:solidFill>
                  <a:schemeClr val="tx1"/>
                </a:solidFill>
              </a:rPr>
              <a:t>verage </a:t>
            </a:r>
            <a:r>
              <a:rPr lang="en-US" b="1" dirty="0">
                <a:solidFill>
                  <a:schemeClr val="tx1"/>
                </a:solidFill>
              </a:rPr>
              <a:t>total </a:t>
            </a:r>
            <a:r>
              <a:rPr lang="en-US" b="1" dirty="0" smtClean="0">
                <a:solidFill>
                  <a:schemeClr val="tx1"/>
                </a:solidFill>
              </a:rPr>
              <a:t>cost- </a:t>
            </a:r>
            <a:r>
              <a:rPr lang="en-US" dirty="0" smtClean="0">
                <a:solidFill>
                  <a:schemeClr val="tx1"/>
                </a:solidFill>
              </a:rPr>
              <a:t>total </a:t>
            </a:r>
            <a:r>
              <a:rPr lang="en-US" dirty="0">
                <a:solidFill>
                  <a:schemeClr val="tx1"/>
                </a:solidFill>
              </a:rPr>
              <a:t>cost divided by </a:t>
            </a:r>
            <a:r>
              <a:rPr lang="en-US" dirty="0" smtClean="0">
                <a:solidFill>
                  <a:schemeClr val="tx1"/>
                </a:solidFill>
              </a:rPr>
              <a:t>the quantity </a:t>
            </a:r>
            <a:r>
              <a:rPr lang="en-US" dirty="0">
                <a:solidFill>
                  <a:schemeClr val="tx1"/>
                </a:solidFill>
              </a:rPr>
              <a:t>of </a:t>
            </a:r>
            <a:r>
              <a:rPr lang="en-US" dirty="0" smtClean="0">
                <a:solidFill>
                  <a:schemeClr val="tx1"/>
                </a:solidFill>
              </a:rPr>
              <a:t>output</a:t>
            </a:r>
          </a:p>
          <a:p>
            <a:r>
              <a:rPr lang="en-US" dirty="0">
                <a:solidFill>
                  <a:schemeClr val="tx1"/>
                </a:solidFill>
              </a:rPr>
              <a:t>Average total cost </a:t>
            </a:r>
            <a:r>
              <a:rPr lang="en-US" dirty="0" smtClean="0">
                <a:solidFill>
                  <a:schemeClr val="tx1"/>
                </a:solidFill>
              </a:rPr>
              <a:t>= </a:t>
            </a:r>
            <a:r>
              <a:rPr lang="en-US" dirty="0">
                <a:solidFill>
                  <a:schemeClr val="tx1"/>
                </a:solidFill>
              </a:rPr>
              <a:t>Total cost/Quantity</a:t>
            </a:r>
          </a:p>
          <a:p>
            <a:r>
              <a:rPr lang="en-US" i="1" dirty="0">
                <a:solidFill>
                  <a:schemeClr val="tx1"/>
                </a:solidFill>
              </a:rPr>
              <a:t>ATC 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i="1" dirty="0" smtClean="0">
                <a:solidFill>
                  <a:schemeClr val="tx1"/>
                </a:solidFill>
              </a:rPr>
              <a:t>TC</a:t>
            </a:r>
            <a:r>
              <a:rPr lang="en-US" dirty="0" smtClean="0">
                <a:solidFill>
                  <a:schemeClr val="tx1"/>
                </a:solidFill>
              </a:rPr>
              <a:t>/</a:t>
            </a:r>
            <a:r>
              <a:rPr lang="en-US" i="1" dirty="0" smtClean="0">
                <a:solidFill>
                  <a:schemeClr val="tx1"/>
                </a:solidFill>
              </a:rPr>
              <a:t>Q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dirty="0" smtClean="0">
                <a:solidFill>
                  <a:schemeClr val="tx1"/>
                </a:solidFill>
              </a:rPr>
              <a:t>verage </a:t>
            </a:r>
            <a:r>
              <a:rPr lang="en-US" b="1" dirty="0">
                <a:solidFill>
                  <a:schemeClr val="tx1"/>
                </a:solidFill>
              </a:rPr>
              <a:t>fixed </a:t>
            </a:r>
            <a:r>
              <a:rPr lang="en-US" b="1" dirty="0" smtClean="0">
                <a:solidFill>
                  <a:schemeClr val="tx1"/>
                </a:solidFill>
              </a:rPr>
              <a:t>cost- </a:t>
            </a:r>
            <a:r>
              <a:rPr lang="en-US" dirty="0" smtClean="0">
                <a:solidFill>
                  <a:schemeClr val="tx1"/>
                </a:solidFill>
              </a:rPr>
              <a:t>fixed </a:t>
            </a:r>
            <a:r>
              <a:rPr lang="en-US" dirty="0">
                <a:solidFill>
                  <a:schemeClr val="tx1"/>
                </a:solidFill>
              </a:rPr>
              <a:t>cost divided by </a:t>
            </a:r>
            <a:r>
              <a:rPr lang="en-US" dirty="0" smtClean="0">
                <a:solidFill>
                  <a:schemeClr val="tx1"/>
                </a:solidFill>
              </a:rPr>
              <a:t>the quantity </a:t>
            </a:r>
            <a:r>
              <a:rPr lang="en-US" dirty="0">
                <a:solidFill>
                  <a:schemeClr val="tx1"/>
                </a:solidFill>
              </a:rPr>
              <a:t>of output</a:t>
            </a:r>
          </a:p>
          <a:p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dirty="0" smtClean="0">
                <a:solidFill>
                  <a:schemeClr val="tx1"/>
                </a:solidFill>
              </a:rPr>
              <a:t>verage </a:t>
            </a:r>
            <a:r>
              <a:rPr lang="en-US" b="1" dirty="0">
                <a:solidFill>
                  <a:schemeClr val="tx1"/>
                </a:solidFill>
              </a:rPr>
              <a:t>variable </a:t>
            </a:r>
            <a:r>
              <a:rPr lang="en-US" b="1" dirty="0" smtClean="0">
                <a:solidFill>
                  <a:schemeClr val="tx1"/>
                </a:solidFill>
              </a:rPr>
              <a:t>cost-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variable </a:t>
            </a:r>
            <a:r>
              <a:rPr lang="en-US" dirty="0">
                <a:solidFill>
                  <a:schemeClr val="tx1"/>
                </a:solidFill>
              </a:rPr>
              <a:t>cost divided </a:t>
            </a:r>
            <a:r>
              <a:rPr lang="en-US" dirty="0" smtClean="0">
                <a:solidFill>
                  <a:schemeClr val="tx1"/>
                </a:solidFill>
              </a:rPr>
              <a:t>by the </a:t>
            </a:r>
            <a:r>
              <a:rPr lang="en-US" dirty="0">
                <a:solidFill>
                  <a:schemeClr val="tx1"/>
                </a:solidFill>
              </a:rPr>
              <a:t>quantity of output</a:t>
            </a:r>
          </a:p>
          <a:p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b="1" dirty="0" smtClean="0">
                <a:solidFill>
                  <a:schemeClr val="tx1"/>
                </a:solidFill>
              </a:rPr>
              <a:t>arginal cost-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increase in total </a:t>
            </a:r>
            <a:r>
              <a:rPr lang="en-US" dirty="0" smtClean="0">
                <a:solidFill>
                  <a:schemeClr val="tx1"/>
                </a:solidFill>
              </a:rPr>
              <a:t>cost that </a:t>
            </a:r>
            <a:r>
              <a:rPr lang="en-US" dirty="0">
                <a:solidFill>
                  <a:schemeClr val="tx1"/>
                </a:solidFill>
              </a:rPr>
              <a:t>arises from an </a:t>
            </a:r>
            <a:r>
              <a:rPr lang="en-US" dirty="0" smtClean="0">
                <a:solidFill>
                  <a:schemeClr val="tx1"/>
                </a:solidFill>
              </a:rPr>
              <a:t>extra unit </a:t>
            </a:r>
            <a:r>
              <a:rPr lang="en-US" dirty="0">
                <a:solidFill>
                  <a:schemeClr val="tx1"/>
                </a:solidFill>
              </a:rPr>
              <a:t>of </a:t>
            </a:r>
            <a:r>
              <a:rPr lang="en-US" dirty="0" smtClean="0">
                <a:solidFill>
                  <a:schemeClr val="tx1"/>
                </a:solidFill>
              </a:rPr>
              <a:t>production</a:t>
            </a:r>
          </a:p>
          <a:p>
            <a:r>
              <a:rPr lang="en-US" dirty="0">
                <a:solidFill>
                  <a:schemeClr val="tx1"/>
                </a:solidFill>
              </a:rPr>
              <a:t>Marginal cost </a:t>
            </a:r>
            <a:r>
              <a:rPr lang="en-US" dirty="0" smtClean="0">
                <a:solidFill>
                  <a:schemeClr val="tx1"/>
                </a:solidFill>
              </a:rPr>
              <a:t>= </a:t>
            </a:r>
            <a:r>
              <a:rPr lang="en-US" dirty="0">
                <a:solidFill>
                  <a:schemeClr val="tx1"/>
                </a:solidFill>
              </a:rPr>
              <a:t>Change in total cost/Change in quantity</a:t>
            </a:r>
          </a:p>
          <a:p>
            <a:r>
              <a:rPr lang="en-US" i="1" dirty="0">
                <a:solidFill>
                  <a:schemeClr val="tx1"/>
                </a:solidFill>
              </a:rPr>
              <a:t>MC 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l-GR" dirty="0">
                <a:solidFill>
                  <a:schemeClr val="tx1"/>
                </a:solidFill>
              </a:rPr>
              <a:t>Δ</a:t>
            </a:r>
            <a:r>
              <a:rPr lang="en-US" i="1" dirty="0">
                <a:solidFill>
                  <a:schemeClr val="tx1"/>
                </a:solidFill>
              </a:rPr>
              <a:t>TC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l-GR" dirty="0">
                <a:solidFill>
                  <a:schemeClr val="tx1"/>
                </a:solidFill>
              </a:rPr>
              <a:t>Δ</a:t>
            </a:r>
            <a:r>
              <a:rPr lang="en-US" i="1" dirty="0">
                <a:solidFill>
                  <a:schemeClr val="tx1"/>
                </a:solidFill>
              </a:rPr>
              <a:t>Q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When marginal cost is below average cost, it </a:t>
            </a:r>
            <a:r>
              <a:rPr lang="en-US" dirty="0" smtClean="0">
                <a:solidFill>
                  <a:schemeClr val="tx1"/>
                </a:solidFill>
              </a:rPr>
              <a:t>is pulling </a:t>
            </a:r>
            <a:r>
              <a:rPr lang="en-US" dirty="0">
                <a:solidFill>
                  <a:schemeClr val="tx1"/>
                </a:solidFill>
              </a:rPr>
              <a:t>average cost down.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When </a:t>
            </a:r>
            <a:r>
              <a:rPr lang="en-US" i="1" dirty="0">
                <a:solidFill>
                  <a:schemeClr val="tx1"/>
                </a:solidFill>
              </a:rPr>
              <a:t>MC </a:t>
            </a:r>
            <a:r>
              <a:rPr lang="en-US" dirty="0">
                <a:solidFill>
                  <a:schemeClr val="tx1"/>
                </a:solidFill>
              </a:rPr>
              <a:t>is above </a:t>
            </a:r>
            <a:r>
              <a:rPr lang="en-US" i="1" dirty="0">
                <a:solidFill>
                  <a:schemeClr val="tx1"/>
                </a:solidFill>
              </a:rPr>
              <a:t>AC , </a:t>
            </a:r>
            <a:r>
              <a:rPr lang="en-US" dirty="0">
                <a:solidFill>
                  <a:schemeClr val="tx1"/>
                </a:solidFill>
              </a:rPr>
              <a:t>it is pulling up </a:t>
            </a:r>
            <a:r>
              <a:rPr lang="en-US" i="1" dirty="0">
                <a:solidFill>
                  <a:schemeClr val="tx1"/>
                </a:solidFill>
              </a:rPr>
              <a:t>AC 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When </a:t>
            </a:r>
            <a:r>
              <a:rPr lang="en-US" i="1" dirty="0">
                <a:solidFill>
                  <a:schemeClr val="tx1"/>
                </a:solidFill>
              </a:rPr>
              <a:t>MC </a:t>
            </a:r>
            <a:r>
              <a:rPr lang="en-US" dirty="0">
                <a:solidFill>
                  <a:schemeClr val="tx1"/>
                </a:solidFill>
              </a:rPr>
              <a:t>just equals </a:t>
            </a:r>
            <a:r>
              <a:rPr lang="en-US" i="1" dirty="0">
                <a:solidFill>
                  <a:schemeClr val="tx1"/>
                </a:solidFill>
              </a:rPr>
              <a:t>AC, AC </a:t>
            </a:r>
            <a:r>
              <a:rPr lang="en-US" dirty="0">
                <a:solidFill>
                  <a:schemeClr val="tx1"/>
                </a:solidFill>
              </a:rPr>
              <a:t>is constant. At </a:t>
            </a:r>
            <a:r>
              <a:rPr lang="en-US" dirty="0" smtClean="0">
                <a:solidFill>
                  <a:schemeClr val="tx1"/>
                </a:solidFill>
              </a:rPr>
              <a:t>the bottom </a:t>
            </a:r>
            <a:r>
              <a:rPr lang="en-US" dirty="0">
                <a:solidFill>
                  <a:schemeClr val="tx1"/>
                </a:solidFill>
              </a:rPr>
              <a:t>of a U-shaped </a:t>
            </a:r>
            <a:r>
              <a:rPr lang="en-US" i="1" dirty="0">
                <a:solidFill>
                  <a:schemeClr val="tx1"/>
                </a:solidFill>
              </a:rPr>
              <a:t>AC, MC 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i="1" dirty="0" smtClean="0">
                <a:solidFill>
                  <a:schemeClr val="tx1"/>
                </a:solidFill>
              </a:rPr>
              <a:t>AC= </a:t>
            </a:r>
            <a:r>
              <a:rPr lang="en-US" dirty="0" smtClean="0">
                <a:solidFill>
                  <a:schemeClr val="tx1"/>
                </a:solidFill>
              </a:rPr>
              <a:t>minimum </a:t>
            </a:r>
            <a:r>
              <a:rPr lang="en-US" i="1" dirty="0" smtClean="0">
                <a:solidFill>
                  <a:schemeClr val="tx1"/>
                </a:solidFill>
              </a:rPr>
              <a:t>AC.</a:t>
            </a:r>
          </a:p>
          <a:p>
            <a:endParaRPr lang="en-US" i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051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Average and Marginal Cost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Whenever marginal cost is less than average total cost, average total cost is falling.</a:t>
            </a:r>
          </a:p>
          <a:p>
            <a:r>
              <a:rPr lang="en-US" dirty="0">
                <a:solidFill>
                  <a:schemeClr val="tx1"/>
                </a:solidFill>
              </a:rPr>
              <a:t>Whenever marginal cost is greater than average total cost, average total cost is rising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The marginal-cost curve crosses the average-total-cost curve at its minimum.</a:t>
            </a:r>
          </a:p>
          <a:p>
            <a:r>
              <a:rPr lang="en-US" dirty="0">
                <a:solidFill>
                  <a:schemeClr val="tx1"/>
                </a:solidFill>
              </a:rPr>
              <a:t>Why? At low levels of output, marginal cost is below average total </a:t>
            </a:r>
            <a:r>
              <a:rPr lang="en-US" dirty="0" smtClean="0">
                <a:solidFill>
                  <a:schemeClr val="tx1"/>
                </a:solidFill>
              </a:rPr>
              <a:t>cost, so </a:t>
            </a:r>
            <a:r>
              <a:rPr lang="en-US" dirty="0">
                <a:solidFill>
                  <a:schemeClr val="tx1"/>
                </a:solidFill>
              </a:rPr>
              <a:t>average total cost is falling. But after the two curves cross, marginal cost </a:t>
            </a:r>
            <a:r>
              <a:rPr lang="en-US" dirty="0" smtClean="0">
                <a:solidFill>
                  <a:schemeClr val="tx1"/>
                </a:solidFill>
              </a:rPr>
              <a:t>rises above </a:t>
            </a:r>
            <a:r>
              <a:rPr lang="en-US" dirty="0">
                <a:solidFill>
                  <a:schemeClr val="tx1"/>
                </a:solidFill>
              </a:rPr>
              <a:t>average total cost. As a result, average total cost must start to rise at </a:t>
            </a:r>
            <a:r>
              <a:rPr lang="en-US" dirty="0" smtClean="0">
                <a:solidFill>
                  <a:schemeClr val="tx1"/>
                </a:solidFill>
              </a:rPr>
              <a:t>this level </a:t>
            </a:r>
            <a:r>
              <a:rPr lang="en-US" dirty="0">
                <a:solidFill>
                  <a:schemeClr val="tx1"/>
                </a:solidFill>
              </a:rPr>
              <a:t>of output. Hence, this point of intersection is the minimum of average </a:t>
            </a:r>
            <a:r>
              <a:rPr lang="en-US" dirty="0" smtClean="0">
                <a:solidFill>
                  <a:schemeClr val="tx1"/>
                </a:solidFill>
              </a:rPr>
              <a:t>total cost.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48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Cost Curves and Their Shapes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24263"/>
            <a:ext cx="9675812" cy="498107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Rising Marginal Cost </a:t>
            </a:r>
            <a:r>
              <a:rPr lang="en-US" dirty="0" smtClean="0">
                <a:solidFill>
                  <a:schemeClr val="tx1"/>
                </a:solidFill>
              </a:rPr>
              <a:t>marginal </a:t>
            </a:r>
            <a:r>
              <a:rPr lang="en-US" dirty="0">
                <a:solidFill>
                  <a:schemeClr val="tx1"/>
                </a:solidFill>
              </a:rPr>
              <a:t>cost rises as the quantity of output </a:t>
            </a:r>
            <a:r>
              <a:rPr lang="en-US" dirty="0" smtClean="0">
                <a:solidFill>
                  <a:schemeClr val="tx1"/>
                </a:solidFill>
              </a:rPr>
              <a:t>produced increases</a:t>
            </a:r>
            <a:r>
              <a:rPr lang="en-US" dirty="0">
                <a:solidFill>
                  <a:schemeClr val="tx1"/>
                </a:solidFill>
              </a:rPr>
              <a:t>. This upward slope reflects the property of diminishing </a:t>
            </a:r>
            <a:r>
              <a:rPr lang="en-US" dirty="0" smtClean="0">
                <a:solidFill>
                  <a:schemeClr val="tx1"/>
                </a:solidFill>
              </a:rPr>
              <a:t>marginal product.</a:t>
            </a:r>
          </a:p>
          <a:p>
            <a:r>
              <a:rPr lang="en-US" b="1" dirty="0">
                <a:solidFill>
                  <a:schemeClr val="tx1"/>
                </a:solidFill>
              </a:rPr>
              <a:t>U-Shaped Average Total </a:t>
            </a:r>
            <a:r>
              <a:rPr lang="en-US" b="1" dirty="0" smtClean="0">
                <a:solidFill>
                  <a:schemeClr val="tx1"/>
                </a:solidFill>
              </a:rPr>
              <a:t>Cost-</a:t>
            </a:r>
            <a:r>
              <a:rPr lang="en-US" dirty="0">
                <a:solidFill>
                  <a:schemeClr val="tx1"/>
                </a:solidFill>
              </a:rPr>
              <a:t>remember that average total cost is </a:t>
            </a:r>
            <a:r>
              <a:rPr lang="en-US" dirty="0" smtClean="0">
                <a:solidFill>
                  <a:schemeClr val="tx1"/>
                </a:solidFill>
              </a:rPr>
              <a:t>the sum </a:t>
            </a:r>
            <a:r>
              <a:rPr lang="en-US" dirty="0">
                <a:solidFill>
                  <a:schemeClr val="tx1"/>
                </a:solidFill>
              </a:rPr>
              <a:t>of average fixed cost and average variable cost. Average fixed cost </a:t>
            </a:r>
            <a:r>
              <a:rPr lang="en-US" dirty="0" smtClean="0">
                <a:solidFill>
                  <a:schemeClr val="tx1"/>
                </a:solidFill>
              </a:rPr>
              <a:t>always declines </a:t>
            </a:r>
            <a:r>
              <a:rPr lang="en-US" dirty="0">
                <a:solidFill>
                  <a:schemeClr val="tx1"/>
                </a:solidFill>
              </a:rPr>
              <a:t>as output rises because the fixed cost is getting spread over a larger </a:t>
            </a:r>
            <a:r>
              <a:rPr lang="en-US" dirty="0" smtClean="0">
                <a:solidFill>
                  <a:schemeClr val="tx1"/>
                </a:solidFill>
              </a:rPr>
              <a:t>number of </a:t>
            </a:r>
            <a:r>
              <a:rPr lang="en-US" dirty="0">
                <a:solidFill>
                  <a:schemeClr val="tx1"/>
                </a:solidFill>
              </a:rPr>
              <a:t>units. Average variable cost usually rises as output increases because </a:t>
            </a:r>
            <a:r>
              <a:rPr lang="en-US" dirty="0" smtClean="0">
                <a:solidFill>
                  <a:schemeClr val="tx1"/>
                </a:solidFill>
              </a:rPr>
              <a:t>of diminishing </a:t>
            </a:r>
            <a:r>
              <a:rPr lang="en-US" dirty="0">
                <a:solidFill>
                  <a:schemeClr val="tx1"/>
                </a:solidFill>
              </a:rPr>
              <a:t>marginal product.</a:t>
            </a:r>
          </a:p>
          <a:p>
            <a:r>
              <a:rPr lang="en-US" dirty="0">
                <a:solidFill>
                  <a:schemeClr val="tx1"/>
                </a:solidFill>
              </a:rPr>
              <a:t>Average total cost reflects the shapes of both average fixed cost and </a:t>
            </a:r>
            <a:r>
              <a:rPr lang="en-US" dirty="0" smtClean="0">
                <a:solidFill>
                  <a:schemeClr val="tx1"/>
                </a:solidFill>
              </a:rPr>
              <a:t>average variable </a:t>
            </a:r>
            <a:r>
              <a:rPr lang="en-US" dirty="0">
                <a:solidFill>
                  <a:schemeClr val="tx1"/>
                </a:solidFill>
              </a:rPr>
              <a:t>cost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 Even though average variable cost is low, average </a:t>
            </a:r>
            <a:r>
              <a:rPr lang="en-US" dirty="0" smtClean="0">
                <a:solidFill>
                  <a:schemeClr val="tx1"/>
                </a:solidFill>
              </a:rPr>
              <a:t>fixed cost </a:t>
            </a:r>
            <a:r>
              <a:rPr lang="en-US" dirty="0">
                <a:solidFill>
                  <a:schemeClr val="tx1"/>
                </a:solidFill>
              </a:rPr>
              <a:t>is high because the fixed cost is spread over only a few units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As </a:t>
            </a:r>
            <a:r>
              <a:rPr lang="en-US" dirty="0" smtClean="0">
                <a:solidFill>
                  <a:schemeClr val="tx1"/>
                </a:solidFill>
              </a:rPr>
              <a:t>output increases</a:t>
            </a:r>
            <a:r>
              <a:rPr lang="en-US" dirty="0">
                <a:solidFill>
                  <a:schemeClr val="tx1"/>
                </a:solidFill>
              </a:rPr>
              <a:t>, the fixed cost is spread over more units. Average fixed cost </a:t>
            </a:r>
            <a:r>
              <a:rPr lang="en-US" dirty="0" smtClean="0">
                <a:solidFill>
                  <a:schemeClr val="tx1"/>
                </a:solidFill>
              </a:rPr>
              <a:t>declines, rapidly </a:t>
            </a:r>
            <a:r>
              <a:rPr lang="en-US" dirty="0">
                <a:solidFill>
                  <a:schemeClr val="tx1"/>
                </a:solidFill>
              </a:rPr>
              <a:t>at first and then more slowly. As a result, average total cost also </a:t>
            </a:r>
            <a:r>
              <a:rPr lang="en-US" dirty="0" smtClean="0">
                <a:solidFill>
                  <a:schemeClr val="tx1"/>
                </a:solidFill>
              </a:rPr>
              <a:t>declines. </a:t>
            </a:r>
          </a:p>
          <a:p>
            <a:r>
              <a:rPr lang="en-US" dirty="0">
                <a:solidFill>
                  <a:schemeClr val="tx1"/>
                </a:solidFill>
              </a:rPr>
              <a:t>The bottom of the U-shape occurs at the quantity that minimizes average </a:t>
            </a:r>
            <a:r>
              <a:rPr lang="en-US" dirty="0" smtClean="0">
                <a:solidFill>
                  <a:schemeClr val="tx1"/>
                </a:solidFill>
              </a:rPr>
              <a:t>total cost</a:t>
            </a:r>
            <a:r>
              <a:rPr lang="en-US" dirty="0">
                <a:solidFill>
                  <a:schemeClr val="tx1"/>
                </a:solidFill>
              </a:rPr>
              <a:t>. This quantity is sometimes called the </a:t>
            </a:r>
            <a:r>
              <a:rPr lang="en-US" b="1" dirty="0">
                <a:solidFill>
                  <a:schemeClr val="tx1"/>
                </a:solidFill>
              </a:rPr>
              <a:t>efficient scale </a:t>
            </a:r>
            <a:r>
              <a:rPr lang="en-US" dirty="0">
                <a:solidFill>
                  <a:schemeClr val="tx1"/>
                </a:solidFill>
              </a:rPr>
              <a:t>of the firm.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418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Typical Cost Curves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199" y="1503948"/>
            <a:ext cx="9119937" cy="465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51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7785" y="624110"/>
            <a:ext cx="10040814" cy="593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65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Costs in the Short Run and in the Long Run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5211" y="2133599"/>
            <a:ext cx="9519401" cy="40746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Because many decisions are fixed in the short run but variable in the long </a:t>
            </a:r>
            <a:r>
              <a:rPr lang="en-US" dirty="0" smtClean="0">
                <a:solidFill>
                  <a:schemeClr val="tx1"/>
                </a:solidFill>
              </a:rPr>
              <a:t>run, a </a:t>
            </a:r>
            <a:r>
              <a:rPr lang="en-US" dirty="0">
                <a:solidFill>
                  <a:schemeClr val="tx1"/>
                </a:solidFill>
              </a:rPr>
              <a:t>firm’s long-run cost curves differ from its short-run cost curves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The figure presents three short-run average-total-cost curves—for </a:t>
            </a:r>
            <a:r>
              <a:rPr lang="en-US" dirty="0" smtClean="0">
                <a:solidFill>
                  <a:schemeClr val="tx1"/>
                </a:solidFill>
              </a:rPr>
              <a:t>a small</a:t>
            </a:r>
            <a:r>
              <a:rPr lang="en-US" dirty="0">
                <a:solidFill>
                  <a:schemeClr val="tx1"/>
                </a:solidFill>
              </a:rPr>
              <a:t>, medium, and large factory. It also presents the long-run </a:t>
            </a:r>
            <a:r>
              <a:rPr lang="en-US" dirty="0" smtClean="0">
                <a:solidFill>
                  <a:schemeClr val="tx1"/>
                </a:solidFill>
              </a:rPr>
              <a:t>average-total-cost curve</a:t>
            </a:r>
            <a:r>
              <a:rPr lang="en-US" dirty="0">
                <a:solidFill>
                  <a:schemeClr val="tx1"/>
                </a:solidFill>
              </a:rPr>
              <a:t>. As the firm moves along the long-run curve, it is adjusting the size of </a:t>
            </a:r>
            <a:r>
              <a:rPr lang="en-US" dirty="0" smtClean="0">
                <a:solidFill>
                  <a:schemeClr val="tx1"/>
                </a:solidFill>
              </a:rPr>
              <a:t>the factory </a:t>
            </a:r>
            <a:r>
              <a:rPr lang="en-US" dirty="0">
                <a:solidFill>
                  <a:schemeClr val="tx1"/>
                </a:solidFill>
              </a:rPr>
              <a:t>to the quantity of production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smtClean="0">
                <a:solidFill>
                  <a:schemeClr val="tx1"/>
                </a:solidFill>
              </a:rPr>
              <a:t>long-run average-total-cost </a:t>
            </a:r>
            <a:r>
              <a:rPr lang="en-US" dirty="0">
                <a:solidFill>
                  <a:schemeClr val="tx1"/>
                </a:solidFill>
              </a:rPr>
              <a:t>curve has a much flatter U-shape than the short-run </a:t>
            </a:r>
            <a:r>
              <a:rPr lang="en-US" dirty="0" smtClean="0">
                <a:solidFill>
                  <a:schemeClr val="tx1"/>
                </a:solidFill>
              </a:rPr>
              <a:t>average total-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cost </a:t>
            </a:r>
            <a:r>
              <a:rPr lang="en-US" dirty="0">
                <a:solidFill>
                  <a:schemeClr val="tx1"/>
                </a:solidFill>
              </a:rPr>
              <a:t>curve. In addition, all the short-run curves lie on or above the </a:t>
            </a:r>
            <a:r>
              <a:rPr lang="en-US" dirty="0" smtClean="0">
                <a:solidFill>
                  <a:schemeClr val="tx1"/>
                </a:solidFill>
              </a:rPr>
              <a:t>long-run curve</a:t>
            </a:r>
            <a:r>
              <a:rPr lang="en-US" dirty="0">
                <a:solidFill>
                  <a:schemeClr val="tx1"/>
                </a:solidFill>
              </a:rPr>
              <a:t>. These properties arise because firms have greater flexibility in the long run.</a:t>
            </a:r>
          </a:p>
          <a:p>
            <a:r>
              <a:rPr lang="en-US" dirty="0">
                <a:solidFill>
                  <a:schemeClr val="tx1"/>
                </a:solidFill>
              </a:rPr>
              <a:t>In essence, in the long run, the firm gets to choose which short-run curve it </a:t>
            </a:r>
            <a:r>
              <a:rPr lang="en-US" dirty="0" smtClean="0">
                <a:solidFill>
                  <a:schemeClr val="tx1"/>
                </a:solidFill>
              </a:rPr>
              <a:t>wants to </a:t>
            </a:r>
            <a:r>
              <a:rPr lang="en-US" dirty="0">
                <a:solidFill>
                  <a:schemeClr val="tx1"/>
                </a:solidFill>
              </a:rPr>
              <a:t>use.</a:t>
            </a:r>
          </a:p>
        </p:txBody>
      </p:sp>
    </p:spTree>
    <p:extLst>
      <p:ext uri="{BB962C8B-B14F-4D97-AF65-F5344CB8AC3E}">
        <p14:creationId xmlns:p14="http://schemas.microsoft.com/office/powerpoint/2010/main" val="409325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Costs in the Short Run and in the Long Run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9432" y="1905000"/>
            <a:ext cx="8891336" cy="431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80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Economies and Diseconomies of Scale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6768" y="2133599"/>
            <a:ext cx="9687844" cy="412282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</a:t>
            </a:r>
            <a:r>
              <a:rPr lang="en-US" b="1" dirty="0" smtClean="0">
                <a:solidFill>
                  <a:schemeClr val="tx1"/>
                </a:solidFill>
              </a:rPr>
              <a:t>conomies </a:t>
            </a:r>
            <a:r>
              <a:rPr lang="en-US" b="1" dirty="0">
                <a:solidFill>
                  <a:schemeClr val="tx1"/>
                </a:solidFill>
              </a:rPr>
              <a:t>of </a:t>
            </a:r>
            <a:r>
              <a:rPr lang="en-US" b="1" dirty="0" smtClean="0">
                <a:solidFill>
                  <a:schemeClr val="tx1"/>
                </a:solidFill>
              </a:rPr>
              <a:t>scale-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property </a:t>
            </a:r>
            <a:r>
              <a:rPr lang="en-US" dirty="0" smtClean="0">
                <a:solidFill>
                  <a:schemeClr val="tx1"/>
                </a:solidFill>
              </a:rPr>
              <a:t>whereby long-run </a:t>
            </a:r>
            <a:r>
              <a:rPr lang="en-US" dirty="0">
                <a:solidFill>
                  <a:schemeClr val="tx1"/>
                </a:solidFill>
              </a:rPr>
              <a:t>average </a:t>
            </a:r>
            <a:r>
              <a:rPr lang="en-US" dirty="0" smtClean="0">
                <a:solidFill>
                  <a:schemeClr val="tx1"/>
                </a:solidFill>
              </a:rPr>
              <a:t>total cost </a:t>
            </a:r>
            <a:r>
              <a:rPr lang="en-US" dirty="0">
                <a:solidFill>
                  <a:schemeClr val="tx1"/>
                </a:solidFill>
              </a:rPr>
              <a:t>falls as the </a:t>
            </a:r>
            <a:r>
              <a:rPr lang="en-US" dirty="0" smtClean="0">
                <a:solidFill>
                  <a:schemeClr val="tx1"/>
                </a:solidFill>
              </a:rPr>
              <a:t>quantity of </a:t>
            </a:r>
            <a:r>
              <a:rPr lang="en-US" dirty="0">
                <a:solidFill>
                  <a:schemeClr val="tx1"/>
                </a:solidFill>
              </a:rPr>
              <a:t>output </a:t>
            </a:r>
            <a:r>
              <a:rPr lang="en-US" dirty="0" smtClean="0">
                <a:solidFill>
                  <a:schemeClr val="tx1"/>
                </a:solidFill>
              </a:rPr>
              <a:t>increases.</a:t>
            </a:r>
          </a:p>
          <a:p>
            <a:r>
              <a:rPr lang="en-US" dirty="0">
                <a:solidFill>
                  <a:schemeClr val="tx1"/>
                </a:solidFill>
              </a:rPr>
              <a:t>Economies of </a:t>
            </a:r>
            <a:r>
              <a:rPr lang="en-US" dirty="0" smtClean="0">
                <a:solidFill>
                  <a:schemeClr val="tx1"/>
                </a:solidFill>
              </a:rPr>
              <a:t>scale often </a:t>
            </a:r>
            <a:r>
              <a:rPr lang="en-US" dirty="0">
                <a:solidFill>
                  <a:schemeClr val="tx1"/>
                </a:solidFill>
              </a:rPr>
              <a:t>arise because higher production levels allow </a:t>
            </a:r>
            <a:r>
              <a:rPr lang="en-US" i="1" dirty="0">
                <a:solidFill>
                  <a:schemeClr val="tx1"/>
                </a:solidFill>
              </a:rPr>
              <a:t>specialization </a:t>
            </a:r>
            <a:r>
              <a:rPr lang="en-US" dirty="0">
                <a:solidFill>
                  <a:schemeClr val="tx1"/>
                </a:solidFill>
              </a:rPr>
              <a:t>among </a:t>
            </a:r>
            <a:r>
              <a:rPr lang="en-US" dirty="0" smtClean="0">
                <a:solidFill>
                  <a:schemeClr val="tx1"/>
                </a:solidFill>
              </a:rPr>
              <a:t>workers, which </a:t>
            </a:r>
            <a:r>
              <a:rPr lang="en-US" dirty="0">
                <a:solidFill>
                  <a:schemeClr val="tx1"/>
                </a:solidFill>
              </a:rPr>
              <a:t>permits each worker to become better at a specific </a:t>
            </a:r>
            <a:r>
              <a:rPr lang="en-US" dirty="0" smtClean="0">
                <a:solidFill>
                  <a:schemeClr val="tx1"/>
                </a:solidFill>
              </a:rPr>
              <a:t>task.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D</a:t>
            </a:r>
            <a:r>
              <a:rPr lang="en-US" b="1" dirty="0" smtClean="0">
                <a:solidFill>
                  <a:schemeClr val="tx1"/>
                </a:solidFill>
              </a:rPr>
              <a:t>iseconomies </a:t>
            </a:r>
            <a:r>
              <a:rPr lang="en-US" b="1" dirty="0">
                <a:solidFill>
                  <a:schemeClr val="tx1"/>
                </a:solidFill>
              </a:rPr>
              <a:t>of </a:t>
            </a:r>
            <a:r>
              <a:rPr lang="en-US" b="1" dirty="0" smtClean="0">
                <a:solidFill>
                  <a:schemeClr val="tx1"/>
                </a:solidFill>
              </a:rPr>
              <a:t>scale- 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property </a:t>
            </a:r>
            <a:r>
              <a:rPr lang="en-US" dirty="0" smtClean="0">
                <a:solidFill>
                  <a:schemeClr val="tx1"/>
                </a:solidFill>
              </a:rPr>
              <a:t>whereby long-run </a:t>
            </a:r>
            <a:r>
              <a:rPr lang="en-US" dirty="0">
                <a:solidFill>
                  <a:schemeClr val="tx1"/>
                </a:solidFill>
              </a:rPr>
              <a:t>average </a:t>
            </a:r>
            <a:r>
              <a:rPr lang="en-US" dirty="0" smtClean="0">
                <a:solidFill>
                  <a:schemeClr val="tx1"/>
                </a:solidFill>
              </a:rPr>
              <a:t>total cost </a:t>
            </a:r>
            <a:r>
              <a:rPr lang="en-US" dirty="0">
                <a:solidFill>
                  <a:schemeClr val="tx1"/>
                </a:solidFill>
              </a:rPr>
              <a:t>rises as the </a:t>
            </a:r>
            <a:r>
              <a:rPr lang="en-US" dirty="0" smtClean="0">
                <a:solidFill>
                  <a:schemeClr val="tx1"/>
                </a:solidFill>
              </a:rPr>
              <a:t>quantity of </a:t>
            </a:r>
            <a:r>
              <a:rPr lang="en-US" dirty="0">
                <a:solidFill>
                  <a:schemeClr val="tx1"/>
                </a:solidFill>
              </a:rPr>
              <a:t>output </a:t>
            </a:r>
            <a:r>
              <a:rPr lang="en-US" dirty="0" smtClean="0">
                <a:solidFill>
                  <a:schemeClr val="tx1"/>
                </a:solidFill>
              </a:rPr>
              <a:t>increases</a:t>
            </a:r>
          </a:p>
          <a:p>
            <a:r>
              <a:rPr lang="en-US" dirty="0">
                <a:solidFill>
                  <a:schemeClr val="tx1"/>
                </a:solidFill>
              </a:rPr>
              <a:t>Diseconomies of scale </a:t>
            </a:r>
            <a:r>
              <a:rPr lang="en-US" dirty="0" smtClean="0">
                <a:solidFill>
                  <a:schemeClr val="tx1"/>
                </a:solidFill>
              </a:rPr>
              <a:t>can arise </a:t>
            </a:r>
            <a:r>
              <a:rPr lang="en-US" dirty="0">
                <a:solidFill>
                  <a:schemeClr val="tx1"/>
                </a:solidFill>
              </a:rPr>
              <a:t>because of </a:t>
            </a:r>
            <a:r>
              <a:rPr lang="en-US" i="1" dirty="0">
                <a:solidFill>
                  <a:schemeClr val="tx1"/>
                </a:solidFill>
              </a:rPr>
              <a:t>coordination problems </a:t>
            </a:r>
            <a:r>
              <a:rPr lang="en-US" dirty="0">
                <a:solidFill>
                  <a:schemeClr val="tx1"/>
                </a:solidFill>
              </a:rPr>
              <a:t>that are inherent in any large organization.</a:t>
            </a:r>
          </a:p>
          <a:p>
            <a:r>
              <a:rPr lang="en-US" b="1" dirty="0">
                <a:solidFill>
                  <a:schemeClr val="tx1"/>
                </a:solidFill>
              </a:rPr>
              <a:t>C</a:t>
            </a:r>
            <a:r>
              <a:rPr lang="en-US" b="1" dirty="0" smtClean="0">
                <a:solidFill>
                  <a:schemeClr val="tx1"/>
                </a:solidFill>
              </a:rPr>
              <a:t>onstant </a:t>
            </a:r>
            <a:r>
              <a:rPr lang="en-US" b="1" dirty="0">
                <a:solidFill>
                  <a:schemeClr val="tx1"/>
                </a:solidFill>
              </a:rPr>
              <a:t>returns to </a:t>
            </a:r>
            <a:r>
              <a:rPr lang="en-US" b="1" dirty="0" smtClean="0">
                <a:solidFill>
                  <a:schemeClr val="tx1"/>
                </a:solidFill>
              </a:rPr>
              <a:t>scale- 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property </a:t>
            </a:r>
            <a:r>
              <a:rPr lang="en-US" dirty="0" smtClean="0">
                <a:solidFill>
                  <a:schemeClr val="tx1"/>
                </a:solidFill>
              </a:rPr>
              <a:t>whereby long-run </a:t>
            </a:r>
            <a:r>
              <a:rPr lang="en-US" dirty="0">
                <a:solidFill>
                  <a:schemeClr val="tx1"/>
                </a:solidFill>
              </a:rPr>
              <a:t>average </a:t>
            </a:r>
            <a:r>
              <a:rPr lang="en-US" dirty="0" smtClean="0">
                <a:solidFill>
                  <a:schemeClr val="tx1"/>
                </a:solidFill>
              </a:rPr>
              <a:t>total cost </a:t>
            </a:r>
            <a:r>
              <a:rPr lang="en-US" dirty="0">
                <a:solidFill>
                  <a:schemeClr val="tx1"/>
                </a:solidFill>
              </a:rPr>
              <a:t>stays the same </a:t>
            </a:r>
            <a:r>
              <a:rPr lang="en-US" dirty="0" smtClean="0">
                <a:solidFill>
                  <a:schemeClr val="tx1"/>
                </a:solidFill>
              </a:rPr>
              <a:t>as the </a:t>
            </a:r>
            <a:r>
              <a:rPr lang="en-US" dirty="0">
                <a:solidFill>
                  <a:schemeClr val="tx1"/>
                </a:solidFill>
              </a:rPr>
              <a:t>quantity of </a:t>
            </a:r>
            <a:r>
              <a:rPr lang="en-US" dirty="0" smtClean="0">
                <a:solidFill>
                  <a:schemeClr val="tx1"/>
                </a:solidFill>
              </a:rPr>
              <a:t>output changes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0960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199</TotalTime>
  <Words>1241</Words>
  <Application>Microsoft Office PowerPoint</Application>
  <PresentationFormat>Custom</PresentationFormat>
  <Paragraphs>67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Wisp</vt:lpstr>
      <vt:lpstr>The Costs of Production</vt:lpstr>
      <vt:lpstr>What Are Costs?</vt:lpstr>
      <vt:lpstr>What Are Costs?</vt:lpstr>
      <vt:lpstr>Economic Profit versus Accounting Profit</vt:lpstr>
      <vt:lpstr>Production and Costs</vt:lpstr>
      <vt:lpstr>Diminishing Marginal Product</vt:lpstr>
      <vt:lpstr>Production Function and Total-Cost Curve</vt:lpstr>
      <vt:lpstr>Average and Marginal Cost</vt:lpstr>
      <vt:lpstr>Average and Marginal Cost</vt:lpstr>
      <vt:lpstr>Cost Curves and Their Shapes</vt:lpstr>
      <vt:lpstr>Typical Cost Curves</vt:lpstr>
      <vt:lpstr>PowerPoint Presentation</vt:lpstr>
      <vt:lpstr>Costs in the Short Run and in the Long Run</vt:lpstr>
      <vt:lpstr>Costs in the Short Run and in the Long Run</vt:lpstr>
      <vt:lpstr>Economies and Diseconomies of Scale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Costs of Production</dc:title>
  <dc:creator>Chandra Tabassum</dc:creator>
  <cp:lastModifiedBy>Dr. Mohammad Akhtaruzzaman</cp:lastModifiedBy>
  <cp:revision>13</cp:revision>
  <dcterms:created xsi:type="dcterms:W3CDTF">2020-09-05T13:44:05Z</dcterms:created>
  <dcterms:modified xsi:type="dcterms:W3CDTF">2026-01-03T06:09:02Z</dcterms:modified>
</cp:coreProperties>
</file>