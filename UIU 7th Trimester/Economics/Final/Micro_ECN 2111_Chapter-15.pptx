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7E45B-BAA8-4380-94D1-A6717C7D062D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1F967-4296-4E87-975D-1AE5F78496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466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4BE28-97F7-4DEA-ADA4-4DC160C18D9A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59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BAAA-8A11-4F78-ABB9-AEFF0756D7B4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4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A964D-476A-489D-875E-1A9A4C06E528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1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6921A-F5B2-41A4-B74C-F79F684C8C4B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64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FC1E-586E-4938-9184-0FF9F49A7A32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99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5692-F0AB-42F7-B92F-5DA44A9BBB0F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35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15C17-12F2-4994-98F6-17709B05E1B6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787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81791-59B6-46E0-96C4-F1BC729C7378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5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8434-A3A8-4E49-87AE-96ED90F82E11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29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EA9F-FAB9-4B2E-B067-10C3862B1F13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9473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EA9F-FAB9-4B2E-B067-10C3862B1F13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302407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EA9F-FAB9-4B2E-B067-10C3862B1F13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03564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EA9F-FAB9-4B2E-B067-10C3862B1F13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042684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FEA9F-FAB9-4B2E-B067-10C3862B1F13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80524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C720-40A5-498A-98F2-10F5BCB575F6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99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3ABD-BD44-4FA8-BB50-8DDFE9045998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31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FEA9F-FAB9-4B2E-B067-10C3862B1F13}" type="datetime1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21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609600"/>
            <a:ext cx="5618515" cy="2398101"/>
          </a:xfrm>
        </p:spPr>
        <p:txBody>
          <a:bodyPr/>
          <a:lstStyle/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sz="6600" b="1" dirty="0"/>
              <a:t>Monopoly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3886200"/>
            <a:ext cx="6400800" cy="2286000"/>
          </a:xfrm>
        </p:spPr>
        <p:txBody>
          <a:bodyPr>
            <a:noAutofit/>
          </a:bodyPr>
          <a:lstStyle/>
          <a:p>
            <a:pPr algn="ct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United International 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University</a:t>
            </a:r>
          </a:p>
          <a:p>
            <a:pPr algn="l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Microeconomics</a:t>
            </a:r>
          </a:p>
          <a:p>
            <a:pPr algn="l"/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Chapter-15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Faculty</a:t>
            </a:r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6347713" cy="120479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F0"/>
                </a:solidFill>
              </a:rPr>
              <a:t>Monopoly- Imperfect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/>
          </a:bodyPr>
          <a:lstStyle/>
          <a:p>
            <a:r>
              <a:rPr lang="en-US" dirty="0"/>
              <a:t>While a competitive firm is a </a:t>
            </a:r>
            <a:r>
              <a:rPr lang="en-US" i="1" dirty="0"/>
              <a:t>price taker</a:t>
            </a:r>
            <a:r>
              <a:rPr lang="en-US" dirty="0"/>
              <a:t>, a monopoly firm is a </a:t>
            </a:r>
            <a:r>
              <a:rPr lang="en-US" i="1" dirty="0"/>
              <a:t>price maker</a:t>
            </a:r>
            <a:r>
              <a:rPr lang="en-US" dirty="0"/>
              <a:t>.</a:t>
            </a:r>
          </a:p>
          <a:p>
            <a:pPr>
              <a:buClr>
                <a:srgbClr val="000000"/>
              </a:buClr>
            </a:pPr>
            <a:r>
              <a:rPr lang="en-US" dirty="0"/>
              <a:t>A firm is considered a </a:t>
            </a:r>
            <a:r>
              <a:rPr lang="en-US" i="1" dirty="0">
                <a:solidFill>
                  <a:srgbClr val="25A9A6"/>
                </a:solidFill>
              </a:rPr>
              <a:t>monopoly </a:t>
            </a:r>
            <a:r>
              <a:rPr lang="en-US" dirty="0"/>
              <a:t>if . . .</a:t>
            </a:r>
          </a:p>
          <a:p>
            <a:pPr lvl="1"/>
            <a:r>
              <a:rPr lang="en-US" sz="1800" dirty="0"/>
              <a:t>it is the sole seller of its product.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its product does not have close substitutes.</a:t>
            </a:r>
          </a:p>
          <a:p>
            <a:pPr lvl="1"/>
            <a:r>
              <a:rPr lang="en-US" sz="1800" dirty="0"/>
              <a:t>Ex- DWASA, Bangladesh Rail Way</a:t>
            </a:r>
          </a:p>
          <a:p>
            <a:r>
              <a:rPr lang="en-US" dirty="0">
                <a:solidFill>
                  <a:srgbClr val="0070C0"/>
                </a:solidFill>
              </a:rPr>
              <a:t>WHY MONOPOLIES ARISE? 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The fundamental cause of monopoly is </a:t>
            </a:r>
            <a:r>
              <a:rPr lang="en-US" sz="2000" b="1" i="1" dirty="0">
                <a:solidFill>
                  <a:srgbClr val="FF0000"/>
                </a:solidFill>
              </a:rPr>
              <a:t>barriers to entry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</a:p>
          <a:p>
            <a:r>
              <a:rPr lang="en-US" dirty="0"/>
              <a:t>Barriers to entry have three sources:</a:t>
            </a:r>
          </a:p>
          <a:p>
            <a:pPr lvl="1"/>
            <a:r>
              <a:rPr lang="en-US" sz="1800" dirty="0"/>
              <a:t>Ownership of a key resource.</a:t>
            </a:r>
          </a:p>
          <a:p>
            <a:pPr lvl="1"/>
            <a:r>
              <a:rPr lang="en-US" sz="1800" dirty="0"/>
              <a:t>The government gives a single firm the exclusive right to produce some good.</a:t>
            </a:r>
          </a:p>
          <a:p>
            <a:pPr lvl="1"/>
            <a:r>
              <a:rPr lang="en-US" sz="1800" dirty="0"/>
              <a:t>Costs of production make a single producer more efficient than a </a:t>
            </a:r>
            <a:r>
              <a:rPr lang="en-US" sz="1800" dirty="0" smtClean="0"/>
              <a:t> large </a:t>
            </a:r>
            <a:r>
              <a:rPr lang="en-US" sz="1800" dirty="0"/>
              <a:t>number of producers.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86600" cy="71596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</a:rPr>
              <a:t>WHY MONOPOLIES ARISE?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229600" cy="55626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Monopoly Resources: </a:t>
            </a:r>
            <a:r>
              <a:rPr lang="en-US" sz="2000" dirty="0"/>
              <a:t>Although exclusive ownership of a key resource is a potential source of monopoly, in practice </a:t>
            </a:r>
            <a:r>
              <a:rPr lang="en-US" sz="2000" dirty="0" smtClean="0"/>
              <a:t>  monopolies </a:t>
            </a:r>
            <a:r>
              <a:rPr lang="en-US" sz="2000" dirty="0"/>
              <a:t>rarely arise for this reason</a:t>
            </a:r>
            <a:r>
              <a:rPr lang="en-US" sz="2000" dirty="0" smtClean="0"/>
              <a:t>.</a:t>
            </a:r>
          </a:p>
          <a:p>
            <a:endParaRPr lang="en-US" sz="400" dirty="0">
              <a:solidFill>
                <a:srgbClr val="0070C0"/>
              </a:solidFill>
            </a:endParaRPr>
          </a:p>
          <a:p>
            <a:r>
              <a:rPr lang="en-US" sz="2000" dirty="0">
                <a:solidFill>
                  <a:srgbClr val="0070C0"/>
                </a:solidFill>
              </a:rPr>
              <a:t>Government-Created Monopolies: </a:t>
            </a:r>
            <a:r>
              <a:rPr lang="en-US" sz="2000" dirty="0"/>
              <a:t>Governments may restrict </a:t>
            </a:r>
            <a:r>
              <a:rPr lang="en-US" sz="2000" dirty="0" smtClean="0"/>
              <a:t>   entry </a:t>
            </a:r>
            <a:r>
              <a:rPr lang="en-US" sz="2000" dirty="0"/>
              <a:t>by giving a single firm the exclusive right to sell a </a:t>
            </a:r>
            <a:r>
              <a:rPr lang="en-US" sz="2000" dirty="0" smtClean="0"/>
              <a:t>   particular </a:t>
            </a:r>
            <a:r>
              <a:rPr lang="en-US" sz="2000" dirty="0"/>
              <a:t>good in certain markets.  </a:t>
            </a:r>
            <a:endParaRPr lang="en-US" sz="2000" dirty="0" smtClean="0"/>
          </a:p>
          <a:p>
            <a:endParaRPr lang="en-US" sz="400" dirty="0"/>
          </a:p>
          <a:p>
            <a:r>
              <a:rPr lang="en-US" sz="2000" b="1" dirty="0">
                <a:solidFill>
                  <a:srgbClr val="FF0000"/>
                </a:solidFill>
              </a:rPr>
              <a:t>Patent and copyright laws are two important examples of how government creates a monopoly to serve the public interest</a:t>
            </a:r>
            <a:r>
              <a:rPr lang="en-US" sz="2000" dirty="0" smtClean="0"/>
              <a:t>.</a:t>
            </a:r>
          </a:p>
          <a:p>
            <a:endParaRPr lang="en-US" sz="600" dirty="0"/>
          </a:p>
          <a:p>
            <a:r>
              <a:rPr lang="en-US" sz="2000" dirty="0">
                <a:solidFill>
                  <a:srgbClr val="0070C0"/>
                </a:solidFill>
              </a:rPr>
              <a:t>Natural Monopolies: </a:t>
            </a:r>
            <a:r>
              <a:rPr lang="en-US" sz="2000" dirty="0"/>
              <a:t>An industry is a </a:t>
            </a:r>
            <a:r>
              <a:rPr lang="en-US" sz="2000" i="1" dirty="0">
                <a:solidFill>
                  <a:srgbClr val="25A9A6"/>
                </a:solidFill>
              </a:rPr>
              <a:t>natural monopoly </a:t>
            </a:r>
            <a:r>
              <a:rPr lang="en-US" sz="2000" dirty="0"/>
              <a:t>when a single firm can supply a good or service to an entire market at </a:t>
            </a:r>
            <a:r>
              <a:rPr lang="en-US" sz="2000" dirty="0" smtClean="0"/>
              <a:t>      a </a:t>
            </a:r>
            <a:r>
              <a:rPr lang="en-US" sz="2000" dirty="0"/>
              <a:t>smaller cost than could two or more firms</a:t>
            </a:r>
            <a:r>
              <a:rPr lang="en-US" sz="2000" dirty="0" smtClean="0"/>
              <a:t>.</a:t>
            </a:r>
          </a:p>
          <a:p>
            <a:endParaRPr lang="en-US" sz="400" dirty="0"/>
          </a:p>
          <a:p>
            <a:r>
              <a:rPr lang="en-US" sz="2000" b="1" dirty="0">
                <a:solidFill>
                  <a:srgbClr val="0070C0"/>
                </a:solidFill>
              </a:rPr>
              <a:t>A </a:t>
            </a:r>
            <a:r>
              <a:rPr lang="en-US" sz="2000" b="1" i="1" dirty="0">
                <a:solidFill>
                  <a:srgbClr val="0070C0"/>
                </a:solidFill>
              </a:rPr>
              <a:t>natural monopoly</a:t>
            </a:r>
            <a:r>
              <a:rPr lang="en-US" sz="2000" b="1" dirty="0">
                <a:solidFill>
                  <a:srgbClr val="0070C0"/>
                </a:solidFill>
              </a:rPr>
              <a:t> arises when there are economies of </a:t>
            </a:r>
            <a:r>
              <a:rPr lang="en-US" sz="2000" b="1" dirty="0" smtClean="0">
                <a:solidFill>
                  <a:srgbClr val="0070C0"/>
                </a:solidFill>
              </a:rPr>
              <a:t>     scale over </a:t>
            </a:r>
            <a:r>
              <a:rPr lang="en-US" sz="2000" b="1" dirty="0">
                <a:solidFill>
                  <a:srgbClr val="0070C0"/>
                </a:solidFill>
              </a:rPr>
              <a:t>the relevant range of output.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6347713" cy="13208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</a:rPr>
              <a:t>Economies of Scale as a Cause of Monopoly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469524"/>
            <a:ext cx="7467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7543799" cy="132080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 smtClean="0">
                <a:solidFill>
                  <a:srgbClr val="00B0F0"/>
                </a:solidFill>
              </a:rPr>
              <a:t>PRODUCTION </a:t>
            </a:r>
            <a:r>
              <a:rPr lang="en-US" sz="3000" b="1" dirty="0">
                <a:solidFill>
                  <a:srgbClr val="00B0F0"/>
                </a:solidFill>
              </a:rPr>
              <a:t>AND </a:t>
            </a:r>
            <a:r>
              <a:rPr lang="en-US" sz="3000" b="1" dirty="0" smtClean="0">
                <a:solidFill>
                  <a:srgbClr val="00B0F0"/>
                </a:solidFill>
              </a:rPr>
              <a:t>PRICING DECISIONS</a:t>
            </a:r>
            <a:endParaRPr lang="en-US" sz="30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867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Monopoly versus Competition</a:t>
            </a:r>
          </a:p>
          <a:p>
            <a:pPr lvl="1"/>
            <a:r>
              <a:rPr lang="en-US" sz="2000" b="1" dirty="0">
                <a:solidFill>
                  <a:srgbClr val="C00000"/>
                </a:solidFill>
              </a:rPr>
              <a:t>Monopoly</a:t>
            </a:r>
            <a:endParaRPr lang="en-US" sz="2000" b="1" u="sng" dirty="0">
              <a:solidFill>
                <a:srgbClr val="C00000"/>
              </a:solidFill>
            </a:endParaRPr>
          </a:p>
          <a:p>
            <a:pPr lvl="2"/>
            <a:r>
              <a:rPr lang="en-US" sz="2000" dirty="0"/>
              <a:t>Single producer</a:t>
            </a:r>
          </a:p>
          <a:p>
            <a:pPr lvl="2"/>
            <a:r>
              <a:rPr lang="en-US" sz="2000" b="1" dirty="0">
                <a:solidFill>
                  <a:srgbClr val="0070C0"/>
                </a:solidFill>
              </a:rPr>
              <a:t>Faces a downward-sloping demand curve(P=AR)</a:t>
            </a:r>
          </a:p>
          <a:p>
            <a:pPr lvl="2"/>
            <a:r>
              <a:rPr lang="en-US" sz="2000" b="1" dirty="0">
                <a:solidFill>
                  <a:srgbClr val="0070C0"/>
                </a:solidFill>
              </a:rPr>
              <a:t>price maker</a:t>
            </a:r>
          </a:p>
          <a:p>
            <a:pPr lvl="2"/>
            <a:r>
              <a:rPr lang="en-US" sz="2000" dirty="0"/>
              <a:t>Reduces price to increase sales</a:t>
            </a:r>
          </a:p>
          <a:p>
            <a:pPr lvl="2"/>
            <a:r>
              <a:rPr lang="en-US" sz="2000" dirty="0">
                <a:latin typeface="Tahoma" pitchFamily="34" charset="0"/>
              </a:rPr>
              <a:t>Downward sloping Marginal curve and MR&lt;P</a:t>
            </a:r>
          </a:p>
          <a:p>
            <a:pPr lvl="1"/>
            <a:r>
              <a:rPr lang="en-US" sz="2000" b="1" dirty="0">
                <a:solidFill>
                  <a:srgbClr val="C00000"/>
                </a:solidFill>
              </a:rPr>
              <a:t>Competitive Firm</a:t>
            </a:r>
          </a:p>
          <a:p>
            <a:pPr lvl="2"/>
            <a:r>
              <a:rPr lang="en-US" sz="2000" dirty="0"/>
              <a:t>Many producers</a:t>
            </a:r>
          </a:p>
          <a:p>
            <a:pPr lvl="2"/>
            <a:r>
              <a:rPr lang="en-US" sz="2000" dirty="0"/>
              <a:t>Faces a horizontal demand curve, P=MR=AR</a:t>
            </a:r>
          </a:p>
          <a:p>
            <a:pPr lvl="2"/>
            <a:r>
              <a:rPr lang="en-US" sz="2000" dirty="0"/>
              <a:t>Price taker</a:t>
            </a:r>
          </a:p>
          <a:p>
            <a:pPr lvl="2"/>
            <a:r>
              <a:rPr lang="en-US" sz="2000" dirty="0"/>
              <a:t>Sells as much or as little at same price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</a:rPr>
              <a:t>Demand Curves for Competitive and Monopoly Firms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905000"/>
            <a:ext cx="86106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rgbClr val="00B0F0"/>
                </a:solidFill>
              </a:rPr>
              <a:t>A Monopoly’s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763000" cy="5715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Total </a:t>
            </a:r>
            <a:r>
              <a:rPr lang="en-US" dirty="0" smtClean="0"/>
              <a:t>Revenue          </a:t>
            </a:r>
            <a:r>
              <a:rPr lang="en-US" sz="2000" i="1" dirty="0" smtClean="0"/>
              <a:t>P </a:t>
            </a:r>
            <a:r>
              <a:rPr lang="en-US" sz="2000" dirty="0">
                <a:sym typeface="Symbol" pitchFamily="18" charset="2"/>
              </a:rPr>
              <a:t></a:t>
            </a:r>
            <a:r>
              <a:rPr lang="en-US" sz="2000" i="1" dirty="0"/>
              <a:t> Q = TR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Average Revenue     </a:t>
            </a:r>
            <a:r>
              <a:rPr lang="en-US" sz="2000" i="1" dirty="0"/>
              <a:t>TR/Q = AR = P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dirty="0" smtClean="0"/>
              <a:t>Marginal Revenue    </a:t>
            </a:r>
            <a:r>
              <a:rPr lang="en-US" sz="2000" dirty="0" smtClean="0">
                <a:latin typeface="Symbol" pitchFamily="18" charset="2"/>
              </a:rPr>
              <a:t>D</a:t>
            </a:r>
            <a:r>
              <a:rPr lang="en-US" sz="2000" i="1" dirty="0" smtClean="0"/>
              <a:t>TR/</a:t>
            </a:r>
            <a:r>
              <a:rPr lang="en-US" sz="2000" dirty="0" smtClean="0">
                <a:latin typeface="Symbol" pitchFamily="18" charset="2"/>
              </a:rPr>
              <a:t>D</a:t>
            </a:r>
            <a:r>
              <a:rPr lang="en-US" sz="2000" i="1" dirty="0" smtClean="0"/>
              <a:t>Q </a:t>
            </a:r>
            <a:r>
              <a:rPr lang="en-US" sz="2000" i="1" dirty="0"/>
              <a:t>= MR</a:t>
            </a:r>
          </a:p>
          <a:p>
            <a:r>
              <a:rPr lang="en-US" sz="2000" b="1" dirty="0" smtClean="0">
                <a:solidFill>
                  <a:srgbClr val="C00000"/>
                </a:solidFill>
              </a:rPr>
              <a:t>A </a:t>
            </a:r>
            <a:r>
              <a:rPr lang="en-US" sz="2000" b="1" dirty="0">
                <a:solidFill>
                  <a:srgbClr val="C00000"/>
                </a:solidFill>
              </a:rPr>
              <a:t>Monopoly’s Marginal Revenue</a:t>
            </a:r>
            <a:endParaRPr lang="en-US" sz="2000" b="1" dirty="0">
              <a:solidFill>
                <a:srgbClr val="C00000"/>
              </a:solidFill>
              <a:latin typeface="Tahoma" pitchFamily="34" charset="0"/>
            </a:endParaRP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A monopolist’s marginal revenue is always </a:t>
            </a:r>
            <a:r>
              <a:rPr lang="en-US" sz="1800" i="1" dirty="0">
                <a:solidFill>
                  <a:srgbClr val="0070C0"/>
                </a:solidFill>
              </a:rPr>
              <a:t>less than</a:t>
            </a:r>
            <a:r>
              <a:rPr lang="en-US" sz="1800" dirty="0">
                <a:solidFill>
                  <a:srgbClr val="0070C0"/>
                </a:solidFill>
              </a:rPr>
              <a:t> the price of its good.</a:t>
            </a:r>
          </a:p>
          <a:p>
            <a:pPr lvl="2"/>
            <a:r>
              <a:rPr lang="en-US" sz="1800" dirty="0">
                <a:solidFill>
                  <a:schemeClr val="accent4"/>
                </a:solidFill>
              </a:rPr>
              <a:t>The demand curve is downward sloping.</a:t>
            </a:r>
          </a:p>
          <a:p>
            <a:pPr lvl="2"/>
            <a:r>
              <a:rPr lang="en-US" sz="1800" dirty="0">
                <a:solidFill>
                  <a:schemeClr val="accent4"/>
                </a:solidFill>
              </a:rPr>
              <a:t>When a monopoly drops the price to sell one more unit, the revenue received from previously sold units also decreases.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A Monopoly’s Marginal Revenue</a:t>
            </a:r>
            <a:endParaRPr lang="en-US" sz="2000" b="1" dirty="0">
              <a:solidFill>
                <a:srgbClr val="C00000"/>
              </a:solidFill>
              <a:latin typeface="Tahoma" pitchFamily="34" charset="0"/>
            </a:endParaRPr>
          </a:p>
          <a:p>
            <a:pPr lvl="1"/>
            <a:r>
              <a:rPr lang="en-US" sz="1800" dirty="0"/>
              <a:t>When a monopoly increases the amount it sells, it has two effects </a:t>
            </a:r>
            <a:r>
              <a:rPr lang="en-US" sz="1800" dirty="0" smtClean="0"/>
              <a:t>             on </a:t>
            </a:r>
            <a:r>
              <a:rPr lang="en-US" sz="1800" dirty="0"/>
              <a:t>total revenue (</a:t>
            </a:r>
            <a:r>
              <a:rPr lang="en-US" sz="1800" i="1" dirty="0"/>
              <a:t>P</a:t>
            </a:r>
            <a:r>
              <a:rPr lang="en-US" sz="1800" dirty="0"/>
              <a:t> </a:t>
            </a:r>
            <a:r>
              <a:rPr lang="en-US" sz="1800" dirty="0">
                <a:sym typeface="Symbol" pitchFamily="18" charset="2"/>
              </a:rPr>
              <a:t></a:t>
            </a:r>
            <a:r>
              <a:rPr lang="en-US" sz="1800" dirty="0"/>
              <a:t> </a:t>
            </a:r>
            <a:r>
              <a:rPr lang="en-US" sz="1800" i="1" dirty="0"/>
              <a:t>Q</a:t>
            </a:r>
            <a:r>
              <a:rPr lang="en-US" sz="1800" dirty="0"/>
              <a:t>).</a:t>
            </a:r>
          </a:p>
          <a:p>
            <a:pPr lvl="2"/>
            <a:r>
              <a:rPr lang="en-US" sz="1800" dirty="0"/>
              <a:t>The output effect—more output is sold, so </a:t>
            </a:r>
            <a:r>
              <a:rPr lang="en-US" sz="1800" i="1" dirty="0"/>
              <a:t>Q</a:t>
            </a:r>
            <a:r>
              <a:rPr lang="en-US" sz="1800" dirty="0"/>
              <a:t> is higher.</a:t>
            </a:r>
          </a:p>
          <a:p>
            <a:pPr lvl="2"/>
            <a:r>
              <a:rPr lang="en-US" sz="1800" dirty="0"/>
              <a:t>The price effect—price falls, so </a:t>
            </a:r>
            <a:r>
              <a:rPr lang="en-US" sz="1800" i="1" dirty="0"/>
              <a:t>P</a:t>
            </a:r>
            <a:r>
              <a:rPr lang="en-US" sz="1800" dirty="0"/>
              <a:t> is lower.</a:t>
            </a:r>
          </a:p>
          <a:p>
            <a:pPr lvl="2">
              <a:buNone/>
            </a:pPr>
            <a:endParaRPr lang="en-US" dirty="0"/>
          </a:p>
          <a:p>
            <a:pPr algn="ctr">
              <a:buFontTx/>
              <a:buNone/>
            </a:pPr>
            <a:endParaRPr lang="en-US" i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85800" y="152400"/>
            <a:ext cx="70866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600" b="1" dirty="0">
                <a:solidFill>
                  <a:srgbClr val="00B0F0"/>
                </a:solidFill>
              </a:rPr>
              <a:t>A Monopoly’s Total, Average, </a:t>
            </a:r>
            <a:r>
              <a:rPr lang="en-US" altLang="en-US" sz="2600" b="1" dirty="0" smtClean="0">
                <a:solidFill>
                  <a:srgbClr val="00B0F0"/>
                </a:solidFill>
              </a:rPr>
              <a:t>and      Marginal </a:t>
            </a:r>
            <a:r>
              <a:rPr lang="en-US" altLang="en-US" sz="2600" b="1" dirty="0">
                <a:solidFill>
                  <a:srgbClr val="00B0F0"/>
                </a:solidFill>
              </a:rPr>
              <a:t>Revenue</a:t>
            </a:r>
            <a:endParaRPr lang="en-US" sz="2600" b="1" dirty="0">
              <a:solidFill>
                <a:srgbClr val="00B0F0"/>
              </a:solidFill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066800"/>
            <a:ext cx="8001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6347713" cy="13208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</a:rPr>
              <a:t>Demand and Marginal-Revenue Curves for a Monopoly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710704" y="1752600"/>
            <a:ext cx="6528295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6781800" cy="1490664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</a:rPr>
              <a:t>Profit Maximization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7543801" cy="5562600"/>
          </a:xfrm>
        </p:spPr>
        <p:txBody>
          <a:bodyPr>
            <a:normAutofit/>
          </a:bodyPr>
          <a:lstStyle/>
          <a:p>
            <a:r>
              <a:rPr lang="en-US" sz="2200" dirty="0"/>
              <a:t>A monopoly maximizes profit by producing the quantity </a:t>
            </a:r>
            <a:r>
              <a:rPr lang="en-US" sz="2200" dirty="0" smtClean="0"/>
              <a:t>      at </a:t>
            </a:r>
            <a:r>
              <a:rPr lang="en-US" sz="2200" dirty="0"/>
              <a:t>which marginal revenue equals marginal cost</a:t>
            </a:r>
            <a:r>
              <a:rPr lang="en-US" sz="2200" dirty="0" smtClean="0"/>
              <a:t>.</a:t>
            </a:r>
          </a:p>
          <a:p>
            <a:endParaRPr lang="en-US" sz="800" dirty="0"/>
          </a:p>
          <a:p>
            <a:r>
              <a:rPr lang="en-US" sz="2200" dirty="0"/>
              <a:t>It then uses the demand curve to find the price that will induce consumers to buy that quantity</a:t>
            </a:r>
            <a:r>
              <a:rPr lang="en-US" sz="2200" dirty="0" smtClean="0"/>
              <a:t>.</a:t>
            </a:r>
          </a:p>
          <a:p>
            <a:endParaRPr lang="en-US" sz="800" dirty="0"/>
          </a:p>
          <a:p>
            <a:r>
              <a:rPr lang="en-US" sz="2400" b="1" dirty="0">
                <a:solidFill>
                  <a:srgbClr val="C00000"/>
                </a:solidFill>
              </a:rPr>
              <a:t>Comparing Monopoly and Competition</a:t>
            </a:r>
            <a:r>
              <a:rPr lang="en-US" sz="2400" b="1" dirty="0">
                <a:solidFill>
                  <a:srgbClr val="C00000"/>
                </a:solidFill>
                <a:latin typeface="Tahoma" pitchFamily="34" charset="0"/>
              </a:rPr>
              <a:t> </a:t>
            </a:r>
          </a:p>
          <a:p>
            <a:pPr lvl="1"/>
            <a:r>
              <a:rPr lang="en-US" sz="2000" dirty="0"/>
              <a:t>For a competitive firm, price equals marginal </a:t>
            </a:r>
            <a:r>
              <a:rPr lang="en-US" sz="2000" dirty="0" smtClean="0"/>
              <a:t>cost.</a:t>
            </a:r>
          </a:p>
          <a:p>
            <a:pPr lvl="1" algn="ctr">
              <a:buFontTx/>
              <a:buNone/>
            </a:pPr>
            <a:r>
              <a:rPr lang="en-US" sz="2000" b="1" i="1" dirty="0" smtClean="0"/>
              <a:t>P = MR = MC</a:t>
            </a:r>
          </a:p>
          <a:p>
            <a:pPr lvl="1"/>
            <a:r>
              <a:rPr lang="en-US" sz="2000" dirty="0" smtClean="0"/>
              <a:t>For </a:t>
            </a:r>
            <a:r>
              <a:rPr lang="en-US" sz="2000" dirty="0"/>
              <a:t>a monopoly firm, price exceeds marginal cost.</a:t>
            </a:r>
          </a:p>
          <a:p>
            <a:pPr lvl="1" algn="ctr">
              <a:buFontTx/>
              <a:buNone/>
            </a:pPr>
            <a:r>
              <a:rPr lang="en-US" sz="2000" b="1" i="1" dirty="0">
                <a:solidFill>
                  <a:srgbClr val="0070C0"/>
                </a:solidFill>
              </a:rPr>
              <a:t>P &gt; MR = MC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6347713" cy="13208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</a:rPr>
              <a:t>Profit Maximization for a Monopoly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219200"/>
            <a:ext cx="80772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381000"/>
            <a:ext cx="6347713" cy="15494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</a:rPr>
              <a:t>A Monopoly’s Profit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371600"/>
            <a:ext cx="7162801" cy="4669763"/>
          </a:xfrm>
        </p:spPr>
        <p:txBody>
          <a:bodyPr/>
          <a:lstStyle/>
          <a:p>
            <a:r>
              <a:rPr lang="en-US" sz="2400" b="1" dirty="0">
                <a:solidFill>
                  <a:srgbClr val="C00000"/>
                </a:solidFill>
              </a:rPr>
              <a:t>Profit equals total revenue minus total costs</a:t>
            </a:r>
            <a:r>
              <a:rPr lang="en-US" sz="2400" b="1" dirty="0" smtClean="0">
                <a:solidFill>
                  <a:srgbClr val="C00000"/>
                </a:solidFill>
              </a:rPr>
              <a:t>.</a:t>
            </a:r>
          </a:p>
          <a:p>
            <a:endParaRPr lang="en-US" sz="400" b="1" dirty="0">
              <a:solidFill>
                <a:srgbClr val="C00000"/>
              </a:solidFill>
            </a:endParaRPr>
          </a:p>
          <a:p>
            <a:pPr lvl="1"/>
            <a:r>
              <a:rPr lang="en-US" sz="2200" dirty="0"/>
              <a:t>Profit = </a:t>
            </a:r>
            <a:r>
              <a:rPr lang="en-US" sz="2200" b="1" i="1" dirty="0"/>
              <a:t>TR</a:t>
            </a:r>
            <a:r>
              <a:rPr lang="en-US" sz="2200" b="1" dirty="0"/>
              <a:t> - </a:t>
            </a:r>
            <a:r>
              <a:rPr lang="en-US" sz="2200" b="1" i="1" dirty="0"/>
              <a:t>TC</a:t>
            </a:r>
            <a:endParaRPr lang="en-US" sz="2200" b="1" dirty="0"/>
          </a:p>
          <a:p>
            <a:pPr lvl="1"/>
            <a:r>
              <a:rPr lang="en-US" sz="2200" dirty="0"/>
              <a:t>Profit = </a:t>
            </a:r>
            <a:r>
              <a:rPr lang="en-US" sz="2200" b="1" dirty="0"/>
              <a:t>(</a:t>
            </a:r>
            <a:r>
              <a:rPr lang="en-US" sz="2200" b="1" i="1" dirty="0"/>
              <a:t>TR</a:t>
            </a:r>
            <a:r>
              <a:rPr lang="en-US" sz="2200" b="1" dirty="0"/>
              <a:t>/</a:t>
            </a:r>
            <a:r>
              <a:rPr lang="en-US" sz="2200" b="1" i="1" dirty="0"/>
              <a:t>Q</a:t>
            </a:r>
            <a:r>
              <a:rPr lang="en-US" sz="2200" b="1" dirty="0"/>
              <a:t> - </a:t>
            </a:r>
            <a:r>
              <a:rPr lang="en-US" sz="2200" b="1" i="1" dirty="0"/>
              <a:t>TC</a:t>
            </a:r>
            <a:r>
              <a:rPr lang="en-US" sz="2200" b="1" dirty="0"/>
              <a:t>/</a:t>
            </a:r>
            <a:r>
              <a:rPr lang="en-US" sz="2200" b="1" i="1" dirty="0"/>
              <a:t>Q</a:t>
            </a:r>
            <a:r>
              <a:rPr lang="en-US" sz="2200" b="1" dirty="0"/>
              <a:t>) </a:t>
            </a:r>
            <a:r>
              <a:rPr lang="en-US" sz="2200" b="1" dirty="0">
                <a:sym typeface="Symbol" pitchFamily="18" charset="2"/>
              </a:rPr>
              <a:t></a:t>
            </a:r>
            <a:r>
              <a:rPr lang="en-US" sz="2200" b="1" dirty="0"/>
              <a:t> </a:t>
            </a:r>
            <a:r>
              <a:rPr lang="en-US" sz="2200" b="1" i="1" dirty="0"/>
              <a:t>Q</a:t>
            </a:r>
            <a:endParaRPr lang="en-US" sz="2200" b="1" dirty="0"/>
          </a:p>
          <a:p>
            <a:pPr lvl="1"/>
            <a:r>
              <a:rPr lang="en-US" sz="2200" dirty="0"/>
              <a:t>Profit = </a:t>
            </a:r>
            <a:r>
              <a:rPr lang="en-US" sz="2200" b="1" dirty="0"/>
              <a:t>(</a:t>
            </a:r>
            <a:r>
              <a:rPr lang="en-US" sz="2200" b="1" i="1" dirty="0"/>
              <a:t>P</a:t>
            </a:r>
            <a:r>
              <a:rPr lang="en-US" sz="2200" b="1" dirty="0"/>
              <a:t> - </a:t>
            </a:r>
            <a:r>
              <a:rPr lang="en-US" sz="2200" b="1" i="1" dirty="0"/>
              <a:t>ATC</a:t>
            </a:r>
            <a:r>
              <a:rPr lang="en-US" sz="2200" b="1" dirty="0"/>
              <a:t>) </a:t>
            </a:r>
            <a:r>
              <a:rPr lang="en-US" sz="2200" b="1" dirty="0">
                <a:sym typeface="Symbol" pitchFamily="18" charset="2"/>
              </a:rPr>
              <a:t></a:t>
            </a:r>
            <a:r>
              <a:rPr lang="en-US" sz="2200" b="1" dirty="0"/>
              <a:t> </a:t>
            </a:r>
            <a:r>
              <a:rPr lang="en-US" sz="2200" b="1" i="1" dirty="0"/>
              <a:t>Q</a:t>
            </a:r>
            <a:r>
              <a:rPr lang="en-US" sz="2200" b="1" dirty="0"/>
              <a:t> </a:t>
            </a:r>
            <a:endParaRPr lang="en-US" sz="2200" b="1" dirty="0" smtClean="0"/>
          </a:p>
          <a:p>
            <a:pPr lvl="1"/>
            <a:endParaRPr lang="en-US" sz="800" b="1" dirty="0"/>
          </a:p>
          <a:p>
            <a:r>
              <a:rPr lang="en-US" sz="2400" dirty="0"/>
              <a:t>The monopolist will receive economic profits as long as price is greater than average total cost.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57200"/>
            <a:ext cx="6347713" cy="14732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</a:rPr>
              <a:t>The Monopolist’s Profit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295400"/>
            <a:ext cx="7772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6934199" cy="132080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B0F0"/>
                </a:solidFill>
              </a:rPr>
              <a:t>THE WELFARE COST OF MONOPOLY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524000"/>
            <a:ext cx="7315202" cy="4517363"/>
          </a:xfrm>
        </p:spPr>
        <p:txBody>
          <a:bodyPr/>
          <a:lstStyle/>
          <a:p>
            <a:r>
              <a:rPr lang="en-US" sz="2400" dirty="0"/>
              <a:t>In contrast to a competitive firm, the monopoly charges a price above the marginal cost.  </a:t>
            </a:r>
            <a:endParaRPr lang="en-US" sz="2400" dirty="0" smtClean="0"/>
          </a:p>
          <a:p>
            <a:endParaRPr lang="en-US" sz="800" dirty="0"/>
          </a:p>
          <a:p>
            <a:r>
              <a:rPr lang="en-US" sz="2400" dirty="0"/>
              <a:t>From the standpoint of consumers, this high price makes monopoly undesirable.  </a:t>
            </a:r>
            <a:endParaRPr lang="en-US" sz="2400" dirty="0" smtClean="0"/>
          </a:p>
          <a:p>
            <a:endParaRPr lang="en-US" sz="800" dirty="0"/>
          </a:p>
          <a:p>
            <a:r>
              <a:rPr lang="en-US" sz="2400" dirty="0"/>
              <a:t>However, from the standpoint of the owners of the firm, the high price makes monopoly very desirable.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6347713" cy="132080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B0F0"/>
                </a:solidFill>
              </a:rPr>
              <a:t>The Efficient Level of Output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990600"/>
            <a:ext cx="73914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6347713" cy="12446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</a:rPr>
              <a:t>The Deadweight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5715000"/>
          </a:xfrm>
        </p:spPr>
        <p:txBody>
          <a:bodyPr>
            <a:normAutofit/>
          </a:bodyPr>
          <a:lstStyle/>
          <a:p>
            <a:r>
              <a:rPr lang="en-US" sz="2000" dirty="0"/>
              <a:t>Because a monopoly sets its price above marginal cost, it </a:t>
            </a:r>
            <a:r>
              <a:rPr lang="en-US" sz="2000" dirty="0" smtClean="0"/>
              <a:t>     places </a:t>
            </a:r>
            <a:r>
              <a:rPr lang="en-US" sz="2000" dirty="0"/>
              <a:t>a wedge between the consumer’s willingness to pay </a:t>
            </a:r>
            <a:r>
              <a:rPr lang="en-US" sz="2000" dirty="0" smtClean="0"/>
              <a:t>       and </a:t>
            </a:r>
            <a:r>
              <a:rPr lang="en-US" sz="2000" dirty="0"/>
              <a:t>the producer’s cost.</a:t>
            </a:r>
          </a:p>
          <a:p>
            <a:pPr lvl="1"/>
            <a:r>
              <a:rPr lang="en-US" sz="2000" dirty="0"/>
              <a:t>This wedge causes the quantity sold to fall short of the </a:t>
            </a:r>
            <a:r>
              <a:rPr lang="en-US" sz="2000" dirty="0" smtClean="0"/>
              <a:t>     social </a:t>
            </a:r>
            <a:r>
              <a:rPr lang="en-US" sz="2000" dirty="0"/>
              <a:t>optimum.</a:t>
            </a:r>
          </a:p>
          <a:p>
            <a:r>
              <a:rPr lang="en-US" sz="2000" dirty="0"/>
              <a:t>The Inefficiency of Monopoly</a:t>
            </a:r>
            <a:endParaRPr lang="en-US" sz="2000" dirty="0">
              <a:latin typeface="Tahoma" pitchFamily="34" charset="0"/>
            </a:endParaRPr>
          </a:p>
          <a:p>
            <a:pPr lvl="1"/>
            <a:r>
              <a:rPr lang="en-US" sz="2000" dirty="0"/>
              <a:t>The monopolist produces </a:t>
            </a:r>
            <a:r>
              <a:rPr lang="en-US" sz="2000" i="1" dirty="0"/>
              <a:t>less than</a:t>
            </a:r>
            <a:r>
              <a:rPr lang="en-US" sz="2000" dirty="0"/>
              <a:t> the socially efficient quantity of output.</a:t>
            </a:r>
          </a:p>
          <a:p>
            <a:r>
              <a:rPr lang="en-US" sz="2000" dirty="0"/>
              <a:t>The deadweight loss caused by a monopoly is similar to the deadweight loss caused by a tax.</a:t>
            </a:r>
          </a:p>
          <a:p>
            <a:r>
              <a:rPr lang="en-US" sz="2000" dirty="0"/>
              <a:t>The difference between the two cases is that the government </a:t>
            </a:r>
            <a:r>
              <a:rPr lang="en-US" sz="2000" dirty="0" smtClean="0"/>
              <a:t>  gets </a:t>
            </a:r>
            <a:r>
              <a:rPr lang="en-US" sz="2000" dirty="0"/>
              <a:t>the revenue from a tax, whereas a private firm gets the monopoly profit.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347713" cy="1244600"/>
          </a:xfrm>
        </p:spPr>
        <p:txBody>
          <a:bodyPr>
            <a:normAutofit/>
          </a:bodyPr>
          <a:lstStyle/>
          <a:p>
            <a:pPr algn="ctr"/>
            <a:r>
              <a:rPr lang="en-US" sz="3400" b="1" dirty="0" smtClean="0">
                <a:solidFill>
                  <a:srgbClr val="00B0F0"/>
                </a:solidFill>
              </a:rPr>
              <a:t>The Inefficiency of Monopoly</a:t>
            </a:r>
            <a:endParaRPr lang="en-US" sz="3400" b="1" dirty="0">
              <a:solidFill>
                <a:srgbClr val="00B0F0"/>
              </a:solidFill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143000"/>
            <a:ext cx="76200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7251509" cy="132080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</a:rPr>
              <a:t>PUBLIC POLICY TOWARD MONOPOLIES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09600"/>
            <a:ext cx="8382000" cy="601980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2000" b="1" dirty="0"/>
              <a:t>Government responds to the problem of monopoly in </a:t>
            </a:r>
            <a:r>
              <a:rPr lang="en-US" sz="2000" b="1" dirty="0" smtClean="0"/>
              <a:t>              one </a:t>
            </a:r>
            <a:r>
              <a:rPr lang="en-US" sz="2000" b="1" dirty="0"/>
              <a:t>of four ways.</a:t>
            </a:r>
          </a:p>
          <a:p>
            <a:pPr lvl="1"/>
            <a:r>
              <a:rPr lang="en-US" sz="2000" dirty="0"/>
              <a:t>Making monopolized industries more competitive.</a:t>
            </a:r>
          </a:p>
          <a:p>
            <a:pPr lvl="1"/>
            <a:r>
              <a:rPr lang="en-US" sz="2000" dirty="0"/>
              <a:t>Regulating the behavior of monopolies.</a:t>
            </a:r>
          </a:p>
          <a:p>
            <a:pPr lvl="1"/>
            <a:r>
              <a:rPr lang="en-US" sz="2000" dirty="0"/>
              <a:t>Turning some private monopolies into public enterprises.</a:t>
            </a:r>
          </a:p>
          <a:p>
            <a:pPr lvl="1"/>
            <a:r>
              <a:rPr lang="en-US" sz="2000" dirty="0"/>
              <a:t>Doing nothing at all.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Increasing Competition with Antitrust Laws: </a:t>
            </a:r>
            <a:r>
              <a:rPr lang="en-US" sz="2000" b="1" dirty="0"/>
              <a:t>Antitrust laws are </a:t>
            </a:r>
            <a:r>
              <a:rPr lang="en-US" sz="2000" b="1" dirty="0" smtClean="0"/>
              <a:t>         a </a:t>
            </a:r>
            <a:r>
              <a:rPr lang="en-US" sz="2000" b="1" dirty="0"/>
              <a:t>collection of statutes aimed at curbing monopoly power.</a:t>
            </a:r>
          </a:p>
          <a:p>
            <a:r>
              <a:rPr lang="en-US" b="1" dirty="0"/>
              <a:t>Antitrust laws give government various ways to promote competition.</a:t>
            </a:r>
          </a:p>
          <a:p>
            <a:pPr lvl="1"/>
            <a:r>
              <a:rPr lang="en-US" sz="2000" dirty="0"/>
              <a:t>They allow government to prevent mergers.</a:t>
            </a:r>
          </a:p>
          <a:p>
            <a:pPr lvl="1"/>
            <a:r>
              <a:rPr lang="en-US" sz="2000" dirty="0"/>
              <a:t>They allow government to break up companies.</a:t>
            </a:r>
          </a:p>
          <a:p>
            <a:pPr lvl="1"/>
            <a:r>
              <a:rPr lang="en-US" sz="2000" dirty="0"/>
              <a:t>They prevent companies from performing activities that make </a:t>
            </a:r>
            <a:r>
              <a:rPr lang="en-US" sz="2000" dirty="0" smtClean="0"/>
              <a:t>    markets </a:t>
            </a:r>
            <a:r>
              <a:rPr lang="en-US" sz="2000" dirty="0"/>
              <a:t>less competitive.</a:t>
            </a:r>
          </a:p>
          <a:p>
            <a:pPr lvl="1">
              <a:buNone/>
            </a:pP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553200" cy="84388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000" b="1" dirty="0">
                <a:solidFill>
                  <a:srgbClr val="00B0F0"/>
                </a:solidFill>
              </a:rPr>
              <a:t>PUBLIC POLICY TOWARD MONOPOLIES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7912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Regulation</a:t>
            </a:r>
            <a:r>
              <a:rPr lang="en-US" sz="2400" b="1" dirty="0">
                <a:solidFill>
                  <a:srgbClr val="C00000"/>
                </a:solidFill>
              </a:rPr>
              <a:t>: </a:t>
            </a:r>
          </a:p>
          <a:p>
            <a:r>
              <a:rPr lang="en-US" sz="2000" dirty="0"/>
              <a:t>Government may regulate the prices that the monopoly charges.</a:t>
            </a:r>
          </a:p>
          <a:p>
            <a:pPr lvl="1"/>
            <a:r>
              <a:rPr lang="en-US" sz="2000" dirty="0"/>
              <a:t>The allocation of resources will be efficient if price is set </a:t>
            </a:r>
            <a:r>
              <a:rPr lang="en-US" sz="2000" dirty="0" smtClean="0"/>
              <a:t>             to </a:t>
            </a:r>
            <a:r>
              <a:rPr lang="en-US" sz="2000" dirty="0"/>
              <a:t>equal marginal cost</a:t>
            </a:r>
            <a:r>
              <a:rPr lang="en-US" sz="2000" dirty="0" smtClean="0"/>
              <a:t>.</a:t>
            </a:r>
          </a:p>
          <a:p>
            <a:pPr lvl="1"/>
            <a:endParaRPr lang="en-US" sz="200" dirty="0"/>
          </a:p>
          <a:p>
            <a:r>
              <a:rPr lang="en-US" sz="2000" dirty="0"/>
              <a:t>In practice, regulators will allow monopolists to keep some of </a:t>
            </a:r>
            <a:r>
              <a:rPr lang="en-US" sz="2000" dirty="0" smtClean="0"/>
              <a:t>          the </a:t>
            </a:r>
            <a:r>
              <a:rPr lang="en-US" sz="2000" dirty="0"/>
              <a:t>benefits from lower costs in the form of higher profit, a </a:t>
            </a:r>
            <a:r>
              <a:rPr lang="en-US" sz="2000" dirty="0" smtClean="0"/>
              <a:t>       practice </a:t>
            </a:r>
            <a:r>
              <a:rPr lang="en-US" sz="2000" dirty="0"/>
              <a:t>that requires some departure from marginal-cost pricing</a:t>
            </a:r>
            <a:r>
              <a:rPr lang="en-US" sz="2000" dirty="0" smtClean="0"/>
              <a:t>.</a:t>
            </a:r>
          </a:p>
          <a:p>
            <a:endParaRPr lang="en-US" sz="400" dirty="0"/>
          </a:p>
          <a:p>
            <a:r>
              <a:rPr lang="en-US" sz="2000" dirty="0">
                <a:solidFill>
                  <a:schemeClr val="tx1"/>
                </a:solidFill>
              </a:rPr>
              <a:t>Public Ownership: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Rather than regulating a </a:t>
            </a:r>
            <a:r>
              <a:rPr lang="en-US" sz="2000" i="1" dirty="0"/>
              <a:t>natural monopoly</a:t>
            </a:r>
            <a:r>
              <a:rPr lang="en-US" sz="2000" dirty="0"/>
              <a:t> </a:t>
            </a:r>
            <a:r>
              <a:rPr lang="en-US" sz="2000" dirty="0" smtClean="0"/>
              <a:t>         that </a:t>
            </a:r>
            <a:r>
              <a:rPr lang="en-US" sz="2000" dirty="0"/>
              <a:t>is run by a private firm, the government can run the monopoly itself (e.g. in the United States, the government runs the Postal Service</a:t>
            </a:r>
            <a:r>
              <a:rPr lang="en-US" sz="2000" dirty="0" smtClean="0"/>
              <a:t>).</a:t>
            </a:r>
          </a:p>
          <a:p>
            <a:endParaRPr lang="en-US" sz="200" dirty="0"/>
          </a:p>
          <a:p>
            <a:r>
              <a:rPr lang="en-US" sz="2000" dirty="0">
                <a:solidFill>
                  <a:schemeClr val="tx1"/>
                </a:solidFill>
              </a:rPr>
              <a:t>Doing Nothing: </a:t>
            </a:r>
            <a:r>
              <a:rPr lang="en-US" sz="2000" dirty="0"/>
              <a:t>Government can do nothing at all if the market </a:t>
            </a:r>
            <a:r>
              <a:rPr lang="en-US" sz="2000" dirty="0" smtClean="0"/>
              <a:t>    failure </a:t>
            </a:r>
            <a:r>
              <a:rPr lang="en-US" sz="2000" dirty="0"/>
              <a:t>is deemed small compared to the imperfections of public policies.</a:t>
            </a:r>
          </a:p>
          <a:p>
            <a:endParaRPr lang="en-US" sz="4000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6347713" cy="132080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B0F0"/>
                </a:solidFill>
              </a:rPr>
              <a:t>PRICE DISCRIMINATION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638800"/>
          </a:xfrm>
        </p:spPr>
        <p:txBody>
          <a:bodyPr>
            <a:normAutofit/>
          </a:bodyPr>
          <a:lstStyle/>
          <a:p>
            <a:r>
              <a:rPr lang="en-US" sz="2000" b="1" i="1" dirty="0">
                <a:solidFill>
                  <a:srgbClr val="C00000"/>
                </a:solidFill>
              </a:rPr>
              <a:t>Price discrimination </a:t>
            </a:r>
            <a:r>
              <a:rPr lang="en-US" dirty="0"/>
              <a:t>is the business practice of selling the same </a:t>
            </a:r>
            <a:r>
              <a:rPr lang="en-US" dirty="0" smtClean="0"/>
              <a:t>    good </a:t>
            </a:r>
            <a:r>
              <a:rPr lang="en-US" dirty="0"/>
              <a:t>at different prices to different customers, even though the </a:t>
            </a:r>
            <a:r>
              <a:rPr lang="en-US" dirty="0" smtClean="0"/>
              <a:t>        costs </a:t>
            </a:r>
            <a:r>
              <a:rPr lang="en-US" dirty="0"/>
              <a:t>for producing for the two customers are the same.  </a:t>
            </a:r>
          </a:p>
          <a:p>
            <a:r>
              <a:rPr lang="en-US" dirty="0"/>
              <a:t>Price discrimination is not possible when a good is sold in a competitive market since there are many firms all selling at the market price.  In order to price discriminate, the firm must have some </a:t>
            </a:r>
            <a:r>
              <a:rPr lang="en-US" i="1" dirty="0"/>
              <a:t>market power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2"/>
                </a:solidFill>
              </a:rPr>
              <a:t>1</a:t>
            </a:r>
            <a:r>
              <a:rPr lang="en-US" b="1" dirty="0" smtClean="0">
                <a:solidFill>
                  <a:schemeClr val="accent2"/>
                </a:solidFill>
              </a:rPr>
              <a:t>) Perfect </a:t>
            </a:r>
            <a:r>
              <a:rPr lang="en-US" b="1" dirty="0">
                <a:solidFill>
                  <a:schemeClr val="accent2"/>
                </a:solidFill>
              </a:rPr>
              <a:t>Price Discrimination/First Degree Price Discrimination:</a:t>
            </a:r>
            <a:endParaRPr lang="en-US" b="1" dirty="0">
              <a:solidFill>
                <a:schemeClr val="accent2"/>
              </a:solidFill>
              <a:latin typeface="Tahoma" pitchFamily="34" charset="0"/>
            </a:endParaRPr>
          </a:p>
          <a:p>
            <a:pPr lvl="1"/>
            <a:r>
              <a:rPr lang="en-US" sz="1800" dirty="0"/>
              <a:t>Perfect price discrimination refers to the situation when the monopolist knows exactly the willingness to pay of each customer </a:t>
            </a:r>
            <a:r>
              <a:rPr lang="en-US" sz="1800" dirty="0" smtClean="0"/>
              <a:t>   and </a:t>
            </a:r>
            <a:r>
              <a:rPr lang="en-US" sz="1800" dirty="0"/>
              <a:t>can charge each customer a different price.</a:t>
            </a:r>
          </a:p>
          <a:p>
            <a:r>
              <a:rPr lang="en-US" dirty="0"/>
              <a:t>Two important effects of price discrimination:</a:t>
            </a:r>
          </a:p>
          <a:p>
            <a:pPr lvl="1"/>
            <a:r>
              <a:rPr lang="en-US" sz="1800" dirty="0"/>
              <a:t>It can increase the monopolist’s profits by the amount of consumer Surplus. So, Market surplus=Producer Surplus + Consumer Surplus</a:t>
            </a:r>
          </a:p>
          <a:p>
            <a:pPr lvl="1"/>
            <a:r>
              <a:rPr lang="en-US" sz="1800" dirty="0"/>
              <a:t>No dead weight loss.</a:t>
            </a:r>
          </a:p>
          <a:p>
            <a:r>
              <a:rPr lang="en-US" dirty="0"/>
              <a:t>Examples of Price Discrimination</a:t>
            </a:r>
            <a:r>
              <a:rPr lang="en-US" dirty="0">
                <a:latin typeface="Tahoma" pitchFamily="34" charset="0"/>
              </a:rPr>
              <a:t>: </a:t>
            </a:r>
            <a:r>
              <a:rPr lang="en-US" dirty="0"/>
              <a:t>Movie tickets, Airline prices, Discount coupons, Financial aid, Quantity discounts, Patient discount.</a:t>
            </a:r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347713" cy="9144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</a:rPr>
              <a:t>Price Discrimination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066800"/>
            <a:ext cx="7391402" cy="54864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2) Second Degree Price Discrimination/Product Versioning:</a:t>
            </a:r>
          </a:p>
          <a:p>
            <a:r>
              <a:rPr lang="en-US" sz="2000" dirty="0"/>
              <a:t>when a company charges a different price for different quantities consumed, such as quantity discounts on bulk purchases.</a:t>
            </a:r>
          </a:p>
          <a:p>
            <a:r>
              <a:rPr lang="en-US" sz="2000" dirty="0"/>
              <a:t>Example: Buy 4 get 1/ Bulk discount.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3) Third Degree Price Discrimination/Group Pricing:</a:t>
            </a:r>
          </a:p>
          <a:p>
            <a:r>
              <a:rPr lang="en-US" sz="2000" dirty="0"/>
              <a:t>when a company charges a different price to different consumer groups. For example, moviegoers may be subdivided into seniors, adults and children, each paying a different price when seeing the same movie at one theater.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Example: Student Discount, Senior citizen Discount, Children Discount, Discount for disabled persons.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818</TotalTime>
  <Words>1238</Words>
  <Application>Microsoft Office PowerPoint</Application>
  <PresentationFormat>On-screen Show (4:3)</PresentationFormat>
  <Paragraphs>152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Facet</vt:lpstr>
      <vt:lpstr> Monopoly</vt:lpstr>
      <vt:lpstr>Monopoly- Imperfect Market</vt:lpstr>
      <vt:lpstr>WHY MONOPOLIES ARISE?</vt:lpstr>
      <vt:lpstr>Economies of Scale as a Cause of Monopoly</vt:lpstr>
      <vt:lpstr>PRODUCTION AND PRICING DECISIONS</vt:lpstr>
      <vt:lpstr>Demand Curves for Competitive and Monopoly Firms</vt:lpstr>
      <vt:lpstr>A Monopoly’s Revenue</vt:lpstr>
      <vt:lpstr>PowerPoint Presentation</vt:lpstr>
      <vt:lpstr>Demand and Marginal-Revenue Curves for a Monopoly</vt:lpstr>
      <vt:lpstr>Profit Maximization</vt:lpstr>
      <vt:lpstr>Profit Maximization for a Monopoly</vt:lpstr>
      <vt:lpstr>A Monopoly’s Profit</vt:lpstr>
      <vt:lpstr>The Monopolist’s Profit</vt:lpstr>
      <vt:lpstr>THE WELFARE COST OF MONOPOLY</vt:lpstr>
      <vt:lpstr>The Efficient Level of Output</vt:lpstr>
      <vt:lpstr>The Deadweight Loss</vt:lpstr>
      <vt:lpstr>The Inefficiency of Monopoly</vt:lpstr>
      <vt:lpstr>PUBLIC POLICY TOWARD MONOPOLIES</vt:lpstr>
      <vt:lpstr>PUBLIC POLICY TOWARD MONOPOLIES</vt:lpstr>
      <vt:lpstr>PRICE DISCRIMINATION</vt:lpstr>
      <vt:lpstr>Price Discrimination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 1301: Microeconomics</dc:title>
  <dc:creator>Yealid (Nizad)</dc:creator>
  <cp:lastModifiedBy>Dr. Mohammad Akhtaruzzaman</cp:lastModifiedBy>
  <cp:revision>69</cp:revision>
  <dcterms:created xsi:type="dcterms:W3CDTF">2006-08-16T00:00:00Z</dcterms:created>
  <dcterms:modified xsi:type="dcterms:W3CDTF">2025-10-09T07:51:22Z</dcterms:modified>
</cp:coreProperties>
</file>