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4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88" r:id="rId3"/>
    <p:sldId id="257" r:id="rId4"/>
    <p:sldId id="258" r:id="rId5"/>
    <p:sldId id="259" r:id="rId6"/>
    <p:sldId id="322" r:id="rId7"/>
    <p:sldId id="264" r:id="rId8"/>
    <p:sldId id="307" r:id="rId9"/>
    <p:sldId id="310" r:id="rId10"/>
    <p:sldId id="265" r:id="rId11"/>
    <p:sldId id="324" r:id="rId12"/>
    <p:sldId id="325" r:id="rId13"/>
    <p:sldId id="266" r:id="rId14"/>
    <p:sldId id="270" r:id="rId15"/>
    <p:sldId id="271" r:id="rId16"/>
    <p:sldId id="272" r:id="rId17"/>
    <p:sldId id="326" r:id="rId18"/>
    <p:sldId id="328" r:id="rId19"/>
    <p:sldId id="329" r:id="rId20"/>
    <p:sldId id="330" r:id="rId21"/>
    <p:sldId id="331" r:id="rId22"/>
    <p:sldId id="332" r:id="rId23"/>
    <p:sldId id="333" r:id="rId24"/>
    <p:sldId id="334" r:id="rId25"/>
    <p:sldId id="335" r:id="rId26"/>
    <p:sldId id="336" r:id="rId27"/>
    <p:sldId id="337" r:id="rId28"/>
    <p:sldId id="338" r:id="rId29"/>
    <p:sldId id="339" r:id="rId30"/>
    <p:sldId id="341" r:id="rId31"/>
    <p:sldId id="343" r:id="rId33"/>
    <p:sldId id="344" r:id="rId34"/>
    <p:sldId id="321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8000"/>
    <a:srgbClr val="FF8040"/>
    <a:srgbClr val="1D41D5"/>
    <a:srgbClr val="074173"/>
    <a:srgbClr val="C5FF95"/>
    <a:srgbClr val="00FF9C"/>
    <a:srgbClr val="B2EC0A"/>
    <a:srgbClr val="28A745"/>
    <a:srgbClr val="FF7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C320EB-5352-40AA-A0A9-C13066E1373C}" type="doc">
      <dgm:prSet loTypeId="urn:microsoft.com/office/officeart/2005/8/layout/list1" loCatId="list" qsTypeId="urn:microsoft.com/office/officeart/2005/8/quickstyle/simple3" qsCatId="simple" csTypeId="urn:microsoft.com/office/officeart/2005/8/colors/colorful4" csCatId="accent1" phldr="1"/>
      <dgm:spPr/>
      <dgm:t>
        <a:bodyPr/>
        <a:p>
          <a:endParaRPr lang="en-US"/>
        </a:p>
      </dgm:t>
    </dgm:pt>
    <dgm:pt modelId="{773C5012-55F9-436E-B78B-2A38D8AAA0C0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>
              <a:latin typeface="Calibri" panose="020F0502020204030204" charset="0"/>
              <a:ea typeface="Oswald"/>
              <a:cs typeface="Calibri" panose="020F0502020204030204" charset="0"/>
              <a:sym typeface="Oswald"/>
            </a:rPr>
            <a:t>1. </a:t>
          </a:r>
          <a:r>
            <a:rPr lang="en-US" b="1">
              <a:latin typeface="Calibri" panose="020F0502020204030204" charset="0"/>
              <a:ea typeface="Oswald"/>
              <a:cs typeface="Calibri" panose="020F0502020204030204" charset="0"/>
              <a:sym typeface="Oswald"/>
            </a:rPr>
            <a:t>Hierarchical </a:t>
          </a:r>
          <a:r>
            <a:rPr lang="en-US" b="1">
              <a:solidFill>
                <a:schemeClr val="tx1"/>
              </a:solidFill>
              <a:effectLst/>
              <a:sym typeface="+mn-ea"/>
            </a:rPr>
            <a:t>Organogram</a:t>
          </a:r>
          <a:r>
            <a:rPr lang="en-US" b="1">
              <a:latin typeface="Calibri" panose="020F0502020204030204" charset="0"/>
              <a:ea typeface="Oswald"/>
              <a:cs typeface="Calibri" panose="020F0502020204030204" charset="0"/>
              <a:sym typeface="Oswald"/>
            </a:rPr>
            <a:t/>
          </a:r>
          <a:endParaRPr lang="en-US" b="1">
            <a:latin typeface="Calibri" panose="020F0502020204030204" charset="0"/>
            <a:ea typeface="Oswald"/>
            <a:cs typeface="Calibri" panose="020F0502020204030204" charset="0"/>
            <a:sym typeface="Oswald"/>
          </a:endParaRPr>
        </a:p>
      </dgm:t>
    </dgm:pt>
    <dgm:pt modelId="{E1399106-9BE2-43F4-9430-F473CB36780F}" cxnId="{7C2D492E-3654-4F6E-AC7D-65F7F76C15D5}" type="parTrans">
      <dgm:prSet/>
      <dgm:spPr/>
      <dgm:t>
        <a:bodyPr/>
        <a:p>
          <a:endParaRPr lang="en-US"/>
        </a:p>
      </dgm:t>
    </dgm:pt>
    <dgm:pt modelId="{507A6FE3-4D55-4ED6-A973-429D64C5DF28}" cxnId="{7C2D492E-3654-4F6E-AC7D-65F7F76C15D5}" type="sibTrans">
      <dgm:prSet/>
      <dgm:spPr/>
      <dgm:t>
        <a:bodyPr/>
        <a:p>
          <a:endParaRPr lang="en-US"/>
        </a:p>
      </dgm:t>
    </dgm:pt>
    <dgm:pt modelId="{CA58FE74-4619-4E47-BA6C-E0CD35AF5AC2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>
              <a:latin typeface="Calibri" panose="020F0502020204030204" charset="0"/>
              <a:ea typeface="Oswald"/>
              <a:cs typeface="Calibri" panose="020F0502020204030204" charset="0"/>
              <a:sym typeface="Oswald"/>
            </a:rPr>
            <a:t>2. </a:t>
          </a:r>
          <a:r>
            <a:rPr lang="en-US" b="1">
              <a:latin typeface="Calibri" panose="020F0502020204030204" charset="0"/>
              <a:ea typeface="Oswald"/>
              <a:cs typeface="Calibri" panose="020F0502020204030204" charset="0"/>
              <a:sym typeface="Oswald"/>
            </a:rPr>
            <a:t>Flat </a:t>
          </a:r>
          <a:r>
            <a:rPr lang="en-US" b="1">
              <a:solidFill>
                <a:schemeClr val="tx1"/>
              </a:solidFill>
              <a:effectLst/>
              <a:sym typeface="+mn-ea"/>
            </a:rPr>
            <a:t>Organogram</a:t>
          </a:r>
          <a:r>
            <a:rPr lang="en-US" b="1">
              <a:latin typeface="Calibri" panose="020F0502020204030204" charset="0"/>
              <a:ea typeface="Oswald"/>
              <a:cs typeface="Calibri" panose="020F0502020204030204" charset="0"/>
              <a:sym typeface="Oswald"/>
            </a:rPr>
            <a:t/>
          </a:r>
          <a:endParaRPr lang="en-US" b="1">
            <a:latin typeface="Calibri" panose="020F0502020204030204" charset="0"/>
            <a:ea typeface="Oswald"/>
            <a:cs typeface="Calibri" panose="020F0502020204030204" charset="0"/>
            <a:sym typeface="Oswald"/>
          </a:endParaRPr>
        </a:p>
      </dgm:t>
    </dgm:pt>
    <dgm:pt modelId="{EBAD4DA7-135F-4F4E-9475-804E7DC205D2}" cxnId="{3BEE1260-CB7D-4655-8585-0C7132095C4E}" type="parTrans">
      <dgm:prSet/>
      <dgm:spPr/>
      <dgm:t>
        <a:bodyPr/>
        <a:p>
          <a:endParaRPr lang="en-US"/>
        </a:p>
      </dgm:t>
    </dgm:pt>
    <dgm:pt modelId="{5723A07A-E737-45B0-B84E-97FB4DE86580}" cxnId="{3BEE1260-CB7D-4655-8585-0C7132095C4E}" type="sibTrans">
      <dgm:prSet/>
      <dgm:spPr/>
      <dgm:t>
        <a:bodyPr/>
        <a:p>
          <a:endParaRPr lang="en-US"/>
        </a:p>
      </dgm:t>
    </dgm:pt>
    <dgm:pt modelId="{D3284563-CEAB-43B3-81C4-5F6C081CBB78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>
              <a:latin typeface="Calibri" panose="020F0502020204030204" charset="0"/>
              <a:ea typeface="Oswald"/>
              <a:cs typeface="Calibri" panose="020F0502020204030204" charset="0"/>
              <a:sym typeface="Oswald"/>
            </a:rPr>
            <a:t>3. </a:t>
          </a:r>
          <a:r>
            <a:rPr lang="en-US" b="1">
              <a:latin typeface="Calibri" panose="020F0502020204030204" charset="0"/>
              <a:ea typeface="Oswald"/>
              <a:cs typeface="Calibri" panose="020F0502020204030204" charset="0"/>
              <a:sym typeface="Oswald"/>
            </a:rPr>
            <a:t>Matrix </a:t>
          </a:r>
          <a:r>
            <a:rPr lang="en-US" b="1">
              <a:solidFill>
                <a:schemeClr val="tx1"/>
              </a:solidFill>
              <a:effectLst/>
              <a:sym typeface="+mn-ea"/>
            </a:rPr>
            <a:t>Organogram</a:t>
          </a:r>
          <a:r>
            <a:rPr lang="en-US" b="1">
              <a:latin typeface="Calibri" panose="020F0502020204030204" charset="0"/>
              <a:ea typeface="Oswald"/>
              <a:cs typeface="Calibri" panose="020F0502020204030204" charset="0"/>
              <a:sym typeface="Oswald"/>
            </a:rPr>
            <a:t/>
          </a:r>
          <a:endParaRPr lang="en-US" b="1">
            <a:latin typeface="Calibri" panose="020F0502020204030204" charset="0"/>
            <a:ea typeface="Oswald"/>
            <a:cs typeface="Calibri" panose="020F0502020204030204" charset="0"/>
            <a:sym typeface="Oswald"/>
          </a:endParaRPr>
        </a:p>
      </dgm:t>
    </dgm:pt>
    <dgm:pt modelId="{A2E240DA-ABFA-4A24-BE34-ABE926603D67}" cxnId="{8061B686-0EC0-475B-B965-A702013018CF}" type="parTrans">
      <dgm:prSet/>
      <dgm:spPr/>
      <dgm:t>
        <a:bodyPr/>
        <a:p>
          <a:endParaRPr lang="en-US"/>
        </a:p>
      </dgm:t>
    </dgm:pt>
    <dgm:pt modelId="{2E43EE94-FE21-4F90-81B3-CED5B1ECC8C9}" cxnId="{8061B686-0EC0-475B-B965-A702013018CF}" type="sibTrans">
      <dgm:prSet/>
      <dgm:spPr/>
      <dgm:t>
        <a:bodyPr/>
        <a:p>
          <a:endParaRPr lang="en-US"/>
        </a:p>
      </dgm:t>
    </dgm:pt>
    <dgm:pt modelId="{701FD236-76AD-4A73-A4EF-37E4260B1C1D}" type="pres">
      <dgm:prSet presAssocID="{26C320EB-5352-40AA-A0A9-C13066E1373C}" presName="linear" presStyleCnt="0">
        <dgm:presLayoutVars>
          <dgm:dir/>
          <dgm:animLvl val="lvl"/>
          <dgm:resizeHandles val="exact"/>
        </dgm:presLayoutVars>
      </dgm:prSet>
      <dgm:spPr/>
    </dgm:pt>
    <dgm:pt modelId="{AEF300B7-F97A-4946-9443-79986B28F736}" type="pres">
      <dgm:prSet presAssocID="{773C5012-55F9-436E-B78B-2A38D8AAA0C0}" presName="parentLin" presStyleCnt="0"/>
      <dgm:spPr/>
    </dgm:pt>
    <dgm:pt modelId="{B1EE3700-53D8-4645-81E4-82A7234DE1F5}" type="pres">
      <dgm:prSet presAssocID="{773C5012-55F9-436E-B78B-2A38D8AAA0C0}" presName="parentLeftMargin" presStyleCnt="0"/>
      <dgm:spPr/>
    </dgm:pt>
    <dgm:pt modelId="{AC5CC9D1-0B9E-4212-97E5-8104BC6F404E}" type="pres">
      <dgm:prSet presAssocID="{773C5012-55F9-436E-B78B-2A38D8AAA0C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38EAB07-5F57-45F3-9078-07B35E9E88C6}" type="pres">
      <dgm:prSet presAssocID="{773C5012-55F9-436E-B78B-2A38D8AAA0C0}" presName="negativeSpace" presStyleCnt="0"/>
      <dgm:spPr/>
    </dgm:pt>
    <dgm:pt modelId="{7BA97AA2-AB0F-4D22-BB13-C069DAC3AE85}" type="pres">
      <dgm:prSet presAssocID="{773C5012-55F9-436E-B78B-2A38D8AAA0C0}" presName="childText" presStyleLbl="conFgAcc1" presStyleIdx="0" presStyleCnt="3">
        <dgm:presLayoutVars>
          <dgm:bulletEnabled val="1"/>
        </dgm:presLayoutVars>
      </dgm:prSet>
      <dgm:spPr/>
    </dgm:pt>
    <dgm:pt modelId="{FF662A99-4103-45FA-96C7-100356C035B4}" type="pres">
      <dgm:prSet presAssocID="{507A6FE3-4D55-4ED6-A973-429D64C5DF28}" presName="spaceBetweenRectangles" presStyleCnt="0"/>
      <dgm:spPr/>
    </dgm:pt>
    <dgm:pt modelId="{A56B581C-4DC0-47D5-B910-C917FB8CFAE0}" type="pres">
      <dgm:prSet presAssocID="{CA58FE74-4619-4E47-BA6C-E0CD35AF5AC2}" presName="parentLin" presStyleCnt="0"/>
      <dgm:spPr/>
    </dgm:pt>
    <dgm:pt modelId="{1BF0DFEC-CFB6-4A52-854B-E5C79D055A65}" type="pres">
      <dgm:prSet presAssocID="{CA58FE74-4619-4E47-BA6C-E0CD35AF5AC2}" presName="parentLeftMargin" presStyleCnt="0"/>
      <dgm:spPr/>
    </dgm:pt>
    <dgm:pt modelId="{25765821-3BF2-4631-AAB0-D3BB2CFE530D}" type="pres">
      <dgm:prSet presAssocID="{CA58FE74-4619-4E47-BA6C-E0CD35AF5AC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B0A2082-6A26-43C5-979C-803A254120C6}" type="pres">
      <dgm:prSet presAssocID="{CA58FE74-4619-4E47-BA6C-E0CD35AF5AC2}" presName="negativeSpace" presStyleCnt="0"/>
      <dgm:spPr/>
    </dgm:pt>
    <dgm:pt modelId="{C2E4CCE2-1DF7-4239-BAB0-A7C9A242F7F7}" type="pres">
      <dgm:prSet presAssocID="{CA58FE74-4619-4E47-BA6C-E0CD35AF5AC2}" presName="childText" presStyleLbl="conFgAcc1" presStyleIdx="1" presStyleCnt="3">
        <dgm:presLayoutVars>
          <dgm:bulletEnabled val="1"/>
        </dgm:presLayoutVars>
      </dgm:prSet>
      <dgm:spPr/>
    </dgm:pt>
    <dgm:pt modelId="{1C87E136-8FB0-4E84-9E40-3C346BD9C513}" type="pres">
      <dgm:prSet presAssocID="{5723A07A-E737-45B0-B84E-97FB4DE86580}" presName="spaceBetweenRectangles" presStyleCnt="0"/>
      <dgm:spPr/>
    </dgm:pt>
    <dgm:pt modelId="{49D23DCF-6758-4124-B84B-A0711DEB05FB}" type="pres">
      <dgm:prSet presAssocID="{D3284563-CEAB-43B3-81C4-5F6C081CBB78}" presName="parentLin" presStyleCnt="0"/>
      <dgm:spPr/>
    </dgm:pt>
    <dgm:pt modelId="{B69B4D38-5438-4BE0-A95F-9CF9B8ABE652}" type="pres">
      <dgm:prSet presAssocID="{D3284563-CEAB-43B3-81C4-5F6C081CBB78}" presName="parentLeftMargin" presStyleCnt="0"/>
      <dgm:spPr/>
    </dgm:pt>
    <dgm:pt modelId="{B5F44B40-B196-4050-910B-BDA0194B14FC}" type="pres">
      <dgm:prSet presAssocID="{D3284563-CEAB-43B3-81C4-5F6C081CBB7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96A6A09-7DE9-4769-A91B-5CE01923E12F}" type="pres">
      <dgm:prSet presAssocID="{D3284563-CEAB-43B3-81C4-5F6C081CBB78}" presName="negativeSpace" presStyleCnt="0"/>
      <dgm:spPr/>
    </dgm:pt>
    <dgm:pt modelId="{8C73CC45-C74D-45C7-A6B2-C275E3F94754}" type="pres">
      <dgm:prSet presAssocID="{D3284563-CEAB-43B3-81C4-5F6C081CBB7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C2D492E-3654-4F6E-AC7D-65F7F76C15D5}" srcId="{26C320EB-5352-40AA-A0A9-C13066E1373C}" destId="{773C5012-55F9-436E-B78B-2A38D8AAA0C0}" srcOrd="0" destOrd="0" parTransId="{E1399106-9BE2-43F4-9430-F473CB36780F}" sibTransId="{507A6FE3-4D55-4ED6-A973-429D64C5DF28}"/>
    <dgm:cxn modelId="{3BEE1260-CB7D-4655-8585-0C7132095C4E}" srcId="{26C320EB-5352-40AA-A0A9-C13066E1373C}" destId="{CA58FE74-4619-4E47-BA6C-E0CD35AF5AC2}" srcOrd="1" destOrd="0" parTransId="{EBAD4DA7-135F-4F4E-9475-804E7DC205D2}" sibTransId="{5723A07A-E737-45B0-B84E-97FB4DE86580}"/>
    <dgm:cxn modelId="{8061B686-0EC0-475B-B965-A702013018CF}" srcId="{26C320EB-5352-40AA-A0A9-C13066E1373C}" destId="{D3284563-CEAB-43B3-81C4-5F6C081CBB78}" srcOrd="2" destOrd="0" parTransId="{A2E240DA-ABFA-4A24-BE34-ABE926603D67}" sibTransId="{2E43EE94-FE21-4F90-81B3-CED5B1ECC8C9}"/>
    <dgm:cxn modelId="{92CC8699-E20E-4995-AA13-02E599BA780F}" type="presOf" srcId="{26C320EB-5352-40AA-A0A9-C13066E1373C}" destId="{701FD236-76AD-4A73-A4EF-37E4260B1C1D}" srcOrd="0" destOrd="0" presId="urn:microsoft.com/office/officeart/2005/8/layout/list1"/>
    <dgm:cxn modelId="{440A1931-6462-44FF-B03F-C67078D7731B}" type="presParOf" srcId="{701FD236-76AD-4A73-A4EF-37E4260B1C1D}" destId="{AEF300B7-F97A-4946-9443-79986B28F736}" srcOrd="0" destOrd="0" presId="urn:microsoft.com/office/officeart/2005/8/layout/list1"/>
    <dgm:cxn modelId="{3C136332-D324-4EBC-ABF9-A2F3557638C8}" type="presParOf" srcId="{AEF300B7-F97A-4946-9443-79986B28F736}" destId="{B1EE3700-53D8-4645-81E4-82A7234DE1F5}" srcOrd="0" destOrd="0" presId="urn:microsoft.com/office/officeart/2005/8/layout/list1"/>
    <dgm:cxn modelId="{91D76B98-1BEF-4A31-8F40-1B3098B181EB}" type="presOf" srcId="{773C5012-55F9-436E-B78B-2A38D8AAA0C0}" destId="{B1EE3700-53D8-4645-81E4-82A7234DE1F5}" srcOrd="0" destOrd="0" presId="urn:microsoft.com/office/officeart/2005/8/layout/list1"/>
    <dgm:cxn modelId="{6981BC9C-4594-4165-836E-A8DD7B0CBFE7}" type="presParOf" srcId="{AEF300B7-F97A-4946-9443-79986B28F736}" destId="{AC5CC9D1-0B9E-4212-97E5-8104BC6F404E}" srcOrd="1" destOrd="0" presId="urn:microsoft.com/office/officeart/2005/8/layout/list1"/>
    <dgm:cxn modelId="{642E4CE7-A3AA-4A41-A8A3-93C1CEAFA312}" type="presOf" srcId="{773C5012-55F9-436E-B78B-2A38D8AAA0C0}" destId="{AC5CC9D1-0B9E-4212-97E5-8104BC6F404E}" srcOrd="0" destOrd="0" presId="urn:microsoft.com/office/officeart/2005/8/layout/list1"/>
    <dgm:cxn modelId="{3150BBCD-CFDF-4400-A30B-1183D71512B0}" type="presParOf" srcId="{701FD236-76AD-4A73-A4EF-37E4260B1C1D}" destId="{538EAB07-5F57-45F3-9078-07B35E9E88C6}" srcOrd="1" destOrd="0" presId="urn:microsoft.com/office/officeart/2005/8/layout/list1"/>
    <dgm:cxn modelId="{1EFB6242-01DB-44B3-9D4B-48C351924094}" type="presParOf" srcId="{701FD236-76AD-4A73-A4EF-37E4260B1C1D}" destId="{7BA97AA2-AB0F-4D22-BB13-C069DAC3AE85}" srcOrd="2" destOrd="0" presId="urn:microsoft.com/office/officeart/2005/8/layout/list1"/>
    <dgm:cxn modelId="{0957E7EA-1837-47BE-9631-65E8E15F3D44}" type="presParOf" srcId="{701FD236-76AD-4A73-A4EF-37E4260B1C1D}" destId="{FF662A99-4103-45FA-96C7-100356C035B4}" srcOrd="3" destOrd="0" presId="urn:microsoft.com/office/officeart/2005/8/layout/list1"/>
    <dgm:cxn modelId="{04CF5E6A-4A68-45DC-BA0E-D464927C8042}" type="presParOf" srcId="{701FD236-76AD-4A73-A4EF-37E4260B1C1D}" destId="{A56B581C-4DC0-47D5-B910-C917FB8CFAE0}" srcOrd="4" destOrd="0" presId="urn:microsoft.com/office/officeart/2005/8/layout/list1"/>
    <dgm:cxn modelId="{BDCED155-ECB5-471F-94E8-13000187EE18}" type="presParOf" srcId="{A56B581C-4DC0-47D5-B910-C917FB8CFAE0}" destId="{1BF0DFEC-CFB6-4A52-854B-E5C79D055A65}" srcOrd="0" destOrd="4" presId="urn:microsoft.com/office/officeart/2005/8/layout/list1"/>
    <dgm:cxn modelId="{14953F63-8F3B-4840-B532-7AACE83787E6}" type="presOf" srcId="{CA58FE74-4619-4E47-BA6C-E0CD35AF5AC2}" destId="{1BF0DFEC-CFB6-4A52-854B-E5C79D055A65}" srcOrd="0" destOrd="0" presId="urn:microsoft.com/office/officeart/2005/8/layout/list1"/>
    <dgm:cxn modelId="{B5734704-ADEC-40F1-A53B-09E3D457F805}" type="presParOf" srcId="{A56B581C-4DC0-47D5-B910-C917FB8CFAE0}" destId="{25765821-3BF2-4631-AAB0-D3BB2CFE530D}" srcOrd="1" destOrd="4" presId="urn:microsoft.com/office/officeart/2005/8/layout/list1"/>
    <dgm:cxn modelId="{FE08090C-CBC2-4BFF-A719-8DCAE3CB6DEC}" type="presOf" srcId="{CA58FE74-4619-4E47-BA6C-E0CD35AF5AC2}" destId="{25765821-3BF2-4631-AAB0-D3BB2CFE530D}" srcOrd="0" destOrd="0" presId="urn:microsoft.com/office/officeart/2005/8/layout/list1"/>
    <dgm:cxn modelId="{1D2CE03B-889B-4943-B311-7EFCD76E5381}" type="presParOf" srcId="{701FD236-76AD-4A73-A4EF-37E4260B1C1D}" destId="{EB0A2082-6A26-43C5-979C-803A254120C6}" srcOrd="5" destOrd="0" presId="urn:microsoft.com/office/officeart/2005/8/layout/list1"/>
    <dgm:cxn modelId="{5624AD06-8863-4F4B-9FF8-9AE7E64C62D6}" type="presParOf" srcId="{701FD236-76AD-4A73-A4EF-37E4260B1C1D}" destId="{C2E4CCE2-1DF7-4239-BAB0-A7C9A242F7F7}" srcOrd="6" destOrd="0" presId="urn:microsoft.com/office/officeart/2005/8/layout/list1"/>
    <dgm:cxn modelId="{C3302057-629B-4568-825E-4FF4618A3470}" type="presParOf" srcId="{701FD236-76AD-4A73-A4EF-37E4260B1C1D}" destId="{1C87E136-8FB0-4E84-9E40-3C346BD9C513}" srcOrd="7" destOrd="0" presId="urn:microsoft.com/office/officeart/2005/8/layout/list1"/>
    <dgm:cxn modelId="{620FFFD8-B384-435D-A02D-B810A9E548D6}" type="presParOf" srcId="{701FD236-76AD-4A73-A4EF-37E4260B1C1D}" destId="{49D23DCF-6758-4124-B84B-A0711DEB05FB}" srcOrd="8" destOrd="0" presId="urn:microsoft.com/office/officeart/2005/8/layout/list1"/>
    <dgm:cxn modelId="{8E34AEED-C63D-432A-8844-5D2A1EDB9FE0}" type="presParOf" srcId="{49D23DCF-6758-4124-B84B-A0711DEB05FB}" destId="{B69B4D38-5438-4BE0-A95F-9CF9B8ABE652}" srcOrd="0" destOrd="8" presId="urn:microsoft.com/office/officeart/2005/8/layout/list1"/>
    <dgm:cxn modelId="{07C1F2D2-9371-4562-82AA-9CA4B7C248C9}" type="presOf" srcId="{D3284563-CEAB-43B3-81C4-5F6C081CBB78}" destId="{B69B4D38-5438-4BE0-A95F-9CF9B8ABE652}" srcOrd="0" destOrd="0" presId="urn:microsoft.com/office/officeart/2005/8/layout/list1"/>
    <dgm:cxn modelId="{AAD314F9-D83A-4F84-8146-BE8F48908015}" type="presParOf" srcId="{49D23DCF-6758-4124-B84B-A0711DEB05FB}" destId="{B5F44B40-B196-4050-910B-BDA0194B14FC}" srcOrd="1" destOrd="8" presId="urn:microsoft.com/office/officeart/2005/8/layout/list1"/>
    <dgm:cxn modelId="{BA033ADB-104F-4D44-AAB1-1CAFAA98F8F1}" type="presOf" srcId="{D3284563-CEAB-43B3-81C4-5F6C081CBB78}" destId="{B5F44B40-B196-4050-910B-BDA0194B14FC}" srcOrd="0" destOrd="0" presId="urn:microsoft.com/office/officeart/2005/8/layout/list1"/>
    <dgm:cxn modelId="{56E53E6E-E964-4978-B294-85B09FA5B792}" type="presParOf" srcId="{701FD236-76AD-4A73-A4EF-37E4260B1C1D}" destId="{596A6A09-7DE9-4769-A91B-5CE01923E12F}" srcOrd="9" destOrd="0" presId="urn:microsoft.com/office/officeart/2005/8/layout/list1"/>
    <dgm:cxn modelId="{9E0DA818-F639-486C-8D04-E632F637A498}" type="presParOf" srcId="{701FD236-76AD-4A73-A4EF-37E4260B1C1D}" destId="{8C73CC45-C74D-45C7-A6B2-C275E3F94754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5433060" cy="3218815"/>
        <a:chOff x="0" y="0"/>
        <a:chExt cx="5433060" cy="3218815"/>
      </a:xfrm>
    </dsp:grpSpPr>
    <dsp:sp modelId="{7BA97AA2-AB0F-4D22-BB13-C069DAC3AE85}">
      <dsp:nvSpPr>
        <dsp:cNvPr id="5" name="Rectangles 4"/>
        <dsp:cNvSpPr/>
      </dsp:nvSpPr>
      <dsp:spPr bwMode="white">
        <a:xfrm>
          <a:off x="0" y="446067"/>
          <a:ext cx="5433060" cy="579600"/>
        </a:xfrm>
        <a:prstGeom prst="rect">
          <a:avLst/>
        </a:prstGeom>
      </dsp:spPr>
      <dsp:style>
        <a:lnRef idx="1">
          <a:schemeClr val="accent4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21665" tIns="479044" rIns="421665" bIns="163576" anchor="t"/>
        <a:lstStyle>
          <a:lvl1pPr algn="l">
            <a:defRPr sz="2300"/>
          </a:lvl1pPr>
          <a:lvl2pPr marL="228600" indent="-228600" algn="l">
            <a:defRPr sz="2300"/>
          </a:lvl2pPr>
          <a:lvl3pPr marL="457200" indent="-228600" algn="l">
            <a:defRPr sz="2300"/>
          </a:lvl3pPr>
          <a:lvl4pPr marL="685800" indent="-228600" algn="l">
            <a:defRPr sz="2300"/>
          </a:lvl4pPr>
          <a:lvl5pPr marL="914400" indent="-228600" algn="l">
            <a:defRPr sz="2300"/>
          </a:lvl5pPr>
          <a:lvl6pPr marL="1143000" indent="-228600" algn="l">
            <a:defRPr sz="2300"/>
          </a:lvl6pPr>
          <a:lvl7pPr marL="1371600" indent="-228600" algn="l">
            <a:defRPr sz="2300"/>
          </a:lvl7pPr>
          <a:lvl8pPr marL="1600200" indent="-228600" algn="l">
            <a:defRPr sz="2300"/>
          </a:lvl8pPr>
          <a:lvl9pPr marL="1828800" indent="-228600" algn="l">
            <a:defRPr sz="23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446067"/>
        <a:ext cx="5433060" cy="579600"/>
      </dsp:txXfrm>
    </dsp:sp>
    <dsp:sp modelId="{AC5CC9D1-0B9E-4212-97E5-8104BC6F404E}">
      <dsp:nvSpPr>
        <dsp:cNvPr id="4" name="Rounded Rectangle 3"/>
        <dsp:cNvSpPr/>
      </dsp:nvSpPr>
      <dsp:spPr bwMode="white">
        <a:xfrm>
          <a:off x="271653" y="106587"/>
          <a:ext cx="3803142" cy="678960"/>
        </a:xfrm>
        <a:prstGeom prst="roundRect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4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143749" tIns="0" rIns="143749" bIns="0" anchor="ctr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>
              <a:latin typeface="Calibri" panose="020F0502020204030204" charset="0"/>
              <a:ea typeface="Oswald"/>
              <a:cs typeface="Calibri" panose="020F0502020204030204" charset="0"/>
              <a:sym typeface="Oswald"/>
            </a:rPr>
            <a:t>1. </a:t>
          </a:r>
          <a:r>
            <a:rPr lang="en-US" b="1">
              <a:latin typeface="Calibri" panose="020F0502020204030204" charset="0"/>
              <a:ea typeface="Oswald"/>
              <a:cs typeface="Calibri" panose="020F0502020204030204" charset="0"/>
              <a:sym typeface="Oswald"/>
            </a:rPr>
            <a:t>Hierarchical </a:t>
          </a:r>
          <a:r>
            <a:rPr lang="en-US" b="1">
              <a:solidFill>
                <a:schemeClr val="tx1"/>
              </a:solidFill>
              <a:effectLst/>
              <a:sym typeface="+mn-ea"/>
            </a:rPr>
            <a:t>Organogram</a:t>
          </a:r>
          <a:endParaRPr lang="en-US" b="1">
            <a:latin typeface="Calibri" panose="020F0502020204030204" charset="0"/>
            <a:ea typeface="Oswald"/>
            <a:cs typeface="Calibri" panose="020F0502020204030204" charset="0"/>
            <a:sym typeface="Oswald"/>
          </a:endParaRPr>
        </a:p>
      </dsp:txBody>
      <dsp:txXfrm>
        <a:off x="271653" y="106587"/>
        <a:ext cx="3803142" cy="678960"/>
      </dsp:txXfrm>
    </dsp:sp>
    <dsp:sp modelId="{C2E4CCE2-1DF7-4239-BAB0-A7C9A242F7F7}">
      <dsp:nvSpPr>
        <dsp:cNvPr id="8" name="Rectangles 7"/>
        <dsp:cNvSpPr/>
      </dsp:nvSpPr>
      <dsp:spPr bwMode="white">
        <a:xfrm>
          <a:off x="0" y="1489348"/>
          <a:ext cx="5433060" cy="579600"/>
        </a:xfrm>
        <a:prstGeom prst="rect">
          <a:avLst/>
        </a:prstGeom>
      </dsp:spPr>
      <dsp:style>
        <a:lnRef idx="1">
          <a:schemeClr val="accent4">
            <a:hueOff val="5190000"/>
            <a:satOff val="-23921"/>
            <a:lumOff val="784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21665" tIns="479044" rIns="421665" bIns="163576" anchor="t"/>
        <a:lstStyle>
          <a:lvl1pPr algn="l">
            <a:defRPr sz="2300"/>
          </a:lvl1pPr>
          <a:lvl2pPr marL="228600" indent="-228600" algn="l">
            <a:defRPr sz="2300"/>
          </a:lvl2pPr>
          <a:lvl3pPr marL="457200" indent="-228600" algn="l">
            <a:defRPr sz="2300"/>
          </a:lvl3pPr>
          <a:lvl4pPr marL="685800" indent="-228600" algn="l">
            <a:defRPr sz="2300"/>
          </a:lvl4pPr>
          <a:lvl5pPr marL="914400" indent="-228600" algn="l">
            <a:defRPr sz="2300"/>
          </a:lvl5pPr>
          <a:lvl6pPr marL="1143000" indent="-228600" algn="l">
            <a:defRPr sz="2300"/>
          </a:lvl6pPr>
          <a:lvl7pPr marL="1371600" indent="-228600" algn="l">
            <a:defRPr sz="2300"/>
          </a:lvl7pPr>
          <a:lvl8pPr marL="1600200" indent="-228600" algn="l">
            <a:defRPr sz="2300"/>
          </a:lvl8pPr>
          <a:lvl9pPr marL="1828800" indent="-228600" algn="l">
            <a:defRPr sz="23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1489348"/>
        <a:ext cx="5433060" cy="579600"/>
      </dsp:txXfrm>
    </dsp:sp>
    <dsp:sp modelId="{25765821-3BF2-4631-AAB0-D3BB2CFE530D}">
      <dsp:nvSpPr>
        <dsp:cNvPr id="7" name="Rounded Rectangle 6"/>
        <dsp:cNvSpPr/>
      </dsp:nvSpPr>
      <dsp:spPr bwMode="white">
        <a:xfrm>
          <a:off x="271653" y="1149868"/>
          <a:ext cx="3803142" cy="678960"/>
        </a:xfrm>
        <a:prstGeom prst="roundRect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4">
            <a:hueOff val="5190000"/>
            <a:satOff val="-23921"/>
            <a:lumOff val="784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143749" tIns="0" rIns="143749" bIns="0" anchor="ctr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>
              <a:latin typeface="Calibri" panose="020F0502020204030204" charset="0"/>
              <a:ea typeface="Oswald"/>
              <a:cs typeface="Calibri" panose="020F0502020204030204" charset="0"/>
              <a:sym typeface="Oswald"/>
            </a:rPr>
            <a:t>2. </a:t>
          </a:r>
          <a:r>
            <a:rPr lang="en-US" b="1">
              <a:latin typeface="Calibri" panose="020F0502020204030204" charset="0"/>
              <a:ea typeface="Oswald"/>
              <a:cs typeface="Calibri" panose="020F0502020204030204" charset="0"/>
              <a:sym typeface="Oswald"/>
            </a:rPr>
            <a:t>Flat </a:t>
          </a:r>
          <a:r>
            <a:rPr lang="en-US" b="1">
              <a:solidFill>
                <a:schemeClr val="tx1"/>
              </a:solidFill>
              <a:effectLst/>
              <a:sym typeface="+mn-ea"/>
            </a:rPr>
            <a:t>Organogram</a:t>
          </a:r>
          <a:endParaRPr lang="en-US" b="1">
            <a:latin typeface="Calibri" panose="020F0502020204030204" charset="0"/>
            <a:ea typeface="Oswald"/>
            <a:cs typeface="Calibri" panose="020F0502020204030204" charset="0"/>
            <a:sym typeface="Oswald"/>
          </a:endParaRPr>
        </a:p>
      </dsp:txBody>
      <dsp:txXfrm>
        <a:off x="271653" y="1149868"/>
        <a:ext cx="3803142" cy="678960"/>
      </dsp:txXfrm>
    </dsp:sp>
    <dsp:sp modelId="{8C73CC45-C74D-45C7-A6B2-C275E3F94754}">
      <dsp:nvSpPr>
        <dsp:cNvPr id="11" name="Rectangles 10"/>
        <dsp:cNvSpPr/>
      </dsp:nvSpPr>
      <dsp:spPr bwMode="white">
        <a:xfrm>
          <a:off x="0" y="2532627"/>
          <a:ext cx="5433060" cy="579600"/>
        </a:xfrm>
        <a:prstGeom prst="rect">
          <a:avLst/>
        </a:prstGeom>
      </dsp:spPr>
      <dsp:style>
        <a:lnRef idx="1">
          <a:schemeClr val="accent4">
            <a:hueOff val="10380000"/>
            <a:satOff val="-47842"/>
            <a:lumOff val="1569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21665" tIns="479044" rIns="421665" bIns="163576" anchor="t"/>
        <a:lstStyle>
          <a:lvl1pPr algn="l">
            <a:defRPr sz="2300"/>
          </a:lvl1pPr>
          <a:lvl2pPr marL="228600" indent="-228600" algn="l">
            <a:defRPr sz="2300"/>
          </a:lvl2pPr>
          <a:lvl3pPr marL="457200" indent="-228600" algn="l">
            <a:defRPr sz="2300"/>
          </a:lvl3pPr>
          <a:lvl4pPr marL="685800" indent="-228600" algn="l">
            <a:defRPr sz="2300"/>
          </a:lvl4pPr>
          <a:lvl5pPr marL="914400" indent="-228600" algn="l">
            <a:defRPr sz="2300"/>
          </a:lvl5pPr>
          <a:lvl6pPr marL="1143000" indent="-228600" algn="l">
            <a:defRPr sz="2300"/>
          </a:lvl6pPr>
          <a:lvl7pPr marL="1371600" indent="-228600" algn="l">
            <a:defRPr sz="2300"/>
          </a:lvl7pPr>
          <a:lvl8pPr marL="1600200" indent="-228600" algn="l">
            <a:defRPr sz="2300"/>
          </a:lvl8pPr>
          <a:lvl9pPr marL="1828800" indent="-228600" algn="l">
            <a:defRPr sz="23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2532627"/>
        <a:ext cx="5433060" cy="579600"/>
      </dsp:txXfrm>
    </dsp:sp>
    <dsp:sp modelId="{B5F44B40-B196-4050-910B-BDA0194B14FC}">
      <dsp:nvSpPr>
        <dsp:cNvPr id="10" name="Rounded Rectangle 9"/>
        <dsp:cNvSpPr/>
      </dsp:nvSpPr>
      <dsp:spPr bwMode="white">
        <a:xfrm>
          <a:off x="271653" y="2193148"/>
          <a:ext cx="3803142" cy="678960"/>
        </a:xfrm>
        <a:prstGeom prst="roundRect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4">
            <a:hueOff val="10380000"/>
            <a:satOff val="-47842"/>
            <a:lumOff val="1569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143749" tIns="0" rIns="143749" bIns="0" anchor="ctr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>
              <a:latin typeface="Calibri" panose="020F0502020204030204" charset="0"/>
              <a:ea typeface="Oswald"/>
              <a:cs typeface="Calibri" panose="020F0502020204030204" charset="0"/>
              <a:sym typeface="Oswald"/>
            </a:rPr>
            <a:t>3. </a:t>
          </a:r>
          <a:r>
            <a:rPr lang="en-US" b="1">
              <a:latin typeface="Calibri" panose="020F0502020204030204" charset="0"/>
              <a:ea typeface="Oswald"/>
              <a:cs typeface="Calibri" panose="020F0502020204030204" charset="0"/>
              <a:sym typeface="Oswald"/>
            </a:rPr>
            <a:t>Matrix </a:t>
          </a:r>
          <a:r>
            <a:rPr lang="en-US" b="1">
              <a:solidFill>
                <a:schemeClr val="tx1"/>
              </a:solidFill>
              <a:effectLst/>
              <a:sym typeface="+mn-ea"/>
            </a:rPr>
            <a:t>Organogram</a:t>
          </a:r>
          <a:endParaRPr lang="en-US" b="1">
            <a:latin typeface="Calibri" panose="020F0502020204030204" charset="0"/>
            <a:ea typeface="Oswald"/>
            <a:cs typeface="Calibri" panose="020F0502020204030204" charset="0"/>
            <a:sym typeface="Oswald"/>
          </a:endParaRPr>
        </a:p>
      </dsp:txBody>
      <dsp:txXfrm>
        <a:off x="271653" y="2193148"/>
        <a:ext cx="3803142" cy="678960"/>
      </dsp:txXfrm>
    </dsp:sp>
    <dsp:sp modelId="{B1EE3700-53D8-4645-81E4-82A7234DE1F5}">
      <dsp:nvSpPr>
        <dsp:cNvPr id="3" name="Rectangles 2" hidden="1"/>
        <dsp:cNvSpPr/>
      </dsp:nvSpPr>
      <dsp:spPr>
        <a:xfrm>
          <a:off x="0" y="106587"/>
          <a:ext cx="271653" cy="678960"/>
        </a:xfrm>
        <a:prstGeom prst="rect">
          <a:avLst/>
        </a:prstGeom>
      </dsp:spPr>
      <dsp:txXfrm>
        <a:off x="0" y="106587"/>
        <a:ext cx="271653" cy="678960"/>
      </dsp:txXfrm>
    </dsp:sp>
    <dsp:sp modelId="{1BF0DFEC-CFB6-4A52-854B-E5C79D055A65}">
      <dsp:nvSpPr>
        <dsp:cNvPr id="6" name="Rectangles 5" hidden="1"/>
        <dsp:cNvSpPr/>
      </dsp:nvSpPr>
      <dsp:spPr>
        <a:xfrm>
          <a:off x="0" y="1149868"/>
          <a:ext cx="271653" cy="678960"/>
        </a:xfrm>
        <a:prstGeom prst="rect">
          <a:avLst/>
        </a:prstGeom>
      </dsp:spPr>
      <dsp:txXfrm>
        <a:off x="0" y="1149868"/>
        <a:ext cx="271653" cy="678960"/>
      </dsp:txXfrm>
    </dsp:sp>
    <dsp:sp modelId="{B69B4D38-5438-4BE0-A95F-9CF9B8ABE652}">
      <dsp:nvSpPr>
        <dsp:cNvPr id="9" name="Rectangles 8" hidden="1"/>
        <dsp:cNvSpPr/>
      </dsp:nvSpPr>
      <dsp:spPr>
        <a:xfrm>
          <a:off x="0" y="2193148"/>
          <a:ext cx="271653" cy="678960"/>
        </a:xfrm>
        <a:prstGeom prst="rect">
          <a:avLst/>
        </a:prstGeom>
      </dsp:spPr>
      <dsp:txXfrm>
        <a:off x="0" y="2193148"/>
        <a:ext cx="271653" cy="6789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3" name="Google Shape;47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299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UIU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UIU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UIU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UIU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UIU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UIU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UIU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UIU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UIU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UIU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Tasmin Sanjida, Lecturer, UIU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Tasmin Sanjida, Lecturer, UIU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web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6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866140" y="1122680"/>
            <a:ext cx="10407650" cy="2387600"/>
          </a:xfrm>
          <a:solidFill>
            <a:srgbClr val="FF8000"/>
          </a:solidFill>
          <a:ln>
            <a:noFill/>
          </a:ln>
        </p:spPr>
        <p:txBody>
          <a:bodyPr anchor="ctr" anchorCtr="0">
            <a:normAutofit/>
          </a:bodyPr>
          <a:p>
            <a:pPr algn="ctr" fontAlgn="ctr"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  <a:latin typeface="Calibri" panose="020F0502020204030204" charset="0"/>
                <a:ea typeface="Arial" panose="020B0604020202020204"/>
                <a:cs typeface="Calibri" panose="020F0502020204030204" charset="0"/>
                <a:sym typeface="Arial" panose="020B0604020202020204"/>
              </a:rPr>
              <a:t>System, </a:t>
            </a:r>
            <a:r>
              <a:rPr lang="en-US">
                <a:solidFill>
                  <a:schemeClr val="bg1"/>
                </a:solidFill>
                <a:effectLst/>
                <a:latin typeface="Calibri" panose="020F0502020204030204" charset="0"/>
                <a:cs typeface="Calibri" panose="020F0502020204030204" charset="0"/>
                <a:sym typeface="+mn-ea"/>
              </a:rPr>
              <a:t>Organogram &amp; SDLC</a:t>
            </a:r>
            <a:r>
              <a:rPr lang="en-US" b="1">
                <a:solidFill>
                  <a:schemeClr val="bg1"/>
                </a:solidFill>
                <a:effectLst/>
                <a:sym typeface="+mn-ea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alibri" panose="020F0502020204030204" charset="0"/>
                <a:ea typeface="Arial" panose="020B0604020202020204"/>
                <a:cs typeface="Calibri" panose="020F0502020204030204" charset="0"/>
                <a:sym typeface="Arial" panose="020B0604020202020204"/>
              </a:rPr>
              <a:t> </a:t>
            </a:r>
            <a:endParaRPr lang="en-US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ea typeface="Arial" panose="020B0604020202020204"/>
              <a:cs typeface="Calibri" panose="020F0502020204030204" charset="0"/>
              <a:sym typeface="Arial" panose="020B0604020202020204"/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450975" y="3510280"/>
            <a:ext cx="9144000" cy="1320165"/>
          </a:xfrm>
        </p:spPr>
        <p:txBody>
          <a:bodyPr>
            <a:noAutofit/>
          </a:bodyPr>
          <a:p>
            <a:endParaRPr lang="en-US" sz="14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2800" b="1">
                <a:solidFill>
                  <a:srgbClr val="074173"/>
                </a:solidFill>
              </a:rPr>
              <a:t>System Analysis and Design</a:t>
            </a:r>
            <a:endParaRPr lang="en-US" sz="2800" b="1">
              <a:solidFill>
                <a:srgbClr val="074173"/>
              </a:solidFill>
            </a:endParaRPr>
          </a:p>
          <a:p>
            <a:r>
              <a:rPr lang="en-US" sz="2800" b="1">
                <a:solidFill>
                  <a:srgbClr val="074173"/>
                </a:solidFill>
              </a:rPr>
              <a:t>Content  01</a:t>
            </a:r>
            <a:endParaRPr lang="en-US" sz="2800" b="1">
              <a:solidFill>
                <a:srgbClr val="074173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CSE,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8000"/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txBody>
          <a:bodyPr/>
          <a:p>
            <a:r>
              <a:rPr lang="en-US" b="1">
                <a:solidFill>
                  <a:schemeClr val="bg1"/>
                </a:solidFill>
                <a:effectLst/>
              </a:rPr>
              <a:t>Course Outline</a:t>
            </a:r>
            <a:endParaRPr lang="en-US" b="1">
              <a:solidFill>
                <a:schemeClr val="bg1"/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412750" lvl="0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Introduction to </a:t>
            </a:r>
            <a:r>
              <a:rPr lang="en-US" altLang="en-US" sz="2400" b="1">
                <a:latin typeface="Calibri" panose="020F0502020204030204" charset="0"/>
                <a:cs typeface="Calibri" panose="020F0502020204030204" charset="0"/>
              </a:rPr>
              <a:t>System </a:t>
            </a:r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and </a:t>
            </a:r>
            <a:r>
              <a:rPr lang="en-US" altLang="en-US" sz="2400" b="1">
                <a:latin typeface="Calibri" panose="020F0502020204030204" charset="0"/>
                <a:cs typeface="Calibri" panose="020F0502020204030204" charset="0"/>
              </a:rPr>
              <a:t>SDLC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  <a:p>
            <a:pPr marL="412750" lvl="0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Different Types of System/Software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  <a:p>
            <a:pPr marL="412750" lvl="0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Requirements/ Info Gathering Techniques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  <a:p>
            <a:pPr marL="412750" lvl="0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System Analysis (including benchmark analysis) 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  <a:p>
            <a:pPr marL="412750" lvl="0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Feasibility Analysis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  <a:p>
            <a:pPr marL="412750" lvl="0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System Design (Structures/UML Diagrams)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  <a:p>
            <a:pPr marL="412750" lvl="0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Project Management (Scheduling and Budgeting) 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  <a:p>
            <a:pPr marL="412750" lvl="0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SRS – Software Requirement Specification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UIU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8000"/>
          </a:solidFill>
          <a:ln>
            <a:solidFill>
              <a:srgbClr val="000000">
                <a:alpha val="0"/>
              </a:srgbClr>
            </a:solidFill>
          </a:ln>
        </p:spPr>
        <p:txBody>
          <a:bodyPr/>
          <a:p>
            <a:r>
              <a:rPr lang="en-US" altLang="en-US" b="1">
                <a:solidFill>
                  <a:schemeClr val="bg1"/>
                </a:solidFill>
                <a:effectLst/>
              </a:rPr>
              <a:t>Introduction to System and SDLC</a:t>
            </a:r>
            <a:endParaRPr lang="en-US" altLang="en-US" b="1">
              <a:solidFill>
                <a:schemeClr val="bg1"/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lvl="0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Define System</a:t>
            </a:r>
            <a:endParaRPr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57200" lvl="0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System Organogram/ Structure</a:t>
            </a:r>
            <a:endParaRPr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57200" lvl="0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SDLC (System/Software Development Life Cycle)</a:t>
            </a:r>
            <a:endParaRPr lang="en-US"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57200" lvl="0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Modern SDLC mindsets </a:t>
            </a:r>
            <a:endParaRPr lang="en-US" altLang="en-US"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UIU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8350" cy="1325880"/>
          </a:xfrm>
          <a:solidFill>
            <a:srgbClr val="FF8000"/>
          </a:solidFill>
          <a:ln>
            <a:solidFill>
              <a:srgbClr val="000000">
                <a:alpha val="0"/>
              </a:srgbClr>
            </a:solidFill>
          </a:ln>
        </p:spPr>
        <p:txBody>
          <a:bodyPr/>
          <a:p>
            <a:r>
              <a:rPr lang="en-US" b="1">
                <a:solidFill>
                  <a:schemeClr val="bg1"/>
                </a:solidFill>
                <a:effectLst/>
                <a:sym typeface="+mn-ea"/>
              </a:rPr>
              <a:t>What is System?</a:t>
            </a:r>
            <a:endParaRPr lang="en-US" b="1">
              <a:solidFill>
                <a:schemeClr val="bg1"/>
              </a:solidFill>
              <a:effectLst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83715"/>
            <a:ext cx="6960870" cy="4393565"/>
          </a:xfrm>
        </p:spPr>
        <p:txBody>
          <a:bodyPr>
            <a:normAutofit lnSpcReduction="10000"/>
          </a:bodyPr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The term System is derived from the Greek word </a:t>
            </a:r>
            <a:r>
              <a:rPr lang="en-US" sz="2400" i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Systema</a:t>
            </a: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, it shows:</a:t>
            </a:r>
            <a:endParaRPr sz="2400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00"/>
              <a:buNone/>
            </a:pPr>
            <a:endParaRPr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lvl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An organized relationship among the </a:t>
            </a:r>
            <a:r>
              <a:rPr lang="en-US" sz="2400" b="1">
                <a:solidFill>
                  <a:srgbClr val="FF000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Functional Units</a:t>
            </a:r>
            <a:endParaRPr sz="2400">
              <a:solidFill>
                <a:srgbClr val="FF0000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lvl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Shows Interrelation and Interdependence among Functional Units or within Functional Units</a:t>
            </a:r>
            <a:endParaRPr sz="2400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lvl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Shows Scope/Boundaries (for all functional units) </a:t>
            </a:r>
            <a:endParaRPr sz="2400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lvl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Shows purpose/ objectives/ goals of the system.</a:t>
            </a:r>
            <a:endParaRPr sz="2400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73763"/>
              </a:buClr>
              <a:buSzPts val="2000"/>
              <a:buNone/>
            </a:pPr>
            <a:endParaRPr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       *Central goal gets priority over sub/units goal</a:t>
            </a:r>
            <a:endParaRPr sz="2400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endParaRPr lang="en-US" sz="2400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UIU</a:t>
            </a:r>
            <a:endParaRPr lang="en-US"/>
          </a:p>
        </p:txBody>
      </p:sp>
      <p:pic>
        <p:nvPicPr>
          <p:cNvPr id="8" name="Content Placeholder 7"/>
          <p:cNvPicPr>
            <a:picLocks noChangeAspect="1"/>
          </p:cNvPicPr>
          <p:nvPr>
            <p:ph sz="half" idx="2"/>
          </p:nvPr>
        </p:nvPicPr>
        <p:blipFill>
          <a:blip r:embed="rId1"/>
          <a:srcRect l="29583" t="18399" r="28922"/>
          <a:stretch>
            <a:fillRect/>
          </a:stretch>
        </p:blipFill>
        <p:spPr>
          <a:xfrm>
            <a:off x="8103235" y="2000250"/>
            <a:ext cx="3757295" cy="3408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8000"/>
          </a:solidFill>
          <a:ln>
            <a:solidFill>
              <a:srgbClr val="000000">
                <a:alpha val="0"/>
              </a:srgbClr>
            </a:solidFill>
          </a:ln>
        </p:spPr>
        <p:txBody>
          <a:bodyPr/>
          <a:p>
            <a:r>
              <a:rPr lang="en-US" altLang="en-US" b="1">
                <a:solidFill>
                  <a:schemeClr val="bg1"/>
                </a:solidFill>
                <a:sym typeface="+mn-ea"/>
              </a:rPr>
              <a:t>Key characteristics of System</a:t>
            </a:r>
            <a:endParaRPr lang="en-US" altLang="en-US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>
              <a:buClr>
                <a:srgbClr val="002060"/>
              </a:buClr>
            </a:pPr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Components (subsystems/parts)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  <a:p>
            <a:pPr>
              <a:buClr>
                <a:srgbClr val="002060"/>
              </a:buClr>
            </a:pPr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Interrelationships (how components connect)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  <a:p>
            <a:pPr>
              <a:buClr>
                <a:srgbClr val="002060"/>
              </a:buClr>
            </a:pPr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Boundary (what is inside/outside the system)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  <a:p>
            <a:pPr>
              <a:buClr>
                <a:srgbClr val="002060"/>
              </a:buClr>
            </a:pPr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Inputs → Processes → Outputs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  <a:p>
            <a:pPr>
              <a:buClr>
                <a:srgbClr val="002060"/>
              </a:buClr>
            </a:pPr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Goals/Objectives (purpose)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  <a:p>
            <a:pPr>
              <a:buClr>
                <a:srgbClr val="002060"/>
              </a:buClr>
            </a:pPr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Environment (external factors influencing the system)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  <a:p>
            <a:pPr>
              <a:buClr>
                <a:srgbClr val="002060"/>
              </a:buClr>
            </a:pPr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Feedback/Control/</a:t>
            </a:r>
            <a:r>
              <a:rPr lang="en-US" sz="2400">
                <a:latin typeface="Calibri" panose="020F0502020204030204" charset="0"/>
                <a:cs typeface="Calibri" panose="020F0502020204030204" charset="0"/>
                <a:sym typeface="+mn-ea"/>
              </a:rPr>
              <a:t>Behavior</a:t>
            </a:r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 (monitoring performance)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1850" y="1093153"/>
            <a:ext cx="10515600" cy="2852737"/>
          </a:xfrm>
          <a:solidFill>
            <a:srgbClr val="FF8000"/>
          </a:solidFill>
          <a:ln>
            <a:solidFill>
              <a:srgbClr val="000000">
                <a:alpha val="0"/>
              </a:srgbClr>
            </a:solidFill>
          </a:ln>
        </p:spPr>
        <p:txBody>
          <a:bodyPr/>
          <a:p>
            <a:r>
              <a:rPr lang="en-US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Examples of Systems</a:t>
            </a:r>
            <a:endParaRPr lang="en-US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UIU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8000"/>
          </a:solidFill>
          <a:ln>
            <a:solidFill>
              <a:srgbClr val="000000">
                <a:alpha val="0"/>
              </a:srgbClr>
            </a:solidFill>
          </a:ln>
        </p:spPr>
        <p:txBody>
          <a:bodyPr/>
          <a:p>
            <a:r>
              <a:rPr lang="en-US" b="1">
                <a:solidFill>
                  <a:schemeClr val="bg1"/>
                </a:solidFill>
                <a:effectLst/>
                <a:sym typeface="+mn-ea"/>
              </a:rPr>
              <a:t>Hospital Management System</a:t>
            </a:r>
            <a:endParaRPr lang="en-US" b="1">
              <a:solidFill>
                <a:schemeClr val="bg1"/>
              </a:solidFill>
              <a:effectLst/>
              <a:sym typeface="+mn-ea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9" name="Content Placeholder 8"/>
          <p:cNvPicPr>
            <a:picLocks noChangeAspect="1"/>
          </p:cNvPicPr>
          <p:nvPr>
            <p:ph idx="1"/>
          </p:nvPr>
        </p:nvPicPr>
        <p:blipFill>
          <a:blip r:embed="rId1"/>
          <a:srcRect l="3756" r="3664"/>
          <a:stretch>
            <a:fillRect/>
          </a:stretch>
        </p:blipFill>
        <p:spPr>
          <a:xfrm>
            <a:off x="2545715" y="1886585"/>
            <a:ext cx="6962775" cy="41979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>
              <a:buClr>
                <a:srgbClr val="002060"/>
              </a:buClr>
            </a:pPr>
            <a:r>
              <a:rPr lang="en-US" altLang="en-US" sz="2400"/>
              <a:t>Academic Management</a:t>
            </a:r>
            <a:endParaRPr lang="en-US" altLang="en-US" sz="2400"/>
          </a:p>
          <a:p>
            <a:pPr>
              <a:buClr>
                <a:srgbClr val="002060"/>
              </a:buClr>
            </a:pPr>
            <a:r>
              <a:rPr lang="en-US" altLang="en-US" sz="2400"/>
              <a:t>Admissions Office</a:t>
            </a:r>
            <a:endParaRPr lang="en-US" altLang="en-US" sz="2400"/>
          </a:p>
          <a:p>
            <a:pPr>
              <a:buClr>
                <a:srgbClr val="002060"/>
              </a:buClr>
            </a:pPr>
            <a:r>
              <a:rPr lang="en-US" altLang="en-US" sz="2400"/>
              <a:t>Finance and Accounts </a:t>
            </a:r>
            <a:endParaRPr lang="en-US" altLang="en-US" sz="2400"/>
          </a:p>
          <a:p>
            <a:pPr>
              <a:buClr>
                <a:srgbClr val="002060"/>
              </a:buClr>
            </a:pPr>
            <a:r>
              <a:rPr lang="en-US" altLang="en-US" sz="2400"/>
              <a:t>Library Management</a:t>
            </a:r>
            <a:endParaRPr lang="en-US" altLang="en-US" sz="2400"/>
          </a:p>
          <a:p>
            <a:pPr>
              <a:buClr>
                <a:srgbClr val="002060"/>
              </a:buClr>
            </a:pPr>
            <a:r>
              <a:rPr lang="en-US" altLang="en-US" sz="2400"/>
              <a:t>Faculty and Staff Management</a:t>
            </a:r>
            <a:endParaRPr lang="en-US" altLang="en-US" sz="2400"/>
          </a:p>
          <a:p>
            <a:pPr>
              <a:buClr>
                <a:srgbClr val="002060"/>
              </a:buClr>
            </a:pPr>
            <a:r>
              <a:rPr lang="en-US" altLang="en-US" sz="2400"/>
              <a:t>HR &amp; Administration </a:t>
            </a:r>
            <a:endParaRPr lang="en-US" altLang="en-US" sz="2400"/>
          </a:p>
          <a:p>
            <a:pPr>
              <a:buClr>
                <a:srgbClr val="002060"/>
              </a:buClr>
            </a:pPr>
            <a:r>
              <a:rPr lang="en-US" altLang="en-US" sz="2400"/>
              <a:t>Central Management </a:t>
            </a:r>
            <a:endParaRPr lang="en-US" altLang="en-US" sz="24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7" name="Content Placeholder 6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365240" y="1459865"/>
            <a:ext cx="4896485" cy="4896485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solidFill>
            <a:srgbClr val="FF8000"/>
          </a:solidFill>
          <a:ln>
            <a:solidFill>
              <a:srgbClr val="000000">
                <a:alpha val="0"/>
              </a:srgbClr>
            </a:solidFill>
          </a:ln>
        </p:spPr>
        <p:txBody>
          <a:bodyPr/>
          <a:p>
            <a:r>
              <a:rPr lang="en-US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University Management System</a:t>
            </a:r>
            <a:endParaRPr lang="en-US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rgbClr val="FF8000"/>
          </a:solidFill>
          <a:ln>
            <a:solidFill>
              <a:srgbClr val="000000">
                <a:alpha val="0"/>
              </a:srgbClr>
            </a:solidFill>
          </a:ln>
        </p:spPr>
        <p:txBody>
          <a:bodyPr/>
          <a:p>
            <a:r>
              <a:rPr lang="en-US" b="1">
                <a:solidFill>
                  <a:schemeClr val="bg1"/>
                </a:solidFill>
                <a:effectLst/>
              </a:rPr>
              <a:t>Logistics System</a:t>
            </a:r>
            <a:endParaRPr lang="en-US" b="1">
              <a:solidFill>
                <a:schemeClr val="bg1"/>
              </a:solidFill>
              <a:effectLst/>
            </a:endParaRPr>
          </a:p>
        </p:txBody>
      </p:sp>
      <p:pic>
        <p:nvPicPr>
          <p:cNvPr id="100" name="Content Placeholder 99"/>
          <p:cNvPicPr>
            <a:picLocks noChangeAspect="1"/>
          </p:cNvPicPr>
          <p:nvPr>
            <p:ph idx="1"/>
          </p:nvPr>
        </p:nvPicPr>
        <p:blipFill>
          <a:blip r:embed="rId1"/>
          <a:srcRect l="-2329" t="10876" r="3711" b="4785"/>
          <a:stretch>
            <a:fillRect/>
          </a:stretch>
        </p:blipFill>
        <p:spPr>
          <a:xfrm>
            <a:off x="1774190" y="1873250"/>
            <a:ext cx="7327265" cy="4270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UIU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8000"/>
          </a:solidFill>
          <a:ln>
            <a:solidFill>
              <a:srgbClr val="000000">
                <a:alpha val="0"/>
              </a:srgbClr>
            </a:solidFill>
          </a:ln>
        </p:spPr>
        <p:txBody>
          <a:bodyPr/>
          <a:p>
            <a:r>
              <a:rPr lang="en-US" altLang="en-US" b="1">
                <a:solidFill>
                  <a:schemeClr val="bg1"/>
                </a:solidFill>
              </a:rPr>
              <a:t>System Stakeholders</a:t>
            </a:r>
            <a:endParaRPr lang="en-US" altLang="en-US" b="1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p>
            <a:pPr marL="0" indent="0">
              <a:lnSpc>
                <a:spcPct val="100000"/>
              </a:lnSpc>
              <a:buNone/>
            </a:pPr>
            <a:r>
              <a:rPr lang="en-US" altLang="en-US" sz="2400" b="1"/>
              <a:t>Stakeholders </a:t>
            </a:r>
            <a:r>
              <a:rPr lang="en-US" altLang="en-US" sz="2400"/>
              <a:t>are </a:t>
            </a:r>
            <a:r>
              <a:rPr lang="en-US" altLang="en-US" sz="2400" b="1"/>
              <a:t>individuals, groups, or organizations</a:t>
            </a:r>
            <a:r>
              <a:rPr lang="en-US" altLang="en-US" sz="2400"/>
              <a:t> that </a:t>
            </a:r>
            <a:r>
              <a:rPr lang="en-US" altLang="en-US" sz="2400" b="1"/>
              <a:t>interact with, benefit from, influence</a:t>
            </a:r>
            <a:r>
              <a:rPr lang="en-US" altLang="en-US" sz="2400"/>
              <a:t>, or are </a:t>
            </a:r>
            <a:r>
              <a:rPr lang="en-US" altLang="en-US" sz="2400" b="1"/>
              <a:t>affected </a:t>
            </a:r>
            <a:r>
              <a:rPr lang="en-US" altLang="en-US" sz="2400"/>
              <a:t>by the system. </a:t>
            </a:r>
            <a:endParaRPr lang="en-US" altLang="en-US" sz="2400"/>
          </a:p>
          <a:p>
            <a:pPr>
              <a:lnSpc>
                <a:spcPct val="100000"/>
              </a:lnSpc>
              <a:buClr>
                <a:srgbClr val="002060"/>
              </a:buClr>
            </a:pPr>
            <a:r>
              <a:rPr lang="en-US" altLang="en-US" sz="2400">
                <a:sym typeface="+mn-ea"/>
              </a:rPr>
              <a:t>Internal </a:t>
            </a:r>
            <a:endParaRPr lang="en-US" altLang="en-US" sz="2400">
              <a:sym typeface="+mn-ea"/>
            </a:endParaRPr>
          </a:p>
          <a:p>
            <a:pPr>
              <a:lnSpc>
                <a:spcPct val="100000"/>
              </a:lnSpc>
              <a:buClr>
                <a:srgbClr val="002060"/>
              </a:buClr>
            </a:pPr>
            <a:r>
              <a:rPr lang="en-US" altLang="en-US" sz="2400">
                <a:sym typeface="+mn-ea"/>
              </a:rPr>
              <a:t>External </a:t>
            </a:r>
            <a:endParaRPr lang="en-US" altLang="en-US" sz="2400">
              <a:sym typeface="+mn-ea"/>
            </a:endParaRPr>
          </a:p>
          <a:p>
            <a:pPr>
              <a:lnSpc>
                <a:spcPct val="100000"/>
              </a:lnSpc>
              <a:buClr>
                <a:srgbClr val="002060"/>
              </a:buClr>
            </a:pPr>
            <a:r>
              <a:rPr lang="en-US" altLang="en-US" sz="2400">
                <a:sym typeface="+mn-ea"/>
              </a:rPr>
              <a:t>Primary </a:t>
            </a:r>
            <a:endParaRPr lang="en-US" altLang="en-US" sz="2400"/>
          </a:p>
          <a:p>
            <a:pPr>
              <a:lnSpc>
                <a:spcPct val="100000"/>
              </a:lnSpc>
              <a:buClr>
                <a:srgbClr val="002060"/>
              </a:buClr>
            </a:pPr>
            <a:r>
              <a:rPr lang="en-US" altLang="en-US" sz="2400">
                <a:sym typeface="+mn-ea"/>
              </a:rPr>
              <a:t>Secondary </a:t>
            </a:r>
            <a:endParaRPr lang="en-US" altLang="en-US" sz="2400"/>
          </a:p>
          <a:p>
            <a:pPr marL="0" indent="0">
              <a:lnSpc>
                <a:spcPct val="100000"/>
              </a:lnSpc>
              <a:buNone/>
            </a:pPr>
            <a:endParaRPr lang="en-US" altLang="en-US">
              <a:sym typeface="+mn-ea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8" name="Content Placeholder 7"/>
          <p:cNvPicPr>
            <a:picLocks noChangeAspect="1"/>
          </p:cNvPicPr>
          <p:nvPr>
            <p:ph sz="half" idx="2"/>
          </p:nvPr>
        </p:nvPicPr>
        <p:blipFill>
          <a:blip r:embed="rId1"/>
          <a:srcRect t="5368" b="15775"/>
          <a:stretch>
            <a:fillRect/>
          </a:stretch>
        </p:blipFill>
        <p:spPr>
          <a:xfrm>
            <a:off x="6172200" y="2027555"/>
            <a:ext cx="5181600" cy="30314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" name="Content Placeholder 6"/>
          <p:cNvGraphicFramePr/>
          <p:nvPr>
            <p:ph idx="1"/>
            <p:custDataLst>
              <p:tags r:id="rId1"/>
            </p:custDataLst>
          </p:nvPr>
        </p:nvGraphicFramePr>
        <p:xfrm>
          <a:off x="584200" y="1742440"/>
          <a:ext cx="11417935" cy="3676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1455"/>
                <a:gridCol w="2945765"/>
                <a:gridCol w="2762885"/>
                <a:gridCol w="2957830"/>
              </a:tblGrid>
              <a:tr h="5372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200">
                          <a:solidFill>
                            <a:schemeClr val="bg1"/>
                          </a:solidFill>
                        </a:rPr>
                        <a:t>Internal Stakeholders</a:t>
                      </a:r>
                      <a:endParaRPr lang="en-US" altLang="en-US" sz="22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8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200">
                          <a:solidFill>
                            <a:schemeClr val="bg1"/>
                          </a:solidFill>
                        </a:rPr>
                        <a:t>External stakeholders</a:t>
                      </a:r>
                      <a:endParaRPr lang="en-US" altLang="en-US" sz="22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8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200">
                          <a:solidFill>
                            <a:schemeClr val="bg1"/>
                          </a:solidFill>
                        </a:rPr>
                        <a:t>Primary </a:t>
                      </a:r>
                      <a:r>
                        <a:rPr lang="en-US" altLang="en-US" sz="2200">
                          <a:solidFill>
                            <a:schemeClr val="bg1"/>
                          </a:solidFill>
                          <a:sym typeface="+mn-ea"/>
                        </a:rPr>
                        <a:t>stakeholders</a:t>
                      </a:r>
                      <a:endParaRPr lang="en-US" altLang="en-US" sz="2200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8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200">
                          <a:solidFill>
                            <a:schemeClr val="bg1"/>
                          </a:solidFill>
                        </a:rPr>
                        <a:t>Secondary </a:t>
                      </a:r>
                      <a:r>
                        <a:rPr lang="en-US" altLang="en-US" sz="2200">
                          <a:solidFill>
                            <a:schemeClr val="bg1"/>
                          </a:solidFill>
                          <a:sym typeface="+mn-ea"/>
                        </a:rPr>
                        <a:t>stakeholders</a:t>
                      </a:r>
                      <a:endParaRPr lang="en-US" altLang="en-US" sz="2200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8000"/>
                    </a:solidFill>
                  </a:tcPr>
                </a:tc>
              </a:tr>
              <a:tr h="3138805">
                <a:tc>
                  <a:txBody>
                    <a:bodyPr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2200"/>
                        <a:t>System owner</a:t>
                      </a:r>
                      <a:endParaRPr lang="en-US" altLang="en-US" sz="220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2200"/>
                        <a:t>Users (employees, staff)</a:t>
                      </a:r>
                      <a:endParaRPr lang="en-US" altLang="en-US" sz="220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2200"/>
                        <a:t>Managers</a:t>
                      </a:r>
                      <a:endParaRPr lang="en-US" altLang="en-US" sz="220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2200"/>
                        <a:t>Developers</a:t>
                      </a:r>
                      <a:endParaRPr lang="en-US" altLang="en-US" sz="220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2200"/>
                        <a:t>Support / maintenance team</a:t>
                      </a:r>
                      <a:endParaRPr lang="en-US" altLang="en-US" sz="220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2200"/>
                        <a:t>Customers</a:t>
                      </a:r>
                      <a:endParaRPr lang="en-US" altLang="en-US" sz="220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2200"/>
                        <a:t>Suppliers/vendors</a:t>
                      </a:r>
                      <a:endParaRPr lang="en-US" altLang="en-US" sz="220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2200"/>
                        <a:t>Regulatory bodies</a:t>
                      </a:r>
                      <a:endParaRPr lang="en-US" altLang="en-US" sz="220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2200"/>
                        <a:t>Partners</a:t>
                      </a:r>
                      <a:endParaRPr lang="en-US" altLang="en-US" sz="220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200"/>
                        <a:t>Directly use or depend on the system to perform daily activities.</a:t>
                      </a:r>
                      <a:endParaRPr lang="en-US" altLang="en-US" sz="220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200"/>
                        <a:t>Indirectly affected or interact occasionally.</a:t>
                      </a:r>
                      <a:endParaRPr lang="en-US" altLang="en-US" sz="220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52780" y="365125"/>
            <a:ext cx="11349355" cy="1119505"/>
          </a:xfrm>
          <a:solidFill>
            <a:srgbClr val="FF8000"/>
          </a:solidFill>
          <a:ln>
            <a:solidFill>
              <a:srgbClr val="000000">
                <a:alpha val="0"/>
              </a:srgbClr>
            </a:solidFill>
          </a:ln>
        </p:spPr>
        <p:txBody>
          <a:bodyPr/>
          <a:p>
            <a:r>
              <a:rPr lang="en-US" altLang="en-US" b="1">
                <a:solidFill>
                  <a:schemeClr val="bg1"/>
                </a:solidFill>
                <a:sym typeface="+mn-ea"/>
              </a:rPr>
              <a:t>Types of stakeholders</a:t>
            </a:r>
            <a:endParaRPr lang="en-US" altLang="en-US" b="1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8000"/>
          </a:solidFill>
          <a:ln>
            <a:solidFill>
              <a:srgbClr val="000000">
                <a:alpha val="0"/>
              </a:srgbClr>
            </a:solidFill>
          </a:ln>
        </p:spPr>
        <p:txBody>
          <a:bodyPr/>
          <a:p>
            <a:r>
              <a:rPr lang="en-US" b="1">
                <a:solidFill>
                  <a:schemeClr val="bg1"/>
                </a:solidFill>
                <a:effectLst/>
                <a:sym typeface="+mn-ea"/>
              </a:rPr>
              <a:t>System Organogram</a:t>
            </a:r>
            <a:endParaRPr lang="en-US" b="1">
              <a:solidFill>
                <a:schemeClr val="bg1"/>
              </a:solidFill>
              <a:effectLst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565" y="2014855"/>
            <a:ext cx="4985385" cy="4027805"/>
          </a:xfrm>
        </p:spPr>
        <p:txBody>
          <a:bodyPr>
            <a:normAutofit/>
          </a:bodyPr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An Organizational chart, or </a:t>
            </a:r>
            <a:r>
              <a:rPr lang="en-US" sz="24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Organogram</a:t>
            </a: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, is a </a:t>
            </a:r>
            <a:r>
              <a:rPr lang="en-US" sz="24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diagram </a:t>
            </a: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that shows </a:t>
            </a:r>
            <a:r>
              <a:rPr lang="en-US" sz="24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how an organization is structured</a:t>
            </a: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, and how the positions in the organization are related to each other. </a:t>
            </a:r>
            <a:endParaRPr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2400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UIU</a:t>
            </a:r>
            <a:endParaRPr lang="en-US"/>
          </a:p>
        </p:txBody>
      </p:sp>
      <p:graphicFrame>
        <p:nvGraphicFramePr>
          <p:cNvPr id="6" name="Diagram 5"/>
          <p:cNvGraphicFramePr/>
          <p:nvPr/>
        </p:nvGraphicFramePr>
        <p:xfrm>
          <a:off x="5920740" y="2012315"/>
          <a:ext cx="5433060" cy="3218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rgbClr val="FF8000"/>
          </a:solidFill>
          <a:ln>
            <a:solidFill>
              <a:srgbClr val="000000">
                <a:alpha val="0"/>
              </a:srgbClr>
            </a:solidFill>
          </a:ln>
        </p:spPr>
        <p:txBody>
          <a:bodyPr/>
          <a:p>
            <a:r>
              <a:rPr lang="en-US" b="1">
                <a:solidFill>
                  <a:schemeClr val="bg1"/>
                </a:solidFill>
                <a:effectLst/>
                <a:sym typeface="+mn-ea"/>
              </a:rPr>
              <a:t>Hierarchical Organogram </a:t>
            </a:r>
            <a:endParaRPr lang="en-US" b="1">
              <a:solidFill>
                <a:schemeClr val="bg1"/>
              </a:solidFill>
              <a:effectLst/>
              <a:sym typeface="+mn-ea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629785" cy="4351655"/>
          </a:xfrm>
        </p:spPr>
        <p:txBody>
          <a:bodyPr>
            <a:normAutofit/>
          </a:bodyPr>
          <a:p>
            <a:pPr marL="0" indent="0">
              <a:lnSpc>
                <a:spcPct val="100000"/>
              </a:lnSpc>
              <a:buNone/>
            </a:pPr>
            <a:r>
              <a:rPr 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A hierarchical organogram is a visual representation of an organization that shows the</a:t>
            </a:r>
            <a:r>
              <a:rPr 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relationships</a:t>
            </a:r>
            <a:r>
              <a:rPr 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between </a:t>
            </a:r>
            <a:r>
              <a:rPr 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different positions and departments</a:t>
            </a:r>
            <a:r>
              <a:rPr 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within a company.</a:t>
            </a:r>
            <a:endParaRPr lang="en-US" sz="240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UIU</a:t>
            </a:r>
            <a:endParaRPr lang="en-US"/>
          </a:p>
        </p:txBody>
      </p:sp>
      <p:pic>
        <p:nvPicPr>
          <p:cNvPr id="8" name="Google Shape;308;p8"/>
          <p:cNvPicPr preferRelativeResize="0">
            <a:picLocks noChangeAspect="1"/>
          </p:cNvPicPr>
          <p:nvPr>
            <p:ph sz="half" idx="2"/>
          </p:nvPr>
        </p:nvPicPr>
        <p:blipFill rotWithShape="1">
          <a:blip r:embed="rId1"/>
          <a:srcRect b="2709"/>
          <a:stretch>
            <a:fillRect/>
          </a:stretch>
        </p:blipFill>
        <p:spPr>
          <a:xfrm>
            <a:off x="5468620" y="2101215"/>
            <a:ext cx="6156960" cy="34036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rgbClr val="FF8000"/>
          </a:solidFill>
          <a:ln>
            <a:solidFill>
              <a:srgbClr val="000000">
                <a:alpha val="0"/>
              </a:srgbClr>
            </a:solidFill>
          </a:ln>
        </p:spPr>
        <p:txBody>
          <a:bodyPr/>
          <a:p>
            <a:r>
              <a:rPr lang="en-US" b="1">
                <a:solidFill>
                  <a:schemeClr val="bg1"/>
                </a:solidFill>
                <a:effectLst/>
                <a:sym typeface="+mn-ea"/>
              </a:rPr>
              <a:t>Flat Organogram </a:t>
            </a:r>
            <a:endParaRPr lang="en-US" b="1">
              <a:solidFill>
                <a:schemeClr val="bg1"/>
              </a:solidFill>
              <a:effectLst/>
              <a:sym typeface="+mn-ea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206240" cy="4351655"/>
          </a:xfrm>
        </p:spPr>
        <p:txBody>
          <a:bodyPr>
            <a:normAutofit lnSpcReduction="20000"/>
          </a:bodyPr>
          <a:p>
            <a:pPr marL="0" indent="0">
              <a:lnSpc>
                <a:spcPct val="100000"/>
              </a:lnSpc>
              <a:buNone/>
            </a:pPr>
            <a:r>
              <a:rPr lang="en-US" alt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A flat organogram is a chart that shows an organization with </a:t>
            </a:r>
            <a:r>
              <a:rPr lang="en-US" alt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few or no middle management layers</a:t>
            </a:r>
            <a:r>
              <a:rPr lang="en-US" alt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, connecting staff directly to executives.</a:t>
            </a:r>
            <a:endParaRPr lang="en-US" altLang="en-US" sz="240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endParaRPr lang="en-US" sz="240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316" name="Google Shape;316;g266538fbce6_0_514"/>
          <p:cNvPicPr preferRelativeResize="0">
            <a:picLocks noChangeAspect="1"/>
          </p:cNvPicPr>
          <p:nvPr>
            <p:ph sz="half" idx="2"/>
          </p:nvPr>
        </p:nvPicPr>
        <p:blipFill rotWithShape="1">
          <a:blip r:embed="rId1"/>
          <a:srcRect/>
          <a:stretch>
            <a:fillRect/>
          </a:stretch>
        </p:blipFill>
        <p:spPr>
          <a:xfrm>
            <a:off x="5307330" y="1824990"/>
            <a:ext cx="6046470" cy="453199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UIU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rgbClr val="FF8000"/>
          </a:solidFill>
          <a:ln>
            <a:solidFill>
              <a:srgbClr val="000000">
                <a:alpha val="0"/>
              </a:srgbClr>
            </a:solidFill>
          </a:ln>
        </p:spPr>
        <p:txBody>
          <a:bodyPr/>
          <a:p>
            <a:r>
              <a:rPr lang="en-US" b="1">
                <a:solidFill>
                  <a:schemeClr val="bg1"/>
                </a:solidFill>
                <a:effectLst/>
                <a:sym typeface="+mn-ea"/>
              </a:rPr>
              <a:t>Matrix Organogram </a:t>
            </a:r>
            <a:endParaRPr lang="en-US" b="1">
              <a:solidFill>
                <a:schemeClr val="bg1"/>
              </a:solidFill>
              <a:effectLst/>
              <a:sym typeface="+mn-ea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041900" cy="4351655"/>
          </a:xfrm>
        </p:spPr>
        <p:txBody>
          <a:bodyPr>
            <a:normAutofit lnSpcReduction="10000"/>
          </a:bodyPr>
          <a:p>
            <a:pPr marL="0" indent="0">
              <a:lnSpc>
                <a:spcPct val="100000"/>
              </a:lnSpc>
              <a:buNone/>
            </a:pPr>
            <a:r>
              <a:rPr lang="en-US" alt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A matrix organogram is a chart that shows a structure where </a:t>
            </a:r>
            <a:r>
              <a:rPr lang="en-US" alt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employees report to more than one manager</a:t>
            </a:r>
            <a:r>
              <a:rPr lang="en-US" alt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, instead of just one.</a:t>
            </a:r>
            <a:endParaRPr lang="en-US" altLang="en-US" sz="240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endParaRPr lang="en-US" altLang="en-US" sz="240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sz="240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3" name="Content Placeholder 2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5826125" y="1851025"/>
            <a:ext cx="5527675" cy="434530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UIU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</p:nvPr>
        </p:nvSpPr>
        <p:spPr>
          <a:solidFill>
            <a:srgbClr val="FF8000"/>
          </a:solidFill>
          <a:ln>
            <a:solidFill>
              <a:srgbClr val="000000">
                <a:alpha val="0"/>
              </a:srgbClr>
            </a:solidFill>
          </a:ln>
        </p:spPr>
        <p:txBody>
          <a:bodyPr anchor="ctr" anchorCtr="0"/>
          <a:p>
            <a:r>
              <a:rPr lang="en-US" b="1">
                <a:solidFill>
                  <a:schemeClr val="bg1"/>
                </a:solidFill>
                <a:effectLst/>
                <a:sym typeface="+mn-ea"/>
              </a:rPr>
              <a:t>System Development Life</a:t>
            </a:r>
            <a:br>
              <a:rPr lang="en-US" b="1">
                <a:solidFill>
                  <a:schemeClr val="bg1"/>
                </a:solidFill>
                <a:effectLst/>
                <a:sym typeface="+mn-ea"/>
              </a:rPr>
            </a:br>
            <a:r>
              <a:rPr lang="en-US" b="1">
                <a:solidFill>
                  <a:schemeClr val="bg1"/>
                </a:solidFill>
                <a:effectLst/>
                <a:sym typeface="+mn-ea"/>
              </a:rPr>
              <a:t>Cycle (SDLC)</a:t>
            </a:r>
            <a:endParaRPr lang="en-US" b="1">
              <a:solidFill>
                <a:schemeClr val="bg1"/>
              </a:solidFill>
              <a:effectLst/>
              <a:sym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UIU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8000"/>
          </a:solidFill>
          <a:ln>
            <a:solidFill>
              <a:srgbClr val="000000">
                <a:alpha val="0"/>
              </a:srgbClr>
            </a:solidFill>
          </a:ln>
        </p:spPr>
        <p:txBody>
          <a:bodyPr/>
          <a:p>
            <a:r>
              <a:rPr lang="en-US" b="1">
                <a:solidFill>
                  <a:schemeClr val="bg1"/>
                </a:solidFill>
                <a:latin typeface="Oswald"/>
                <a:ea typeface="Oswald"/>
                <a:cs typeface="Oswald"/>
                <a:sym typeface="Oswald"/>
              </a:rPr>
              <a:t>What is SDLC?</a:t>
            </a:r>
            <a:endParaRPr lang="en-US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Font typeface="Wingdings" panose="05000000000000000000" charset="0"/>
              <a:buNone/>
            </a:pPr>
            <a:r>
              <a:rPr lang="en-US" sz="2400">
                <a:latin typeface="Calibri" panose="020F0502020204030204" charset="0"/>
                <a:cs typeface="Calibri" panose="020F0502020204030204" charset="0"/>
              </a:rPr>
              <a:t>The Software Development Life Cycle (SDLC) is a </a:t>
            </a:r>
            <a:r>
              <a:rPr lang="en-US" sz="2400" b="1">
                <a:latin typeface="Calibri" panose="020F0502020204030204" charset="0"/>
                <a:cs typeface="Calibri" panose="020F0502020204030204" charset="0"/>
              </a:rPr>
              <a:t>systematic process</a:t>
            </a:r>
            <a:r>
              <a:rPr lang="en-US" sz="2400">
                <a:latin typeface="Calibri" panose="020F0502020204030204" charset="0"/>
                <a:cs typeface="Calibri" panose="020F0502020204030204" charset="0"/>
              </a:rPr>
              <a:t> used by software development teams to design, develop, test, and deploy software applications which means </a:t>
            </a:r>
            <a:r>
              <a:rPr lang="en-US" sz="2400" b="1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to create a system or software</a:t>
            </a:r>
            <a:r>
              <a:rPr lang="en-US" sz="2400">
                <a:latin typeface="Calibri" panose="020F0502020204030204" charset="0"/>
                <a:cs typeface="Calibri" panose="020F0502020204030204" charset="0"/>
              </a:rPr>
              <a:t>. </a:t>
            </a:r>
            <a:endParaRPr lang="en-US" sz="2400"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Benefits of following SDLC</a:t>
            </a:r>
            <a:endParaRPr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53848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</a:pPr>
            <a:r>
              <a:rPr lang="en-GB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Covering all Requirements</a:t>
            </a:r>
            <a:endParaRPr sz="2400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53848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1800"/>
            </a:pPr>
            <a:r>
              <a:rPr lang="en-GB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Ensuring Quality</a:t>
            </a:r>
            <a:endParaRPr sz="2400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53848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1800"/>
            </a:pPr>
            <a:r>
              <a:rPr lang="en-GB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Making it cost effective</a:t>
            </a:r>
            <a:endParaRPr sz="2400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53848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1800"/>
            </a:pPr>
            <a:r>
              <a:rPr lang="en-GB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Ease of maintenance</a:t>
            </a:r>
            <a:endParaRPr sz="2400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53848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1800"/>
            </a:pPr>
            <a:r>
              <a:rPr lang="en-GB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Future Expansion will be easier</a:t>
            </a:r>
            <a:endParaRPr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sz="24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sz="24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sz="24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UIU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8000"/>
          </a:solidFill>
          <a:ln>
            <a:solidFill>
              <a:srgbClr val="000000">
                <a:alpha val="0"/>
              </a:srgbClr>
            </a:solidFill>
          </a:ln>
        </p:spPr>
        <p:txBody>
          <a:bodyPr>
            <a:normAutofit fontScale="90000"/>
          </a:bodyPr>
          <a:p>
            <a:r>
              <a:rPr lang="en-US" altLang="en-US" b="1">
                <a:solidFill>
                  <a:schemeClr val="bg1"/>
                </a:solidFill>
                <a:effectLst/>
                <a:latin typeface="Calibri" panose="020F0502020204030204" charset="0"/>
                <a:cs typeface="Calibri" panose="020F0502020204030204" charset="0"/>
                <a:sym typeface="+mn-ea"/>
              </a:rPr>
              <a:t>7 Phases of the Software Development Life Cycle</a:t>
            </a:r>
            <a:endParaRPr lang="en-US" altLang="en-US" b="1">
              <a:solidFill>
                <a:schemeClr val="bg1"/>
              </a:solidFill>
              <a:effectLst/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5755"/>
            <a:ext cx="10515600" cy="4351338"/>
          </a:xfrm>
        </p:spPr>
        <p:txBody>
          <a:bodyPr>
            <a:normAutofit lnSpcReduction="20000"/>
          </a:bodyPr>
          <a:p>
            <a:pPr marL="49530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lang="en-US" sz="2400">
              <a:solidFill>
                <a:srgbClr val="0070C0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9530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2400">
                <a:solidFill>
                  <a:srgbClr val="0070C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Idea Generation</a:t>
            </a: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</a:t>
            </a:r>
            <a:endParaRPr lang="en-US"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381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j-lt"/>
              <a:buNone/>
            </a:pP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1. Planning</a:t>
            </a:r>
            <a:endParaRPr sz="2400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381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j-lt"/>
              <a:buNone/>
            </a:pP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2. Requirement Gathering / System Information</a:t>
            </a:r>
            <a:endParaRPr sz="2400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9530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2400">
                <a:solidFill>
                  <a:srgbClr val="0070C0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Analysis</a:t>
            </a:r>
            <a:endParaRPr sz="2400">
              <a:solidFill>
                <a:srgbClr val="0070C0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381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j-lt"/>
              <a:buNone/>
            </a:pP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3. Design</a:t>
            </a:r>
            <a:endParaRPr sz="2400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381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j-lt"/>
              <a:buNone/>
            </a:pP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4. Development/Construction/Coding</a:t>
            </a:r>
            <a:endParaRPr sz="2400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381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j-lt"/>
              <a:buNone/>
            </a:pP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5. Testing</a:t>
            </a:r>
            <a:endParaRPr sz="2400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381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j-lt"/>
              <a:buNone/>
            </a:pP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6. Deployment</a:t>
            </a:r>
            <a:endParaRPr sz="2400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381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j-lt"/>
              <a:buNone/>
            </a:pP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7. Post–Implementation &amp; Maintenance</a:t>
            </a:r>
            <a:endParaRPr sz="2400"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000"/>
              <a:buNone/>
            </a:pPr>
            <a:endParaRPr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indent="0">
              <a:buNone/>
            </a:pPr>
            <a:endParaRPr lang="en-US"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8000"/>
          </a:solidFill>
          <a:ln>
            <a:solidFill>
              <a:srgbClr val="000000">
                <a:alpha val="0"/>
              </a:srgbClr>
            </a:solidFill>
          </a:ln>
        </p:spPr>
        <p:txBody>
          <a:bodyPr/>
          <a:p>
            <a:r>
              <a:rPr lang="en-US" b="1">
                <a:solidFill>
                  <a:schemeClr val="bg1"/>
                </a:solidFill>
                <a:sym typeface="+mn-ea"/>
              </a:rPr>
              <a:t>SDLC Phases</a:t>
            </a:r>
            <a:endParaRPr lang="en-US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361" name="Google Shape;361;p13"/>
          <p:cNvPicPr preferRelativeResize="0">
            <a:picLocks noChangeAspect="1"/>
          </p:cNvPicPr>
          <p:nvPr>
            <p:ph sz="half" idx="1"/>
          </p:nvPr>
        </p:nvPicPr>
        <p:blipFill rotWithShape="1">
          <a:blip r:embed="rId1"/>
          <a:srcRect/>
          <a:stretch>
            <a:fillRect/>
          </a:stretch>
        </p:blipFill>
        <p:spPr>
          <a:xfrm>
            <a:off x="937260" y="2025015"/>
            <a:ext cx="4385310" cy="401764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70" name="Google Shape;470;p14"/>
          <p:cNvPicPr preferRelativeResize="0">
            <a:picLocks noChangeAspect="1"/>
          </p:cNvPicPr>
          <p:nvPr>
            <p:ph sz="half" idx="2"/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6376670" y="1843405"/>
            <a:ext cx="4772025" cy="43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Content Placeholder 6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7858760" y="2108835"/>
            <a:ext cx="3951605" cy="39516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8000"/>
          </a:solidFill>
          <a:ln>
            <a:solidFill>
              <a:srgbClr val="000000">
                <a:alpha val="0"/>
              </a:srgbClr>
            </a:solidFill>
          </a:ln>
        </p:spPr>
        <p:txBody>
          <a:bodyPr/>
          <a:p>
            <a:r>
              <a:rPr lang="en-US" b="1">
                <a:solidFill>
                  <a:schemeClr val="bg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Idea Generation</a:t>
            </a:r>
            <a:r>
              <a:rPr lang="en-US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 </a:t>
            </a:r>
            <a:endParaRPr lang="en-US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7557770" cy="4351655"/>
          </a:xfrm>
        </p:spPr>
        <p:txBody>
          <a:bodyPr>
            <a:normAutofit/>
          </a:bodyPr>
          <a:p>
            <a:pPr marL="57150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24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Idea </a:t>
            </a: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: </a:t>
            </a:r>
            <a:r>
              <a:rPr lang="en-US" alt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Think of creative solutions that address user needs.</a:t>
            </a:r>
            <a:endParaRPr lang="en-US" altLang="en-US"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57150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2400" b="1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Feasibility </a:t>
            </a: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: </a:t>
            </a:r>
            <a:r>
              <a:rPr lang="en-US" alt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Check if the idea is realistic in terms of time, budget, and technology.</a:t>
            </a:r>
            <a:endParaRPr lang="en-US" altLang="en-US"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UIU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8000"/>
          </a:solidFill>
          <a:ln>
            <a:solidFill>
              <a:srgbClr val="000000">
                <a:alpha val="0"/>
              </a:srgbClr>
            </a:solidFill>
          </a:ln>
        </p:spPr>
        <p:txBody>
          <a:bodyPr/>
          <a:p>
            <a:r>
              <a:rPr lang="en-US" b="1">
                <a:solidFill>
                  <a:schemeClr val="bg1"/>
                </a:solidFill>
                <a:effectLst/>
              </a:rPr>
              <a:t>1. Planning </a:t>
            </a:r>
            <a:endParaRPr lang="en-US" b="1">
              <a:solidFill>
                <a:schemeClr val="bg1"/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655"/>
          </a:xfrm>
        </p:spPr>
        <p:txBody>
          <a:bodyPr>
            <a:noAutofit/>
          </a:bodyPr>
          <a:p>
            <a:pPr marL="0" indent="0">
              <a:lnSpc>
                <a:spcPct val="100000"/>
              </a:lnSpc>
              <a:buNone/>
            </a:pPr>
            <a:r>
              <a:rPr lang="en-US" sz="2400"/>
              <a:t>Define the </a:t>
            </a:r>
            <a:r>
              <a:rPr lang="en-US" sz="2400" b="1"/>
              <a:t>scope</a:t>
            </a:r>
            <a:r>
              <a:rPr lang="en-US" sz="2400"/>
              <a:t> and </a:t>
            </a:r>
            <a:r>
              <a:rPr lang="en-US" sz="2400" b="1"/>
              <a:t>purpose </a:t>
            </a:r>
            <a:r>
              <a:rPr lang="en-US" sz="2400"/>
              <a:t>of the software project. </a:t>
            </a:r>
            <a:r>
              <a:rPr lang="en-US" altLang="en-US" sz="2400"/>
              <a:t>Clearly explain what the software will do and why it is being developed. You must plan about the basic of the following things.</a:t>
            </a:r>
            <a:endParaRPr lang="en-US" altLang="en-US" sz="2400"/>
          </a:p>
          <a:p>
            <a:pPr>
              <a:lnSpc>
                <a:spcPct val="100000"/>
              </a:lnSpc>
            </a:pPr>
            <a:r>
              <a:rPr lang="en-US" altLang="en-US" sz="2400" b="1"/>
              <a:t>Feasibility Study</a:t>
            </a:r>
            <a:endParaRPr lang="en-US" altLang="en-US" sz="2400" b="1"/>
          </a:p>
          <a:p>
            <a:pPr>
              <a:lnSpc>
                <a:spcPct val="100000"/>
              </a:lnSpc>
            </a:pPr>
            <a:r>
              <a:rPr lang="en-US" altLang="en-US" sz="2400" b="1"/>
              <a:t>Resource Allocation</a:t>
            </a:r>
            <a:endParaRPr lang="en-US" altLang="en-US" sz="2400" b="1"/>
          </a:p>
          <a:p>
            <a:pPr>
              <a:lnSpc>
                <a:spcPct val="100000"/>
              </a:lnSpc>
            </a:pPr>
            <a:r>
              <a:rPr lang="en-US" altLang="en-US" sz="2400" b="1"/>
              <a:t>Project Planning</a:t>
            </a:r>
            <a:endParaRPr lang="en-US" altLang="en-US" sz="2400" b="1"/>
          </a:p>
          <a:p>
            <a:pPr>
              <a:lnSpc>
                <a:spcPct val="100000"/>
              </a:lnSpc>
            </a:pPr>
            <a:r>
              <a:rPr lang="en-US" altLang="en-US" sz="2400" b="1"/>
              <a:t>Risk Assessment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UIU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8000"/>
          </a:solidFill>
          <a:ln>
            <a:solidFill>
              <a:srgbClr val="000000">
                <a:alpha val="0"/>
              </a:srgbClr>
            </a:solidFill>
          </a:ln>
        </p:spPr>
        <p:txBody>
          <a:bodyPr/>
          <a:p>
            <a:r>
              <a:rPr lang="en-US" b="1">
                <a:solidFill>
                  <a:schemeClr val="bg1"/>
                </a:solidFill>
                <a:effectLst/>
              </a:rPr>
              <a:t>2. Requirements / Information Gathering</a:t>
            </a:r>
            <a:endParaRPr lang="en-US" b="1">
              <a:solidFill>
                <a:schemeClr val="bg1"/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037715"/>
            <a:ext cx="6676390" cy="4139565"/>
          </a:xfrm>
        </p:spPr>
        <p:txBody>
          <a:bodyPr>
            <a:normAutofit lnSpcReduction="20000"/>
          </a:bodyPr>
          <a:p>
            <a:pPr marL="0" indent="0">
              <a:lnSpc>
                <a:spcPct val="100000"/>
              </a:lnSpc>
              <a:buNone/>
            </a:pPr>
            <a:r>
              <a:rPr lang="en-US" sz="2400"/>
              <a:t>Gather detailed functional and non-functional requirements from stakeholders and all possible sources.</a:t>
            </a:r>
            <a:endParaRPr lang="en-US" sz="2400"/>
          </a:p>
          <a:p>
            <a:pPr>
              <a:lnSpc>
                <a:spcPct val="100000"/>
              </a:lnSpc>
            </a:pPr>
            <a:r>
              <a:rPr lang="en-US" sz="2400"/>
              <a:t>Conduct interviews, surveys, and meetings with stakeholders.</a:t>
            </a:r>
            <a:endParaRPr lang="en-US" sz="2400"/>
          </a:p>
          <a:p>
            <a:pPr>
              <a:lnSpc>
                <a:spcPct val="100000"/>
              </a:lnSpc>
            </a:pPr>
            <a:r>
              <a:rPr lang="en-US" sz="2400">
                <a:sym typeface="+mn-ea"/>
              </a:rPr>
              <a:t>What are the requirement need to develop the project</a:t>
            </a:r>
            <a:endParaRPr lang="en-US" sz="2400"/>
          </a:p>
          <a:p>
            <a:pPr>
              <a:lnSpc>
                <a:spcPct val="100000"/>
              </a:lnSpc>
            </a:pPr>
            <a:endParaRPr lang="en-US" sz="2400"/>
          </a:p>
          <a:p>
            <a:pPr marL="0" indent="0">
              <a:lnSpc>
                <a:spcPct val="100000"/>
              </a:lnSpc>
              <a:buNone/>
            </a:pPr>
            <a:endParaRPr lang="en-US" sz="24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UIU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389" name="Google Shape;389;g266538fbce6_0_565"/>
          <p:cNvPicPr preferRelativeResize="0"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7514590" y="2037080"/>
            <a:ext cx="3839210" cy="331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8000"/>
          </a:solidFill>
          <a:ln>
            <a:solidFill>
              <a:srgbClr val="000000">
                <a:alpha val="0"/>
              </a:srgbClr>
            </a:solidFill>
          </a:ln>
        </p:spPr>
        <p:txBody>
          <a:bodyPr/>
          <a:p>
            <a:r>
              <a:rPr lang="en-US" b="1">
                <a:solidFill>
                  <a:schemeClr val="bg1"/>
                </a:solidFill>
                <a:effectLst/>
                <a:sym typeface="+mn-ea"/>
              </a:rPr>
              <a:t>System Analysis</a:t>
            </a:r>
            <a:endParaRPr lang="en-US" b="1">
              <a:solidFill>
                <a:schemeClr val="bg1"/>
              </a:solidFill>
              <a:effectLst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009640" cy="4351655"/>
          </a:xfrm>
        </p:spPr>
        <p:txBody>
          <a:bodyPr/>
          <a:p>
            <a:pPr>
              <a:lnSpc>
                <a:spcPct val="100000"/>
              </a:lnSpc>
            </a:pPr>
            <a:r>
              <a:rPr lang="en-US" altLang="en-US" sz="2400" b="1">
                <a:latin typeface="Calibri" panose="020F0502020204030204" charset="0"/>
                <a:cs typeface="Calibri" panose="020F0502020204030204" charset="0"/>
              </a:rPr>
              <a:t>Feature Comparison</a:t>
            </a:r>
            <a:endParaRPr lang="en-US" altLang="en-US" sz="2400" b="1">
              <a:latin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400" b="1">
                <a:latin typeface="Calibri" panose="020F0502020204030204" charset="0"/>
                <a:cs typeface="Calibri" panose="020F0502020204030204" charset="0"/>
              </a:rPr>
              <a:t>Gap Analysis</a:t>
            </a:r>
            <a:endParaRPr lang="en-US" altLang="en-US" sz="2400" b="1">
              <a:latin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400" b="1">
                <a:latin typeface="Calibri" panose="020F0502020204030204" charset="0"/>
                <a:cs typeface="Calibri" panose="020F0502020204030204" charset="0"/>
              </a:rPr>
              <a:t>Feature List Fixation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UIU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398" name="Google Shape;398;g2665537da0b_0_0"/>
          <p:cNvPicPr preferRelativeResize="0"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972935" y="1975485"/>
            <a:ext cx="4380865" cy="3385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8000"/>
          </a:solidFill>
          <a:ln>
            <a:solidFill>
              <a:srgbClr val="000000">
                <a:alpha val="0"/>
              </a:srgbClr>
            </a:solidFill>
          </a:ln>
        </p:spPr>
        <p:txBody>
          <a:bodyPr/>
          <a:p>
            <a:r>
              <a:rPr lang="en-US" b="1">
                <a:solidFill>
                  <a:schemeClr val="bg1"/>
                </a:solidFill>
                <a:effectLst/>
                <a:sym typeface="+mn-ea"/>
              </a:rPr>
              <a:t>3. System Design</a:t>
            </a:r>
            <a:endParaRPr lang="en-US" b="1">
              <a:solidFill>
                <a:schemeClr val="bg1"/>
              </a:solidFill>
              <a:effectLst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Font typeface="Wingdings" panose="05000000000000000000" charset="0"/>
              <a:buNone/>
            </a:pPr>
            <a:r>
              <a:rPr lang="en-US" sz="2400">
                <a:latin typeface="Calibri" panose="020F0502020204030204" charset="0"/>
                <a:cs typeface="Calibri" panose="020F0502020204030204" charset="0"/>
              </a:rPr>
              <a:t>Create the architecture and design of the software.</a:t>
            </a:r>
            <a:endParaRPr lang="en-US" sz="2400">
              <a:latin typeface="Calibri" panose="020F0502020204030204" charset="0"/>
              <a:cs typeface="Calibri" panose="020F0502020204030204" charset="0"/>
            </a:endParaRPr>
          </a:p>
          <a:p>
            <a:pPr marL="4572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UML design</a:t>
            </a:r>
            <a:endParaRPr lang="en-US"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572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DB</a:t>
            </a:r>
            <a:endParaRPr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572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UI design</a:t>
            </a:r>
            <a:endParaRPr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572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Structured design</a:t>
            </a:r>
            <a:endParaRPr lang="en-US"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572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Prototype</a:t>
            </a:r>
            <a:endParaRPr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572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SRS document delivery</a:t>
            </a:r>
            <a:endParaRPr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UIU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406" name="Google Shape;406;g2665537da0b_0_10"/>
          <p:cNvPicPr preferRelativeResize="0"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172200" y="2058035"/>
            <a:ext cx="518160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8000"/>
          </a:solidFill>
          <a:ln>
            <a:solidFill>
              <a:srgbClr val="000000">
                <a:alpha val="0"/>
              </a:srgbClr>
            </a:solidFill>
          </a:ln>
        </p:spPr>
        <p:txBody>
          <a:bodyPr/>
          <a:p>
            <a:r>
              <a:rPr lang="en-US" b="1">
                <a:solidFill>
                  <a:schemeClr val="bg1"/>
                </a:solidFill>
                <a:effectLst/>
                <a:sym typeface="+mn-ea"/>
              </a:rPr>
              <a:t>4. Development</a:t>
            </a:r>
            <a:endParaRPr lang="en-US" b="1">
              <a:solidFill>
                <a:schemeClr val="bg1"/>
              </a:solidFill>
              <a:effectLst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77155" cy="4351655"/>
          </a:xfrm>
        </p:spPr>
        <p:txBody>
          <a:bodyPr>
            <a:noAutofit/>
          </a:bodyPr>
          <a:p>
            <a:pPr marL="0" indent="0">
              <a:lnSpc>
                <a:spcPct val="100000"/>
              </a:lnSpc>
              <a:buFont typeface="Wingdings" panose="05000000000000000000" charset="0"/>
              <a:buNone/>
            </a:pPr>
            <a:r>
              <a:rPr lang="en-US" sz="2400">
                <a:latin typeface="Calibri" panose="020F0502020204030204" charset="0"/>
                <a:cs typeface="Calibri" panose="020F0502020204030204" charset="0"/>
              </a:rPr>
              <a:t>Develop the actual software code based on the design specifications.</a:t>
            </a:r>
            <a:endParaRPr lang="en-US" sz="2400">
              <a:latin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Coding</a:t>
            </a:r>
            <a:endParaRPr lang="en-US" altLang="en-US"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>
              <a:lnSpc>
                <a:spcPct val="100000"/>
              </a:lnSpc>
            </a:pPr>
            <a:r>
              <a:rPr lang="en-US" alt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Repository</a:t>
            </a:r>
            <a:endParaRPr lang="en-US" altLang="en-US"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>
              <a:lnSpc>
                <a:spcPct val="100000"/>
              </a:lnSpc>
            </a:pPr>
            <a:r>
              <a:rPr lang="en-US" alt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Unit Testing</a:t>
            </a:r>
            <a:endParaRPr lang="en-US" altLang="en-US"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>
              <a:lnSpc>
                <a:spcPct val="100000"/>
              </a:lnSpc>
            </a:pPr>
            <a:r>
              <a:rPr lang="en-US" alt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Code Review</a:t>
            </a:r>
            <a:endParaRPr lang="en-US" altLang="en-US"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>
              <a:lnSpc>
                <a:spcPct val="100000"/>
              </a:lnSpc>
            </a:pPr>
            <a:r>
              <a:rPr lang="en-US" alt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Integration</a:t>
            </a:r>
            <a:endParaRPr lang="en-US" altLang="en-US"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>
              <a:lnSpc>
                <a:spcPct val="100000"/>
              </a:lnSpc>
            </a:pPr>
            <a:r>
              <a:rPr lang="en-US" alt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Change Management</a:t>
            </a:r>
            <a:endParaRPr lang="en-US"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UIU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9" name="Content Placeholder 5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7303770" y="1825625"/>
            <a:ext cx="3941445" cy="427926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8000"/>
          </a:solidFill>
          <a:ln>
            <a:solidFill>
              <a:srgbClr val="000000">
                <a:alpha val="0"/>
              </a:srgbClr>
            </a:solidFill>
          </a:ln>
        </p:spPr>
        <p:txBody>
          <a:bodyPr/>
          <a:p>
            <a:r>
              <a:rPr lang="en-US" b="1">
                <a:solidFill>
                  <a:schemeClr val="bg1"/>
                </a:solidFill>
                <a:effectLst/>
                <a:sym typeface="+mn-ea"/>
              </a:rPr>
              <a:t>5. Testing</a:t>
            </a:r>
            <a:endParaRPr lang="en-US" b="1">
              <a:solidFill>
                <a:schemeClr val="bg1"/>
              </a:solidFill>
              <a:effectLst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000885"/>
            <a:ext cx="5070475" cy="4176395"/>
          </a:xfrm>
        </p:spPr>
        <p:txBody>
          <a:bodyPr/>
          <a:p>
            <a:pPr marL="0" indent="0">
              <a:buFont typeface="Wingdings" panose="05000000000000000000" charset="0"/>
              <a:buNone/>
            </a:pPr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Ensure the software meets all requirements and is free of defects.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  <a:p>
            <a:pPr marL="4572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Bug fixing</a:t>
            </a:r>
            <a:endParaRPr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572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UX</a:t>
            </a:r>
            <a:endParaRPr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572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QA</a:t>
            </a:r>
            <a:endParaRPr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572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Documenting</a:t>
            </a:r>
            <a:endParaRPr sz="2400">
              <a:solidFill>
                <a:srgbClr val="000000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UIU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7" name="Content Placeholder 6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5399405" y="1889760"/>
            <a:ext cx="5954395" cy="413702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8000"/>
          </a:solidFill>
          <a:ln>
            <a:solidFill>
              <a:srgbClr val="000000">
                <a:alpha val="0"/>
              </a:srgbClr>
            </a:solidFill>
          </a:ln>
        </p:spPr>
        <p:txBody>
          <a:bodyPr/>
          <a:p>
            <a:r>
              <a:rPr lang="en-US" b="1">
                <a:solidFill>
                  <a:schemeClr val="bg1"/>
                </a:solidFill>
                <a:effectLst/>
                <a:sym typeface="+mn-ea"/>
              </a:rPr>
              <a:t>6. Deployment</a:t>
            </a:r>
            <a:endParaRPr lang="en-US" b="1">
              <a:solidFill>
                <a:schemeClr val="bg1"/>
              </a:solidFill>
              <a:effectLst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lnSpc>
                <a:spcPct val="100000"/>
              </a:lnSpc>
              <a:buNone/>
            </a:pPr>
            <a:r>
              <a:rPr lang="en-US" sz="2400">
                <a:latin typeface="Calibri" panose="020F0502020204030204" charset="0"/>
                <a:cs typeface="Calibri" panose="020F0502020204030204" charset="0"/>
              </a:rPr>
              <a:t>Release the software to production environments for end-users.</a:t>
            </a:r>
            <a:endParaRPr lang="en-US" sz="2400">
              <a:latin typeface="Calibri" panose="020F0502020204030204" charset="0"/>
              <a:cs typeface="Calibri" panose="020F0502020204030204" charset="0"/>
            </a:endParaRPr>
          </a:p>
          <a:p>
            <a:pPr marL="5715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Server setup</a:t>
            </a:r>
            <a:endParaRPr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5715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Product delivery</a:t>
            </a:r>
            <a:endParaRPr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5715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Training</a:t>
            </a:r>
            <a:endParaRPr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5715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User manual/ tutorials</a:t>
            </a:r>
            <a:endParaRPr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5715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Data migration/entry</a:t>
            </a:r>
            <a:endParaRPr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pic>
        <p:nvPicPr>
          <p:cNvPr id="7" name="Content Placeholder 6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7082155" y="2235835"/>
            <a:ext cx="4084320" cy="3531235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UIU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8000"/>
          </a:solidFill>
          <a:ln>
            <a:solidFill>
              <a:srgbClr val="000000">
                <a:alpha val="0"/>
              </a:srgbClr>
            </a:solidFill>
          </a:ln>
        </p:spPr>
        <p:txBody>
          <a:bodyPr/>
          <a:p>
            <a:r>
              <a:rPr lang="en-US" b="1">
                <a:solidFill>
                  <a:schemeClr val="bg1"/>
                </a:solidFill>
                <a:effectLst/>
                <a:sym typeface="+mn-ea"/>
              </a:rPr>
              <a:t>7. Maintenance</a:t>
            </a:r>
            <a:endParaRPr lang="en-US" b="1">
              <a:solidFill>
                <a:schemeClr val="bg1"/>
              </a:solidFill>
              <a:effectLst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Font typeface="Wingdings" panose="05000000000000000000" charset="0"/>
              <a:buNone/>
            </a:pPr>
            <a:r>
              <a:rPr lang="en-US" sz="2400">
                <a:latin typeface="Calibri" panose="020F0502020204030204" charset="0"/>
                <a:cs typeface="Calibri" panose="020F0502020204030204" charset="0"/>
              </a:rPr>
              <a:t>Provide ongoing support and enhancements to the software after deployment.</a:t>
            </a:r>
            <a:endParaRPr lang="en-US" sz="2400">
              <a:latin typeface="Calibri" panose="020F0502020204030204" charset="0"/>
              <a:cs typeface="Calibri" panose="020F0502020204030204" charset="0"/>
            </a:endParaRPr>
          </a:p>
          <a:p>
            <a:pPr marL="4572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Bug/issue/troubleshooting</a:t>
            </a:r>
            <a:endParaRPr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572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Receive feedback from users</a:t>
            </a:r>
            <a:endParaRPr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4572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2400">
                <a:solidFill>
                  <a:schemeClr val="dk1"/>
                </a:solidFill>
                <a:latin typeface="Calibri" panose="020F0502020204030204" charset="0"/>
                <a:ea typeface="Oswald"/>
                <a:cs typeface="Calibri" panose="020F0502020204030204" charset="0"/>
                <a:sym typeface="Oswald"/>
              </a:rPr>
              <a:t>Delivers list of updated requirements</a:t>
            </a:r>
            <a:endParaRPr sz="2400">
              <a:solidFill>
                <a:srgbClr val="000000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sz="2400">
              <a:solidFill>
                <a:schemeClr val="dk1"/>
              </a:solidFill>
              <a:latin typeface="Calibri" panose="020F0502020204030204" charset="0"/>
              <a:ea typeface="Oswald"/>
              <a:cs typeface="Calibri" panose="020F0502020204030204" charset="0"/>
              <a:sym typeface="Oswald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UIU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443" name="Google Shape;443;g2665537da0b_0_47"/>
          <p:cNvPicPr preferRelativeResize="0"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172200" y="2209800"/>
            <a:ext cx="5181600" cy="3582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1"/>
          <a:srcRect/>
          <a:stretch>
            <a:fillRect/>
          </a:stretch>
        </p:blipFill>
        <p:spPr>
          <a:xfrm>
            <a:off x="1061720" y="1803400"/>
            <a:ext cx="8793544" cy="4631267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15"/>
          <p:cNvSpPr txBox="1"/>
          <p:nvPr/>
        </p:nvSpPr>
        <p:spPr>
          <a:xfrm>
            <a:off x="7823200" y="2210435"/>
            <a:ext cx="2844800" cy="110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 Narrow" panose="020B0606020202030204"/>
              <a:buNone/>
            </a:pPr>
            <a:r>
              <a:rPr lang="en-US" sz="2135" b="1" i="0" u="none" strike="noStrike" cap="none">
                <a:solidFill>
                  <a:srgbClr val="0000FF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Implementation: </a:t>
            </a:r>
            <a:endParaRPr lang="en-US" sz="2135" b="1" i="0" u="none" strike="noStrike" cap="none">
              <a:solidFill>
                <a:srgbClr val="0000FF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 Narrow" panose="020B0606020202030204"/>
              <a:buNone/>
            </a:pPr>
            <a:r>
              <a:rPr lang="en-US" sz="2135" b="1" i="0" u="none" strike="noStrike" cap="none">
                <a:solidFill>
                  <a:srgbClr val="0000FF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Coding, Testing, Deployment</a:t>
            </a:r>
            <a:endParaRPr sz="2135" b="1" i="0" u="none" strike="noStrike" cap="none">
              <a:solidFill>
                <a:srgbClr val="0000FF"/>
              </a:solidFill>
              <a:latin typeface="Arial Narrow" panose="020B0606020202030204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479" name="Google Shape;479;p15"/>
          <p:cNvSpPr txBox="1"/>
          <p:nvPr/>
        </p:nvSpPr>
        <p:spPr>
          <a:xfrm>
            <a:off x="3680967" y="5723890"/>
            <a:ext cx="22832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 panose="00000500000000000000"/>
              <a:buNone/>
            </a:pPr>
            <a:r>
              <a:rPr lang="en-US" sz="1865" b="1" i="0" u="none" strike="noStrike" cap="none">
                <a:solidFill>
                  <a:schemeClr val="dk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User Feedback</a:t>
            </a:r>
            <a:endParaRPr sz="1865" b="1" i="0" u="none" strike="noStrike" cap="none">
              <a:solidFill>
                <a:srgbClr val="FFFFFF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480" name="Google Shape;480;p15"/>
          <p:cNvSpPr txBox="1"/>
          <p:nvPr/>
        </p:nvSpPr>
        <p:spPr>
          <a:xfrm>
            <a:off x="2917190" y="4646930"/>
            <a:ext cx="1727200" cy="366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Feedback</a:t>
            </a:r>
            <a:endParaRPr lang="en-US" sz="16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81" name="Google Shape;481;p15"/>
          <p:cNvSpPr txBox="1"/>
          <p:nvPr/>
        </p:nvSpPr>
        <p:spPr>
          <a:xfrm>
            <a:off x="4418965" y="3529886"/>
            <a:ext cx="11416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 panose="00000500000000000000"/>
              <a:buNone/>
            </a:pPr>
            <a:r>
              <a:rPr lang="en-US" sz="1865" b="1" i="0" u="none" strike="noStrike" cap="none">
                <a:solidFill>
                  <a:schemeClr val="dk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User</a:t>
            </a:r>
            <a:endParaRPr sz="1865" b="1" i="0" u="none" strike="noStrike" cap="none">
              <a:solidFill>
                <a:srgbClr val="FFFFFF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482" name="Google Shape;482;p15"/>
          <p:cNvSpPr txBox="1"/>
          <p:nvPr/>
        </p:nvSpPr>
        <p:spPr>
          <a:xfrm>
            <a:off x="6920995" y="3529853"/>
            <a:ext cx="11416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 panose="00000500000000000000"/>
              <a:buNone/>
            </a:pPr>
            <a:r>
              <a:rPr lang="en-US" sz="1865" b="1" i="0" u="none" strike="noStrike" cap="none">
                <a:solidFill>
                  <a:schemeClr val="dk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OK by  User</a:t>
            </a:r>
            <a:endParaRPr sz="1865" b="1" i="0" u="none" strike="noStrike" cap="none">
              <a:solidFill>
                <a:srgbClr val="FFFFFF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cxnSp>
        <p:nvCxnSpPr>
          <p:cNvPr id="484" name="Google Shape;484;p15"/>
          <p:cNvCxnSpPr/>
          <p:nvPr/>
        </p:nvCxnSpPr>
        <p:spPr>
          <a:xfrm>
            <a:off x="9160510" y="3317763"/>
            <a:ext cx="0" cy="398813"/>
          </a:xfrm>
          <a:prstGeom prst="straightConnector1">
            <a:avLst/>
          </a:prstGeom>
          <a:noFill/>
          <a:ln w="9525" cap="flat" cmpd="sng">
            <a:solidFill>
              <a:srgbClr val="347EB8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solidFill>
            <a:srgbClr val="FF8000"/>
          </a:solidFill>
          <a:ln>
            <a:solidFill>
              <a:srgbClr val="000000">
                <a:alpha val="0"/>
              </a:srgbClr>
            </a:solidFill>
          </a:ln>
        </p:spPr>
        <p:txBody>
          <a:bodyPr/>
          <a:p>
            <a:r>
              <a:rPr lang="en-GB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Prototyping - An SDLC-based Methodology</a:t>
            </a:r>
            <a:endParaRPr lang="en-GB" b="1">
              <a:solidFill>
                <a:schemeClr val="bg1"/>
              </a:solidFill>
              <a:effectLst/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8000"/>
          </a:solidFill>
          <a:ln>
            <a:solidFill>
              <a:srgbClr val="000000">
                <a:alpha val="0"/>
              </a:srgbClr>
            </a:solidFill>
          </a:ln>
        </p:spPr>
        <p:txBody>
          <a:bodyPr/>
          <a:p>
            <a:r>
              <a:rPr lang="en-US" altLang="en-US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Modern SDLC Mindsets</a:t>
            </a:r>
            <a:endParaRPr lang="en-US" altLang="en-US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pPr marL="0" indent="0">
              <a:lnSpc>
                <a:spcPct val="100000"/>
              </a:lnSpc>
              <a:buNone/>
            </a:pPr>
            <a:r>
              <a:rPr lang="en-US" altLang="en-US" sz="2400"/>
              <a:t>Modern SDLC focuses on selecting development approaches that balance efficiency, quality, and the ability to adapt to change.</a:t>
            </a:r>
            <a:endParaRPr lang="en-US" altLang="en-US" sz="2400"/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400" b="1"/>
              <a:t>Three Common Approaches:</a:t>
            </a:r>
            <a:endParaRPr lang="en-US" altLang="en-US" sz="2400" b="1"/>
          </a:p>
          <a:p>
            <a:pPr>
              <a:lnSpc>
                <a:spcPct val="100000"/>
              </a:lnSpc>
            </a:pPr>
            <a:r>
              <a:rPr lang="en-US" altLang="en-US" sz="2400"/>
              <a:t>Waterfall</a:t>
            </a:r>
            <a:endParaRPr lang="en-US" altLang="en-US" sz="2400"/>
          </a:p>
          <a:p>
            <a:pPr>
              <a:lnSpc>
                <a:spcPct val="100000"/>
              </a:lnSpc>
            </a:pPr>
            <a:r>
              <a:rPr lang="en-US" altLang="en-US" sz="2400"/>
              <a:t>Iterative</a:t>
            </a:r>
            <a:endParaRPr lang="en-US" altLang="en-US" sz="2400"/>
          </a:p>
          <a:p>
            <a:pPr>
              <a:lnSpc>
                <a:spcPct val="100000"/>
              </a:lnSpc>
            </a:pPr>
            <a:r>
              <a:rPr lang="en-US" altLang="en-US" sz="2400"/>
              <a:t>Agile</a:t>
            </a:r>
            <a:endParaRPr lang="en-US" altLang="en-US" sz="24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1075"/>
          </a:xfrm>
          <a:solidFill>
            <a:srgbClr val="FF8000"/>
          </a:solidFill>
          <a:ln>
            <a:solidFill>
              <a:srgbClr val="000000">
                <a:alpha val="0"/>
              </a:srgbClr>
            </a:solidFill>
          </a:ln>
        </p:spPr>
        <p:txBody>
          <a:bodyPr/>
          <a:p>
            <a:r>
              <a:rPr lang="en-US" altLang="en-US" b="1">
                <a:solidFill>
                  <a:schemeClr val="bg1"/>
                </a:solidFill>
              </a:rPr>
              <a:t>Waterfall vs. Iterative vs. Agile</a:t>
            </a:r>
            <a:endParaRPr lang="en-US" altLang="en-US" b="1">
              <a:solidFill>
                <a:schemeClr val="bg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UIU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838200" y="1626235"/>
          <a:ext cx="10515600" cy="3623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14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400">
                          <a:solidFill>
                            <a:schemeClr val="bg1"/>
                          </a:solidFill>
                        </a:rPr>
                        <a:t>Waterfall (Traditional)</a:t>
                      </a:r>
                      <a:endParaRPr lang="en-US" altLang="en-US" sz="2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8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400">
                          <a:solidFill>
                            <a:schemeClr val="bg1"/>
                          </a:solidFill>
                        </a:rPr>
                        <a:t>Iterative</a:t>
                      </a:r>
                      <a:endParaRPr lang="en-US" altLang="en-US" sz="2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8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400">
                          <a:solidFill>
                            <a:schemeClr val="bg1"/>
                          </a:solidFill>
                        </a:rPr>
                        <a:t>Agile</a:t>
                      </a:r>
                      <a:endParaRPr lang="en-US" altLang="en-US" sz="2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8000"/>
                    </a:solidFill>
                  </a:tcPr>
                </a:tc>
              </a:tr>
              <a:tr h="901065">
                <a:tc>
                  <a:txBody>
                    <a:bodyPr/>
                    <a:p>
                      <a:pPr marL="342900" indent="-3429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2000">
                          <a:solidFill>
                            <a:schemeClr val="tx1"/>
                          </a:solidFill>
                        </a:rPr>
                        <a:t>Follows a linear, step-by-step process.</a:t>
                      </a:r>
                      <a:endParaRPr lang="en-US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2000">
                          <a:solidFill>
                            <a:schemeClr val="tx1"/>
                          </a:solidFill>
                        </a:rPr>
                        <a:t>Requirements are set before development starts.</a:t>
                      </a:r>
                      <a:endParaRPr lang="en-US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2000">
                          <a:solidFill>
                            <a:schemeClr val="tx1"/>
                          </a:solidFill>
                        </a:rPr>
                        <a:t>Hard to change anything once phases move forward.</a:t>
                      </a:r>
                      <a:endParaRPr lang="en-US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2000">
                          <a:solidFill>
                            <a:schemeClr val="tx1"/>
                          </a:solidFill>
                        </a:rPr>
                        <a:t>Good for projects with clear, stable requirements.</a:t>
                      </a:r>
                      <a:endParaRPr lang="en-US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342900" indent="-3429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2000">
                          <a:solidFill>
                            <a:schemeClr val="tx1"/>
                          </a:solidFill>
                        </a:rPr>
                        <a:t>System is built through repeated cycles</a:t>
                      </a:r>
                      <a:endParaRPr lang="en-US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2000">
                          <a:solidFill>
                            <a:schemeClr val="tx1"/>
                          </a:solidFill>
                        </a:rPr>
                        <a:t>Each new cycle improves the previous one.</a:t>
                      </a:r>
                      <a:endParaRPr lang="en-US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2000">
                          <a:solidFill>
                            <a:schemeClr val="tx1"/>
                          </a:solidFill>
                        </a:rPr>
                        <a:t>Helps reduce risk by learning early.</a:t>
                      </a:r>
                      <a:endParaRPr lang="en-US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2000">
                          <a:solidFill>
                            <a:schemeClr val="tx1"/>
                          </a:solidFill>
                        </a:rPr>
                        <a:t>Useful when requirements are not fully known.</a:t>
                      </a:r>
                      <a:endParaRPr lang="en-US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342900" indent="-3429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2000">
                          <a:solidFill>
                            <a:schemeClr val="tx1"/>
                          </a:solidFill>
                        </a:rPr>
                        <a:t>Flexible and team-oriented approach.</a:t>
                      </a:r>
                      <a:endParaRPr lang="en-US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2000">
                          <a:solidFill>
                            <a:schemeClr val="tx1"/>
                          </a:solidFill>
                        </a:rPr>
                        <a:t>Work is done in small parts (sprints).</a:t>
                      </a:r>
                      <a:endParaRPr lang="en-US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2000">
                          <a:solidFill>
                            <a:schemeClr val="tx1"/>
                          </a:solidFill>
                        </a:rPr>
                        <a:t>Constant user feedback guides improvements.</a:t>
                      </a:r>
                      <a:endParaRPr lang="en-US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2000">
                          <a:solidFill>
                            <a:schemeClr val="tx1"/>
                          </a:solidFill>
                        </a:rPr>
                        <a:t>Adapts well to fast-changing requirements.</a:t>
                      </a:r>
                      <a:endParaRPr lang="en-US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2000">
                          <a:solidFill>
                            <a:schemeClr val="tx1"/>
                          </a:solidFill>
                        </a:rPr>
                        <a:t>Agile is best when requirements are flexible and you need to adapt quickly.</a:t>
                      </a:r>
                      <a:endParaRPr lang="en-US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885" y="1444625"/>
            <a:ext cx="9570720" cy="3161665"/>
          </a:xfrm>
          <a:solidFill>
            <a:srgbClr val="FF8000"/>
          </a:solidFill>
          <a:ln>
            <a:solidFill>
              <a:srgbClr val="000000">
                <a:alpha val="0"/>
              </a:srgbClr>
            </a:solidFill>
          </a:ln>
        </p:spPr>
        <p:txBody>
          <a:bodyPr/>
          <a:p>
            <a:pPr algn="ctr"/>
            <a:r>
              <a:rPr lang="en-US" b="1">
                <a:solidFill>
                  <a:schemeClr val="bg1"/>
                </a:solidFill>
              </a:rPr>
              <a:t>Thank You!</a:t>
            </a:r>
            <a:br>
              <a:rPr lang="en-US" b="1">
                <a:solidFill>
                  <a:schemeClr val="bg1"/>
                </a:solidFill>
              </a:rPr>
            </a:b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Tasmin Sanjida, Lecturer, UIU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99*267"/>
  <p:tag name="TABLE_ENDDRAG_RECT" val="45*128*899*267"/>
</p:tagLst>
</file>

<file path=ppt/tags/tag2.xml><?xml version="1.0" encoding="utf-8"?>
<p:tagLst xmlns:p="http://schemas.openxmlformats.org/presentationml/2006/main">
  <p:tag name="TABLE_ENDDRAG_ORIGIN_RECT" val="827*141"/>
  <p:tag name="TABLE_ENDDRAG_RECT" val="66*128*828*14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6613</Words>
  <Application>WPS Presentation</Application>
  <PresentationFormat>Widescreen</PresentationFormat>
  <Paragraphs>398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7" baseType="lpstr">
      <vt:lpstr>Arial</vt:lpstr>
      <vt:lpstr>SimSun</vt:lpstr>
      <vt:lpstr>Wingdings</vt:lpstr>
      <vt:lpstr>Calibri</vt:lpstr>
      <vt:lpstr>Arial</vt:lpstr>
      <vt:lpstr>Oswald</vt:lpstr>
      <vt:lpstr>Siyam Rupali</vt:lpstr>
      <vt:lpstr>Calibri Light</vt:lpstr>
      <vt:lpstr>Microsoft YaHei</vt:lpstr>
      <vt:lpstr>Arial Unicode MS</vt:lpstr>
      <vt:lpstr>Wingdings</vt:lpstr>
      <vt:lpstr>Arial Narrow</vt:lpstr>
      <vt:lpstr>Montserrat</vt:lpstr>
      <vt:lpstr>Georgia</vt:lpstr>
      <vt:lpstr>Office Theme</vt:lpstr>
      <vt:lpstr>System &amp; Organogram  </vt:lpstr>
      <vt:lpstr>Course Outline</vt:lpstr>
      <vt:lpstr>Introduction to System and SDLC</vt:lpstr>
      <vt:lpstr>What is System?</vt:lpstr>
      <vt:lpstr>Key characteristics of System</vt:lpstr>
      <vt:lpstr>Examples of Systems</vt:lpstr>
      <vt:lpstr>Hospital Management System</vt:lpstr>
      <vt:lpstr>University Management System</vt:lpstr>
      <vt:lpstr>Logistics System</vt:lpstr>
      <vt:lpstr>System Stakeholders</vt:lpstr>
      <vt:lpstr>Types of stakeholders</vt:lpstr>
      <vt:lpstr>System Organogram</vt:lpstr>
      <vt:lpstr>Hierarchical Organogram </vt:lpstr>
      <vt:lpstr>Flat Organogram </vt:lpstr>
      <vt:lpstr>Matrix Organogram </vt:lpstr>
      <vt:lpstr>PowerPoint 演示文稿</vt:lpstr>
      <vt:lpstr>What is SDLC?</vt:lpstr>
      <vt:lpstr>7 Phases of the Software Development Life Cycle</vt:lpstr>
      <vt:lpstr>SDLC Phases</vt:lpstr>
      <vt:lpstr>Idea Generation </vt:lpstr>
      <vt:lpstr>1. Planning </vt:lpstr>
      <vt:lpstr>2. Requirements / Information Gathering</vt:lpstr>
      <vt:lpstr>System Analysis</vt:lpstr>
      <vt:lpstr>3. System Design</vt:lpstr>
      <vt:lpstr>4. Development</vt:lpstr>
      <vt:lpstr>5. Testing</vt:lpstr>
      <vt:lpstr>6. Deployment</vt:lpstr>
      <vt:lpstr>7. Maintenance</vt:lpstr>
      <vt:lpstr>Prototyping - An SDLC</vt:lpstr>
      <vt:lpstr>PowerPoint 演示文稿</vt:lpstr>
      <vt:lpstr>PowerPoint 演示文稿</vt:lpstr>
      <vt:lpstr>Thank You!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3411 System Analysis and Design (SAD)</dc:title>
  <dc:creator/>
  <cp:lastModifiedBy>tasmin sanjida</cp:lastModifiedBy>
  <cp:revision>30</cp:revision>
  <dcterms:created xsi:type="dcterms:W3CDTF">2024-05-29T17:58:00Z</dcterms:created>
  <dcterms:modified xsi:type="dcterms:W3CDTF">2025-11-08T16:35:48Z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CFC4DDF88DEB43BBAC93C1520D7F7700_12</vt:lpwstr>
  </property>
  <property fmtid="{D5CDD505-2E9C-101B-9397-08002B2CF9AE}" pid="3" name="KSOProductBuildVer">
    <vt:lpwstr>1033-12.2.0.23155</vt:lpwstr>
  </property>
</Properties>
</file>