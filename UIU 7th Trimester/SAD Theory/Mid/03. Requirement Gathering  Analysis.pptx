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9" r:id="rId4"/>
    <p:sldId id="260" r:id="rId6"/>
    <p:sldId id="261" r:id="rId7"/>
    <p:sldId id="262" r:id="rId8"/>
    <p:sldId id="263" r:id="rId9"/>
    <p:sldId id="278" r:id="rId10"/>
    <p:sldId id="279" r:id="rId11"/>
    <p:sldId id="280" r:id="rId12"/>
    <p:sldId id="281" r:id="rId13"/>
    <p:sldId id="264" r:id="rId14"/>
    <p:sldId id="265" r:id="rId15"/>
    <p:sldId id="267" r:id="rId16"/>
    <p:sldId id="268" r:id="rId17"/>
    <p:sldId id="269" r:id="rId18"/>
    <p:sldId id="271" r:id="rId19"/>
    <p:sldId id="272" r:id="rId20"/>
    <p:sldId id="273" r:id="rId21"/>
    <p:sldId id="274" r:id="rId22"/>
    <p:sldId id="275" r:id="rId23"/>
    <p:sldId id="282" r:id="rId24"/>
    <p:sldId id="284" r:id="rId25"/>
    <p:sldId id="285" r:id="rId26"/>
    <p:sldId id="288" r:id="rId27"/>
    <p:sldId id="287" r:id="rId28"/>
    <p:sldId id="289" r:id="rId29"/>
    <p:sldId id="290" r:id="rId30"/>
    <p:sldId id="291" r:id="rId31"/>
    <p:sldId id="292" r:id="rId32"/>
    <p:sldId id="294" r:id="rId33"/>
    <p:sldId id="293"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11" r:id="rId49"/>
    <p:sldId id="312" r:id="rId50"/>
    <p:sldId id="313" r:id="rId51"/>
    <p:sldId id="314" r:id="rId52"/>
    <p:sldId id="315" r:id="rId53"/>
    <p:sldId id="316" r:id="rId54"/>
    <p:sldId id="309" r:id="rId55"/>
    <p:sldId id="310" r:id="rId56"/>
    <p:sldId id="317" r:id="rId57"/>
    <p:sldId id="318" r:id="rId58"/>
    <p:sldId id="319" r:id="rId59"/>
    <p:sldId id="320" r:id="rId60"/>
    <p:sldId id="321" r:id="rId61"/>
    <p:sldId id="322" r:id="rId62"/>
    <p:sldId id="324" r:id="rId63"/>
    <p:sldId id="325" r:id="rId64"/>
    <p:sldId id="326" r:id="rId65"/>
    <p:sldId id="327" r:id="rId66"/>
    <p:sldId id="328" r:id="rId67"/>
    <p:sldId id="329" r:id="rId68"/>
    <p:sldId id="330" r:id="rId69"/>
    <p:sldId id="331" r:id="rId70"/>
    <p:sldId id="332" r:id="rId71"/>
    <p:sldId id="333"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5F0CBB4-3D2D-4844-9D8C-E6DD3983440F}" styleName="Table_1">
    <a:wholeTbl>
      <a:tcTxStyle>
        <a:font>
          <a:latin typeface="Arial"/>
          <a:ea typeface="Arial"/>
          <a:cs typeface="Arial"/>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7ECF3"/>
          </a:solidFill>
        </a:fill>
      </a:tcStyle>
    </a:wholeTbl>
    <a:band1H>
      <a:tcStyle>
        <a:tcBdr/>
        <a:fill>
          <a:solidFill>
            <a:srgbClr val="CDD7E6"/>
          </a:solidFill>
        </a:fill>
      </a:tcStyle>
    </a:band1H>
    <a:band2H>
      <a:tcStyle>
        <a:tcBdr/>
      </a:tcStyle>
    </a:band2H>
    <a:band1V>
      <a:tcStyle>
        <a:tcBdr/>
        <a:fill>
          <a:solidFill>
            <a:srgbClr val="CDD7E6"/>
          </a:solidFill>
        </a:fill>
      </a:tcStyle>
    </a:band1V>
    <a:band2V>
      <a:tcStyle>
        <a:tcBdr/>
      </a:tcStyle>
    </a:band2V>
    <a:lastCol>
      <a:tcTxStyle b="on">
        <a:font>
          <a:latin typeface="Arial"/>
          <a:ea typeface="Arial"/>
          <a:cs typeface="Arial"/>
        </a:font>
        <a:srgbClr val="FFFFFF"/>
      </a:tcTxStyle>
      <a:tcStyle>
        <a:tcBdr/>
        <a:fill>
          <a:solidFill>
            <a:srgbClr val="3A81BA"/>
          </a:solidFill>
        </a:fill>
      </a:tcStyle>
    </a:lastCol>
    <a:firstCol>
      <a:tcTxStyle b="on">
        <a:font>
          <a:latin typeface="Arial"/>
          <a:ea typeface="Arial"/>
          <a:cs typeface="Arial"/>
        </a:font>
        <a:srgbClr val="FFFFFF"/>
      </a:tcTxStyle>
      <a:tcStyle>
        <a:tcBdr/>
        <a:fill>
          <a:solidFill>
            <a:srgbClr val="3A81BA"/>
          </a:solidFill>
        </a:fill>
      </a:tcStyle>
    </a:firstCol>
    <a:lastRow>
      <a:tcTxStyle b="on">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3A81BA"/>
          </a:solidFill>
        </a:fill>
      </a:tcStyle>
    </a:lastRow>
    <a:seCell>
      <a:tcStyle>
        <a:tcBdr/>
      </a:tcStyle>
    </a:seCell>
    <a:swCell>
      <a:tcStyle>
        <a:tcBdr/>
      </a:tcStyle>
    </a:swCell>
    <a:firstRow>
      <a:tcTxStyle b="on">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3A81BA"/>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59"/>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6" name="Shape 286"/>
        <p:cNvGrpSpPr/>
        <p:nvPr/>
      </p:nvGrpSpPr>
      <p:grpSpPr>
        <a:xfrm>
          <a:off x="0" y="0"/>
          <a:ext cx="0" cy="0"/>
          <a:chOff x="0" y="0"/>
          <a:chExt cx="0" cy="0"/>
        </a:xfrm>
      </p:grpSpPr>
      <p:sp>
        <p:nvSpPr>
          <p:cNvPr id="287" name="Google Shape;287;g2b5c1d3055b_0_59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2b5c1d3055b_0_59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g2b5ccd29d25_0_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41" name="Google Shape;341;g2b5ccd29d25_0_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2"/>
        <p:cNvGrpSpPr/>
        <p:nvPr/>
      </p:nvGrpSpPr>
      <p:grpSpPr>
        <a:xfrm>
          <a:off x="0" y="0"/>
          <a:ext cx="0" cy="0"/>
          <a:chOff x="0" y="0"/>
          <a:chExt cx="0" cy="0"/>
        </a:xfrm>
      </p:grpSpPr>
      <p:sp>
        <p:nvSpPr>
          <p:cNvPr id="493" name="Google Shape;493;g2b5ccd29d25_0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94" name="Google Shape;494;g2b5ccd29d25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6"/>
        <p:cNvGrpSpPr/>
        <p:nvPr/>
      </p:nvGrpSpPr>
      <p:grpSpPr>
        <a:xfrm>
          <a:off x="0" y="0"/>
          <a:ext cx="0" cy="0"/>
          <a:chOff x="0" y="0"/>
          <a:chExt cx="0" cy="0"/>
        </a:xfrm>
      </p:grpSpPr>
      <p:sp>
        <p:nvSpPr>
          <p:cNvPr id="507" name="Google Shape;507;g2b5ccd29d25_0_1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08" name="Google Shape;508;g2b5ccd29d25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0" name="Shape 650"/>
        <p:cNvGrpSpPr/>
        <p:nvPr/>
      </p:nvGrpSpPr>
      <p:grpSpPr>
        <a:xfrm>
          <a:off x="0" y="0"/>
          <a:ext cx="0" cy="0"/>
          <a:chOff x="0" y="0"/>
          <a:chExt cx="0" cy="0"/>
        </a:xfrm>
      </p:grpSpPr>
      <p:sp>
        <p:nvSpPr>
          <p:cNvPr id="651" name="Google Shape;651;g2b82bee3bc0_0_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52" name="Google Shape;652;g2b82bee3bc0_0_7: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8" name="Shape 658"/>
        <p:cNvGrpSpPr/>
        <p:nvPr/>
      </p:nvGrpSpPr>
      <p:grpSpPr>
        <a:xfrm>
          <a:off x="0" y="0"/>
          <a:ext cx="0" cy="0"/>
          <a:chOff x="0" y="0"/>
          <a:chExt cx="0" cy="0"/>
        </a:xfrm>
      </p:grpSpPr>
      <p:sp>
        <p:nvSpPr>
          <p:cNvPr id="659" name="Google Shape;659;g2b82bee3bc0_0_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60" name="Google Shape;660;g2b82bee3bc0_0_1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5" name="Shape 665"/>
        <p:cNvGrpSpPr/>
        <p:nvPr/>
      </p:nvGrpSpPr>
      <p:grpSpPr>
        <a:xfrm>
          <a:off x="0" y="0"/>
          <a:ext cx="0" cy="0"/>
          <a:chOff x="0" y="0"/>
          <a:chExt cx="0" cy="0"/>
        </a:xfrm>
      </p:grpSpPr>
      <p:sp>
        <p:nvSpPr>
          <p:cNvPr id="666" name="Google Shape;666;g2b82bee3bc0_0_3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67" name="Google Shape;667;g2b82bee3bc0_0_3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8" name="Shape 678"/>
        <p:cNvGrpSpPr/>
        <p:nvPr/>
      </p:nvGrpSpPr>
      <p:grpSpPr>
        <a:xfrm>
          <a:off x="0" y="0"/>
          <a:ext cx="0" cy="0"/>
          <a:chOff x="0" y="0"/>
          <a:chExt cx="0" cy="0"/>
        </a:xfrm>
      </p:grpSpPr>
      <p:sp>
        <p:nvSpPr>
          <p:cNvPr id="679" name="Google Shape;679;g2b82bee3bc0_0_4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80" name="Google Shape;680;g2b82bee3bc0_0_41: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3" name="Shape 753"/>
        <p:cNvGrpSpPr/>
        <p:nvPr/>
      </p:nvGrpSpPr>
      <p:grpSpPr>
        <a:xfrm>
          <a:off x="0" y="0"/>
          <a:ext cx="0" cy="0"/>
          <a:chOff x="0" y="0"/>
          <a:chExt cx="0" cy="0"/>
        </a:xfrm>
      </p:grpSpPr>
      <p:sp>
        <p:nvSpPr>
          <p:cNvPr id="754" name="Google Shape;754;g2b83352a57d_0_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55" name="Google Shape;755;g2b83352a57d_0_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0" name="Shape 760"/>
        <p:cNvGrpSpPr/>
        <p:nvPr/>
      </p:nvGrpSpPr>
      <p:grpSpPr>
        <a:xfrm>
          <a:off x="0" y="0"/>
          <a:ext cx="0" cy="0"/>
          <a:chOff x="0" y="0"/>
          <a:chExt cx="0" cy="0"/>
        </a:xfrm>
      </p:grpSpPr>
      <p:sp>
        <p:nvSpPr>
          <p:cNvPr id="761" name="Google Shape;761;g2b83352a57d_0_1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62" name="Google Shape;762;g2b83352a57d_0_14: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7" name="Shape 767"/>
        <p:cNvGrpSpPr/>
        <p:nvPr/>
      </p:nvGrpSpPr>
      <p:grpSpPr>
        <a:xfrm>
          <a:off x="0" y="0"/>
          <a:ext cx="0" cy="0"/>
          <a:chOff x="0" y="0"/>
          <a:chExt cx="0" cy="0"/>
        </a:xfrm>
      </p:grpSpPr>
      <p:sp>
        <p:nvSpPr>
          <p:cNvPr id="768" name="Google Shape;768;g2b83352a57d_0_2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69" name="Google Shape;769;g2b83352a57d_0_2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0" name="Shape 780"/>
        <p:cNvGrpSpPr/>
        <p:nvPr/>
      </p:nvGrpSpPr>
      <p:grpSpPr>
        <a:xfrm>
          <a:off x="0" y="0"/>
          <a:ext cx="0" cy="0"/>
          <a:chOff x="0" y="0"/>
          <a:chExt cx="0" cy="0"/>
        </a:xfrm>
      </p:grpSpPr>
      <p:sp>
        <p:nvSpPr>
          <p:cNvPr id="781" name="Google Shape;781;g2b5ccd29d25_0_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2" name="Google Shape;782;g2b5ccd29d25_0_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6" name="Shape 786"/>
        <p:cNvGrpSpPr/>
        <p:nvPr/>
      </p:nvGrpSpPr>
      <p:grpSpPr>
        <a:xfrm>
          <a:off x="0" y="0"/>
          <a:ext cx="0" cy="0"/>
          <a:chOff x="0" y="0"/>
          <a:chExt cx="0" cy="0"/>
        </a:xfrm>
      </p:grpSpPr>
      <p:sp>
        <p:nvSpPr>
          <p:cNvPr id="787" name="Google Shape;787;g1f10ba97ed9_0_5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1f10ba97ed9_0_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r>
              <a:rPr lang="en-US"/>
              <a:t>Tasmin Sanjida, Lecturer, CSE, UIU</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r>
              <a:rPr lang="en-US"/>
              <a:t>Tasmin Sanjida, Lecturer, CSE, UIU</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r>
              <a:rPr lang="en-US"/>
              <a:t>Tasmin Sanjida, Lecturer, CSE, UIU</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r>
              <a:rPr lang="en-US"/>
              <a:t>Tasmin Sanjida, Lecturer, CSE, UIU</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r>
              <a:rPr lang="en-US"/>
              <a:t>Tasmin Sanjida, Lecturer, CSE, UIU</a:t>
            </a:r>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r>
              <a:rPr lang="en-US"/>
              <a:t>Tasmin Sanjida, Lecturer, CSE, UIU</a:t>
            </a:r>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r>
              <a:rPr lang="en-US"/>
              <a:t>Tasmin Sanjida, Lecturer, CSE, UIU</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r>
              <a:rPr lang="en-US"/>
              <a:t>Tasmin Sanjida, Lecturer, CSE, UIU</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r>
              <a:rPr lang="en-US"/>
              <a:t>Tasmin Sanjida, Lecturer, CSE, UIU</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r>
              <a:rPr lang="en-US"/>
              <a:t>Tasmin Sanjida, Lecturer, CSE, UIU</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5" name="Shape 65"/>
        <p:cNvGrpSpPr/>
        <p:nvPr/>
      </p:nvGrpSpPr>
      <p:grpSpPr>
        <a:xfrm>
          <a:off x="0" y="0"/>
          <a:ext cx="0" cy="0"/>
          <a:chOff x="0" y="0"/>
          <a:chExt cx="0" cy="0"/>
        </a:xfrm>
      </p:grpSpPr>
      <p:sp>
        <p:nvSpPr>
          <p:cNvPr id="66" name="Google Shape;66;p16"/>
          <p:cNvSpPr txBox="1"/>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 name="Google Shape;67;p16"/>
          <p:cNvSpPr txBox="1"/>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rtl="0">
              <a:spcBef>
                <a:spcPts val="0"/>
              </a:spcBef>
              <a:spcAft>
                <a:spcPts val="0"/>
              </a:spcAft>
              <a:buSzPts val="1800"/>
              <a:buChar char="●"/>
              <a:defRPr/>
            </a:lvl1pPr>
            <a:lvl2pPr marL="1219200" lvl="1" indent="-423545" rtl="0">
              <a:spcBef>
                <a:spcPts val="0"/>
              </a:spcBef>
              <a:spcAft>
                <a:spcPts val="0"/>
              </a:spcAft>
              <a:buSzPts val="1400"/>
              <a:buChar char="○"/>
              <a:defRPr/>
            </a:lvl2pPr>
            <a:lvl3pPr marL="1828800" lvl="2" indent="-423545" rtl="0">
              <a:spcBef>
                <a:spcPts val="0"/>
              </a:spcBef>
              <a:spcAft>
                <a:spcPts val="0"/>
              </a:spcAft>
              <a:buSzPts val="1400"/>
              <a:buChar char="■"/>
              <a:defRPr/>
            </a:lvl3pPr>
            <a:lvl4pPr marL="2438400" lvl="3" indent="-423545" rtl="0">
              <a:spcBef>
                <a:spcPts val="0"/>
              </a:spcBef>
              <a:spcAft>
                <a:spcPts val="0"/>
              </a:spcAft>
              <a:buSzPts val="1400"/>
              <a:buChar char="●"/>
              <a:defRPr/>
            </a:lvl4pPr>
            <a:lvl5pPr marL="3048000" lvl="4" indent="-423545" rtl="0">
              <a:spcBef>
                <a:spcPts val="0"/>
              </a:spcBef>
              <a:spcAft>
                <a:spcPts val="0"/>
              </a:spcAft>
              <a:buSzPts val="1400"/>
              <a:buChar char="○"/>
              <a:defRPr/>
            </a:lvl5pPr>
            <a:lvl6pPr marL="3657600" lvl="5" indent="-423545" rtl="0">
              <a:spcBef>
                <a:spcPts val="0"/>
              </a:spcBef>
              <a:spcAft>
                <a:spcPts val="0"/>
              </a:spcAft>
              <a:buSzPts val="1400"/>
              <a:buChar char="■"/>
              <a:defRPr/>
            </a:lvl6pPr>
            <a:lvl7pPr marL="4267200" lvl="6" indent="-423545" rtl="0">
              <a:spcBef>
                <a:spcPts val="0"/>
              </a:spcBef>
              <a:spcAft>
                <a:spcPts val="0"/>
              </a:spcAft>
              <a:buSzPts val="1400"/>
              <a:buChar char="●"/>
              <a:defRPr/>
            </a:lvl7pPr>
            <a:lvl8pPr marL="4876800" lvl="7" indent="-423545" rtl="0">
              <a:spcBef>
                <a:spcPts val="0"/>
              </a:spcBef>
              <a:spcAft>
                <a:spcPts val="0"/>
              </a:spcAft>
              <a:buSzPts val="1400"/>
              <a:buChar char="○"/>
              <a:defRPr/>
            </a:lvl8pPr>
            <a:lvl9pPr marL="5486400" lvl="8" indent="-423545" rtl="0">
              <a:spcBef>
                <a:spcPts val="0"/>
              </a:spcBef>
              <a:spcAft>
                <a:spcPts val="0"/>
              </a:spcAft>
              <a:buSzPts val="1400"/>
              <a:buChar char="■"/>
              <a:defRPr/>
            </a:lvl9pPr>
          </a:lstStyle>
          <a:p/>
        </p:txBody>
      </p:sp>
      <p:sp>
        <p:nvSpPr>
          <p:cNvPr id="68" name="Google Shape;68;p16"/>
          <p:cNvSpPr txBox="1"/>
          <p:nvPr>
            <p:ph type="sldNum" idx="12"/>
          </p:nvPr>
        </p:nvSpPr>
        <p:spPr>
          <a:xfrm>
            <a:off x="11320333" y="6241345"/>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91" name="Shape 91"/>
        <p:cNvGrpSpPr/>
        <p:nvPr/>
      </p:nvGrpSpPr>
      <p:grpSpPr>
        <a:xfrm>
          <a:off x="0" y="0"/>
          <a:ext cx="0" cy="0"/>
          <a:chOff x="0" y="0"/>
          <a:chExt cx="0" cy="0"/>
        </a:xfrm>
      </p:grpSpPr>
      <p:sp>
        <p:nvSpPr>
          <p:cNvPr id="92" name="Google Shape;92;p22"/>
          <p:cNvSpPr txBox="1"/>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600" lvl="0" indent="-304800" rtl="0">
              <a:lnSpc>
                <a:spcPct val="100000"/>
              </a:lnSpc>
              <a:spcBef>
                <a:spcPts val="0"/>
              </a:spcBef>
              <a:spcAft>
                <a:spcPts val="0"/>
              </a:spcAft>
              <a:buClr>
                <a:schemeClr val="dk1"/>
              </a:buClr>
              <a:buSzPts val="2100"/>
              <a:buFont typeface="Oswald"/>
              <a:buNone/>
              <a:defRPr sz="2800">
                <a:solidFill>
                  <a:schemeClr val="dk1"/>
                </a:solidFill>
                <a:latin typeface="Oswald"/>
                <a:ea typeface="Oswald"/>
                <a:cs typeface="Oswald"/>
                <a:sym typeface="Oswald"/>
              </a:defRPr>
            </a:lvl1pPr>
          </a:lstStyle>
          <a:p/>
        </p:txBody>
      </p:sp>
      <p:sp>
        <p:nvSpPr>
          <p:cNvPr id="93" name="Google Shape;93;p22"/>
          <p:cNvSpPr txBox="1"/>
          <p:nvPr>
            <p:ph type="sldNum" idx="12"/>
          </p:nvPr>
        </p:nvSpPr>
        <p:spPr>
          <a:xfrm>
            <a:off x="11320333" y="6241345"/>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Tasmin Sanjida, Lecturer, CSE, UIU</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10.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techtarget.com/whatis/definition/collaboration" TargetMode="External"/><Relationship Id="rId1" Type="http://schemas.openxmlformats.org/officeDocument/2006/relationships/hyperlink" Target="https://www.techtarget.com/searchsoftwarequality/definition/application" TargetMode="Externa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tags" Target="../tags/tag1.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techtarget.com/searchcio/definition/business-process-improvement-BPI" TargetMode="External"/><Relationship Id="rId1" Type="http://schemas.openxmlformats.org/officeDocument/2006/relationships/hyperlink" Target="https://www.techtarget.com/searchcio/definition/project-management" TargetMode="Externa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9" Type="http://schemas.openxmlformats.org/officeDocument/2006/relationships/hyperlink" Target="https://www.formpl.us/blog/good-bad-survey" TargetMode="External"/><Relationship Id="rId8" Type="http://schemas.openxmlformats.org/officeDocument/2006/relationships/hyperlink" Target="https://management.org/businessresearch/interviews.htm" TargetMode="External"/><Relationship Id="rId7" Type="http://schemas.openxmlformats.org/officeDocument/2006/relationships/hyperlink" Target="https://www.1000sourcecodes.com/2012/06/sad-information-gathering-tools.html" TargetMode="External"/><Relationship Id="rId6" Type="http://schemas.openxmlformats.org/officeDocument/2006/relationships/hyperlink" Target="https://www.yourarticlelibrary.com/management/mis-management/tools-of-information-gathering-for-system-analysis/70398" TargetMode="External"/><Relationship Id="rId5" Type="http://schemas.openxmlformats.org/officeDocument/2006/relationships/hyperlink" Target="https://jobs.washingtonpost.com/article/differences-in-prepping-for-an-in-person-vs-virtual-interview/" TargetMode="External"/><Relationship Id="rId4" Type="http://schemas.openxmlformats.org/officeDocument/2006/relationships/hyperlink" Target="https://www.withum.com/resources/digital-workflow-benefits-for-every-department-in-your-organization/" TargetMode="External"/><Relationship Id="rId3" Type="http://schemas.openxmlformats.org/officeDocument/2006/relationships/hyperlink" Target="https://open.lib.umn.edu/strategicmanagement/chapter/2-2-vision-mission-and-goals/" TargetMode="External"/><Relationship Id="rId2" Type="http://schemas.openxmlformats.org/officeDocument/2006/relationships/hyperlink" Target="https://www.geeksforgeeks.org/software-engineering-requirements-elicitation/" TargetMode="External"/><Relationship Id="rId14" Type="http://schemas.openxmlformats.org/officeDocument/2006/relationships/notesSlide" Target="../notesSlides/notesSlide12.xml"/><Relationship Id="rId13" Type="http://schemas.openxmlformats.org/officeDocument/2006/relationships/slideLayout" Target="../slideLayouts/slideLayout13.xml"/><Relationship Id="rId12" Type="http://schemas.openxmlformats.org/officeDocument/2006/relationships/hyperlink" Target="https://www.wisdomtree.com/investments/blog/2023/12/18/5-cutting-edge-innovations-redefining-battery-technology-right-now" TargetMode="External"/><Relationship Id="rId11" Type="http://schemas.openxmlformats.org/officeDocument/2006/relationships/hyperlink" Target="https://www.britannica.com/technology/Internet" TargetMode="External"/><Relationship Id="rId10" Type="http://schemas.openxmlformats.org/officeDocument/2006/relationships/hyperlink" Target="https://www.techtarget.com/searchsoftwarequality/definition/JAD" TargetMode="External"/><Relationship Id="rId1" Type="http://schemas.openxmlformats.org/officeDocument/2006/relationships/hyperlink" Target="https://www.softwaretestinghelp.com/requirement-analysis-in-sdlc/" TargetMode="External"/></Relationships>
</file>

<file path=ppt/slides/_rels/slide68.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3.xml"/><Relationship Id="rId6" Type="http://schemas.openxmlformats.org/officeDocument/2006/relationships/hyperlink" Target="https://www.techtarget.com/searchcio/definition/gap-analysis" TargetMode="External"/><Relationship Id="rId5" Type="http://schemas.openxmlformats.org/officeDocument/2006/relationships/hyperlink" Target="https://www.lucidchart.com/blog/8-steps-of-the-benchmarking-process" TargetMode="External"/><Relationship Id="rId4" Type="http://schemas.openxmlformats.org/officeDocument/2006/relationships/hyperlink" Target="https://www.nngroup.com/articles/comparison-tables/" TargetMode="External"/><Relationship Id="rId3" Type="http://schemas.openxmlformats.org/officeDocument/2006/relationships/hyperlink" Target="https://www.linkedin.com/advice/1/what-advantages-disadvantages-benchmarking" TargetMode="External"/><Relationship Id="rId2" Type="http://schemas.openxmlformats.org/officeDocument/2006/relationships/hyperlink" Target="https://www.businessnewsdaily.com/15960-benchmarking-benefits-small-business.html" TargetMode="External"/><Relationship Id="rId1" Type="http://schemas.openxmlformats.org/officeDocument/2006/relationships/hyperlink" Target="https://wssintl.com/services/product-benchmarking/"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ctrTitle"/>
          </p:nvPr>
        </p:nvSpPr>
        <p:spPr>
          <a:xfrm>
            <a:off x="866140" y="1122680"/>
            <a:ext cx="10407650" cy="2387600"/>
          </a:xfrm>
          <a:solidFill>
            <a:srgbClr val="FF8000"/>
          </a:solidFill>
          <a:ln>
            <a:noFill/>
          </a:ln>
        </p:spPr>
        <p:txBody>
          <a:bodyPr anchor="ctr" anchorCtr="0">
            <a:normAutofit/>
          </a:bodyPr>
          <a:p>
            <a:pPr algn="ctr" fontAlgn="ctr">
              <a:lnSpc>
                <a:spcPct val="90000"/>
              </a:lnSpc>
            </a:pPr>
            <a:r>
              <a:rPr lang="en-US" altLang="en-US" b="1" dirty="0">
                <a:solidFill>
                  <a:schemeClr val="bg1"/>
                </a:solidFill>
                <a:latin typeface="Calibri" panose="020F0502020204030204" charset="0"/>
                <a:ea typeface="Arial" panose="020B0604020202020204"/>
                <a:cs typeface="Calibri" panose="020F0502020204030204" charset="0"/>
                <a:sym typeface="Arial" panose="020B0604020202020204"/>
              </a:rPr>
              <a:t>Requirement Gathering &amp; Analysis</a:t>
            </a:r>
            <a:endParaRPr lang="en-US" altLang="en-US" b="1" dirty="0">
              <a:solidFill>
                <a:schemeClr val="bg1"/>
              </a:solidFill>
              <a:latin typeface="Calibri" panose="020F0502020204030204" charset="0"/>
              <a:ea typeface="Arial" panose="020B0604020202020204"/>
              <a:cs typeface="Calibri" panose="020F0502020204030204" charset="0"/>
              <a:sym typeface="Arial" panose="020B0604020202020204"/>
            </a:endParaRPr>
          </a:p>
        </p:txBody>
      </p:sp>
      <p:sp>
        <p:nvSpPr>
          <p:cNvPr id="7" name="Subtitle 6"/>
          <p:cNvSpPr>
            <a:spLocks noGrp="1"/>
          </p:cNvSpPr>
          <p:nvPr>
            <p:ph type="subTitle" idx="1"/>
          </p:nvPr>
        </p:nvSpPr>
        <p:spPr>
          <a:xfrm>
            <a:off x="1450975" y="3510280"/>
            <a:ext cx="9144000" cy="1320165"/>
          </a:xfrm>
        </p:spPr>
        <p:txBody>
          <a:bodyPr>
            <a:noAutofit/>
          </a:bodyPr>
          <a:p>
            <a:endParaRPr lang="en-US" sz="1400">
              <a:solidFill>
                <a:schemeClr val="tx1">
                  <a:lumMod val="50000"/>
                  <a:lumOff val="50000"/>
                </a:schemeClr>
              </a:solidFill>
            </a:endParaRPr>
          </a:p>
          <a:p>
            <a:r>
              <a:rPr lang="en-US" sz="2800" b="1">
                <a:solidFill>
                  <a:srgbClr val="074173"/>
                </a:solidFill>
              </a:rPr>
              <a:t>System Analysis and Design</a:t>
            </a:r>
            <a:endParaRPr lang="en-US" sz="2800" b="1">
              <a:solidFill>
                <a:srgbClr val="074173"/>
              </a:solidFill>
            </a:endParaRPr>
          </a:p>
          <a:p>
            <a:r>
              <a:rPr lang="en-US" sz="2800" b="1">
                <a:solidFill>
                  <a:srgbClr val="074173"/>
                </a:solidFill>
              </a:rPr>
              <a:t>Content  03</a:t>
            </a:r>
            <a:endParaRPr lang="en-US" sz="2800" b="1">
              <a:solidFill>
                <a:srgbClr val="074173"/>
              </a:solidFill>
            </a:endParaRPr>
          </a:p>
        </p:txBody>
      </p:sp>
      <p:sp>
        <p:nvSpPr>
          <p:cNvPr id="4" name="Footer Placeholder 3"/>
          <p:cNvSpPr>
            <a:spLocks noGrp="1"/>
          </p:cNvSpPr>
          <p:nvPr>
            <p:ph type="ftr" sz="quarter" idx="11"/>
          </p:nvPr>
        </p:nvSpPr>
        <p:spPr/>
        <p:txBody>
          <a:bodyPr/>
          <a:p>
            <a:r>
              <a:rPr lang="en-US"/>
              <a:t>Tasmin Sanjida, Lecturer, CSE, UIU</a:t>
            </a:r>
            <a:endParaRPr lang="en-US"/>
          </a:p>
        </p:txBody>
      </p:sp>
      <p:sp>
        <p:nvSpPr>
          <p:cNvPr id="5" name="Slide Number Placeholder 4"/>
          <p:cNvSpPr>
            <a:spLocks noGrp="1"/>
          </p:cNvSpPr>
          <p:nvPr>
            <p:ph type="sldNum" sz="quarter" idx="12"/>
          </p:nvPr>
        </p:nvSpPr>
        <p:spPr>
          <a:xfrm>
            <a:off x="8610600" y="6356350"/>
            <a:ext cx="2743200" cy="365125"/>
          </a:xfrm>
        </p:spPr>
        <p:txBody>
          <a:bodyPr/>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89" name="Shape 289"/>
        <p:cNvGrpSpPr/>
        <p:nvPr/>
      </p:nvGrpSpPr>
      <p:grpSpPr>
        <a:xfrm>
          <a:off x="0" y="0"/>
          <a:ext cx="0" cy="0"/>
          <a:chOff x="0" y="0"/>
          <a:chExt cx="0" cy="0"/>
        </a:xfrm>
      </p:grpSpPr>
      <p:sp>
        <p:nvSpPr>
          <p:cNvPr id="290" name="Google Shape;290;p28"/>
          <p:cNvSpPr txBox="1"/>
          <p:nvPr>
            <p:ph type="sldNum" idx="12"/>
          </p:nvPr>
        </p:nvSpPr>
        <p:spPr>
          <a:xfrm>
            <a:off x="11320333" y="6241345"/>
            <a:ext cx="731600" cy="5248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GB" sz="1600">
                <a:latin typeface="Oswald"/>
                <a:ea typeface="Oswald"/>
                <a:cs typeface="Oswald"/>
                <a:sym typeface="Oswald"/>
              </a:rPr>
            </a:fld>
            <a:endParaRPr sz="1600">
              <a:latin typeface="Oswald"/>
              <a:ea typeface="Oswald"/>
              <a:cs typeface="Oswald"/>
              <a:sym typeface="Oswald"/>
            </a:endParaRPr>
          </a:p>
        </p:txBody>
      </p:sp>
      <p:sp>
        <p:nvSpPr>
          <p:cNvPr id="291" name="Google Shape;291;p28"/>
          <p:cNvSpPr txBox="1"/>
          <p:nvPr>
            <p:ph type="title"/>
          </p:nvPr>
        </p:nvSpPr>
        <p:spPr>
          <a:xfrm>
            <a:off x="415290" y="226695"/>
            <a:ext cx="11360785" cy="1310640"/>
          </a:xfrm>
          <a:prstGeom prst="rect">
            <a:avLst/>
          </a:prstGeom>
          <a:solidFill>
            <a:srgbClr val="FF8000"/>
          </a:solid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SzPts val="3600"/>
              <a:buNone/>
            </a:pPr>
            <a:r>
              <a:rPr lang="en-GB" b="1">
                <a:solidFill>
                  <a:schemeClr val="bg1"/>
                </a:solidFill>
                <a:latin typeface="Calibri" panose="020F0502020204030204" charset="0"/>
                <a:cs typeface="Calibri" panose="020F0502020204030204" charset="0"/>
              </a:rPr>
              <a:t>SDLC Steps </a:t>
            </a:r>
            <a:endParaRPr lang="en-GB" b="1">
              <a:solidFill>
                <a:schemeClr val="bg1"/>
              </a:solidFill>
              <a:latin typeface="Calibri" panose="020F0502020204030204" charset="0"/>
              <a:cs typeface="Calibri" panose="020F0502020204030204" charset="0"/>
            </a:endParaRPr>
          </a:p>
        </p:txBody>
      </p:sp>
      <p:sp>
        <p:nvSpPr>
          <p:cNvPr id="292" name="Google Shape;292;p28"/>
          <p:cNvSpPr txBox="1"/>
          <p:nvPr>
            <p:ph type="body" idx="1"/>
          </p:nvPr>
        </p:nvSpPr>
        <p:spPr>
          <a:xfrm>
            <a:off x="415600" y="1536633"/>
            <a:ext cx="11360800" cy="4555200"/>
          </a:xfrm>
          <a:prstGeom prst="rect">
            <a:avLst/>
          </a:prstGeom>
          <a:noFill/>
          <a:ln>
            <a:noFill/>
          </a:ln>
        </p:spPr>
        <p:txBody>
          <a:bodyPr spcFirstLastPara="1" wrap="square" lIns="121900" tIns="121900" rIns="121900" bIns="121900" anchor="t" anchorCtr="0">
            <a:noAutofit/>
          </a:bodyPr>
          <a:lstStyle/>
          <a:p>
            <a:pPr marL="514350" lvl="0" indent="-476250" algn="l" rtl="0">
              <a:lnSpc>
                <a:spcPct val="130000"/>
              </a:lnSpc>
              <a:spcBef>
                <a:spcPts val="0"/>
              </a:spcBef>
              <a:spcAft>
                <a:spcPts val="0"/>
              </a:spcAft>
              <a:buClr>
                <a:schemeClr val="dk1"/>
              </a:buClr>
              <a:buSzPts val="1800"/>
              <a:buFont typeface="Oswald"/>
              <a:buAutoNum type="romanLcPeriod"/>
            </a:pPr>
            <a:r>
              <a:rPr lang="en-GB" sz="2400">
                <a:solidFill>
                  <a:schemeClr val="dk1"/>
                </a:solidFill>
                <a:latin typeface="Calibri" panose="020F0502020204030204" charset="0"/>
                <a:ea typeface="Oswald"/>
                <a:cs typeface="Calibri" panose="020F0502020204030204" charset="0"/>
                <a:sym typeface="Oswald"/>
              </a:rPr>
              <a:t>Idea Generation (optional)</a:t>
            </a:r>
            <a:endParaRPr sz="2400">
              <a:latin typeface="Calibri" panose="020F0502020204030204" charset="0"/>
              <a:ea typeface="Oswald"/>
              <a:cs typeface="Calibri" panose="020F0502020204030204" charset="0"/>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sz="2400">
                <a:solidFill>
                  <a:schemeClr val="dk1"/>
                </a:solidFill>
                <a:latin typeface="Calibri" panose="020F0502020204030204" charset="0"/>
                <a:ea typeface="Oswald"/>
                <a:cs typeface="Calibri" panose="020F0502020204030204" charset="0"/>
                <a:sym typeface="Oswald"/>
              </a:rPr>
              <a:t>Planning</a:t>
            </a:r>
            <a:endParaRPr sz="2400">
              <a:latin typeface="Calibri" panose="020F0502020204030204" charset="0"/>
              <a:ea typeface="Oswald"/>
              <a:cs typeface="Calibri" panose="020F0502020204030204" charset="0"/>
              <a:sym typeface="Oswald"/>
            </a:endParaRPr>
          </a:p>
          <a:p>
            <a:pPr marL="514350" lvl="0" indent="-476250" algn="l" rtl="0">
              <a:lnSpc>
                <a:spcPct val="130000"/>
              </a:lnSpc>
              <a:spcBef>
                <a:spcPts val="0"/>
              </a:spcBef>
              <a:spcAft>
                <a:spcPts val="0"/>
              </a:spcAft>
              <a:buClr>
                <a:srgbClr val="C00000"/>
              </a:buClr>
              <a:buSzPts val="1800"/>
              <a:buFont typeface="+mj-lt"/>
              <a:buAutoNum type="romanLcPeriod"/>
            </a:pPr>
            <a:r>
              <a:rPr lang="en-GB" sz="2400">
                <a:solidFill>
                  <a:schemeClr val="accent2">
                    <a:lumMod val="75000"/>
                  </a:schemeClr>
                </a:solidFill>
                <a:latin typeface="Calibri" panose="020F0502020204030204" charset="0"/>
                <a:ea typeface="Oswald"/>
                <a:cs typeface="Calibri" panose="020F0502020204030204" charset="0"/>
                <a:sym typeface="Oswald"/>
              </a:rPr>
              <a:t>System Information/Requirement Gathering</a:t>
            </a:r>
            <a:endParaRPr sz="2400">
              <a:solidFill>
                <a:schemeClr val="accent2">
                  <a:lumMod val="75000"/>
                </a:schemeClr>
              </a:solidFill>
              <a:latin typeface="Calibri" panose="020F0502020204030204" charset="0"/>
              <a:ea typeface="Oswald"/>
              <a:cs typeface="Calibri" panose="020F0502020204030204" charset="0"/>
              <a:sym typeface="Oswald"/>
            </a:endParaRPr>
          </a:p>
          <a:p>
            <a:pPr marL="514350" lvl="0" indent="-476250" algn="l" rtl="0">
              <a:lnSpc>
                <a:spcPct val="130000"/>
              </a:lnSpc>
              <a:spcBef>
                <a:spcPts val="0"/>
              </a:spcBef>
              <a:spcAft>
                <a:spcPts val="0"/>
              </a:spcAft>
              <a:buClr>
                <a:srgbClr val="C00000"/>
              </a:buClr>
              <a:buSzPts val="1800"/>
              <a:buFont typeface="+mj-lt"/>
              <a:buAutoNum type="romanLcPeriod"/>
            </a:pPr>
            <a:r>
              <a:rPr lang="en-GB" sz="2400">
                <a:solidFill>
                  <a:schemeClr val="accent2">
                    <a:lumMod val="75000"/>
                  </a:schemeClr>
                </a:solidFill>
                <a:latin typeface="Calibri" panose="020F0502020204030204" charset="0"/>
                <a:ea typeface="Oswald"/>
                <a:cs typeface="Calibri" panose="020F0502020204030204" charset="0"/>
                <a:sym typeface="Oswald"/>
              </a:rPr>
              <a:t>Analysis</a:t>
            </a:r>
            <a:endParaRPr sz="2400">
              <a:solidFill>
                <a:schemeClr val="accent2">
                  <a:lumMod val="75000"/>
                </a:schemeClr>
              </a:solidFill>
              <a:latin typeface="Calibri" panose="020F0502020204030204" charset="0"/>
              <a:ea typeface="Oswald"/>
              <a:cs typeface="Calibri" panose="020F0502020204030204" charset="0"/>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sz="2400">
                <a:solidFill>
                  <a:schemeClr val="dk1"/>
                </a:solidFill>
                <a:latin typeface="Calibri" panose="020F0502020204030204" charset="0"/>
                <a:ea typeface="Oswald"/>
                <a:cs typeface="Calibri" panose="020F0502020204030204" charset="0"/>
                <a:sym typeface="Oswald"/>
              </a:rPr>
              <a:t>Design</a:t>
            </a:r>
            <a:endParaRPr sz="2400">
              <a:latin typeface="Calibri" panose="020F0502020204030204" charset="0"/>
              <a:ea typeface="Oswald"/>
              <a:cs typeface="Calibri" panose="020F0502020204030204" charset="0"/>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sz="2400">
                <a:solidFill>
                  <a:schemeClr val="dk1"/>
                </a:solidFill>
                <a:latin typeface="Calibri" panose="020F0502020204030204" charset="0"/>
                <a:ea typeface="Oswald"/>
                <a:cs typeface="Calibri" panose="020F0502020204030204" charset="0"/>
                <a:sym typeface="Oswald"/>
              </a:rPr>
              <a:t>Development/Construction/Coding</a:t>
            </a:r>
            <a:endParaRPr sz="2400">
              <a:latin typeface="Calibri" panose="020F0502020204030204" charset="0"/>
              <a:ea typeface="Oswald"/>
              <a:cs typeface="Calibri" panose="020F0502020204030204" charset="0"/>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sz="2400">
                <a:solidFill>
                  <a:schemeClr val="dk1"/>
                </a:solidFill>
                <a:latin typeface="Calibri" panose="020F0502020204030204" charset="0"/>
                <a:ea typeface="Oswald"/>
                <a:cs typeface="Calibri" panose="020F0502020204030204" charset="0"/>
                <a:sym typeface="Oswald"/>
              </a:rPr>
              <a:t>Testing</a:t>
            </a:r>
            <a:endParaRPr sz="2400">
              <a:latin typeface="Calibri" panose="020F0502020204030204" charset="0"/>
              <a:ea typeface="Oswald"/>
              <a:cs typeface="Calibri" panose="020F0502020204030204" charset="0"/>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sz="2400">
                <a:solidFill>
                  <a:schemeClr val="dk1"/>
                </a:solidFill>
                <a:latin typeface="Calibri" panose="020F0502020204030204" charset="0"/>
                <a:ea typeface="Oswald"/>
                <a:cs typeface="Calibri" panose="020F0502020204030204" charset="0"/>
                <a:sym typeface="Oswald"/>
              </a:rPr>
              <a:t>Deployment</a:t>
            </a:r>
            <a:endParaRPr sz="2400">
              <a:latin typeface="Calibri" panose="020F0502020204030204" charset="0"/>
              <a:ea typeface="Oswald"/>
              <a:cs typeface="Calibri" panose="020F0502020204030204" charset="0"/>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sz="2400">
                <a:solidFill>
                  <a:schemeClr val="dk1"/>
                </a:solidFill>
                <a:latin typeface="Calibri" panose="020F0502020204030204" charset="0"/>
                <a:ea typeface="Oswald"/>
                <a:cs typeface="Calibri" panose="020F0502020204030204" charset="0"/>
                <a:sym typeface="Oswald"/>
              </a:rPr>
              <a:t>Post–Implementation &amp; Maintenance</a:t>
            </a:r>
            <a:endParaRPr sz="2400">
              <a:latin typeface="Calibri" panose="020F0502020204030204" charset="0"/>
              <a:ea typeface="Oswald"/>
              <a:cs typeface="Calibri" panose="020F0502020204030204" charset="0"/>
              <a:sym typeface="Oswald"/>
            </a:endParaRPr>
          </a:p>
          <a:p>
            <a:pPr marL="0" lvl="0" indent="0" algn="l" rtl="0">
              <a:lnSpc>
                <a:spcPct val="100000"/>
              </a:lnSpc>
              <a:spcBef>
                <a:spcPts val="0"/>
              </a:spcBef>
              <a:spcAft>
                <a:spcPts val="0"/>
              </a:spcAft>
              <a:buClr>
                <a:srgbClr val="073763"/>
              </a:buClr>
              <a:buSzPts val="3000"/>
              <a:buNone/>
            </a:pPr>
            <a:endParaRPr sz="2400">
              <a:solidFill>
                <a:schemeClr val="dk1"/>
              </a:solidFill>
              <a:latin typeface="Calibri" panose="020F0502020204030204" charset="0"/>
              <a:ea typeface="Oswald"/>
              <a:cs typeface="Calibri" panose="020F0502020204030204" charset="0"/>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GB" b="1">
                <a:solidFill>
                  <a:schemeClr val="bg1"/>
                </a:solidFill>
                <a:latin typeface="Calibri" panose="020F0502020204030204" charset="0"/>
                <a:cs typeface="Calibri" panose="020F0502020204030204" charset="0"/>
                <a:sym typeface="+mn-ea"/>
              </a:rPr>
              <a:t>Requirements </a:t>
            </a:r>
            <a:r>
              <a:rPr lang="en-US" altLang="en-GB" b="1">
                <a:solidFill>
                  <a:schemeClr val="bg1"/>
                </a:solidFill>
                <a:latin typeface="Calibri" panose="020F0502020204030204" charset="0"/>
                <a:cs typeface="Calibri" panose="020F0502020204030204" charset="0"/>
                <a:sym typeface="+mn-ea"/>
              </a:rPr>
              <a:t>Gathering &amp; </a:t>
            </a:r>
            <a:r>
              <a:rPr lang="en-GB" b="1">
                <a:solidFill>
                  <a:schemeClr val="bg1"/>
                </a:solidFill>
                <a:latin typeface="Calibri" panose="020F0502020204030204" charset="0"/>
                <a:cs typeface="Calibri" panose="020F0502020204030204" charset="0"/>
                <a:sym typeface="+mn-ea"/>
              </a:rPr>
              <a:t>Analysis</a:t>
            </a:r>
            <a:endParaRPr lang="en-GB" b="1">
              <a:solidFill>
                <a:schemeClr val="bg1"/>
              </a:solidFill>
              <a:latin typeface="Calibri" panose="020F0502020204030204" charset="0"/>
              <a:cs typeface="Calibri" panose="020F0502020204030204" charset="0"/>
              <a:sym typeface="+mn-ea"/>
            </a:endParaRPr>
          </a:p>
        </p:txBody>
      </p:sp>
      <p:sp>
        <p:nvSpPr>
          <p:cNvPr id="3" name="Content Placeholder 2"/>
          <p:cNvSpPr>
            <a:spLocks noGrp="1"/>
          </p:cNvSpPr>
          <p:nvPr>
            <p:ph idx="1"/>
          </p:nvPr>
        </p:nvSpPr>
        <p:spPr/>
        <p:txBody>
          <a:bodyPr/>
          <a:lstStyle/>
          <a:p>
            <a:pPr marL="457200" lvl="0" indent="0" algn="l" rtl="0">
              <a:lnSpc>
                <a:spcPct val="100000"/>
              </a:lnSpc>
              <a:spcBef>
                <a:spcPts val="600"/>
              </a:spcBef>
              <a:spcAft>
                <a:spcPts val="0"/>
              </a:spcAft>
              <a:buNone/>
            </a:pP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a:solidFill>
                  <a:schemeClr val="dk1"/>
                </a:solidFill>
                <a:latin typeface="Calibri" panose="020F0502020204030204" charset="0"/>
                <a:ea typeface="Oswald"/>
                <a:cs typeface="Calibri" panose="020F0502020204030204" charset="0"/>
                <a:sym typeface="Oswald"/>
              </a:rPr>
              <a:t>Information </a:t>
            </a:r>
            <a:r>
              <a:rPr lang="en-GB" sz="2400" b="1">
                <a:solidFill>
                  <a:schemeClr val="dk1"/>
                </a:solidFill>
                <a:latin typeface="Calibri" panose="020F0502020204030204" charset="0"/>
                <a:ea typeface="Oswald"/>
                <a:cs typeface="Calibri" panose="020F0502020204030204" charset="0"/>
                <a:sym typeface="Oswald"/>
              </a:rPr>
              <a:t>Sources</a:t>
            </a: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a:solidFill>
                  <a:schemeClr val="dk1"/>
                </a:solidFill>
                <a:latin typeface="Calibri" panose="020F0502020204030204" charset="0"/>
                <a:ea typeface="Oswald"/>
                <a:cs typeface="Calibri" panose="020F0502020204030204" charset="0"/>
                <a:sym typeface="Oswald"/>
              </a:rPr>
              <a:t>Information </a:t>
            </a:r>
            <a:r>
              <a:rPr lang="en-GB" sz="2400" b="1">
                <a:solidFill>
                  <a:schemeClr val="dk1"/>
                </a:solidFill>
                <a:latin typeface="Calibri" panose="020F0502020204030204" charset="0"/>
                <a:ea typeface="Oswald"/>
                <a:cs typeface="Calibri" panose="020F0502020204030204" charset="0"/>
                <a:sym typeface="Oswald"/>
              </a:rPr>
              <a:t>Gathering</a:t>
            </a: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b="1">
                <a:solidFill>
                  <a:schemeClr val="dk1"/>
                </a:solidFill>
                <a:latin typeface="Calibri" panose="020F0502020204030204" charset="0"/>
                <a:ea typeface="Oswald"/>
                <a:cs typeface="Calibri" panose="020F0502020204030204" charset="0"/>
                <a:sym typeface="Oswald"/>
              </a:rPr>
              <a:t>Comparison</a:t>
            </a: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b="1">
                <a:solidFill>
                  <a:schemeClr val="dk1"/>
                </a:solidFill>
                <a:latin typeface="Calibri" panose="020F0502020204030204" charset="0"/>
                <a:ea typeface="Oswald"/>
                <a:cs typeface="Calibri" panose="020F0502020204030204" charset="0"/>
                <a:sym typeface="Oswald"/>
              </a:rPr>
              <a:t>Gap Analysis</a:t>
            </a:r>
            <a:endParaRPr sz="2400" b="1">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b="1">
                <a:solidFill>
                  <a:schemeClr val="dk1"/>
                </a:solidFill>
                <a:latin typeface="Calibri" panose="020F0502020204030204" charset="0"/>
                <a:ea typeface="Oswald"/>
                <a:cs typeface="Calibri" panose="020F0502020204030204" charset="0"/>
                <a:sym typeface="Oswald"/>
              </a:rPr>
              <a:t>Feature List Fixation</a:t>
            </a:r>
            <a:endParaRPr lang="en-GB" sz="2400" b="1">
              <a:solidFill>
                <a:schemeClr val="dk1"/>
              </a:solidFill>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GB" b="1">
                <a:solidFill>
                  <a:schemeClr val="bg1"/>
                </a:solidFill>
                <a:sym typeface="+mn-ea"/>
              </a:rPr>
              <a:t>Requirements </a:t>
            </a:r>
            <a:r>
              <a:rPr lang="en-US" altLang="en-GB" b="1">
                <a:solidFill>
                  <a:schemeClr val="bg1"/>
                </a:solidFill>
                <a:sym typeface="+mn-ea"/>
              </a:rPr>
              <a:t>Gathering &amp; </a:t>
            </a:r>
            <a:r>
              <a:rPr lang="en-GB" b="1">
                <a:solidFill>
                  <a:schemeClr val="bg1"/>
                </a:solidFill>
                <a:sym typeface="+mn-ea"/>
              </a:rPr>
              <a:t>Analysis</a:t>
            </a:r>
            <a:endParaRPr lang="en-GB" b="1">
              <a:solidFill>
                <a:schemeClr val="bg1"/>
              </a:solidFill>
              <a:sym typeface="+mn-ea"/>
            </a:endParaRPr>
          </a:p>
        </p:txBody>
      </p:sp>
      <p:sp>
        <p:nvSpPr>
          <p:cNvPr id="3" name="Content Placeholder 2"/>
          <p:cNvSpPr>
            <a:spLocks noGrp="1"/>
          </p:cNvSpPr>
          <p:nvPr>
            <p:ph idx="1"/>
          </p:nvPr>
        </p:nvSpPr>
        <p:spPr/>
        <p:txBody>
          <a:bodyPr/>
          <a:lstStyle/>
          <a:p>
            <a:pPr marL="457200" lvl="0" indent="0" algn="l" rtl="0">
              <a:lnSpc>
                <a:spcPct val="100000"/>
              </a:lnSpc>
              <a:spcBef>
                <a:spcPts val="600"/>
              </a:spcBef>
              <a:spcAft>
                <a:spcPts val="0"/>
              </a:spcAft>
              <a:buNone/>
            </a:pP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a:solidFill>
                  <a:schemeClr val="dk1"/>
                </a:solidFill>
                <a:latin typeface="Calibri" panose="020F0502020204030204" charset="0"/>
                <a:ea typeface="Oswald"/>
                <a:cs typeface="Calibri" panose="020F0502020204030204" charset="0"/>
                <a:sym typeface="Oswald"/>
              </a:rPr>
              <a:t>Information </a:t>
            </a:r>
            <a:r>
              <a:rPr lang="en-GB" sz="2400" b="1">
                <a:solidFill>
                  <a:schemeClr val="dk1"/>
                </a:solidFill>
                <a:latin typeface="Calibri" panose="020F0502020204030204" charset="0"/>
                <a:ea typeface="Oswald"/>
                <a:cs typeface="Calibri" panose="020F0502020204030204" charset="0"/>
                <a:sym typeface="Oswald"/>
              </a:rPr>
              <a:t>Sources</a:t>
            </a: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a:solidFill>
                  <a:schemeClr val="dk1"/>
                </a:solidFill>
                <a:latin typeface="Calibri" panose="020F0502020204030204" charset="0"/>
                <a:ea typeface="Oswald"/>
                <a:cs typeface="Calibri" panose="020F0502020204030204" charset="0"/>
                <a:sym typeface="Oswald"/>
              </a:rPr>
              <a:t>Information </a:t>
            </a:r>
            <a:r>
              <a:rPr lang="en-GB" sz="2400" b="1">
                <a:solidFill>
                  <a:schemeClr val="dk1"/>
                </a:solidFill>
                <a:latin typeface="Calibri" panose="020F0502020204030204" charset="0"/>
                <a:ea typeface="Oswald"/>
                <a:cs typeface="Calibri" panose="020F0502020204030204" charset="0"/>
                <a:sym typeface="Oswald"/>
              </a:rPr>
              <a:t>Gathering</a:t>
            </a: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b="1">
                <a:solidFill>
                  <a:schemeClr val="dk1"/>
                </a:solidFill>
                <a:latin typeface="Calibri" panose="020F0502020204030204" charset="0"/>
                <a:ea typeface="Oswald"/>
                <a:cs typeface="Calibri" panose="020F0502020204030204" charset="0"/>
                <a:sym typeface="Oswald"/>
              </a:rPr>
              <a:t>Comparison</a:t>
            </a: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b="1">
                <a:solidFill>
                  <a:schemeClr val="dk1"/>
                </a:solidFill>
                <a:latin typeface="Calibri" panose="020F0502020204030204" charset="0"/>
                <a:ea typeface="Oswald"/>
                <a:cs typeface="Calibri" panose="020F0502020204030204" charset="0"/>
                <a:sym typeface="Oswald"/>
              </a:rPr>
              <a:t>Gap Analysis</a:t>
            </a:r>
            <a:endParaRPr sz="2400" b="1">
              <a:solidFill>
                <a:schemeClr val="dk1"/>
              </a:solidFill>
              <a:latin typeface="Calibri" panose="020F0502020204030204" charset="0"/>
              <a:ea typeface="Oswald"/>
              <a:cs typeface="Calibri" panose="020F0502020204030204" charset="0"/>
              <a:sym typeface="Oswald"/>
            </a:endParaRPr>
          </a:p>
          <a:p>
            <a:pPr marL="457200" lvl="0" indent="-406400" algn="l" rtl="0">
              <a:lnSpc>
                <a:spcPct val="100000"/>
              </a:lnSpc>
              <a:spcBef>
                <a:spcPts val="0"/>
              </a:spcBef>
              <a:spcAft>
                <a:spcPts val="0"/>
              </a:spcAft>
              <a:buClr>
                <a:schemeClr val="dk1"/>
              </a:buClr>
              <a:buSzPts val="2800"/>
              <a:buFont typeface="Oswald"/>
              <a:buChar char="•"/>
            </a:pPr>
            <a:r>
              <a:rPr lang="en-GB" sz="2400" b="1">
                <a:solidFill>
                  <a:schemeClr val="dk1"/>
                </a:solidFill>
                <a:latin typeface="Calibri" panose="020F0502020204030204" charset="0"/>
                <a:ea typeface="Oswald"/>
                <a:cs typeface="Calibri" panose="020F0502020204030204" charset="0"/>
                <a:sym typeface="Oswald"/>
              </a:rPr>
              <a:t>Feature List Fixation</a:t>
            </a:r>
            <a:endParaRPr lang="en-GB" sz="2400" b="1">
              <a:solidFill>
                <a:schemeClr val="dk1"/>
              </a:solidFill>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GB" b="1">
                <a:solidFill>
                  <a:schemeClr val="bg1"/>
                </a:solidFill>
                <a:latin typeface="Calibri" panose="020F0502020204030204" charset="0"/>
                <a:cs typeface="Calibri" panose="020F0502020204030204" charset="0"/>
                <a:sym typeface="+mn-ea"/>
              </a:rPr>
              <a:t>Why do we need this phase?</a:t>
            </a:r>
            <a:endParaRPr lang="en-GB" b="1">
              <a:solidFill>
                <a:schemeClr val="bg1"/>
              </a:solidFill>
              <a:latin typeface="Calibri" panose="020F0502020204030204" charset="0"/>
              <a:cs typeface="Calibri" panose="020F0502020204030204" charset="0"/>
              <a:sym typeface="+mn-ea"/>
            </a:endParaRPr>
          </a:p>
        </p:txBody>
      </p:sp>
      <p:sp>
        <p:nvSpPr>
          <p:cNvPr id="3" name="Content Placeholder 2"/>
          <p:cNvSpPr>
            <a:spLocks noGrp="1"/>
          </p:cNvSpPr>
          <p:nvPr>
            <p:ph sz="half" idx="1"/>
          </p:nvPr>
        </p:nvSpPr>
        <p:spPr>
          <a:xfrm>
            <a:off x="838200" y="1825625"/>
            <a:ext cx="10324465" cy="1466215"/>
          </a:xfrm>
        </p:spPr>
        <p:txBody>
          <a:bodyPr/>
          <a:lstStyle/>
          <a:p>
            <a:pPr marL="0" indent="0">
              <a:buNone/>
            </a:pPr>
            <a:r>
              <a:rPr lang="en-GB" sz="2400">
                <a:solidFill>
                  <a:schemeClr val="dk1"/>
                </a:solidFill>
                <a:latin typeface="Calibri" panose="020F0502020204030204" charset="0"/>
                <a:ea typeface="Oswald"/>
                <a:cs typeface="Calibri" panose="020F0502020204030204" charset="0"/>
                <a:sym typeface="Oswald"/>
              </a:rPr>
              <a:t>Sometimes (a lot of times actually), the end-product does not fully comply with what the customer/end-user had expected.</a:t>
            </a:r>
            <a:endParaRPr sz="2400">
              <a:latin typeface="Calibri" panose="020F0502020204030204" charset="0"/>
              <a:ea typeface="Oswald"/>
              <a:cs typeface="Calibri" panose="020F0502020204030204" charset="0"/>
              <a:sym typeface="Oswald"/>
            </a:endParaRPr>
          </a:p>
          <a:p>
            <a:pPr marL="0" indent="0">
              <a:buNone/>
            </a:pPr>
            <a:endParaRPr lang="en-US" sz="2400">
              <a:latin typeface="Calibri" panose="020F0502020204030204" charset="0"/>
              <a:ea typeface="Oswald"/>
              <a:cs typeface="Calibri" panose="020F0502020204030204" charset="0"/>
              <a:sym typeface="Oswald"/>
            </a:endParaRPr>
          </a:p>
        </p:txBody>
      </p:sp>
      <p:sp>
        <p:nvSpPr>
          <p:cNvPr id="315" name="Google Shape;315;p31"/>
          <p:cNvSpPr txBox="1"/>
          <p:nvPr/>
        </p:nvSpPr>
        <p:spPr>
          <a:xfrm>
            <a:off x="1359100" y="3291910"/>
            <a:ext cx="2743200"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a:solidFill>
                  <a:srgbClr val="C00000"/>
                </a:solidFill>
                <a:latin typeface="Average"/>
                <a:ea typeface="Average"/>
                <a:cs typeface="Average"/>
                <a:sym typeface="Average"/>
              </a:rPr>
              <a:t>Client Expectation</a:t>
            </a:r>
            <a:endParaRPr lang="en-GB" sz="1800">
              <a:solidFill>
                <a:srgbClr val="C00000"/>
              </a:solidFill>
              <a:latin typeface="Average"/>
              <a:ea typeface="Average"/>
              <a:cs typeface="Average"/>
              <a:sym typeface="Average"/>
            </a:endParaRPr>
          </a:p>
        </p:txBody>
      </p:sp>
      <p:pic>
        <p:nvPicPr>
          <p:cNvPr id="314" name="Google Shape;314;p31"/>
          <p:cNvPicPr preferRelativeResize="0">
            <a:picLocks noGrp="1" noChangeAspect="1"/>
          </p:cNvPicPr>
          <p:nvPr>
            <p:ph sz="half" idx="2"/>
          </p:nvPr>
        </p:nvPicPr>
        <p:blipFill>
          <a:blip r:embed="rId1"/>
          <a:stretch>
            <a:fillRect/>
          </a:stretch>
        </p:blipFill>
        <p:spPr>
          <a:xfrm>
            <a:off x="1096010" y="3838575"/>
            <a:ext cx="3633470" cy="2273935"/>
          </a:xfrm>
          <a:prstGeom prst="rect">
            <a:avLst/>
          </a:prstGeom>
          <a:noFill/>
          <a:ln>
            <a:noFill/>
          </a:ln>
          <a:effectLst>
            <a:outerShdw blurRad="57150" dist="19050" dir="5400000" algn="bl" rotWithShape="0">
              <a:srgbClr val="000000">
                <a:alpha val="50000"/>
              </a:srgbClr>
            </a:outerShdw>
          </a:effectLst>
        </p:spPr>
      </p:pic>
      <p:sp>
        <p:nvSpPr>
          <p:cNvPr id="316" name="Google Shape;316;p31"/>
          <p:cNvSpPr txBox="1"/>
          <p:nvPr/>
        </p:nvSpPr>
        <p:spPr>
          <a:xfrm>
            <a:off x="6594475" y="3291840"/>
            <a:ext cx="2743200"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a:solidFill>
                  <a:srgbClr val="C00000"/>
                </a:solidFill>
                <a:latin typeface="Average"/>
                <a:ea typeface="Average"/>
                <a:cs typeface="Average"/>
                <a:sym typeface="Average"/>
              </a:rPr>
              <a:t>Client Receives</a:t>
            </a:r>
            <a:endParaRPr lang="en-GB" sz="1800">
              <a:solidFill>
                <a:srgbClr val="C00000"/>
              </a:solidFill>
              <a:latin typeface="Average"/>
              <a:ea typeface="Average"/>
              <a:cs typeface="Average"/>
              <a:sym typeface="Average"/>
            </a:endParaRPr>
          </a:p>
        </p:txBody>
      </p:sp>
      <p:pic>
        <p:nvPicPr>
          <p:cNvPr id="317" name="Google Shape;317;p31"/>
          <p:cNvPicPr preferRelativeResize="0"/>
          <p:nvPr/>
        </p:nvPicPr>
        <p:blipFill>
          <a:blip r:embed="rId2"/>
          <a:stretch>
            <a:fillRect/>
          </a:stretch>
        </p:blipFill>
        <p:spPr>
          <a:xfrm>
            <a:off x="6594475" y="3952240"/>
            <a:ext cx="3307080" cy="2047240"/>
          </a:xfrm>
          <a:prstGeom prst="rect">
            <a:avLst/>
          </a:prstGeom>
          <a:noFill/>
          <a:ln>
            <a:noFill/>
          </a:ln>
        </p:spPr>
      </p:pic>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GB" b="1">
                <a:solidFill>
                  <a:schemeClr val="bg1"/>
                </a:solidFill>
                <a:latin typeface="Calibri" panose="020F0502020204030204" charset="0"/>
                <a:cs typeface="Calibri" panose="020F0502020204030204" charset="0"/>
                <a:sym typeface="+mn-ea"/>
              </a:rPr>
              <a:t>Importance of Requirements Analysi</a:t>
            </a:r>
            <a:r>
              <a:rPr lang="en-US" altLang="en-GB" b="1">
                <a:solidFill>
                  <a:schemeClr val="bg1"/>
                </a:solidFill>
                <a:latin typeface="Calibri" panose="020F0502020204030204" charset="0"/>
                <a:cs typeface="Calibri" panose="020F0502020204030204" charset="0"/>
                <a:sym typeface="+mn-ea"/>
              </a:rPr>
              <a:t>s</a:t>
            </a:r>
            <a:endParaRPr lang="en-US" altLang="en-GB" b="1">
              <a:solidFill>
                <a:schemeClr val="bg1"/>
              </a:solidFill>
              <a:latin typeface="Calibri" panose="020F0502020204030204" charset="0"/>
              <a:cs typeface="Calibri" panose="020F0502020204030204" charset="0"/>
              <a:sym typeface="+mn-ea"/>
            </a:endParaRPr>
          </a:p>
        </p:txBody>
      </p:sp>
      <p:sp>
        <p:nvSpPr>
          <p:cNvPr id="5" name="Content Placeholder 4"/>
          <p:cNvSpPr>
            <a:spLocks noGrp="1"/>
          </p:cNvSpPr>
          <p:nvPr>
            <p:ph idx="1"/>
          </p:nvPr>
        </p:nvSpPr>
        <p:spPr/>
        <p:txBody>
          <a:bodyPr/>
          <a:lstStyle/>
          <a:p>
            <a:r>
              <a:rPr lang="en-US" altLang="en-US" sz="2400" b="1"/>
              <a:t>Aligns with Business Goals</a:t>
            </a:r>
            <a:r>
              <a:rPr lang="en-US" altLang="en-US" sz="2400"/>
              <a:t> – It makes sure the software meets company objectives and operational needs.</a:t>
            </a:r>
            <a:endParaRPr lang="en-US" altLang="en-US" sz="2400"/>
          </a:p>
          <a:p>
            <a:r>
              <a:rPr lang="en-US" altLang="en-US" sz="2400" b="1"/>
              <a:t>Enhances User Satisfaction </a:t>
            </a:r>
            <a:r>
              <a:rPr lang="en-US" altLang="en-US" sz="2400"/>
              <a:t>– Involving users in development results in a product that meets their expectations.</a:t>
            </a:r>
            <a:endParaRPr lang="en-US" altLang="en-US" sz="2400"/>
          </a:p>
          <a:p>
            <a:r>
              <a:rPr lang="en-US" altLang="en-US" sz="2400" b="1"/>
              <a:t>Saves Time &amp; Money</a:t>
            </a:r>
            <a:r>
              <a:rPr lang="en-US" altLang="en-US" sz="2400"/>
              <a:t> – Clear requirements reduce miscommunication, rework, and costly delays.</a:t>
            </a:r>
            <a:endParaRPr lang="en-US" altLang="en-US" sz="2400"/>
          </a:p>
          <a:p>
            <a:r>
              <a:rPr lang="en-US" altLang="en-US" sz="2400" b="1"/>
              <a:t>Compliance &amp; Regulations </a:t>
            </a:r>
            <a:r>
              <a:rPr lang="en-US" altLang="en-US" sz="2400"/>
              <a:t>– Ensures software meets legal standards, avoiding fines and legal issues.</a:t>
            </a:r>
            <a:endParaRPr lang="en-US" altLang="en-US" sz="2400"/>
          </a:p>
          <a:p>
            <a:r>
              <a:rPr lang="en-US" altLang="en-US" sz="2400" b="1"/>
              <a:t>Traceability &amp; Documentation </a:t>
            </a:r>
            <a:r>
              <a:rPr lang="en-US" altLang="en-US" sz="2400"/>
              <a:t>– Links software components to requirements, aiding audits and updates.</a:t>
            </a:r>
            <a:endParaRPr lang="en-US" altLang="en-US" sz="2400"/>
          </a:p>
        </p:txBody>
      </p:sp>
      <p:sp>
        <p:nvSpPr>
          <p:cNvPr id="3" name="Footer Placeholder 2"/>
          <p:cNvSpPr>
            <a:spLocks noGrp="1"/>
          </p:cNvSpPr>
          <p:nvPr>
            <p:ph type="ftr" sz="quarter" idx="11"/>
          </p:nvPr>
        </p:nvSpPr>
        <p:spPr/>
        <p:txBody>
          <a:bodyPr/>
          <a:lstStyle/>
          <a:p>
            <a:r>
              <a:rPr lang="en-US"/>
              <a:t>Tasmin Sanjida, Lecturer, CSE, UIU</a:t>
            </a:r>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noFill/>
          </a:ln>
        </p:spPr>
        <p:txBody>
          <a:bodyPr/>
          <a:p>
            <a:r>
              <a:rPr lang="en-GB" b="1">
                <a:solidFill>
                  <a:schemeClr val="bg1"/>
                </a:solidFill>
                <a:latin typeface="Calibri" panose="020F0502020204030204" charset="0"/>
                <a:cs typeface="Calibri" panose="020F0502020204030204" charset="0"/>
                <a:sym typeface="+mn-ea"/>
              </a:rPr>
              <a:t>Types of</a:t>
            </a:r>
            <a:r>
              <a:rPr lang="en-US" altLang="en-GB" b="1">
                <a:solidFill>
                  <a:schemeClr val="bg1"/>
                </a:solidFill>
                <a:latin typeface="Calibri" panose="020F0502020204030204" charset="0"/>
                <a:cs typeface="Calibri" panose="020F0502020204030204" charset="0"/>
                <a:sym typeface="+mn-ea"/>
              </a:rPr>
              <a:t> R</a:t>
            </a:r>
            <a:r>
              <a:rPr lang="en-US" altLang="en-US">
                <a:solidFill>
                  <a:schemeClr val="bg1"/>
                </a:solidFill>
                <a:latin typeface="Calibri" panose="020F0502020204030204" charset="0"/>
                <a:cs typeface="Calibri" panose="020F0502020204030204" charset="0"/>
              </a:rPr>
              <a:t>equirements</a:t>
            </a:r>
            <a:endParaRPr lang="en-US" altLang="en-US">
              <a:solidFill>
                <a:schemeClr val="bg1"/>
              </a:solidFill>
              <a:latin typeface="Calibri" panose="020F0502020204030204" charset="0"/>
              <a:cs typeface="Calibri" panose="020F0502020204030204" charset="0"/>
            </a:endParaRPr>
          </a:p>
        </p:txBody>
      </p:sp>
      <p:sp>
        <p:nvSpPr>
          <p:cNvPr id="3" name="Content Placeholder 2"/>
          <p:cNvSpPr>
            <a:spLocks noGrp="1"/>
          </p:cNvSpPr>
          <p:nvPr>
            <p:ph idx="1"/>
          </p:nvPr>
        </p:nvSpPr>
        <p:spPr/>
        <p:txBody>
          <a:bodyPr>
            <a:normAutofit/>
          </a:bodyPr>
          <a:p>
            <a:pPr marL="0" indent="0">
              <a:buNone/>
            </a:pPr>
            <a:r>
              <a:rPr lang="en-US" altLang="en-US" sz="2400" b="1">
                <a:latin typeface="Calibri" panose="020F0502020204030204" charset="0"/>
                <a:cs typeface="Calibri" panose="020F0502020204030204" charset="0"/>
              </a:rPr>
              <a:t>Functional Requirements</a:t>
            </a:r>
            <a:endParaRPr lang="en-US" altLang="en-US" sz="2400" b="1">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Describe what the system must do</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Define features, behaviors, or tasks</a:t>
            </a:r>
            <a:endParaRPr lang="en-US" altLang="en-US" sz="2400">
              <a:latin typeface="Calibri" panose="020F0502020204030204" charset="0"/>
              <a:cs typeface="Calibri" panose="020F0502020204030204" charset="0"/>
            </a:endParaRPr>
          </a:p>
          <a:p>
            <a:pPr marL="0" indent="0">
              <a:buNone/>
            </a:pPr>
            <a:endParaRPr lang="en-US" altLang="en-US" sz="2400">
              <a:latin typeface="Calibri" panose="020F0502020204030204" charset="0"/>
              <a:cs typeface="Calibri" panose="020F0502020204030204" charset="0"/>
            </a:endParaRPr>
          </a:p>
          <a:p>
            <a:pPr marL="0" indent="0">
              <a:buNone/>
            </a:pPr>
            <a:r>
              <a:rPr lang="en-US" altLang="en-US" sz="2400" b="1">
                <a:latin typeface="Calibri" panose="020F0502020204030204" charset="0"/>
                <a:cs typeface="Calibri" panose="020F0502020204030204" charset="0"/>
              </a:rPr>
              <a:t>Non-Functional Requirements</a:t>
            </a:r>
            <a:endParaRPr lang="en-US" altLang="en-US" sz="2400" b="1">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Describe how the system should perform</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Define quality attributes</a:t>
            </a:r>
            <a:endParaRPr lang="en-US" altLang="en-US" sz="2400">
              <a:latin typeface="Calibri" panose="020F0502020204030204" charset="0"/>
              <a:cs typeface="Calibri" panose="020F0502020204030204" charset="0"/>
            </a:endParaRPr>
          </a:p>
          <a:p>
            <a:pPr marL="0" indent="0">
              <a:buNone/>
            </a:pPr>
            <a:endParaRPr lang="en-US" altLang="en-US" sz="2400">
              <a:latin typeface="Calibri" panose="020F0502020204030204" charset="0"/>
              <a:cs typeface="Calibri" panose="020F05020202040302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noFill/>
          </a:ln>
        </p:spPr>
        <p:txBody>
          <a:bodyPr/>
          <a:p>
            <a:r>
              <a:rPr lang="en-US" altLang="en-US" b="1">
                <a:solidFill>
                  <a:schemeClr val="bg1"/>
                </a:solidFill>
              </a:rPr>
              <a:t>Good requirement characteristics</a:t>
            </a:r>
            <a:endParaRPr lang="en-US" altLang="en-US" b="1">
              <a:solidFill>
                <a:schemeClr val="bg1"/>
              </a:solidFill>
            </a:endParaRPr>
          </a:p>
        </p:txBody>
      </p:sp>
      <p:sp>
        <p:nvSpPr>
          <p:cNvPr id="3" name="Content Placeholder 2"/>
          <p:cNvSpPr>
            <a:spLocks noGrp="1"/>
          </p:cNvSpPr>
          <p:nvPr>
            <p:ph idx="1"/>
          </p:nvPr>
        </p:nvSpPr>
        <p:spPr/>
        <p:txBody>
          <a:bodyPr/>
          <a:p>
            <a:pPr marL="0" indent="0">
              <a:buNone/>
            </a:pPr>
            <a:r>
              <a:rPr lang="en-US" altLang="en-US" sz="2400">
                <a:latin typeface="Calibri" panose="020F0502020204030204" charset="0"/>
                <a:cs typeface="Calibri" panose="020F0502020204030204" charset="0"/>
              </a:rPr>
              <a:t>A good requirement should be:</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Clear</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Specific</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Complete</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Consistent</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Measurable/Testable</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Feasible </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Traceable </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Modifiable</a:t>
            </a:r>
            <a:endParaRPr lang="en-US" altLang="en-US" sz="2400">
              <a:latin typeface="Calibri" panose="020F0502020204030204" charset="0"/>
              <a:cs typeface="Calibri" panose="020F05020202040302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p:spPr>
        <p:txBody>
          <a:bodyPr/>
          <a:p>
            <a:r>
              <a:rPr lang="en-US" altLang="en-US" b="1">
                <a:solidFill>
                  <a:schemeClr val="bg1"/>
                </a:solidFill>
                <a:latin typeface="Calibri" panose="020F0502020204030204" charset="0"/>
                <a:cs typeface="Calibri" panose="020F0502020204030204" charset="0"/>
              </a:rPr>
              <a:t>User stories vs Use cases</a:t>
            </a:r>
            <a:endParaRPr lang="en-US" altLang="en-US" b="1">
              <a:solidFill>
                <a:schemeClr val="bg1"/>
              </a:solidFill>
              <a:latin typeface="Calibri" panose="020F0502020204030204" charset="0"/>
              <a:cs typeface="Calibri" panose="020F0502020204030204" charset="0"/>
            </a:endParaRPr>
          </a:p>
        </p:txBody>
      </p:sp>
      <p:sp>
        <p:nvSpPr>
          <p:cNvPr id="3" name="Content Placeholder 2"/>
          <p:cNvSpPr>
            <a:spLocks noGrp="1"/>
          </p:cNvSpPr>
          <p:nvPr>
            <p:ph idx="1"/>
          </p:nvPr>
        </p:nvSpPr>
        <p:spPr/>
        <p:txBody>
          <a:bodyPr/>
          <a:p>
            <a:pPr marL="0" indent="0">
              <a:buNone/>
            </a:pPr>
            <a:r>
              <a:rPr lang="en-US" altLang="en-US" sz="2400" b="1"/>
              <a:t>User Stories</a:t>
            </a:r>
            <a:endParaRPr lang="en-US" altLang="en-US" sz="2400" b="1"/>
          </a:p>
          <a:p>
            <a:pPr marL="0" indent="0">
              <a:buNone/>
            </a:pPr>
            <a:r>
              <a:rPr lang="en-US" altLang="en-US" sz="2400"/>
              <a:t>Short, simple description of a user need</a:t>
            </a:r>
            <a:endParaRPr lang="en-US" altLang="en-US" sz="2400"/>
          </a:p>
          <a:p>
            <a:pPr marL="0" indent="0">
              <a:buNone/>
            </a:pPr>
            <a:r>
              <a:rPr lang="en-US" altLang="en-US" sz="2400"/>
              <a:t>Format: As a </a:t>
            </a:r>
            <a:r>
              <a:rPr lang="en-US" altLang="en-US" sz="2400" b="1"/>
              <a:t>&lt;user&gt;</a:t>
            </a:r>
            <a:r>
              <a:rPr lang="en-US" altLang="en-US" sz="2400"/>
              <a:t>, I want </a:t>
            </a:r>
            <a:r>
              <a:rPr lang="en-US" altLang="en-US" sz="2400" b="1"/>
              <a:t>&lt;goal&gt;</a:t>
            </a:r>
            <a:r>
              <a:rPr lang="en-US" altLang="en-US" sz="2400"/>
              <a:t> so that </a:t>
            </a:r>
            <a:r>
              <a:rPr lang="en-US" altLang="en-US" sz="2400" b="1"/>
              <a:t>&lt;reason&gt;</a:t>
            </a:r>
            <a:r>
              <a:rPr lang="en-US" altLang="en-US" sz="2400"/>
              <a:t>.</a:t>
            </a:r>
            <a:endParaRPr lang="en-US" altLang="en-US" sz="2400"/>
          </a:p>
          <a:p>
            <a:pPr marL="0" indent="0">
              <a:buNone/>
            </a:pPr>
            <a:r>
              <a:rPr lang="en-US" altLang="en-US" sz="2400"/>
              <a:t>Focus on user perspective</a:t>
            </a:r>
            <a:endParaRPr lang="en-US" altLang="en-US" sz="2400"/>
          </a:p>
          <a:p>
            <a:pPr marL="0" indent="0">
              <a:buNone/>
            </a:pPr>
            <a:endParaRPr lang="en-US" altLang="en-US" sz="2400"/>
          </a:p>
          <a:p>
            <a:pPr marL="0" indent="0">
              <a:buNone/>
            </a:pPr>
            <a:r>
              <a:rPr lang="en-US" altLang="en-US" sz="2400" b="1"/>
              <a:t>Use Cases</a:t>
            </a:r>
            <a:endParaRPr lang="en-US" altLang="en-US" sz="2400" b="1"/>
          </a:p>
          <a:p>
            <a:pPr marL="0" indent="0">
              <a:buNone/>
            </a:pPr>
            <a:r>
              <a:rPr lang="en-US" altLang="en-US" sz="2400"/>
              <a:t>Detailed description of interactions between user and system</a:t>
            </a:r>
            <a:endParaRPr lang="en-US" altLang="en-US" sz="2400"/>
          </a:p>
          <a:p>
            <a:pPr marL="0" indent="0">
              <a:buNone/>
            </a:pPr>
            <a:endParaRPr lang="en-US" altLang="en-US" sz="2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noFill/>
          </a:ln>
        </p:spPr>
        <p:txBody>
          <a:bodyPr/>
          <a:p>
            <a:r>
              <a:rPr lang="en-US" altLang="en-US" b="1">
                <a:solidFill>
                  <a:schemeClr val="bg1"/>
                </a:solidFill>
                <a:latin typeface="Calibri" panose="020F0502020204030204" charset="0"/>
                <a:cs typeface="Calibri" panose="020F0502020204030204" charset="0"/>
              </a:rPr>
              <a:t>Requirement Ambiguity </a:t>
            </a:r>
            <a:endParaRPr lang="en-US" altLang="en-US" b="1">
              <a:solidFill>
                <a:schemeClr val="bg1"/>
              </a:solidFill>
              <a:latin typeface="Calibri" panose="020F0502020204030204" charset="0"/>
              <a:cs typeface="Calibri" panose="020F0502020204030204" charset="0"/>
            </a:endParaRPr>
          </a:p>
        </p:txBody>
      </p:sp>
      <p:sp>
        <p:nvSpPr>
          <p:cNvPr id="3" name="Content Placeholder 2"/>
          <p:cNvSpPr>
            <a:spLocks noGrp="1"/>
          </p:cNvSpPr>
          <p:nvPr>
            <p:ph idx="1"/>
          </p:nvPr>
        </p:nvSpPr>
        <p:spPr/>
        <p:txBody>
          <a:bodyPr>
            <a:normAutofit lnSpcReduction="20000"/>
          </a:bodyPr>
          <a:p>
            <a:pPr marL="0" indent="0">
              <a:lnSpc>
                <a:spcPct val="100000"/>
              </a:lnSpc>
              <a:buNone/>
            </a:pPr>
            <a:r>
              <a:rPr lang="en-US" altLang="en-US" sz="2400"/>
              <a:t>Ambiguity means a requirement can be understood in more than one way.</a:t>
            </a:r>
            <a:endParaRPr lang="en-US" altLang="en-US" sz="2400"/>
          </a:p>
          <a:p>
            <a:pPr marL="0" indent="0">
              <a:lnSpc>
                <a:spcPct val="100000"/>
              </a:lnSpc>
              <a:buNone/>
            </a:pPr>
            <a:r>
              <a:rPr lang="en-US" altLang="en-US" sz="2400" b="1"/>
              <a:t>Why remove ambiguity?</a:t>
            </a:r>
            <a:endParaRPr lang="en-US" altLang="en-US" sz="2400" b="1"/>
          </a:p>
          <a:p>
            <a:pPr>
              <a:lnSpc>
                <a:spcPct val="100000"/>
              </a:lnSpc>
            </a:pPr>
            <a:r>
              <a:rPr lang="en-US" altLang="en-US" sz="2400"/>
              <a:t>To avoid misunderstandings</a:t>
            </a:r>
            <a:endParaRPr lang="en-US" altLang="en-US" sz="2400"/>
          </a:p>
          <a:p>
            <a:pPr>
              <a:lnSpc>
                <a:spcPct val="100000"/>
              </a:lnSpc>
            </a:pPr>
            <a:r>
              <a:rPr lang="en-US" altLang="en-US" sz="2400"/>
              <a:t>To reduce rework and errors</a:t>
            </a:r>
            <a:endParaRPr lang="en-US" altLang="en-US" sz="2400"/>
          </a:p>
          <a:p>
            <a:pPr>
              <a:lnSpc>
                <a:spcPct val="100000"/>
              </a:lnSpc>
            </a:pPr>
            <a:r>
              <a:rPr lang="en-US" altLang="en-US" sz="2400"/>
              <a:t>To make requirements testable and clear</a:t>
            </a:r>
            <a:endParaRPr lang="en-US" altLang="en-US" sz="2400"/>
          </a:p>
          <a:p>
            <a:pPr marL="0" indent="0">
              <a:lnSpc>
                <a:spcPct val="100000"/>
              </a:lnSpc>
              <a:buNone/>
            </a:pPr>
            <a:r>
              <a:rPr lang="en-US" altLang="en-US" sz="2400" b="1"/>
              <a:t>Common sources of ambiguity</a:t>
            </a:r>
            <a:endParaRPr lang="en-US" altLang="en-US" sz="2400" b="1"/>
          </a:p>
          <a:p>
            <a:pPr>
              <a:lnSpc>
                <a:spcPct val="100000"/>
              </a:lnSpc>
            </a:pPr>
            <a:r>
              <a:rPr lang="en-US" altLang="en-US" sz="2400"/>
              <a:t>Vague terms: “fast”, “secure”, “user friendly”, “as soon as possible”</a:t>
            </a:r>
            <a:endParaRPr lang="en-US" altLang="en-US" sz="2400"/>
          </a:p>
          <a:p>
            <a:pPr>
              <a:lnSpc>
                <a:spcPct val="100000"/>
              </a:lnSpc>
            </a:pPr>
            <a:r>
              <a:rPr lang="en-US" altLang="en-US" sz="2400"/>
              <a:t>Missing conditions or exceptions</a:t>
            </a:r>
            <a:endParaRPr lang="en-US" altLang="en-US" sz="2400"/>
          </a:p>
          <a:p>
            <a:pPr marL="0" indent="0">
              <a:lnSpc>
                <a:spcPct val="100000"/>
              </a:lnSpc>
              <a:buNone/>
            </a:pPr>
            <a:endParaRPr lang="en-US" altLang="en-US" sz="2400" b="1">
              <a:solidFill>
                <a:srgbClr val="C00000"/>
              </a:solidFill>
              <a:sym typeface="+mn-ea"/>
            </a:endParaRPr>
          </a:p>
          <a:p>
            <a:pPr marL="0" indent="0">
              <a:lnSpc>
                <a:spcPct val="100000"/>
              </a:lnSpc>
              <a:buNone/>
            </a:pPr>
            <a:r>
              <a:rPr lang="en-US" altLang="en-US" sz="2400" b="1">
                <a:solidFill>
                  <a:srgbClr val="C00000"/>
                </a:solidFill>
                <a:sym typeface="+mn-ea"/>
              </a:rPr>
              <a:t>Ambiguity must be removed before developing a system</a:t>
            </a:r>
            <a:endParaRPr lang="en-US" altLang="en-US" sz="2400" b="1">
              <a:solidFill>
                <a:srgbClr val="C00000"/>
              </a:solidFill>
            </a:endParaRPr>
          </a:p>
          <a:p>
            <a:pPr marL="0" indent="0">
              <a:lnSpc>
                <a:spcPct val="100000"/>
              </a:lnSpc>
              <a:buNone/>
            </a:pPr>
            <a:endParaRPr lang="en-US" altLang="en-US" sz="2400" b="1">
              <a:solidFill>
                <a:srgbClr val="C00000"/>
              </a:solidFill>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GB" b="1">
                <a:solidFill>
                  <a:schemeClr val="bg1"/>
                </a:solidFill>
                <a:sym typeface="+mn-ea"/>
              </a:rPr>
              <a:t>Types of Information</a:t>
            </a:r>
            <a:endParaRPr lang="en-GB" b="1">
              <a:solidFill>
                <a:schemeClr val="bg1"/>
              </a:solidFill>
              <a:sym typeface="+mn-ea"/>
            </a:endParaRPr>
          </a:p>
        </p:txBody>
      </p:sp>
      <p:sp>
        <p:nvSpPr>
          <p:cNvPr id="3" name="Content Placeholder 2"/>
          <p:cNvSpPr>
            <a:spLocks noGrp="1"/>
          </p:cNvSpPr>
          <p:nvPr>
            <p:ph idx="1"/>
          </p:nvPr>
        </p:nvSpPr>
        <p:spPr/>
        <p:txBody>
          <a:bodyPr/>
          <a:lstStyle/>
          <a:p>
            <a:pPr marL="0" lvl="0" indent="0" algn="just" rtl="0">
              <a:lnSpc>
                <a:spcPct val="100000"/>
              </a:lnSpc>
              <a:spcBef>
                <a:spcPts val="600"/>
              </a:spcBef>
              <a:spcAft>
                <a:spcPts val="0"/>
              </a:spcAft>
              <a:buNone/>
            </a:pPr>
            <a:r>
              <a:rPr lang="en-US" altLang="en-US" b="1">
                <a:solidFill>
                  <a:schemeClr val="dk1"/>
                </a:solidFill>
                <a:latin typeface="Calibri" panose="020F0502020204030204" charset="0"/>
                <a:ea typeface="Oswald"/>
                <a:cs typeface="Calibri" panose="020F0502020204030204" charset="0"/>
                <a:sym typeface="Oswald"/>
              </a:rPr>
              <a:t>To develop accurate requirements</a:t>
            </a:r>
            <a:r>
              <a:rPr lang="en-US" altLang="en-US">
                <a:solidFill>
                  <a:schemeClr val="dk1"/>
                </a:solidFill>
                <a:latin typeface="Calibri" panose="020F0502020204030204" charset="0"/>
                <a:ea typeface="Oswald"/>
                <a:cs typeface="Calibri" panose="020F0502020204030204" charset="0"/>
                <a:sym typeface="Oswald"/>
              </a:rPr>
              <a:t>, we first </a:t>
            </a:r>
            <a:r>
              <a:rPr lang="en-US" altLang="en-US" b="1">
                <a:solidFill>
                  <a:schemeClr val="dk1"/>
                </a:solidFill>
                <a:latin typeface="Calibri" panose="020F0502020204030204" charset="0"/>
                <a:ea typeface="Oswald"/>
                <a:cs typeface="Calibri" panose="020F0502020204030204" charset="0"/>
                <a:sym typeface="Oswald"/>
              </a:rPr>
              <a:t>need </a:t>
            </a:r>
            <a:r>
              <a:rPr lang="en-US" altLang="en-US">
                <a:solidFill>
                  <a:schemeClr val="dk1"/>
                </a:solidFill>
                <a:latin typeface="Calibri" panose="020F0502020204030204" charset="0"/>
                <a:ea typeface="Oswald"/>
                <a:cs typeface="Calibri" panose="020F0502020204030204" charset="0"/>
                <a:sym typeface="Oswald"/>
              </a:rPr>
              <a:t>complete and reliable </a:t>
            </a:r>
            <a:r>
              <a:rPr lang="en-US" altLang="en-US" b="1">
                <a:solidFill>
                  <a:schemeClr val="dk1"/>
                </a:solidFill>
                <a:latin typeface="Calibri" panose="020F0502020204030204" charset="0"/>
                <a:ea typeface="Oswald"/>
                <a:cs typeface="Calibri" panose="020F0502020204030204" charset="0"/>
                <a:sym typeface="Oswald"/>
              </a:rPr>
              <a:t>information</a:t>
            </a:r>
            <a:r>
              <a:rPr lang="en-US" altLang="en-US">
                <a:solidFill>
                  <a:schemeClr val="dk1"/>
                </a:solidFill>
                <a:latin typeface="Calibri" panose="020F0502020204030204" charset="0"/>
                <a:ea typeface="Oswald"/>
                <a:cs typeface="Calibri" panose="020F0502020204030204" charset="0"/>
                <a:sym typeface="Oswald"/>
              </a:rPr>
              <a:t>.</a:t>
            </a:r>
            <a:endParaRPr lang="en-US" altLang="en-US">
              <a:solidFill>
                <a:schemeClr val="dk1"/>
              </a:solidFill>
              <a:latin typeface="Calibri" panose="020F0502020204030204" charset="0"/>
              <a:ea typeface="Oswald"/>
              <a:cs typeface="Calibri" panose="020F0502020204030204" charset="0"/>
              <a:sym typeface="Oswald"/>
            </a:endParaRPr>
          </a:p>
          <a:p>
            <a:pPr marL="514350" lvl="0" indent="-514350" algn="just" rtl="0">
              <a:lnSpc>
                <a:spcPct val="100000"/>
              </a:lnSpc>
              <a:spcBef>
                <a:spcPts val="600"/>
              </a:spcBef>
              <a:spcAft>
                <a:spcPts val="0"/>
              </a:spcAft>
              <a:buSzPct val="90000"/>
              <a:buFont typeface="+mj-lt"/>
              <a:buAutoNum type="arabicPeriod"/>
            </a:pPr>
            <a:r>
              <a:rPr lang="en-GB">
                <a:solidFill>
                  <a:schemeClr val="dk1"/>
                </a:solidFill>
                <a:latin typeface="Calibri" panose="020F0502020204030204" charset="0"/>
                <a:ea typeface="Oswald"/>
                <a:cs typeface="Calibri" panose="020F0502020204030204" charset="0"/>
                <a:sym typeface="Oswald"/>
              </a:rPr>
              <a:t>About Organization</a:t>
            </a:r>
            <a:endParaRPr>
              <a:solidFill>
                <a:schemeClr val="dk1"/>
              </a:solidFill>
              <a:latin typeface="Calibri" panose="020F0502020204030204" charset="0"/>
              <a:ea typeface="Oswald"/>
              <a:cs typeface="Calibri" panose="020F0502020204030204" charset="0"/>
              <a:sym typeface="Oswald"/>
            </a:endParaRPr>
          </a:p>
          <a:p>
            <a:pPr marL="514350" lvl="0" indent="-514350" algn="just" rtl="0">
              <a:lnSpc>
                <a:spcPct val="100000"/>
              </a:lnSpc>
              <a:spcBef>
                <a:spcPts val="600"/>
              </a:spcBef>
              <a:spcAft>
                <a:spcPts val="0"/>
              </a:spcAft>
              <a:buClr>
                <a:schemeClr val="dk1"/>
              </a:buClr>
              <a:buSzPct val="90000"/>
              <a:buFont typeface="+mj-lt"/>
              <a:buAutoNum type="arabicPeriod"/>
            </a:pPr>
            <a:r>
              <a:rPr lang="en-GB">
                <a:solidFill>
                  <a:schemeClr val="dk1"/>
                </a:solidFill>
                <a:latin typeface="Calibri" panose="020F0502020204030204" charset="0"/>
                <a:ea typeface="Oswald"/>
                <a:cs typeface="Calibri" panose="020F0502020204030204" charset="0"/>
                <a:sym typeface="Oswald"/>
              </a:rPr>
              <a:t>About Human Resources</a:t>
            </a:r>
            <a:endParaRPr>
              <a:solidFill>
                <a:schemeClr val="dk1"/>
              </a:solidFill>
              <a:latin typeface="Calibri" panose="020F0502020204030204" charset="0"/>
              <a:ea typeface="Oswald"/>
              <a:cs typeface="Calibri" panose="020F0502020204030204" charset="0"/>
              <a:sym typeface="Oswald"/>
            </a:endParaRPr>
          </a:p>
          <a:p>
            <a:pPr marL="514350" lvl="0" indent="-514350" algn="just" rtl="0">
              <a:lnSpc>
                <a:spcPct val="100000"/>
              </a:lnSpc>
              <a:spcBef>
                <a:spcPts val="600"/>
              </a:spcBef>
              <a:spcAft>
                <a:spcPts val="0"/>
              </a:spcAft>
              <a:buClr>
                <a:schemeClr val="dk1"/>
              </a:buClr>
              <a:buSzPct val="90000"/>
              <a:buFont typeface="+mj-lt"/>
              <a:buAutoNum type="arabicPeriod"/>
            </a:pPr>
            <a:r>
              <a:rPr lang="en-GB">
                <a:solidFill>
                  <a:schemeClr val="dk1"/>
                </a:solidFill>
                <a:latin typeface="Calibri" panose="020F0502020204030204" charset="0"/>
                <a:ea typeface="Oswald"/>
                <a:cs typeface="Calibri" panose="020F0502020204030204" charset="0"/>
                <a:sym typeface="Oswald"/>
              </a:rPr>
              <a:t>About Works</a:t>
            </a:r>
            <a:endParaRPr>
              <a:latin typeface="Calibri" panose="020F0502020204030204" charset="0"/>
              <a:ea typeface="Oswald"/>
              <a:cs typeface="Calibri" panose="020F0502020204030204" charset="0"/>
              <a:sym typeface="Oswald"/>
            </a:endParaRPr>
          </a:p>
          <a:p>
            <a:pPr marL="0" indent="0">
              <a:buNone/>
            </a:pPr>
            <a:endParaRPr lang="en-US">
              <a:latin typeface="Calibri" panose="020F0502020204030204" charset="0"/>
              <a:cs typeface="Calibri" panose="020F0502020204030204" charset="0"/>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GB" b="1">
                <a:solidFill>
                  <a:schemeClr val="bg1"/>
                </a:solidFill>
                <a:sym typeface="+mn-ea"/>
              </a:rPr>
              <a:t>Types of Information</a:t>
            </a:r>
            <a:endParaRPr lang="en-GB" altLang="en-GB" b="1">
              <a:solidFill>
                <a:schemeClr val="bg1"/>
              </a:solidFill>
              <a:latin typeface="Calibri" panose="020F0502020204030204" charset="0"/>
              <a:ea typeface="Oswald"/>
              <a:cs typeface="Calibri" panose="020F0502020204030204" charset="0"/>
              <a:sym typeface="Oswald"/>
            </a:endParaRPr>
          </a:p>
        </p:txBody>
      </p:sp>
      <p:sp>
        <p:nvSpPr>
          <p:cNvPr id="3" name="Content Placeholder 2"/>
          <p:cNvSpPr>
            <a:spLocks noGrp="1"/>
          </p:cNvSpPr>
          <p:nvPr>
            <p:ph idx="1"/>
          </p:nvPr>
        </p:nvSpPr>
        <p:spPr>
          <a:xfrm>
            <a:off x="838200" y="1891030"/>
            <a:ext cx="10515600" cy="4193540"/>
          </a:xfrm>
        </p:spPr>
        <p:txBody>
          <a:bodyPr>
            <a:normAutofit/>
          </a:bodyPr>
          <a:lstStyle/>
          <a:p>
            <a:pPr marL="0" indent="0">
              <a:buNone/>
            </a:pPr>
            <a:r>
              <a:rPr lang="en-US" sz="3100" b="1">
                <a:solidFill>
                  <a:schemeClr val="accent2"/>
                </a:solidFill>
                <a:latin typeface="Calibri" panose="020F0502020204030204" charset="0"/>
                <a:cs typeface="Calibri" panose="020F0502020204030204" charset="0"/>
                <a:sym typeface="+mn-ea"/>
              </a:rPr>
              <a:t>1. </a:t>
            </a:r>
            <a:r>
              <a:rPr lang="en-GB" sz="3100" b="1">
                <a:solidFill>
                  <a:schemeClr val="accent2"/>
                </a:solidFill>
                <a:latin typeface="Calibri" panose="020F0502020204030204" charset="0"/>
                <a:ea typeface="Oswald"/>
                <a:cs typeface="Calibri" panose="020F0502020204030204" charset="0"/>
                <a:sym typeface="Oswald"/>
              </a:rPr>
              <a:t>About Organization</a:t>
            </a:r>
            <a:endParaRPr lang="en-US" altLang="en-US" sz="2400" b="1"/>
          </a:p>
          <a:p>
            <a:r>
              <a:rPr lang="en-US" altLang="en-US" sz="2400" b="1"/>
              <a:t>Vision </a:t>
            </a:r>
            <a:r>
              <a:rPr lang="en-US" altLang="en-US" sz="2400"/>
              <a:t>– Defines what the organization aims to become in the future, guiding its long-term direction.</a:t>
            </a:r>
            <a:endParaRPr lang="en-US" altLang="en-US" sz="2400"/>
          </a:p>
          <a:p>
            <a:r>
              <a:rPr lang="en-US" altLang="en-US" sz="2400" b="1"/>
              <a:t>Mission </a:t>
            </a:r>
            <a:r>
              <a:rPr lang="en-US" altLang="en-US" sz="2400"/>
              <a:t>– Explains why the organization exists, its purpose, and the value it provides to society.</a:t>
            </a:r>
            <a:endParaRPr lang="en-US" altLang="en-US" sz="2400"/>
          </a:p>
          <a:p>
            <a:r>
              <a:rPr lang="en-US" altLang="en-US" sz="2400" b="1"/>
              <a:t>Goals </a:t>
            </a:r>
            <a:r>
              <a:rPr lang="en-US" altLang="en-US" sz="2400"/>
              <a:t>– Specific, measurable targets that help achieve the vision and mission.</a:t>
            </a:r>
            <a:endParaRPr lang="en-US" altLang="en-US" sz="2400"/>
          </a:p>
          <a:p>
            <a:r>
              <a:rPr lang="en-US" altLang="en-US" sz="2400" b="1"/>
              <a:t>Policies </a:t>
            </a:r>
            <a:r>
              <a:rPr lang="en-US" altLang="en-US" sz="2400"/>
              <a:t>– Rules and guidelines ensuring ethical conduct, compliance, and smooth operations.</a:t>
            </a:r>
            <a:endParaRPr lang="en-US" altLang="en-US" sz="2400"/>
          </a:p>
          <a:p>
            <a:r>
              <a:rPr lang="en-US" altLang="en-US" sz="2400" b="1"/>
              <a:t>Organizational Structure</a:t>
            </a:r>
            <a:r>
              <a:rPr lang="en-US" altLang="en-US" sz="2400"/>
              <a:t> – Defines roles, responsibilities, and hierarchy for efficient workflow.</a:t>
            </a:r>
            <a:endParaRPr lang="en-US" altLang="en-US" sz="2400"/>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42" name="Shape 342"/>
        <p:cNvGrpSpPr/>
        <p:nvPr/>
      </p:nvGrpSpPr>
      <p:grpSpPr>
        <a:xfrm>
          <a:off x="0" y="0"/>
          <a:ext cx="0" cy="0"/>
          <a:chOff x="0" y="0"/>
          <a:chExt cx="0" cy="0"/>
        </a:xfrm>
      </p:grpSpPr>
      <p:sp>
        <p:nvSpPr>
          <p:cNvPr id="343" name="Google Shape;343;p35"/>
          <p:cNvSpPr txBox="1"/>
          <p:nvPr>
            <p:ph type="title"/>
          </p:nvPr>
        </p:nvSpPr>
        <p:spPr>
          <a:xfrm>
            <a:off x="415290" y="206375"/>
            <a:ext cx="11360785" cy="1181100"/>
          </a:xfrm>
          <a:prstGeom prst="rect">
            <a:avLst/>
          </a:prstGeom>
          <a:solidFill>
            <a:srgbClr val="FF8000"/>
          </a:solidFill>
          <a:ln>
            <a:noFill/>
          </a:ln>
        </p:spPr>
        <p:txBody>
          <a:bodyPr spcFirstLastPara="1" wrap="square" lIns="121900" tIns="121900" rIns="121900" bIns="121900" anchor="ctr" anchorCtr="0">
            <a:noAutofit/>
          </a:bodyPr>
          <a:lstStyle/>
          <a:p>
            <a:pPr marL="0" lvl="0" indent="0" algn="l" rtl="0">
              <a:spcBef>
                <a:spcPts val="0"/>
              </a:spcBef>
              <a:spcAft>
                <a:spcPts val="0"/>
              </a:spcAft>
              <a:buClr>
                <a:srgbClr val="000000"/>
              </a:buClr>
              <a:buSzPts val="2800"/>
              <a:buFont typeface="Arial" panose="020B0604020202020204"/>
              <a:buNone/>
            </a:pPr>
            <a:r>
              <a:rPr lang="en-GB" b="1">
                <a:solidFill>
                  <a:schemeClr val="bg1"/>
                </a:solidFill>
                <a:latin typeface="Calibri" panose="020F0502020204030204" charset="0"/>
                <a:cs typeface="Calibri" panose="020F0502020204030204" charset="0"/>
              </a:rPr>
              <a:t>Types of Information</a:t>
            </a:r>
            <a:endParaRPr lang="en-GB" b="1">
              <a:solidFill>
                <a:schemeClr val="bg1"/>
              </a:solidFill>
              <a:latin typeface="Calibri" panose="020F0502020204030204" charset="0"/>
              <a:cs typeface="Calibri" panose="020F0502020204030204" charset="0"/>
            </a:endParaRPr>
          </a:p>
        </p:txBody>
      </p:sp>
      <p:sp>
        <p:nvSpPr>
          <p:cNvPr id="344" name="Google Shape;344;p35"/>
          <p:cNvSpPr txBox="1"/>
          <p:nvPr>
            <p:ph type="body" idx="1"/>
          </p:nvPr>
        </p:nvSpPr>
        <p:spPr>
          <a:xfrm>
            <a:off x="415600" y="1536633"/>
            <a:ext cx="11360800" cy="763600"/>
          </a:xfrm>
          <a:prstGeom prst="rect">
            <a:avLst/>
          </a:prstGeom>
          <a:noFill/>
          <a:ln>
            <a:noFill/>
          </a:ln>
        </p:spPr>
        <p:txBody>
          <a:bodyPr spcFirstLastPara="1" wrap="square" lIns="121900" tIns="121900" rIns="121900" bIns="121900" anchor="t" anchorCtr="0">
            <a:noAutofit/>
          </a:bodyPr>
          <a:lstStyle/>
          <a:p>
            <a:pPr marL="457200" lvl="0" indent="-457200" algn="just" rtl="0">
              <a:lnSpc>
                <a:spcPct val="100000"/>
              </a:lnSpc>
              <a:spcBef>
                <a:spcPts val="600"/>
              </a:spcBef>
              <a:spcAft>
                <a:spcPts val="0"/>
              </a:spcAft>
              <a:buClr>
                <a:schemeClr val="dk1"/>
              </a:buClr>
              <a:buSzPts val="2400"/>
              <a:buFont typeface="Oswald"/>
              <a:buAutoNum type="arabicPeriod"/>
            </a:pPr>
            <a:r>
              <a:rPr lang="en-GB" sz="3200">
                <a:solidFill>
                  <a:schemeClr val="dk1"/>
                </a:solidFill>
                <a:latin typeface="Calibri" panose="020F0502020204030204" charset="0"/>
                <a:ea typeface="Oswald"/>
                <a:cs typeface="Calibri" panose="020F0502020204030204" charset="0"/>
                <a:sym typeface="Oswald"/>
              </a:rPr>
              <a:t>About Organization</a:t>
            </a:r>
            <a:endParaRPr sz="2935">
              <a:solidFill>
                <a:schemeClr val="dk1"/>
              </a:solidFill>
              <a:latin typeface="Calibri" panose="020F0502020204030204" charset="0"/>
              <a:ea typeface="Oswald Light"/>
              <a:cs typeface="Calibri" panose="020F0502020204030204" charset="0"/>
              <a:sym typeface="Oswald Light"/>
            </a:endParaRPr>
          </a:p>
          <a:p>
            <a:pPr marL="457200" lvl="0" indent="0" algn="just" rtl="0">
              <a:lnSpc>
                <a:spcPct val="100000"/>
              </a:lnSpc>
              <a:spcBef>
                <a:spcPts val="600"/>
              </a:spcBef>
              <a:spcAft>
                <a:spcPts val="0"/>
              </a:spcAft>
              <a:buNone/>
            </a:pPr>
            <a:endParaRPr sz="3200">
              <a:solidFill>
                <a:schemeClr val="dk1"/>
              </a:solidFill>
              <a:latin typeface="Calibri" panose="020F0502020204030204" charset="0"/>
              <a:ea typeface="Oswald"/>
              <a:cs typeface="Calibri" panose="020F0502020204030204" charset="0"/>
              <a:sym typeface="Oswald"/>
            </a:endParaRPr>
          </a:p>
        </p:txBody>
      </p:sp>
      <p:sp>
        <p:nvSpPr>
          <p:cNvPr id="345" name="Google Shape;345;p35"/>
          <p:cNvSpPr txBox="1"/>
          <p:nvPr>
            <p:ph type="sldNum" idx="12"/>
          </p:nvPr>
        </p:nvSpPr>
        <p:spPr>
          <a:xfrm>
            <a:off x="11320333" y="6241345"/>
            <a:ext cx="731600" cy="5248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GB" sz="1600">
                <a:latin typeface="Oswald"/>
                <a:ea typeface="Oswald"/>
                <a:cs typeface="Oswald"/>
                <a:sym typeface="Oswald"/>
              </a:rPr>
            </a:fld>
            <a:endParaRPr sz="1600">
              <a:latin typeface="Oswald"/>
              <a:ea typeface="Oswald"/>
              <a:cs typeface="Oswald"/>
              <a:sym typeface="Oswald"/>
            </a:endParaRPr>
          </a:p>
        </p:txBody>
      </p:sp>
      <p:pic>
        <p:nvPicPr>
          <p:cNvPr id="346" name="Google Shape;346;p35"/>
          <p:cNvPicPr preferRelativeResize="0"/>
          <p:nvPr/>
        </p:nvPicPr>
        <p:blipFill>
          <a:blip r:embed="rId1"/>
          <a:stretch>
            <a:fillRect/>
          </a:stretch>
        </p:blipFill>
        <p:spPr>
          <a:xfrm>
            <a:off x="6217920" y="2438400"/>
            <a:ext cx="5852160" cy="42672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pic>
        <p:nvPicPr>
          <p:cNvPr id="347" name="Google Shape;347;p35"/>
          <p:cNvPicPr preferRelativeResize="0"/>
          <p:nvPr/>
        </p:nvPicPr>
        <p:blipFill>
          <a:blip r:embed="rId2"/>
          <a:stretch>
            <a:fillRect/>
          </a:stretch>
        </p:blipFill>
        <p:spPr>
          <a:xfrm>
            <a:off x="223520" y="2438400"/>
            <a:ext cx="5852160" cy="4267199"/>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GB" b="1">
                <a:solidFill>
                  <a:schemeClr val="bg1"/>
                </a:solidFill>
                <a:sym typeface="+mn-ea"/>
              </a:rPr>
              <a:t>Types of Information</a:t>
            </a:r>
            <a:endParaRPr lang="en-GB" altLang="en-GB" b="1">
              <a:solidFill>
                <a:schemeClr val="bg1"/>
              </a:solidFill>
              <a:latin typeface="Calibri" panose="020F0502020204030204" charset="0"/>
              <a:ea typeface="Oswald"/>
              <a:cs typeface="Calibri" panose="020F0502020204030204" charset="0"/>
              <a:sym typeface="Oswald"/>
            </a:endParaRPr>
          </a:p>
        </p:txBody>
      </p:sp>
      <p:sp>
        <p:nvSpPr>
          <p:cNvPr id="3" name="Content Placeholder 2"/>
          <p:cNvSpPr>
            <a:spLocks noGrp="1"/>
          </p:cNvSpPr>
          <p:nvPr>
            <p:ph idx="1"/>
          </p:nvPr>
        </p:nvSpPr>
        <p:spPr>
          <a:xfrm>
            <a:off x="838200" y="1891030"/>
            <a:ext cx="10515600" cy="4193540"/>
          </a:xfrm>
        </p:spPr>
        <p:txBody>
          <a:bodyPr>
            <a:normAutofit lnSpcReduction="20000"/>
          </a:bodyPr>
          <a:lstStyle/>
          <a:p>
            <a:pPr marL="0" indent="0">
              <a:buNone/>
            </a:pPr>
            <a:r>
              <a:rPr lang="en-US" sz="3100" b="1">
                <a:solidFill>
                  <a:schemeClr val="accent2"/>
                </a:solidFill>
                <a:latin typeface="Calibri" panose="020F0502020204030204" charset="0"/>
                <a:cs typeface="Calibri" panose="020F0502020204030204" charset="0"/>
                <a:sym typeface="+mn-ea"/>
              </a:rPr>
              <a:t>2.</a:t>
            </a:r>
            <a:r>
              <a:rPr lang="en-US" b="1">
                <a:solidFill>
                  <a:schemeClr val="accent2"/>
                </a:solidFill>
                <a:latin typeface="Calibri" panose="020F0502020204030204" charset="0"/>
                <a:cs typeface="Calibri" panose="020F0502020204030204" charset="0"/>
                <a:sym typeface="+mn-ea"/>
              </a:rPr>
              <a:t> </a:t>
            </a:r>
            <a:r>
              <a:rPr lang="en-GB" b="1">
                <a:solidFill>
                  <a:schemeClr val="accent2"/>
                </a:solidFill>
                <a:latin typeface="Calibri" panose="020F0502020204030204" charset="0"/>
                <a:ea typeface="Oswald"/>
                <a:cs typeface="Calibri" panose="020F0502020204030204" charset="0"/>
                <a:sym typeface="Oswald"/>
              </a:rPr>
              <a:t>About Human Resources</a:t>
            </a:r>
            <a:r>
              <a:rPr lang="en-US" altLang="en-GB" b="1">
                <a:solidFill>
                  <a:schemeClr val="accent2"/>
                </a:solidFill>
                <a:latin typeface="Calibri" panose="020F0502020204030204" charset="0"/>
                <a:ea typeface="Oswald"/>
                <a:cs typeface="Calibri" panose="020F0502020204030204" charset="0"/>
                <a:sym typeface="Oswald"/>
              </a:rPr>
              <a:t>/Users</a:t>
            </a:r>
            <a:endParaRPr lang="en-US" altLang="en-US" sz="2400" b="1"/>
          </a:p>
          <a:p>
            <a:endParaRPr lang="en-US" altLang="en-US" sz="2400"/>
          </a:p>
          <a:p>
            <a:r>
              <a:rPr lang="en-US" altLang="en-US" sz="2400"/>
              <a:t>Type of user</a:t>
            </a:r>
            <a:endParaRPr lang="en-US" altLang="en-US" sz="2400"/>
          </a:p>
          <a:p>
            <a:pPr marL="0" indent="0">
              <a:buNone/>
            </a:pPr>
            <a:r>
              <a:rPr lang="en-US" altLang="en-US" sz="2400"/>
              <a:t>(Manager/Executive/Supervisor etc)</a:t>
            </a:r>
            <a:endParaRPr lang="en-US" altLang="en-US" sz="2400"/>
          </a:p>
          <a:p>
            <a:r>
              <a:rPr lang="en-US" altLang="en-US" sz="2400"/>
              <a:t>Job Responsibilities</a:t>
            </a:r>
            <a:endParaRPr lang="en-US" altLang="en-US" sz="2400"/>
          </a:p>
          <a:p>
            <a:pPr marL="0" indent="0">
              <a:buNone/>
            </a:pPr>
            <a:r>
              <a:rPr lang="en-US" altLang="en-US" sz="2400"/>
              <a:t>(Role Management)</a:t>
            </a:r>
            <a:endParaRPr lang="en-US" altLang="en-US" sz="2400"/>
          </a:p>
          <a:p>
            <a:r>
              <a:rPr lang="en-US" altLang="en-US" sz="2400"/>
              <a:t>Interpersonal Relationships</a:t>
            </a:r>
            <a:endParaRPr lang="en-US" altLang="en-US" sz="2400"/>
          </a:p>
          <a:p>
            <a:pPr marL="0" indent="0">
              <a:buNone/>
            </a:pPr>
            <a:endParaRPr lang="en-US" altLang="en-US" sz="2400"/>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GB" b="1">
                <a:solidFill>
                  <a:schemeClr val="bg1"/>
                </a:solidFill>
                <a:sym typeface="+mn-ea"/>
              </a:rPr>
              <a:t>Types of Information</a:t>
            </a:r>
            <a:endParaRPr lang="en-GB" altLang="en-GB" b="1">
              <a:solidFill>
                <a:schemeClr val="bg1"/>
              </a:solidFill>
              <a:latin typeface="Calibri" panose="020F0502020204030204" charset="0"/>
              <a:ea typeface="Oswald"/>
              <a:cs typeface="Calibri" panose="020F0502020204030204" charset="0"/>
              <a:sym typeface="Oswald"/>
            </a:endParaRPr>
          </a:p>
        </p:txBody>
      </p:sp>
      <p:sp>
        <p:nvSpPr>
          <p:cNvPr id="3" name="Content Placeholder 2"/>
          <p:cNvSpPr>
            <a:spLocks noGrp="1"/>
          </p:cNvSpPr>
          <p:nvPr>
            <p:ph idx="1"/>
          </p:nvPr>
        </p:nvSpPr>
        <p:spPr>
          <a:xfrm>
            <a:off x="838200" y="1891030"/>
            <a:ext cx="10515600" cy="4193540"/>
          </a:xfrm>
        </p:spPr>
        <p:txBody>
          <a:bodyPr>
            <a:normAutofit lnSpcReduction="20000"/>
          </a:bodyPr>
          <a:lstStyle/>
          <a:p>
            <a:pPr marL="0" indent="0">
              <a:buNone/>
            </a:pPr>
            <a:r>
              <a:rPr lang="en-US" sz="3100" b="1">
                <a:solidFill>
                  <a:schemeClr val="accent2"/>
                </a:solidFill>
                <a:latin typeface="Calibri" panose="020F0502020204030204" charset="0"/>
                <a:cs typeface="Calibri" panose="020F0502020204030204" charset="0"/>
                <a:sym typeface="+mn-ea"/>
              </a:rPr>
              <a:t>3.</a:t>
            </a:r>
            <a:r>
              <a:rPr lang="en-US" b="1">
                <a:solidFill>
                  <a:schemeClr val="accent2"/>
                </a:solidFill>
                <a:latin typeface="Calibri" panose="020F0502020204030204" charset="0"/>
                <a:cs typeface="Calibri" panose="020F0502020204030204" charset="0"/>
                <a:sym typeface="+mn-ea"/>
              </a:rPr>
              <a:t> </a:t>
            </a:r>
            <a:r>
              <a:rPr lang="en-GB" b="1">
                <a:solidFill>
                  <a:schemeClr val="accent2"/>
                </a:solidFill>
                <a:latin typeface="Calibri" panose="020F0502020204030204" charset="0"/>
                <a:ea typeface="Oswald"/>
                <a:cs typeface="Calibri" panose="020F0502020204030204" charset="0"/>
                <a:sym typeface="Oswald"/>
              </a:rPr>
              <a:t>About Works</a:t>
            </a:r>
            <a:endParaRPr lang="en-US" altLang="en-US" sz="2400" b="1"/>
          </a:p>
          <a:p>
            <a:endParaRPr lang="en-US" altLang="en-US" sz="2400"/>
          </a:p>
          <a:p>
            <a:r>
              <a:rPr lang="en-US" altLang="en-US" sz="2400"/>
              <a:t>List of works/activities</a:t>
            </a:r>
            <a:endParaRPr lang="en-US" altLang="en-US" sz="2400"/>
          </a:p>
          <a:p>
            <a:r>
              <a:rPr lang="en-US" altLang="en-US" sz="2400"/>
              <a:t>Process flow of works/tasks</a:t>
            </a:r>
            <a:endParaRPr lang="en-US" altLang="en-US" sz="2400"/>
          </a:p>
          <a:p>
            <a:r>
              <a:rPr lang="en-US" altLang="en-US" sz="2400"/>
              <a:t>Methods/Procedures/Business rules</a:t>
            </a:r>
            <a:endParaRPr lang="en-US" altLang="en-US" sz="2400"/>
          </a:p>
          <a:p>
            <a:r>
              <a:rPr lang="en-US" altLang="en-US" sz="2400"/>
              <a:t>Work Schedule</a:t>
            </a:r>
            <a:endParaRPr lang="en-US" altLang="en-US" sz="2400"/>
          </a:p>
          <a:p>
            <a:pPr marL="0" indent="0">
              <a:buNone/>
            </a:pPr>
            <a:endParaRPr lang="en-US" altLang="en-US" sz="2400"/>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noFill/>
          </a:ln>
        </p:spPr>
        <p:txBody>
          <a:bodyPr/>
          <a:p>
            <a:r>
              <a:rPr lang="en-GB" b="1">
                <a:solidFill>
                  <a:schemeClr val="bg1"/>
                </a:solidFill>
                <a:latin typeface="Calibri" panose="020F0502020204030204" charset="0"/>
                <a:cs typeface="Calibri" panose="020F0502020204030204" charset="0"/>
                <a:sym typeface="+mn-ea"/>
              </a:rPr>
              <a:t>Roles &amp; Job Responsibilities</a:t>
            </a:r>
            <a:endParaRPr lang="en-GB" b="1">
              <a:solidFill>
                <a:schemeClr val="bg1"/>
              </a:solidFill>
              <a:latin typeface="Calibri" panose="020F0502020204030204" charset="0"/>
              <a:cs typeface="Calibri" panose="020F0502020204030204" charset="0"/>
              <a:sym typeface="+mn-ea"/>
            </a:endParaRPr>
          </a:p>
        </p:txBody>
      </p:sp>
      <p:sp>
        <p:nvSpPr>
          <p:cNvPr id="3" name="Content Placeholder 2"/>
          <p:cNvSpPr>
            <a:spLocks noGrp="1"/>
          </p:cNvSpPr>
          <p:nvPr>
            <p:ph idx="1"/>
          </p:nvPr>
        </p:nvSpPr>
        <p:spPr>
          <a:xfrm>
            <a:off x="838200" y="1825625"/>
            <a:ext cx="5824220" cy="4351655"/>
          </a:xfrm>
        </p:spPr>
        <p:txBody>
          <a:bodyPr/>
          <a:p>
            <a:pPr marL="0" indent="0">
              <a:buNone/>
            </a:pPr>
            <a:r>
              <a:rPr lang="en-GB" sz="2400">
                <a:solidFill>
                  <a:schemeClr val="tx1"/>
                </a:solidFill>
                <a:latin typeface="Calibri" panose="020F0502020204030204" charset="0"/>
                <a:cs typeface="Calibri" panose="020F0502020204030204" charset="0"/>
                <a:sym typeface="+mn-ea"/>
              </a:rPr>
              <a:t>Who are the most common types of users, and what roles do they have in the company?</a:t>
            </a:r>
            <a:endParaRPr lang="en-GB" sz="2400">
              <a:solidFill>
                <a:schemeClr val="tx1"/>
              </a:solidFill>
              <a:latin typeface="Calibri" panose="020F0502020204030204" charset="0"/>
              <a:cs typeface="Calibri" panose="020F0502020204030204" charset="0"/>
              <a:sym typeface="+mn-ea"/>
            </a:endParaRPr>
          </a:p>
          <a:p>
            <a:pPr marL="0" indent="0">
              <a:buNone/>
            </a:pPr>
            <a:endParaRPr lang="en-GB" sz="2400">
              <a:solidFill>
                <a:schemeClr val="tx1"/>
              </a:solidFill>
              <a:latin typeface="Calibri" panose="020F0502020204030204" charset="0"/>
              <a:cs typeface="Calibri" panose="020F0502020204030204" charset="0"/>
              <a:sym typeface="+mn-ea"/>
            </a:endParaRPr>
          </a:p>
          <a:p>
            <a:r>
              <a:rPr lang="en-GB" sz="2400">
                <a:solidFill>
                  <a:srgbClr val="C00000"/>
                </a:solidFill>
                <a:latin typeface="Calibri" panose="020F0502020204030204" charset="0"/>
                <a:ea typeface="Oswald"/>
                <a:cs typeface="Calibri" panose="020F0502020204030204" charset="0"/>
                <a:sym typeface="Oswald"/>
              </a:rPr>
              <a:t>Business Analysts, System Analysts, Product Owners </a:t>
            </a:r>
            <a:r>
              <a:rPr lang="en-GB" sz="2400">
                <a:solidFill>
                  <a:schemeClr val="dk1"/>
                </a:solidFill>
                <a:latin typeface="Calibri" panose="020F0502020204030204" charset="0"/>
                <a:ea typeface="Oswald"/>
                <a:cs typeface="Calibri" panose="020F0502020204030204" charset="0"/>
                <a:sym typeface="Oswald"/>
              </a:rPr>
              <a:t>and </a:t>
            </a:r>
            <a:r>
              <a:rPr lang="en-GB" sz="2400">
                <a:solidFill>
                  <a:srgbClr val="C00000"/>
                </a:solidFill>
                <a:latin typeface="Calibri" panose="020F0502020204030204" charset="0"/>
                <a:ea typeface="Oswald"/>
                <a:cs typeface="Calibri" panose="020F0502020204030204" charset="0"/>
                <a:sym typeface="Oswald"/>
              </a:rPr>
              <a:t>Project Managers</a:t>
            </a:r>
            <a:r>
              <a:rPr lang="en-GB" sz="2400">
                <a:solidFill>
                  <a:schemeClr val="dk1"/>
                </a:solidFill>
                <a:latin typeface="Calibri" panose="020F0502020204030204" charset="0"/>
                <a:ea typeface="Oswald"/>
                <a:cs typeface="Calibri" panose="020F0502020204030204" charset="0"/>
                <a:sym typeface="Oswald"/>
              </a:rPr>
              <a:t> are mainly responsible for meeting with stakeholders and clients, and jotting down the project’s requirements, goals and scope.</a:t>
            </a:r>
            <a:endParaRPr sz="2400">
              <a:solidFill>
                <a:schemeClr val="dk1"/>
              </a:solidFill>
              <a:latin typeface="Calibri" panose="020F0502020204030204" charset="0"/>
              <a:ea typeface="Oswald"/>
              <a:cs typeface="Calibri" panose="020F0502020204030204" charset="0"/>
              <a:sym typeface="Oswald"/>
            </a:endParaRPr>
          </a:p>
          <a:p>
            <a:pPr marL="0" indent="0">
              <a:buNone/>
            </a:pPr>
            <a:endParaRPr sz="2400">
              <a:solidFill>
                <a:schemeClr val="tx1"/>
              </a:solidFill>
              <a:latin typeface="Calibri" panose="020F0502020204030204" charset="0"/>
              <a:cs typeface="Calibri" panose="020F0502020204030204" charset="0"/>
            </a:endParaRPr>
          </a:p>
          <a:p>
            <a:pPr marL="0" indent="0">
              <a:buNone/>
            </a:pPr>
            <a:endParaRPr lang="en-US" sz="2400">
              <a:solidFill>
                <a:schemeClr val="tx1"/>
              </a:solidFill>
              <a:latin typeface="Calibri" panose="020F0502020204030204" charset="0"/>
              <a:cs typeface="Calibri" panose="020F0502020204030204" charset="0"/>
            </a:endParaRPr>
          </a:p>
        </p:txBody>
      </p:sp>
      <p:pic>
        <p:nvPicPr>
          <p:cNvPr id="4" name="Picture 3"/>
          <p:cNvPicPr>
            <a:picLocks noChangeAspect="1"/>
          </p:cNvPicPr>
          <p:nvPr/>
        </p:nvPicPr>
        <p:blipFill>
          <a:blip r:embed="rId1"/>
          <a:stretch>
            <a:fillRect/>
          </a:stretch>
        </p:blipFill>
        <p:spPr>
          <a:xfrm>
            <a:off x="6729095" y="1708150"/>
            <a:ext cx="4692650" cy="5149850"/>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
        <p:nvSpPr>
          <p:cNvPr id="6" name="Footer Placeholder 5"/>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GB" b="1">
                <a:solidFill>
                  <a:schemeClr val="bg1"/>
                </a:solidFill>
                <a:latin typeface="Calibri" panose="020F0502020204030204" charset="0"/>
                <a:cs typeface="Calibri" panose="020F0502020204030204" charset="0"/>
                <a:sym typeface="+mn-ea"/>
              </a:rPr>
              <a:t>Major Steps of Information Gathering</a:t>
            </a:r>
            <a:endParaRPr lang="en-GB" b="1">
              <a:solidFill>
                <a:schemeClr val="bg1"/>
              </a:solidFill>
              <a:latin typeface="Calibri" panose="020F0502020204030204" charset="0"/>
              <a:cs typeface="Calibri" panose="020F0502020204030204" charset="0"/>
              <a:sym typeface="+mn-ea"/>
            </a:endParaRPr>
          </a:p>
        </p:txBody>
      </p:sp>
      <p:sp>
        <p:nvSpPr>
          <p:cNvPr id="3" name="Content Placeholder 2"/>
          <p:cNvSpPr>
            <a:spLocks noGrp="1"/>
          </p:cNvSpPr>
          <p:nvPr>
            <p:ph idx="1"/>
          </p:nvPr>
        </p:nvSpPr>
        <p:spPr/>
        <p:txBody>
          <a:bodyPr/>
          <a:lstStyle/>
          <a:p>
            <a:pPr marL="0" lvl="0" indent="0" algn="just" rtl="0">
              <a:lnSpc>
                <a:spcPct val="100000"/>
              </a:lnSpc>
              <a:spcBef>
                <a:spcPts val="600"/>
              </a:spcBef>
              <a:spcAft>
                <a:spcPts val="0"/>
              </a:spcAft>
              <a:buNone/>
            </a:pP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30000"/>
              </a:lnSpc>
              <a:spcBef>
                <a:spcPts val="0"/>
              </a:spcBef>
              <a:spcAft>
                <a:spcPts val="0"/>
              </a:spcAft>
              <a:buClr>
                <a:schemeClr val="dk1"/>
              </a:buClr>
              <a:buSzPts val="2800"/>
              <a:buFont typeface="Oswald"/>
              <a:buAutoNum type="arabicPeriod"/>
            </a:pPr>
            <a:r>
              <a:rPr lang="en-GB" sz="2400">
                <a:solidFill>
                  <a:schemeClr val="dk1"/>
                </a:solidFill>
                <a:latin typeface="Calibri" panose="020F0502020204030204" charset="0"/>
                <a:ea typeface="Oswald"/>
                <a:cs typeface="Calibri" panose="020F0502020204030204" charset="0"/>
                <a:sym typeface="Oswald"/>
              </a:rPr>
              <a:t>Identifying the </a:t>
            </a:r>
            <a:r>
              <a:rPr lang="en-GB" sz="2400">
                <a:solidFill>
                  <a:srgbClr val="C00000"/>
                </a:solidFill>
                <a:latin typeface="Calibri" panose="020F0502020204030204" charset="0"/>
                <a:ea typeface="Oswald"/>
                <a:cs typeface="Calibri" panose="020F0502020204030204" charset="0"/>
                <a:sym typeface="Oswald"/>
              </a:rPr>
              <a:t>sources </a:t>
            </a:r>
            <a:r>
              <a:rPr lang="en-GB" sz="2400">
                <a:solidFill>
                  <a:schemeClr val="dk1"/>
                </a:solidFill>
                <a:latin typeface="Calibri" panose="020F0502020204030204" charset="0"/>
                <a:ea typeface="Oswald"/>
                <a:cs typeface="Calibri" panose="020F0502020204030204" charset="0"/>
                <a:sym typeface="Oswald"/>
              </a:rPr>
              <a:t>of information</a:t>
            </a:r>
            <a:endParaRPr sz="2400">
              <a:solidFill>
                <a:schemeClr val="dk1"/>
              </a:solidFill>
              <a:latin typeface="Calibri" panose="020F0502020204030204" charset="0"/>
              <a:ea typeface="Oswald"/>
              <a:cs typeface="Calibri" panose="020F0502020204030204" charset="0"/>
              <a:sym typeface="Oswald"/>
            </a:endParaRPr>
          </a:p>
          <a:p>
            <a:pPr marL="457200" lvl="0" indent="-406400" algn="l" rtl="0">
              <a:lnSpc>
                <a:spcPct val="130000"/>
              </a:lnSpc>
              <a:spcBef>
                <a:spcPts val="0"/>
              </a:spcBef>
              <a:spcAft>
                <a:spcPts val="0"/>
              </a:spcAft>
              <a:buClr>
                <a:schemeClr val="dk1"/>
              </a:buClr>
              <a:buSzPts val="2800"/>
              <a:buFont typeface="Oswald"/>
              <a:buAutoNum type="arabicPeriod"/>
            </a:pPr>
            <a:r>
              <a:rPr lang="en-GB" sz="2400">
                <a:solidFill>
                  <a:schemeClr val="dk1"/>
                </a:solidFill>
                <a:latin typeface="Calibri" panose="020F0502020204030204" charset="0"/>
                <a:ea typeface="Oswald"/>
                <a:cs typeface="Calibri" panose="020F0502020204030204" charset="0"/>
                <a:sym typeface="Oswald"/>
              </a:rPr>
              <a:t>Determining the effective </a:t>
            </a:r>
            <a:r>
              <a:rPr lang="en-GB" sz="2400">
                <a:solidFill>
                  <a:srgbClr val="C00000"/>
                </a:solidFill>
                <a:latin typeface="Calibri" panose="020F0502020204030204" charset="0"/>
                <a:ea typeface="Oswald"/>
                <a:cs typeface="Calibri" panose="020F0502020204030204" charset="0"/>
                <a:sym typeface="Oswald"/>
              </a:rPr>
              <a:t>tools</a:t>
            </a:r>
            <a:endParaRPr sz="2400">
              <a:solidFill>
                <a:srgbClr val="6AA84F"/>
              </a:solidFill>
              <a:latin typeface="Calibri" panose="020F0502020204030204" charset="0"/>
              <a:ea typeface="Oswald"/>
              <a:cs typeface="Calibri" panose="020F0502020204030204" charset="0"/>
              <a:sym typeface="Oswald"/>
            </a:endParaRPr>
          </a:p>
          <a:p>
            <a:pPr marL="457200" lvl="0" indent="-406400" algn="l" rtl="0">
              <a:lnSpc>
                <a:spcPct val="130000"/>
              </a:lnSpc>
              <a:spcBef>
                <a:spcPts val="0"/>
              </a:spcBef>
              <a:spcAft>
                <a:spcPts val="0"/>
              </a:spcAft>
              <a:buClr>
                <a:schemeClr val="dk1"/>
              </a:buClr>
              <a:buSzPts val="2800"/>
              <a:buFont typeface="Oswald"/>
              <a:buAutoNum type="arabicPeriod"/>
            </a:pPr>
            <a:r>
              <a:rPr lang="en-GB" sz="2400">
                <a:solidFill>
                  <a:schemeClr val="dk1"/>
                </a:solidFill>
                <a:latin typeface="Calibri" panose="020F0502020204030204" charset="0"/>
                <a:ea typeface="Oswald"/>
                <a:cs typeface="Calibri" panose="020F0502020204030204" charset="0"/>
                <a:sym typeface="Oswald"/>
              </a:rPr>
              <a:t>Using best practices of the different tools</a:t>
            </a:r>
            <a:endParaRPr sz="2400">
              <a:solidFill>
                <a:schemeClr val="dk1"/>
              </a:solidFill>
              <a:latin typeface="Calibri" panose="020F0502020204030204" charset="0"/>
              <a:ea typeface="Oswald"/>
              <a:cs typeface="Calibri" panose="020F0502020204030204" charset="0"/>
              <a:sym typeface="Oswald"/>
            </a:endParaRPr>
          </a:p>
          <a:p>
            <a:endParaRPr lang="en-US" sz="2400">
              <a:solidFill>
                <a:schemeClr val="dk1"/>
              </a:solidFill>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GB" b="1">
                <a:solidFill>
                  <a:schemeClr val="bg1"/>
                </a:solidFill>
                <a:latin typeface="Calibri" panose="020F0502020204030204" charset="0"/>
                <a:cs typeface="Calibri" panose="020F0502020204030204" charset="0"/>
                <a:sym typeface="+mn-ea"/>
              </a:rPr>
              <a:t>Sources of Information</a:t>
            </a:r>
            <a:endParaRPr lang="en-GB" b="1">
              <a:solidFill>
                <a:schemeClr val="bg1"/>
              </a:solidFill>
              <a:latin typeface="Calibri" panose="020F0502020204030204" charset="0"/>
              <a:cs typeface="Calibri" panose="020F0502020204030204" charset="0"/>
              <a:sym typeface="+mn-ea"/>
            </a:endParaRPr>
          </a:p>
        </p:txBody>
      </p:sp>
      <p:sp>
        <p:nvSpPr>
          <p:cNvPr id="3" name="Content Placeholder 2"/>
          <p:cNvSpPr>
            <a:spLocks noGrp="1"/>
          </p:cNvSpPr>
          <p:nvPr>
            <p:ph idx="1"/>
          </p:nvPr>
        </p:nvSpPr>
        <p:spPr/>
        <p:txBody>
          <a:bodyPr>
            <a:normAutofit/>
          </a:bodyPr>
          <a:lstStyle/>
          <a:p>
            <a:pPr marL="457200" lvl="0" indent="-381000" algn="l" rtl="0">
              <a:lnSpc>
                <a:spcPct val="100000"/>
              </a:lnSpc>
              <a:spcBef>
                <a:spcPts val="0"/>
              </a:spcBef>
              <a:spcAft>
                <a:spcPts val="0"/>
              </a:spcAft>
              <a:buSzPts val="2400"/>
              <a:buFont typeface="Oswald"/>
              <a:buAutoNum type="arabicPeriod"/>
            </a:pPr>
            <a:r>
              <a:rPr lang="en-GB" sz="2400" b="1">
                <a:solidFill>
                  <a:srgbClr val="C00000"/>
                </a:solidFill>
                <a:latin typeface="Calibri" panose="020F0502020204030204" charset="0"/>
                <a:ea typeface="Oswald"/>
                <a:cs typeface="Calibri" panose="020F0502020204030204" charset="0"/>
                <a:sym typeface="Oswald"/>
              </a:rPr>
              <a:t> Internal Sources</a:t>
            </a:r>
            <a:r>
              <a:rPr lang="en-GB" sz="2400">
                <a:latin typeface="Calibri" panose="020F0502020204030204" charset="0"/>
                <a:ea typeface="Oswald"/>
                <a:cs typeface="Calibri" panose="020F0502020204030204" charset="0"/>
                <a:sym typeface="Oswald"/>
              </a:rPr>
              <a:t> (for existing organization)</a:t>
            </a:r>
            <a:endParaRPr sz="2400">
              <a:latin typeface="Calibri" panose="020F0502020204030204" charset="0"/>
              <a:ea typeface="Oswald"/>
              <a:cs typeface="Calibri" panose="020F0502020204030204" charset="0"/>
              <a:sym typeface="Oswald"/>
            </a:endParaRPr>
          </a:p>
          <a:p>
            <a:pPr marL="800100" lvl="0" indent="-323850" algn="l" rtl="0">
              <a:lnSpc>
                <a:spcPct val="100000"/>
              </a:lnSpc>
              <a:spcBef>
                <a:spcPts val="0"/>
              </a:spcBef>
              <a:spcAft>
                <a:spcPts val="0"/>
              </a:spcAft>
              <a:buClr>
                <a:schemeClr val="accent3"/>
              </a:buClr>
              <a:buSzPts val="2400"/>
              <a:buFont typeface="Oswald"/>
              <a:buChar char="▪"/>
            </a:pPr>
            <a:r>
              <a:rPr lang="en-GB" sz="2400">
                <a:latin typeface="Calibri" panose="020F0502020204030204" charset="0"/>
                <a:ea typeface="Oswald"/>
                <a:cs typeface="Calibri" panose="020F0502020204030204" charset="0"/>
                <a:sym typeface="Oswald"/>
              </a:rPr>
              <a:t>Existing/official documentations </a:t>
            </a:r>
            <a:endParaRPr sz="2400">
              <a:latin typeface="Calibri" panose="020F0502020204030204" charset="0"/>
              <a:ea typeface="Oswald"/>
              <a:cs typeface="Calibri" panose="020F0502020204030204" charset="0"/>
              <a:sym typeface="Oswald"/>
            </a:endParaRPr>
          </a:p>
          <a:p>
            <a:pPr marL="800100" lvl="0" indent="-323850" algn="l" rtl="0">
              <a:lnSpc>
                <a:spcPct val="100000"/>
              </a:lnSpc>
              <a:spcBef>
                <a:spcPts val="0"/>
              </a:spcBef>
              <a:spcAft>
                <a:spcPts val="0"/>
              </a:spcAft>
              <a:buClr>
                <a:schemeClr val="accent3"/>
              </a:buClr>
              <a:buSzPts val="2400"/>
              <a:buFont typeface="Oswald"/>
              <a:buChar char="▪"/>
            </a:pPr>
            <a:r>
              <a:rPr lang="en-GB" sz="2400">
                <a:latin typeface="Calibri" panose="020F0502020204030204" charset="0"/>
                <a:ea typeface="Oswald"/>
                <a:cs typeface="Calibri" panose="020F0502020204030204" charset="0"/>
                <a:sym typeface="Oswald"/>
              </a:rPr>
              <a:t>Personnel / Staff</a:t>
            </a:r>
            <a:endParaRPr sz="2400">
              <a:latin typeface="Calibri" panose="020F0502020204030204" charset="0"/>
              <a:ea typeface="Oswald"/>
              <a:cs typeface="Calibri" panose="020F0502020204030204" charset="0"/>
              <a:sym typeface="Oswald"/>
            </a:endParaRPr>
          </a:p>
          <a:p>
            <a:pPr marL="800100" lvl="0" indent="-323850" algn="l" rtl="0">
              <a:lnSpc>
                <a:spcPct val="100000"/>
              </a:lnSpc>
              <a:spcBef>
                <a:spcPts val="0"/>
              </a:spcBef>
              <a:spcAft>
                <a:spcPts val="0"/>
              </a:spcAft>
              <a:buClr>
                <a:schemeClr val="accent3"/>
              </a:buClr>
              <a:buSzPts val="2400"/>
              <a:buFont typeface="Oswald"/>
              <a:buChar char="▪"/>
            </a:pPr>
            <a:r>
              <a:rPr lang="en-GB" sz="2400">
                <a:latin typeface="Calibri" panose="020F0502020204030204" charset="0"/>
                <a:ea typeface="Oswald"/>
                <a:cs typeface="Calibri" panose="020F0502020204030204" charset="0"/>
                <a:sym typeface="Oswald"/>
              </a:rPr>
              <a:t>Existing users / customers</a:t>
            </a:r>
            <a:br>
              <a:rPr lang="en-GB" sz="2400">
                <a:latin typeface="Calibri" panose="020F0502020204030204" charset="0"/>
                <a:ea typeface="Oswald"/>
                <a:cs typeface="Calibri" panose="020F0502020204030204" charset="0"/>
                <a:sym typeface="Oswald"/>
              </a:rPr>
            </a:br>
            <a:endParaRPr sz="2400">
              <a:latin typeface="Calibri" panose="020F0502020204030204" charset="0"/>
              <a:ea typeface="Oswald"/>
              <a:cs typeface="Calibri" panose="020F0502020204030204" charset="0"/>
              <a:sym typeface="Oswald"/>
            </a:endParaRPr>
          </a:p>
          <a:p>
            <a:pPr marL="457200" lvl="0" indent="-381000" algn="l" rtl="0">
              <a:lnSpc>
                <a:spcPct val="100000"/>
              </a:lnSpc>
              <a:spcBef>
                <a:spcPts val="0"/>
              </a:spcBef>
              <a:spcAft>
                <a:spcPts val="0"/>
              </a:spcAft>
              <a:buClr>
                <a:schemeClr val="dk1"/>
              </a:buClr>
              <a:buSzPts val="2400"/>
              <a:buFont typeface="Oswald"/>
              <a:buAutoNum type="arabicPeriod" startAt="2"/>
            </a:pPr>
            <a:r>
              <a:rPr lang="en-GB" sz="2400" b="1">
                <a:solidFill>
                  <a:srgbClr val="C00000"/>
                </a:solidFill>
                <a:latin typeface="Calibri" panose="020F0502020204030204" charset="0"/>
                <a:ea typeface="Oswald"/>
                <a:cs typeface="Calibri" panose="020F0502020204030204" charset="0"/>
                <a:sym typeface="Oswald"/>
              </a:rPr>
              <a:t>External Sources</a:t>
            </a:r>
            <a:r>
              <a:rPr lang="en-GB" sz="2400">
                <a:solidFill>
                  <a:srgbClr val="6AA84F"/>
                </a:solidFill>
                <a:latin typeface="Calibri" panose="020F0502020204030204" charset="0"/>
                <a:ea typeface="Oswald"/>
                <a:cs typeface="Calibri" panose="020F0502020204030204" charset="0"/>
                <a:sym typeface="Oswald"/>
              </a:rPr>
              <a:t> </a:t>
            </a:r>
            <a:endParaRPr sz="2400">
              <a:solidFill>
                <a:srgbClr val="6AA84F"/>
              </a:solidFill>
              <a:latin typeface="Calibri" panose="020F0502020204030204" charset="0"/>
              <a:ea typeface="Oswald"/>
              <a:cs typeface="Calibri" panose="020F0502020204030204" charset="0"/>
              <a:sym typeface="Oswald"/>
            </a:endParaRPr>
          </a:p>
          <a:p>
            <a:pPr marL="800100" lvl="0" indent="-323850" algn="l" rtl="0">
              <a:lnSpc>
                <a:spcPct val="100000"/>
              </a:lnSpc>
              <a:spcBef>
                <a:spcPts val="0"/>
              </a:spcBef>
              <a:spcAft>
                <a:spcPts val="0"/>
              </a:spcAft>
              <a:buClr>
                <a:schemeClr val="accent3"/>
              </a:buClr>
              <a:buSzPts val="2400"/>
              <a:buFont typeface="Oswald"/>
              <a:buChar char="▪"/>
            </a:pPr>
            <a:r>
              <a:rPr lang="en-GB" sz="2400">
                <a:latin typeface="Calibri" panose="020F0502020204030204" charset="0"/>
                <a:ea typeface="Oswald"/>
                <a:cs typeface="Calibri" panose="020F0502020204030204" charset="0"/>
                <a:sym typeface="Oswald"/>
              </a:rPr>
              <a:t>Benchmark products </a:t>
            </a:r>
            <a:endParaRPr sz="2400">
              <a:latin typeface="Calibri" panose="020F0502020204030204" charset="0"/>
              <a:ea typeface="Oswald"/>
              <a:cs typeface="Calibri" panose="020F0502020204030204" charset="0"/>
              <a:sym typeface="Oswald"/>
            </a:endParaRPr>
          </a:p>
          <a:p>
            <a:pPr marL="800100" lvl="0" indent="-323850" algn="l" rtl="0">
              <a:lnSpc>
                <a:spcPct val="100000"/>
              </a:lnSpc>
              <a:spcBef>
                <a:spcPts val="0"/>
              </a:spcBef>
              <a:spcAft>
                <a:spcPts val="0"/>
              </a:spcAft>
              <a:buClr>
                <a:schemeClr val="accent3"/>
              </a:buClr>
              <a:buSzPts val="2400"/>
              <a:buFont typeface="Oswald"/>
              <a:buChar char="▪"/>
            </a:pPr>
            <a:r>
              <a:rPr lang="en-GB" sz="2400">
                <a:latin typeface="Calibri" panose="020F0502020204030204" charset="0"/>
                <a:ea typeface="Oswald"/>
                <a:cs typeface="Calibri" panose="020F0502020204030204" charset="0"/>
                <a:sym typeface="Oswald"/>
              </a:rPr>
              <a:t>Online reports / write-ups</a:t>
            </a:r>
            <a:endParaRPr sz="2400">
              <a:latin typeface="Calibri" panose="020F0502020204030204" charset="0"/>
              <a:ea typeface="Oswald"/>
              <a:cs typeface="Calibri" panose="020F0502020204030204" charset="0"/>
              <a:sym typeface="Oswald"/>
            </a:endParaRPr>
          </a:p>
          <a:p>
            <a:pPr marL="800100" lvl="0" indent="-323850" algn="l" rtl="0">
              <a:lnSpc>
                <a:spcPct val="100000"/>
              </a:lnSpc>
              <a:spcBef>
                <a:spcPts val="0"/>
              </a:spcBef>
              <a:spcAft>
                <a:spcPts val="0"/>
              </a:spcAft>
              <a:buClr>
                <a:schemeClr val="accent3"/>
              </a:buClr>
              <a:buSzPts val="2400"/>
              <a:buFont typeface="Oswald"/>
              <a:buChar char="▪"/>
            </a:pPr>
            <a:r>
              <a:rPr lang="en-GB" sz="2400">
                <a:latin typeface="Calibri" panose="020F0502020204030204" charset="0"/>
                <a:ea typeface="Oswald"/>
                <a:cs typeface="Calibri" panose="020F0502020204030204" charset="0"/>
                <a:sym typeface="Oswald"/>
              </a:rPr>
              <a:t>Research papers / Online articles</a:t>
            </a:r>
            <a:endParaRPr sz="2400">
              <a:latin typeface="Calibri" panose="020F0502020204030204" charset="0"/>
              <a:ea typeface="Oswald"/>
              <a:cs typeface="Calibri" panose="020F0502020204030204" charset="0"/>
              <a:sym typeface="Oswald"/>
            </a:endParaRPr>
          </a:p>
          <a:p>
            <a:pPr marL="800100" lvl="0" indent="-323850" algn="l" rtl="0">
              <a:lnSpc>
                <a:spcPct val="100000"/>
              </a:lnSpc>
              <a:spcBef>
                <a:spcPts val="0"/>
              </a:spcBef>
              <a:spcAft>
                <a:spcPts val="0"/>
              </a:spcAft>
              <a:buClr>
                <a:schemeClr val="accent3"/>
              </a:buClr>
              <a:buSzPts val="2400"/>
              <a:buFont typeface="Oswald"/>
              <a:buChar char="▪"/>
            </a:pPr>
            <a:r>
              <a:rPr lang="en-GB" sz="2400">
                <a:latin typeface="Calibri" panose="020F0502020204030204" charset="0"/>
                <a:ea typeface="Oswald"/>
                <a:cs typeface="Calibri" panose="020F0502020204030204" charset="0"/>
                <a:sym typeface="Oswald"/>
              </a:rPr>
              <a:t>Related authorities / experts</a:t>
            </a:r>
            <a:endParaRPr sz="2400">
              <a:latin typeface="Calibri" panose="020F0502020204030204" charset="0"/>
              <a:ea typeface="Oswald"/>
              <a:cs typeface="Calibri" panose="020F0502020204030204" charset="0"/>
              <a:sym typeface="Oswald"/>
            </a:endParaRPr>
          </a:p>
          <a:p>
            <a:pPr marL="0" indent="0">
              <a:buNone/>
            </a:pPr>
            <a:endParaRPr lang="en-US" sz="2400">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Benchmark Products Study</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Newspapers &amp; Professional Journals</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Personal Staff</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Professional/ Consultant</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System Documentation</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The Users</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Reports and Transaction Document</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Vendors/ Suppliers</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Government Documents</a:t>
            </a:r>
            <a:endParaRPr sz="2400">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Online</a:t>
            </a:r>
            <a:endParaRPr sz="2400">
              <a:latin typeface="Calibri" panose="020F0502020204030204" charset="0"/>
              <a:ea typeface="Oswald"/>
              <a:cs typeface="Calibri" panose="020F0502020204030204" charset="0"/>
              <a:sym typeface="Oswald"/>
            </a:endParaRPr>
          </a:p>
          <a:p>
            <a:pPr marL="0" indent="0">
              <a:buNone/>
            </a:pPr>
            <a:endParaRPr lang="en-US" sz="2400">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
        <p:nvSpPr>
          <p:cNvPr id="7" name="Title 6"/>
          <p:cNvSpPr>
            <a:spLocks noGrp="1"/>
          </p:cNvSpPr>
          <p:nvPr>
            <p:ph type="title"/>
          </p:nvPr>
        </p:nvSpPr>
        <p:spPr>
          <a:solidFill>
            <a:srgbClr val="FF8000"/>
          </a:solidFill>
          <a:ln>
            <a:noFill/>
          </a:ln>
        </p:spPr>
        <p:txBody>
          <a:bodyPr>
            <a:normAutofit fontScale="90000"/>
          </a:bodyPr>
          <a:lstStyle/>
          <a:p>
            <a:r>
              <a:rPr lang="en-GB" b="1">
                <a:solidFill>
                  <a:schemeClr val="bg1"/>
                </a:solidFill>
                <a:sym typeface="+mn-ea"/>
              </a:rPr>
              <a:t>Categorize the following sources of information</a:t>
            </a:r>
            <a:endParaRPr lang="en-GB" b="1">
              <a:solidFill>
                <a:schemeClr val="bg1"/>
              </a:solidFill>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normAutofit fontScale="90000"/>
          </a:bodyPr>
          <a:lstStyle/>
          <a:p>
            <a:r>
              <a:rPr lang="en-GB">
                <a:solidFill>
                  <a:schemeClr val="bg1"/>
                </a:solidFill>
                <a:sym typeface="+mn-ea"/>
              </a:rPr>
              <a:t>Categorize the following sources of information</a:t>
            </a:r>
            <a:endParaRPr lang="en-GB">
              <a:solidFill>
                <a:schemeClr val="bg1"/>
              </a:solidFill>
              <a:sym typeface="+mn-ea"/>
            </a:endParaRPr>
          </a:p>
        </p:txBody>
      </p:sp>
      <p:sp>
        <p:nvSpPr>
          <p:cNvPr id="3" name="Content Placeholder 2"/>
          <p:cNvSpPr>
            <a:spLocks noGrp="1"/>
          </p:cNvSpPr>
          <p:nvPr>
            <p:ph idx="1"/>
          </p:nvPr>
        </p:nvSpPr>
        <p:spPr/>
        <p:txBody>
          <a:bodyPr>
            <a:normAutofit lnSpcReduction="10000"/>
          </a:bodyPr>
          <a:lstStyle/>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Benchmark Products Study - </a:t>
            </a:r>
            <a:r>
              <a:rPr lang="en-GB" sz="2400">
                <a:solidFill>
                  <a:srgbClr val="C00000"/>
                </a:solidFill>
                <a:latin typeface="Calibri" panose="020F0502020204030204" charset="0"/>
                <a:ea typeface="Oswald"/>
                <a:cs typeface="Calibri" panose="020F0502020204030204" charset="0"/>
                <a:sym typeface="Oswald"/>
              </a:rPr>
              <a:t>External</a:t>
            </a:r>
            <a:endParaRPr sz="2400">
              <a:solidFill>
                <a:srgbClr val="6AA84F"/>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Newspapers &amp; Professional Journals - </a:t>
            </a:r>
            <a:r>
              <a:rPr lang="en-GB" sz="2400">
                <a:solidFill>
                  <a:srgbClr val="C00000"/>
                </a:solidFill>
                <a:latin typeface="Calibri" panose="020F0502020204030204" charset="0"/>
                <a:ea typeface="Oswald"/>
                <a:cs typeface="Calibri" panose="020F0502020204030204" charset="0"/>
                <a:sym typeface="Oswald"/>
              </a:rPr>
              <a:t>External</a:t>
            </a:r>
            <a:endParaRPr sz="2400">
              <a:solidFill>
                <a:srgbClr val="6AA84F"/>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Personal Staff - </a:t>
            </a:r>
            <a:r>
              <a:rPr lang="en-GB" sz="2400">
                <a:solidFill>
                  <a:srgbClr val="C00000"/>
                </a:solidFill>
                <a:latin typeface="Calibri" panose="020F0502020204030204" charset="0"/>
                <a:ea typeface="Oswald"/>
                <a:cs typeface="Calibri" panose="020F0502020204030204" charset="0"/>
                <a:sym typeface="Oswald"/>
              </a:rPr>
              <a:t>Internal</a:t>
            </a:r>
            <a:endParaRPr sz="2400">
              <a:solidFill>
                <a:srgbClr val="6AA84F"/>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Professional/ Consultant – </a:t>
            </a:r>
            <a:r>
              <a:rPr lang="en-GB" sz="2400">
                <a:solidFill>
                  <a:srgbClr val="C00000"/>
                </a:solidFill>
                <a:latin typeface="Calibri" panose="020F0502020204030204" charset="0"/>
                <a:ea typeface="Oswald"/>
                <a:cs typeface="Calibri" panose="020F0502020204030204" charset="0"/>
                <a:sym typeface="Oswald"/>
              </a:rPr>
              <a:t>Internal/External</a:t>
            </a:r>
            <a:endParaRPr sz="2400">
              <a:solidFill>
                <a:srgbClr val="6AA84F"/>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System Documentation- </a:t>
            </a:r>
            <a:r>
              <a:rPr lang="en-GB" sz="2400">
                <a:solidFill>
                  <a:srgbClr val="C00000"/>
                </a:solidFill>
                <a:latin typeface="Calibri" panose="020F0502020204030204" charset="0"/>
                <a:ea typeface="Oswald"/>
                <a:cs typeface="Calibri" panose="020F0502020204030204" charset="0"/>
                <a:sym typeface="Oswald"/>
              </a:rPr>
              <a:t>Internal</a:t>
            </a:r>
            <a:endParaRPr sz="2400">
              <a:solidFill>
                <a:srgbClr val="6AA84F"/>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The Users – </a:t>
            </a:r>
            <a:r>
              <a:rPr lang="en-GB" sz="2400">
                <a:solidFill>
                  <a:srgbClr val="C00000"/>
                </a:solidFill>
                <a:latin typeface="Calibri" panose="020F0502020204030204" charset="0"/>
                <a:ea typeface="Oswald"/>
                <a:cs typeface="Calibri" panose="020F0502020204030204" charset="0"/>
                <a:sym typeface="Oswald"/>
              </a:rPr>
              <a:t>Internal/External</a:t>
            </a:r>
            <a:endParaRPr sz="2400">
              <a:solidFill>
                <a:srgbClr val="C00000"/>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Reports and Transaction Document - </a:t>
            </a:r>
            <a:r>
              <a:rPr lang="en-GB" sz="2400">
                <a:solidFill>
                  <a:srgbClr val="C00000"/>
                </a:solidFill>
                <a:latin typeface="Calibri" panose="020F0502020204030204" charset="0"/>
                <a:ea typeface="Oswald"/>
                <a:cs typeface="Calibri" panose="020F0502020204030204" charset="0"/>
                <a:sym typeface="Oswald"/>
              </a:rPr>
              <a:t>Internal</a:t>
            </a:r>
            <a:endParaRPr sz="2400">
              <a:solidFill>
                <a:srgbClr val="6AA84F"/>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Vendors/ Suppliers - </a:t>
            </a:r>
            <a:r>
              <a:rPr lang="en-GB" sz="2400">
                <a:solidFill>
                  <a:srgbClr val="C00000"/>
                </a:solidFill>
                <a:latin typeface="Calibri" panose="020F0502020204030204" charset="0"/>
                <a:ea typeface="Oswald"/>
                <a:cs typeface="Calibri" panose="020F0502020204030204" charset="0"/>
                <a:sym typeface="Oswald"/>
              </a:rPr>
              <a:t>External</a:t>
            </a:r>
            <a:endParaRPr sz="2400">
              <a:solidFill>
                <a:srgbClr val="6AA84F"/>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Government Documents - </a:t>
            </a:r>
            <a:r>
              <a:rPr lang="en-GB" sz="2400">
                <a:solidFill>
                  <a:srgbClr val="C00000"/>
                </a:solidFill>
                <a:latin typeface="Calibri" panose="020F0502020204030204" charset="0"/>
                <a:ea typeface="Oswald"/>
                <a:cs typeface="Calibri" panose="020F0502020204030204" charset="0"/>
                <a:sym typeface="Oswald"/>
              </a:rPr>
              <a:t>External</a:t>
            </a:r>
            <a:endParaRPr sz="2400">
              <a:solidFill>
                <a:srgbClr val="6AA84F"/>
              </a:solidFill>
              <a:latin typeface="Calibri" panose="020F0502020204030204" charset="0"/>
              <a:ea typeface="Oswald"/>
              <a:cs typeface="Calibri" panose="020F0502020204030204" charset="0"/>
              <a:sym typeface="Oswald"/>
            </a:endParaRPr>
          </a:p>
          <a:p>
            <a:pPr marL="0" lvl="0" indent="171450" algn="l" rtl="0">
              <a:lnSpc>
                <a:spcPct val="120000"/>
              </a:lnSpc>
              <a:spcBef>
                <a:spcPts val="0"/>
              </a:spcBef>
              <a:spcAft>
                <a:spcPts val="0"/>
              </a:spcAft>
              <a:buClr>
                <a:schemeClr val="accent3"/>
              </a:buClr>
              <a:buSzPts val="1800"/>
              <a:buFont typeface="Oswald"/>
              <a:buChar char="▪"/>
            </a:pPr>
            <a:r>
              <a:rPr lang="en-GB" sz="2400">
                <a:latin typeface="Calibri" panose="020F0502020204030204" charset="0"/>
                <a:ea typeface="Oswald"/>
                <a:cs typeface="Calibri" panose="020F0502020204030204" charset="0"/>
                <a:sym typeface="Oswald"/>
              </a:rPr>
              <a:t>Online - </a:t>
            </a:r>
            <a:r>
              <a:rPr lang="en-GB" sz="2400">
                <a:solidFill>
                  <a:srgbClr val="C00000"/>
                </a:solidFill>
                <a:latin typeface="Calibri" panose="020F0502020204030204" charset="0"/>
                <a:ea typeface="Oswald"/>
                <a:cs typeface="Calibri" panose="020F0502020204030204" charset="0"/>
                <a:sym typeface="Oswald"/>
              </a:rPr>
              <a:t>External</a:t>
            </a:r>
            <a:endParaRPr sz="2400">
              <a:solidFill>
                <a:srgbClr val="6AA84F"/>
              </a:solidFill>
              <a:latin typeface="Calibri" panose="020F0502020204030204" charset="0"/>
              <a:ea typeface="Oswald"/>
              <a:cs typeface="Calibri" panose="020F0502020204030204" charset="0"/>
              <a:sym typeface="Oswald"/>
            </a:endParaRPr>
          </a:p>
          <a:p>
            <a:pPr marL="0" indent="0">
              <a:buNone/>
            </a:pPr>
            <a:endParaRPr lang="en-US" sz="2400">
              <a:solidFill>
                <a:srgbClr val="6AA84F"/>
              </a:solidFill>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GB" b="1">
                <a:solidFill>
                  <a:schemeClr val="bg1"/>
                </a:solidFill>
                <a:sym typeface="+mn-ea"/>
              </a:rPr>
              <a:t>Information Gathering Tools</a:t>
            </a:r>
            <a:endParaRPr lang="en-GB" b="1">
              <a:solidFill>
                <a:schemeClr val="bg1"/>
              </a:solidFill>
              <a:sym typeface="+mn-ea"/>
            </a:endParaRPr>
          </a:p>
        </p:txBody>
      </p:sp>
      <p:sp>
        <p:nvSpPr>
          <p:cNvPr id="3" name="Content Placeholder 2"/>
          <p:cNvSpPr>
            <a:spLocks noGrp="1"/>
          </p:cNvSpPr>
          <p:nvPr>
            <p:ph idx="1"/>
          </p:nvPr>
        </p:nvSpPr>
        <p:spPr/>
        <p:txBody>
          <a:bodyPr>
            <a:normAutofit lnSpcReduction="10000"/>
          </a:bodyPr>
          <a:lstStyle/>
          <a:p>
            <a:pPr marL="0" lvl="0" indent="133350" algn="l" rtl="0">
              <a:lnSpc>
                <a:spcPct val="130000"/>
              </a:lnSpc>
              <a:spcBef>
                <a:spcPts val="0"/>
              </a:spcBef>
              <a:spcAft>
                <a:spcPts val="0"/>
              </a:spcAft>
              <a:buClr>
                <a:schemeClr val="accent3"/>
              </a:buClr>
              <a:buSzPts val="2400"/>
              <a:buFont typeface="Oswald"/>
              <a:buChar char="▪"/>
            </a:pPr>
            <a:r>
              <a:rPr lang="en-GB" sz="2400" dirty="0">
                <a:latin typeface="Calibri" panose="020F0502020204030204" charset="0"/>
                <a:ea typeface="Oswald"/>
                <a:cs typeface="Calibri" panose="020F0502020204030204" charset="0"/>
                <a:sym typeface="Oswald"/>
              </a:rPr>
              <a:t>Review Documents, Procedures, Forms, etc.</a:t>
            </a:r>
            <a:endParaRPr sz="2400" dirty="0">
              <a:latin typeface="Calibri" panose="020F0502020204030204" charset="0"/>
              <a:ea typeface="Oswald"/>
              <a:cs typeface="Calibri" panose="020F0502020204030204" charset="0"/>
              <a:sym typeface="Oswald"/>
            </a:endParaRPr>
          </a:p>
          <a:p>
            <a:pPr marL="0" lvl="0" indent="133350" algn="l" rtl="0">
              <a:lnSpc>
                <a:spcPct val="130000"/>
              </a:lnSpc>
              <a:spcBef>
                <a:spcPts val="0"/>
              </a:spcBef>
              <a:spcAft>
                <a:spcPts val="0"/>
              </a:spcAft>
              <a:buClr>
                <a:schemeClr val="accent3"/>
              </a:buClr>
              <a:buSzPts val="2400"/>
              <a:buFont typeface="Oswald"/>
              <a:buChar char="▪"/>
            </a:pPr>
            <a:r>
              <a:rPr lang="en-GB" sz="2400" dirty="0">
                <a:latin typeface="Calibri" panose="020F0502020204030204" charset="0"/>
                <a:ea typeface="Oswald"/>
                <a:cs typeface="Calibri" panose="020F0502020204030204" charset="0"/>
                <a:sym typeface="Oswald"/>
              </a:rPr>
              <a:t>On-site Observation</a:t>
            </a:r>
            <a:endParaRPr sz="2400" dirty="0">
              <a:latin typeface="Calibri" panose="020F0502020204030204" charset="0"/>
              <a:ea typeface="Oswald"/>
              <a:cs typeface="Calibri" panose="020F0502020204030204" charset="0"/>
              <a:sym typeface="Oswald"/>
            </a:endParaRPr>
          </a:p>
          <a:p>
            <a:pPr marL="0" lvl="0" indent="133350" algn="l" rtl="0">
              <a:lnSpc>
                <a:spcPct val="130000"/>
              </a:lnSpc>
              <a:spcBef>
                <a:spcPts val="0"/>
              </a:spcBef>
              <a:spcAft>
                <a:spcPts val="0"/>
              </a:spcAft>
              <a:buClr>
                <a:schemeClr val="accent3"/>
              </a:buClr>
              <a:buSzPts val="2400"/>
              <a:buFont typeface="Oswald"/>
              <a:buChar char="▪"/>
            </a:pPr>
            <a:r>
              <a:rPr lang="en-GB" sz="2400" dirty="0">
                <a:latin typeface="Calibri" panose="020F0502020204030204" charset="0"/>
                <a:ea typeface="Oswald"/>
                <a:cs typeface="Calibri" panose="020F0502020204030204" charset="0"/>
                <a:sym typeface="Oswald"/>
              </a:rPr>
              <a:t>Interview</a:t>
            </a:r>
            <a:endParaRPr sz="2400" dirty="0">
              <a:latin typeface="Calibri" panose="020F0502020204030204" charset="0"/>
              <a:ea typeface="Oswald"/>
              <a:cs typeface="Calibri" panose="020F0502020204030204" charset="0"/>
              <a:sym typeface="Oswald"/>
            </a:endParaRPr>
          </a:p>
          <a:p>
            <a:pPr marL="0" lvl="0" indent="133350" algn="l" rtl="0">
              <a:lnSpc>
                <a:spcPct val="130000"/>
              </a:lnSpc>
              <a:spcBef>
                <a:spcPts val="0"/>
              </a:spcBef>
              <a:spcAft>
                <a:spcPts val="0"/>
              </a:spcAft>
              <a:buClr>
                <a:schemeClr val="accent3"/>
              </a:buClr>
              <a:buSzPts val="2400"/>
              <a:buFont typeface="Oswald"/>
              <a:buChar char="▪"/>
            </a:pPr>
            <a:r>
              <a:rPr lang="en-GB" sz="2400" dirty="0">
                <a:latin typeface="Calibri" panose="020F0502020204030204" charset="0"/>
                <a:ea typeface="Oswald"/>
                <a:cs typeface="Calibri" panose="020F0502020204030204" charset="0"/>
                <a:sym typeface="Oswald"/>
              </a:rPr>
              <a:t>Questionnaires</a:t>
            </a:r>
            <a:endParaRPr sz="2400" dirty="0">
              <a:latin typeface="Calibri" panose="020F0502020204030204" charset="0"/>
              <a:ea typeface="Oswald"/>
              <a:cs typeface="Calibri" panose="020F0502020204030204" charset="0"/>
              <a:sym typeface="Oswald"/>
            </a:endParaRPr>
          </a:p>
          <a:p>
            <a:pPr marL="0" lvl="0" indent="133350" algn="l" rtl="0">
              <a:lnSpc>
                <a:spcPct val="130000"/>
              </a:lnSpc>
              <a:spcBef>
                <a:spcPts val="0"/>
              </a:spcBef>
              <a:spcAft>
                <a:spcPts val="0"/>
              </a:spcAft>
              <a:buClr>
                <a:schemeClr val="accent3"/>
              </a:buClr>
              <a:buSzPts val="2400"/>
              <a:buFont typeface="Oswald"/>
              <a:buChar char="▪"/>
            </a:pPr>
            <a:r>
              <a:rPr lang="en-GB" sz="2400" dirty="0">
                <a:latin typeface="Calibri" panose="020F0502020204030204" charset="0"/>
                <a:ea typeface="Oswald"/>
                <a:cs typeface="Calibri" panose="020F0502020204030204" charset="0"/>
                <a:sym typeface="Oswald"/>
              </a:rPr>
              <a:t>JAD (Joint Application Development)</a:t>
            </a:r>
            <a:endParaRPr sz="2400" dirty="0">
              <a:latin typeface="Calibri" panose="020F0502020204030204" charset="0"/>
              <a:ea typeface="Oswald"/>
              <a:cs typeface="Calibri" panose="020F0502020204030204" charset="0"/>
              <a:sym typeface="Oswald"/>
            </a:endParaRPr>
          </a:p>
          <a:p>
            <a:pPr marL="0" lvl="0" indent="133350" algn="l" rtl="0">
              <a:lnSpc>
                <a:spcPct val="130000"/>
              </a:lnSpc>
              <a:spcBef>
                <a:spcPts val="0"/>
              </a:spcBef>
              <a:spcAft>
                <a:spcPts val="0"/>
              </a:spcAft>
              <a:buClr>
                <a:schemeClr val="accent3"/>
              </a:buClr>
              <a:buSzPts val="2400"/>
              <a:buFont typeface="Oswald"/>
              <a:buChar char="▪"/>
            </a:pPr>
            <a:r>
              <a:rPr lang="en-GB" sz="2400" dirty="0">
                <a:latin typeface="Calibri" panose="020F0502020204030204" charset="0"/>
                <a:ea typeface="Oswald"/>
                <a:cs typeface="Calibri" panose="020F0502020204030204" charset="0"/>
                <a:sym typeface="Oswald"/>
              </a:rPr>
              <a:t>Online (benchmark products, literature, etc.)</a:t>
            </a:r>
            <a:endParaRPr lang="en-GB" sz="2400" dirty="0">
              <a:latin typeface="Calibri" panose="020F0502020204030204" charset="0"/>
              <a:ea typeface="Oswald"/>
              <a:cs typeface="Calibri" panose="020F0502020204030204" charset="0"/>
              <a:sym typeface="Oswald"/>
            </a:endParaRPr>
          </a:p>
          <a:p>
            <a:pPr marL="0" lvl="0" indent="0" algn="l" rtl="0">
              <a:lnSpc>
                <a:spcPct val="130000"/>
              </a:lnSpc>
              <a:spcBef>
                <a:spcPts val="0"/>
              </a:spcBef>
              <a:spcAft>
                <a:spcPts val="0"/>
              </a:spcAft>
              <a:buClr>
                <a:schemeClr val="accent3"/>
              </a:buClr>
              <a:buSzPts val="2400"/>
              <a:buFont typeface="Oswald"/>
              <a:buNone/>
            </a:pPr>
            <a:endParaRPr sz="2400" dirty="0">
              <a:solidFill>
                <a:srgbClr val="6AA84F"/>
              </a:solidFill>
              <a:latin typeface="Calibri" panose="020F0502020204030204" charset="0"/>
              <a:ea typeface="Oswald"/>
              <a:cs typeface="Calibri" panose="020F0502020204030204" charset="0"/>
              <a:sym typeface="Oswald"/>
            </a:endParaRPr>
          </a:p>
          <a:p>
            <a:pPr marL="0" indent="0">
              <a:buNone/>
            </a:pPr>
            <a:endParaRPr lang="en-US" sz="2400" dirty="0">
              <a:solidFill>
                <a:srgbClr val="6AA84F"/>
              </a:solidFill>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US" b="1">
                <a:solidFill>
                  <a:schemeClr val="bg1"/>
                </a:solidFill>
              </a:rPr>
              <a:t>1. </a:t>
            </a:r>
            <a:r>
              <a:rPr lang="en-GB" b="1">
                <a:solidFill>
                  <a:schemeClr val="bg1"/>
                </a:solidFill>
                <a:sym typeface="+mn-ea"/>
              </a:rPr>
              <a:t>Review Documents, Procedures, Forms</a:t>
            </a:r>
            <a:endParaRPr lang="en-GB" b="1">
              <a:solidFill>
                <a:schemeClr val="bg1"/>
              </a:solidFill>
              <a:sym typeface="+mn-ea"/>
            </a:endParaRPr>
          </a:p>
        </p:txBody>
      </p:sp>
      <p:sp>
        <p:nvSpPr>
          <p:cNvPr id="3" name="Content Placeholder 2"/>
          <p:cNvSpPr>
            <a:spLocks noGrp="1"/>
          </p:cNvSpPr>
          <p:nvPr>
            <p:ph idx="1"/>
          </p:nvPr>
        </p:nvSpPr>
        <p:spPr/>
        <p:txBody>
          <a:bodyPr/>
          <a:lstStyle/>
          <a:p>
            <a:pPr marL="457200" lvl="0" indent="-368300" algn="l" rtl="0">
              <a:lnSpc>
                <a:spcPct val="130000"/>
              </a:lnSpc>
              <a:spcBef>
                <a:spcPts val="0"/>
              </a:spcBef>
              <a:spcAft>
                <a:spcPts val="0"/>
              </a:spcAft>
              <a:buClr>
                <a:schemeClr val="accent3"/>
              </a:buClr>
              <a:buSzPts val="2200"/>
              <a:buFont typeface="Oswald"/>
              <a:buChar char="▪"/>
            </a:pPr>
            <a:r>
              <a:rPr lang="en-GB" sz="2400">
                <a:latin typeface="Calibri" panose="020F0502020204030204" charset="0"/>
                <a:ea typeface="Oswald"/>
                <a:cs typeface="Calibri" panose="020F0502020204030204" charset="0"/>
                <a:sym typeface="Oswald"/>
              </a:rPr>
              <a:t>First step of Information Gathering (for existing organizations)</a:t>
            </a:r>
            <a:endParaRPr sz="2400">
              <a:latin typeface="Calibri" panose="020F0502020204030204" charset="0"/>
              <a:ea typeface="Oswald"/>
              <a:cs typeface="Calibri" panose="020F0502020204030204" charset="0"/>
              <a:sym typeface="Oswald"/>
            </a:endParaRPr>
          </a:p>
          <a:p>
            <a:pPr marL="457200" lvl="0" indent="-368300" algn="l" rtl="0">
              <a:lnSpc>
                <a:spcPct val="130000"/>
              </a:lnSpc>
              <a:spcBef>
                <a:spcPts val="0"/>
              </a:spcBef>
              <a:spcAft>
                <a:spcPts val="0"/>
              </a:spcAft>
              <a:buClr>
                <a:schemeClr val="accent3"/>
              </a:buClr>
              <a:buSzPts val="2200"/>
              <a:buFont typeface="Oswald"/>
              <a:buChar char="▪"/>
            </a:pPr>
            <a:r>
              <a:rPr lang="en-GB" sz="2400">
                <a:latin typeface="Calibri" panose="020F0502020204030204" charset="0"/>
                <a:ea typeface="Oswald"/>
                <a:cs typeface="Calibri" panose="020F0502020204030204" charset="0"/>
                <a:sym typeface="Oswald"/>
              </a:rPr>
              <a:t>Going through Company Documentations, Manuals, Rules, Forms, Meeting, Government Rules, Yearly Reports etc.</a:t>
            </a:r>
            <a:endParaRPr sz="2400">
              <a:latin typeface="Calibri" panose="020F0502020204030204" charset="0"/>
              <a:ea typeface="Oswald"/>
              <a:cs typeface="Calibri" panose="020F0502020204030204" charset="0"/>
              <a:sym typeface="Oswald"/>
            </a:endParaRPr>
          </a:p>
          <a:p>
            <a:pPr marL="457200" lvl="0" indent="-368300" algn="l" rtl="0">
              <a:lnSpc>
                <a:spcPct val="130000"/>
              </a:lnSpc>
              <a:spcBef>
                <a:spcPts val="0"/>
              </a:spcBef>
              <a:spcAft>
                <a:spcPts val="0"/>
              </a:spcAft>
              <a:buClr>
                <a:schemeClr val="accent3"/>
              </a:buClr>
              <a:buSzPts val="2200"/>
              <a:buFont typeface="Oswald"/>
              <a:buChar char="▪"/>
            </a:pPr>
            <a:r>
              <a:rPr lang="en-GB" sz="2400">
                <a:latin typeface="Calibri" panose="020F0502020204030204" charset="0"/>
                <a:ea typeface="Oswald"/>
                <a:cs typeface="Calibri" panose="020F0502020204030204" charset="0"/>
                <a:sym typeface="Oswald"/>
              </a:rPr>
              <a:t>Will be able to find the General Standards of the system.</a:t>
            </a:r>
            <a:endParaRPr sz="2400">
              <a:latin typeface="Calibri" panose="020F0502020204030204" charset="0"/>
              <a:ea typeface="Oswald"/>
              <a:cs typeface="Calibri" panose="020F0502020204030204" charset="0"/>
              <a:sym typeface="Oswald"/>
            </a:endParaRPr>
          </a:p>
          <a:p>
            <a:pPr marL="0" indent="0">
              <a:buNone/>
            </a:pPr>
            <a:endParaRPr lang="en-US" sz="2400">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US" b="1">
                <a:solidFill>
                  <a:schemeClr val="bg1"/>
                </a:solidFill>
                <a:sym typeface="+mn-ea"/>
              </a:rPr>
              <a:t>1. </a:t>
            </a:r>
            <a:r>
              <a:rPr lang="en-GB" b="1">
                <a:solidFill>
                  <a:schemeClr val="bg1"/>
                </a:solidFill>
                <a:sym typeface="+mn-ea"/>
              </a:rPr>
              <a:t>Review Documents, Procedures, Forms</a:t>
            </a:r>
            <a:endParaRPr lang="en-GB" b="1">
              <a:solidFill>
                <a:schemeClr val="bg1"/>
              </a:solidFill>
              <a:sym typeface="+mn-ea"/>
            </a:endParaRPr>
          </a:p>
        </p:txBody>
      </p:sp>
      <p:sp>
        <p:nvSpPr>
          <p:cNvPr id="4" name="Text Placeholder 3"/>
          <p:cNvSpPr>
            <a:spLocks noGrp="1"/>
          </p:cNvSpPr>
          <p:nvPr>
            <p:ph type="body" idx="1"/>
          </p:nvPr>
        </p:nvSpPr>
        <p:spPr/>
        <p:txBody>
          <a:bodyPr/>
          <a:lstStyle/>
          <a:p>
            <a:r>
              <a:rPr lang="en-GB">
                <a:solidFill>
                  <a:srgbClr val="C00000"/>
                </a:solidFill>
                <a:latin typeface="Oswald"/>
                <a:ea typeface="Oswald"/>
                <a:cs typeface="Oswald"/>
                <a:sym typeface="Oswald"/>
              </a:rPr>
              <a:t>Merits</a:t>
            </a:r>
            <a:endParaRPr lang="en-GB">
              <a:solidFill>
                <a:srgbClr val="C00000"/>
              </a:solidFill>
              <a:latin typeface="Oswald"/>
              <a:ea typeface="Oswald"/>
              <a:cs typeface="Oswald"/>
              <a:sym typeface="Oswald"/>
            </a:endParaRPr>
          </a:p>
        </p:txBody>
      </p:sp>
      <p:sp>
        <p:nvSpPr>
          <p:cNvPr id="5" name="Content Placeholder 4"/>
          <p:cNvSpPr>
            <a:spLocks noGrp="1"/>
          </p:cNvSpPr>
          <p:nvPr>
            <p:ph sz="half" idx="2"/>
          </p:nvPr>
        </p:nvSpPr>
        <p:spPr/>
        <p:txBody>
          <a:bodyPr>
            <a:normAutofit lnSpcReduction="10000"/>
          </a:bodyPr>
          <a:lstStyle/>
          <a:p>
            <a:pPr marL="914400" lvl="0" indent="-342900" algn="l" rtl="0">
              <a:lnSpc>
                <a:spcPct val="130000"/>
              </a:lnSpc>
              <a:spcBef>
                <a:spcPts val="0"/>
              </a:spcBef>
              <a:spcAft>
                <a:spcPts val="0"/>
              </a:spcAft>
              <a:buClr>
                <a:schemeClr val="accent3"/>
              </a:buClr>
              <a:buSzPts val="1800"/>
            </a:pPr>
            <a:r>
              <a:rPr lang="en-GB" sz="2400">
                <a:latin typeface="Calibri" panose="020F0502020204030204" charset="0"/>
                <a:ea typeface="Oswald Light"/>
                <a:cs typeface="Calibri" panose="020F0502020204030204" charset="0"/>
                <a:sym typeface="Oswald Light"/>
              </a:rPr>
              <a:t>Very useful for </a:t>
            </a:r>
            <a:r>
              <a:rPr lang="en-GB" sz="2400">
                <a:solidFill>
                  <a:srgbClr val="C00000"/>
                </a:solidFill>
                <a:latin typeface="Calibri" panose="020F0502020204030204" charset="0"/>
                <a:ea typeface="Oswald Light"/>
                <a:cs typeface="Calibri" panose="020F0502020204030204" charset="0"/>
                <a:sym typeface="Oswald Light"/>
              </a:rPr>
              <a:t>initial concept</a:t>
            </a:r>
            <a:endParaRPr sz="2400">
              <a:solidFill>
                <a:srgbClr val="6AA84F"/>
              </a:solidFill>
              <a:latin typeface="Calibri" panose="020F0502020204030204" charset="0"/>
              <a:ea typeface="Oswald Light"/>
              <a:cs typeface="Calibri" panose="020F0502020204030204" charset="0"/>
              <a:sym typeface="Oswald Light"/>
            </a:endParaRPr>
          </a:p>
          <a:p>
            <a:pPr marL="914400" lvl="0" indent="-342900" algn="l" rtl="0">
              <a:lnSpc>
                <a:spcPct val="130000"/>
              </a:lnSpc>
              <a:spcBef>
                <a:spcPts val="0"/>
              </a:spcBef>
              <a:spcAft>
                <a:spcPts val="0"/>
              </a:spcAft>
              <a:buClr>
                <a:schemeClr val="accent3"/>
              </a:buClr>
              <a:buSzPts val="1800"/>
            </a:pPr>
            <a:r>
              <a:rPr lang="en-GB" sz="2400">
                <a:latin typeface="Calibri" panose="020F0502020204030204" charset="0"/>
                <a:ea typeface="Oswald Light"/>
                <a:cs typeface="Calibri" panose="020F0502020204030204" charset="0"/>
                <a:sym typeface="Oswald Light"/>
              </a:rPr>
              <a:t>Up-to-date </a:t>
            </a:r>
            <a:r>
              <a:rPr lang="en-GB" sz="2400">
                <a:solidFill>
                  <a:srgbClr val="C00000"/>
                </a:solidFill>
                <a:latin typeface="Calibri" panose="020F0502020204030204" charset="0"/>
                <a:ea typeface="Oswald Light"/>
                <a:cs typeface="Calibri" panose="020F0502020204030204" charset="0"/>
                <a:sym typeface="Oswald Light"/>
              </a:rPr>
              <a:t>manual </a:t>
            </a:r>
            <a:r>
              <a:rPr lang="en-GB" sz="2400">
                <a:latin typeface="Calibri" panose="020F0502020204030204" charset="0"/>
                <a:ea typeface="Oswald Light"/>
                <a:cs typeface="Calibri" panose="020F0502020204030204" charset="0"/>
                <a:sym typeface="Oswald Light"/>
              </a:rPr>
              <a:t>saves hours of time.</a:t>
            </a:r>
            <a:endParaRPr sz="2400">
              <a:latin typeface="Calibri" panose="020F0502020204030204" charset="0"/>
              <a:ea typeface="Oswald Light"/>
              <a:cs typeface="Calibri" panose="020F0502020204030204" charset="0"/>
              <a:sym typeface="Oswald Light"/>
            </a:endParaRPr>
          </a:p>
          <a:p>
            <a:pPr marL="914400" lvl="0" indent="-342900" algn="l" rtl="0">
              <a:lnSpc>
                <a:spcPct val="130000"/>
              </a:lnSpc>
              <a:spcBef>
                <a:spcPts val="0"/>
              </a:spcBef>
              <a:spcAft>
                <a:spcPts val="0"/>
              </a:spcAft>
              <a:buClr>
                <a:schemeClr val="accent3"/>
              </a:buClr>
              <a:buSzPts val="1800"/>
            </a:pPr>
            <a:r>
              <a:rPr lang="en-GB" sz="2400">
                <a:latin typeface="Calibri" panose="020F0502020204030204" charset="0"/>
                <a:ea typeface="Oswald Light"/>
                <a:cs typeface="Calibri" panose="020F0502020204030204" charset="0"/>
                <a:sym typeface="Oswald Light"/>
              </a:rPr>
              <a:t>It can determine the basic requirements</a:t>
            </a:r>
            <a:endParaRPr sz="2400">
              <a:latin typeface="Calibri" panose="020F0502020204030204" charset="0"/>
              <a:ea typeface="Oswald Light"/>
              <a:cs typeface="Calibri" panose="020F0502020204030204" charset="0"/>
              <a:sym typeface="Oswald Light"/>
            </a:endParaRPr>
          </a:p>
          <a:p>
            <a:pPr marL="914400" lvl="0" indent="-342900" algn="l" rtl="0">
              <a:lnSpc>
                <a:spcPct val="130000"/>
              </a:lnSpc>
              <a:spcBef>
                <a:spcPts val="0"/>
              </a:spcBef>
              <a:spcAft>
                <a:spcPts val="0"/>
              </a:spcAft>
              <a:buClr>
                <a:schemeClr val="accent3"/>
              </a:buClr>
              <a:buSzPts val="1800"/>
            </a:pPr>
            <a:r>
              <a:rPr lang="en-GB" sz="2400">
                <a:solidFill>
                  <a:srgbClr val="C00000"/>
                </a:solidFill>
                <a:latin typeface="Calibri" panose="020F0502020204030204" charset="0"/>
                <a:ea typeface="Oswald Light"/>
                <a:cs typeface="Calibri" panose="020F0502020204030204" charset="0"/>
                <a:sym typeface="Oswald Light"/>
              </a:rPr>
              <a:t>Printed forms</a:t>
            </a:r>
            <a:r>
              <a:rPr lang="en-GB" sz="2400">
                <a:latin typeface="Calibri" panose="020F0502020204030204" charset="0"/>
                <a:ea typeface="Oswald Light"/>
                <a:cs typeface="Calibri" panose="020F0502020204030204" charset="0"/>
                <a:sym typeface="Oswald Light"/>
              </a:rPr>
              <a:t> are useful in UI designing</a:t>
            </a:r>
            <a:endParaRPr sz="2400">
              <a:latin typeface="Calibri" panose="020F0502020204030204" charset="0"/>
              <a:ea typeface="Oswald Light"/>
              <a:cs typeface="Calibri" panose="020F0502020204030204" charset="0"/>
              <a:sym typeface="Oswald Light"/>
            </a:endParaRPr>
          </a:p>
          <a:p>
            <a:endParaRPr lang="en-US" sz="2400">
              <a:latin typeface="Calibri" panose="020F0502020204030204" charset="0"/>
              <a:ea typeface="Oswald Light"/>
              <a:cs typeface="Calibri" panose="020F0502020204030204" charset="0"/>
              <a:sym typeface="Oswald Light"/>
            </a:endParaRPr>
          </a:p>
        </p:txBody>
      </p:sp>
      <p:sp>
        <p:nvSpPr>
          <p:cNvPr id="6" name="Text Placeholder 5"/>
          <p:cNvSpPr>
            <a:spLocks noGrp="1"/>
          </p:cNvSpPr>
          <p:nvPr>
            <p:ph type="body" sz="quarter" idx="3"/>
          </p:nvPr>
        </p:nvSpPr>
        <p:spPr/>
        <p:txBody>
          <a:bodyPr/>
          <a:lstStyle/>
          <a:p>
            <a:r>
              <a:rPr lang="en-US" altLang="en-GB">
                <a:solidFill>
                  <a:srgbClr val="C00000"/>
                </a:solidFill>
                <a:latin typeface="Oswald"/>
                <a:ea typeface="Oswald"/>
                <a:cs typeface="Oswald"/>
                <a:sym typeface="Oswald"/>
              </a:rPr>
              <a:t>Dem</a:t>
            </a:r>
            <a:r>
              <a:rPr lang="en-GB">
                <a:solidFill>
                  <a:srgbClr val="C00000"/>
                </a:solidFill>
                <a:latin typeface="Oswald"/>
                <a:ea typeface="Oswald"/>
                <a:cs typeface="Oswald"/>
                <a:sym typeface="Oswald"/>
              </a:rPr>
              <a:t>erits</a:t>
            </a:r>
            <a:endParaRPr lang="en-US"/>
          </a:p>
        </p:txBody>
      </p:sp>
      <p:sp>
        <p:nvSpPr>
          <p:cNvPr id="7" name="Content Placeholder 6"/>
          <p:cNvSpPr>
            <a:spLocks noGrp="1"/>
          </p:cNvSpPr>
          <p:nvPr>
            <p:ph sz="quarter" idx="4"/>
          </p:nvPr>
        </p:nvSpPr>
        <p:spPr/>
        <p:txBody>
          <a:bodyPr>
            <a:normAutofit lnSpcReduction="10000"/>
          </a:bodyPr>
          <a:lstStyle/>
          <a:p>
            <a:pPr marL="914400" lvl="0" indent="-342900" algn="l" rtl="0">
              <a:lnSpc>
                <a:spcPct val="130000"/>
              </a:lnSpc>
              <a:spcBef>
                <a:spcPts val="0"/>
              </a:spcBef>
              <a:spcAft>
                <a:spcPts val="0"/>
              </a:spcAft>
              <a:buSzPts val="1800"/>
              <a:buFont typeface="Arial" panose="020B0604020202020204" pitchFamily="34" charset="0"/>
              <a:buChar char="•"/>
            </a:pPr>
            <a:r>
              <a:rPr lang="en-GB" sz="2400">
                <a:solidFill>
                  <a:srgbClr val="C00000"/>
                </a:solidFill>
                <a:latin typeface="Calibri" panose="020F0502020204030204" charset="0"/>
                <a:ea typeface="Oswald Light"/>
                <a:cs typeface="Calibri" panose="020F0502020204030204" charset="0"/>
                <a:sym typeface="Oswald Light"/>
              </a:rPr>
              <a:t>Outdated Manuals</a:t>
            </a:r>
            <a:r>
              <a:rPr lang="en-GB" sz="2400">
                <a:latin typeface="Calibri" panose="020F0502020204030204" charset="0"/>
                <a:ea typeface="Oswald Light"/>
                <a:cs typeface="Calibri" panose="020F0502020204030204" charset="0"/>
                <a:sym typeface="Oswald Light"/>
              </a:rPr>
              <a:t> can not represent the current system</a:t>
            </a:r>
            <a:endParaRPr sz="2400">
              <a:latin typeface="Calibri" panose="020F0502020204030204" charset="0"/>
              <a:ea typeface="Oswald Light"/>
              <a:cs typeface="Calibri" panose="020F0502020204030204" charset="0"/>
              <a:sym typeface="Oswald Light"/>
            </a:endParaRPr>
          </a:p>
          <a:p>
            <a:pPr marL="914400" lvl="0" indent="-342900" algn="l" rtl="0">
              <a:lnSpc>
                <a:spcPct val="130000"/>
              </a:lnSpc>
              <a:spcBef>
                <a:spcPts val="0"/>
              </a:spcBef>
              <a:spcAft>
                <a:spcPts val="0"/>
              </a:spcAft>
              <a:buSzPts val="1800"/>
              <a:buFont typeface="Arial" panose="020B0604020202020204" pitchFamily="34" charset="0"/>
              <a:buChar char="•"/>
            </a:pPr>
            <a:r>
              <a:rPr lang="en-GB" sz="2400">
                <a:latin typeface="Calibri" panose="020F0502020204030204" charset="0"/>
                <a:ea typeface="Oswald Light"/>
                <a:cs typeface="Calibri" panose="020F0502020204030204" charset="0"/>
                <a:sym typeface="Oswald Light"/>
              </a:rPr>
              <a:t>Can not deliver all the required information on a system</a:t>
            </a:r>
            <a:endParaRPr sz="2400">
              <a:latin typeface="Calibri" panose="020F0502020204030204" charset="0"/>
              <a:ea typeface="Oswald Light"/>
              <a:cs typeface="Calibri" panose="020F0502020204030204" charset="0"/>
              <a:sym typeface="Oswald Light"/>
            </a:endParaRPr>
          </a:p>
          <a:p>
            <a:pPr marL="914400" lvl="0" indent="-342900" algn="l" rtl="0">
              <a:lnSpc>
                <a:spcPct val="130000"/>
              </a:lnSpc>
              <a:spcBef>
                <a:spcPts val="0"/>
              </a:spcBef>
              <a:spcAft>
                <a:spcPts val="0"/>
              </a:spcAft>
              <a:buSzPts val="1800"/>
              <a:buFont typeface="Arial" panose="020B0604020202020204" pitchFamily="34" charset="0"/>
              <a:buChar char="•"/>
            </a:pPr>
            <a:r>
              <a:rPr lang="en-GB" sz="2400">
                <a:solidFill>
                  <a:srgbClr val="C00000"/>
                </a:solidFill>
                <a:latin typeface="Calibri" panose="020F0502020204030204" charset="0"/>
                <a:ea typeface="Oswald Light"/>
                <a:cs typeface="Calibri" panose="020F0502020204030204" charset="0"/>
                <a:sym typeface="Oswald Light"/>
              </a:rPr>
              <a:t>Time-consuming</a:t>
            </a:r>
            <a:endParaRPr sz="2400">
              <a:solidFill>
                <a:srgbClr val="C00000"/>
              </a:solidFill>
              <a:latin typeface="Calibri" panose="020F0502020204030204" charset="0"/>
              <a:ea typeface="Oswald Light"/>
              <a:cs typeface="Calibri" panose="020F0502020204030204" charset="0"/>
              <a:sym typeface="Oswald Light"/>
            </a:endParaRPr>
          </a:p>
          <a:p>
            <a:pPr marL="914400" lvl="0" indent="-342900" algn="l" rtl="0">
              <a:lnSpc>
                <a:spcPct val="130000"/>
              </a:lnSpc>
              <a:spcBef>
                <a:spcPts val="0"/>
              </a:spcBef>
              <a:spcAft>
                <a:spcPts val="0"/>
              </a:spcAft>
              <a:buSzPts val="1800"/>
              <a:buFont typeface="Arial" panose="020B0604020202020204" pitchFamily="34" charset="0"/>
              <a:buChar char="•"/>
            </a:pPr>
            <a:r>
              <a:rPr lang="en-GB" sz="2400">
                <a:latin typeface="Calibri" panose="020F0502020204030204" charset="0"/>
                <a:ea typeface="Oswald Light"/>
                <a:cs typeface="Calibri" panose="020F0502020204030204" charset="0"/>
                <a:sym typeface="Oswald Light"/>
              </a:rPr>
              <a:t>Need </a:t>
            </a:r>
            <a:r>
              <a:rPr lang="en-GB" sz="2400">
                <a:solidFill>
                  <a:srgbClr val="C00000"/>
                </a:solidFill>
                <a:latin typeface="Calibri" panose="020F0502020204030204" charset="0"/>
                <a:ea typeface="Oswald Light"/>
                <a:cs typeface="Calibri" panose="020F0502020204030204" charset="0"/>
                <a:sym typeface="Oswald Light"/>
              </a:rPr>
              <a:t>clearance </a:t>
            </a:r>
            <a:r>
              <a:rPr lang="en-GB" sz="2400">
                <a:latin typeface="Calibri" panose="020F0502020204030204" charset="0"/>
                <a:ea typeface="Oswald Light"/>
                <a:cs typeface="Calibri" panose="020F0502020204030204" charset="0"/>
                <a:sym typeface="Oswald Light"/>
              </a:rPr>
              <a:t>/ Need to maintain confidentiality</a:t>
            </a:r>
            <a:endParaRPr lang="en-US" sz="2400">
              <a:latin typeface="Calibri" panose="020F0502020204030204" charset="0"/>
              <a:ea typeface="Oswald"/>
              <a:cs typeface="Calibri" panose="020F0502020204030204" charset="0"/>
              <a:sym typeface="Oswald"/>
            </a:endParaRPr>
          </a:p>
        </p:txBody>
      </p:sp>
      <p:sp>
        <p:nvSpPr>
          <p:cNvPr id="3" name="Footer Placeholder 2"/>
          <p:cNvSpPr>
            <a:spLocks noGrp="1"/>
          </p:cNvSpPr>
          <p:nvPr>
            <p:ph type="ftr" sz="quarter" idx="11"/>
          </p:nvPr>
        </p:nvSpPr>
        <p:spPr/>
        <p:txBody>
          <a:bodyPr/>
          <a:lstStyle/>
          <a:p>
            <a:r>
              <a:rPr lang="en-US"/>
              <a:t>Tasmin Sanjida, Lecturer, CSE, UIU</a:t>
            </a:r>
            <a:endParaRPr lang="en-US"/>
          </a:p>
        </p:txBody>
      </p:sp>
      <p:sp>
        <p:nvSpPr>
          <p:cNvPr id="8" name="Slide Number Placeholder 7"/>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2" name="Google Shape;432;p47"/>
          <p:cNvPicPr preferRelativeResize="0">
            <a:picLocks noChangeAspect="1"/>
          </p:cNvPicPr>
          <p:nvPr>
            <p:ph idx="1"/>
          </p:nvPr>
        </p:nvPicPr>
        <p:blipFill>
          <a:blip r:embed="rId1"/>
          <a:stretch>
            <a:fillRect/>
          </a:stretch>
        </p:blipFill>
        <p:spPr>
          <a:xfrm>
            <a:off x="2761615" y="2119630"/>
            <a:ext cx="6667500" cy="3762375"/>
          </a:xfrm>
          <a:prstGeom prst="rect">
            <a:avLst/>
          </a:prstGeom>
          <a:noFill/>
          <a:ln>
            <a:noFill/>
          </a:ln>
        </p:spPr>
      </p:pic>
      <p:sp>
        <p:nvSpPr>
          <p:cNvPr id="9" name="Title 8"/>
          <p:cNvSpPr>
            <a:spLocks noGrp="1"/>
          </p:cNvSpPr>
          <p:nvPr>
            <p:ph type="title"/>
          </p:nvPr>
        </p:nvSpPr>
        <p:spPr>
          <a:solidFill>
            <a:srgbClr val="FF8000"/>
          </a:solidFill>
          <a:ln>
            <a:solidFill>
              <a:srgbClr val="000000">
                <a:alpha val="0"/>
              </a:srgbClr>
            </a:solidFill>
          </a:ln>
        </p:spPr>
        <p:txBody>
          <a:bodyPr/>
          <a:lstStyle/>
          <a:p>
            <a:r>
              <a:rPr lang="en-US" b="1">
                <a:solidFill>
                  <a:schemeClr val="bg1"/>
                </a:solidFill>
              </a:rPr>
              <a:t>2. </a:t>
            </a:r>
            <a:r>
              <a:rPr lang="en-GB" b="1">
                <a:solidFill>
                  <a:schemeClr val="bg1"/>
                </a:solidFill>
                <a:sym typeface="+mn-ea"/>
              </a:rPr>
              <a:t>On-Site Observation</a:t>
            </a:r>
            <a:endParaRPr lang="en-GB" b="1">
              <a:solidFill>
                <a:schemeClr val="bg1"/>
              </a:solidFill>
              <a:sym typeface="+mn-ea"/>
            </a:endParaRPr>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sp>
        <p:nvSpPr>
          <p:cNvPr id="3" name="Footer Placeholder 2"/>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solidFill>
            <a:srgbClr val="FF8000"/>
          </a:solidFill>
          <a:ln>
            <a:solidFill>
              <a:srgbClr val="000000">
                <a:alpha val="0"/>
              </a:srgbClr>
            </a:solidFill>
          </a:ln>
        </p:spPr>
        <p:txBody>
          <a:bodyPr/>
          <a:lstStyle/>
          <a:p>
            <a:r>
              <a:rPr lang="en-US" b="1">
                <a:solidFill>
                  <a:schemeClr val="bg1"/>
                </a:solidFill>
              </a:rPr>
              <a:t>2. </a:t>
            </a:r>
            <a:r>
              <a:rPr lang="en-GB" b="1">
                <a:solidFill>
                  <a:schemeClr val="bg1"/>
                </a:solidFill>
                <a:sym typeface="+mn-ea"/>
              </a:rPr>
              <a:t>On-Site Observation</a:t>
            </a:r>
            <a:endParaRPr lang="en-GB" b="1">
              <a:solidFill>
                <a:schemeClr val="bg1"/>
              </a:solidFill>
              <a:sym typeface="+mn-ea"/>
            </a:endParaRPr>
          </a:p>
        </p:txBody>
      </p:sp>
      <p:sp>
        <p:nvSpPr>
          <p:cNvPr id="2" name="Footer Placeholder 1"/>
          <p:cNvSpPr>
            <a:spLocks noGrp="1"/>
          </p:cNvSpPr>
          <p:nvPr>
            <p:ph type="ftr" sz="quarter" idx="11"/>
          </p:nvPr>
        </p:nvSpPr>
        <p:spPr/>
        <p:txBody>
          <a:bodyPr/>
          <a:lstStyle/>
          <a:p>
            <a:r>
              <a:rPr lang="en-US"/>
              <a:t>Tasmin Sanjida, Lecturer, CSE, UIU</a:t>
            </a:r>
            <a:endParaRPr lang="en-US"/>
          </a:p>
        </p:txBody>
      </p:sp>
      <p:sp>
        <p:nvSpPr>
          <p:cNvPr id="3" name="Slide Number Placeholder 2"/>
          <p:cNvSpPr>
            <a:spLocks noGrp="1"/>
          </p:cNvSpPr>
          <p:nvPr>
            <p:ph type="sldNum" sz="quarter" idx="12"/>
          </p:nvPr>
        </p:nvSpPr>
        <p:spPr/>
        <p:txBody>
          <a:bodyPr/>
          <a:lstStyle/>
          <a:p>
            <a:fld id="{9B618960-8005-486C-9A75-10CB2AAC16F9}" type="slidenum">
              <a:rPr lang="en-US" smtClean="0"/>
            </a:fld>
            <a:endParaRPr lang="en-US"/>
          </a:p>
        </p:txBody>
      </p:sp>
      <p:sp>
        <p:nvSpPr>
          <p:cNvPr id="4" name="Content Placeholder 2"/>
          <p:cNvSpPr>
            <a:spLocks noGrp="1"/>
          </p:cNvSpPr>
          <p:nvPr/>
        </p:nvSpPr>
        <p:spPr>
          <a:xfrm>
            <a:off x="838200" y="1691005"/>
            <a:ext cx="10515600" cy="4351655"/>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0" indent="-342900" algn="l" rtl="0">
              <a:lnSpc>
                <a:spcPct val="130000"/>
              </a:lnSpc>
              <a:spcBef>
                <a:spcPts val="0"/>
              </a:spcBef>
              <a:spcAft>
                <a:spcPts val="0"/>
              </a:spcAft>
              <a:buSzPts val="1800"/>
              <a:buFont typeface="Oswald"/>
              <a:buChar char="▪"/>
            </a:pPr>
            <a:r>
              <a:rPr lang="en-GB" sz="2400">
                <a:latin typeface="Calibri" panose="020F0502020204030204" charset="0"/>
                <a:ea typeface="Oswald"/>
                <a:cs typeface="Calibri" panose="020F0502020204030204" charset="0"/>
                <a:sym typeface="Oswald"/>
              </a:rPr>
              <a:t>Recognizing and noting people, objects and the environment along with the activities</a:t>
            </a:r>
            <a:endParaRPr sz="2400">
              <a:latin typeface="Calibri" panose="020F0502020204030204" charset="0"/>
              <a:ea typeface="Oswald"/>
              <a:cs typeface="Calibri" panose="020F0502020204030204" charset="0"/>
              <a:sym typeface="Oswald"/>
            </a:endParaRPr>
          </a:p>
          <a:p>
            <a:pPr marL="457200" lvl="0" indent="-342900" algn="l" rtl="0">
              <a:lnSpc>
                <a:spcPct val="130000"/>
              </a:lnSpc>
              <a:spcBef>
                <a:spcPts val="0"/>
              </a:spcBef>
              <a:spcAft>
                <a:spcPts val="0"/>
              </a:spcAft>
              <a:buSzPts val="1800"/>
              <a:buFont typeface="Oswald"/>
              <a:buChar char="▪"/>
            </a:pPr>
            <a:r>
              <a:rPr lang="en-GB" sz="2400">
                <a:latin typeface="Calibri" panose="020F0502020204030204" charset="0"/>
                <a:ea typeface="Oswald"/>
                <a:cs typeface="Calibri" panose="020F0502020204030204" charset="0"/>
                <a:sym typeface="Oswald"/>
              </a:rPr>
              <a:t>Major objective is to get as close as possible to the real system being studied</a:t>
            </a:r>
            <a:endParaRPr sz="2400">
              <a:latin typeface="Calibri" panose="020F0502020204030204" charset="0"/>
              <a:ea typeface="Oswald"/>
              <a:cs typeface="Calibri" panose="020F0502020204030204" charset="0"/>
              <a:sym typeface="Oswald"/>
            </a:endParaRPr>
          </a:p>
          <a:p>
            <a:pPr marL="457200" lvl="0" indent="-342900" algn="l" rtl="0">
              <a:lnSpc>
                <a:spcPct val="130000"/>
              </a:lnSpc>
              <a:spcBef>
                <a:spcPts val="0"/>
              </a:spcBef>
              <a:spcAft>
                <a:spcPts val="0"/>
              </a:spcAft>
              <a:buSzPts val="1800"/>
              <a:buFont typeface="Oswald"/>
              <a:buChar char="▪"/>
            </a:pPr>
            <a:r>
              <a:rPr lang="en-GB" sz="2400">
                <a:latin typeface="Calibri" panose="020F0502020204030204" charset="0"/>
                <a:ea typeface="Oswald"/>
                <a:cs typeface="Calibri" panose="020F0502020204030204" charset="0"/>
                <a:sym typeface="Oswald"/>
              </a:rPr>
              <a:t>Analyst (the one tasked with the on-site observation) is expected to be detached from the system which is being observed.</a:t>
            </a:r>
            <a:endParaRPr sz="2400">
              <a:latin typeface="Calibri" panose="020F0502020204030204" charset="0"/>
              <a:ea typeface="Oswald"/>
              <a:cs typeface="Calibri" panose="020F0502020204030204" charset="0"/>
              <a:sym typeface="Oswald"/>
            </a:endParaRPr>
          </a:p>
          <a:p>
            <a:pPr marL="457200" lvl="0" indent="-342900" algn="l" rtl="0">
              <a:lnSpc>
                <a:spcPct val="130000"/>
              </a:lnSpc>
              <a:spcBef>
                <a:spcPts val="0"/>
              </a:spcBef>
              <a:spcAft>
                <a:spcPts val="0"/>
              </a:spcAft>
              <a:buSzPts val="1800"/>
              <a:buFont typeface="Oswald"/>
              <a:buChar char="▪"/>
            </a:pPr>
            <a:r>
              <a:rPr lang="en-GB" sz="2400">
                <a:latin typeface="Calibri" panose="020F0502020204030204" charset="0"/>
                <a:ea typeface="Oswald"/>
                <a:cs typeface="Calibri" panose="020F0502020204030204" charset="0"/>
                <a:sym typeface="Oswald"/>
              </a:rPr>
              <a:t>Carried out in-person, through video recordings, labs, etc.</a:t>
            </a:r>
            <a:endParaRPr sz="2400">
              <a:latin typeface="Calibri" panose="020F0502020204030204" charset="0"/>
              <a:ea typeface="Oswald"/>
              <a:cs typeface="Calibri" panose="020F0502020204030204" charset="0"/>
              <a:sym typeface="Oswald"/>
            </a:endParaRPr>
          </a:p>
          <a:p>
            <a:pPr marL="0" indent="0">
              <a:buNone/>
            </a:pPr>
            <a:r>
              <a:rPr lang="en-US" altLang="en-US" sz="2400" dirty="0">
                <a:latin typeface="Calibri" panose="020F0502020204030204" charset="0"/>
                <a:ea typeface="Oswald"/>
                <a:cs typeface="Calibri" panose="020F0502020204030204" charset="0"/>
                <a:sym typeface="Oswald"/>
              </a:rPr>
              <a:t>Two types of observation:</a:t>
            </a:r>
            <a:endParaRPr lang="en-US" altLang="en-US" sz="2400" dirty="0">
              <a:latin typeface="Calibri" panose="020F0502020204030204" charset="0"/>
              <a:ea typeface="Oswald"/>
              <a:cs typeface="Calibri" panose="020F0502020204030204" charset="0"/>
              <a:sym typeface="Oswald"/>
            </a:endParaRPr>
          </a:p>
          <a:p>
            <a:r>
              <a:rPr lang="en-US" altLang="en-US" sz="2400" b="1" dirty="0">
                <a:latin typeface="Calibri" panose="020F0502020204030204" charset="0"/>
                <a:ea typeface="Oswald"/>
                <a:cs typeface="Calibri" panose="020F0502020204030204" charset="0"/>
                <a:sym typeface="Oswald"/>
              </a:rPr>
              <a:t>Obtrusive</a:t>
            </a:r>
            <a:r>
              <a:rPr lang="en-US" altLang="en-US" sz="2400" dirty="0">
                <a:latin typeface="Calibri" panose="020F0502020204030204" charset="0"/>
                <a:ea typeface="Oswald"/>
                <a:cs typeface="Calibri" panose="020F0502020204030204" charset="0"/>
                <a:sym typeface="Oswald"/>
              </a:rPr>
              <a:t>: People know they are being observed.</a:t>
            </a:r>
            <a:endParaRPr lang="en-US" altLang="en-US" sz="2400" dirty="0">
              <a:latin typeface="Calibri" panose="020F0502020204030204" charset="0"/>
              <a:ea typeface="Oswald"/>
              <a:cs typeface="Calibri" panose="020F0502020204030204" charset="0"/>
              <a:sym typeface="Oswald"/>
            </a:endParaRPr>
          </a:p>
          <a:p>
            <a:r>
              <a:rPr lang="en-US" altLang="en-US" sz="2400" b="1" dirty="0">
                <a:latin typeface="Calibri" panose="020F0502020204030204" charset="0"/>
                <a:ea typeface="Oswald"/>
                <a:cs typeface="Calibri" panose="020F0502020204030204" charset="0"/>
                <a:sym typeface="Oswald"/>
              </a:rPr>
              <a:t>Unobtrusive</a:t>
            </a:r>
            <a:r>
              <a:rPr lang="en-US" altLang="en-US" sz="2400" dirty="0">
                <a:latin typeface="Calibri" panose="020F0502020204030204" charset="0"/>
                <a:ea typeface="Oswald"/>
                <a:cs typeface="Calibri" panose="020F0502020204030204" charset="0"/>
                <a:sym typeface="Oswald"/>
              </a:rPr>
              <a:t>: People do not know they are being observed.</a:t>
            </a:r>
            <a:endParaRPr lang="en-US" altLang="en-US" sz="2400" dirty="0">
              <a:latin typeface="Calibri" panose="020F0502020204030204" charset="0"/>
              <a:ea typeface="Oswald"/>
              <a:cs typeface="Calibri" panose="020F0502020204030204" charset="0"/>
              <a:sym typeface="Oswald"/>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US" b="1" dirty="0">
                <a:solidFill>
                  <a:schemeClr val="bg1"/>
                </a:solidFill>
                <a:sym typeface="+mn-ea"/>
              </a:rPr>
              <a:t>2. </a:t>
            </a:r>
            <a:r>
              <a:rPr lang="en-GB" b="1" dirty="0">
                <a:solidFill>
                  <a:schemeClr val="bg1"/>
                </a:solidFill>
                <a:sym typeface="+mn-ea"/>
              </a:rPr>
              <a:t>On-Site Observation</a:t>
            </a:r>
            <a:endParaRPr lang="en-GB" b="1" dirty="0">
              <a:solidFill>
                <a:schemeClr val="bg1"/>
              </a:solidFill>
              <a:sym typeface="+mn-ea"/>
            </a:endParaRPr>
          </a:p>
        </p:txBody>
      </p:sp>
      <p:sp>
        <p:nvSpPr>
          <p:cNvPr id="4" name="Text Placeholder 3"/>
          <p:cNvSpPr>
            <a:spLocks noGrp="1"/>
          </p:cNvSpPr>
          <p:nvPr>
            <p:ph type="body" idx="1"/>
          </p:nvPr>
        </p:nvSpPr>
        <p:spPr/>
        <p:txBody>
          <a:bodyPr/>
          <a:lstStyle/>
          <a:p>
            <a:r>
              <a:rPr lang="en-GB">
                <a:solidFill>
                  <a:srgbClr val="C00000"/>
                </a:solidFill>
                <a:latin typeface="Oswald"/>
                <a:ea typeface="Oswald"/>
                <a:cs typeface="Oswald"/>
                <a:sym typeface="Oswald"/>
              </a:rPr>
              <a:t>Merits</a:t>
            </a:r>
            <a:endParaRPr lang="en-US"/>
          </a:p>
        </p:txBody>
      </p:sp>
      <p:sp>
        <p:nvSpPr>
          <p:cNvPr id="5" name="Content Placeholder 4"/>
          <p:cNvSpPr>
            <a:spLocks noGrp="1"/>
          </p:cNvSpPr>
          <p:nvPr>
            <p:ph sz="half" idx="2"/>
          </p:nvPr>
        </p:nvSpPr>
        <p:spPr/>
        <p:txBody>
          <a:bodyPr/>
          <a:lstStyle/>
          <a:p>
            <a:pPr lvl="0" algn="l" rtl="0">
              <a:lnSpc>
                <a:spcPct val="130000"/>
              </a:lnSpc>
              <a:spcBef>
                <a:spcPts val="0"/>
              </a:spcBef>
              <a:spcAft>
                <a:spcPts val="0"/>
              </a:spcAft>
              <a:buSzPts val="1800"/>
            </a:pPr>
            <a:r>
              <a:rPr lang="en-GB" sz="2400">
                <a:solidFill>
                  <a:srgbClr val="C00000"/>
                </a:solidFill>
                <a:latin typeface="Calibri" panose="020F0502020204030204" charset="0"/>
                <a:ea typeface="Oswald Light"/>
                <a:cs typeface="Calibri" panose="020F0502020204030204" charset="0"/>
                <a:sym typeface="Oswald Light"/>
              </a:rPr>
              <a:t>Real-time</a:t>
            </a:r>
            <a:r>
              <a:rPr lang="en-GB" sz="2400">
                <a:latin typeface="Calibri" panose="020F0502020204030204" charset="0"/>
                <a:ea typeface="Oswald Light"/>
                <a:cs typeface="Calibri" panose="020F0502020204030204" charset="0"/>
                <a:sym typeface="Oswald Light"/>
              </a:rPr>
              <a:t> Information</a:t>
            </a:r>
            <a:endParaRPr lang="en-GB" sz="2400">
              <a:latin typeface="Calibri" panose="020F0502020204030204" charset="0"/>
              <a:ea typeface="Oswald Light"/>
              <a:cs typeface="Calibri" panose="020F0502020204030204" charset="0"/>
              <a:sym typeface="Oswald Light"/>
            </a:endParaRPr>
          </a:p>
          <a:p>
            <a:pPr lvl="0" algn="l" rtl="0">
              <a:lnSpc>
                <a:spcPct val="130000"/>
              </a:lnSpc>
              <a:spcBef>
                <a:spcPts val="0"/>
              </a:spcBef>
              <a:spcAft>
                <a:spcPts val="0"/>
              </a:spcAft>
              <a:buSzPts val="1800"/>
            </a:pPr>
            <a:r>
              <a:rPr sz="2400">
                <a:latin typeface="Calibri" panose="020F0502020204030204" charset="0"/>
                <a:ea typeface="Oswald Light"/>
                <a:cs typeface="Calibri" panose="020F0502020204030204" charset="0"/>
                <a:sym typeface="Oswald Light"/>
              </a:rPr>
              <a:t>Contextual Understanding</a:t>
            </a:r>
            <a:endParaRPr sz="2400">
              <a:latin typeface="Calibri" panose="020F0502020204030204" charset="0"/>
              <a:ea typeface="Oswald Light"/>
              <a:cs typeface="Calibri" panose="020F0502020204030204" charset="0"/>
              <a:sym typeface="Oswald Light"/>
            </a:endParaRPr>
          </a:p>
          <a:p>
            <a:pPr lvl="0" algn="l" rtl="0">
              <a:lnSpc>
                <a:spcPct val="130000"/>
              </a:lnSpc>
              <a:spcBef>
                <a:spcPts val="0"/>
              </a:spcBef>
              <a:spcAft>
                <a:spcPts val="0"/>
              </a:spcAft>
              <a:buSzPts val="1800"/>
            </a:pPr>
            <a:r>
              <a:rPr lang="en-GB" sz="2400">
                <a:latin typeface="Calibri" panose="020F0502020204030204" charset="0"/>
                <a:ea typeface="Oswald Light"/>
                <a:cs typeface="Calibri" panose="020F0502020204030204" charset="0"/>
                <a:sym typeface="Oswald Light"/>
              </a:rPr>
              <a:t>Allows a </a:t>
            </a:r>
            <a:r>
              <a:rPr lang="en-GB" sz="2400">
                <a:solidFill>
                  <a:srgbClr val="C00000"/>
                </a:solidFill>
                <a:latin typeface="Calibri" panose="020F0502020204030204" charset="0"/>
                <a:ea typeface="Oswald Light"/>
                <a:cs typeface="Calibri" panose="020F0502020204030204" charset="0"/>
                <a:sym typeface="Oswald Light"/>
              </a:rPr>
              <a:t>closer connection </a:t>
            </a:r>
            <a:r>
              <a:rPr lang="en-GB" sz="2400">
                <a:latin typeface="Calibri" panose="020F0502020204030204" charset="0"/>
                <a:ea typeface="Oswald Light"/>
                <a:cs typeface="Calibri" panose="020F0502020204030204" charset="0"/>
                <a:sym typeface="Oswald Light"/>
              </a:rPr>
              <a:t>with the organization</a:t>
            </a:r>
            <a:endParaRPr sz="2400">
              <a:latin typeface="Calibri" panose="020F0502020204030204" charset="0"/>
              <a:ea typeface="Oswald Light"/>
              <a:cs typeface="Calibri" panose="020F0502020204030204" charset="0"/>
              <a:sym typeface="Oswald Light"/>
            </a:endParaRPr>
          </a:p>
          <a:p>
            <a:pPr lvl="0" algn="l" rtl="0">
              <a:lnSpc>
                <a:spcPct val="130000"/>
              </a:lnSpc>
              <a:spcBef>
                <a:spcPts val="0"/>
              </a:spcBef>
              <a:spcAft>
                <a:spcPts val="0"/>
              </a:spcAft>
              <a:buSzPts val="1800"/>
            </a:pPr>
            <a:r>
              <a:rPr lang="en-GB" sz="2400">
                <a:latin typeface="Calibri" panose="020F0502020204030204" charset="0"/>
                <a:ea typeface="Oswald Light"/>
                <a:cs typeface="Calibri" panose="020F0502020204030204" charset="0"/>
                <a:sym typeface="Oswald Light"/>
              </a:rPr>
              <a:t>Exact problem could be identified</a:t>
            </a:r>
            <a:endParaRPr lang="en-GB" sz="2400">
              <a:latin typeface="Calibri" panose="020F0502020204030204" charset="0"/>
              <a:ea typeface="Oswald Light"/>
              <a:cs typeface="Calibri" panose="020F0502020204030204" charset="0"/>
              <a:sym typeface="Oswald Light"/>
            </a:endParaRPr>
          </a:p>
          <a:p>
            <a:pPr marL="0" indent="0">
              <a:buNone/>
            </a:pPr>
            <a:endParaRPr lang="en-US" sz="2400">
              <a:latin typeface="Calibri" panose="020F0502020204030204" charset="0"/>
              <a:ea typeface="Oswald Light"/>
              <a:cs typeface="Calibri" panose="020F0502020204030204" charset="0"/>
              <a:sym typeface="Oswald Light"/>
            </a:endParaRPr>
          </a:p>
        </p:txBody>
      </p:sp>
      <p:sp>
        <p:nvSpPr>
          <p:cNvPr id="6" name="Text Placeholder 5"/>
          <p:cNvSpPr>
            <a:spLocks noGrp="1"/>
          </p:cNvSpPr>
          <p:nvPr>
            <p:ph type="body" sz="quarter" idx="3"/>
          </p:nvPr>
        </p:nvSpPr>
        <p:spPr/>
        <p:txBody>
          <a:bodyPr/>
          <a:lstStyle/>
          <a:p>
            <a:r>
              <a:rPr lang="en-US" altLang="en-GB">
                <a:solidFill>
                  <a:srgbClr val="C00000"/>
                </a:solidFill>
                <a:latin typeface="Oswald"/>
                <a:ea typeface="Oswald"/>
                <a:cs typeface="Oswald"/>
                <a:sym typeface="Oswald"/>
              </a:rPr>
              <a:t>Dem</a:t>
            </a:r>
            <a:r>
              <a:rPr lang="en-GB">
                <a:solidFill>
                  <a:srgbClr val="C00000"/>
                </a:solidFill>
                <a:latin typeface="Oswald"/>
                <a:ea typeface="Oswald"/>
                <a:cs typeface="Oswald"/>
                <a:sym typeface="Oswald"/>
              </a:rPr>
              <a:t>erits</a:t>
            </a:r>
            <a:endParaRPr lang="en-US"/>
          </a:p>
        </p:txBody>
      </p:sp>
      <p:sp>
        <p:nvSpPr>
          <p:cNvPr id="7" name="Content Placeholder 6"/>
          <p:cNvSpPr>
            <a:spLocks noGrp="1"/>
          </p:cNvSpPr>
          <p:nvPr>
            <p:ph sz="quarter" idx="4"/>
          </p:nvPr>
        </p:nvSpPr>
        <p:spPr/>
        <p:txBody>
          <a:bodyPr>
            <a:normAutofit lnSpcReduction="10000"/>
          </a:bodyPr>
          <a:lstStyle/>
          <a:p>
            <a:pPr lvl="0" algn="l" rtl="0">
              <a:lnSpc>
                <a:spcPct val="130000"/>
              </a:lnSpc>
              <a:spcBef>
                <a:spcPts val="0"/>
              </a:spcBef>
              <a:spcAft>
                <a:spcPts val="0"/>
              </a:spcAft>
              <a:buSzPts val="1800"/>
            </a:pPr>
            <a:r>
              <a:rPr lang="en-GB" sz="2400">
                <a:latin typeface="Calibri" panose="020F0502020204030204" charset="0"/>
                <a:ea typeface="Oswald Light"/>
                <a:cs typeface="Calibri" panose="020F0502020204030204" charset="0"/>
                <a:sym typeface="Oswald Light"/>
              </a:rPr>
              <a:t>Attitudes and motivations may not be observed properly, rather, </a:t>
            </a:r>
            <a:r>
              <a:rPr lang="en-GB" sz="2400">
                <a:solidFill>
                  <a:srgbClr val="C00000"/>
                </a:solidFill>
                <a:latin typeface="Calibri" panose="020F0502020204030204" charset="0"/>
                <a:ea typeface="Oswald Light"/>
                <a:cs typeface="Calibri" panose="020F0502020204030204" charset="0"/>
                <a:sym typeface="Oswald Light"/>
              </a:rPr>
              <a:t>only the actions</a:t>
            </a:r>
            <a:r>
              <a:rPr lang="en-GB" sz="2400">
                <a:latin typeface="Calibri" panose="020F0502020204030204" charset="0"/>
                <a:ea typeface="Oswald Light"/>
                <a:cs typeface="Calibri" panose="020F0502020204030204" charset="0"/>
                <a:sym typeface="Oswald Light"/>
              </a:rPr>
              <a:t> are observed</a:t>
            </a:r>
            <a:endParaRPr sz="2400">
              <a:latin typeface="Calibri" panose="020F0502020204030204" charset="0"/>
              <a:ea typeface="Oswald Light"/>
              <a:cs typeface="Calibri" panose="020F0502020204030204" charset="0"/>
              <a:sym typeface="Oswald Light"/>
            </a:endParaRPr>
          </a:p>
          <a:p>
            <a:pPr lvl="0" algn="l" rtl="0">
              <a:lnSpc>
                <a:spcPct val="130000"/>
              </a:lnSpc>
              <a:spcBef>
                <a:spcPts val="0"/>
              </a:spcBef>
              <a:spcAft>
                <a:spcPts val="0"/>
              </a:spcAft>
              <a:buSzPts val="1800"/>
            </a:pPr>
            <a:r>
              <a:rPr lang="en-GB" sz="2400">
                <a:solidFill>
                  <a:srgbClr val="C00000"/>
                </a:solidFill>
                <a:latin typeface="Calibri" panose="020F0502020204030204" charset="0"/>
                <a:ea typeface="Oswald Light"/>
                <a:cs typeface="Calibri" panose="020F0502020204030204" charset="0"/>
                <a:sym typeface="Oswald Light"/>
              </a:rPr>
              <a:t>In-depth analysis</a:t>
            </a:r>
            <a:r>
              <a:rPr lang="en-GB" sz="2400">
                <a:latin typeface="Calibri" panose="020F0502020204030204" charset="0"/>
                <a:ea typeface="Oswald Light"/>
                <a:cs typeface="Calibri" panose="020F0502020204030204" charset="0"/>
                <a:sym typeface="Oswald Light"/>
              </a:rPr>
              <a:t> is missing</a:t>
            </a:r>
            <a:endParaRPr sz="2400">
              <a:latin typeface="Calibri" panose="020F0502020204030204" charset="0"/>
              <a:ea typeface="Oswald Light"/>
              <a:cs typeface="Calibri" panose="020F0502020204030204" charset="0"/>
              <a:sym typeface="Oswald Light"/>
            </a:endParaRPr>
          </a:p>
          <a:p>
            <a:pPr lvl="0" algn="l" rtl="0">
              <a:lnSpc>
                <a:spcPct val="130000"/>
              </a:lnSpc>
              <a:spcBef>
                <a:spcPts val="0"/>
              </a:spcBef>
              <a:spcAft>
                <a:spcPts val="0"/>
              </a:spcAft>
              <a:buSzPts val="1800"/>
            </a:pPr>
            <a:r>
              <a:rPr lang="en-GB" sz="2400">
                <a:latin typeface="Calibri" panose="020F0502020204030204" charset="0"/>
                <a:ea typeface="Oswald Light"/>
                <a:cs typeface="Calibri" panose="020F0502020204030204" charset="0"/>
                <a:sym typeface="Oswald Light"/>
              </a:rPr>
              <a:t>Respondents may </a:t>
            </a:r>
            <a:r>
              <a:rPr lang="en-GB" sz="2400">
                <a:solidFill>
                  <a:srgbClr val="C00000"/>
                </a:solidFill>
                <a:latin typeface="Calibri" panose="020F0502020204030204" charset="0"/>
                <a:ea typeface="Oswald Light"/>
                <a:cs typeface="Calibri" panose="020F0502020204030204" charset="0"/>
                <a:sym typeface="Oswald Light"/>
              </a:rPr>
              <a:t>behave differently</a:t>
            </a:r>
            <a:r>
              <a:rPr lang="en-GB" sz="2400">
                <a:latin typeface="Calibri" panose="020F0502020204030204" charset="0"/>
                <a:ea typeface="Oswald Light"/>
                <a:cs typeface="Calibri" panose="020F0502020204030204" charset="0"/>
                <a:sym typeface="Oswald Light"/>
              </a:rPr>
              <a:t> due to presence of observer</a:t>
            </a:r>
            <a:endParaRPr sz="2400">
              <a:latin typeface="Calibri" panose="020F0502020204030204" charset="0"/>
              <a:ea typeface="Oswald Light"/>
              <a:cs typeface="Calibri" panose="020F0502020204030204" charset="0"/>
              <a:sym typeface="Oswald Light"/>
            </a:endParaRPr>
          </a:p>
          <a:p>
            <a:pPr lvl="0" algn="l" rtl="0">
              <a:lnSpc>
                <a:spcPct val="130000"/>
              </a:lnSpc>
              <a:spcBef>
                <a:spcPts val="0"/>
              </a:spcBef>
              <a:spcAft>
                <a:spcPts val="0"/>
              </a:spcAft>
              <a:buSzPts val="1800"/>
            </a:pPr>
            <a:r>
              <a:rPr lang="en-GB" sz="2400">
                <a:solidFill>
                  <a:srgbClr val="C00000"/>
                </a:solidFill>
                <a:latin typeface="Calibri" panose="020F0502020204030204" charset="0"/>
                <a:ea typeface="Oswald Light"/>
                <a:cs typeface="Calibri" panose="020F0502020204030204" charset="0"/>
                <a:sym typeface="Oswald Light"/>
              </a:rPr>
              <a:t>Time-consuming</a:t>
            </a:r>
            <a:endParaRPr sz="2400">
              <a:solidFill>
                <a:srgbClr val="C00000"/>
              </a:solidFill>
              <a:latin typeface="Calibri" panose="020F0502020204030204" charset="0"/>
              <a:ea typeface="Oswald Light"/>
              <a:cs typeface="Calibri" panose="020F0502020204030204" charset="0"/>
              <a:sym typeface="Oswald Light"/>
            </a:endParaRPr>
          </a:p>
          <a:p>
            <a:pPr marL="0" indent="0">
              <a:buNone/>
            </a:pPr>
            <a:endParaRPr lang="en-US" sz="2400">
              <a:solidFill>
                <a:srgbClr val="C00000"/>
              </a:solidFill>
              <a:latin typeface="Calibri" panose="020F0502020204030204" charset="0"/>
              <a:ea typeface="Oswald Light"/>
              <a:cs typeface="Calibri" panose="020F0502020204030204" charset="0"/>
              <a:sym typeface="Oswald Light"/>
            </a:endParaRPr>
          </a:p>
        </p:txBody>
      </p:sp>
      <p:sp>
        <p:nvSpPr>
          <p:cNvPr id="3" name="Footer Placeholder 2"/>
          <p:cNvSpPr>
            <a:spLocks noGrp="1"/>
          </p:cNvSpPr>
          <p:nvPr>
            <p:ph type="ftr" sz="quarter" idx="11"/>
          </p:nvPr>
        </p:nvSpPr>
        <p:spPr/>
        <p:txBody>
          <a:bodyPr/>
          <a:lstStyle/>
          <a:p>
            <a:r>
              <a:rPr lang="en-US"/>
              <a:t>Tasmin Sanjida, Lecturer, CSE, UIU</a:t>
            </a:r>
            <a:endParaRPr lang="en-US"/>
          </a:p>
        </p:txBody>
      </p:sp>
      <p:sp>
        <p:nvSpPr>
          <p:cNvPr id="8" name="Slide Number Placeholder 7"/>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825625"/>
            <a:ext cx="5523865" cy="4351655"/>
          </a:xfrm>
        </p:spPr>
        <p:txBody>
          <a:bodyPr/>
          <a:lstStyle/>
          <a:p>
            <a:pPr marL="0" indent="0">
              <a:buNone/>
            </a:pPr>
            <a:r>
              <a:rPr lang="en-US" sz="2400">
                <a:latin typeface="Calibri" panose="020F0502020204030204" charset="0"/>
                <a:ea typeface="Oswald"/>
                <a:cs typeface="Calibri" panose="020F0502020204030204" charset="0"/>
                <a:sym typeface="Oswald"/>
              </a:rPr>
              <a:t>A face-to-face situation in which a person (</a:t>
            </a:r>
            <a:r>
              <a:rPr lang="en-US" sz="2400">
                <a:solidFill>
                  <a:srgbClr val="C00000"/>
                </a:solidFill>
                <a:latin typeface="Calibri" panose="020F0502020204030204" charset="0"/>
                <a:ea typeface="Oswald"/>
                <a:cs typeface="Calibri" panose="020F0502020204030204" charset="0"/>
                <a:sym typeface="Oswald"/>
              </a:rPr>
              <a:t>interviewer</a:t>
            </a:r>
            <a:r>
              <a:rPr lang="en-US" sz="2400">
                <a:latin typeface="Calibri" panose="020F0502020204030204" charset="0"/>
                <a:ea typeface="Oswald"/>
                <a:cs typeface="Calibri" panose="020F0502020204030204" charset="0"/>
                <a:sym typeface="Oswald"/>
              </a:rPr>
              <a:t>) asks a designated person being interviewed (</a:t>
            </a:r>
            <a:r>
              <a:rPr lang="en-US" sz="2400">
                <a:solidFill>
                  <a:srgbClr val="C00000"/>
                </a:solidFill>
                <a:latin typeface="Calibri" panose="020F0502020204030204" charset="0"/>
                <a:ea typeface="Oswald"/>
                <a:cs typeface="Calibri" panose="020F0502020204030204" charset="0"/>
                <a:sym typeface="Oswald"/>
              </a:rPr>
              <a:t>interviewee</a:t>
            </a:r>
            <a:r>
              <a:rPr lang="en-US" sz="2400">
                <a:latin typeface="Calibri" panose="020F0502020204030204" charset="0"/>
                <a:ea typeface="Oswald"/>
                <a:cs typeface="Calibri" panose="020F0502020204030204" charset="0"/>
                <a:sym typeface="Oswald"/>
              </a:rPr>
              <a:t>) relevant questions which are designed to gather information about a problem area</a:t>
            </a:r>
            <a:endParaRPr lang="en-US" sz="2400">
              <a:latin typeface="Calibri" panose="020F0502020204030204" charset="0"/>
              <a:ea typeface="Oswald"/>
              <a:cs typeface="Calibri" panose="020F0502020204030204" charset="0"/>
              <a:sym typeface="Oswald"/>
            </a:endParaRPr>
          </a:p>
          <a:p>
            <a:pPr marL="0" indent="0">
              <a:buNone/>
            </a:pPr>
            <a:endParaRPr lang="en-US" sz="2400" dirty="0">
              <a:latin typeface="Calibri" panose="020F0502020204030204" charset="0"/>
              <a:ea typeface="Oswald"/>
              <a:cs typeface="Calibri" panose="020F0502020204030204" charset="0"/>
              <a:sym typeface="Oswald"/>
            </a:endParaRPr>
          </a:p>
        </p:txBody>
      </p:sp>
      <p:sp>
        <p:nvSpPr>
          <p:cNvPr id="3" name="Title 1"/>
          <p:cNvSpPr txBox="1"/>
          <p:nvPr/>
        </p:nvSpPr>
        <p:spPr>
          <a:xfrm>
            <a:off x="722354" y="341560"/>
            <a:ext cx="10515600" cy="1325563"/>
          </a:xfrm>
          <a:prstGeom prst="rect">
            <a:avLst/>
          </a:prstGeom>
          <a:solidFill>
            <a:srgbClr val="FF8000"/>
          </a:solid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bg1"/>
                </a:solidFill>
                <a:sym typeface="+mn-ea"/>
              </a:rPr>
              <a:t>3. </a:t>
            </a:r>
            <a:r>
              <a:rPr lang="en-GB" sz="4400" b="1" dirty="0">
                <a:solidFill>
                  <a:schemeClr val="bg1"/>
                </a:solidFill>
              </a:rPr>
              <a:t>Interviews</a:t>
            </a:r>
            <a:endParaRPr lang="en-GB" sz="4400" b="1" dirty="0">
              <a:solidFill>
                <a:schemeClr val="bg1"/>
              </a:solidFill>
            </a:endParaRPr>
          </a:p>
        </p:txBody>
      </p:sp>
      <p:pic>
        <p:nvPicPr>
          <p:cNvPr id="8" name="Picture 7" descr="A person and person sitting at a table with a comput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85674" y="1978499"/>
            <a:ext cx="4652929" cy="2899889"/>
          </a:xfrm>
          <a:prstGeom prst="rect">
            <a:avLst/>
          </a:prstGeom>
        </p:spPr>
      </p:pic>
      <p:sp>
        <p:nvSpPr>
          <p:cNvPr id="10" name="Footer Placeholder 9"/>
          <p:cNvSpPr>
            <a:spLocks noGrp="1"/>
          </p:cNvSpPr>
          <p:nvPr>
            <p:ph type="ftr" sz="quarter" idx="11"/>
          </p:nvPr>
        </p:nvSpPr>
        <p:spPr/>
        <p:txBody>
          <a:bodyPr/>
          <a:lstStyle/>
          <a:p>
            <a:r>
              <a:rPr lang="en-US"/>
              <a:t>Tasmin Sanjida, Lecturer, CSE, UIU</a:t>
            </a:r>
            <a:endParaRPr lang="en-US"/>
          </a:p>
        </p:txBody>
      </p:sp>
      <p:sp>
        <p:nvSpPr>
          <p:cNvPr id="11" name="Slide Number Placeholder 10"/>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FF8000"/>
          </a:solidFill>
          <a:ln>
            <a:solidFill>
              <a:srgbClr val="000000">
                <a:alpha val="0"/>
              </a:srgbClr>
            </a:solidFill>
          </a:ln>
        </p:spPr>
        <p:txBody>
          <a:bodyPr/>
          <a:lstStyle/>
          <a:p>
            <a:r>
              <a:rPr lang="en-US" b="1" dirty="0">
                <a:solidFill>
                  <a:schemeClr val="bg1"/>
                </a:solidFill>
                <a:sym typeface="+mn-ea"/>
              </a:rPr>
              <a:t>3. </a:t>
            </a:r>
            <a:r>
              <a:rPr lang="en-GB" sz="4400" b="1" dirty="0">
                <a:solidFill>
                  <a:schemeClr val="bg1"/>
                </a:solidFill>
              </a:rPr>
              <a:t>Interviews</a:t>
            </a:r>
            <a:endParaRPr lang="en-GB" sz="4400" b="1" dirty="0">
              <a:solidFill>
                <a:schemeClr val="bg1"/>
              </a:solidFill>
            </a:endParaRPr>
          </a:p>
        </p:txBody>
      </p:sp>
      <p:sp>
        <p:nvSpPr>
          <p:cNvPr id="5" name="Content Placeholder 4"/>
          <p:cNvSpPr>
            <a:spLocks noGrp="1"/>
          </p:cNvSpPr>
          <p:nvPr>
            <p:ph sz="half" idx="1"/>
          </p:nvPr>
        </p:nvSpPr>
        <p:spPr/>
        <p:txBody>
          <a:bodyPr>
            <a:noAutofit/>
          </a:bodyPr>
          <a:lstStyle/>
          <a:p>
            <a:pPr marL="0" lvl="0" indent="0" algn="l" rtl="0">
              <a:lnSpc>
                <a:spcPct val="130000"/>
              </a:lnSpc>
              <a:spcBef>
                <a:spcPts val="0"/>
              </a:spcBef>
              <a:spcAft>
                <a:spcPts val="0"/>
              </a:spcAft>
              <a:buNone/>
            </a:pPr>
            <a:r>
              <a:rPr lang="en-US" sz="2400" b="1" dirty="0">
                <a:latin typeface="Calibri" panose="020F0502020204030204" charset="0"/>
                <a:ea typeface="Oswald"/>
                <a:cs typeface="Calibri" panose="020F0502020204030204" charset="0"/>
                <a:sym typeface="Oswald"/>
              </a:rPr>
              <a:t>Merits</a:t>
            </a:r>
            <a:endParaRPr lang="en-US" sz="2400" b="1" dirty="0">
              <a:latin typeface="Calibri" panose="020F0502020204030204" charset="0"/>
              <a:ea typeface="Oswald"/>
              <a:cs typeface="Calibri" panose="020F0502020204030204" charset="0"/>
              <a:sym typeface="Oswald"/>
            </a:endParaRPr>
          </a:p>
          <a:p>
            <a:pPr marL="628650" lvl="0" indent="-342900" algn="l" rtl="0">
              <a:lnSpc>
                <a:spcPct val="100000"/>
              </a:lnSpc>
              <a:spcBef>
                <a:spcPts val="0"/>
              </a:spcBef>
              <a:spcAft>
                <a:spcPts val="0"/>
              </a:spcAft>
              <a:buSzPts val="1800"/>
            </a:pPr>
            <a:r>
              <a:rPr lang="en-US" sz="2400" dirty="0">
                <a:latin typeface="Calibri" panose="020F0502020204030204" charset="0"/>
                <a:ea typeface="Oswald Light"/>
                <a:cs typeface="Calibri" panose="020F0502020204030204" charset="0"/>
                <a:sym typeface="Oswald Light"/>
              </a:rPr>
              <a:t>Interviewing the </a:t>
            </a:r>
            <a:r>
              <a:rPr lang="en-US" sz="2400" dirty="0">
                <a:solidFill>
                  <a:srgbClr val="C00000"/>
                </a:solidFill>
                <a:latin typeface="Calibri" panose="020F0502020204030204" charset="0"/>
                <a:ea typeface="Oswald Light"/>
                <a:cs typeface="Calibri" panose="020F0502020204030204" charset="0"/>
                <a:sym typeface="Oswald Light"/>
              </a:rPr>
              <a:t>right person </a:t>
            </a:r>
            <a:r>
              <a:rPr lang="en-US" sz="2400" dirty="0">
                <a:latin typeface="Calibri" panose="020F0502020204030204" charset="0"/>
                <a:ea typeface="Oswald Light"/>
                <a:cs typeface="Calibri" panose="020F0502020204030204" charset="0"/>
                <a:sym typeface="Oswald Light"/>
              </a:rPr>
              <a:t>for analyzing the system is a very </a:t>
            </a:r>
            <a:r>
              <a:rPr lang="en-US" sz="2400" dirty="0">
                <a:solidFill>
                  <a:srgbClr val="C00000"/>
                </a:solidFill>
                <a:latin typeface="Calibri" panose="020F0502020204030204" charset="0"/>
                <a:ea typeface="Oswald Light"/>
                <a:cs typeface="Calibri" panose="020F0502020204030204" charset="0"/>
                <a:sym typeface="Oswald Light"/>
              </a:rPr>
              <a:t>fast</a:t>
            </a:r>
            <a:r>
              <a:rPr lang="en-US" sz="2400" dirty="0">
                <a:latin typeface="Calibri" panose="020F0502020204030204" charset="0"/>
                <a:ea typeface="Oswald Light"/>
                <a:cs typeface="Calibri" panose="020F0502020204030204" charset="0"/>
                <a:sym typeface="Oswald Light"/>
              </a:rPr>
              <a:t> process.</a:t>
            </a:r>
            <a:endParaRPr lang="en-US" sz="2400" dirty="0">
              <a:latin typeface="Calibri" panose="020F0502020204030204" charset="0"/>
              <a:ea typeface="Oswald Light"/>
              <a:cs typeface="Calibri" panose="020F0502020204030204" charset="0"/>
              <a:sym typeface="Oswald Light"/>
            </a:endParaRPr>
          </a:p>
          <a:p>
            <a:pPr marL="628650" lvl="0" indent="-342900" algn="l" rtl="0">
              <a:lnSpc>
                <a:spcPct val="100000"/>
              </a:lnSpc>
              <a:spcBef>
                <a:spcPts val="0"/>
              </a:spcBef>
              <a:spcAft>
                <a:spcPts val="0"/>
              </a:spcAft>
              <a:buSzPts val="1800"/>
            </a:pPr>
            <a:r>
              <a:rPr lang="en-US" sz="2400" dirty="0">
                <a:latin typeface="Calibri" panose="020F0502020204030204" charset="0"/>
                <a:ea typeface="Oswald Light"/>
                <a:cs typeface="Calibri" panose="020F0502020204030204" charset="0"/>
                <a:sym typeface="Oswald Light"/>
              </a:rPr>
              <a:t>An effective technique for eliciting information about the </a:t>
            </a:r>
            <a:r>
              <a:rPr lang="en-US" sz="2400" dirty="0">
                <a:solidFill>
                  <a:srgbClr val="C00000"/>
                </a:solidFill>
                <a:latin typeface="Calibri" panose="020F0502020204030204" charset="0"/>
                <a:ea typeface="Oswald Light"/>
                <a:cs typeface="Calibri" panose="020F0502020204030204" charset="0"/>
                <a:sym typeface="Oswald Light"/>
              </a:rPr>
              <a:t>complex subjects</a:t>
            </a:r>
            <a:r>
              <a:rPr lang="en-US" sz="2400" dirty="0">
                <a:latin typeface="Calibri" panose="020F0502020204030204" charset="0"/>
                <a:ea typeface="Oswald Light"/>
                <a:cs typeface="Calibri" panose="020F0502020204030204" charset="0"/>
                <a:sym typeface="Oswald Light"/>
              </a:rPr>
              <a:t>.</a:t>
            </a:r>
            <a:endParaRPr lang="en-US" sz="2400" dirty="0">
              <a:latin typeface="Calibri" panose="020F0502020204030204" charset="0"/>
              <a:ea typeface="Oswald Light"/>
              <a:cs typeface="Calibri" panose="020F0502020204030204" charset="0"/>
              <a:sym typeface="Oswald Light"/>
            </a:endParaRPr>
          </a:p>
          <a:p>
            <a:pPr marL="628650" lvl="0" indent="-342900" algn="l" rtl="0">
              <a:lnSpc>
                <a:spcPct val="100000"/>
              </a:lnSpc>
              <a:spcBef>
                <a:spcPts val="0"/>
              </a:spcBef>
              <a:spcAft>
                <a:spcPts val="0"/>
              </a:spcAft>
              <a:buSzPts val="1800"/>
            </a:pPr>
            <a:r>
              <a:rPr lang="en-US" sz="2400" dirty="0">
                <a:latin typeface="Calibri" panose="020F0502020204030204" charset="0"/>
                <a:ea typeface="Oswald Light"/>
                <a:cs typeface="Calibri" panose="020F0502020204030204" charset="0"/>
                <a:sym typeface="Oswald Light"/>
              </a:rPr>
              <a:t>Its </a:t>
            </a:r>
            <a:r>
              <a:rPr lang="en-US" sz="2400" dirty="0">
                <a:solidFill>
                  <a:srgbClr val="C00000"/>
                </a:solidFill>
                <a:latin typeface="Calibri" panose="020F0502020204030204" charset="0"/>
                <a:ea typeface="Oswald Light"/>
                <a:cs typeface="Calibri" panose="020F0502020204030204" charset="0"/>
                <a:sym typeface="Oswald Light"/>
              </a:rPr>
              <a:t>flexibility</a:t>
            </a:r>
            <a:r>
              <a:rPr lang="en-US" sz="2400" dirty="0">
                <a:latin typeface="Calibri" panose="020F0502020204030204" charset="0"/>
                <a:ea typeface="Oswald Light"/>
                <a:cs typeface="Calibri" panose="020F0502020204030204" charset="0"/>
                <a:sym typeface="Oswald Light"/>
              </a:rPr>
              <a:t> makes the interview a superior technique for exploring areas where not much is known.</a:t>
            </a:r>
            <a:endParaRPr lang="en-US" sz="2400" dirty="0">
              <a:latin typeface="Calibri" panose="020F0502020204030204" charset="0"/>
              <a:ea typeface="Oswald Light"/>
              <a:cs typeface="Calibri" panose="020F0502020204030204" charset="0"/>
              <a:sym typeface="Oswald Light"/>
            </a:endParaRPr>
          </a:p>
          <a:p>
            <a:pPr marL="628650" lvl="0" indent="-342900" algn="l" rtl="0">
              <a:lnSpc>
                <a:spcPct val="100000"/>
              </a:lnSpc>
              <a:spcBef>
                <a:spcPts val="0"/>
              </a:spcBef>
              <a:spcAft>
                <a:spcPts val="0"/>
              </a:spcAft>
              <a:buSzPts val="1800"/>
            </a:pPr>
            <a:r>
              <a:rPr lang="en-US" sz="2400" dirty="0">
                <a:latin typeface="Calibri" panose="020F0502020204030204" charset="0"/>
                <a:ea typeface="Oswald Light"/>
                <a:cs typeface="Calibri" panose="020F0502020204030204" charset="0"/>
                <a:sym typeface="Oswald Light"/>
              </a:rPr>
              <a:t>Can have </a:t>
            </a:r>
            <a:r>
              <a:rPr lang="en-US" sz="2400" dirty="0">
                <a:solidFill>
                  <a:srgbClr val="C00000"/>
                </a:solidFill>
                <a:latin typeface="Calibri" panose="020F0502020204030204" charset="0"/>
                <a:ea typeface="Oswald Light"/>
                <a:cs typeface="Calibri" panose="020F0502020204030204" charset="0"/>
                <a:sym typeface="Oswald Light"/>
              </a:rPr>
              <a:t>follow-up questions </a:t>
            </a:r>
            <a:r>
              <a:rPr lang="en-US" sz="2400" dirty="0">
                <a:latin typeface="Calibri" panose="020F0502020204030204" charset="0"/>
                <a:ea typeface="Oswald Light"/>
                <a:cs typeface="Calibri" panose="020F0502020204030204" charset="0"/>
                <a:sym typeface="Oswald Light"/>
              </a:rPr>
              <a:t>based on previous responses</a:t>
            </a:r>
            <a:endParaRPr lang="en-US" sz="2400" dirty="0">
              <a:latin typeface="Calibri" panose="020F0502020204030204" charset="0"/>
              <a:ea typeface="Oswald Light"/>
              <a:cs typeface="Calibri" panose="020F0502020204030204" charset="0"/>
              <a:sym typeface="Oswald Light"/>
            </a:endParaRPr>
          </a:p>
        </p:txBody>
      </p:sp>
      <p:sp>
        <p:nvSpPr>
          <p:cNvPr id="6" name="Content Placeholder 5"/>
          <p:cNvSpPr>
            <a:spLocks noGrp="1"/>
          </p:cNvSpPr>
          <p:nvPr>
            <p:ph sz="half" idx="2"/>
          </p:nvPr>
        </p:nvSpPr>
        <p:spPr/>
        <p:txBody>
          <a:bodyPr>
            <a:normAutofit/>
          </a:bodyPr>
          <a:lstStyle/>
          <a:p>
            <a:pPr marL="0" lvl="0" indent="0" algn="l" rtl="0">
              <a:lnSpc>
                <a:spcPct val="130000"/>
              </a:lnSpc>
              <a:spcBef>
                <a:spcPts val="0"/>
              </a:spcBef>
              <a:spcAft>
                <a:spcPts val="0"/>
              </a:spcAft>
              <a:buNone/>
            </a:pPr>
            <a:r>
              <a:rPr lang="en-US" sz="2400" b="1" dirty="0">
                <a:latin typeface="Calibri" panose="020F0502020204030204" charset="0"/>
                <a:ea typeface="Oswald"/>
                <a:cs typeface="Calibri" panose="020F0502020204030204" charset="0"/>
                <a:sym typeface="Oswald"/>
              </a:rPr>
              <a:t>Demerits</a:t>
            </a:r>
            <a:endParaRPr lang="en-US" sz="2400" b="1" dirty="0">
              <a:latin typeface="Calibri" panose="020F0502020204030204" charset="0"/>
              <a:ea typeface="Oswald"/>
              <a:cs typeface="Calibri" panose="020F0502020204030204" charset="0"/>
              <a:sym typeface="Oswald"/>
            </a:endParaRPr>
          </a:p>
          <a:p>
            <a:pPr marL="628650" lvl="0" indent="-342900" algn="l" rtl="0">
              <a:lnSpc>
                <a:spcPct val="100000"/>
              </a:lnSpc>
              <a:spcBef>
                <a:spcPts val="600"/>
              </a:spcBef>
              <a:spcAft>
                <a:spcPts val="0"/>
              </a:spcAft>
              <a:buSzPts val="1800"/>
            </a:pPr>
            <a:r>
              <a:rPr lang="en-US" sz="2400" dirty="0">
                <a:latin typeface="Calibri" panose="020F0502020204030204" charset="0"/>
                <a:ea typeface="Oswald Light"/>
                <a:cs typeface="Calibri" panose="020F0502020204030204" charset="0"/>
                <a:sym typeface="Oswald Light"/>
              </a:rPr>
              <a:t>Long </a:t>
            </a:r>
            <a:r>
              <a:rPr lang="en-US" sz="2400" dirty="0">
                <a:solidFill>
                  <a:srgbClr val="C00000"/>
                </a:solidFill>
                <a:latin typeface="Calibri" panose="020F0502020204030204" charset="0"/>
                <a:ea typeface="Oswald Light"/>
                <a:cs typeface="Calibri" panose="020F0502020204030204" charset="0"/>
                <a:sym typeface="Oswald Light"/>
              </a:rPr>
              <a:t>preparation time</a:t>
            </a:r>
            <a:endParaRPr lang="en-US" sz="2400" dirty="0">
              <a:solidFill>
                <a:srgbClr val="C00000"/>
              </a:solidFill>
              <a:latin typeface="Calibri" panose="020F0502020204030204" charset="0"/>
              <a:ea typeface="Oswald Light"/>
              <a:cs typeface="Calibri" panose="020F0502020204030204" charset="0"/>
              <a:sym typeface="Oswald Light"/>
            </a:endParaRPr>
          </a:p>
          <a:p>
            <a:pPr marL="628650" lvl="0" indent="-342900" algn="l" rtl="0">
              <a:lnSpc>
                <a:spcPct val="100000"/>
              </a:lnSpc>
              <a:spcBef>
                <a:spcPts val="600"/>
              </a:spcBef>
              <a:spcAft>
                <a:spcPts val="0"/>
              </a:spcAft>
              <a:buSzPts val="1800"/>
            </a:pPr>
            <a:r>
              <a:rPr lang="en-US" sz="2400" dirty="0">
                <a:solidFill>
                  <a:srgbClr val="C00000"/>
                </a:solidFill>
                <a:latin typeface="Calibri" panose="020F0502020204030204" charset="0"/>
                <a:ea typeface="Oswald Light"/>
                <a:cs typeface="Calibri" panose="020F0502020204030204" charset="0"/>
                <a:sym typeface="Oswald Light"/>
              </a:rPr>
              <a:t>Takes long time </a:t>
            </a:r>
            <a:r>
              <a:rPr lang="en-US" sz="2400" dirty="0">
                <a:latin typeface="Calibri" panose="020F0502020204030204" charset="0"/>
                <a:ea typeface="Oswald Light"/>
                <a:cs typeface="Calibri" panose="020F0502020204030204" charset="0"/>
                <a:sym typeface="Oswald Light"/>
              </a:rPr>
              <a:t>to conduct</a:t>
            </a:r>
            <a:endParaRPr lang="en-US" sz="2400" dirty="0">
              <a:latin typeface="Calibri" panose="020F0502020204030204" charset="0"/>
              <a:ea typeface="Oswald Light"/>
              <a:cs typeface="Calibri" panose="020F0502020204030204" charset="0"/>
              <a:sym typeface="Oswald Light"/>
            </a:endParaRPr>
          </a:p>
          <a:p>
            <a:pPr marL="628650" lvl="0" indent="-342900" algn="l" rtl="0">
              <a:lnSpc>
                <a:spcPct val="100000"/>
              </a:lnSpc>
              <a:spcBef>
                <a:spcPts val="600"/>
              </a:spcBef>
              <a:spcAft>
                <a:spcPts val="0"/>
              </a:spcAft>
              <a:buSzPts val="1800"/>
            </a:pPr>
            <a:r>
              <a:rPr lang="en-US" sz="2400" dirty="0">
                <a:latin typeface="Calibri" panose="020F0502020204030204" charset="0"/>
                <a:ea typeface="Oswald Light"/>
                <a:cs typeface="Calibri" panose="020F0502020204030204" charset="0"/>
                <a:sym typeface="Oswald Light"/>
              </a:rPr>
              <a:t>Need </a:t>
            </a:r>
            <a:r>
              <a:rPr lang="en-US" sz="2400" dirty="0" err="1">
                <a:solidFill>
                  <a:srgbClr val="C00000"/>
                </a:solidFill>
                <a:latin typeface="Calibri" panose="020F0502020204030204" charset="0"/>
                <a:ea typeface="Oswald Light"/>
                <a:cs typeface="Calibri" panose="020F0502020204030204" charset="0"/>
                <a:sym typeface="Oswald Light"/>
              </a:rPr>
              <a:t>skilful</a:t>
            </a:r>
            <a:r>
              <a:rPr lang="en-US" sz="2400" dirty="0">
                <a:solidFill>
                  <a:srgbClr val="C00000"/>
                </a:solidFill>
                <a:latin typeface="Calibri" panose="020F0502020204030204" charset="0"/>
                <a:ea typeface="Oswald Light"/>
                <a:cs typeface="Calibri" panose="020F0502020204030204" charset="0"/>
                <a:sym typeface="Oswald Light"/>
              </a:rPr>
              <a:t> person </a:t>
            </a:r>
            <a:r>
              <a:rPr lang="en-US" sz="2400" dirty="0">
                <a:latin typeface="Calibri" panose="020F0502020204030204" charset="0"/>
                <a:ea typeface="Oswald Light"/>
                <a:cs typeface="Calibri" panose="020F0502020204030204" charset="0"/>
                <a:sym typeface="Oswald Light"/>
              </a:rPr>
              <a:t>to conduct</a:t>
            </a:r>
            <a:endParaRPr lang="en-US" sz="2400" dirty="0">
              <a:latin typeface="Calibri" panose="020F0502020204030204" charset="0"/>
              <a:ea typeface="Oswald Light"/>
              <a:cs typeface="Calibri" panose="020F0502020204030204" charset="0"/>
              <a:sym typeface="Oswald Light"/>
            </a:endParaRPr>
          </a:p>
          <a:p>
            <a:pPr marL="628650" lvl="0" indent="-342900" algn="l" rtl="0">
              <a:lnSpc>
                <a:spcPct val="100000"/>
              </a:lnSpc>
              <a:spcBef>
                <a:spcPts val="600"/>
              </a:spcBef>
              <a:spcAft>
                <a:spcPts val="0"/>
              </a:spcAft>
              <a:buSzPts val="1800"/>
            </a:pPr>
            <a:r>
              <a:rPr lang="en-US" sz="2400" dirty="0">
                <a:solidFill>
                  <a:srgbClr val="C00000"/>
                </a:solidFill>
                <a:latin typeface="Calibri" panose="020F0502020204030204" charset="0"/>
                <a:ea typeface="Oswald Light"/>
                <a:cs typeface="Calibri" panose="020F0502020204030204" charset="0"/>
                <a:sym typeface="Oswald Light"/>
              </a:rPr>
              <a:t>Several interviews </a:t>
            </a:r>
            <a:r>
              <a:rPr lang="en-US" sz="2400" dirty="0">
                <a:latin typeface="Calibri" panose="020F0502020204030204" charset="0"/>
                <a:ea typeface="Oswald Light"/>
                <a:cs typeface="Calibri" panose="020F0502020204030204" charset="0"/>
                <a:sym typeface="Oswald Light"/>
              </a:rPr>
              <a:t>each with several people, involving more money and time</a:t>
            </a:r>
            <a:endParaRPr lang="en-US" sz="2400" dirty="0">
              <a:latin typeface="Calibri" panose="020F0502020204030204" charset="0"/>
              <a:ea typeface="Oswald Light"/>
              <a:cs typeface="Calibri" panose="020F0502020204030204" charset="0"/>
              <a:sym typeface="Oswald Light"/>
            </a:endParaRPr>
          </a:p>
          <a:p>
            <a:pPr marL="0" indent="0" algn="l">
              <a:buNone/>
            </a:pPr>
            <a:endParaRPr lang="en-US" sz="2400" dirty="0">
              <a:latin typeface="Calibri" panose="020F0502020204030204" charset="0"/>
              <a:cs typeface="Calibri" panose="020F0502020204030204" charset="0"/>
            </a:endParaRPr>
          </a:p>
        </p:txBody>
      </p:sp>
      <p:sp>
        <p:nvSpPr>
          <p:cNvPr id="7" name="Footer Placeholder 6"/>
          <p:cNvSpPr>
            <a:spLocks noGrp="1"/>
          </p:cNvSpPr>
          <p:nvPr>
            <p:ph type="ftr" sz="quarter" idx="11"/>
          </p:nvPr>
        </p:nvSpPr>
        <p:spPr/>
        <p:txBody>
          <a:bodyPr/>
          <a:lstStyle/>
          <a:p>
            <a:r>
              <a:rPr lang="en-US"/>
              <a:t>Tasmin Sanjida, Lecturer, CSE, UIU</a:t>
            </a:r>
            <a:endParaRPr lang="en-US"/>
          </a:p>
        </p:txBody>
      </p:sp>
      <p:sp>
        <p:nvSpPr>
          <p:cNvPr id="8" name="Slide Number Placeholder 7"/>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700405" y="1825625"/>
            <a:ext cx="5181600" cy="4351338"/>
          </a:xfrm>
        </p:spPr>
        <p:txBody>
          <a:bodyPr/>
          <a:p>
            <a:pPr marL="114300" indent="0">
              <a:lnSpc>
                <a:spcPct val="115000"/>
              </a:lnSpc>
              <a:spcBef>
                <a:spcPts val="0"/>
              </a:spcBef>
              <a:buClr>
                <a:srgbClr val="6AA84F"/>
              </a:buClr>
              <a:buSzPts val="1800"/>
              <a:buNone/>
            </a:pPr>
            <a:r>
              <a:rPr lang="en-US" sz="2400" dirty="0">
                <a:solidFill>
                  <a:srgbClr val="C00000"/>
                </a:solidFill>
                <a:latin typeface="Calibri" panose="020F0502020204030204" charset="0"/>
                <a:ea typeface="Oswald"/>
                <a:cs typeface="Calibri" panose="020F0502020204030204" charset="0"/>
                <a:sym typeface="Oswald"/>
              </a:rPr>
              <a:t>1. Select Interviewees</a:t>
            </a:r>
            <a:endParaRPr lang="en-US" sz="2400" dirty="0">
              <a:solidFill>
                <a:srgbClr val="C00000"/>
              </a:solidFill>
              <a:latin typeface="Calibri" panose="020F0502020204030204" charset="0"/>
              <a:ea typeface="Oswald"/>
              <a:cs typeface="Calibri" panose="020F0502020204030204" charset="0"/>
              <a:sym typeface="Oswald"/>
            </a:endParaRPr>
          </a:p>
          <a:p>
            <a:pPr marL="800100" lvl="0" indent="-342900" algn="l" rtl="0">
              <a:lnSpc>
                <a:spcPct val="115000"/>
              </a:lnSpc>
              <a:spcBef>
                <a:spcPts val="0"/>
              </a:spcBef>
              <a:spcAft>
                <a:spcPts val="0"/>
              </a:spcAft>
              <a:buSzPts val="1500"/>
            </a:pPr>
            <a:r>
              <a:rPr lang="en-US" sz="2400" dirty="0">
                <a:latin typeface="Calibri" panose="020F0502020204030204" charset="0"/>
                <a:ea typeface="Oswald"/>
                <a:cs typeface="Calibri" panose="020F0502020204030204" charset="0"/>
                <a:sym typeface="Oswald"/>
              </a:rPr>
              <a:t>Can be any important stakeholders</a:t>
            </a:r>
            <a:endParaRPr lang="en-US" sz="2400" dirty="0">
              <a:latin typeface="Calibri" panose="020F0502020204030204" charset="0"/>
              <a:ea typeface="Oswald"/>
              <a:cs typeface="Calibri" panose="020F0502020204030204" charset="0"/>
              <a:sym typeface="Oswald"/>
            </a:endParaRPr>
          </a:p>
          <a:p>
            <a:pPr marL="800100" lvl="0" indent="-342900" algn="l" rtl="0">
              <a:lnSpc>
                <a:spcPct val="115000"/>
              </a:lnSpc>
              <a:spcBef>
                <a:spcPts val="0"/>
              </a:spcBef>
              <a:spcAft>
                <a:spcPts val="0"/>
              </a:spcAft>
              <a:buSzPts val="1500"/>
            </a:pPr>
            <a:r>
              <a:rPr lang="en-US" sz="2400" dirty="0">
                <a:latin typeface="Calibri" panose="020F0502020204030204" charset="0"/>
                <a:ea typeface="Oswald"/>
                <a:cs typeface="Calibri" panose="020F0502020204030204" charset="0"/>
                <a:sym typeface="Oswald"/>
              </a:rPr>
              <a:t>Learn about the interviewee’s background prior to the interview</a:t>
            </a:r>
            <a:endParaRPr lang="en-US" sz="2400" dirty="0">
              <a:latin typeface="Calibri" panose="020F0502020204030204" charset="0"/>
              <a:ea typeface="Oswald"/>
              <a:cs typeface="Calibri" panose="020F0502020204030204" charset="0"/>
              <a:sym typeface="Oswald"/>
            </a:endParaRPr>
          </a:p>
          <a:p>
            <a:pPr marL="457200" lvl="0" indent="0" algn="l" rtl="0">
              <a:lnSpc>
                <a:spcPct val="115000"/>
              </a:lnSpc>
              <a:spcBef>
                <a:spcPts val="0"/>
              </a:spcBef>
              <a:spcAft>
                <a:spcPts val="0"/>
              </a:spcAft>
              <a:buSzPts val="1500"/>
              <a:buNone/>
            </a:pPr>
            <a:endParaRPr lang="en-US" sz="2400" dirty="0">
              <a:latin typeface="Calibri" panose="020F0502020204030204" charset="0"/>
              <a:ea typeface="Oswald"/>
              <a:cs typeface="Calibri" panose="020F0502020204030204" charset="0"/>
              <a:sym typeface="Oswald"/>
            </a:endParaRPr>
          </a:p>
          <a:p>
            <a:pPr marL="114300" lvl="0" indent="0" algn="l" rtl="0">
              <a:lnSpc>
                <a:spcPct val="115000"/>
              </a:lnSpc>
              <a:spcBef>
                <a:spcPts val="0"/>
              </a:spcBef>
              <a:spcAft>
                <a:spcPts val="0"/>
              </a:spcAft>
              <a:buClr>
                <a:srgbClr val="6AA84F"/>
              </a:buClr>
              <a:buSzPts val="1800"/>
              <a:buNone/>
            </a:pPr>
            <a:r>
              <a:rPr lang="en-US" sz="2400" dirty="0">
                <a:solidFill>
                  <a:srgbClr val="C00000"/>
                </a:solidFill>
                <a:latin typeface="Calibri" panose="020F0502020204030204" charset="0"/>
                <a:ea typeface="Oswald"/>
                <a:cs typeface="Calibri" panose="020F0502020204030204" charset="0"/>
                <a:sym typeface="Oswald"/>
              </a:rPr>
              <a:t>2. Prepare for the interview</a:t>
            </a:r>
            <a:endParaRPr lang="en-US" sz="2400" dirty="0">
              <a:solidFill>
                <a:srgbClr val="C00000"/>
              </a:solidFill>
              <a:latin typeface="Calibri" panose="020F0502020204030204" charset="0"/>
              <a:ea typeface="Oswald"/>
              <a:cs typeface="Calibri" panose="020F0502020204030204" charset="0"/>
              <a:sym typeface="Oswald"/>
            </a:endParaRPr>
          </a:p>
          <a:p>
            <a:pPr marL="800100" lvl="0" indent="-342900" algn="l" rtl="0">
              <a:lnSpc>
                <a:spcPct val="115000"/>
              </a:lnSpc>
              <a:spcBef>
                <a:spcPts val="0"/>
              </a:spcBef>
              <a:spcAft>
                <a:spcPts val="0"/>
              </a:spcAft>
              <a:buSzPts val="1500"/>
            </a:pPr>
            <a:r>
              <a:rPr lang="en-US" sz="2400" dirty="0">
                <a:latin typeface="Calibri" panose="020F0502020204030204" charset="0"/>
                <a:ea typeface="Oswald"/>
                <a:cs typeface="Calibri" panose="020F0502020204030204" charset="0"/>
                <a:sym typeface="Oswald"/>
              </a:rPr>
              <a:t>Familiarize yourself with the agenda</a:t>
            </a:r>
            <a:endParaRPr lang="en-US" sz="2400" dirty="0">
              <a:latin typeface="Calibri" panose="020F0502020204030204" charset="0"/>
              <a:ea typeface="Oswald"/>
              <a:cs typeface="Calibri" panose="020F0502020204030204" charset="0"/>
              <a:sym typeface="Oswald"/>
            </a:endParaRPr>
          </a:p>
          <a:p>
            <a:pPr marL="800100" lvl="0" indent="-342900" algn="l" rtl="0">
              <a:lnSpc>
                <a:spcPct val="115000"/>
              </a:lnSpc>
              <a:spcBef>
                <a:spcPts val="0"/>
              </a:spcBef>
              <a:spcAft>
                <a:spcPts val="0"/>
              </a:spcAft>
              <a:buSzPts val="1500"/>
            </a:pPr>
            <a:r>
              <a:rPr lang="en-US" sz="2400" dirty="0">
                <a:latin typeface="Calibri" panose="020F0502020204030204" charset="0"/>
                <a:ea typeface="Oswald"/>
                <a:cs typeface="Calibri" panose="020F0502020204030204" charset="0"/>
                <a:sym typeface="Oswald"/>
              </a:rPr>
              <a:t>Prepare a checklist of questions</a:t>
            </a:r>
            <a:endParaRPr lang="en-US" sz="2400" dirty="0">
              <a:latin typeface="Calibri" panose="020F0502020204030204" charset="0"/>
              <a:ea typeface="Oswald"/>
              <a:cs typeface="Calibri" panose="020F0502020204030204" charset="0"/>
              <a:sym typeface="Oswald"/>
            </a:endParaRPr>
          </a:p>
          <a:p>
            <a:pPr marL="0" indent="0">
              <a:buNone/>
            </a:pPr>
            <a:endParaRPr lang="en-US" sz="2400" dirty="0">
              <a:latin typeface="Calibri" panose="020F0502020204030204" charset="0"/>
              <a:ea typeface="Oswald"/>
              <a:cs typeface="Calibri" panose="020F0502020204030204" charset="0"/>
              <a:sym typeface="Oswald"/>
            </a:endParaRPr>
          </a:p>
        </p:txBody>
      </p:sp>
      <p:sp>
        <p:nvSpPr>
          <p:cNvPr id="4" name="Content Placeholder 3"/>
          <p:cNvSpPr>
            <a:spLocks noGrp="1"/>
          </p:cNvSpPr>
          <p:nvPr>
            <p:ph sz="half" idx="2"/>
          </p:nvPr>
        </p:nvSpPr>
        <p:spPr/>
        <p:txBody>
          <a:bodyPr/>
          <a:p>
            <a:pPr marL="114300" lvl="0" indent="0" algn="l" rtl="0">
              <a:lnSpc>
                <a:spcPct val="115000"/>
              </a:lnSpc>
              <a:spcBef>
                <a:spcPts val="0"/>
              </a:spcBef>
              <a:spcAft>
                <a:spcPts val="0"/>
              </a:spcAft>
              <a:buClr>
                <a:srgbClr val="6AA84F"/>
              </a:buClr>
              <a:buSzPts val="1800"/>
              <a:buNone/>
            </a:pPr>
            <a:r>
              <a:rPr lang="en-US" sz="2400" dirty="0">
                <a:solidFill>
                  <a:srgbClr val="C00000"/>
                </a:solidFill>
                <a:latin typeface="Calibri" panose="020F0502020204030204" charset="0"/>
                <a:ea typeface="Oswald"/>
                <a:cs typeface="Calibri" panose="020F0502020204030204" charset="0"/>
                <a:sym typeface="Oswald"/>
              </a:rPr>
              <a:t>3. Conduct the interview</a:t>
            </a:r>
            <a:endParaRPr lang="en-US" sz="2400" dirty="0">
              <a:solidFill>
                <a:srgbClr val="C00000"/>
              </a:solidFill>
              <a:latin typeface="Calibri" panose="020F0502020204030204" charset="0"/>
              <a:ea typeface="Oswald"/>
              <a:cs typeface="Calibri" panose="020F0502020204030204" charset="0"/>
              <a:sym typeface="Oswald"/>
            </a:endParaRPr>
          </a:p>
          <a:p>
            <a:pPr marL="800100" lvl="0" indent="-342900" algn="l" rtl="0">
              <a:lnSpc>
                <a:spcPct val="115000"/>
              </a:lnSpc>
              <a:spcBef>
                <a:spcPts val="0"/>
              </a:spcBef>
              <a:spcAft>
                <a:spcPts val="0"/>
              </a:spcAft>
              <a:buSzPts val="1500"/>
            </a:pPr>
            <a:r>
              <a:rPr lang="en-US" sz="2400" dirty="0">
                <a:latin typeface="Calibri" panose="020F0502020204030204" charset="0"/>
                <a:ea typeface="Oswald"/>
                <a:cs typeface="Calibri" panose="020F0502020204030204" charset="0"/>
                <a:sym typeface="Oswald"/>
              </a:rPr>
              <a:t>Summarize the problem</a:t>
            </a:r>
            <a:endParaRPr lang="en-US" sz="2400" dirty="0">
              <a:latin typeface="Calibri" panose="020F0502020204030204" charset="0"/>
              <a:ea typeface="Oswald"/>
              <a:cs typeface="Calibri" panose="020F0502020204030204" charset="0"/>
              <a:sym typeface="Oswald"/>
            </a:endParaRPr>
          </a:p>
          <a:p>
            <a:pPr marL="800100" lvl="0" indent="-342900" algn="l" rtl="0">
              <a:lnSpc>
                <a:spcPct val="115000"/>
              </a:lnSpc>
              <a:spcBef>
                <a:spcPts val="0"/>
              </a:spcBef>
              <a:spcAft>
                <a:spcPts val="0"/>
              </a:spcAft>
              <a:buSzPts val="1500"/>
            </a:pPr>
            <a:r>
              <a:rPr lang="en-US" sz="2400" dirty="0">
                <a:latin typeface="Calibri" panose="020F0502020204030204" charset="0"/>
                <a:ea typeface="Oswald"/>
                <a:cs typeface="Calibri" panose="020F0502020204030204" charset="0"/>
                <a:sym typeface="Oswald"/>
              </a:rPr>
              <a:t>Provide incentive for the interviewee to respond</a:t>
            </a:r>
            <a:endParaRPr lang="en-US" sz="2400" dirty="0">
              <a:latin typeface="Calibri" panose="020F0502020204030204" charset="0"/>
              <a:ea typeface="Oswald"/>
              <a:cs typeface="Calibri" panose="020F0502020204030204" charset="0"/>
              <a:sym typeface="Oswald"/>
            </a:endParaRPr>
          </a:p>
          <a:p>
            <a:pPr marL="800100" lvl="0" indent="-342900" algn="l" rtl="0">
              <a:lnSpc>
                <a:spcPct val="115000"/>
              </a:lnSpc>
              <a:spcBef>
                <a:spcPts val="0"/>
              </a:spcBef>
              <a:spcAft>
                <a:spcPts val="0"/>
              </a:spcAft>
              <a:buSzPts val="1500"/>
            </a:pPr>
            <a:r>
              <a:rPr lang="en-US" sz="2400" dirty="0">
                <a:latin typeface="Calibri" panose="020F0502020204030204" charset="0"/>
                <a:ea typeface="Oswald"/>
                <a:cs typeface="Calibri" panose="020F0502020204030204" charset="0"/>
                <a:sym typeface="Oswald"/>
              </a:rPr>
              <a:t>Collect the responses</a:t>
            </a:r>
            <a:endParaRPr lang="en-US" sz="2400" dirty="0">
              <a:latin typeface="Calibri" panose="020F0502020204030204" charset="0"/>
              <a:ea typeface="Oswald"/>
              <a:cs typeface="Calibri" panose="020F0502020204030204" charset="0"/>
              <a:sym typeface="Oswald"/>
            </a:endParaRPr>
          </a:p>
          <a:p>
            <a:pPr marL="457200" lvl="0" indent="0" algn="l" rtl="0">
              <a:lnSpc>
                <a:spcPct val="115000"/>
              </a:lnSpc>
              <a:spcBef>
                <a:spcPts val="0"/>
              </a:spcBef>
              <a:spcAft>
                <a:spcPts val="0"/>
              </a:spcAft>
              <a:buSzPts val="1500"/>
              <a:buNone/>
            </a:pPr>
            <a:endParaRPr lang="en-US" sz="2400" dirty="0">
              <a:latin typeface="Calibri" panose="020F0502020204030204" charset="0"/>
              <a:ea typeface="Oswald"/>
              <a:cs typeface="Calibri" panose="020F0502020204030204" charset="0"/>
              <a:sym typeface="Oswald"/>
            </a:endParaRPr>
          </a:p>
          <a:p>
            <a:pPr marL="114300" lvl="0" indent="0" algn="l" rtl="0">
              <a:lnSpc>
                <a:spcPct val="115000"/>
              </a:lnSpc>
              <a:spcBef>
                <a:spcPts val="0"/>
              </a:spcBef>
              <a:spcAft>
                <a:spcPts val="0"/>
              </a:spcAft>
              <a:buClr>
                <a:srgbClr val="6AA84F"/>
              </a:buClr>
              <a:buSzPts val="1800"/>
              <a:buNone/>
            </a:pPr>
            <a:r>
              <a:rPr lang="en-US" sz="2400" dirty="0">
                <a:solidFill>
                  <a:srgbClr val="C00000"/>
                </a:solidFill>
                <a:latin typeface="Calibri" panose="020F0502020204030204" charset="0"/>
                <a:ea typeface="Oswald"/>
                <a:cs typeface="Calibri" panose="020F0502020204030204" charset="0"/>
                <a:sym typeface="Oswald"/>
              </a:rPr>
              <a:t>4. Summarize the interview session</a:t>
            </a:r>
            <a:endParaRPr lang="en-US" sz="2400" dirty="0">
              <a:solidFill>
                <a:srgbClr val="C00000"/>
              </a:solidFill>
              <a:latin typeface="Calibri" panose="020F0502020204030204" charset="0"/>
              <a:ea typeface="Oswald"/>
              <a:cs typeface="Calibri" panose="020F0502020204030204" charset="0"/>
              <a:sym typeface="Oswald"/>
            </a:endParaRPr>
          </a:p>
          <a:p>
            <a:pPr marL="800100" lvl="0" indent="-342900" algn="l" rtl="0">
              <a:lnSpc>
                <a:spcPct val="115000"/>
              </a:lnSpc>
              <a:spcBef>
                <a:spcPts val="0"/>
              </a:spcBef>
              <a:spcAft>
                <a:spcPts val="0"/>
              </a:spcAft>
              <a:buSzPts val="1500"/>
            </a:pPr>
            <a:r>
              <a:rPr lang="en-US" sz="2400" dirty="0">
                <a:latin typeface="Calibri" panose="020F0502020204030204" charset="0"/>
                <a:ea typeface="Oswald"/>
                <a:cs typeface="Calibri" panose="020F0502020204030204" charset="0"/>
                <a:sym typeface="Oswald"/>
              </a:rPr>
              <a:t>Summarize the key points and insights from the interview</a:t>
            </a:r>
            <a:endParaRPr lang="en-US" sz="2400" dirty="0">
              <a:latin typeface="Calibri" panose="020F0502020204030204" charset="0"/>
              <a:ea typeface="Oswald"/>
              <a:cs typeface="Calibri" panose="020F0502020204030204" charset="0"/>
              <a:sym typeface="Oswald"/>
            </a:endParaRPr>
          </a:p>
          <a:p>
            <a:pPr marL="0" indent="0">
              <a:buNone/>
            </a:pPr>
            <a:endParaRPr lang="en-US" sz="2400" dirty="0">
              <a:latin typeface="Calibri" panose="020F0502020204030204" charset="0"/>
              <a:ea typeface="Oswald"/>
              <a:cs typeface="Calibri" panose="020F0502020204030204" charset="0"/>
              <a:sym typeface="Oswald"/>
            </a:endParaRPr>
          </a:p>
        </p:txBody>
      </p:sp>
      <p:sp>
        <p:nvSpPr>
          <p:cNvPr id="5" name="Footer Placeholder 4"/>
          <p:cNvSpPr>
            <a:spLocks noGrp="1"/>
          </p:cNvSpPr>
          <p:nvPr>
            <p:ph type="ftr" sz="quarter" idx="11"/>
          </p:nvPr>
        </p:nvSpPr>
        <p:spPr/>
        <p:txBody>
          <a:bodyPr/>
          <a:p>
            <a:r>
              <a:rPr lang="en-US"/>
              <a:t>Tasmin Sanjida, Lecturer, CSE, UIU</a:t>
            </a:r>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
        <p:nvSpPr>
          <p:cNvPr id="7" name="Title 3"/>
          <p:cNvSpPr txBox="1"/>
          <p:nvPr/>
        </p:nvSpPr>
        <p:spPr>
          <a:xfrm>
            <a:off x="700315" y="347208"/>
            <a:ext cx="10515600" cy="1325563"/>
          </a:xfrm>
          <a:prstGeom prst="rect">
            <a:avLst/>
          </a:prstGeom>
          <a:solidFill>
            <a:srgbClr val="FF8000"/>
          </a:solid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bg1"/>
                </a:solidFill>
              </a:rPr>
              <a:t>Steps to Conduct a Good Interview</a:t>
            </a:r>
            <a:endParaRPr lang="en-US" b="1" dirty="0">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ChangeAspect="1"/>
          </p:cNvPicPr>
          <p:nvPr>
            <p:ph idx="1"/>
          </p:nvPr>
        </p:nvPicPr>
        <p:blipFill>
          <a:blip r:embed="rId1"/>
          <a:stretch>
            <a:fillRect/>
          </a:stretch>
        </p:blipFill>
        <p:spPr>
          <a:xfrm>
            <a:off x="2380615" y="999490"/>
            <a:ext cx="7816850" cy="5641975"/>
          </a:xfrm>
          <a:prstGeom prst="rect">
            <a:avLst/>
          </a:prstGeom>
        </p:spPr>
      </p:pic>
      <p:sp>
        <p:nvSpPr>
          <p:cNvPr id="4" name="Title 1"/>
          <p:cNvSpPr>
            <a:spLocks noGrp="1"/>
          </p:cNvSpPr>
          <p:nvPr>
            <p:ph type="title"/>
          </p:nvPr>
        </p:nvSpPr>
        <p:spPr>
          <a:xfrm>
            <a:off x="838200" y="127635"/>
            <a:ext cx="10515600" cy="871855"/>
          </a:xfrm>
          <a:solidFill>
            <a:srgbClr val="FF8000"/>
          </a:solidFill>
          <a:ln>
            <a:solidFill>
              <a:srgbClr val="000000">
                <a:alpha val="0"/>
              </a:srgbClr>
            </a:solidFill>
          </a:ln>
        </p:spPr>
        <p:txBody>
          <a:bodyPr/>
          <a:lstStyle/>
          <a:p>
            <a:r>
              <a:rPr lang="en-US" b="1">
                <a:solidFill>
                  <a:schemeClr val="bg1"/>
                </a:solidFill>
                <a:sym typeface="+mn-ea"/>
              </a:rPr>
              <a:t>Preparation</a:t>
            </a:r>
            <a:r>
              <a:rPr lang="en-US" b="1">
                <a:solidFill>
                  <a:schemeClr val="bg1"/>
                </a:solidFill>
              </a:rPr>
              <a:t> to Conduct a Good Interview</a:t>
            </a:r>
            <a:endParaRPr lang="en-US" b="1" dirty="0">
              <a:solidFill>
                <a:schemeClr val="bg1"/>
              </a:solidFill>
            </a:endParaRPr>
          </a:p>
        </p:txBody>
      </p:sp>
      <p:sp>
        <p:nvSpPr>
          <p:cNvPr id="7" name="Footer Placeholder 6"/>
          <p:cNvSpPr>
            <a:spLocks noGrp="1"/>
          </p:cNvSpPr>
          <p:nvPr>
            <p:ph type="ftr" sz="quarter" idx="11"/>
          </p:nvPr>
        </p:nvSpPr>
        <p:spPr/>
        <p:txBody>
          <a:bodyPr/>
          <a:lstStyle/>
          <a:p>
            <a:r>
              <a:rPr lang="en-US"/>
              <a:t>Tasmin Sanjida, Lecturer, CSE, UIU</a:t>
            </a:r>
            <a:endParaRPr lang="en-US"/>
          </a:p>
        </p:txBody>
      </p:sp>
      <p:sp>
        <p:nvSpPr>
          <p:cNvPr id="8" name="Slide Number Placeholder 7"/>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erson sitting at a desk with a question&#10;&#10;Description automatically generated"/>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107328" y="1605098"/>
            <a:ext cx="10246472" cy="5044621"/>
          </a:xfrm>
        </p:spPr>
      </p:pic>
      <p:sp>
        <p:nvSpPr>
          <p:cNvPr id="2" name="Title 1"/>
          <p:cNvSpPr>
            <a:spLocks noGrp="1"/>
          </p:cNvSpPr>
          <p:nvPr>
            <p:ph type="title"/>
          </p:nvPr>
        </p:nvSpPr>
        <p:spPr>
          <a:solidFill>
            <a:srgbClr val="FF8000"/>
          </a:solidFill>
          <a:ln>
            <a:solidFill>
              <a:srgbClr val="000000">
                <a:alpha val="0"/>
              </a:srgbClr>
            </a:solidFill>
          </a:ln>
        </p:spPr>
        <p:txBody>
          <a:bodyPr/>
          <a:lstStyle/>
          <a:p>
            <a:r>
              <a:rPr lang="en-US" b="1" dirty="0">
                <a:solidFill>
                  <a:schemeClr val="bg1"/>
                </a:solidFill>
              </a:rPr>
              <a:t>Steps to Conduct a Good Interview</a:t>
            </a:r>
            <a:endParaRPr lang="en-US" b="1" dirty="0">
              <a:solidFill>
                <a:schemeClr val="bg1"/>
              </a:solidFill>
            </a:endParaRPr>
          </a:p>
        </p:txBody>
      </p:sp>
      <p:sp>
        <p:nvSpPr>
          <p:cNvPr id="6" name="Footer Placeholder 5"/>
          <p:cNvSpPr>
            <a:spLocks noGrp="1"/>
          </p:cNvSpPr>
          <p:nvPr>
            <p:ph type="ftr" sz="quarter" idx="11"/>
          </p:nvPr>
        </p:nvSpPr>
        <p:spPr/>
        <p:txBody>
          <a:bodyPr/>
          <a:lstStyle/>
          <a:p>
            <a:r>
              <a:rPr lang="en-US"/>
              <a:t>Tasmin Sanjida, Lecturer, CSE, UIU</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71575"/>
          </a:xfrm>
          <a:solidFill>
            <a:srgbClr val="FF8000"/>
          </a:solidFill>
          <a:ln>
            <a:noFill/>
          </a:ln>
        </p:spPr>
        <p:txBody>
          <a:bodyPr/>
          <a:lstStyle/>
          <a:p>
            <a:r>
              <a:rPr lang="en-US" b="1" dirty="0">
                <a:solidFill>
                  <a:schemeClr val="bg1"/>
                </a:solidFill>
              </a:rPr>
              <a:t>Common Tips To Conduct Interviews</a:t>
            </a:r>
            <a:endParaRPr lang="en-US" b="1" dirty="0">
              <a:solidFill>
                <a:schemeClr val="bg1"/>
              </a:solidFill>
            </a:endParaRPr>
          </a:p>
        </p:txBody>
      </p:sp>
      <p:sp>
        <p:nvSpPr>
          <p:cNvPr id="3" name="Content Placeholder 2"/>
          <p:cNvSpPr>
            <a:spLocks noGrp="1"/>
          </p:cNvSpPr>
          <p:nvPr>
            <p:ph idx="1"/>
          </p:nvPr>
        </p:nvSpPr>
        <p:spPr>
          <a:xfrm>
            <a:off x="838200" y="1630680"/>
            <a:ext cx="10515600" cy="4636135"/>
          </a:xfrm>
        </p:spPr>
        <p:txBody>
          <a:bodyPr>
            <a:normAutofit fontScale="75000" lnSpcReduction="20000"/>
          </a:bodyPr>
          <a:lstStyle/>
          <a:p>
            <a:pPr>
              <a:lnSpc>
                <a:spcPct val="100000"/>
              </a:lnSpc>
            </a:pPr>
            <a:r>
              <a:rPr lang="en-US" dirty="0">
                <a:latin typeface="Calibri" panose="020F0502020204030204" charset="0"/>
                <a:cs typeface="Calibri" panose="020F0502020204030204" charset="0"/>
              </a:rPr>
              <a:t>Don’t jump into asking questions. Greet the interviewee and introduce yourself. Set the stage gradually.</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Establish rapport (Be welcoming). Put the interviewee at ease.</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Know what to ask and what not to.</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Phrase the questions clearly and concisely.</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Listen more, talk less.</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Take notes, audio/video recording, if possible and if allowed.</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Ask open-ended questions (don’t give choices, rather, expect long-form answers)</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Don’t ask leading/loaded questions (questions structured in a way that tend to shift the opinion of the interviewee into a certain direction)</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Avoid threatening questions</a:t>
            </a:r>
            <a:endParaRPr lang="en-US" dirty="0">
              <a:latin typeface="Calibri" panose="020F0502020204030204" charset="0"/>
              <a:cs typeface="Calibri" panose="020F0502020204030204" charset="0"/>
            </a:endParaRPr>
          </a:p>
          <a:p>
            <a:pPr>
              <a:lnSpc>
                <a:spcPct val="100000"/>
              </a:lnSpc>
            </a:pPr>
            <a:r>
              <a:rPr lang="en-US" dirty="0">
                <a:latin typeface="Calibri" panose="020F0502020204030204" charset="0"/>
                <a:cs typeface="Calibri" panose="020F0502020204030204" charset="0"/>
              </a:rPr>
              <a:t>Converge the interview with a summary with reviewing feedbacks.</a:t>
            </a:r>
            <a:endParaRPr lang="en-US" dirty="0">
              <a:latin typeface="Calibri" panose="020F0502020204030204" charset="0"/>
              <a:cs typeface="Calibri" panose="020F0502020204030204" charset="0"/>
            </a:endParaRPr>
          </a:p>
          <a:p>
            <a:pPr>
              <a:lnSpc>
                <a:spcPct val="100000"/>
              </a:lnSpc>
            </a:pPr>
            <a:endParaRPr lang="en-US" dirty="0">
              <a:latin typeface="Calibri" panose="020F0502020204030204" charset="0"/>
              <a:cs typeface="Calibri" panose="020F0502020204030204" charset="0"/>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6"/>
          <p:cNvSpPr txBox="1">
            <a:spLocks noGrp="1"/>
          </p:cNvSpPr>
          <p:nvPr>
            <p:ph type="title"/>
          </p:nvPr>
        </p:nvSpPr>
        <p:spPr>
          <a:xfrm>
            <a:off x="415290" y="410210"/>
            <a:ext cx="11360785" cy="1290320"/>
          </a:xfrm>
          <a:prstGeom prst="rect">
            <a:avLst/>
          </a:prstGeom>
          <a:solidFill>
            <a:srgbClr val="FF8000"/>
          </a:solidFill>
          <a:ln>
            <a:noFill/>
          </a:ln>
        </p:spPr>
        <p:txBody>
          <a:bodyPr spcFirstLastPara="1" vert="horz" wrap="square" lIns="121900" tIns="121900" rIns="121900" bIns="121900" rtlCol="0" anchor="t" anchorCtr="0">
            <a:noAutofit/>
          </a:bodyPr>
          <a:lstStyle/>
          <a:p>
            <a:pPr fontAlgn="ctr">
              <a:lnSpc>
                <a:spcPct val="100000"/>
              </a:lnSpc>
              <a:spcBef>
                <a:spcPts val="0"/>
              </a:spcBef>
              <a:buClr>
                <a:srgbClr val="000000"/>
              </a:buClr>
              <a:buSzPts val="2800"/>
            </a:pPr>
            <a:r>
              <a:rPr lang="en-GB" sz="4000" b="1" dirty="0">
                <a:solidFill>
                  <a:schemeClr val="bg1"/>
                </a:solidFill>
                <a:latin typeface="Calibri" panose="020F0502020204030204" charset="0"/>
                <a:cs typeface="Calibri" panose="020F0502020204030204" charset="0"/>
              </a:rPr>
              <a:t>Sample Tips To Conduct Interviews (Dos and Don’ts)</a:t>
            </a:r>
            <a:endParaRPr lang="en-GB" sz="4000" b="1" dirty="0">
              <a:solidFill>
                <a:schemeClr val="bg1"/>
              </a:solidFill>
              <a:latin typeface="Calibri" panose="020F0502020204030204" charset="0"/>
              <a:cs typeface="Calibri" panose="020F0502020204030204" charset="0"/>
            </a:endParaRPr>
          </a:p>
        </p:txBody>
      </p:sp>
      <p:sp>
        <p:nvSpPr>
          <p:cNvPr id="497" name="Google Shape;497;p56"/>
          <p:cNvSpPr txBox="1">
            <a:spLocks noGrp="1"/>
          </p:cNvSpPr>
          <p:nvPr>
            <p:ph type="body" idx="1"/>
          </p:nvPr>
        </p:nvSpPr>
        <p:spPr>
          <a:xfrm>
            <a:off x="416235" y="1780473"/>
            <a:ext cx="11360800" cy="4704800"/>
          </a:xfrm>
          <a:prstGeom prst="rect">
            <a:avLst/>
          </a:prstGeom>
          <a:noFill/>
          <a:ln>
            <a:noFill/>
          </a:ln>
        </p:spPr>
        <p:txBody>
          <a:bodyPr spcFirstLastPara="1" vert="horz" wrap="square" lIns="121900" tIns="121900" rIns="121900" bIns="121900" rtlCol="0" anchor="t" anchorCtr="0">
            <a:noAutofit/>
          </a:bodyPr>
          <a:lstStyle/>
          <a:p>
            <a:pPr marL="495300" indent="-342900">
              <a:lnSpc>
                <a:spcPct val="115000"/>
              </a:lnSpc>
              <a:spcBef>
                <a:spcPts val="0"/>
              </a:spcBef>
              <a:buSzPts val="1800"/>
            </a:pPr>
            <a:r>
              <a:rPr lang="en-GB" sz="2400" dirty="0">
                <a:solidFill>
                  <a:schemeClr val="tx1"/>
                </a:solidFill>
                <a:latin typeface="Calibri" panose="020F0502020204030204" charset="0"/>
                <a:ea typeface="Oswald"/>
                <a:cs typeface="Calibri" panose="020F0502020204030204" charset="0"/>
                <a:sym typeface="Oswald"/>
              </a:rPr>
              <a:t>It is obvious to us that AI has had tremendous impact over the last two years since ChatGPT came under the spotlight. Do you think AI will be integrated into various field of work in the future?</a:t>
            </a:r>
            <a:endParaRPr lang="en-GB" sz="2400" dirty="0">
              <a:solidFill>
                <a:schemeClr val="tx1"/>
              </a:solidFill>
              <a:latin typeface="Calibri" panose="020F0502020204030204" charset="0"/>
              <a:ea typeface="Oswald"/>
              <a:cs typeface="Calibri" panose="020F0502020204030204" charset="0"/>
              <a:sym typeface="Oswald"/>
            </a:endParaRPr>
          </a:p>
          <a:p>
            <a:pPr marL="152400" indent="0">
              <a:lnSpc>
                <a:spcPct val="115000"/>
              </a:lnSpc>
              <a:spcBef>
                <a:spcPts val="0"/>
              </a:spcBef>
              <a:buSzPts val="1800"/>
              <a:buNone/>
            </a:pPr>
            <a:r>
              <a:rPr lang="en-GB" sz="2400" dirty="0">
                <a:solidFill>
                  <a:srgbClr val="C00000"/>
                </a:solidFill>
                <a:latin typeface="Calibri" panose="020F0502020204030204" charset="0"/>
                <a:ea typeface="Oswald"/>
                <a:cs typeface="Calibri" panose="020F0502020204030204" charset="0"/>
                <a:sym typeface="Oswald"/>
              </a:rPr>
              <a:t>Given the popularity of AI-run platforms over the recent past, do you think it will have even more impact in other industries?</a:t>
            </a:r>
            <a:endParaRPr sz="2400" dirty="0">
              <a:solidFill>
                <a:srgbClr val="C00000"/>
              </a:solidFill>
              <a:latin typeface="Calibri" panose="020F0502020204030204" charset="0"/>
              <a:ea typeface="Oswald"/>
              <a:cs typeface="Calibri" panose="020F0502020204030204" charset="0"/>
              <a:sym typeface="Oswald"/>
            </a:endParaRPr>
          </a:p>
          <a:p>
            <a:pPr marL="495300" indent="-342900">
              <a:lnSpc>
                <a:spcPct val="115000"/>
              </a:lnSpc>
              <a:spcBef>
                <a:spcPts val="0"/>
              </a:spcBef>
              <a:buSzPts val="1800"/>
            </a:pPr>
            <a:r>
              <a:rPr lang="en-GB" sz="2400" dirty="0">
                <a:solidFill>
                  <a:schemeClr val="tx1"/>
                </a:solidFill>
                <a:latin typeface="Calibri" panose="020F0502020204030204" charset="0"/>
                <a:ea typeface="Oswald"/>
                <a:cs typeface="Calibri" panose="020F0502020204030204" charset="0"/>
                <a:sym typeface="Oswald"/>
              </a:rPr>
              <a:t>Between veganism, vegetarianism and non-vegetarianism, which would you choose?</a:t>
            </a:r>
            <a:endParaRPr lang="en-GB" sz="2400" dirty="0">
              <a:solidFill>
                <a:schemeClr val="tx1"/>
              </a:solidFill>
              <a:latin typeface="Calibri" panose="020F0502020204030204" charset="0"/>
              <a:ea typeface="Oswald"/>
              <a:cs typeface="Calibri" panose="020F0502020204030204" charset="0"/>
              <a:sym typeface="Oswald"/>
            </a:endParaRPr>
          </a:p>
          <a:p>
            <a:pPr marL="152400" indent="0">
              <a:lnSpc>
                <a:spcPct val="115000"/>
              </a:lnSpc>
              <a:spcBef>
                <a:spcPts val="0"/>
              </a:spcBef>
              <a:buSzPts val="1800"/>
              <a:buNone/>
            </a:pPr>
            <a:r>
              <a:rPr lang="en-GB" sz="2400" dirty="0">
                <a:solidFill>
                  <a:srgbClr val="C00000"/>
                </a:solidFill>
                <a:latin typeface="Calibri" panose="020F0502020204030204" charset="0"/>
                <a:ea typeface="Oswald"/>
                <a:cs typeface="Calibri" panose="020F0502020204030204" charset="0"/>
                <a:sym typeface="Oswald"/>
              </a:rPr>
              <a:t>What kind of eating habits do you prefer?</a:t>
            </a:r>
            <a:endParaRPr sz="2400" dirty="0">
              <a:solidFill>
                <a:srgbClr val="C00000"/>
              </a:solidFill>
              <a:latin typeface="Calibri" panose="020F0502020204030204" charset="0"/>
              <a:ea typeface="Oswald"/>
              <a:cs typeface="Calibri" panose="020F0502020204030204" charset="0"/>
              <a:sym typeface="Oswald"/>
            </a:endParaRPr>
          </a:p>
          <a:p>
            <a:pPr marL="495300" indent="-342900">
              <a:lnSpc>
                <a:spcPct val="115000"/>
              </a:lnSpc>
              <a:spcBef>
                <a:spcPts val="0"/>
              </a:spcBef>
              <a:buSzPts val="1800"/>
            </a:pPr>
            <a:r>
              <a:rPr lang="en-GB" sz="2400" dirty="0">
                <a:solidFill>
                  <a:schemeClr val="tx1"/>
                </a:solidFill>
                <a:latin typeface="Calibri" panose="020F0502020204030204" charset="0"/>
                <a:ea typeface="Oswald"/>
                <a:cs typeface="Calibri" panose="020F0502020204030204" charset="0"/>
                <a:sym typeface="Oswald"/>
              </a:rPr>
              <a:t>The recent update to the UIU website seems fantastic, don’t you think so?</a:t>
            </a:r>
            <a:endParaRPr lang="en-GB" sz="2400" dirty="0">
              <a:solidFill>
                <a:schemeClr val="tx1"/>
              </a:solidFill>
              <a:latin typeface="Calibri" panose="020F0502020204030204" charset="0"/>
              <a:ea typeface="Oswald"/>
              <a:cs typeface="Calibri" panose="020F0502020204030204" charset="0"/>
              <a:sym typeface="Oswald"/>
            </a:endParaRPr>
          </a:p>
          <a:p>
            <a:pPr marL="152400" indent="0">
              <a:lnSpc>
                <a:spcPct val="115000"/>
              </a:lnSpc>
              <a:spcBef>
                <a:spcPts val="0"/>
              </a:spcBef>
              <a:buSzPts val="1800"/>
              <a:buNone/>
            </a:pPr>
            <a:r>
              <a:rPr lang="en-GB" sz="2400" dirty="0">
                <a:solidFill>
                  <a:srgbClr val="C00000"/>
                </a:solidFill>
                <a:latin typeface="Calibri" panose="020F0502020204030204" charset="0"/>
                <a:ea typeface="Oswald"/>
                <a:cs typeface="Calibri" panose="020F0502020204030204" charset="0"/>
                <a:sym typeface="Oswald"/>
              </a:rPr>
              <a:t>What do you think about the recent update to the UIU website?</a:t>
            </a:r>
            <a:endParaRPr sz="2400" dirty="0">
              <a:solidFill>
                <a:srgbClr val="C00000"/>
              </a:solidFill>
              <a:latin typeface="Calibri" panose="020F0502020204030204" charset="0"/>
              <a:ea typeface="Oswald"/>
              <a:cs typeface="Calibri" panose="020F0502020204030204" charset="0"/>
              <a:sym typeface="Oswald"/>
            </a:endParaRPr>
          </a:p>
          <a:p>
            <a:pPr marL="152400" indent="0">
              <a:lnSpc>
                <a:spcPct val="115000"/>
              </a:lnSpc>
              <a:spcBef>
                <a:spcPts val="0"/>
              </a:spcBef>
              <a:buSzPts val="1800"/>
              <a:buNone/>
            </a:pPr>
            <a:endParaRPr lang="en-GB" sz="2400" dirty="0">
              <a:solidFill>
                <a:srgbClr val="C00000"/>
              </a:solidFill>
              <a:latin typeface="Calibri" panose="020F0502020204030204" charset="0"/>
              <a:ea typeface="Oswald"/>
              <a:cs typeface="Calibri" panose="020F0502020204030204" charset="0"/>
              <a:sym typeface="Oswald"/>
            </a:endParaRPr>
          </a:p>
        </p:txBody>
      </p:sp>
      <p:sp>
        <p:nvSpPr>
          <p:cNvPr id="498" name="Google Shape;498;p56"/>
          <p:cNvSpPr txBox="1">
            <a:spLocks noGrp="1"/>
          </p:cNvSpPr>
          <p:nvPr>
            <p:ph type="sldNum" idx="12"/>
          </p:nvPr>
        </p:nvSpPr>
        <p:spPr>
          <a:xfrm>
            <a:off x="11320333" y="6241345"/>
            <a:ext cx="731600" cy="524800"/>
          </a:xfrm>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2" name="Footer Placeholder 1"/>
          <p:cNvSpPr>
            <a:spLocks noGrp="1"/>
          </p:cNvSpPr>
          <p:nvPr>
            <p:ph type="ftr" sz="quarter" idx="11"/>
          </p:nvPr>
        </p:nvSpPr>
        <p:spPr/>
        <p:txBody>
          <a:bodyPr/>
          <a:lstStyle/>
          <a:p>
            <a:r>
              <a:rPr lang="en-US"/>
              <a:t>Tasmin Sanjida, Lecturer, CSE, UIU</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415290" y="258445"/>
            <a:ext cx="11360785" cy="1098550"/>
          </a:xfrm>
          <a:solidFill>
            <a:srgbClr val="FF8000"/>
          </a:solidFill>
          <a:ln>
            <a:noFill/>
          </a:ln>
        </p:spPr>
        <p:txBody>
          <a:bodyPr anchor="ctr" anchorCtr="0">
            <a:normAutofit/>
          </a:bodyPr>
          <a:p>
            <a:r>
              <a:rPr lang="en-GB" b="1">
                <a:solidFill>
                  <a:schemeClr val="bg1"/>
                </a:solidFill>
                <a:latin typeface="Calibri" panose="020F0502020204030204" charset="0"/>
                <a:cs typeface="Calibri" panose="020F0502020204030204" charset="0"/>
                <a:sym typeface="+mn-ea"/>
              </a:rPr>
              <a:t>Sample Tips To Conduct Interviews</a:t>
            </a:r>
            <a:endParaRPr lang="en-GB" b="1">
              <a:solidFill>
                <a:schemeClr val="bg1"/>
              </a:solidFill>
              <a:latin typeface="Calibri" panose="020F0502020204030204" charset="0"/>
              <a:cs typeface="Calibri" panose="020F0502020204030204" charset="0"/>
              <a:sym typeface="+mn-ea"/>
            </a:endParaRPr>
          </a:p>
        </p:txBody>
      </p:sp>
      <p:sp>
        <p:nvSpPr>
          <p:cNvPr id="3" name="Text Placeholder 2"/>
          <p:cNvSpPr/>
          <p:nvPr>
            <p:ph type="body" idx="1"/>
          </p:nvPr>
        </p:nvSpPr>
        <p:spPr/>
        <p:txBody>
          <a:bodyPr>
            <a:normAutofit fontScale="90000"/>
          </a:bodyPr>
          <a:p>
            <a:pPr marL="152400" indent="0">
              <a:lnSpc>
                <a:spcPct val="100000"/>
              </a:lnSpc>
              <a:buNone/>
            </a:pPr>
            <a:r>
              <a:rPr lang="en-US" altLang="en-US" sz="2400" b="1">
                <a:solidFill>
                  <a:srgbClr val="FF0000"/>
                </a:solidFill>
                <a:latin typeface="Calibri" panose="020F0502020204030204" charset="0"/>
                <a:cs typeface="Calibri" panose="020F0502020204030204" charset="0"/>
              </a:rPr>
              <a:t>We have reached the end to our questions. Thank you for your time.</a:t>
            </a:r>
            <a:r>
              <a:rPr lang="en-US" altLang="en-US" sz="2400">
                <a:latin typeface="Calibri" panose="020F0502020204030204" charset="0"/>
                <a:cs typeface="Calibri" panose="020F0502020204030204" charset="0"/>
              </a:rPr>
              <a:t> (Don’t conclude the interview instantly. Recap the interview with the questions and responses in order to give the interviewee an opportunity to modify their responses)</a:t>
            </a:r>
            <a:endParaRPr lang="en-US" altLang="en-US" sz="2400">
              <a:latin typeface="Calibri" panose="020F0502020204030204" charset="0"/>
              <a:cs typeface="Calibri" panose="020F0502020204030204" charset="0"/>
            </a:endParaRPr>
          </a:p>
          <a:p>
            <a:pPr marL="152400" indent="0">
              <a:lnSpc>
                <a:spcPct val="100000"/>
              </a:lnSpc>
              <a:buNone/>
            </a:pPr>
            <a:r>
              <a:rPr lang="en-US" altLang="en-US" sz="2400" b="1">
                <a:solidFill>
                  <a:srgbClr val="00B050"/>
                </a:solidFill>
                <a:latin typeface="Calibri" panose="020F0502020204030204" charset="0"/>
                <a:cs typeface="Calibri" panose="020F0502020204030204" charset="0"/>
              </a:rPr>
              <a:t>We have reached the end to our questions. Before concluding, let me summarize this session.</a:t>
            </a:r>
            <a:endParaRPr lang="en-US" altLang="en-US" sz="2400" b="1">
              <a:solidFill>
                <a:srgbClr val="00B050"/>
              </a:solidFill>
              <a:latin typeface="Calibri" panose="020F0502020204030204" charset="0"/>
              <a:cs typeface="Calibri" panose="020F0502020204030204" charset="0"/>
            </a:endParaRPr>
          </a:p>
          <a:p>
            <a:pPr marL="152400" indent="0">
              <a:lnSpc>
                <a:spcPct val="100000"/>
              </a:lnSpc>
              <a:buNone/>
            </a:pPr>
            <a:endParaRPr lang="en-US" altLang="en-US" sz="2400">
              <a:latin typeface="Calibri" panose="020F0502020204030204" charset="0"/>
              <a:cs typeface="Calibri" panose="020F0502020204030204" charset="0"/>
            </a:endParaRPr>
          </a:p>
          <a:p>
            <a:pPr marL="152400" indent="0">
              <a:lnSpc>
                <a:spcPct val="100000"/>
              </a:lnSpc>
              <a:buNone/>
            </a:pPr>
            <a:r>
              <a:rPr lang="en-US" altLang="en-US" sz="2400" b="1">
                <a:solidFill>
                  <a:srgbClr val="00B050"/>
                </a:solidFill>
                <a:latin typeface="Calibri" panose="020F0502020204030204" charset="0"/>
                <a:cs typeface="Calibri" panose="020F0502020204030204" charset="0"/>
              </a:rPr>
              <a:t>Regarding the pollution crisis, your opinion was … .</a:t>
            </a:r>
            <a:endParaRPr lang="en-US" altLang="en-US" sz="2400" b="1">
              <a:solidFill>
                <a:srgbClr val="00B050"/>
              </a:solidFill>
              <a:latin typeface="Calibri" panose="020F0502020204030204" charset="0"/>
              <a:cs typeface="Calibri" panose="020F0502020204030204" charset="0"/>
            </a:endParaRPr>
          </a:p>
          <a:p>
            <a:pPr marL="152400" indent="0">
              <a:lnSpc>
                <a:spcPct val="100000"/>
              </a:lnSpc>
              <a:buNone/>
            </a:pPr>
            <a:r>
              <a:rPr lang="en-US" altLang="en-US" sz="2400" b="1">
                <a:solidFill>
                  <a:srgbClr val="00B050"/>
                </a:solidFill>
                <a:latin typeface="Calibri" panose="020F0502020204030204" charset="0"/>
                <a:cs typeface="Calibri" panose="020F0502020204030204" charset="0"/>
              </a:rPr>
              <a:t>When it comes to reducing the carbon footprint, you said your company is carrying out … .</a:t>
            </a:r>
            <a:endParaRPr lang="en-US" altLang="en-US" sz="2400" b="1">
              <a:solidFill>
                <a:srgbClr val="00B050"/>
              </a:solidFill>
              <a:latin typeface="Calibri" panose="020F0502020204030204" charset="0"/>
              <a:cs typeface="Calibri" panose="020F0502020204030204" charset="0"/>
            </a:endParaRPr>
          </a:p>
          <a:p>
            <a:pPr marL="152400" indent="0">
              <a:lnSpc>
                <a:spcPct val="100000"/>
              </a:lnSpc>
              <a:buNone/>
            </a:pPr>
            <a:r>
              <a:rPr lang="en-US" altLang="en-US" sz="2400" b="1">
                <a:solidFill>
                  <a:srgbClr val="00B050"/>
                </a:solidFill>
                <a:latin typeface="Calibri" panose="020F0502020204030204" charset="0"/>
                <a:cs typeface="Calibri" panose="020F0502020204030204" charset="0"/>
              </a:rPr>
              <a:t>In the future, you plan on … .</a:t>
            </a:r>
            <a:endParaRPr lang="en-US" altLang="en-US" sz="2400" b="1">
              <a:solidFill>
                <a:srgbClr val="00B050"/>
              </a:solidFill>
              <a:latin typeface="Calibri" panose="020F0502020204030204" charset="0"/>
              <a:cs typeface="Calibri" panose="020F0502020204030204" charset="0"/>
            </a:endParaRPr>
          </a:p>
          <a:p>
            <a:pPr marL="152400" indent="0">
              <a:lnSpc>
                <a:spcPct val="100000"/>
              </a:lnSpc>
              <a:buNone/>
            </a:pPr>
            <a:endParaRPr lang="en-US" altLang="en-US" sz="2400" b="1">
              <a:solidFill>
                <a:srgbClr val="00B050"/>
              </a:solidFill>
              <a:latin typeface="Calibri" panose="020F0502020204030204" charset="0"/>
              <a:cs typeface="Calibri" panose="020F0502020204030204" charset="0"/>
            </a:endParaRPr>
          </a:p>
          <a:p>
            <a:pPr marL="152400" indent="0">
              <a:lnSpc>
                <a:spcPct val="100000"/>
              </a:lnSpc>
              <a:buNone/>
            </a:pPr>
            <a:r>
              <a:rPr lang="en-US" altLang="en-US" sz="2400" b="1">
                <a:solidFill>
                  <a:srgbClr val="00B050"/>
                </a:solidFill>
                <a:latin typeface="Calibri" panose="020F0502020204030204" charset="0"/>
                <a:cs typeface="Calibri" panose="020F0502020204030204" charset="0"/>
              </a:rPr>
              <a:t>I hope I have gotten everything noted down correctly. If needed, I would like to conduct a follow-up interview if it is okay with you, given your busy schedule. Thank you so much for your time.</a:t>
            </a:r>
            <a:endParaRPr lang="en-US" altLang="en-US" sz="2400" b="1">
              <a:solidFill>
                <a:srgbClr val="00B050"/>
              </a:solidFill>
              <a:latin typeface="Calibri" panose="020F0502020204030204" charset="0"/>
              <a:cs typeface="Calibri" panose="020F0502020204030204" charset="0"/>
            </a:endParaRPr>
          </a:p>
          <a:p>
            <a:pPr marL="152400" indent="0">
              <a:lnSpc>
                <a:spcPct val="100000"/>
              </a:lnSpc>
              <a:buNone/>
            </a:pPr>
            <a:endParaRPr lang="en-US" altLang="en-US" sz="2400" b="1">
              <a:solidFill>
                <a:srgbClr val="00B050"/>
              </a:solidFill>
              <a:latin typeface="Calibri" panose="020F0502020204030204" charset="0"/>
              <a:cs typeface="Calibri" panose="020F0502020204030204" charset="0"/>
            </a:endParaRPr>
          </a:p>
        </p:txBody>
      </p:sp>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8"/>
          <p:cNvSpPr txBox="1">
            <a:spLocks noGrp="1"/>
          </p:cNvSpPr>
          <p:nvPr>
            <p:ph type="title"/>
          </p:nvPr>
        </p:nvSpPr>
        <p:spPr>
          <a:xfrm>
            <a:off x="311150" y="203835"/>
            <a:ext cx="11360785" cy="798195"/>
          </a:xfrm>
          <a:prstGeom prst="rect">
            <a:avLst/>
          </a:prstGeom>
          <a:solidFill>
            <a:srgbClr val="FF8000"/>
          </a:solidFill>
          <a:ln>
            <a:noFill/>
          </a:ln>
        </p:spPr>
        <p:txBody>
          <a:bodyPr spcFirstLastPara="1" vert="horz" wrap="square" lIns="121900" tIns="121900" rIns="121900" bIns="121900" rtlCol="0" anchor="ctr" anchorCtr="0">
            <a:noAutofit/>
          </a:bodyPr>
          <a:lstStyle/>
          <a:p>
            <a:pPr>
              <a:spcBef>
                <a:spcPts val="0"/>
              </a:spcBef>
              <a:buClr>
                <a:srgbClr val="000000"/>
              </a:buClr>
              <a:buSzPts val="2800"/>
            </a:pPr>
            <a:r>
              <a:rPr lang="en-GB" b="1" dirty="0">
                <a:solidFill>
                  <a:schemeClr val="bg1"/>
                </a:solidFill>
                <a:latin typeface="Calibri" panose="020F0502020204030204" charset="0"/>
                <a:cs typeface="Calibri" panose="020F0502020204030204" charset="0"/>
              </a:rPr>
              <a:t>Sample Guide To Conduct Interviews</a:t>
            </a:r>
            <a:endParaRPr lang="en-GB" b="1" dirty="0">
              <a:solidFill>
                <a:schemeClr val="bg1"/>
              </a:solidFill>
              <a:latin typeface="Calibri" panose="020F0502020204030204" charset="0"/>
              <a:cs typeface="Calibri" panose="020F0502020204030204" charset="0"/>
            </a:endParaRPr>
          </a:p>
        </p:txBody>
      </p:sp>
      <p:sp>
        <p:nvSpPr>
          <p:cNvPr id="511" name="Google Shape;511;p58"/>
          <p:cNvSpPr txBox="1">
            <a:spLocks noGrp="1"/>
          </p:cNvSpPr>
          <p:nvPr>
            <p:ph type="sldNum" idx="12"/>
          </p:nvPr>
        </p:nvSpPr>
        <p:spPr>
          <a:xfrm>
            <a:off x="11320333" y="6241345"/>
            <a:ext cx="731600" cy="524800"/>
          </a:xfrm>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12" name="Google Shape;512;p58" descr="whi74173_0603"/>
          <p:cNvPicPr preferRelativeResize="0"/>
          <p:nvPr/>
        </p:nvPicPr>
        <p:blipFill rotWithShape="1">
          <a:blip r:embed="rId1"/>
          <a:srcRect b="38890"/>
          <a:stretch>
            <a:fillRect/>
          </a:stretch>
        </p:blipFill>
        <p:spPr>
          <a:xfrm>
            <a:off x="382905" y="1002030"/>
            <a:ext cx="11288395" cy="524002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
        <p:nvSpPr>
          <p:cNvPr id="2" name="Footer Placeholder 1"/>
          <p:cNvSpPr>
            <a:spLocks noGrp="1"/>
          </p:cNvSpPr>
          <p:nvPr>
            <p:ph type="ftr" sz="quarter" idx="11"/>
          </p:nvPr>
        </p:nvSpPr>
        <p:spPr/>
        <p:txBody>
          <a:bodyPr/>
          <a:lstStyle/>
          <a:p>
            <a:r>
              <a:rPr lang="en-US"/>
              <a:t>Tasmin Sanjida, Lecturer, CSE, UIU</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541;p62"/>
          <p:cNvPicPr preferRelativeResize="0"/>
          <p:nvPr/>
        </p:nvPicPr>
        <p:blipFill>
          <a:blip r:embed="rId1"/>
          <a:stretch>
            <a:fillRect/>
          </a:stretch>
        </p:blipFill>
        <p:spPr>
          <a:xfrm>
            <a:off x="7397228" y="2981553"/>
            <a:ext cx="4501922" cy="2401025"/>
          </a:xfrm>
          <a:prstGeom prst="rect">
            <a:avLst/>
          </a:prstGeom>
          <a:noFill/>
          <a:ln>
            <a:noFill/>
          </a:ln>
        </p:spPr>
      </p:pic>
      <p:sp>
        <p:nvSpPr>
          <p:cNvPr id="2" name="Title 1"/>
          <p:cNvSpPr>
            <a:spLocks noGrp="1"/>
          </p:cNvSpPr>
          <p:nvPr>
            <p:ph type="title"/>
          </p:nvPr>
        </p:nvSpPr>
        <p:spPr>
          <a:solidFill>
            <a:srgbClr val="FF8000"/>
          </a:solidFill>
          <a:ln>
            <a:noFill/>
          </a:ln>
        </p:spPr>
        <p:txBody>
          <a:bodyPr/>
          <a:lstStyle/>
          <a:p>
            <a:r>
              <a:rPr lang="en-US" altLang="en-GB" sz="4400" b="1" dirty="0">
                <a:solidFill>
                  <a:schemeClr val="bg1"/>
                </a:solidFill>
              </a:rPr>
              <a:t>4. </a:t>
            </a:r>
            <a:r>
              <a:rPr lang="en-GB" sz="4400" b="1" dirty="0">
                <a:solidFill>
                  <a:schemeClr val="bg1"/>
                </a:solidFill>
              </a:rPr>
              <a:t>Questionnaires</a:t>
            </a:r>
            <a:endParaRPr lang="en-GB" sz="4400" b="1" dirty="0">
              <a:solidFill>
                <a:schemeClr val="bg1"/>
              </a:solidFill>
            </a:endParaRPr>
          </a:p>
        </p:txBody>
      </p:sp>
      <p:sp>
        <p:nvSpPr>
          <p:cNvPr id="3" name="Content Placeholder 2"/>
          <p:cNvSpPr>
            <a:spLocks noGrp="1"/>
          </p:cNvSpPr>
          <p:nvPr>
            <p:ph idx="1"/>
          </p:nvPr>
        </p:nvSpPr>
        <p:spPr/>
        <p:txBody>
          <a:bodyPr>
            <a:normAutofit/>
          </a:bodyPr>
          <a:lstStyle/>
          <a:p>
            <a:pPr marL="76200" lvl="0" indent="0" algn="l" rtl="0">
              <a:lnSpc>
                <a:spcPct val="100000"/>
              </a:lnSpc>
              <a:spcBef>
                <a:spcPts val="0"/>
              </a:spcBef>
              <a:spcAft>
                <a:spcPts val="0"/>
              </a:spcAft>
              <a:buSzPts val="2400"/>
              <a:buNone/>
            </a:pPr>
            <a:r>
              <a:rPr lang="en-US" sz="2400" dirty="0">
                <a:latin typeface="Calibri" panose="020F0502020204030204" charset="0"/>
                <a:ea typeface="Oswald"/>
                <a:cs typeface="Calibri" panose="020F0502020204030204" charset="0"/>
                <a:sym typeface="Oswald"/>
              </a:rPr>
              <a:t>A list of questions or items used to gather data from respondents about their attitudes, experiences, or opinions. Can collect both qualitative and quantitative data.</a:t>
            </a:r>
            <a:endParaRPr lang="en-US" sz="2400" dirty="0">
              <a:latin typeface="Calibri" panose="020F0502020204030204" charset="0"/>
              <a:ea typeface="Oswald"/>
              <a:cs typeface="Calibri" panose="020F0502020204030204" charset="0"/>
              <a:sym typeface="Oswald"/>
            </a:endParaRPr>
          </a:p>
          <a:p>
            <a:pPr marL="0" lvl="0" indent="0" algn="l" rtl="0">
              <a:lnSpc>
                <a:spcPct val="100000"/>
              </a:lnSpc>
              <a:spcBef>
                <a:spcPts val="0"/>
              </a:spcBef>
              <a:spcAft>
                <a:spcPts val="0"/>
              </a:spcAft>
              <a:buNone/>
            </a:pPr>
            <a:r>
              <a:rPr lang="en-US" sz="2400" b="1" dirty="0">
                <a:latin typeface="Calibri" panose="020F0502020204030204" charset="0"/>
                <a:ea typeface="Oswald"/>
                <a:cs typeface="Calibri" panose="020F0502020204030204" charset="0"/>
                <a:sym typeface="Oswald"/>
              </a:rPr>
              <a:t>Types of questions</a:t>
            </a:r>
            <a:endParaRPr lang="en-US" sz="2400" b="1" dirty="0">
              <a:latin typeface="Calibri" panose="020F0502020204030204" charset="0"/>
              <a:ea typeface="Oswald"/>
              <a:cs typeface="Calibri" panose="020F0502020204030204" charset="0"/>
              <a:sym typeface="Oswald"/>
            </a:endParaRPr>
          </a:p>
          <a:p>
            <a:pPr marL="590550" lvl="0" indent="-342900" algn="just" rtl="0">
              <a:lnSpc>
                <a:spcPct val="100000"/>
              </a:lnSpc>
              <a:spcBef>
                <a:spcPts val="0"/>
              </a:spcBef>
              <a:spcAft>
                <a:spcPts val="0"/>
              </a:spcAft>
              <a:buSzPts val="2400"/>
            </a:pPr>
            <a:r>
              <a:rPr lang="en-US" sz="2400" dirty="0">
                <a:latin typeface="Calibri" panose="020F0502020204030204" charset="0"/>
                <a:ea typeface="Oswald Light"/>
                <a:cs typeface="Calibri" panose="020F0502020204030204" charset="0"/>
                <a:sym typeface="Oswald Light"/>
              </a:rPr>
              <a:t>Short Answers (one-line or one-word answers)</a:t>
            </a:r>
            <a:endParaRPr lang="en-US" sz="2400" dirty="0">
              <a:latin typeface="Calibri" panose="020F0502020204030204" charset="0"/>
              <a:ea typeface="Oswald Light"/>
              <a:cs typeface="Calibri" panose="020F0502020204030204" charset="0"/>
              <a:sym typeface="Oswald Light"/>
            </a:endParaRPr>
          </a:p>
          <a:p>
            <a:pPr marL="590550" lvl="0" indent="-342900" algn="just" rtl="0">
              <a:lnSpc>
                <a:spcPct val="100000"/>
              </a:lnSpc>
              <a:spcBef>
                <a:spcPts val="0"/>
              </a:spcBef>
              <a:spcAft>
                <a:spcPts val="0"/>
              </a:spcAft>
              <a:buSzPts val="2400"/>
            </a:pPr>
            <a:r>
              <a:rPr lang="en-US" sz="2400" dirty="0">
                <a:latin typeface="Calibri" panose="020F0502020204030204" charset="0"/>
                <a:ea typeface="Oswald Light"/>
                <a:cs typeface="Calibri" panose="020F0502020204030204" charset="0"/>
                <a:sym typeface="Oswald Light"/>
              </a:rPr>
              <a:t>Long Answers (paragraph) [</a:t>
            </a:r>
            <a:r>
              <a:rPr lang="en-US" sz="2400" dirty="0">
                <a:solidFill>
                  <a:srgbClr val="E06666"/>
                </a:solidFill>
                <a:latin typeface="Calibri" panose="020F0502020204030204" charset="0"/>
                <a:ea typeface="Oswald Light"/>
                <a:cs typeface="Calibri" panose="020F0502020204030204" charset="0"/>
                <a:sym typeface="Oswald Light"/>
              </a:rPr>
              <a:t>not suggested</a:t>
            </a:r>
            <a:r>
              <a:rPr lang="en-US" sz="2400" dirty="0">
                <a:latin typeface="Calibri" panose="020F0502020204030204" charset="0"/>
                <a:ea typeface="Oswald Light"/>
                <a:cs typeface="Calibri" panose="020F0502020204030204" charset="0"/>
                <a:sym typeface="Oswald Light"/>
              </a:rPr>
              <a:t>]</a:t>
            </a:r>
            <a:endParaRPr lang="en-US" sz="2400" dirty="0">
              <a:latin typeface="Calibri" panose="020F0502020204030204" charset="0"/>
              <a:ea typeface="Oswald Light"/>
              <a:cs typeface="Calibri" panose="020F0502020204030204" charset="0"/>
              <a:sym typeface="Oswald Light"/>
            </a:endParaRPr>
          </a:p>
          <a:p>
            <a:pPr marL="590550" lvl="0" indent="-342900" algn="just" rtl="0">
              <a:lnSpc>
                <a:spcPct val="100000"/>
              </a:lnSpc>
              <a:spcBef>
                <a:spcPts val="0"/>
              </a:spcBef>
              <a:spcAft>
                <a:spcPts val="0"/>
              </a:spcAft>
              <a:buSzPts val="2400"/>
            </a:pPr>
            <a:r>
              <a:rPr lang="en-US" sz="2400" dirty="0">
                <a:latin typeface="Calibri" panose="020F0502020204030204" charset="0"/>
                <a:ea typeface="Oswald Light"/>
                <a:cs typeface="Calibri" panose="020F0502020204030204" charset="0"/>
                <a:sym typeface="Oswald Light"/>
              </a:rPr>
              <a:t>Multiple Choice Questions</a:t>
            </a:r>
            <a:endParaRPr lang="en-US" sz="2400" dirty="0">
              <a:latin typeface="Calibri" panose="020F0502020204030204" charset="0"/>
              <a:ea typeface="Oswald Light"/>
              <a:cs typeface="Calibri" panose="020F0502020204030204" charset="0"/>
              <a:sym typeface="Oswald Light"/>
            </a:endParaRPr>
          </a:p>
          <a:p>
            <a:pPr marL="590550" lvl="0" indent="-342900" algn="just" rtl="0">
              <a:lnSpc>
                <a:spcPct val="100000"/>
              </a:lnSpc>
              <a:spcBef>
                <a:spcPts val="0"/>
              </a:spcBef>
              <a:spcAft>
                <a:spcPts val="0"/>
              </a:spcAft>
              <a:buSzPts val="2400"/>
            </a:pPr>
            <a:r>
              <a:rPr lang="en-US" sz="2400" dirty="0">
                <a:latin typeface="Calibri" panose="020F0502020204030204" charset="0"/>
                <a:ea typeface="Oswald Light"/>
                <a:cs typeface="Calibri" panose="020F0502020204030204" charset="0"/>
                <a:sym typeface="Oswald Light"/>
              </a:rPr>
              <a:t>True/False</a:t>
            </a:r>
            <a:endParaRPr lang="en-US" sz="2400" dirty="0">
              <a:latin typeface="Calibri" panose="020F0502020204030204" charset="0"/>
              <a:ea typeface="Oswald Light"/>
              <a:cs typeface="Calibri" panose="020F0502020204030204" charset="0"/>
              <a:sym typeface="Oswald Light"/>
            </a:endParaRPr>
          </a:p>
          <a:p>
            <a:pPr marL="590550" lvl="0" indent="-342900" algn="just" rtl="0">
              <a:lnSpc>
                <a:spcPct val="100000"/>
              </a:lnSpc>
              <a:spcBef>
                <a:spcPts val="0"/>
              </a:spcBef>
              <a:spcAft>
                <a:spcPts val="0"/>
              </a:spcAft>
              <a:buSzPts val="2400"/>
            </a:pPr>
            <a:r>
              <a:rPr lang="en-US" sz="2400" dirty="0">
                <a:latin typeface="Calibri" panose="020F0502020204030204" charset="0"/>
                <a:ea typeface="Oswald Light"/>
                <a:cs typeface="Calibri" panose="020F0502020204030204" charset="0"/>
                <a:sym typeface="Oswald Light"/>
              </a:rPr>
              <a:t>Fill in the blanks</a:t>
            </a:r>
            <a:endParaRPr lang="en-US" sz="2400" dirty="0">
              <a:latin typeface="Calibri" panose="020F0502020204030204" charset="0"/>
              <a:ea typeface="Oswald Light"/>
              <a:cs typeface="Calibri" panose="020F0502020204030204" charset="0"/>
              <a:sym typeface="Oswald Light"/>
            </a:endParaRPr>
          </a:p>
          <a:p>
            <a:pPr marL="590550" lvl="0" indent="-342900" algn="just" rtl="0">
              <a:lnSpc>
                <a:spcPct val="100000"/>
              </a:lnSpc>
              <a:spcBef>
                <a:spcPts val="0"/>
              </a:spcBef>
              <a:spcAft>
                <a:spcPts val="0"/>
              </a:spcAft>
              <a:buSzPts val="2400"/>
            </a:pPr>
            <a:r>
              <a:rPr lang="en-US" sz="2400" dirty="0">
                <a:latin typeface="Calibri" panose="020F0502020204030204" charset="0"/>
                <a:ea typeface="Oswald Light"/>
                <a:cs typeface="Calibri" panose="020F0502020204030204" charset="0"/>
                <a:sym typeface="Oswald Light"/>
              </a:rPr>
              <a:t>Checkboxes</a:t>
            </a:r>
            <a:endParaRPr lang="en-US" sz="2400" dirty="0">
              <a:latin typeface="Calibri" panose="020F0502020204030204" charset="0"/>
              <a:ea typeface="Oswald Light"/>
              <a:cs typeface="Calibri" panose="020F0502020204030204" charset="0"/>
              <a:sym typeface="Oswald Light"/>
            </a:endParaRPr>
          </a:p>
          <a:p>
            <a:pPr marL="590550" lvl="0" indent="-342900" algn="just" rtl="0">
              <a:lnSpc>
                <a:spcPct val="100000"/>
              </a:lnSpc>
              <a:spcBef>
                <a:spcPts val="0"/>
              </a:spcBef>
              <a:spcAft>
                <a:spcPts val="0"/>
              </a:spcAft>
              <a:buSzPts val="2400"/>
            </a:pPr>
            <a:r>
              <a:rPr lang="en-US" sz="2400" dirty="0">
                <a:latin typeface="Calibri" panose="020F0502020204030204" charset="0"/>
                <a:ea typeface="Oswald Light"/>
                <a:cs typeface="Calibri" panose="020F0502020204030204" charset="0"/>
                <a:sym typeface="Oswald Light"/>
              </a:rPr>
              <a:t>Linear Scale (1 to 5)</a:t>
            </a:r>
            <a:endParaRPr lang="en-US" sz="2400" dirty="0">
              <a:latin typeface="Calibri" panose="020F0502020204030204" charset="0"/>
              <a:ea typeface="Oswald Light"/>
              <a:cs typeface="Calibri" panose="020F0502020204030204" charset="0"/>
              <a:sym typeface="Oswald Light"/>
            </a:endParaRPr>
          </a:p>
          <a:p>
            <a:pPr marL="76200" lvl="0" indent="0" algn="l" rtl="0">
              <a:lnSpc>
                <a:spcPct val="100000"/>
              </a:lnSpc>
              <a:spcBef>
                <a:spcPts val="0"/>
              </a:spcBef>
              <a:spcAft>
                <a:spcPts val="0"/>
              </a:spcAft>
              <a:buSzPts val="2400"/>
              <a:buNone/>
            </a:pPr>
            <a:endParaRPr lang="en-US" sz="2400" dirty="0">
              <a:latin typeface="Calibri" panose="020F0502020204030204" charset="0"/>
              <a:ea typeface="Oswald"/>
              <a:cs typeface="Calibri" panose="020F0502020204030204" charset="0"/>
              <a:sym typeface="Oswald"/>
            </a:endParaRPr>
          </a:p>
          <a:p>
            <a:pPr marL="0" indent="0">
              <a:lnSpc>
                <a:spcPct val="100000"/>
              </a:lnSpc>
              <a:buNone/>
            </a:pPr>
            <a:endParaRPr lang="en-US" sz="2400" dirty="0">
              <a:latin typeface="Calibri" panose="020F0502020204030204" charset="0"/>
              <a:ea typeface="Oswald"/>
              <a:cs typeface="Calibri" panose="020F0502020204030204" charset="0"/>
              <a:sym typeface="Oswald"/>
            </a:endParaRPr>
          </a:p>
        </p:txBody>
      </p:sp>
      <p:sp>
        <p:nvSpPr>
          <p:cNvPr id="5" name="Footer Placeholder 4"/>
          <p:cNvSpPr>
            <a:spLocks noGrp="1"/>
          </p:cNvSpPr>
          <p:nvPr>
            <p:ph type="ftr" sz="quarter" idx="11"/>
          </p:nvPr>
        </p:nvSpPr>
        <p:spPr/>
        <p:txBody>
          <a:bodyPr/>
          <a:lstStyle/>
          <a:p>
            <a:r>
              <a:rPr lang="en-US"/>
              <a:t>Tasmin Sanjida, Lecturer, CSE, UIU</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US" altLang="en-GB" sz="4400" b="1" dirty="0">
                <a:solidFill>
                  <a:schemeClr val="bg1"/>
                </a:solidFill>
              </a:rPr>
              <a:t>4. </a:t>
            </a:r>
            <a:r>
              <a:rPr lang="en-GB" sz="4400" b="1" dirty="0">
                <a:solidFill>
                  <a:schemeClr val="bg1"/>
                </a:solidFill>
              </a:rPr>
              <a:t>Questionnaires</a:t>
            </a:r>
            <a:endParaRPr lang="en-GB" sz="4400" b="1" dirty="0">
              <a:solidFill>
                <a:schemeClr val="bg1"/>
              </a:solidFill>
            </a:endParaRPr>
          </a:p>
        </p:txBody>
      </p:sp>
      <p:sp>
        <p:nvSpPr>
          <p:cNvPr id="4" name="Content Placeholder 3"/>
          <p:cNvSpPr>
            <a:spLocks noGrp="1"/>
          </p:cNvSpPr>
          <p:nvPr>
            <p:ph sz="half" idx="1"/>
          </p:nvPr>
        </p:nvSpPr>
        <p:spPr>
          <a:xfrm>
            <a:off x="838200" y="1825625"/>
            <a:ext cx="4437380" cy="4351655"/>
          </a:xfrm>
        </p:spPr>
        <p:txBody>
          <a:bodyPr>
            <a:normAutofit/>
          </a:bodyPr>
          <a:lstStyle/>
          <a:p>
            <a:pPr marL="0" lvl="0" indent="0" algn="l" rtl="0">
              <a:lnSpc>
                <a:spcPct val="130000"/>
              </a:lnSpc>
              <a:spcBef>
                <a:spcPts val="0"/>
              </a:spcBef>
              <a:spcAft>
                <a:spcPts val="0"/>
              </a:spcAft>
              <a:buNone/>
            </a:pPr>
            <a:r>
              <a:rPr lang="en-US" sz="2400" b="1" dirty="0">
                <a:latin typeface="Calibri" panose="020F0502020204030204" charset="0"/>
                <a:ea typeface="Oswald"/>
                <a:cs typeface="Calibri" panose="020F0502020204030204" charset="0"/>
                <a:sym typeface="Oswald"/>
              </a:rPr>
              <a:t>Merits</a:t>
            </a:r>
            <a:endParaRPr lang="en-US" sz="2400" b="1" dirty="0">
              <a:latin typeface="Calibri" panose="020F0502020204030204" charset="0"/>
              <a:ea typeface="Oswald"/>
              <a:cs typeface="Calibri" panose="020F0502020204030204" charset="0"/>
              <a:sym typeface="Oswald"/>
            </a:endParaRPr>
          </a:p>
          <a:p>
            <a:pPr marL="457200" lvl="0" indent="-158750" algn="l" rtl="0">
              <a:lnSpc>
                <a:spcPct val="100000"/>
              </a:lnSpc>
              <a:spcBef>
                <a:spcPts val="0"/>
              </a:spcBef>
              <a:spcAft>
                <a:spcPts val="0"/>
              </a:spcAft>
              <a:buSzPts val="1600"/>
              <a:buFont typeface="Oswald Light"/>
              <a:buChar char="▸"/>
            </a:pPr>
            <a:r>
              <a:rPr lang="en-US" sz="2400" dirty="0">
                <a:solidFill>
                  <a:schemeClr val="accent6">
                    <a:lumMod val="50000"/>
                  </a:schemeClr>
                </a:solidFill>
                <a:latin typeface="Calibri" panose="020F0502020204030204" charset="0"/>
                <a:ea typeface="Oswald Light"/>
                <a:cs typeface="Calibri" panose="020F0502020204030204" charset="0"/>
                <a:sym typeface="Oswald Light"/>
              </a:rPr>
              <a:t>Economical</a:t>
            </a:r>
            <a:r>
              <a:rPr lang="en-US" sz="2400" dirty="0">
                <a:latin typeface="Calibri" panose="020F0502020204030204" charset="0"/>
                <a:ea typeface="Oswald Light"/>
                <a:cs typeface="Calibri" panose="020F0502020204030204" charset="0"/>
                <a:sym typeface="Oswald Light"/>
              </a:rPr>
              <a:t> and requires </a:t>
            </a:r>
            <a:r>
              <a:rPr lang="en-US" sz="2400" dirty="0">
                <a:solidFill>
                  <a:schemeClr val="accent6">
                    <a:lumMod val="50000"/>
                  </a:schemeClr>
                </a:solidFill>
                <a:latin typeface="Calibri" panose="020F0502020204030204" charset="0"/>
                <a:ea typeface="Oswald Light"/>
                <a:cs typeface="Calibri" panose="020F0502020204030204" charset="0"/>
                <a:sym typeface="Oswald Light"/>
              </a:rPr>
              <a:t>less skill </a:t>
            </a:r>
            <a:r>
              <a:rPr lang="en-US" sz="2400" dirty="0">
                <a:latin typeface="Calibri" panose="020F0502020204030204" charset="0"/>
                <a:ea typeface="Oswald Light"/>
                <a:cs typeface="Calibri" panose="020F0502020204030204" charset="0"/>
                <a:sym typeface="Oswald Light"/>
              </a:rPr>
              <a:t>to administer</a:t>
            </a:r>
            <a:endParaRPr lang="en-US" sz="2400" dirty="0">
              <a:latin typeface="Calibri" panose="020F0502020204030204" charset="0"/>
              <a:ea typeface="Oswald Light"/>
              <a:cs typeface="Calibri" panose="020F0502020204030204" charset="0"/>
              <a:sym typeface="Oswald Light"/>
            </a:endParaRPr>
          </a:p>
          <a:p>
            <a:pPr marL="457200" lvl="0" indent="-158750" algn="l" rtl="0">
              <a:lnSpc>
                <a:spcPct val="100000"/>
              </a:lnSpc>
              <a:spcBef>
                <a:spcPts val="0"/>
              </a:spcBef>
              <a:spcAft>
                <a:spcPts val="0"/>
              </a:spcAft>
              <a:buSzPts val="1600"/>
              <a:buFont typeface="Oswald Light"/>
              <a:buChar char="▸"/>
            </a:pPr>
            <a:r>
              <a:rPr lang="en-US" sz="2400" dirty="0">
                <a:latin typeface="Calibri" panose="020F0502020204030204" charset="0"/>
                <a:ea typeface="Oswald Light"/>
                <a:cs typeface="Calibri" panose="020F0502020204030204" charset="0"/>
                <a:sym typeface="Oswald Light"/>
              </a:rPr>
              <a:t>Maintains </a:t>
            </a:r>
            <a:r>
              <a:rPr lang="en-US" sz="2400" dirty="0">
                <a:solidFill>
                  <a:schemeClr val="accent6">
                    <a:lumMod val="50000"/>
                  </a:schemeClr>
                </a:solidFill>
                <a:latin typeface="Calibri" panose="020F0502020204030204" charset="0"/>
                <a:ea typeface="Oswald Light"/>
                <a:cs typeface="Calibri" panose="020F0502020204030204" charset="0"/>
                <a:sym typeface="Oswald Light"/>
              </a:rPr>
              <a:t>anonymity</a:t>
            </a:r>
            <a:endParaRPr lang="en-US" sz="2400" dirty="0">
              <a:solidFill>
                <a:schemeClr val="accent6">
                  <a:lumMod val="50000"/>
                </a:schemeClr>
              </a:solidFill>
              <a:latin typeface="Calibri" panose="020F0502020204030204" charset="0"/>
              <a:ea typeface="Oswald Light"/>
              <a:cs typeface="Calibri" panose="020F0502020204030204" charset="0"/>
              <a:sym typeface="Oswald Light"/>
            </a:endParaRPr>
          </a:p>
          <a:p>
            <a:pPr marL="457200" lvl="0" indent="-158750" algn="l" rtl="0">
              <a:lnSpc>
                <a:spcPct val="100000"/>
              </a:lnSpc>
              <a:spcBef>
                <a:spcPts val="0"/>
              </a:spcBef>
              <a:spcAft>
                <a:spcPts val="0"/>
              </a:spcAft>
              <a:buSzPts val="1600"/>
              <a:buFont typeface="Oswald Light"/>
              <a:buChar char="▸"/>
            </a:pPr>
            <a:r>
              <a:rPr lang="en-US" sz="2400" dirty="0">
                <a:latin typeface="Calibri" panose="020F0502020204030204" charset="0"/>
                <a:ea typeface="Oswald Light"/>
                <a:cs typeface="Calibri" panose="020F0502020204030204" charset="0"/>
                <a:sym typeface="Oswald Light"/>
              </a:rPr>
              <a:t>Can target </a:t>
            </a:r>
            <a:r>
              <a:rPr lang="en-US" sz="2400" dirty="0">
                <a:solidFill>
                  <a:schemeClr val="accent6">
                    <a:lumMod val="50000"/>
                  </a:schemeClr>
                </a:solidFill>
                <a:latin typeface="Calibri" panose="020F0502020204030204" charset="0"/>
                <a:ea typeface="Oswald Light"/>
                <a:cs typeface="Calibri" panose="020F0502020204030204" charset="0"/>
                <a:sym typeface="Oswald Light"/>
              </a:rPr>
              <a:t>mass audience</a:t>
            </a:r>
            <a:endParaRPr lang="en-US" sz="2400" dirty="0">
              <a:solidFill>
                <a:schemeClr val="accent6">
                  <a:lumMod val="50000"/>
                </a:schemeClr>
              </a:solidFill>
              <a:latin typeface="Calibri" panose="020F0502020204030204" charset="0"/>
              <a:ea typeface="Oswald Light"/>
              <a:cs typeface="Calibri" panose="020F0502020204030204" charset="0"/>
              <a:sym typeface="Oswald Light"/>
            </a:endParaRPr>
          </a:p>
          <a:p>
            <a:pPr marL="457200" lvl="0" indent="-158750" algn="l" rtl="0">
              <a:lnSpc>
                <a:spcPct val="100000"/>
              </a:lnSpc>
              <a:spcBef>
                <a:spcPts val="0"/>
              </a:spcBef>
              <a:spcAft>
                <a:spcPts val="0"/>
              </a:spcAft>
              <a:buSzPts val="1600"/>
              <a:buFont typeface="Oswald Light"/>
              <a:buChar char="▸"/>
            </a:pPr>
            <a:r>
              <a:rPr lang="en-US" sz="2400" dirty="0">
                <a:latin typeface="Calibri" panose="020F0502020204030204" charset="0"/>
                <a:ea typeface="Oswald Light"/>
                <a:cs typeface="Calibri" panose="020F0502020204030204" charset="0"/>
                <a:sym typeface="Oswald Light"/>
              </a:rPr>
              <a:t>Easier </a:t>
            </a:r>
            <a:r>
              <a:rPr lang="en-US" sz="2400" dirty="0">
                <a:solidFill>
                  <a:schemeClr val="accent6">
                    <a:lumMod val="50000"/>
                  </a:schemeClr>
                </a:solidFill>
                <a:latin typeface="Calibri" panose="020F0502020204030204" charset="0"/>
                <a:ea typeface="Oswald Light"/>
                <a:cs typeface="Calibri" panose="020F0502020204030204" charset="0"/>
                <a:sym typeface="Oswald Light"/>
              </a:rPr>
              <a:t>data collection </a:t>
            </a:r>
            <a:r>
              <a:rPr lang="en-US" sz="2400" dirty="0">
                <a:latin typeface="Calibri" panose="020F0502020204030204" charset="0"/>
                <a:ea typeface="Oswald Light"/>
                <a:cs typeface="Calibri" panose="020F0502020204030204" charset="0"/>
                <a:sym typeface="Oswald Light"/>
              </a:rPr>
              <a:t>and </a:t>
            </a:r>
            <a:r>
              <a:rPr lang="en-US" sz="2400" dirty="0">
                <a:solidFill>
                  <a:schemeClr val="accent6">
                    <a:lumMod val="50000"/>
                  </a:schemeClr>
                </a:solidFill>
                <a:latin typeface="Calibri" panose="020F0502020204030204" charset="0"/>
                <a:ea typeface="Oswald Light"/>
                <a:cs typeface="Calibri" panose="020F0502020204030204" charset="0"/>
                <a:sym typeface="Oswald Light"/>
              </a:rPr>
              <a:t>analysis</a:t>
            </a:r>
            <a:endParaRPr lang="en-US" sz="2400" dirty="0">
              <a:solidFill>
                <a:schemeClr val="accent6">
                  <a:lumMod val="50000"/>
                </a:schemeClr>
              </a:solidFill>
              <a:latin typeface="Calibri" panose="020F0502020204030204" charset="0"/>
              <a:ea typeface="Oswald Light"/>
              <a:cs typeface="Calibri" panose="020F0502020204030204" charset="0"/>
              <a:sym typeface="Oswald Light"/>
            </a:endParaRPr>
          </a:p>
          <a:p>
            <a:pPr marL="0" indent="0" algn="l">
              <a:buNone/>
            </a:pPr>
            <a:endParaRPr lang="en-US" sz="2400" dirty="0">
              <a:latin typeface="Calibri" panose="020F0502020204030204" charset="0"/>
              <a:cs typeface="Calibri" panose="020F0502020204030204" charset="0"/>
            </a:endParaRPr>
          </a:p>
        </p:txBody>
      </p:sp>
      <p:sp>
        <p:nvSpPr>
          <p:cNvPr id="5" name="Content Placeholder 4"/>
          <p:cNvSpPr>
            <a:spLocks noGrp="1"/>
          </p:cNvSpPr>
          <p:nvPr>
            <p:ph sz="half" idx="2"/>
          </p:nvPr>
        </p:nvSpPr>
        <p:spPr>
          <a:xfrm>
            <a:off x="5417185" y="1825625"/>
            <a:ext cx="6151880" cy="4351655"/>
          </a:xfrm>
        </p:spPr>
        <p:txBody>
          <a:bodyPr>
            <a:noAutofit/>
          </a:bodyPr>
          <a:lstStyle/>
          <a:p>
            <a:pPr marL="0" lvl="0" indent="0" algn="l" rtl="0">
              <a:lnSpc>
                <a:spcPct val="130000"/>
              </a:lnSpc>
              <a:spcBef>
                <a:spcPts val="0"/>
              </a:spcBef>
              <a:spcAft>
                <a:spcPts val="0"/>
              </a:spcAft>
              <a:buNone/>
            </a:pPr>
            <a:r>
              <a:rPr lang="en-US" sz="2400" b="1" dirty="0">
                <a:latin typeface="Calibri" panose="020F0502020204030204" charset="0"/>
                <a:ea typeface="Oswald"/>
                <a:cs typeface="Calibri" panose="020F0502020204030204" charset="0"/>
                <a:sym typeface="Oswald"/>
              </a:rPr>
              <a:t>Demerits</a:t>
            </a:r>
            <a:endParaRPr lang="en-US" sz="2400" b="1" dirty="0">
              <a:latin typeface="Calibri" panose="020F0502020204030204" charset="0"/>
              <a:ea typeface="Oswald"/>
              <a:cs typeface="Calibri" panose="020F0502020204030204" charset="0"/>
              <a:sym typeface="Oswald"/>
            </a:endParaRPr>
          </a:p>
          <a:p>
            <a:pPr marL="641350" lvl="0" indent="-342900" algn="l" rtl="0">
              <a:lnSpc>
                <a:spcPct val="100000"/>
              </a:lnSpc>
              <a:spcBef>
                <a:spcPts val="600"/>
              </a:spcBef>
              <a:spcAft>
                <a:spcPts val="0"/>
              </a:spcAft>
              <a:buSzPts val="1600"/>
            </a:pPr>
            <a:r>
              <a:rPr lang="en-US" sz="2400" dirty="0">
                <a:solidFill>
                  <a:srgbClr val="E06666"/>
                </a:solidFill>
                <a:latin typeface="Calibri" panose="020F0502020204030204" charset="0"/>
                <a:ea typeface="Oswald Light"/>
                <a:cs typeface="Calibri" panose="020F0502020204030204" charset="0"/>
                <a:sym typeface="Oswald Light"/>
              </a:rPr>
              <a:t>Low response</a:t>
            </a:r>
            <a:r>
              <a:rPr lang="en-US" sz="2400" dirty="0">
                <a:latin typeface="Calibri" panose="020F0502020204030204" charset="0"/>
                <a:ea typeface="Oswald Light"/>
                <a:cs typeface="Calibri" panose="020F0502020204030204" charset="0"/>
                <a:sym typeface="Oswald Light"/>
              </a:rPr>
              <a:t> rates</a:t>
            </a:r>
            <a:endParaRPr lang="en-US" sz="2400" dirty="0">
              <a:solidFill>
                <a:srgbClr val="E06666"/>
              </a:solidFill>
              <a:latin typeface="Calibri" panose="020F0502020204030204" charset="0"/>
              <a:ea typeface="Oswald Light"/>
              <a:cs typeface="Calibri" panose="020F0502020204030204" charset="0"/>
              <a:sym typeface="Oswald Light"/>
            </a:endParaRPr>
          </a:p>
          <a:p>
            <a:pPr marL="641350" lvl="0" indent="-342900" algn="l" rtl="0">
              <a:lnSpc>
                <a:spcPct val="100000"/>
              </a:lnSpc>
              <a:spcBef>
                <a:spcPts val="600"/>
              </a:spcBef>
              <a:spcAft>
                <a:spcPts val="0"/>
              </a:spcAft>
              <a:buSzPts val="1600"/>
            </a:pPr>
            <a:r>
              <a:rPr lang="en-US" sz="2400" dirty="0">
                <a:latin typeface="Calibri" panose="020F0502020204030204" charset="0"/>
                <a:ea typeface="Oswald Light"/>
                <a:cs typeface="Calibri" panose="020F0502020204030204" charset="0"/>
                <a:sym typeface="Oswald Light"/>
              </a:rPr>
              <a:t>Includes </a:t>
            </a:r>
            <a:r>
              <a:rPr lang="en-US" sz="2400" dirty="0">
                <a:solidFill>
                  <a:srgbClr val="E06666"/>
                </a:solidFill>
                <a:latin typeface="Calibri" panose="020F0502020204030204" charset="0"/>
                <a:ea typeface="Oswald Light"/>
                <a:cs typeface="Calibri" panose="020F0502020204030204" charset="0"/>
                <a:sym typeface="Oswald Light"/>
              </a:rPr>
              <a:t>bias</a:t>
            </a:r>
            <a:r>
              <a:rPr lang="en-US" sz="2400" dirty="0">
                <a:latin typeface="Calibri" panose="020F0502020204030204" charset="0"/>
                <a:ea typeface="Oswald Light"/>
                <a:cs typeface="Calibri" panose="020F0502020204030204" charset="0"/>
                <a:sym typeface="Oswald Light"/>
              </a:rPr>
              <a:t> and </a:t>
            </a:r>
            <a:r>
              <a:rPr lang="en-US" sz="2400" dirty="0">
                <a:solidFill>
                  <a:srgbClr val="E06666"/>
                </a:solidFill>
                <a:latin typeface="Calibri" panose="020F0502020204030204" charset="0"/>
                <a:ea typeface="Oswald Light"/>
                <a:cs typeface="Calibri" panose="020F0502020204030204" charset="0"/>
                <a:sym typeface="Oswald Light"/>
              </a:rPr>
              <a:t>subjectivity</a:t>
            </a:r>
            <a:endParaRPr lang="en-US" sz="2400" dirty="0">
              <a:solidFill>
                <a:srgbClr val="E06666"/>
              </a:solidFill>
              <a:latin typeface="Calibri" panose="020F0502020204030204" charset="0"/>
              <a:ea typeface="Oswald Light"/>
              <a:cs typeface="Calibri" panose="020F0502020204030204" charset="0"/>
              <a:sym typeface="Oswald Light"/>
            </a:endParaRPr>
          </a:p>
          <a:p>
            <a:pPr marL="641350" lvl="0" indent="-342900" algn="l" rtl="0">
              <a:lnSpc>
                <a:spcPct val="100000"/>
              </a:lnSpc>
              <a:spcBef>
                <a:spcPts val="600"/>
              </a:spcBef>
              <a:spcAft>
                <a:spcPts val="0"/>
              </a:spcAft>
              <a:buSzPts val="1600"/>
            </a:pPr>
            <a:r>
              <a:rPr lang="en-US" sz="2400" dirty="0">
                <a:latin typeface="Calibri" panose="020F0502020204030204" charset="0"/>
                <a:ea typeface="Oswald Light"/>
                <a:cs typeface="Calibri" panose="020F0502020204030204" charset="0"/>
                <a:sym typeface="Oswald Light"/>
              </a:rPr>
              <a:t>Mostly </a:t>
            </a:r>
            <a:r>
              <a:rPr lang="en-US" sz="2400" dirty="0">
                <a:solidFill>
                  <a:srgbClr val="E06666"/>
                </a:solidFill>
                <a:latin typeface="Calibri" panose="020F0502020204030204" charset="0"/>
                <a:ea typeface="Oswald Light"/>
                <a:cs typeface="Calibri" panose="020F0502020204030204" charset="0"/>
                <a:sym typeface="Oswald Light"/>
              </a:rPr>
              <a:t>short answers</a:t>
            </a:r>
            <a:r>
              <a:rPr lang="en-US" sz="2400" dirty="0">
                <a:latin typeface="Calibri" panose="020F0502020204030204" charset="0"/>
                <a:ea typeface="Oswald Light"/>
                <a:cs typeface="Calibri" panose="020F0502020204030204" charset="0"/>
                <a:sym typeface="Oswald Light"/>
              </a:rPr>
              <a:t> (No elaboration)</a:t>
            </a:r>
            <a:endParaRPr lang="en-US" sz="2400" dirty="0">
              <a:latin typeface="Calibri" panose="020F0502020204030204" charset="0"/>
              <a:ea typeface="Oswald Light"/>
              <a:cs typeface="Calibri" panose="020F0502020204030204" charset="0"/>
              <a:sym typeface="Oswald Light"/>
            </a:endParaRPr>
          </a:p>
          <a:p>
            <a:pPr marL="641350" lvl="0" indent="-342900" algn="l" rtl="0">
              <a:lnSpc>
                <a:spcPct val="100000"/>
              </a:lnSpc>
              <a:spcBef>
                <a:spcPts val="600"/>
              </a:spcBef>
              <a:spcAft>
                <a:spcPts val="0"/>
              </a:spcAft>
              <a:buSzPts val="1600"/>
            </a:pPr>
            <a:r>
              <a:rPr lang="en-US" sz="2400" dirty="0">
                <a:latin typeface="Calibri" panose="020F0502020204030204" charset="0"/>
                <a:ea typeface="Oswald Light"/>
                <a:cs typeface="Calibri" panose="020F0502020204030204" charset="0"/>
                <a:sym typeface="Oswald Light"/>
              </a:rPr>
              <a:t>No option to clarify </a:t>
            </a:r>
            <a:r>
              <a:rPr lang="en-US" sz="2400" dirty="0">
                <a:solidFill>
                  <a:srgbClr val="E06666"/>
                </a:solidFill>
                <a:latin typeface="Calibri" panose="020F0502020204030204" charset="0"/>
                <a:ea typeface="Oswald Light"/>
                <a:cs typeface="Calibri" panose="020F0502020204030204" charset="0"/>
                <a:sym typeface="Oswald Light"/>
              </a:rPr>
              <a:t>doubts</a:t>
            </a:r>
            <a:r>
              <a:rPr lang="en-US" sz="2400" dirty="0">
                <a:latin typeface="Calibri" panose="020F0502020204030204" charset="0"/>
                <a:ea typeface="Oswald Light"/>
                <a:cs typeface="Calibri" panose="020F0502020204030204" charset="0"/>
                <a:sym typeface="Oswald Light"/>
              </a:rPr>
              <a:t> on both ends</a:t>
            </a:r>
            <a:endParaRPr lang="en-US" sz="2400" dirty="0">
              <a:latin typeface="Calibri" panose="020F0502020204030204" charset="0"/>
              <a:ea typeface="Oswald Light"/>
              <a:cs typeface="Calibri" panose="020F0502020204030204" charset="0"/>
              <a:sym typeface="Oswald Light"/>
            </a:endParaRPr>
          </a:p>
          <a:p>
            <a:pPr marL="641350" lvl="0" indent="-342900" algn="l" rtl="0">
              <a:lnSpc>
                <a:spcPct val="100000"/>
              </a:lnSpc>
              <a:spcBef>
                <a:spcPts val="600"/>
              </a:spcBef>
              <a:spcAft>
                <a:spcPts val="0"/>
              </a:spcAft>
              <a:buSzPts val="1600"/>
            </a:pPr>
            <a:r>
              <a:rPr lang="en-US" sz="2400" dirty="0">
                <a:latin typeface="Calibri" panose="020F0502020204030204" charset="0"/>
                <a:ea typeface="Oswald Light"/>
                <a:cs typeface="Calibri" panose="020F0502020204030204" charset="0"/>
                <a:sym typeface="Oswald Light"/>
              </a:rPr>
              <a:t>Requires </a:t>
            </a:r>
            <a:r>
              <a:rPr lang="en-US" sz="2400" dirty="0">
                <a:solidFill>
                  <a:srgbClr val="E06666"/>
                </a:solidFill>
                <a:latin typeface="Calibri" panose="020F0502020204030204" charset="0"/>
                <a:ea typeface="Oswald Light"/>
                <a:cs typeface="Calibri" panose="020F0502020204030204" charset="0"/>
                <a:sym typeface="Oswald Light"/>
              </a:rPr>
              <a:t>knowledge of possible answers</a:t>
            </a:r>
            <a:r>
              <a:rPr lang="en-US" sz="2400" dirty="0">
                <a:latin typeface="Calibri" panose="020F0502020204030204" charset="0"/>
                <a:ea typeface="Oswald Light"/>
                <a:cs typeface="Calibri" panose="020F0502020204030204" charset="0"/>
                <a:sym typeface="Oswald Light"/>
              </a:rPr>
              <a:t> (‘Other’ provides no significant information)</a:t>
            </a:r>
            <a:endParaRPr lang="en-US" sz="2400" dirty="0">
              <a:latin typeface="Calibri" panose="020F0502020204030204" charset="0"/>
              <a:ea typeface="Oswald Light"/>
              <a:cs typeface="Calibri" panose="020F0502020204030204" charset="0"/>
              <a:sym typeface="Oswald Light"/>
            </a:endParaRPr>
          </a:p>
          <a:p>
            <a:pPr marL="641350" lvl="0" indent="-342900" algn="l" rtl="0">
              <a:lnSpc>
                <a:spcPct val="100000"/>
              </a:lnSpc>
              <a:spcBef>
                <a:spcPts val="600"/>
              </a:spcBef>
              <a:spcAft>
                <a:spcPts val="0"/>
              </a:spcAft>
              <a:buSzPts val="1600"/>
            </a:pPr>
            <a:r>
              <a:rPr lang="en-US" sz="2400" dirty="0">
                <a:solidFill>
                  <a:srgbClr val="E06666"/>
                </a:solidFill>
                <a:latin typeface="Calibri" panose="020F0502020204030204" charset="0"/>
                <a:ea typeface="Oswald Light"/>
                <a:cs typeface="Calibri" panose="020F0502020204030204" charset="0"/>
                <a:sym typeface="Oswald Light"/>
              </a:rPr>
              <a:t>Uninterested</a:t>
            </a:r>
            <a:r>
              <a:rPr lang="en-US" sz="2400" dirty="0">
                <a:latin typeface="Calibri" panose="020F0502020204030204" charset="0"/>
                <a:ea typeface="Oswald Light"/>
                <a:cs typeface="Calibri" panose="020F0502020204030204" charset="0"/>
                <a:sym typeface="Oswald Light"/>
              </a:rPr>
              <a:t> participants or participants with </a:t>
            </a:r>
            <a:r>
              <a:rPr lang="en-US" sz="2400" dirty="0">
                <a:solidFill>
                  <a:srgbClr val="E06666"/>
                </a:solidFill>
                <a:latin typeface="Calibri" panose="020F0502020204030204" charset="0"/>
                <a:ea typeface="Oswald Light"/>
                <a:cs typeface="Calibri" panose="020F0502020204030204" charset="0"/>
                <a:sym typeface="Oswald Light"/>
              </a:rPr>
              <a:t>insufficient knowledge</a:t>
            </a:r>
            <a:r>
              <a:rPr lang="en-US" sz="2400" dirty="0">
                <a:latin typeface="Calibri" panose="020F0502020204030204" charset="0"/>
                <a:ea typeface="Oswald Light"/>
                <a:cs typeface="Calibri" panose="020F0502020204030204" charset="0"/>
                <a:sym typeface="Oswald Light"/>
              </a:rPr>
              <a:t> will participate anyway, resulting in </a:t>
            </a:r>
            <a:r>
              <a:rPr lang="en-US" sz="2400" dirty="0">
                <a:solidFill>
                  <a:srgbClr val="E06666"/>
                </a:solidFill>
                <a:latin typeface="Calibri" panose="020F0502020204030204" charset="0"/>
                <a:ea typeface="Oswald Light"/>
                <a:cs typeface="Calibri" panose="020F0502020204030204" charset="0"/>
                <a:sym typeface="Oswald Light"/>
              </a:rPr>
              <a:t>inaccurate data</a:t>
            </a:r>
            <a:endParaRPr lang="en-US" sz="2400" dirty="0">
              <a:solidFill>
                <a:srgbClr val="E06666"/>
              </a:solidFill>
              <a:latin typeface="Calibri" panose="020F0502020204030204" charset="0"/>
              <a:ea typeface="Oswald Light"/>
              <a:cs typeface="Calibri" panose="020F0502020204030204" charset="0"/>
              <a:sym typeface="Oswald Light"/>
            </a:endParaRPr>
          </a:p>
          <a:p>
            <a:pPr marL="0" indent="0" algn="l">
              <a:buNone/>
            </a:pPr>
            <a:endParaRPr lang="en-US" sz="1800" dirty="0">
              <a:solidFill>
                <a:srgbClr val="E06666"/>
              </a:solidFill>
              <a:latin typeface="Calibri" panose="020F0502020204030204" charset="0"/>
              <a:ea typeface="Oswald Light"/>
              <a:cs typeface="Calibri" panose="020F0502020204030204" charset="0"/>
              <a:sym typeface="Oswald Light"/>
            </a:endParaRPr>
          </a:p>
        </p:txBody>
      </p:sp>
      <p:sp>
        <p:nvSpPr>
          <p:cNvPr id="6" name="Footer Placeholder 5"/>
          <p:cNvSpPr>
            <a:spLocks noGrp="1"/>
          </p:cNvSpPr>
          <p:nvPr>
            <p:ph type="ftr" sz="quarter" idx="11"/>
          </p:nvPr>
        </p:nvSpPr>
        <p:spPr/>
        <p:txBody>
          <a:bodyPr/>
          <a:lstStyle/>
          <a:p>
            <a:r>
              <a:rPr lang="en-US"/>
              <a:t>Tasmin Sanjida, Lecturer, CSE, UIU</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GB" sz="4400" b="1" dirty="0">
                <a:solidFill>
                  <a:schemeClr val="bg1"/>
                </a:solidFill>
              </a:rPr>
              <a:t>Sample Requirement Analysis Survey Questions</a:t>
            </a:r>
            <a:endParaRPr lang="en-GB" sz="4400" b="1" dirty="0">
              <a:solidFill>
                <a:schemeClr val="bg1"/>
              </a:solidFill>
            </a:endParaRPr>
          </a:p>
        </p:txBody>
      </p:sp>
      <p:pic>
        <p:nvPicPr>
          <p:cNvPr id="4" name="Google Shape;563;p65"/>
          <p:cNvPicPr preferRelativeResize="0"/>
          <p:nvPr/>
        </p:nvPicPr>
        <p:blipFill>
          <a:blip r:embed="rId1"/>
          <a:stretch>
            <a:fillRect/>
          </a:stretch>
        </p:blipFill>
        <p:spPr>
          <a:xfrm>
            <a:off x="838200" y="1814286"/>
            <a:ext cx="10628086" cy="4833257"/>
          </a:xfrm>
          <a:prstGeom prst="rect">
            <a:avLst/>
          </a:prstGeom>
          <a:noFill/>
          <a:ln>
            <a:noFill/>
          </a:ln>
        </p:spPr>
      </p:pic>
      <p:sp>
        <p:nvSpPr>
          <p:cNvPr id="5" name="Footer Placeholder 4"/>
          <p:cNvSpPr>
            <a:spLocks noGrp="1"/>
          </p:cNvSpPr>
          <p:nvPr>
            <p:ph type="ftr" sz="quarter" idx="11"/>
          </p:nvPr>
        </p:nvSpPr>
        <p:spPr/>
        <p:txBody>
          <a:bodyPr/>
          <a:lstStyle/>
          <a:p>
            <a:r>
              <a:rPr lang="en-US"/>
              <a:t>Tasmin Sanjida, Lecturer, CSE, UIU</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US" b="1" dirty="0">
                <a:solidFill>
                  <a:schemeClr val="bg1"/>
                </a:solidFill>
              </a:rPr>
              <a:t>5. </a:t>
            </a:r>
            <a:r>
              <a:rPr lang="en-GB" sz="4400" b="1" dirty="0">
                <a:solidFill>
                  <a:schemeClr val="bg1"/>
                </a:solidFill>
              </a:rPr>
              <a:t>Joint Application Development</a:t>
            </a:r>
            <a:endParaRPr lang="en-GB" sz="4400" b="1" dirty="0">
              <a:solidFill>
                <a:schemeClr val="bg1"/>
              </a:solidFill>
            </a:endParaRPr>
          </a:p>
        </p:txBody>
      </p:sp>
      <p:sp>
        <p:nvSpPr>
          <p:cNvPr id="3" name="Content Placeholder 2"/>
          <p:cNvSpPr>
            <a:spLocks noGrp="1"/>
          </p:cNvSpPr>
          <p:nvPr>
            <p:ph idx="1"/>
          </p:nvPr>
        </p:nvSpPr>
        <p:spPr/>
        <p:txBody>
          <a:bodyPr>
            <a:normAutofit/>
          </a:bodyPr>
          <a:lstStyle/>
          <a:p>
            <a:pPr marL="101600" lvl="0" indent="0" algn="just" rtl="0">
              <a:lnSpc>
                <a:spcPct val="130000"/>
              </a:lnSpc>
              <a:spcBef>
                <a:spcPts val="0"/>
              </a:spcBef>
              <a:spcAft>
                <a:spcPts val="0"/>
              </a:spcAft>
              <a:buSzPts val="2000"/>
              <a:buFont typeface="Oswald"/>
              <a:buNone/>
            </a:pPr>
            <a:r>
              <a:rPr lang="en-US" sz="2400" dirty="0">
                <a:latin typeface="Calibri" panose="020F0502020204030204" charset="0"/>
                <a:ea typeface="Oswald"/>
                <a:cs typeface="Calibri" panose="020F0502020204030204" charset="0"/>
                <a:sym typeface="Oswald"/>
              </a:rPr>
              <a:t>A methodology that involves the client or end user in the design and development of a software</a:t>
            </a:r>
            <a:r>
              <a:rPr lang="en-US" sz="2400" dirty="0">
                <a:solidFill>
                  <a:srgbClr val="0563C1"/>
                </a:solidFill>
                <a:uFill>
                  <a:noFill/>
                </a:uFill>
                <a:latin typeface="Calibri" panose="020F0502020204030204" charset="0"/>
                <a:ea typeface="Oswald"/>
                <a:cs typeface="Calibri" panose="020F0502020204030204" charset="0"/>
                <a:sym typeface="Oswald"/>
                <a:hlinkClick r:id="rId1"/>
              </a:rPr>
              <a:t> </a:t>
            </a:r>
            <a:r>
              <a:rPr lang="en-US" sz="2400" dirty="0">
                <a:solidFill>
                  <a:srgbClr val="C00000"/>
                </a:solidFill>
                <a:uFill>
                  <a:noFill/>
                </a:uFill>
                <a:latin typeface="Calibri" panose="020F0502020204030204" charset="0"/>
                <a:ea typeface="Oswald"/>
                <a:cs typeface="Calibri" panose="020F0502020204030204" charset="0"/>
                <a:sym typeface="Oswald"/>
                <a:hlinkClick r:id="rId1"/>
              </a:rPr>
              <a:t>application</a:t>
            </a:r>
            <a:r>
              <a:rPr lang="en-US" sz="2400" dirty="0">
                <a:latin typeface="Calibri" panose="020F0502020204030204" charset="0"/>
                <a:ea typeface="Oswald"/>
                <a:cs typeface="Calibri" panose="020F0502020204030204" charset="0"/>
                <a:sym typeface="Oswald"/>
              </a:rPr>
              <a:t> through a succession of</a:t>
            </a:r>
            <a:r>
              <a:rPr lang="en-US" sz="2400" dirty="0">
                <a:solidFill>
                  <a:srgbClr val="0563C1"/>
                </a:solidFill>
                <a:uFill>
                  <a:noFill/>
                </a:uFill>
                <a:latin typeface="Calibri" panose="020F0502020204030204" charset="0"/>
                <a:ea typeface="Oswald"/>
                <a:cs typeface="Calibri" panose="020F0502020204030204" charset="0"/>
                <a:sym typeface="Oswald"/>
                <a:hlinkClick r:id="rId2"/>
              </a:rPr>
              <a:t> </a:t>
            </a:r>
            <a:r>
              <a:rPr lang="en-US" sz="2400" dirty="0">
                <a:solidFill>
                  <a:srgbClr val="C00000"/>
                </a:solidFill>
                <a:uFill>
                  <a:noFill/>
                </a:uFill>
                <a:latin typeface="Calibri" panose="020F0502020204030204" charset="0"/>
                <a:ea typeface="Oswald"/>
                <a:cs typeface="Calibri" panose="020F0502020204030204" charset="0"/>
                <a:sym typeface="Oswald"/>
                <a:hlinkClick r:id="rId2"/>
              </a:rPr>
              <a:t>collaborative</a:t>
            </a:r>
            <a:r>
              <a:rPr lang="en-US" sz="2400" dirty="0">
                <a:latin typeface="Calibri" panose="020F0502020204030204" charset="0"/>
                <a:ea typeface="Oswald"/>
                <a:cs typeface="Calibri" panose="020F0502020204030204" charset="0"/>
                <a:sym typeface="Oswald"/>
              </a:rPr>
              <a:t> workshops called JAD sessions. Its aim is to involve the customer (or end user) in defining the business needs and developing a solution based on those needs.</a:t>
            </a:r>
            <a:endParaRPr lang="en-US" sz="2400" dirty="0">
              <a:latin typeface="Calibri" panose="020F0502020204030204" charset="0"/>
              <a:ea typeface="Oswald"/>
              <a:cs typeface="Calibri" panose="020F0502020204030204" charset="0"/>
              <a:sym typeface="Oswald"/>
            </a:endParaRPr>
          </a:p>
          <a:p>
            <a:r>
              <a:rPr lang="en-US" altLang="en-US" sz="2400" dirty="0">
                <a:latin typeface="Calibri" panose="020F0502020204030204" charset="0"/>
                <a:ea typeface="Oswald"/>
                <a:cs typeface="Calibri" panose="020F0502020204030204" charset="0"/>
                <a:sym typeface="Oswald"/>
              </a:rPr>
              <a:t>Focuses on team-based development and group consensus.</a:t>
            </a:r>
            <a:endParaRPr lang="en-US" altLang="en-US" sz="2400" dirty="0">
              <a:latin typeface="Calibri" panose="020F0502020204030204" charset="0"/>
              <a:ea typeface="Oswald"/>
              <a:cs typeface="Calibri" panose="020F0502020204030204" charset="0"/>
              <a:sym typeface="Oswald"/>
            </a:endParaRPr>
          </a:p>
          <a:p>
            <a:r>
              <a:rPr lang="en-US" altLang="en-US" sz="2400" dirty="0">
                <a:latin typeface="Calibri" panose="020F0502020204030204" charset="0"/>
                <a:ea typeface="Oswald"/>
                <a:cs typeface="Calibri" panose="020F0502020204030204" charset="0"/>
                <a:sym typeface="Oswald"/>
              </a:rPr>
              <a:t>Helps define business needs and develop solutions with user involvement.</a:t>
            </a:r>
            <a:endParaRPr lang="en-US" altLang="en-US" sz="2400" dirty="0">
              <a:latin typeface="Calibri" panose="020F0502020204030204" charset="0"/>
              <a:ea typeface="Oswald"/>
              <a:cs typeface="Calibri" panose="020F0502020204030204" charset="0"/>
              <a:sym typeface="Oswald"/>
            </a:endParaRPr>
          </a:p>
          <a:p>
            <a:r>
              <a:rPr lang="en-US" altLang="en-US" sz="2400" dirty="0">
                <a:latin typeface="Calibri" panose="020F0502020204030204" charset="0"/>
                <a:ea typeface="Oswald"/>
                <a:cs typeface="Calibri" panose="020F0502020204030204" charset="0"/>
                <a:sym typeface="Oswald"/>
              </a:rPr>
              <a:t>Best for projects where group agreement is more important than individual opinions.</a:t>
            </a:r>
            <a:endParaRPr lang="en-US" altLang="en-US" sz="2400" dirty="0">
              <a:latin typeface="Calibri" panose="020F0502020204030204" charset="0"/>
              <a:ea typeface="Oswald"/>
              <a:cs typeface="Calibri" panose="020F0502020204030204" charset="0"/>
              <a:sym typeface="Oswald"/>
            </a:endParaRPr>
          </a:p>
        </p:txBody>
      </p:sp>
      <p:sp>
        <p:nvSpPr>
          <p:cNvPr id="5" name="Footer Placeholder 4"/>
          <p:cNvSpPr>
            <a:spLocks noGrp="1"/>
          </p:cNvSpPr>
          <p:nvPr>
            <p:ph type="ftr" sz="quarter" idx="11"/>
          </p:nvPr>
        </p:nvSpPr>
        <p:spPr/>
        <p:txBody>
          <a:bodyPr/>
          <a:lstStyle/>
          <a:p>
            <a:r>
              <a:rPr lang="en-US"/>
              <a:t>Tasmin Sanjida, Lecturer, CSE, UIU</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pic>
        <p:nvPicPr>
          <p:cNvPr id="514" name="Google Shape;514;p24"/>
          <p:cNvPicPr preferRelativeResize="0"/>
          <p:nvPr/>
        </p:nvPicPr>
        <p:blipFill rotWithShape="1">
          <a:blip r:embed="rId1"/>
          <a:srcRect/>
          <a:stretch>
            <a:fillRect/>
          </a:stretch>
        </p:blipFill>
        <p:spPr>
          <a:xfrm>
            <a:off x="1627505" y="357505"/>
            <a:ext cx="8376920" cy="575246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US" altLang="en-GB" sz="4400" b="1" dirty="0">
                <a:solidFill>
                  <a:schemeClr val="bg1"/>
                </a:solidFill>
              </a:rPr>
              <a:t>5</a:t>
            </a:r>
            <a:r>
              <a:rPr lang="en-GB" sz="4400" b="1" dirty="0">
                <a:solidFill>
                  <a:schemeClr val="bg1"/>
                </a:solidFill>
              </a:rPr>
              <a:t>. Joint Application Development</a:t>
            </a:r>
            <a:endParaRPr lang="en-GB" sz="4400" b="1" dirty="0">
              <a:solidFill>
                <a:schemeClr val="bg1"/>
              </a:solidFill>
            </a:endParaRPr>
          </a:p>
        </p:txBody>
      </p:sp>
      <p:sp>
        <p:nvSpPr>
          <p:cNvPr id="3" name="Content Placeholder 2"/>
          <p:cNvSpPr>
            <a:spLocks noGrp="1"/>
          </p:cNvSpPr>
          <p:nvPr>
            <p:ph idx="1"/>
          </p:nvPr>
        </p:nvSpPr>
        <p:spPr/>
        <p:txBody>
          <a:bodyPr>
            <a:noAutofit/>
          </a:bodyPr>
          <a:lstStyle/>
          <a:p>
            <a:pPr marL="0" lvl="0" indent="0" algn="l" rtl="0">
              <a:lnSpc>
                <a:spcPct val="130000"/>
              </a:lnSpc>
              <a:spcBef>
                <a:spcPts val="0"/>
              </a:spcBef>
              <a:spcAft>
                <a:spcPts val="0"/>
              </a:spcAft>
              <a:buNone/>
            </a:pPr>
            <a:r>
              <a:rPr lang="en-US" sz="2400" dirty="0">
                <a:latin typeface="Calibri" panose="020F0502020204030204" charset="0"/>
                <a:ea typeface="Oswald"/>
                <a:cs typeface="Calibri" panose="020F0502020204030204" charset="0"/>
                <a:sym typeface="Oswald"/>
              </a:rPr>
              <a:t>Participants of JAD sessions:</a:t>
            </a:r>
            <a:endParaRPr lang="en-US" sz="2400" dirty="0">
              <a:latin typeface="Calibri" panose="020F0502020204030204" charset="0"/>
              <a:ea typeface="Oswald"/>
              <a:cs typeface="Calibri" panose="020F0502020204030204" charset="0"/>
              <a:sym typeface="Oswald"/>
            </a:endParaRPr>
          </a:p>
          <a:p>
            <a:pPr marL="444500" lvl="0" indent="-342900" algn="l" rtl="0">
              <a:lnSpc>
                <a:spcPct val="130000"/>
              </a:lnSpc>
              <a:spcBef>
                <a:spcPts val="0"/>
              </a:spcBef>
              <a:spcAft>
                <a:spcPts val="0"/>
              </a:spcAft>
              <a:buSzPts val="2000"/>
            </a:pPr>
            <a:r>
              <a:rPr lang="en-US" sz="2400" b="1" dirty="0">
                <a:latin typeface="Calibri" panose="020F0502020204030204" charset="0"/>
                <a:ea typeface="Oswald"/>
                <a:cs typeface="Calibri" panose="020F0502020204030204" charset="0"/>
                <a:sym typeface="Oswald"/>
              </a:rPr>
              <a:t>Executive </a:t>
            </a:r>
            <a:r>
              <a:rPr lang="en-US" sz="2400" dirty="0">
                <a:latin typeface="Calibri" panose="020F0502020204030204" charset="0"/>
                <a:ea typeface="Oswald"/>
                <a:cs typeface="Calibri" panose="020F0502020204030204" charset="0"/>
                <a:sym typeface="Oswald"/>
              </a:rPr>
              <a:t>Sponsor (Someone in a decision-making capacity) </a:t>
            </a:r>
            <a:endParaRPr lang="en-US" sz="2400" dirty="0">
              <a:latin typeface="Calibri" panose="020F0502020204030204" charset="0"/>
              <a:ea typeface="Oswald"/>
              <a:cs typeface="Calibri" panose="020F0502020204030204" charset="0"/>
              <a:sym typeface="Oswald"/>
            </a:endParaRPr>
          </a:p>
          <a:p>
            <a:pPr marL="444500" lvl="0" indent="-342900" algn="l" rtl="0">
              <a:lnSpc>
                <a:spcPct val="130000"/>
              </a:lnSpc>
              <a:spcBef>
                <a:spcPts val="0"/>
              </a:spcBef>
              <a:spcAft>
                <a:spcPts val="0"/>
              </a:spcAft>
              <a:buSzPts val="2000"/>
            </a:pPr>
            <a:r>
              <a:rPr lang="en-US" sz="2400" b="1" dirty="0">
                <a:latin typeface="Calibri" panose="020F0502020204030204" charset="0"/>
                <a:ea typeface="Oswald"/>
                <a:cs typeface="Calibri" panose="020F0502020204030204" charset="0"/>
                <a:sym typeface="Oswald"/>
              </a:rPr>
              <a:t>JAD Facilitator </a:t>
            </a:r>
            <a:endParaRPr lang="en-US" sz="2400" b="1" dirty="0">
              <a:latin typeface="Calibri" panose="020F0502020204030204" charset="0"/>
              <a:ea typeface="Oswald"/>
              <a:cs typeface="Calibri" panose="020F0502020204030204" charset="0"/>
              <a:sym typeface="Oswald"/>
            </a:endParaRPr>
          </a:p>
          <a:p>
            <a:pPr marL="444500" lvl="0" indent="-342900" algn="l" rtl="0">
              <a:lnSpc>
                <a:spcPct val="130000"/>
              </a:lnSpc>
              <a:spcBef>
                <a:spcPts val="0"/>
              </a:spcBef>
              <a:spcAft>
                <a:spcPts val="0"/>
              </a:spcAft>
              <a:buSzPts val="2000"/>
            </a:pPr>
            <a:r>
              <a:rPr lang="en-US" sz="2400" b="1" dirty="0">
                <a:latin typeface="Calibri" panose="020F0502020204030204" charset="0"/>
                <a:ea typeface="Oswald"/>
                <a:cs typeface="Calibri" panose="020F0502020204030204" charset="0"/>
                <a:sym typeface="Oswald"/>
              </a:rPr>
              <a:t>Users </a:t>
            </a:r>
            <a:r>
              <a:rPr lang="en-US" sz="2400" dirty="0">
                <a:latin typeface="Calibri" panose="020F0502020204030204" charset="0"/>
                <a:ea typeface="Oswald"/>
                <a:cs typeface="Calibri" panose="020F0502020204030204" charset="0"/>
                <a:sym typeface="Oswald"/>
              </a:rPr>
              <a:t>(many type of users)</a:t>
            </a:r>
            <a:endParaRPr lang="en-US" sz="2400" dirty="0">
              <a:latin typeface="Calibri" panose="020F0502020204030204" charset="0"/>
              <a:ea typeface="Oswald"/>
              <a:cs typeface="Calibri" panose="020F0502020204030204" charset="0"/>
              <a:sym typeface="Oswald"/>
            </a:endParaRPr>
          </a:p>
          <a:p>
            <a:pPr marL="444500" lvl="0" indent="-342900" algn="l" rtl="0">
              <a:lnSpc>
                <a:spcPct val="130000"/>
              </a:lnSpc>
              <a:spcBef>
                <a:spcPts val="0"/>
              </a:spcBef>
              <a:spcAft>
                <a:spcPts val="0"/>
              </a:spcAft>
              <a:buSzPts val="2000"/>
            </a:pPr>
            <a:r>
              <a:rPr lang="en-US" sz="2400" b="1" dirty="0">
                <a:latin typeface="Calibri" panose="020F0502020204030204" charset="0"/>
                <a:ea typeface="Oswald"/>
                <a:cs typeface="Calibri" panose="020F0502020204030204" charset="0"/>
                <a:sym typeface="Oswald"/>
              </a:rPr>
              <a:t>IT Representatives </a:t>
            </a:r>
            <a:endParaRPr lang="en-US" sz="2400" dirty="0">
              <a:latin typeface="Calibri" panose="020F0502020204030204" charset="0"/>
              <a:ea typeface="Oswald"/>
              <a:cs typeface="Calibri" panose="020F0502020204030204" charset="0"/>
              <a:sym typeface="Oswald"/>
            </a:endParaRPr>
          </a:p>
          <a:p>
            <a:pPr marL="444500" lvl="0" indent="-342900" algn="l" rtl="0">
              <a:lnSpc>
                <a:spcPct val="130000"/>
              </a:lnSpc>
              <a:spcBef>
                <a:spcPts val="0"/>
              </a:spcBef>
              <a:spcAft>
                <a:spcPts val="0"/>
              </a:spcAft>
              <a:buSzPts val="2000"/>
            </a:pPr>
            <a:r>
              <a:rPr lang="en-US" sz="2400" b="1" dirty="0">
                <a:latin typeface="Calibri" panose="020F0502020204030204" charset="0"/>
                <a:ea typeface="Oswald"/>
                <a:cs typeface="Calibri" panose="020F0502020204030204" charset="0"/>
                <a:sym typeface="Oswald"/>
              </a:rPr>
              <a:t>Scribes </a:t>
            </a:r>
            <a:endParaRPr lang="en-US" sz="2400" dirty="0">
              <a:latin typeface="Calibri" panose="020F0502020204030204" charset="0"/>
              <a:ea typeface="Oswald"/>
              <a:cs typeface="Calibri" panose="020F0502020204030204" charset="0"/>
              <a:sym typeface="Oswald"/>
            </a:endParaRPr>
          </a:p>
          <a:p>
            <a:pPr marL="444500" lvl="0" indent="-342900" algn="l" rtl="0">
              <a:lnSpc>
                <a:spcPct val="130000"/>
              </a:lnSpc>
              <a:spcBef>
                <a:spcPts val="0"/>
              </a:spcBef>
              <a:spcAft>
                <a:spcPts val="0"/>
              </a:spcAft>
              <a:buSzPts val="2000"/>
            </a:pPr>
            <a:r>
              <a:rPr lang="en-US" sz="2400" b="1" dirty="0">
                <a:latin typeface="Calibri" panose="020F0502020204030204" charset="0"/>
                <a:ea typeface="Oswald"/>
                <a:cs typeface="Calibri" panose="020F0502020204030204" charset="0"/>
                <a:sym typeface="Oswald"/>
              </a:rPr>
              <a:t>Observers </a:t>
            </a:r>
            <a:endParaRPr lang="en-US" sz="2400" dirty="0">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US" altLang="en-GB" sz="4400" b="1" dirty="0">
                <a:solidFill>
                  <a:schemeClr val="bg1"/>
                </a:solidFill>
              </a:rPr>
              <a:t>5</a:t>
            </a:r>
            <a:r>
              <a:rPr lang="en-GB" sz="4400" b="1" dirty="0">
                <a:solidFill>
                  <a:schemeClr val="bg1"/>
                </a:solidFill>
              </a:rPr>
              <a:t>. Joint Application Development</a:t>
            </a:r>
            <a:endParaRPr lang="en-GB" sz="4400" b="1" dirty="0">
              <a:solidFill>
                <a:schemeClr val="bg1"/>
              </a:solidFill>
            </a:endParaRPr>
          </a:p>
        </p:txBody>
      </p:sp>
      <p:pic>
        <p:nvPicPr>
          <p:cNvPr id="5" name="Content Placeholder 4" descr="Diagram of a room with a white board and tables&#10;&#10;Description automatically generated"/>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068195" y="2019935"/>
            <a:ext cx="8054975" cy="4168775"/>
          </a:xfrm>
        </p:spPr>
      </p:pic>
      <p:sp>
        <p:nvSpPr>
          <p:cNvPr id="6" name="Footer Placeholder 5"/>
          <p:cNvSpPr>
            <a:spLocks noGrp="1"/>
          </p:cNvSpPr>
          <p:nvPr>
            <p:ph type="ftr" sz="quarter" idx="11"/>
          </p:nvPr>
        </p:nvSpPr>
        <p:spPr/>
        <p:txBody>
          <a:bodyPr/>
          <a:lstStyle/>
          <a:p>
            <a:r>
              <a:rPr lang="en-US"/>
              <a:t>Tasmin Sanjida, Lecturer, CSE, UIU</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solidFill>
              <a:srgbClr val="000000">
                <a:alpha val="0"/>
              </a:srgbClr>
            </a:solidFill>
          </a:ln>
        </p:spPr>
        <p:txBody>
          <a:bodyPr/>
          <a:lstStyle/>
          <a:p>
            <a:r>
              <a:rPr lang="en-US" b="1" dirty="0">
                <a:solidFill>
                  <a:schemeClr val="bg1"/>
                </a:solidFill>
              </a:rPr>
              <a:t>6. </a:t>
            </a:r>
            <a:r>
              <a:rPr lang="en-GB" sz="4400" b="1" dirty="0">
                <a:solidFill>
                  <a:schemeClr val="bg1"/>
                </a:solidFill>
              </a:rPr>
              <a:t>Online</a:t>
            </a:r>
            <a:endParaRPr lang="en-GB" sz="4400" b="1" dirty="0">
              <a:solidFill>
                <a:schemeClr val="bg1"/>
              </a:solidFill>
            </a:endParaRPr>
          </a:p>
        </p:txBody>
      </p:sp>
      <p:sp>
        <p:nvSpPr>
          <p:cNvPr id="3" name="Content Placeholder 2"/>
          <p:cNvSpPr>
            <a:spLocks noGrp="1"/>
          </p:cNvSpPr>
          <p:nvPr>
            <p:ph sz="half" idx="1"/>
          </p:nvPr>
        </p:nvSpPr>
        <p:spPr>
          <a:xfrm>
            <a:off x="838200" y="1825625"/>
            <a:ext cx="8070850" cy="4351655"/>
          </a:xfrm>
        </p:spPr>
        <p:txBody>
          <a:bodyPr>
            <a:normAutofit/>
          </a:bodyPr>
          <a:lstStyle/>
          <a:p>
            <a:pPr marL="101600" lvl="0" indent="0" algn="l" rtl="0">
              <a:lnSpc>
                <a:spcPct val="100000"/>
              </a:lnSpc>
              <a:spcBef>
                <a:spcPts val="0"/>
              </a:spcBef>
              <a:spcAft>
                <a:spcPts val="0"/>
              </a:spcAft>
              <a:buSzPts val="2000"/>
              <a:buNone/>
            </a:pPr>
            <a:r>
              <a:rPr lang="en-US" sz="2400" dirty="0">
                <a:latin typeface="Calibri" panose="020F0502020204030204" charset="0"/>
                <a:cs typeface="Calibri" panose="020F0502020204030204" charset="0"/>
              </a:rPr>
              <a:t>Online information gathering tools refer to various digital methods and technologies used to collect, analyze, and manage data from online sources. </a:t>
            </a:r>
            <a:endParaRPr lang="en-US" sz="2400" dirty="0">
              <a:latin typeface="Calibri" panose="020F0502020204030204" charset="0"/>
              <a:cs typeface="Calibri" panose="020F0502020204030204" charset="0"/>
            </a:endParaRPr>
          </a:p>
          <a:p>
            <a:pPr marL="101600" lvl="0" indent="0" algn="l" rtl="0">
              <a:lnSpc>
                <a:spcPct val="100000"/>
              </a:lnSpc>
              <a:spcBef>
                <a:spcPts val="0"/>
              </a:spcBef>
              <a:spcAft>
                <a:spcPts val="0"/>
              </a:spcAft>
              <a:buSzPts val="2000"/>
              <a:buNone/>
            </a:pPr>
            <a:endParaRPr lang="en-US" sz="2400" dirty="0">
              <a:latin typeface="Calibri" panose="020F0502020204030204" charset="0"/>
              <a:cs typeface="Calibri" panose="020F0502020204030204" charset="0"/>
            </a:endParaRPr>
          </a:p>
          <a:p>
            <a:pPr marL="0" indent="0">
              <a:lnSpc>
                <a:spcPct val="100000"/>
              </a:lnSpc>
              <a:buNone/>
            </a:pPr>
            <a:r>
              <a:rPr lang="en-GB" sz="2400">
                <a:latin typeface="Calibri" panose="020F0502020204030204" charset="0"/>
                <a:ea typeface="Oswald"/>
                <a:cs typeface="Calibri" panose="020F0502020204030204" charset="0"/>
                <a:sym typeface="Oswald"/>
              </a:rPr>
              <a:t>Online articles, books, reviews, academic papers and benchmark products can help set the standard.</a:t>
            </a:r>
            <a:endParaRPr sz="2400">
              <a:latin typeface="Calibri" panose="020F0502020204030204" charset="0"/>
              <a:ea typeface="Oswald"/>
              <a:cs typeface="Calibri" panose="020F0502020204030204" charset="0"/>
              <a:sym typeface="Oswald"/>
            </a:endParaRPr>
          </a:p>
          <a:p>
            <a:pPr marL="0" indent="0">
              <a:lnSpc>
                <a:spcPct val="100000"/>
              </a:lnSpc>
              <a:buNone/>
            </a:pPr>
            <a:endParaRPr lang="en-US" sz="2400" dirty="0">
              <a:latin typeface="Calibri" panose="020F0502020204030204" charset="0"/>
              <a:cs typeface="Calibri" panose="020F0502020204030204" charset="0"/>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pic>
        <p:nvPicPr>
          <p:cNvPr id="528" name="Google Shape;528;p26" descr="Google.jpg"/>
          <p:cNvPicPr preferRelativeResize="0">
            <a:picLocks noChangeAspect="1"/>
          </p:cNvPicPr>
          <p:nvPr>
            <p:ph sz="half" idx="2"/>
          </p:nvPr>
        </p:nvPicPr>
        <p:blipFill rotWithShape="1">
          <a:blip r:embed="rId1"/>
          <a:srcRect/>
          <a:stretch>
            <a:fillRect/>
          </a:stretch>
        </p:blipFill>
        <p:spPr>
          <a:xfrm>
            <a:off x="8338185" y="2260600"/>
            <a:ext cx="3015615" cy="379031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Footer Placeholder 4"/>
          <p:cNvSpPr>
            <a:spLocks noGrp="1"/>
          </p:cNvSpPr>
          <p:nvPr>
            <p:ph type="ftr" sz="quarter" idx="11"/>
          </p:nvPr>
        </p:nvSpPr>
        <p:spPr/>
        <p:txBody>
          <a:bodyPr/>
          <a:p>
            <a:r>
              <a:rPr lang="en-US"/>
              <a:t>Tasmin Sanjida, Lecturer, CSE, UIU</a:t>
            </a:r>
            <a:endParaRPr lang="en-US"/>
          </a:p>
        </p:txBody>
      </p:sp>
      <p:sp>
        <p:nvSpPr>
          <p:cNvPr id="10" name="Content Placeholder 9"/>
          <p:cNvSpPr>
            <a:spLocks noGrp="1"/>
          </p:cNvSpPr>
          <p:nvPr>
            <p:ph sz="half" idx="1"/>
          </p:nvPr>
        </p:nvSpPr>
        <p:spPr/>
        <p:txBody>
          <a:bodyPr>
            <a:noAutofit/>
          </a:bodyPr>
          <a:p>
            <a:r>
              <a:rPr lang="en-US" altLang="en-US" sz="2400" b="1">
                <a:latin typeface="Calibri" panose="020F0502020204030204" charset="0"/>
                <a:cs typeface="Calibri" panose="020F0502020204030204" charset="0"/>
              </a:rPr>
              <a:t>Web Scraping</a:t>
            </a:r>
            <a:endParaRPr lang="en-US" altLang="en-US" sz="2400">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Surveys</a:t>
            </a:r>
            <a:endParaRPr lang="en-US" altLang="en-US" sz="2400">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Social Media Monitoring</a:t>
            </a:r>
            <a:endParaRPr lang="en-US" altLang="en-US" sz="2400" b="1">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Databases &amp; Repositories</a:t>
            </a:r>
            <a:endParaRPr lang="en-US" altLang="en-US" sz="2400" b="1">
              <a:latin typeface="Calibri" panose="020F0502020204030204" charset="0"/>
              <a:cs typeface="Calibri" panose="020F0502020204030204" charset="0"/>
            </a:endParaRPr>
          </a:p>
          <a:p>
            <a:r>
              <a:rPr lang="en-US" altLang="en-US" sz="2400" b="1">
                <a:sym typeface="+mn-ea"/>
              </a:rPr>
              <a:t>Search Engines</a:t>
            </a:r>
            <a:r>
              <a:rPr lang="en-US" altLang="en-US" sz="2400">
                <a:sym typeface="+mn-ea"/>
              </a:rPr>
              <a:t> </a:t>
            </a:r>
            <a:endParaRPr lang="en-US" altLang="en-US" sz="2400">
              <a:sym typeface="+mn-ea"/>
            </a:endParaRPr>
          </a:p>
          <a:p>
            <a:r>
              <a:rPr lang="en-US" altLang="en-US" sz="2400" b="1">
                <a:sym typeface="+mn-ea"/>
              </a:rPr>
              <a:t>Online Libraries</a:t>
            </a:r>
            <a:endParaRPr lang="en-US" altLang="en-US" sz="2400" b="1">
              <a:sym typeface="+mn-ea"/>
            </a:endParaRPr>
          </a:p>
          <a:p>
            <a:r>
              <a:rPr lang="en-US" altLang="en-US" sz="2400" b="1">
                <a:sym typeface="+mn-ea"/>
              </a:rPr>
              <a:t>Analytics Tools</a:t>
            </a:r>
            <a:endParaRPr lang="en-US" altLang="en-US" sz="2400" b="1">
              <a:sym typeface="+mn-ea"/>
            </a:endParaRPr>
          </a:p>
          <a:p>
            <a:r>
              <a:rPr lang="en-US" altLang="en-US" sz="2400" b="1">
                <a:sym typeface="+mn-ea"/>
              </a:rPr>
              <a:t>Forums &amp; Communities</a:t>
            </a:r>
            <a:r>
              <a:rPr lang="en-US" altLang="en-US" sz="2400">
                <a:sym typeface="+mn-ea"/>
              </a:rPr>
              <a:t> </a:t>
            </a:r>
            <a:endParaRPr lang="en-US" altLang="en-US" sz="2400">
              <a:latin typeface="Calibri" panose="020F0502020204030204" charset="0"/>
              <a:cs typeface="Calibri" panose="020F0502020204030204" charset="0"/>
            </a:endParaRPr>
          </a:p>
        </p:txBody>
      </p:sp>
      <p:pic>
        <p:nvPicPr>
          <p:cNvPr id="2" name="Content Placeholder 1"/>
          <p:cNvPicPr>
            <a:picLocks noChangeAspect="1"/>
          </p:cNvPicPr>
          <p:nvPr>
            <p:ph sz="half" idx="2"/>
          </p:nvPr>
        </p:nvPicPr>
        <p:blipFill>
          <a:blip r:embed="rId1"/>
          <a:srcRect b="9714"/>
          <a:stretch>
            <a:fillRect/>
          </a:stretch>
        </p:blipFill>
        <p:spPr>
          <a:xfrm>
            <a:off x="5068570" y="2153285"/>
            <a:ext cx="6078855" cy="3323590"/>
          </a:xfrm>
          <a:prstGeom prst="rect">
            <a:avLst/>
          </a:prstGeom>
        </p:spPr>
      </p:pic>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
        <p:nvSpPr>
          <p:cNvPr id="9" name="Title 8"/>
          <p:cNvSpPr>
            <a:spLocks noGrp="1"/>
          </p:cNvSpPr>
          <p:nvPr>
            <p:ph type="title"/>
          </p:nvPr>
        </p:nvSpPr>
        <p:spPr>
          <a:solidFill>
            <a:srgbClr val="FF8000"/>
          </a:solidFill>
          <a:ln>
            <a:noFill/>
          </a:ln>
        </p:spPr>
        <p:txBody>
          <a:bodyPr/>
          <a:p>
            <a:r>
              <a:rPr lang="en-US" b="1" dirty="0">
                <a:solidFill>
                  <a:schemeClr val="bg1"/>
                </a:solidFill>
              </a:rPr>
              <a:t>6. </a:t>
            </a:r>
            <a:r>
              <a:rPr lang="en-GB" sz="4400" b="1" dirty="0">
                <a:solidFill>
                  <a:schemeClr val="bg1"/>
                </a:solidFill>
              </a:rPr>
              <a:t>Online</a:t>
            </a:r>
            <a:r>
              <a:rPr lang="en-US" altLang="en-GB" sz="4400" b="1" dirty="0">
                <a:solidFill>
                  <a:schemeClr val="bg1"/>
                </a:solidFill>
              </a:rPr>
              <a:t> (Different Online Source)</a:t>
            </a:r>
            <a:endParaRPr lang="en-US" altLang="en-GB" sz="4400" b="1"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8000"/>
          </a:solidFill>
          <a:ln>
            <a:noFill/>
          </a:ln>
        </p:spPr>
        <p:txBody>
          <a:bodyPr/>
          <a:lstStyle/>
          <a:p>
            <a:r>
              <a:rPr lang="en-US" altLang="en-US" b="1" dirty="0">
                <a:solidFill>
                  <a:schemeClr val="bg1"/>
                </a:solidFill>
              </a:rPr>
              <a:t>Benchmark Study</a:t>
            </a:r>
            <a:endParaRPr lang="en-US" altLang="en-US" b="1" dirty="0">
              <a:solidFill>
                <a:schemeClr val="bg1"/>
              </a:solidFill>
            </a:endParaRPr>
          </a:p>
        </p:txBody>
      </p:sp>
      <p:sp>
        <p:nvSpPr>
          <p:cNvPr id="3" name="Content Placeholder 2"/>
          <p:cNvSpPr>
            <a:spLocks noGrp="1"/>
          </p:cNvSpPr>
          <p:nvPr>
            <p:ph idx="1"/>
          </p:nvPr>
        </p:nvSpPr>
        <p:spPr/>
        <p:txBody>
          <a:bodyPr>
            <a:noAutofit/>
          </a:bodyPr>
          <a:lstStyle/>
          <a:p>
            <a:pPr marL="457200" lvl="0" indent="-355600" algn="l" rtl="0">
              <a:lnSpc>
                <a:spcPct val="130000"/>
              </a:lnSpc>
              <a:spcBef>
                <a:spcPts val="0"/>
              </a:spcBef>
              <a:spcAft>
                <a:spcPts val="0"/>
              </a:spcAft>
              <a:buSzPts val="2000"/>
              <a:buFont typeface="Oswald"/>
              <a:buChar char="▪"/>
            </a:pPr>
            <a:r>
              <a:rPr lang="en-GB" sz="2400">
                <a:latin typeface="Calibri" panose="020F0502020204030204" charset="0"/>
                <a:ea typeface="Oswald"/>
                <a:cs typeface="Calibri" panose="020F0502020204030204" charset="0"/>
                <a:sym typeface="Oswald"/>
              </a:rPr>
              <a:t>Products of competitors</a:t>
            </a:r>
            <a:endParaRPr sz="2400">
              <a:latin typeface="Calibri" panose="020F0502020204030204" charset="0"/>
              <a:ea typeface="Oswald"/>
              <a:cs typeface="Calibri" panose="020F0502020204030204" charset="0"/>
              <a:sym typeface="Oswald"/>
            </a:endParaRPr>
          </a:p>
          <a:p>
            <a:pPr marL="457200" lvl="0" indent="-355600" algn="l" rtl="0">
              <a:lnSpc>
                <a:spcPct val="130000"/>
              </a:lnSpc>
              <a:spcBef>
                <a:spcPts val="0"/>
              </a:spcBef>
              <a:spcAft>
                <a:spcPts val="0"/>
              </a:spcAft>
              <a:buSzPts val="2000"/>
              <a:buFont typeface="Oswald"/>
              <a:buChar char="▪"/>
            </a:pPr>
            <a:r>
              <a:rPr lang="en-GB" sz="2400">
                <a:solidFill>
                  <a:srgbClr val="C00000"/>
                </a:solidFill>
                <a:latin typeface="Calibri" panose="020F0502020204030204" charset="0"/>
                <a:ea typeface="Oswald"/>
                <a:cs typeface="Calibri" panose="020F0502020204030204" charset="0"/>
                <a:sym typeface="Oswald"/>
              </a:rPr>
              <a:t>Product benchmarking </a:t>
            </a:r>
            <a:r>
              <a:rPr lang="en-GB" sz="2400">
                <a:latin typeface="Calibri" panose="020F0502020204030204" charset="0"/>
                <a:ea typeface="Oswald"/>
                <a:cs typeface="Calibri" panose="020F0502020204030204" charset="0"/>
                <a:sym typeface="Oswald"/>
              </a:rPr>
              <a:t>is the process of testing your products against those of your competitors, in order to find out where your product ranks in terms of consumer preference.</a:t>
            </a:r>
            <a:endParaRPr sz="2400">
              <a:latin typeface="Calibri" panose="020F0502020204030204" charset="0"/>
              <a:ea typeface="Oswald"/>
              <a:cs typeface="Calibri" panose="020F0502020204030204" charset="0"/>
              <a:sym typeface="Oswald"/>
            </a:endParaRPr>
          </a:p>
          <a:p>
            <a:pPr marL="457200" lvl="0" indent="-355600" algn="l" rtl="0">
              <a:lnSpc>
                <a:spcPct val="130000"/>
              </a:lnSpc>
              <a:spcBef>
                <a:spcPts val="0"/>
              </a:spcBef>
              <a:spcAft>
                <a:spcPts val="0"/>
              </a:spcAft>
              <a:buSzPts val="2000"/>
              <a:buFont typeface="Oswald"/>
              <a:buChar char="▪"/>
            </a:pPr>
            <a:r>
              <a:rPr lang="en-GB" sz="2400">
                <a:latin typeface="Calibri" panose="020F0502020204030204" charset="0"/>
                <a:ea typeface="Oswald"/>
                <a:cs typeface="Calibri" panose="020F0502020204030204" charset="0"/>
                <a:sym typeface="Oswald"/>
              </a:rPr>
              <a:t>Compare with </a:t>
            </a:r>
            <a:r>
              <a:rPr lang="en-GB" sz="2400">
                <a:solidFill>
                  <a:srgbClr val="C00000"/>
                </a:solidFill>
                <a:latin typeface="Calibri" panose="020F0502020204030204" charset="0"/>
                <a:ea typeface="Oswald"/>
                <a:cs typeface="Calibri" panose="020F0502020204030204" charset="0"/>
                <a:sym typeface="Oswald"/>
              </a:rPr>
              <a:t>past performance</a:t>
            </a:r>
            <a:r>
              <a:rPr lang="en-GB" sz="2400">
                <a:latin typeface="Calibri" panose="020F0502020204030204" charset="0"/>
                <a:ea typeface="Oswald"/>
                <a:cs typeface="Calibri" panose="020F0502020204030204" charset="0"/>
                <a:sym typeface="Oswald"/>
              </a:rPr>
              <a:t>, identify and compare </a:t>
            </a:r>
            <a:r>
              <a:rPr lang="en-GB" sz="2400">
                <a:solidFill>
                  <a:srgbClr val="C00000"/>
                </a:solidFill>
                <a:latin typeface="Calibri" panose="020F0502020204030204" charset="0"/>
                <a:ea typeface="Oswald"/>
                <a:cs typeface="Calibri" panose="020F0502020204030204" charset="0"/>
                <a:sym typeface="Oswald"/>
              </a:rPr>
              <a:t>key metrics</a:t>
            </a:r>
            <a:r>
              <a:rPr lang="en-GB" sz="2400">
                <a:latin typeface="Calibri" panose="020F0502020204030204" charset="0"/>
                <a:ea typeface="Oswald"/>
                <a:cs typeface="Calibri" panose="020F0502020204030204" charset="0"/>
                <a:sym typeface="Oswald"/>
              </a:rPr>
              <a:t>, know the </a:t>
            </a:r>
            <a:r>
              <a:rPr lang="en-GB" sz="2400">
                <a:solidFill>
                  <a:srgbClr val="C00000"/>
                </a:solidFill>
                <a:latin typeface="Calibri" panose="020F0502020204030204" charset="0"/>
                <a:ea typeface="Oswald"/>
                <a:cs typeface="Calibri" panose="020F0502020204030204" charset="0"/>
                <a:sym typeface="Oswald"/>
              </a:rPr>
              <a:t>industry standard</a:t>
            </a:r>
            <a:endParaRPr lang="en-GB" altLang="en-US" sz="2400" dirty="0">
              <a:solidFill>
                <a:srgbClr val="C00000"/>
              </a:solidFill>
              <a:latin typeface="Calibri" panose="020F0502020204030204" charset="0"/>
              <a:ea typeface="Oswald"/>
              <a:cs typeface="Calibri" panose="020F0502020204030204" charset="0"/>
              <a:sym typeface="Oswald"/>
            </a:endParaRPr>
          </a:p>
        </p:txBody>
      </p:sp>
      <p:sp>
        <p:nvSpPr>
          <p:cNvPr id="4" name="Footer Placeholder 3"/>
          <p:cNvSpPr>
            <a:spLocks noGrp="1"/>
          </p:cNvSpPr>
          <p:nvPr>
            <p:ph type="ftr" sz="quarter" idx="11"/>
          </p:nvPr>
        </p:nvSpPr>
        <p:spPr/>
        <p:txBody>
          <a:bodyPr/>
          <a:lstStyle/>
          <a:p>
            <a:r>
              <a:rPr lang="en-US"/>
              <a:t>Tasmin Sanjida, Lecturer, CSE, UIU</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Content Placeholder 6"/>
          <p:cNvSpPr>
            <a:spLocks noGrp="1"/>
          </p:cNvSpPr>
          <p:nvPr>
            <p:ph sz="half" idx="1"/>
          </p:nvPr>
        </p:nvSpPr>
        <p:spPr>
          <a:xfrm>
            <a:off x="838200" y="1825625"/>
            <a:ext cx="4706620" cy="4351655"/>
          </a:xfrm>
        </p:spPr>
        <p:txBody>
          <a:bodyPr>
            <a:normAutofit/>
          </a:bodyPr>
          <a:p>
            <a:pPr marL="0" indent="0">
              <a:buNone/>
            </a:pPr>
            <a:r>
              <a:rPr lang="en-US" altLang="en-US" sz="2400" b="1"/>
              <a:t>Merits</a:t>
            </a:r>
            <a:endParaRPr lang="en-US" altLang="en-US" sz="2400" b="1"/>
          </a:p>
          <a:p>
            <a:r>
              <a:rPr lang="en-US" altLang="en-US" sz="2400"/>
              <a:t>Keep improving internal operations</a:t>
            </a:r>
            <a:endParaRPr lang="en-US" altLang="en-US" sz="2400"/>
          </a:p>
          <a:p>
            <a:r>
              <a:rPr lang="en-US" altLang="en-US" sz="2400"/>
              <a:t>Understand what’s working and what isn’t</a:t>
            </a:r>
            <a:endParaRPr lang="en-US" altLang="en-US" sz="2400"/>
          </a:p>
          <a:p>
            <a:r>
              <a:rPr lang="en-US" altLang="en-US" sz="2400"/>
              <a:t>Adopt or improve upon competitors’ practices</a:t>
            </a:r>
            <a:endParaRPr lang="en-US" altLang="en-US" sz="2400"/>
          </a:p>
          <a:p>
            <a:r>
              <a:rPr lang="en-US" altLang="en-US" sz="2400"/>
              <a:t>Focus on practices and offerings that promote customer satisfaction and loyalty</a:t>
            </a:r>
            <a:endParaRPr lang="en-US" altLang="en-US" sz="2400"/>
          </a:p>
          <a:p>
            <a:pPr marL="0" indent="0">
              <a:buNone/>
            </a:pPr>
            <a:endParaRPr lang="en-US" altLang="en-US" sz="2400"/>
          </a:p>
        </p:txBody>
      </p:sp>
      <p:sp>
        <p:nvSpPr>
          <p:cNvPr id="8" name="Content Placeholder 7"/>
          <p:cNvSpPr>
            <a:spLocks noGrp="1"/>
          </p:cNvSpPr>
          <p:nvPr>
            <p:ph sz="half" idx="2"/>
          </p:nvPr>
        </p:nvSpPr>
        <p:spPr>
          <a:xfrm>
            <a:off x="5377180" y="1825625"/>
            <a:ext cx="5976620" cy="4351655"/>
          </a:xfrm>
        </p:spPr>
        <p:txBody>
          <a:bodyPr>
            <a:normAutofit lnSpcReduction="10000"/>
          </a:bodyPr>
          <a:p>
            <a:pPr marL="0" indent="0">
              <a:buNone/>
            </a:pPr>
            <a:r>
              <a:rPr lang="en-US" altLang="en-US" sz="2400" b="1"/>
              <a:t>Demerits</a:t>
            </a:r>
            <a:endParaRPr lang="en-US" altLang="en-US" sz="2400" b="1"/>
          </a:p>
          <a:p>
            <a:r>
              <a:rPr lang="en-US" altLang="en-US" sz="2400"/>
              <a:t>Tough to identify good and specific  benchmark products</a:t>
            </a:r>
            <a:endParaRPr lang="en-US" altLang="en-US" sz="2400"/>
          </a:p>
          <a:p>
            <a:r>
              <a:rPr lang="en-US" altLang="en-US" sz="2400"/>
              <a:t>Challenge to find reliable and pertinent data</a:t>
            </a:r>
            <a:endParaRPr lang="en-US" altLang="en-US" sz="2400"/>
          </a:p>
          <a:p>
            <a:r>
              <a:rPr lang="en-US" altLang="en-US" sz="2400"/>
              <a:t>Copying or imitating others without taking into account your own strengths, weaknesses and uniqueness can be a risky endeavor.</a:t>
            </a:r>
            <a:endParaRPr lang="en-US" altLang="en-US" sz="2400"/>
          </a:p>
          <a:p>
            <a:r>
              <a:rPr lang="en-US" altLang="en-US" sz="2400"/>
              <a:t>Comparing to unrealistic or unsuitable benchmarks can be disheartening and misleading</a:t>
            </a:r>
            <a:endParaRPr lang="en-US" altLang="en-US" sz="2400"/>
          </a:p>
          <a:p>
            <a:pPr marL="0" indent="0">
              <a:buNone/>
            </a:pPr>
            <a:endParaRPr lang="en-US" altLang="en-US" sz="2400"/>
          </a:p>
          <a:p>
            <a:pPr marL="0" indent="0">
              <a:buNone/>
            </a:pPr>
            <a:endParaRPr lang="en-US" altLang="en-US" sz="2400"/>
          </a:p>
        </p:txBody>
      </p:sp>
      <p:sp>
        <p:nvSpPr>
          <p:cNvPr id="4" name="Footer Placeholder 3"/>
          <p:cNvSpPr>
            <a:spLocks noGrp="1"/>
          </p:cNvSpPr>
          <p:nvPr>
            <p:ph type="ftr" sz="quarter" idx="11"/>
          </p:nvPr>
        </p:nvSpPr>
        <p:spPr/>
        <p:txBody>
          <a:bodyPr/>
          <a:p>
            <a:r>
              <a:rPr lang="en-US"/>
              <a:t>Tasmin Sanjida, Lecturer, CSE, UIU</a:t>
            </a:r>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
        <p:nvSpPr>
          <p:cNvPr id="9" name="Title 8"/>
          <p:cNvSpPr>
            <a:spLocks noGrp="1"/>
          </p:cNvSpPr>
          <p:nvPr>
            <p:ph type="title"/>
          </p:nvPr>
        </p:nvSpPr>
        <p:spPr>
          <a:solidFill>
            <a:srgbClr val="FF8000"/>
          </a:solidFill>
          <a:ln>
            <a:noFill/>
          </a:ln>
        </p:spPr>
        <p:txBody>
          <a:bodyPr/>
          <a:p>
            <a:r>
              <a:rPr lang="en-US" altLang="en-US" b="1" dirty="0">
                <a:solidFill>
                  <a:schemeClr val="bg1"/>
                </a:solidFill>
              </a:rPr>
              <a:t>Benchmark Study</a:t>
            </a:r>
            <a:endParaRPr lang="en-US" altLang="en-US" b="1" dirty="0">
              <a:solidFill>
                <a:schemeClr val="bg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653" name="Shape 653"/>
        <p:cNvGrpSpPr/>
        <p:nvPr/>
      </p:nvGrpSpPr>
      <p:grpSpPr>
        <a:xfrm>
          <a:off x="0" y="0"/>
          <a:ext cx="0" cy="0"/>
          <a:chOff x="0" y="0"/>
          <a:chExt cx="0" cy="0"/>
        </a:xfrm>
      </p:grpSpPr>
      <p:sp>
        <p:nvSpPr>
          <p:cNvPr id="654" name="Google Shape;654;p76"/>
          <p:cNvSpPr txBox="1"/>
          <p:nvPr>
            <p:ph type="title"/>
          </p:nvPr>
        </p:nvSpPr>
        <p:spPr>
          <a:xfrm>
            <a:off x="415290" y="262890"/>
            <a:ext cx="11360785" cy="1124585"/>
          </a:xfrm>
          <a:prstGeom prst="rect">
            <a:avLst/>
          </a:prstGeom>
          <a:solidFill>
            <a:srgbClr val="FF8000"/>
          </a:solidFill>
          <a:ln>
            <a:solidFill>
              <a:srgbClr val="000000">
                <a:alpha val="0"/>
              </a:srgbClr>
            </a:solidFill>
          </a:ln>
        </p:spPr>
        <p:txBody>
          <a:bodyPr spcFirstLastPara="1" wrap="square" lIns="121900" tIns="121900" rIns="121900" bIns="121900" anchor="ctr" anchorCtr="0">
            <a:noAutofit/>
          </a:bodyPr>
          <a:lstStyle/>
          <a:p>
            <a:pPr marL="0" lvl="0" indent="0" algn="l" rtl="0">
              <a:spcBef>
                <a:spcPts val="0"/>
              </a:spcBef>
              <a:spcAft>
                <a:spcPts val="0"/>
              </a:spcAft>
              <a:buClr>
                <a:srgbClr val="000000"/>
              </a:buClr>
              <a:buSzPts val="2800"/>
              <a:buFont typeface="Arial" panose="020B0604020202020204"/>
              <a:buNone/>
            </a:pPr>
            <a:r>
              <a:rPr lang="en-GB" sz="4265" b="1">
                <a:solidFill>
                  <a:schemeClr val="bg1"/>
                </a:solidFill>
                <a:latin typeface="Calibri" panose="020F0502020204030204" charset="0"/>
                <a:cs typeface="Calibri" panose="020F0502020204030204" charset="0"/>
              </a:rPr>
              <a:t>Comparison Table</a:t>
            </a:r>
            <a:endParaRPr lang="en-GB" sz="4265" b="1">
              <a:solidFill>
                <a:schemeClr val="bg1"/>
              </a:solidFill>
              <a:latin typeface="Calibri" panose="020F0502020204030204" charset="0"/>
              <a:cs typeface="Calibri" panose="020F0502020204030204" charset="0"/>
            </a:endParaRPr>
          </a:p>
        </p:txBody>
      </p:sp>
      <p:sp>
        <p:nvSpPr>
          <p:cNvPr id="655" name="Google Shape;655;p76"/>
          <p:cNvSpPr txBox="1"/>
          <p:nvPr>
            <p:ph type="body" idx="1"/>
          </p:nvPr>
        </p:nvSpPr>
        <p:spPr>
          <a:xfrm>
            <a:off x="415600" y="1536633"/>
            <a:ext cx="11360800" cy="1663600"/>
          </a:xfrm>
          <a:prstGeom prst="rect">
            <a:avLst/>
          </a:prstGeom>
          <a:noFill/>
          <a:ln>
            <a:noFill/>
          </a:ln>
        </p:spPr>
        <p:txBody>
          <a:bodyPr spcFirstLastPara="1" wrap="square" lIns="121900" tIns="121900" rIns="121900" bIns="121900" anchor="t" anchorCtr="0">
            <a:noAutofit/>
          </a:bodyPr>
          <a:lstStyle/>
          <a:p>
            <a:pPr marL="457200" lvl="0" indent="-355600" algn="l" rtl="0">
              <a:lnSpc>
                <a:spcPct val="130000"/>
              </a:lnSpc>
              <a:spcBef>
                <a:spcPts val="0"/>
              </a:spcBef>
              <a:spcAft>
                <a:spcPts val="0"/>
              </a:spcAft>
              <a:buSzPts val="2000"/>
              <a:buFont typeface="Oswald"/>
              <a:buChar char="▪"/>
            </a:pPr>
            <a:r>
              <a:rPr lang="en-GB" sz="2400">
                <a:latin typeface="Calibri" panose="020F0502020204030204" charset="0"/>
                <a:ea typeface="Oswald"/>
                <a:cs typeface="Calibri" panose="020F0502020204030204" charset="0"/>
                <a:sym typeface="Oswald"/>
              </a:rPr>
              <a:t>A table that uses columns for </a:t>
            </a:r>
            <a:r>
              <a:rPr lang="en-GB" sz="2400">
                <a:solidFill>
                  <a:srgbClr val="6AA84F"/>
                </a:solidFill>
                <a:latin typeface="Calibri" panose="020F0502020204030204" charset="0"/>
                <a:ea typeface="Oswald"/>
                <a:cs typeface="Calibri" panose="020F0502020204030204" charset="0"/>
                <a:sym typeface="Oswald"/>
              </a:rPr>
              <a:t>products</a:t>
            </a:r>
            <a:r>
              <a:rPr lang="en-GB" sz="2400">
                <a:latin typeface="Calibri" panose="020F0502020204030204" charset="0"/>
                <a:ea typeface="Oswald"/>
                <a:cs typeface="Calibri" panose="020F0502020204030204" charset="0"/>
                <a:sym typeface="Oswald"/>
              </a:rPr>
              <a:t> (or services) and rows for the </a:t>
            </a:r>
            <a:r>
              <a:rPr lang="en-GB" sz="2400">
                <a:solidFill>
                  <a:srgbClr val="6AA84F"/>
                </a:solidFill>
                <a:latin typeface="Calibri" panose="020F0502020204030204" charset="0"/>
                <a:ea typeface="Oswald"/>
                <a:cs typeface="Calibri" panose="020F0502020204030204" charset="0"/>
                <a:sym typeface="Oswald"/>
              </a:rPr>
              <a:t>attributes</a:t>
            </a:r>
            <a:r>
              <a:rPr lang="en-GB" sz="2400">
                <a:latin typeface="Calibri" panose="020F0502020204030204" charset="0"/>
                <a:ea typeface="Oswald"/>
                <a:cs typeface="Calibri" panose="020F0502020204030204" charset="0"/>
                <a:sym typeface="Oswald"/>
              </a:rPr>
              <a:t>.</a:t>
            </a:r>
            <a:endParaRPr sz="2400">
              <a:latin typeface="Calibri" panose="020F0502020204030204" charset="0"/>
              <a:ea typeface="Oswald"/>
              <a:cs typeface="Calibri" panose="020F0502020204030204" charset="0"/>
              <a:sym typeface="Oswald"/>
            </a:endParaRPr>
          </a:p>
          <a:p>
            <a:pPr marL="457200" lvl="0" indent="-355600" algn="l" rtl="0">
              <a:lnSpc>
                <a:spcPct val="130000"/>
              </a:lnSpc>
              <a:spcBef>
                <a:spcPts val="0"/>
              </a:spcBef>
              <a:spcAft>
                <a:spcPts val="0"/>
              </a:spcAft>
              <a:buSzPts val="2000"/>
              <a:buFont typeface="Oswald"/>
              <a:buChar char="▪"/>
            </a:pPr>
            <a:r>
              <a:rPr lang="en-GB" sz="2400">
                <a:latin typeface="Calibri" panose="020F0502020204030204" charset="0"/>
                <a:ea typeface="Oswald"/>
                <a:cs typeface="Calibri" panose="020F0502020204030204" charset="0"/>
                <a:sym typeface="Oswald"/>
              </a:rPr>
              <a:t>Allows for quick and easy comparison between each offering’s features and characteristics.</a:t>
            </a:r>
            <a:endParaRPr lang="en-GB" sz="2400">
              <a:solidFill>
                <a:srgbClr val="6AA84F"/>
              </a:solidFill>
              <a:latin typeface="Calibri" panose="020F0502020204030204" charset="0"/>
              <a:ea typeface="Oswald"/>
              <a:cs typeface="Calibri" panose="020F0502020204030204" charset="0"/>
              <a:sym typeface="Oswald"/>
            </a:endParaRPr>
          </a:p>
        </p:txBody>
      </p:sp>
      <p:sp>
        <p:nvSpPr>
          <p:cNvPr id="656" name="Google Shape;656;p76"/>
          <p:cNvSpPr txBox="1"/>
          <p:nvPr>
            <p:ph type="sldNum" idx="12"/>
          </p:nvPr>
        </p:nvSpPr>
        <p:spPr>
          <a:xfrm>
            <a:off x="11320333" y="6241345"/>
            <a:ext cx="731600" cy="5248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GB" sz="1600">
                <a:latin typeface="Oswald"/>
                <a:ea typeface="Oswald"/>
                <a:cs typeface="Oswald"/>
                <a:sym typeface="Oswald"/>
              </a:rPr>
            </a:fld>
            <a:endParaRPr sz="1600">
              <a:latin typeface="Oswald"/>
              <a:ea typeface="Oswald"/>
              <a:cs typeface="Oswald"/>
              <a:sym typeface="Oswald"/>
            </a:endParaRPr>
          </a:p>
        </p:txBody>
      </p:sp>
      <p:pic>
        <p:nvPicPr>
          <p:cNvPr id="657" name="Google Shape;657;p76"/>
          <p:cNvPicPr preferRelativeResize="0"/>
          <p:nvPr/>
        </p:nvPicPr>
        <p:blipFill>
          <a:blip r:embed="rId1"/>
          <a:stretch>
            <a:fillRect/>
          </a:stretch>
        </p:blipFill>
        <p:spPr>
          <a:xfrm>
            <a:off x="2438384" y="3429000"/>
            <a:ext cx="7315204" cy="3047999"/>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661" name="Shape 661"/>
        <p:cNvGrpSpPr/>
        <p:nvPr/>
      </p:nvGrpSpPr>
      <p:grpSpPr>
        <a:xfrm>
          <a:off x="0" y="0"/>
          <a:ext cx="0" cy="0"/>
          <a:chOff x="0" y="0"/>
          <a:chExt cx="0" cy="0"/>
        </a:xfrm>
      </p:grpSpPr>
      <p:sp>
        <p:nvSpPr>
          <p:cNvPr id="662" name="Google Shape;662;p77"/>
          <p:cNvSpPr txBox="1"/>
          <p:nvPr>
            <p:ph type="title"/>
          </p:nvPr>
        </p:nvSpPr>
        <p:spPr>
          <a:xfrm>
            <a:off x="415925" y="375285"/>
            <a:ext cx="11360785" cy="1161415"/>
          </a:xfrm>
          <a:prstGeom prst="rect">
            <a:avLst/>
          </a:prstGeom>
          <a:solidFill>
            <a:srgbClr val="FF8000"/>
          </a:solidFill>
          <a:ln>
            <a:solidFill>
              <a:srgbClr val="000000">
                <a:alpha val="0"/>
              </a:srgbClr>
            </a:solidFill>
          </a:ln>
        </p:spPr>
        <p:txBody>
          <a:bodyPr spcFirstLastPara="1" wrap="square" lIns="121900" tIns="121900" rIns="121900" bIns="121900" anchor="t" anchorCtr="0">
            <a:noAutofit/>
          </a:bodyPr>
          <a:lstStyle/>
          <a:p>
            <a:pPr marL="0" lvl="0" indent="0" algn="l" rtl="0">
              <a:spcBef>
                <a:spcPts val="0"/>
              </a:spcBef>
              <a:spcAft>
                <a:spcPts val="0"/>
              </a:spcAft>
              <a:buClr>
                <a:srgbClr val="000000"/>
              </a:buClr>
              <a:buSzPts val="2800"/>
              <a:buFont typeface="Arial" panose="020B0604020202020204"/>
              <a:buNone/>
            </a:pPr>
            <a:r>
              <a:rPr lang="en-GB">
                <a:solidFill>
                  <a:schemeClr val="bg1"/>
                </a:solidFill>
                <a:latin typeface="Calibri" panose="020F0502020204030204" charset="0"/>
                <a:cs typeface="Calibri" panose="020F0502020204030204" charset="0"/>
              </a:rPr>
              <a:t>Comparison Table - Steps To Create</a:t>
            </a:r>
            <a:endParaRPr lang="en-GB">
              <a:solidFill>
                <a:schemeClr val="bg1"/>
              </a:solidFill>
              <a:latin typeface="Calibri" panose="020F0502020204030204" charset="0"/>
              <a:cs typeface="Calibri" panose="020F0502020204030204" charset="0"/>
            </a:endParaRPr>
          </a:p>
        </p:txBody>
      </p:sp>
      <p:sp>
        <p:nvSpPr>
          <p:cNvPr id="663" name="Google Shape;663;p77"/>
          <p:cNvSpPr txBox="1"/>
          <p:nvPr>
            <p:ph type="body" idx="1"/>
          </p:nvPr>
        </p:nvSpPr>
        <p:spPr>
          <a:xfrm>
            <a:off x="415600" y="1536633"/>
            <a:ext cx="11360800" cy="4196400"/>
          </a:xfrm>
          <a:prstGeom prst="rect">
            <a:avLst/>
          </a:prstGeom>
          <a:noFill/>
          <a:ln>
            <a:noFill/>
          </a:ln>
        </p:spPr>
        <p:txBody>
          <a:bodyPr spcFirstLastPara="1" wrap="square" lIns="121900" tIns="121900" rIns="121900" bIns="121900" anchor="t" anchorCtr="0">
            <a:noAutofit/>
          </a:bodyPr>
          <a:lstStyle/>
          <a:p>
            <a:pPr marL="0" lvl="0" indent="0" algn="l" rtl="0">
              <a:spcBef>
                <a:spcPts val="1400"/>
              </a:spcBef>
              <a:spcAft>
                <a:spcPts val="0"/>
              </a:spcAft>
              <a:buNone/>
            </a:pPr>
            <a:endParaRPr sz="2400">
              <a:latin typeface="Calibri" panose="020F0502020204030204" charset="0"/>
              <a:ea typeface="Oswald"/>
              <a:cs typeface="Calibri" panose="020F0502020204030204" charset="0"/>
              <a:sym typeface="Oswald"/>
            </a:endParaRPr>
          </a:p>
          <a:p>
            <a:pPr marL="0" lvl="0" indent="133350" algn="l" rtl="0">
              <a:spcBef>
                <a:spcPts val="1400"/>
              </a:spcBef>
              <a:spcAft>
                <a:spcPts val="0"/>
              </a:spcAft>
              <a:buSzPts val="2400"/>
              <a:buFont typeface="Oswald"/>
              <a:buChar char="▪"/>
            </a:pPr>
            <a:r>
              <a:rPr lang="en-GB" sz="2400">
                <a:latin typeface="Calibri" panose="020F0502020204030204" charset="0"/>
                <a:ea typeface="Oswald"/>
                <a:cs typeface="Calibri" panose="020F0502020204030204" charset="0"/>
                <a:sym typeface="Oswald"/>
              </a:rPr>
              <a:t>Select a subject to benchmark</a:t>
            </a:r>
            <a:endParaRPr sz="2400">
              <a:latin typeface="Calibri" panose="020F0502020204030204" charset="0"/>
              <a:ea typeface="Oswald"/>
              <a:cs typeface="Calibri" panose="020F0502020204030204" charset="0"/>
              <a:sym typeface="Oswald"/>
            </a:endParaRPr>
          </a:p>
          <a:p>
            <a:pPr marL="0" lvl="0" indent="133350" algn="l" rtl="0">
              <a:spcBef>
                <a:spcPts val="0"/>
              </a:spcBef>
              <a:spcAft>
                <a:spcPts val="0"/>
              </a:spcAft>
              <a:buSzPts val="2400"/>
              <a:buFont typeface="Oswald"/>
              <a:buChar char="▪"/>
            </a:pPr>
            <a:r>
              <a:rPr lang="en-GB" sz="2400">
                <a:latin typeface="Calibri" panose="020F0502020204030204" charset="0"/>
                <a:ea typeface="Oswald"/>
                <a:cs typeface="Calibri" panose="020F0502020204030204" charset="0"/>
                <a:sym typeface="Oswald"/>
              </a:rPr>
              <a:t>Decide which organizations or companies you want to benchmark</a:t>
            </a:r>
            <a:endParaRPr sz="2400">
              <a:latin typeface="Calibri" panose="020F0502020204030204" charset="0"/>
              <a:ea typeface="Oswald"/>
              <a:cs typeface="Calibri" panose="020F0502020204030204" charset="0"/>
              <a:sym typeface="Oswald"/>
            </a:endParaRPr>
          </a:p>
          <a:p>
            <a:pPr marL="0" lvl="0" indent="133350" algn="l" rtl="0">
              <a:spcBef>
                <a:spcPts val="0"/>
              </a:spcBef>
              <a:spcAft>
                <a:spcPts val="0"/>
              </a:spcAft>
              <a:buSzPts val="2400"/>
              <a:buFont typeface="Oswald"/>
              <a:buChar char="▪"/>
            </a:pPr>
            <a:r>
              <a:rPr lang="en-GB" sz="2400">
                <a:latin typeface="Calibri" panose="020F0502020204030204" charset="0"/>
                <a:ea typeface="Oswald"/>
                <a:cs typeface="Calibri" panose="020F0502020204030204" charset="0"/>
                <a:sym typeface="Oswald"/>
              </a:rPr>
              <a:t>Document your current processes</a:t>
            </a:r>
            <a:endParaRPr sz="2400">
              <a:latin typeface="Calibri" panose="020F0502020204030204" charset="0"/>
              <a:ea typeface="Oswald"/>
              <a:cs typeface="Calibri" panose="020F0502020204030204" charset="0"/>
              <a:sym typeface="Oswald"/>
            </a:endParaRPr>
          </a:p>
          <a:p>
            <a:pPr marL="0" lvl="0" indent="133350" algn="l" rtl="0">
              <a:spcBef>
                <a:spcPts val="0"/>
              </a:spcBef>
              <a:spcAft>
                <a:spcPts val="0"/>
              </a:spcAft>
              <a:buSzPts val="2400"/>
              <a:buFont typeface="Oswald"/>
              <a:buChar char="▪"/>
            </a:pPr>
            <a:r>
              <a:rPr lang="en-GB" sz="2400">
                <a:latin typeface="Calibri" panose="020F0502020204030204" charset="0"/>
                <a:ea typeface="Oswald"/>
                <a:cs typeface="Calibri" panose="020F0502020204030204" charset="0"/>
                <a:sym typeface="Oswald"/>
              </a:rPr>
              <a:t>Collect and analyze data</a:t>
            </a:r>
            <a:endParaRPr sz="2400">
              <a:latin typeface="Calibri" panose="020F0502020204030204" charset="0"/>
              <a:ea typeface="Oswald"/>
              <a:cs typeface="Calibri" panose="020F0502020204030204" charset="0"/>
              <a:sym typeface="Oswald"/>
            </a:endParaRPr>
          </a:p>
          <a:p>
            <a:pPr marL="0" lvl="0" indent="133350" algn="l" rtl="0">
              <a:spcBef>
                <a:spcPts val="0"/>
              </a:spcBef>
              <a:spcAft>
                <a:spcPts val="0"/>
              </a:spcAft>
              <a:buSzPts val="2400"/>
              <a:buFont typeface="Oswald"/>
              <a:buChar char="▪"/>
            </a:pPr>
            <a:r>
              <a:rPr lang="en-GB" sz="2400">
                <a:latin typeface="Calibri" panose="020F0502020204030204" charset="0"/>
                <a:ea typeface="Oswald"/>
                <a:cs typeface="Calibri" panose="020F0502020204030204" charset="0"/>
                <a:sym typeface="Oswald"/>
              </a:rPr>
              <a:t>Measure your performance against the data you’ve collected</a:t>
            </a:r>
            <a:endParaRPr sz="2400">
              <a:latin typeface="Calibri" panose="020F0502020204030204" charset="0"/>
              <a:ea typeface="Oswald"/>
              <a:cs typeface="Calibri" panose="020F0502020204030204" charset="0"/>
              <a:sym typeface="Oswald"/>
            </a:endParaRPr>
          </a:p>
        </p:txBody>
      </p:sp>
      <p:sp>
        <p:nvSpPr>
          <p:cNvPr id="664" name="Google Shape;664;p77"/>
          <p:cNvSpPr txBox="1"/>
          <p:nvPr>
            <p:ph type="sldNum" idx="12"/>
          </p:nvPr>
        </p:nvSpPr>
        <p:spPr>
          <a:xfrm>
            <a:off x="11320333" y="6241345"/>
            <a:ext cx="731600" cy="5248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GB" sz="1600">
                <a:latin typeface="Oswald"/>
                <a:ea typeface="Oswald"/>
                <a:cs typeface="Oswald"/>
                <a:sym typeface="Oswald"/>
              </a:rPr>
            </a:fld>
            <a:endParaRPr sz="1600">
              <a:latin typeface="Oswald"/>
              <a:ea typeface="Oswald"/>
              <a:cs typeface="Oswald"/>
              <a:sym typeface="Oswa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668" name="Shape 668"/>
        <p:cNvGrpSpPr/>
        <p:nvPr/>
      </p:nvGrpSpPr>
      <p:grpSpPr>
        <a:xfrm>
          <a:off x="0" y="0"/>
          <a:ext cx="0" cy="0"/>
          <a:chOff x="0" y="0"/>
          <a:chExt cx="0" cy="0"/>
        </a:xfrm>
      </p:grpSpPr>
      <p:sp>
        <p:nvSpPr>
          <p:cNvPr id="669" name="Google Shape;669;p78"/>
          <p:cNvSpPr txBox="1"/>
          <p:nvPr>
            <p:ph type="title"/>
          </p:nvPr>
        </p:nvSpPr>
        <p:spPr>
          <a:xfrm>
            <a:off x="415290" y="407035"/>
            <a:ext cx="11360785" cy="1205865"/>
          </a:xfrm>
          <a:prstGeom prst="rect">
            <a:avLst/>
          </a:prstGeom>
          <a:solidFill>
            <a:srgbClr val="FF8000"/>
          </a:solidFill>
          <a:ln>
            <a:noFill/>
          </a:ln>
        </p:spPr>
        <p:txBody>
          <a:bodyPr spcFirstLastPara="1" wrap="square" lIns="121900" tIns="121900" rIns="121900" bIns="121900" anchor="ctr" anchorCtr="0">
            <a:noAutofit/>
          </a:bodyPr>
          <a:lstStyle/>
          <a:p>
            <a:pPr marL="0" lvl="0" indent="0" algn="l" rtl="0">
              <a:spcBef>
                <a:spcPts val="0"/>
              </a:spcBef>
              <a:spcAft>
                <a:spcPts val="0"/>
              </a:spcAft>
              <a:buClr>
                <a:srgbClr val="000000"/>
              </a:buClr>
              <a:buSzPts val="2800"/>
              <a:buFont typeface="Arial" panose="020B0604020202020204"/>
              <a:buNone/>
            </a:pPr>
            <a:r>
              <a:rPr lang="en-GB" b="1">
                <a:solidFill>
                  <a:schemeClr val="bg1"/>
                </a:solidFill>
                <a:latin typeface="Calibri" panose="020F0502020204030204" charset="0"/>
                <a:cs typeface="Calibri" panose="020F0502020204030204" charset="0"/>
              </a:rPr>
              <a:t>Comparison Table - When You Don’t Need It</a:t>
            </a:r>
            <a:endParaRPr lang="en-GB" b="1">
              <a:solidFill>
                <a:schemeClr val="bg1"/>
              </a:solidFill>
              <a:latin typeface="Calibri" panose="020F0502020204030204" charset="0"/>
              <a:cs typeface="Calibri" panose="020F0502020204030204" charset="0"/>
            </a:endParaRPr>
          </a:p>
        </p:txBody>
      </p:sp>
      <p:sp>
        <p:nvSpPr>
          <p:cNvPr id="670" name="Google Shape;670;p78"/>
          <p:cNvSpPr txBox="1"/>
          <p:nvPr>
            <p:ph type="body" idx="1"/>
          </p:nvPr>
        </p:nvSpPr>
        <p:spPr>
          <a:xfrm>
            <a:off x="415600" y="1536633"/>
            <a:ext cx="11360800" cy="4196400"/>
          </a:xfrm>
          <a:prstGeom prst="rect">
            <a:avLst/>
          </a:prstGeom>
          <a:noFill/>
          <a:ln>
            <a:noFill/>
          </a:ln>
        </p:spPr>
        <p:txBody>
          <a:bodyPr spcFirstLastPara="1" wrap="square" lIns="121900" tIns="121900" rIns="121900" bIns="121900" anchor="t" anchorCtr="0">
            <a:noAutofit/>
          </a:bodyPr>
          <a:lstStyle/>
          <a:p>
            <a:pPr marL="0" lvl="0" indent="215900" algn="l" rtl="0">
              <a:spcBef>
                <a:spcPts val="1200"/>
              </a:spcBef>
              <a:spcAft>
                <a:spcPts val="0"/>
              </a:spcAft>
              <a:buClr>
                <a:srgbClr val="000000"/>
              </a:buClr>
              <a:buSzPts val="1100"/>
              <a:buFont typeface="Arial" panose="020B0604020202020204"/>
              <a:buChar char="▪"/>
            </a:pPr>
            <a:endParaRPr sz="2400">
              <a:latin typeface="Calibri" panose="020F0502020204030204" charset="0"/>
              <a:ea typeface="Oswald"/>
              <a:cs typeface="Calibri" panose="020F0502020204030204" charset="0"/>
              <a:sym typeface="Oswald"/>
            </a:endParaRPr>
          </a:p>
          <a:p>
            <a:pPr marL="457200" lvl="0" indent="-323850" algn="l" rtl="0">
              <a:spcBef>
                <a:spcPts val="0"/>
              </a:spcBef>
              <a:spcAft>
                <a:spcPts val="0"/>
              </a:spcAft>
              <a:buSzPts val="2400"/>
              <a:buFont typeface="Oswald"/>
              <a:buChar char="▪"/>
            </a:pPr>
            <a:r>
              <a:rPr lang="en-GB" sz="2400">
                <a:solidFill>
                  <a:srgbClr val="C00000"/>
                </a:solidFill>
                <a:latin typeface="Calibri" panose="020F0502020204030204" charset="0"/>
                <a:ea typeface="Oswald"/>
                <a:cs typeface="Calibri" panose="020F0502020204030204" charset="0"/>
                <a:sym typeface="Oswald"/>
              </a:rPr>
              <a:t>Not mutually exclusive </a:t>
            </a:r>
            <a:r>
              <a:rPr lang="en-GB" sz="2400">
                <a:latin typeface="Calibri" panose="020F0502020204030204" charset="0"/>
                <a:ea typeface="Oswald"/>
                <a:cs typeface="Calibri" panose="020F0502020204030204" charset="0"/>
                <a:sym typeface="Oswald"/>
              </a:rPr>
              <a:t>(</a:t>
            </a:r>
            <a:r>
              <a:rPr lang="en-GB" sz="2400">
                <a:latin typeface="Calibri" panose="020F0502020204030204" charset="0"/>
                <a:ea typeface="Oswald"/>
                <a:cs typeface="Calibri" panose="020F0502020204030204" charset="0"/>
                <a:sym typeface="Oswald"/>
              </a:rPr>
              <a:t>a consumer probably doesn’t need a comparison table to  help them choose a dress, because they can buy multiple dresses from multiple stores)</a:t>
            </a:r>
            <a:endParaRPr sz="2400">
              <a:latin typeface="Calibri" panose="020F0502020204030204" charset="0"/>
              <a:ea typeface="Oswald"/>
              <a:cs typeface="Calibri" panose="020F0502020204030204" charset="0"/>
              <a:sym typeface="Oswald"/>
            </a:endParaRPr>
          </a:p>
          <a:p>
            <a:pPr marL="0" lvl="0" indent="133350" algn="l" rtl="0">
              <a:spcBef>
                <a:spcPts val="0"/>
              </a:spcBef>
              <a:spcAft>
                <a:spcPts val="0"/>
              </a:spcAft>
              <a:buSzPts val="2400"/>
              <a:buFont typeface="Oswald"/>
              <a:buChar char="▪"/>
            </a:pPr>
            <a:r>
              <a:rPr lang="en-GB" sz="2400">
                <a:solidFill>
                  <a:srgbClr val="C00000"/>
                </a:solidFill>
                <a:latin typeface="Calibri" panose="020F0502020204030204" charset="0"/>
                <a:ea typeface="Oswald"/>
                <a:cs typeface="Calibri" panose="020F0502020204030204" charset="0"/>
                <a:sym typeface="Oswald"/>
              </a:rPr>
              <a:t>Simple </a:t>
            </a:r>
            <a:r>
              <a:rPr lang="en-GB" sz="2400">
                <a:latin typeface="Calibri" panose="020F0502020204030204" charset="0"/>
                <a:ea typeface="Oswald"/>
                <a:cs typeface="Calibri" panose="020F0502020204030204" charset="0"/>
                <a:sym typeface="Oswald"/>
              </a:rPr>
              <a:t>(</a:t>
            </a:r>
            <a:r>
              <a:rPr lang="en-GB" sz="2400">
                <a:latin typeface="Calibri" panose="020F0502020204030204" charset="0"/>
                <a:ea typeface="Oswald"/>
                <a:cs typeface="Calibri" panose="020F0502020204030204" charset="0"/>
                <a:sym typeface="Oswald"/>
              </a:rPr>
              <a:t>coffee mug doesn’t have many meaningful, comparable attributes)</a:t>
            </a:r>
            <a:endParaRPr sz="2400">
              <a:latin typeface="Calibri" panose="020F0502020204030204" charset="0"/>
              <a:ea typeface="Oswald"/>
              <a:cs typeface="Calibri" panose="020F0502020204030204" charset="0"/>
              <a:sym typeface="Oswald"/>
            </a:endParaRPr>
          </a:p>
          <a:p>
            <a:pPr marL="0" lvl="0" indent="133350" algn="l" rtl="0">
              <a:spcBef>
                <a:spcPts val="0"/>
              </a:spcBef>
              <a:spcAft>
                <a:spcPts val="0"/>
              </a:spcAft>
              <a:buSzPts val="2400"/>
              <a:buFont typeface="Oswald"/>
              <a:buChar char="▪"/>
            </a:pPr>
            <a:r>
              <a:rPr lang="en-GB" sz="2400">
                <a:solidFill>
                  <a:srgbClr val="C00000"/>
                </a:solidFill>
                <a:latin typeface="Calibri" panose="020F0502020204030204" charset="0"/>
                <a:ea typeface="Oswald"/>
                <a:cs typeface="Calibri" panose="020F0502020204030204" charset="0"/>
                <a:sym typeface="Oswald"/>
              </a:rPr>
              <a:t>Cheap or replaceable</a:t>
            </a:r>
            <a:r>
              <a:rPr lang="en-GB" sz="2400">
                <a:latin typeface="Calibri" panose="020F0502020204030204" charset="0"/>
                <a:ea typeface="Oswald"/>
                <a:cs typeface="Calibri" panose="020F0502020204030204" charset="0"/>
                <a:sym typeface="Oswald"/>
              </a:rPr>
              <a:t> (</a:t>
            </a:r>
            <a:r>
              <a:rPr lang="en-GB" sz="2400">
                <a:latin typeface="Calibri" panose="020F0502020204030204" charset="0"/>
                <a:ea typeface="Oswald"/>
                <a:cs typeface="Calibri" panose="020F0502020204030204" charset="0"/>
                <a:sym typeface="Oswald"/>
              </a:rPr>
              <a:t>not worth the time comparing the attributes of a pen)</a:t>
            </a:r>
            <a:endParaRPr sz="2400">
              <a:latin typeface="Calibri" panose="020F0502020204030204" charset="0"/>
              <a:ea typeface="Oswald"/>
              <a:cs typeface="Calibri" panose="020F0502020204030204" charset="0"/>
              <a:sym typeface="Oswald"/>
            </a:endParaRPr>
          </a:p>
          <a:p>
            <a:pPr marL="0" lvl="0" indent="133350" algn="l" rtl="0">
              <a:spcBef>
                <a:spcPts val="0"/>
              </a:spcBef>
              <a:spcAft>
                <a:spcPts val="0"/>
              </a:spcAft>
              <a:buClr>
                <a:srgbClr val="6AA84F"/>
              </a:buClr>
              <a:buSzPts val="2400"/>
              <a:buFont typeface="Oswald"/>
              <a:buChar char="▪"/>
            </a:pPr>
            <a:r>
              <a:rPr lang="en-GB" sz="2400">
                <a:solidFill>
                  <a:srgbClr val="C00000"/>
                </a:solidFill>
                <a:latin typeface="Calibri" panose="020F0502020204030204" charset="0"/>
                <a:ea typeface="Oswald"/>
                <a:cs typeface="Calibri" panose="020F0502020204030204" charset="0"/>
                <a:sym typeface="Oswald"/>
              </a:rPr>
              <a:t>Unique or hard to compare</a:t>
            </a:r>
            <a:endParaRPr lang="en-GB" sz="2400">
              <a:solidFill>
                <a:srgbClr val="C00000"/>
              </a:solidFill>
              <a:latin typeface="Calibri" panose="020F0502020204030204" charset="0"/>
              <a:ea typeface="Oswald"/>
              <a:cs typeface="Calibri" panose="020F0502020204030204" charset="0"/>
              <a:sym typeface="Oswald"/>
            </a:endParaRPr>
          </a:p>
        </p:txBody>
      </p:sp>
      <p:sp>
        <p:nvSpPr>
          <p:cNvPr id="671" name="Google Shape;671;p78"/>
          <p:cNvSpPr txBox="1"/>
          <p:nvPr>
            <p:ph type="sldNum" idx="12"/>
          </p:nvPr>
        </p:nvSpPr>
        <p:spPr>
          <a:xfrm>
            <a:off x="11320333" y="6241345"/>
            <a:ext cx="731600" cy="5248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GB" sz="1600">
                <a:latin typeface="Oswald"/>
                <a:ea typeface="Oswald"/>
                <a:cs typeface="Oswald"/>
                <a:sym typeface="Oswald"/>
              </a:rPr>
            </a:fld>
            <a:endParaRPr sz="1600">
              <a:latin typeface="Oswald"/>
              <a:ea typeface="Oswald"/>
              <a:cs typeface="Oswald"/>
              <a:sym typeface="Oswa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77" name="Google Shape;677;p79"/>
          <p:cNvPicPr preferRelativeResize="0"/>
          <p:nvPr/>
        </p:nvPicPr>
        <p:blipFill rotWithShape="1">
          <a:blip r:embed="rId1"/>
          <a:srcRect/>
          <a:stretch>
            <a:fillRect/>
          </a:stretch>
        </p:blipFill>
        <p:spPr>
          <a:xfrm>
            <a:off x="2428875" y="580390"/>
            <a:ext cx="7757160" cy="557276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
        <p:nvSpPr>
          <p:cNvPr id="7" name="Footer Placeholder 6"/>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681" name="Shape 681"/>
        <p:cNvGrpSpPr/>
        <p:nvPr/>
      </p:nvGrpSpPr>
      <p:grpSpPr>
        <a:xfrm>
          <a:off x="0" y="0"/>
          <a:ext cx="0" cy="0"/>
          <a:chOff x="0" y="0"/>
          <a:chExt cx="0" cy="0"/>
        </a:xfrm>
      </p:grpSpPr>
      <p:graphicFrame>
        <p:nvGraphicFramePr>
          <p:cNvPr id="683" name="Google Shape;683;p80"/>
          <p:cNvGraphicFramePr/>
          <p:nvPr>
            <p:custDataLst>
              <p:tags r:id="rId1"/>
            </p:custDataLst>
          </p:nvPr>
        </p:nvGraphicFramePr>
        <p:xfrm>
          <a:off x="248920" y="249555"/>
          <a:ext cx="11791950" cy="6157595"/>
        </p:xfrm>
        <a:graphic>
          <a:graphicData uri="http://schemas.openxmlformats.org/drawingml/2006/table">
            <a:tbl>
              <a:tblPr firstRow="1" bandRow="1">
                <a:noFill/>
                <a:tableStyleId>{15F0CBB4-3D2D-4844-9D8C-E6DD3983440F}</a:tableStyleId>
              </a:tblPr>
              <a:tblGrid>
                <a:gridCol w="1965325"/>
                <a:gridCol w="1965325"/>
                <a:gridCol w="1965325"/>
                <a:gridCol w="1965325"/>
                <a:gridCol w="1965325"/>
                <a:gridCol w="1965325"/>
              </a:tblGrid>
              <a:tr h="878840">
                <a:tc>
                  <a:txBody>
                    <a:bodyPr/>
                    <a:lstStyle/>
                    <a:p>
                      <a:pPr marL="0" marR="0" lvl="0" indent="0" algn="l" rtl="0">
                        <a:lnSpc>
                          <a:spcPct val="100000"/>
                        </a:lnSpc>
                        <a:spcBef>
                          <a:spcPts val="0"/>
                        </a:spcBef>
                        <a:spcAft>
                          <a:spcPts val="0"/>
                        </a:spcAft>
                        <a:buClr>
                          <a:srgbClr val="FFFFFF"/>
                        </a:buClr>
                        <a:buSzPts val="1100"/>
                        <a:buFont typeface="Arial" panose="020B0604020202020204"/>
                        <a:buNone/>
                      </a:pPr>
                      <a:r>
                        <a:rPr lang="en-GB" sz="1465" u="none" strike="noStrike" cap="none">
                          <a:solidFill>
                            <a:srgbClr val="FFFFFF"/>
                          </a:solidFill>
                        </a:rPr>
                        <a:t>Comparison</a:t>
                      </a:r>
                      <a:r>
                        <a:rPr lang="en-GB" sz="1465" u="none" strike="noStrike" cap="none"/>
                        <a:t> </a:t>
                      </a:r>
                      <a:endParaRPr lang="en-GB" sz="1465" u="none" strike="noStrike" cap="none"/>
                    </a:p>
                  </a:txBody>
                  <a:tcPr marL="91433" marR="91433" marT="45733" marB="45733">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99CAD2"/>
                    </a:solidFill>
                  </a:tcP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865" b="1" u="none" strike="noStrike" cap="none">
                          <a:solidFill>
                            <a:srgbClr val="000000"/>
                          </a:solidFill>
                        </a:rPr>
                        <a:t>       Cricinfo</a:t>
                      </a:r>
                      <a:endParaRPr sz="1865" b="1" u="none" strike="noStrike" cap="none">
                        <a:solidFill>
                          <a:srgbClr val="000000"/>
                        </a:solidFill>
                      </a:endParaRPr>
                    </a:p>
                  </a:txBody>
                  <a:tcPr marL="91433" marR="91433" marT="45733" marB="45733">
                    <a:lnL w="9525" cap="flat" cmpd="sng">
                      <a:solidFill>
                        <a:srgbClr val="000000">
                          <a:alpha val="0"/>
                        </a:srgbClr>
                      </a:solidFill>
                      <a:prstDash val="solid"/>
                      <a:round/>
                      <a:headEnd type="none" w="sm" len="sm"/>
                      <a:tailEnd type="none" w="sm" len="sm"/>
                    </a:lnL>
                    <a:solidFill>
                      <a:srgbClr val="99CAD2"/>
                    </a:solidFill>
                  </a:tcP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865" b="1" u="none" strike="noStrike" cap="none">
                          <a:solidFill>
                            <a:srgbClr val="000000"/>
                          </a:solidFill>
                        </a:rPr>
                        <a:t>     Cricbuzz</a:t>
                      </a:r>
                      <a:endParaRPr sz="1865" b="1" u="none" strike="noStrike" cap="none">
                        <a:solidFill>
                          <a:srgbClr val="000000"/>
                        </a:solidFill>
                      </a:endParaRPr>
                    </a:p>
                  </a:txBody>
                  <a:tcPr marL="91433" marR="91433" marT="45733" marB="45733">
                    <a:solidFill>
                      <a:srgbClr val="99CAD2"/>
                    </a:solidFill>
                  </a:tcP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865" b="1" u="none" strike="noStrike" cap="none">
                          <a:solidFill>
                            <a:srgbClr val="000000"/>
                          </a:solidFill>
                        </a:rPr>
                        <a:t>Australian Cric</a:t>
                      </a:r>
                      <a:endParaRPr sz="1865" b="1" u="none" strike="noStrike" cap="none">
                        <a:solidFill>
                          <a:srgbClr val="000000"/>
                        </a:solidFill>
                      </a:endParaRPr>
                    </a:p>
                  </a:txBody>
                  <a:tcPr marL="91433" marR="91433" marT="45733" marB="45733">
                    <a:solidFill>
                      <a:srgbClr val="99CAD2"/>
                    </a:solidFill>
                  </a:tcPr>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865" b="1" u="none" strike="noStrike" cap="none">
                          <a:solidFill>
                            <a:srgbClr val="000000"/>
                          </a:solidFill>
                        </a:rPr>
                        <a:t>            IPL</a:t>
                      </a:r>
                      <a:endParaRPr lang="en-GB" sz="1865" b="1" u="none" strike="noStrike" cap="none">
                        <a:solidFill>
                          <a:srgbClr val="000000"/>
                        </a:solidFill>
                      </a:endParaRPr>
                    </a:p>
                  </a:txBody>
                  <a:tcPr marL="91433" marR="91433" marT="45733" marB="45733">
                    <a:solidFill>
                      <a:srgbClr val="99CAD2"/>
                    </a:solidFill>
                  </a:tcPr>
                </a:tc>
                <a:tc>
                  <a:txBody>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GB" sz="1600" u="none" strike="noStrike" cap="none">
                          <a:solidFill>
                            <a:srgbClr val="000000"/>
                          </a:solidFill>
                        </a:rPr>
                        <a:t>Proposed system (BCL)</a:t>
                      </a:r>
                      <a:endParaRPr lang="en-GB" sz="1600" u="none" strike="noStrike" cap="none">
                        <a:solidFill>
                          <a:srgbClr val="000000"/>
                        </a:solidFill>
                      </a:endParaRPr>
                    </a:p>
                  </a:txBody>
                  <a:tcPr marL="91433" marR="91433" marT="45733" marB="45733">
                    <a:solidFill>
                      <a:srgbClr val="99CAD2"/>
                    </a:solidFill>
                  </a:tcPr>
                </a:tc>
              </a:tr>
              <a:tr h="57975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Team Name</a:t>
                      </a:r>
                      <a:endParaRPr sz="1465" b="1" u="none" strike="noStrike" cap="none"/>
                    </a:p>
                  </a:txBody>
                  <a:tcPr marL="91433" marR="91433" marT="45733" marB="45733">
                    <a:lnT w="9525" cap="flat" cmpd="sng">
                      <a:solidFill>
                        <a:srgbClr val="000000">
                          <a:alpha val="0"/>
                        </a:srgbClr>
                      </a:solidFill>
                      <a:prstDash val="solid"/>
                      <a:round/>
                      <a:headEnd type="none" w="sm" len="sm"/>
                      <a:tailEnd type="none" w="sm" len="sm"/>
                    </a:lnT>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r>
              <a:tr h="511810">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News</a:t>
                      </a:r>
                      <a:endParaRPr lang="en-GB" sz="1465" b="1"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r>
              <a:tr h="51117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Result</a:t>
                      </a:r>
                      <a:endParaRPr lang="en-GB" sz="1465" b="1"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r>
              <a:tr h="434340">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Fixture</a:t>
                      </a:r>
                      <a:endParaRPr lang="en-GB" sz="1465" b="1"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r>
              <a:tr h="49466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Live Scores</a:t>
                      </a:r>
                      <a:endParaRPr sz="1465" b="1"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r>
              <a:tr h="462280">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Login</a:t>
                      </a:r>
                      <a:endParaRPr lang="en-GB" sz="1465" b="1"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r>
              <a:tr h="459740">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Search</a:t>
                      </a:r>
                      <a:endParaRPr lang="en-GB" sz="1465" b="1"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r>
              <a:tr h="461010">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Blog</a:t>
                      </a:r>
                      <a:endParaRPr lang="en-GB" sz="1465" b="1"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r>
              <a:tr h="445770">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Videos</a:t>
                      </a:r>
                      <a:endParaRPr lang="en-GB" sz="1465" b="1"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r>
              <a:tr h="421640">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Ticket</a:t>
                      </a:r>
                      <a:endParaRPr lang="en-GB" sz="1465" b="1"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BADBE1"/>
                    </a:solidFill>
                  </a:tcPr>
                </a:tc>
              </a:tr>
              <a:tr h="496570">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465" b="1" u="none" strike="noStrike" cap="none"/>
                        <a:t>Point table </a:t>
                      </a:r>
                      <a:endParaRPr lang="en-GB" sz="1465" b="1"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u="none" strike="noStrike" cap="none"/>
                    </a:p>
                  </a:txBody>
                  <a:tcPr marL="91433" marR="91433" marT="45733" marB="45733">
                    <a:solidFill>
                      <a:srgbClr val="DCEDF0"/>
                    </a:solidFill>
                  </a:tcPr>
                </a:tc>
              </a:tr>
            </a:tbl>
          </a:graphicData>
        </a:graphic>
      </p:graphicFrame>
      <p:pic>
        <p:nvPicPr>
          <p:cNvPr id="684" name="Google Shape;684;p80" descr="C:\Users\jumman\Desktop\12065738771352376078Arnoud999_Right_or_wrong_5.svg.med.png"/>
          <p:cNvPicPr preferRelativeResize="0"/>
          <p:nvPr/>
        </p:nvPicPr>
        <p:blipFill rotWithShape="1">
          <a:blip r:embed="rId2"/>
          <a:srcRect/>
          <a:stretch>
            <a:fillRect/>
          </a:stretch>
        </p:blipFill>
        <p:spPr>
          <a:xfrm>
            <a:off x="8953291" y="2725459"/>
            <a:ext cx="445107" cy="358205"/>
          </a:xfrm>
          <a:prstGeom prst="rect">
            <a:avLst/>
          </a:prstGeom>
          <a:noFill/>
          <a:ln>
            <a:noFill/>
          </a:ln>
        </p:spPr>
      </p:pic>
      <p:pic>
        <p:nvPicPr>
          <p:cNvPr id="685" name="Google Shape;685;p80" descr="C:\Users\jumman\Desktop\verifytick.jpg"/>
          <p:cNvPicPr preferRelativeResize="0"/>
          <p:nvPr/>
        </p:nvPicPr>
        <p:blipFill rotWithShape="1">
          <a:blip r:embed="rId3"/>
          <a:srcRect/>
          <a:stretch>
            <a:fillRect/>
          </a:stretch>
        </p:blipFill>
        <p:spPr>
          <a:xfrm>
            <a:off x="2982316" y="1118005"/>
            <a:ext cx="731837" cy="375301"/>
          </a:xfrm>
          <a:prstGeom prst="rect">
            <a:avLst/>
          </a:prstGeom>
          <a:noFill/>
          <a:ln>
            <a:noFill/>
          </a:ln>
        </p:spPr>
      </p:pic>
      <p:pic>
        <p:nvPicPr>
          <p:cNvPr id="686" name="Google Shape;686;p80" descr="C:\Users\jumman\Desktop\verifytick.jpg"/>
          <p:cNvPicPr preferRelativeResize="0"/>
          <p:nvPr/>
        </p:nvPicPr>
        <p:blipFill rotWithShape="1">
          <a:blip r:embed="rId3"/>
          <a:srcRect/>
          <a:stretch>
            <a:fillRect/>
          </a:stretch>
        </p:blipFill>
        <p:spPr>
          <a:xfrm>
            <a:off x="4927625" y="1092475"/>
            <a:ext cx="731837" cy="375301"/>
          </a:xfrm>
          <a:prstGeom prst="rect">
            <a:avLst/>
          </a:prstGeom>
          <a:noFill/>
          <a:ln>
            <a:noFill/>
          </a:ln>
        </p:spPr>
      </p:pic>
      <p:pic>
        <p:nvPicPr>
          <p:cNvPr id="687" name="Google Shape;687;p80" descr="C:\Users\jumman\Desktop\verifytick.jpg"/>
          <p:cNvPicPr preferRelativeResize="0"/>
          <p:nvPr/>
        </p:nvPicPr>
        <p:blipFill rotWithShape="1">
          <a:blip r:embed="rId3"/>
          <a:srcRect/>
          <a:stretch>
            <a:fillRect/>
          </a:stretch>
        </p:blipFill>
        <p:spPr>
          <a:xfrm>
            <a:off x="6787933" y="1144908"/>
            <a:ext cx="731837" cy="375301"/>
          </a:xfrm>
          <a:prstGeom prst="rect">
            <a:avLst/>
          </a:prstGeom>
          <a:noFill/>
          <a:ln>
            <a:noFill/>
          </a:ln>
        </p:spPr>
      </p:pic>
      <p:pic>
        <p:nvPicPr>
          <p:cNvPr id="688" name="Google Shape;688;p80" descr="C:\Users\jumman\Desktop\verifytick.jpg"/>
          <p:cNvPicPr preferRelativeResize="0"/>
          <p:nvPr/>
        </p:nvPicPr>
        <p:blipFill rotWithShape="1">
          <a:blip r:embed="rId3"/>
          <a:srcRect/>
          <a:stretch>
            <a:fillRect/>
          </a:stretch>
        </p:blipFill>
        <p:spPr>
          <a:xfrm>
            <a:off x="8706639" y="1092473"/>
            <a:ext cx="731837" cy="375301"/>
          </a:xfrm>
          <a:prstGeom prst="rect">
            <a:avLst/>
          </a:prstGeom>
          <a:noFill/>
          <a:ln>
            <a:noFill/>
          </a:ln>
        </p:spPr>
      </p:pic>
      <p:pic>
        <p:nvPicPr>
          <p:cNvPr id="689" name="Google Shape;689;p80" descr="C:\Users\jumman\Desktop\verifytick.jpg"/>
          <p:cNvPicPr preferRelativeResize="0"/>
          <p:nvPr/>
        </p:nvPicPr>
        <p:blipFill rotWithShape="1">
          <a:blip r:embed="rId3"/>
          <a:srcRect/>
          <a:stretch>
            <a:fillRect/>
          </a:stretch>
        </p:blipFill>
        <p:spPr>
          <a:xfrm>
            <a:off x="2982316" y="1680957"/>
            <a:ext cx="731837" cy="375301"/>
          </a:xfrm>
          <a:prstGeom prst="rect">
            <a:avLst/>
          </a:prstGeom>
          <a:noFill/>
          <a:ln>
            <a:noFill/>
          </a:ln>
        </p:spPr>
      </p:pic>
      <p:pic>
        <p:nvPicPr>
          <p:cNvPr id="690" name="Google Shape;690;p80" descr="C:\Users\jumman\Desktop\verifytick.jpg"/>
          <p:cNvPicPr preferRelativeResize="0"/>
          <p:nvPr/>
        </p:nvPicPr>
        <p:blipFill rotWithShape="1">
          <a:blip r:embed="rId3"/>
          <a:srcRect/>
          <a:stretch>
            <a:fillRect/>
          </a:stretch>
        </p:blipFill>
        <p:spPr>
          <a:xfrm>
            <a:off x="4908104" y="1680957"/>
            <a:ext cx="731837" cy="375301"/>
          </a:xfrm>
          <a:prstGeom prst="rect">
            <a:avLst/>
          </a:prstGeom>
          <a:noFill/>
          <a:ln>
            <a:noFill/>
          </a:ln>
        </p:spPr>
      </p:pic>
      <p:pic>
        <p:nvPicPr>
          <p:cNvPr id="691" name="Google Shape;691;p80" descr="C:\Users\jumman\Desktop\verifytick.jpg"/>
          <p:cNvPicPr preferRelativeResize="0"/>
          <p:nvPr/>
        </p:nvPicPr>
        <p:blipFill rotWithShape="1">
          <a:blip r:embed="rId3"/>
          <a:srcRect/>
          <a:stretch>
            <a:fillRect/>
          </a:stretch>
        </p:blipFill>
        <p:spPr>
          <a:xfrm>
            <a:off x="6769952" y="1712835"/>
            <a:ext cx="731837" cy="375301"/>
          </a:xfrm>
          <a:prstGeom prst="rect">
            <a:avLst/>
          </a:prstGeom>
          <a:noFill/>
          <a:ln>
            <a:noFill/>
          </a:ln>
        </p:spPr>
      </p:pic>
      <p:pic>
        <p:nvPicPr>
          <p:cNvPr id="692" name="Google Shape;692;p80" descr="C:\Users\jumman\Desktop\verifytick.jpg"/>
          <p:cNvPicPr preferRelativeResize="0"/>
          <p:nvPr/>
        </p:nvPicPr>
        <p:blipFill rotWithShape="1">
          <a:blip r:embed="rId3"/>
          <a:srcRect/>
          <a:stretch>
            <a:fillRect/>
          </a:stretch>
        </p:blipFill>
        <p:spPr>
          <a:xfrm>
            <a:off x="8706639" y="1680957"/>
            <a:ext cx="731837" cy="375301"/>
          </a:xfrm>
          <a:prstGeom prst="rect">
            <a:avLst/>
          </a:prstGeom>
          <a:noFill/>
          <a:ln>
            <a:noFill/>
          </a:ln>
        </p:spPr>
      </p:pic>
      <p:pic>
        <p:nvPicPr>
          <p:cNvPr id="693" name="Google Shape;693;p80" descr="C:\Users\jumman\Desktop\12065738771352376078Arnoud999_Right_or_wrong_5.svg.med.png"/>
          <p:cNvPicPr preferRelativeResize="0"/>
          <p:nvPr/>
        </p:nvPicPr>
        <p:blipFill rotWithShape="1">
          <a:blip r:embed="rId2"/>
          <a:srcRect/>
          <a:stretch>
            <a:fillRect/>
          </a:stretch>
        </p:blipFill>
        <p:spPr>
          <a:xfrm>
            <a:off x="6946547" y="2207363"/>
            <a:ext cx="445107" cy="358205"/>
          </a:xfrm>
          <a:prstGeom prst="rect">
            <a:avLst/>
          </a:prstGeom>
          <a:noFill/>
          <a:ln>
            <a:noFill/>
          </a:ln>
        </p:spPr>
      </p:pic>
      <p:pic>
        <p:nvPicPr>
          <p:cNvPr id="694" name="Google Shape;694;p80" descr="C:\Users\jumman\Desktop\verifytick.jpg"/>
          <p:cNvPicPr preferRelativeResize="0"/>
          <p:nvPr/>
        </p:nvPicPr>
        <p:blipFill rotWithShape="1">
          <a:blip r:embed="rId3"/>
          <a:srcRect/>
          <a:stretch>
            <a:fillRect/>
          </a:stretch>
        </p:blipFill>
        <p:spPr>
          <a:xfrm>
            <a:off x="4908104" y="2190028"/>
            <a:ext cx="731837" cy="375301"/>
          </a:xfrm>
          <a:prstGeom prst="rect">
            <a:avLst/>
          </a:prstGeom>
          <a:noFill/>
          <a:ln>
            <a:noFill/>
          </a:ln>
        </p:spPr>
      </p:pic>
      <p:pic>
        <p:nvPicPr>
          <p:cNvPr id="695" name="Google Shape;695;p80" descr="C:\Users\jumman\Desktop\verifytick.jpg"/>
          <p:cNvPicPr preferRelativeResize="0"/>
          <p:nvPr/>
        </p:nvPicPr>
        <p:blipFill rotWithShape="1">
          <a:blip r:embed="rId3"/>
          <a:srcRect/>
          <a:stretch>
            <a:fillRect/>
          </a:stretch>
        </p:blipFill>
        <p:spPr>
          <a:xfrm>
            <a:off x="4849348" y="2705477"/>
            <a:ext cx="731837" cy="375301"/>
          </a:xfrm>
          <a:prstGeom prst="rect">
            <a:avLst/>
          </a:prstGeom>
          <a:noFill/>
          <a:ln>
            <a:noFill/>
          </a:ln>
        </p:spPr>
      </p:pic>
      <p:pic>
        <p:nvPicPr>
          <p:cNvPr id="696" name="Google Shape;696;p80" descr="C:\Users\jumman\Desktop\verifytick.jpg"/>
          <p:cNvPicPr preferRelativeResize="0"/>
          <p:nvPr/>
        </p:nvPicPr>
        <p:blipFill rotWithShape="1">
          <a:blip r:embed="rId3"/>
          <a:srcRect/>
          <a:stretch>
            <a:fillRect/>
          </a:stretch>
        </p:blipFill>
        <p:spPr>
          <a:xfrm>
            <a:off x="6803181" y="2680653"/>
            <a:ext cx="731837" cy="375301"/>
          </a:xfrm>
          <a:prstGeom prst="rect">
            <a:avLst/>
          </a:prstGeom>
          <a:noFill/>
          <a:ln>
            <a:noFill/>
          </a:ln>
        </p:spPr>
      </p:pic>
      <p:pic>
        <p:nvPicPr>
          <p:cNvPr id="697" name="Google Shape;697;p80" descr="C:\Users\jumman\Desktop\verifytick.jpg"/>
          <p:cNvPicPr preferRelativeResize="0"/>
          <p:nvPr/>
        </p:nvPicPr>
        <p:blipFill rotWithShape="1">
          <a:blip r:embed="rId3"/>
          <a:srcRect/>
          <a:stretch>
            <a:fillRect/>
          </a:stretch>
        </p:blipFill>
        <p:spPr>
          <a:xfrm>
            <a:off x="2968515" y="2693644"/>
            <a:ext cx="731837" cy="375301"/>
          </a:xfrm>
          <a:prstGeom prst="rect">
            <a:avLst/>
          </a:prstGeom>
          <a:noFill/>
          <a:ln>
            <a:noFill/>
          </a:ln>
        </p:spPr>
      </p:pic>
      <p:pic>
        <p:nvPicPr>
          <p:cNvPr id="698" name="Google Shape;698;p80" descr="C:\Users\jumman\Desktop\verifytick.jpg"/>
          <p:cNvPicPr preferRelativeResize="0"/>
          <p:nvPr/>
        </p:nvPicPr>
        <p:blipFill rotWithShape="1">
          <a:blip r:embed="rId3"/>
          <a:srcRect/>
          <a:stretch>
            <a:fillRect/>
          </a:stretch>
        </p:blipFill>
        <p:spPr>
          <a:xfrm>
            <a:off x="2968515" y="3148428"/>
            <a:ext cx="731837" cy="375301"/>
          </a:xfrm>
          <a:prstGeom prst="rect">
            <a:avLst/>
          </a:prstGeom>
          <a:noFill/>
          <a:ln>
            <a:noFill/>
          </a:ln>
        </p:spPr>
      </p:pic>
      <p:pic>
        <p:nvPicPr>
          <p:cNvPr id="699" name="Google Shape;699;p80" descr="C:\Users\jumman\Desktop\verifytick.jpg"/>
          <p:cNvPicPr preferRelativeResize="0"/>
          <p:nvPr/>
        </p:nvPicPr>
        <p:blipFill rotWithShape="1">
          <a:blip r:embed="rId3"/>
          <a:srcRect/>
          <a:stretch>
            <a:fillRect/>
          </a:stretch>
        </p:blipFill>
        <p:spPr>
          <a:xfrm>
            <a:off x="4888608" y="3139603"/>
            <a:ext cx="731837" cy="375301"/>
          </a:xfrm>
          <a:prstGeom prst="rect">
            <a:avLst/>
          </a:prstGeom>
          <a:noFill/>
          <a:ln>
            <a:noFill/>
          </a:ln>
        </p:spPr>
      </p:pic>
      <p:pic>
        <p:nvPicPr>
          <p:cNvPr id="700" name="Google Shape;700;p80" descr="C:\Users\jumman\Desktop\verifytick.jpg"/>
          <p:cNvPicPr preferRelativeResize="0"/>
          <p:nvPr/>
        </p:nvPicPr>
        <p:blipFill rotWithShape="1">
          <a:blip r:embed="rId3"/>
          <a:srcRect/>
          <a:stretch>
            <a:fillRect/>
          </a:stretch>
        </p:blipFill>
        <p:spPr>
          <a:xfrm>
            <a:off x="6787933" y="3125979"/>
            <a:ext cx="731837" cy="375301"/>
          </a:xfrm>
          <a:prstGeom prst="rect">
            <a:avLst/>
          </a:prstGeom>
          <a:noFill/>
          <a:ln>
            <a:noFill/>
          </a:ln>
        </p:spPr>
      </p:pic>
      <p:pic>
        <p:nvPicPr>
          <p:cNvPr id="701" name="Google Shape;701;p80" descr="C:\Users\jumman\Desktop\verifytick.jpg"/>
          <p:cNvPicPr preferRelativeResize="0"/>
          <p:nvPr/>
        </p:nvPicPr>
        <p:blipFill rotWithShape="1">
          <a:blip r:embed="rId3"/>
          <a:srcRect/>
          <a:stretch>
            <a:fillRect/>
          </a:stretch>
        </p:blipFill>
        <p:spPr>
          <a:xfrm>
            <a:off x="2954713" y="3693360"/>
            <a:ext cx="731837" cy="375301"/>
          </a:xfrm>
          <a:prstGeom prst="rect">
            <a:avLst/>
          </a:prstGeom>
          <a:noFill/>
          <a:ln>
            <a:noFill/>
          </a:ln>
        </p:spPr>
      </p:pic>
      <p:pic>
        <p:nvPicPr>
          <p:cNvPr id="702" name="Google Shape;702;p80"/>
          <p:cNvPicPr preferRelativeResize="0"/>
          <p:nvPr/>
        </p:nvPicPr>
        <p:blipFill rotWithShape="1">
          <a:blip r:embed="rId4"/>
          <a:srcRect/>
          <a:stretch>
            <a:fillRect/>
          </a:stretch>
        </p:blipFill>
        <p:spPr>
          <a:xfrm>
            <a:off x="4880480" y="3634369"/>
            <a:ext cx="731583" cy="377985"/>
          </a:xfrm>
          <a:prstGeom prst="rect">
            <a:avLst/>
          </a:prstGeom>
          <a:noFill/>
          <a:ln>
            <a:noFill/>
          </a:ln>
        </p:spPr>
      </p:pic>
      <p:pic>
        <p:nvPicPr>
          <p:cNvPr id="703" name="Google Shape;703;p80"/>
          <p:cNvPicPr preferRelativeResize="0"/>
          <p:nvPr/>
        </p:nvPicPr>
        <p:blipFill rotWithShape="1">
          <a:blip r:embed="rId4"/>
          <a:srcRect/>
          <a:stretch>
            <a:fillRect/>
          </a:stretch>
        </p:blipFill>
        <p:spPr>
          <a:xfrm>
            <a:off x="6769953" y="3662051"/>
            <a:ext cx="731583" cy="377985"/>
          </a:xfrm>
          <a:prstGeom prst="rect">
            <a:avLst/>
          </a:prstGeom>
          <a:noFill/>
          <a:ln>
            <a:noFill/>
          </a:ln>
        </p:spPr>
      </p:pic>
      <p:pic>
        <p:nvPicPr>
          <p:cNvPr id="704" name="Google Shape;704;p80" descr="C:\Users\jumman\Desktop\verifytick.jpg"/>
          <p:cNvPicPr preferRelativeResize="0"/>
          <p:nvPr/>
        </p:nvPicPr>
        <p:blipFill rotWithShape="1">
          <a:blip r:embed="rId3"/>
          <a:srcRect/>
          <a:stretch>
            <a:fillRect/>
          </a:stretch>
        </p:blipFill>
        <p:spPr>
          <a:xfrm>
            <a:off x="2940912" y="4190279"/>
            <a:ext cx="731837" cy="375301"/>
          </a:xfrm>
          <a:prstGeom prst="rect">
            <a:avLst/>
          </a:prstGeom>
          <a:noFill/>
          <a:ln>
            <a:noFill/>
          </a:ln>
        </p:spPr>
      </p:pic>
      <p:pic>
        <p:nvPicPr>
          <p:cNvPr id="705" name="Google Shape;705;p80" descr="C:\Users\jumman\Desktop\verifytick.jpg"/>
          <p:cNvPicPr preferRelativeResize="0"/>
          <p:nvPr/>
        </p:nvPicPr>
        <p:blipFill rotWithShape="1">
          <a:blip r:embed="rId3"/>
          <a:srcRect/>
          <a:stretch>
            <a:fillRect/>
          </a:stretch>
        </p:blipFill>
        <p:spPr>
          <a:xfrm>
            <a:off x="4849348" y="4111313"/>
            <a:ext cx="731837" cy="375301"/>
          </a:xfrm>
          <a:prstGeom prst="rect">
            <a:avLst/>
          </a:prstGeom>
          <a:noFill/>
          <a:ln>
            <a:noFill/>
          </a:ln>
        </p:spPr>
      </p:pic>
      <p:pic>
        <p:nvPicPr>
          <p:cNvPr id="706" name="Google Shape;706;p80" descr="C:\Users\jumman\Desktop\verifytick.jpg"/>
          <p:cNvPicPr preferRelativeResize="0"/>
          <p:nvPr/>
        </p:nvPicPr>
        <p:blipFill rotWithShape="1">
          <a:blip r:embed="rId3"/>
          <a:srcRect/>
          <a:stretch>
            <a:fillRect/>
          </a:stretch>
        </p:blipFill>
        <p:spPr>
          <a:xfrm>
            <a:off x="6769952" y="4111312"/>
            <a:ext cx="731837" cy="375301"/>
          </a:xfrm>
          <a:prstGeom prst="rect">
            <a:avLst/>
          </a:prstGeom>
          <a:noFill/>
          <a:ln>
            <a:noFill/>
          </a:ln>
        </p:spPr>
      </p:pic>
      <p:pic>
        <p:nvPicPr>
          <p:cNvPr id="707" name="Google Shape;707;p80" descr="C:\Users\jumman\Desktop\verifytick.jpg"/>
          <p:cNvPicPr preferRelativeResize="0"/>
          <p:nvPr/>
        </p:nvPicPr>
        <p:blipFill rotWithShape="1">
          <a:blip r:embed="rId3"/>
          <a:srcRect/>
          <a:stretch>
            <a:fillRect/>
          </a:stretch>
        </p:blipFill>
        <p:spPr>
          <a:xfrm>
            <a:off x="8777723" y="4136763"/>
            <a:ext cx="731837" cy="375301"/>
          </a:xfrm>
          <a:prstGeom prst="rect">
            <a:avLst/>
          </a:prstGeom>
          <a:noFill/>
          <a:ln>
            <a:noFill/>
          </a:ln>
        </p:spPr>
      </p:pic>
      <p:pic>
        <p:nvPicPr>
          <p:cNvPr id="708" name="Google Shape;708;p80" descr="C:\Users\jumman\Desktop\verifytick.jpg"/>
          <p:cNvPicPr preferRelativeResize="0"/>
          <p:nvPr/>
        </p:nvPicPr>
        <p:blipFill rotWithShape="1">
          <a:blip r:embed="rId3"/>
          <a:srcRect/>
          <a:stretch>
            <a:fillRect/>
          </a:stretch>
        </p:blipFill>
        <p:spPr>
          <a:xfrm>
            <a:off x="6798079" y="4587360"/>
            <a:ext cx="731837" cy="375301"/>
          </a:xfrm>
          <a:prstGeom prst="rect">
            <a:avLst/>
          </a:prstGeom>
          <a:noFill/>
          <a:ln>
            <a:noFill/>
          </a:ln>
        </p:spPr>
      </p:pic>
      <p:pic>
        <p:nvPicPr>
          <p:cNvPr id="709" name="Google Shape;709;p80" descr="C:\Users\jumman\Desktop\verifytick.jpg"/>
          <p:cNvPicPr preferRelativeResize="0"/>
          <p:nvPr/>
        </p:nvPicPr>
        <p:blipFill rotWithShape="1">
          <a:blip r:embed="rId3"/>
          <a:srcRect/>
          <a:stretch>
            <a:fillRect/>
          </a:stretch>
        </p:blipFill>
        <p:spPr>
          <a:xfrm>
            <a:off x="4876093" y="4596772"/>
            <a:ext cx="731837" cy="375301"/>
          </a:xfrm>
          <a:prstGeom prst="rect">
            <a:avLst/>
          </a:prstGeom>
          <a:noFill/>
          <a:ln>
            <a:noFill/>
          </a:ln>
        </p:spPr>
      </p:pic>
      <p:pic>
        <p:nvPicPr>
          <p:cNvPr id="710" name="Google Shape;710;p80" descr="C:\Users\jumman\Desktop\verifytick.jpg"/>
          <p:cNvPicPr preferRelativeResize="0"/>
          <p:nvPr/>
        </p:nvPicPr>
        <p:blipFill rotWithShape="1">
          <a:blip r:embed="rId3"/>
          <a:srcRect/>
          <a:stretch>
            <a:fillRect/>
          </a:stretch>
        </p:blipFill>
        <p:spPr>
          <a:xfrm>
            <a:off x="2968515" y="4604597"/>
            <a:ext cx="731837" cy="375301"/>
          </a:xfrm>
          <a:prstGeom prst="rect">
            <a:avLst/>
          </a:prstGeom>
          <a:noFill/>
          <a:ln>
            <a:noFill/>
          </a:ln>
        </p:spPr>
      </p:pic>
      <p:pic>
        <p:nvPicPr>
          <p:cNvPr id="711" name="Google Shape;711;p80" descr="C:\Users\jumman\Desktop\verifytick.jpg"/>
          <p:cNvPicPr preferRelativeResize="0"/>
          <p:nvPr/>
        </p:nvPicPr>
        <p:blipFill rotWithShape="1">
          <a:blip r:embed="rId3"/>
          <a:srcRect/>
          <a:stretch>
            <a:fillRect/>
          </a:stretch>
        </p:blipFill>
        <p:spPr>
          <a:xfrm>
            <a:off x="8796196" y="5023192"/>
            <a:ext cx="731837" cy="375301"/>
          </a:xfrm>
          <a:prstGeom prst="rect">
            <a:avLst/>
          </a:prstGeom>
          <a:noFill/>
          <a:ln>
            <a:noFill/>
          </a:ln>
        </p:spPr>
      </p:pic>
      <p:pic>
        <p:nvPicPr>
          <p:cNvPr id="712" name="Google Shape;712;p80" descr="C:\Users\jumman\Desktop\verifytick.jpg"/>
          <p:cNvPicPr preferRelativeResize="0"/>
          <p:nvPr/>
        </p:nvPicPr>
        <p:blipFill rotWithShape="1">
          <a:blip r:embed="rId3"/>
          <a:srcRect/>
          <a:stretch>
            <a:fillRect/>
          </a:stretch>
        </p:blipFill>
        <p:spPr>
          <a:xfrm>
            <a:off x="10566400" y="1092475"/>
            <a:ext cx="731837" cy="375301"/>
          </a:xfrm>
          <a:prstGeom prst="rect">
            <a:avLst/>
          </a:prstGeom>
          <a:noFill/>
          <a:ln>
            <a:noFill/>
          </a:ln>
        </p:spPr>
      </p:pic>
      <p:pic>
        <p:nvPicPr>
          <p:cNvPr id="713" name="Google Shape;713;p80" descr="C:\Users\jumman\Desktop\verifytick.jpg"/>
          <p:cNvPicPr preferRelativeResize="0"/>
          <p:nvPr/>
        </p:nvPicPr>
        <p:blipFill rotWithShape="1">
          <a:blip r:embed="rId3"/>
          <a:srcRect/>
          <a:stretch>
            <a:fillRect/>
          </a:stretch>
        </p:blipFill>
        <p:spPr>
          <a:xfrm>
            <a:off x="10566400" y="1658413"/>
            <a:ext cx="731837" cy="375301"/>
          </a:xfrm>
          <a:prstGeom prst="rect">
            <a:avLst/>
          </a:prstGeom>
          <a:noFill/>
          <a:ln>
            <a:noFill/>
          </a:ln>
        </p:spPr>
      </p:pic>
      <p:pic>
        <p:nvPicPr>
          <p:cNvPr id="714" name="Google Shape;714;p80" descr="C:\Users\jumman\Desktop\verifytick.jpg"/>
          <p:cNvPicPr preferRelativeResize="0"/>
          <p:nvPr/>
        </p:nvPicPr>
        <p:blipFill rotWithShape="1">
          <a:blip r:embed="rId3"/>
          <a:srcRect/>
          <a:stretch>
            <a:fillRect/>
          </a:stretch>
        </p:blipFill>
        <p:spPr>
          <a:xfrm>
            <a:off x="10566400" y="2207363"/>
            <a:ext cx="731837" cy="375301"/>
          </a:xfrm>
          <a:prstGeom prst="rect">
            <a:avLst/>
          </a:prstGeom>
          <a:noFill/>
          <a:ln>
            <a:noFill/>
          </a:ln>
        </p:spPr>
      </p:pic>
      <p:pic>
        <p:nvPicPr>
          <p:cNvPr id="715" name="Google Shape;715;p80" descr="C:\Users\jumman\Desktop\verifytick.jpg"/>
          <p:cNvPicPr preferRelativeResize="0"/>
          <p:nvPr/>
        </p:nvPicPr>
        <p:blipFill rotWithShape="1">
          <a:blip r:embed="rId3"/>
          <a:srcRect/>
          <a:stretch>
            <a:fillRect/>
          </a:stretch>
        </p:blipFill>
        <p:spPr>
          <a:xfrm>
            <a:off x="10575135" y="2708363"/>
            <a:ext cx="731837" cy="375301"/>
          </a:xfrm>
          <a:prstGeom prst="rect">
            <a:avLst/>
          </a:prstGeom>
          <a:noFill/>
          <a:ln>
            <a:noFill/>
          </a:ln>
        </p:spPr>
      </p:pic>
      <p:pic>
        <p:nvPicPr>
          <p:cNvPr id="716" name="Google Shape;716;p80" descr="C:\Users\jumman\Desktop\verifytick.jpg"/>
          <p:cNvPicPr preferRelativeResize="0"/>
          <p:nvPr/>
        </p:nvPicPr>
        <p:blipFill rotWithShape="1">
          <a:blip r:embed="rId3"/>
          <a:srcRect/>
          <a:stretch>
            <a:fillRect/>
          </a:stretch>
        </p:blipFill>
        <p:spPr>
          <a:xfrm>
            <a:off x="10566400" y="3148428"/>
            <a:ext cx="731837" cy="375301"/>
          </a:xfrm>
          <a:prstGeom prst="rect">
            <a:avLst/>
          </a:prstGeom>
          <a:noFill/>
          <a:ln>
            <a:noFill/>
          </a:ln>
        </p:spPr>
      </p:pic>
      <p:pic>
        <p:nvPicPr>
          <p:cNvPr id="717" name="Google Shape;717;p80" descr="C:\Users\jumman\Desktop\verifytick.jpg"/>
          <p:cNvPicPr preferRelativeResize="0"/>
          <p:nvPr/>
        </p:nvPicPr>
        <p:blipFill rotWithShape="1">
          <a:blip r:embed="rId3"/>
          <a:srcRect/>
          <a:stretch>
            <a:fillRect/>
          </a:stretch>
        </p:blipFill>
        <p:spPr>
          <a:xfrm>
            <a:off x="10586513" y="3673096"/>
            <a:ext cx="731837" cy="375301"/>
          </a:xfrm>
          <a:prstGeom prst="rect">
            <a:avLst/>
          </a:prstGeom>
          <a:noFill/>
          <a:ln>
            <a:noFill/>
          </a:ln>
        </p:spPr>
      </p:pic>
      <p:pic>
        <p:nvPicPr>
          <p:cNvPr id="718" name="Google Shape;718;p80" descr="C:\Users\jumman\Desktop\verifytick.jpg"/>
          <p:cNvPicPr preferRelativeResize="0"/>
          <p:nvPr/>
        </p:nvPicPr>
        <p:blipFill rotWithShape="1">
          <a:blip r:embed="rId3"/>
          <a:srcRect/>
          <a:stretch>
            <a:fillRect/>
          </a:stretch>
        </p:blipFill>
        <p:spPr>
          <a:xfrm>
            <a:off x="10575135" y="4136763"/>
            <a:ext cx="731837" cy="375301"/>
          </a:xfrm>
          <a:prstGeom prst="rect">
            <a:avLst/>
          </a:prstGeom>
          <a:noFill/>
          <a:ln>
            <a:noFill/>
          </a:ln>
        </p:spPr>
      </p:pic>
      <p:pic>
        <p:nvPicPr>
          <p:cNvPr id="719" name="Google Shape;719;p80" descr="C:\Users\jumman\Desktop\verifytick.jpg"/>
          <p:cNvPicPr preferRelativeResize="0"/>
          <p:nvPr/>
        </p:nvPicPr>
        <p:blipFill rotWithShape="1">
          <a:blip r:embed="rId3"/>
          <a:srcRect/>
          <a:stretch>
            <a:fillRect/>
          </a:stretch>
        </p:blipFill>
        <p:spPr>
          <a:xfrm>
            <a:off x="10621167" y="5008820"/>
            <a:ext cx="731837" cy="375301"/>
          </a:xfrm>
          <a:prstGeom prst="rect">
            <a:avLst/>
          </a:prstGeom>
          <a:noFill/>
          <a:ln>
            <a:noFill/>
          </a:ln>
        </p:spPr>
      </p:pic>
      <p:pic>
        <p:nvPicPr>
          <p:cNvPr id="720" name="Google Shape;720;p80"/>
          <p:cNvPicPr preferRelativeResize="0"/>
          <p:nvPr/>
        </p:nvPicPr>
        <p:blipFill rotWithShape="1">
          <a:blip r:embed="rId5"/>
          <a:srcRect/>
          <a:stretch>
            <a:fillRect/>
          </a:stretch>
        </p:blipFill>
        <p:spPr>
          <a:xfrm>
            <a:off x="2968515" y="2200729"/>
            <a:ext cx="731837" cy="371475"/>
          </a:xfrm>
          <a:prstGeom prst="rect">
            <a:avLst/>
          </a:prstGeom>
          <a:noFill/>
          <a:ln>
            <a:noFill/>
          </a:ln>
        </p:spPr>
      </p:pic>
      <p:pic>
        <p:nvPicPr>
          <p:cNvPr id="721" name="Google Shape;721;p80" descr="C:\Users\jumman\Desktop\verifytick.jpg"/>
          <p:cNvPicPr preferRelativeResize="0"/>
          <p:nvPr/>
        </p:nvPicPr>
        <p:blipFill rotWithShape="1">
          <a:blip r:embed="rId3"/>
          <a:srcRect/>
          <a:stretch>
            <a:fillRect/>
          </a:stretch>
        </p:blipFill>
        <p:spPr>
          <a:xfrm>
            <a:off x="8732605" y="2215912"/>
            <a:ext cx="731837" cy="375301"/>
          </a:xfrm>
          <a:prstGeom prst="rect">
            <a:avLst/>
          </a:prstGeom>
          <a:noFill/>
          <a:ln>
            <a:noFill/>
          </a:ln>
        </p:spPr>
      </p:pic>
      <p:pic>
        <p:nvPicPr>
          <p:cNvPr id="722" name="Google Shape;722;p80" descr="C:\Users\jumman\Desktop\12065738771352376078Arnoud999_Right_or_wrong_5.svg.med.png"/>
          <p:cNvPicPr preferRelativeResize="0"/>
          <p:nvPr/>
        </p:nvPicPr>
        <p:blipFill rotWithShape="1">
          <a:blip r:embed="rId2"/>
          <a:srcRect/>
          <a:stretch>
            <a:fillRect/>
          </a:stretch>
        </p:blipFill>
        <p:spPr>
          <a:xfrm>
            <a:off x="8921088" y="3204885"/>
            <a:ext cx="445107" cy="358205"/>
          </a:xfrm>
          <a:prstGeom prst="rect">
            <a:avLst/>
          </a:prstGeom>
          <a:noFill/>
          <a:ln>
            <a:noFill/>
          </a:ln>
        </p:spPr>
      </p:pic>
      <p:pic>
        <p:nvPicPr>
          <p:cNvPr id="723" name="Google Shape;723;p80" descr="C:\Users\jumman\Desktop\12065738771352376078Arnoud999_Right_or_wrong_5.svg.med.png"/>
          <p:cNvPicPr preferRelativeResize="0"/>
          <p:nvPr/>
        </p:nvPicPr>
        <p:blipFill rotWithShape="1">
          <a:blip r:embed="rId2"/>
          <a:srcRect/>
          <a:stretch>
            <a:fillRect/>
          </a:stretch>
        </p:blipFill>
        <p:spPr>
          <a:xfrm>
            <a:off x="8939561" y="3634369"/>
            <a:ext cx="445107" cy="358205"/>
          </a:xfrm>
          <a:prstGeom prst="rect">
            <a:avLst/>
          </a:prstGeom>
          <a:noFill/>
          <a:ln>
            <a:noFill/>
          </a:ln>
        </p:spPr>
      </p:pic>
      <p:pic>
        <p:nvPicPr>
          <p:cNvPr id="724" name="Google Shape;724;p80" descr="C:\Users\jumman\Desktop\12065738771352376078Arnoud999_Right_or_wrong_5.svg.med.png"/>
          <p:cNvPicPr preferRelativeResize="0"/>
          <p:nvPr/>
        </p:nvPicPr>
        <p:blipFill rotWithShape="1">
          <a:blip r:embed="rId2"/>
          <a:srcRect/>
          <a:stretch>
            <a:fillRect/>
          </a:stretch>
        </p:blipFill>
        <p:spPr>
          <a:xfrm>
            <a:off x="8993369" y="4604456"/>
            <a:ext cx="445107" cy="358205"/>
          </a:xfrm>
          <a:prstGeom prst="rect">
            <a:avLst/>
          </a:prstGeom>
          <a:noFill/>
          <a:ln>
            <a:noFill/>
          </a:ln>
        </p:spPr>
      </p:pic>
      <p:pic>
        <p:nvPicPr>
          <p:cNvPr id="725" name="Google Shape;725;p80" descr="C:\Users\jumman\Desktop\verifytick.jpg"/>
          <p:cNvPicPr preferRelativeResize="0"/>
          <p:nvPr/>
        </p:nvPicPr>
        <p:blipFill rotWithShape="1">
          <a:blip r:embed="rId3"/>
          <a:srcRect/>
          <a:stretch>
            <a:fillRect/>
          </a:stretch>
        </p:blipFill>
        <p:spPr>
          <a:xfrm>
            <a:off x="6769952" y="5079812"/>
            <a:ext cx="731837" cy="375301"/>
          </a:xfrm>
          <a:prstGeom prst="rect">
            <a:avLst/>
          </a:prstGeom>
          <a:noFill/>
          <a:ln>
            <a:noFill/>
          </a:ln>
        </p:spPr>
      </p:pic>
      <p:pic>
        <p:nvPicPr>
          <p:cNvPr id="726" name="Google Shape;726;p80" descr="C:\Users\jumman\Desktop\verifytick.jpg"/>
          <p:cNvPicPr preferRelativeResize="0"/>
          <p:nvPr/>
        </p:nvPicPr>
        <p:blipFill rotWithShape="1">
          <a:blip r:embed="rId3"/>
          <a:srcRect/>
          <a:stretch>
            <a:fillRect/>
          </a:stretch>
        </p:blipFill>
        <p:spPr>
          <a:xfrm>
            <a:off x="4841219" y="5085249"/>
            <a:ext cx="731837" cy="375301"/>
          </a:xfrm>
          <a:prstGeom prst="rect">
            <a:avLst/>
          </a:prstGeom>
          <a:noFill/>
          <a:ln>
            <a:noFill/>
          </a:ln>
        </p:spPr>
      </p:pic>
      <p:pic>
        <p:nvPicPr>
          <p:cNvPr id="727" name="Google Shape;727;p80" descr="C:\Users\jumman\Desktop\verifytick.jpg"/>
          <p:cNvPicPr preferRelativeResize="0"/>
          <p:nvPr/>
        </p:nvPicPr>
        <p:blipFill rotWithShape="1">
          <a:blip r:embed="rId3"/>
          <a:srcRect/>
          <a:stretch>
            <a:fillRect/>
          </a:stretch>
        </p:blipFill>
        <p:spPr>
          <a:xfrm>
            <a:off x="2966259" y="5069921"/>
            <a:ext cx="731837" cy="375301"/>
          </a:xfrm>
          <a:prstGeom prst="rect">
            <a:avLst/>
          </a:prstGeom>
          <a:noFill/>
          <a:ln>
            <a:noFill/>
          </a:ln>
        </p:spPr>
      </p:pic>
      <p:pic>
        <p:nvPicPr>
          <p:cNvPr id="728" name="Google Shape;728;p80" descr="C:\Users\jumman\Desktop\12065738771352376078Arnoud999_Right_or_wrong_5.svg.med.png"/>
          <p:cNvPicPr preferRelativeResize="0"/>
          <p:nvPr/>
        </p:nvPicPr>
        <p:blipFill rotWithShape="1">
          <a:blip r:embed="rId2"/>
          <a:srcRect/>
          <a:stretch>
            <a:fillRect/>
          </a:stretch>
        </p:blipFill>
        <p:spPr>
          <a:xfrm>
            <a:off x="3109624" y="5503571"/>
            <a:ext cx="445107" cy="358205"/>
          </a:xfrm>
          <a:prstGeom prst="rect">
            <a:avLst/>
          </a:prstGeom>
          <a:noFill/>
          <a:ln>
            <a:noFill/>
          </a:ln>
        </p:spPr>
      </p:pic>
      <p:pic>
        <p:nvPicPr>
          <p:cNvPr id="729" name="Google Shape;729;p80" descr="C:\Users\jumman\Desktop\12065738771352376078Arnoud999_Right_or_wrong_5.svg.med.png"/>
          <p:cNvPicPr preferRelativeResize="0"/>
          <p:nvPr/>
        </p:nvPicPr>
        <p:blipFill rotWithShape="1">
          <a:blip r:embed="rId2"/>
          <a:srcRect/>
          <a:stretch>
            <a:fillRect/>
          </a:stretch>
        </p:blipFill>
        <p:spPr>
          <a:xfrm>
            <a:off x="4984584" y="5503571"/>
            <a:ext cx="445107" cy="358205"/>
          </a:xfrm>
          <a:prstGeom prst="rect">
            <a:avLst/>
          </a:prstGeom>
          <a:noFill/>
          <a:ln>
            <a:noFill/>
          </a:ln>
        </p:spPr>
      </p:pic>
      <p:pic>
        <p:nvPicPr>
          <p:cNvPr id="730" name="Google Shape;730;p80" descr="C:\Users\jumman\Desktop\verifytick.jpg"/>
          <p:cNvPicPr preferRelativeResize="0"/>
          <p:nvPr/>
        </p:nvPicPr>
        <p:blipFill rotWithShape="1">
          <a:blip r:embed="rId3"/>
          <a:srcRect/>
          <a:stretch>
            <a:fillRect/>
          </a:stretch>
        </p:blipFill>
        <p:spPr>
          <a:xfrm>
            <a:off x="10595248" y="5469305"/>
            <a:ext cx="731837" cy="375301"/>
          </a:xfrm>
          <a:prstGeom prst="rect">
            <a:avLst/>
          </a:prstGeom>
          <a:noFill/>
          <a:ln>
            <a:noFill/>
          </a:ln>
        </p:spPr>
      </p:pic>
      <p:pic>
        <p:nvPicPr>
          <p:cNvPr id="731" name="Google Shape;731;p80" descr="C:\Users\jumman\Desktop\verifytick.jpg"/>
          <p:cNvPicPr preferRelativeResize="0"/>
          <p:nvPr/>
        </p:nvPicPr>
        <p:blipFill rotWithShape="1">
          <a:blip r:embed="rId3"/>
          <a:srcRect/>
          <a:stretch>
            <a:fillRect/>
          </a:stretch>
        </p:blipFill>
        <p:spPr>
          <a:xfrm>
            <a:off x="2966259" y="5944985"/>
            <a:ext cx="731837" cy="375301"/>
          </a:xfrm>
          <a:prstGeom prst="rect">
            <a:avLst/>
          </a:prstGeom>
          <a:noFill/>
          <a:ln>
            <a:noFill/>
          </a:ln>
        </p:spPr>
      </p:pic>
      <p:pic>
        <p:nvPicPr>
          <p:cNvPr id="732" name="Google Shape;732;p80" descr="C:\Users\jumman\Desktop\verifytick.jpg"/>
          <p:cNvPicPr preferRelativeResize="0"/>
          <p:nvPr/>
        </p:nvPicPr>
        <p:blipFill rotWithShape="1">
          <a:blip r:embed="rId3"/>
          <a:srcRect/>
          <a:stretch>
            <a:fillRect/>
          </a:stretch>
        </p:blipFill>
        <p:spPr>
          <a:xfrm>
            <a:off x="4833089" y="5966171"/>
            <a:ext cx="731837" cy="375301"/>
          </a:xfrm>
          <a:prstGeom prst="rect">
            <a:avLst/>
          </a:prstGeom>
          <a:noFill/>
          <a:ln>
            <a:noFill/>
          </a:ln>
        </p:spPr>
      </p:pic>
      <p:pic>
        <p:nvPicPr>
          <p:cNvPr id="733" name="Google Shape;733;p80" descr="C:\Users\jumman\Desktop\verifytick.jpg"/>
          <p:cNvPicPr preferRelativeResize="0"/>
          <p:nvPr/>
        </p:nvPicPr>
        <p:blipFill rotWithShape="1">
          <a:blip r:embed="rId3"/>
          <a:srcRect/>
          <a:stretch>
            <a:fillRect/>
          </a:stretch>
        </p:blipFill>
        <p:spPr>
          <a:xfrm>
            <a:off x="6850273" y="5940920"/>
            <a:ext cx="731837" cy="375301"/>
          </a:xfrm>
          <a:prstGeom prst="rect">
            <a:avLst/>
          </a:prstGeom>
          <a:noFill/>
          <a:ln>
            <a:noFill/>
          </a:ln>
        </p:spPr>
      </p:pic>
      <p:pic>
        <p:nvPicPr>
          <p:cNvPr id="734" name="Google Shape;734;p80" descr="C:\Users\jumman\Desktop\verifytick.jpg"/>
          <p:cNvPicPr preferRelativeResize="0"/>
          <p:nvPr/>
        </p:nvPicPr>
        <p:blipFill rotWithShape="1">
          <a:blip r:embed="rId3"/>
          <a:srcRect/>
          <a:stretch>
            <a:fillRect/>
          </a:stretch>
        </p:blipFill>
        <p:spPr>
          <a:xfrm>
            <a:off x="8864523" y="5944985"/>
            <a:ext cx="731837" cy="375301"/>
          </a:xfrm>
          <a:prstGeom prst="rect">
            <a:avLst/>
          </a:prstGeom>
          <a:noFill/>
          <a:ln>
            <a:noFill/>
          </a:ln>
        </p:spPr>
      </p:pic>
      <p:pic>
        <p:nvPicPr>
          <p:cNvPr id="735" name="Google Shape;735;p80" descr="C:\Users\jumman\Desktop\verifytick.jpg"/>
          <p:cNvPicPr preferRelativeResize="0"/>
          <p:nvPr/>
        </p:nvPicPr>
        <p:blipFill rotWithShape="1">
          <a:blip r:embed="rId3"/>
          <a:srcRect/>
          <a:stretch>
            <a:fillRect/>
          </a:stretch>
        </p:blipFill>
        <p:spPr>
          <a:xfrm>
            <a:off x="10595248" y="5940920"/>
            <a:ext cx="731837" cy="375301"/>
          </a:xfrm>
          <a:prstGeom prst="rect">
            <a:avLst/>
          </a:prstGeom>
          <a:noFill/>
          <a:ln>
            <a:noFill/>
          </a:ln>
        </p:spPr>
      </p:pic>
      <p:pic>
        <p:nvPicPr>
          <p:cNvPr id="736" name="Google Shape;736;p80"/>
          <p:cNvPicPr preferRelativeResize="0"/>
          <p:nvPr/>
        </p:nvPicPr>
        <p:blipFill rotWithShape="1">
          <a:blip r:embed="rId5"/>
          <a:srcRect/>
          <a:stretch>
            <a:fillRect/>
          </a:stretch>
        </p:blipFill>
        <p:spPr>
          <a:xfrm>
            <a:off x="6798079" y="5503571"/>
            <a:ext cx="731837" cy="371475"/>
          </a:xfrm>
          <a:prstGeom prst="rect">
            <a:avLst/>
          </a:prstGeom>
          <a:noFill/>
          <a:ln>
            <a:noFill/>
          </a:ln>
        </p:spPr>
      </p:pic>
      <p:pic>
        <p:nvPicPr>
          <p:cNvPr id="737" name="Google Shape;737;p80"/>
          <p:cNvPicPr preferRelativeResize="0"/>
          <p:nvPr/>
        </p:nvPicPr>
        <p:blipFill rotWithShape="1">
          <a:blip r:embed="rId6"/>
          <a:srcRect/>
          <a:stretch>
            <a:fillRect/>
          </a:stretch>
        </p:blipFill>
        <p:spPr>
          <a:xfrm>
            <a:off x="9019943" y="5503571"/>
            <a:ext cx="444500" cy="354013"/>
          </a:xfrm>
          <a:prstGeom prst="rect">
            <a:avLst/>
          </a:prstGeom>
          <a:noFill/>
          <a:ln>
            <a:noFill/>
          </a:ln>
        </p:spPr>
      </p:pic>
      <p:pic>
        <p:nvPicPr>
          <p:cNvPr id="738" name="Google Shape;738;p80" descr="C:\Users\jumman\Desktop\verifytick.jpg"/>
          <p:cNvPicPr preferRelativeResize="0"/>
          <p:nvPr/>
        </p:nvPicPr>
        <p:blipFill rotWithShape="1">
          <a:blip r:embed="rId3"/>
          <a:srcRect/>
          <a:stretch>
            <a:fillRect/>
          </a:stretch>
        </p:blipFill>
        <p:spPr>
          <a:xfrm>
            <a:off x="10586513" y="4563339"/>
            <a:ext cx="731837" cy="375301"/>
          </a:xfrm>
          <a:prstGeom prst="rect">
            <a:avLst/>
          </a:prstGeom>
          <a:noFill/>
          <a:ln>
            <a:noFill/>
          </a:ln>
        </p:spPr>
      </p:pic>
      <p:sp>
        <p:nvSpPr>
          <p:cNvPr id="1" name="Slide Number Placeholder 0"/>
          <p:cNvSpPr>
            <a:spLocks noGrp="1"/>
          </p:cNvSpPr>
          <p:nvPr>
            <p:ph type="sldNum" idx="12"/>
          </p:nvPr>
        </p:nvSpPr>
        <p:spPr/>
        <p:txBody>
          <a:bodyPr/>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custDataLst>
              <p:tags r:id="rId1"/>
            </p:custDataLst>
          </p:nvPr>
        </p:nvGraphicFramePr>
        <p:xfrm>
          <a:off x="368300" y="202565"/>
          <a:ext cx="11644630" cy="6169025"/>
        </p:xfrm>
        <a:graphic>
          <a:graphicData uri="http://schemas.openxmlformats.org/drawingml/2006/table">
            <a:tbl>
              <a:tblPr firstRow="1" bandRow="1">
                <a:tableStyleId>{5C22544A-7EE6-4342-B048-85BDC9FD1C3A}</a:tableStyleId>
              </a:tblPr>
              <a:tblGrid>
                <a:gridCol w="1780540"/>
                <a:gridCol w="1780540"/>
                <a:gridCol w="1780540"/>
                <a:gridCol w="1780540"/>
                <a:gridCol w="1780540"/>
                <a:gridCol w="2741930"/>
              </a:tblGrid>
              <a:tr h="570230">
                <a:tc>
                  <a:txBody>
                    <a:bodyPr/>
                    <a:p>
                      <a:pPr marL="0" marR="0" lvl="0" indent="0" algn="l" rtl="0">
                        <a:lnSpc>
                          <a:spcPct val="100000"/>
                        </a:lnSpc>
                        <a:spcBef>
                          <a:spcPts val="0"/>
                        </a:spcBef>
                        <a:spcAft>
                          <a:spcPts val="0"/>
                        </a:spcAft>
                        <a:buClr>
                          <a:schemeClr val="lt1"/>
                        </a:buClr>
                        <a:buSzPts val="1100"/>
                        <a:buFont typeface="Arial" panose="020B0604020202020204"/>
                        <a:buNone/>
                      </a:pPr>
                      <a:r>
                        <a:rPr lang="en-US" sz="2000" u="none" strike="noStrike" cap="none">
                          <a:solidFill>
                            <a:schemeClr val="bg1"/>
                          </a:solidFill>
                        </a:rPr>
                        <a:t>Team Name </a:t>
                      </a:r>
                      <a:endParaRPr lang="en-US" sz="2000" u="none" strike="noStrike" cap="none">
                        <a:solidFill>
                          <a:schemeClr val="bg1"/>
                        </a:solidFill>
                      </a:endParaRPr>
                    </a:p>
                    <a:p>
                      <a:pPr marL="0" marR="0" lvl="0" indent="0" algn="l" rtl="0">
                        <a:lnSpc>
                          <a:spcPct val="100000"/>
                        </a:lnSpc>
                        <a:spcBef>
                          <a:spcPts val="0"/>
                        </a:spcBef>
                        <a:spcAft>
                          <a:spcPts val="0"/>
                        </a:spcAft>
                        <a:buClr>
                          <a:schemeClr val="lt1"/>
                        </a:buClr>
                        <a:buSzPts val="1100"/>
                        <a:buFont typeface="Arial" panose="020B0604020202020204"/>
                        <a:buNone/>
                      </a:pPr>
                      <a:r>
                        <a:rPr lang="en-US" sz="2000" u="none" strike="noStrike" cap="none">
                          <a:solidFill>
                            <a:schemeClr val="bg1"/>
                          </a:solidFill>
                        </a:rPr>
                        <a:t>Feature</a:t>
                      </a:r>
                      <a:endParaRPr lang="en-US" sz="2000" u="none" strike="noStrike" cap="none">
                        <a:solidFill>
                          <a:schemeClr val="bg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2060"/>
                    </a:solidFill>
                  </a:tcPr>
                </a:tc>
                <a:tc>
                  <a:txBody>
                    <a:bodyPr/>
                    <a:p>
                      <a:pPr marL="0" marR="0" lvl="0" indent="0" algn="l" rtl="0">
                        <a:lnSpc>
                          <a:spcPct val="100000"/>
                        </a:lnSpc>
                        <a:spcBef>
                          <a:spcPts val="0"/>
                        </a:spcBef>
                        <a:spcAft>
                          <a:spcPts val="0"/>
                        </a:spcAft>
                        <a:buClr>
                          <a:schemeClr val="dk1"/>
                        </a:buClr>
                        <a:buSzPts val="1400"/>
                        <a:buFont typeface="Arial" panose="020B0604020202020204"/>
                        <a:buNone/>
                      </a:pPr>
                      <a:r>
                        <a:rPr lang="en-US" sz="2000" b="1" u="none" strike="noStrike" cap="none">
                          <a:solidFill>
                            <a:schemeClr val="bg1"/>
                          </a:solidFill>
                        </a:rPr>
                        <a:t>       Cricinfo</a:t>
                      </a:r>
                      <a:endParaRPr lang="en-US" sz="2000" b="1" u="none" strike="noStrike" cap="none">
                        <a:solidFill>
                          <a:schemeClr val="bg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2060"/>
                    </a:solidFill>
                  </a:tcPr>
                </a:tc>
                <a:tc>
                  <a:txBody>
                    <a:bodyPr/>
                    <a:p>
                      <a:pPr marL="0" marR="0" lvl="0" indent="0" algn="l" rtl="0">
                        <a:lnSpc>
                          <a:spcPct val="100000"/>
                        </a:lnSpc>
                        <a:spcBef>
                          <a:spcPts val="0"/>
                        </a:spcBef>
                        <a:spcAft>
                          <a:spcPts val="0"/>
                        </a:spcAft>
                        <a:buClr>
                          <a:schemeClr val="dk1"/>
                        </a:buClr>
                        <a:buSzPts val="1400"/>
                        <a:buFont typeface="Arial" panose="020B0604020202020204"/>
                        <a:buNone/>
                      </a:pPr>
                      <a:r>
                        <a:rPr lang="en-US" sz="2000" b="1" u="none" strike="noStrike" cap="none">
                          <a:solidFill>
                            <a:schemeClr val="bg1"/>
                          </a:solidFill>
                        </a:rPr>
                        <a:t>     Cricbuzz</a:t>
                      </a:r>
                      <a:endParaRPr lang="en-US" sz="2000" b="1" u="none" strike="noStrike" cap="none">
                        <a:solidFill>
                          <a:schemeClr val="bg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2060"/>
                    </a:solidFill>
                  </a:tcPr>
                </a:tc>
                <a:tc>
                  <a:txBody>
                    <a:bodyPr/>
                    <a:p>
                      <a:pPr marL="0" marR="0" lvl="0" indent="0" algn="l" rtl="0">
                        <a:lnSpc>
                          <a:spcPct val="100000"/>
                        </a:lnSpc>
                        <a:spcBef>
                          <a:spcPts val="0"/>
                        </a:spcBef>
                        <a:spcAft>
                          <a:spcPts val="0"/>
                        </a:spcAft>
                        <a:buClr>
                          <a:schemeClr val="dk1"/>
                        </a:buClr>
                        <a:buSzPts val="1400"/>
                        <a:buFont typeface="Arial" panose="020B0604020202020204"/>
                        <a:buNone/>
                      </a:pPr>
                      <a:r>
                        <a:rPr lang="en-US" sz="2000" b="1" u="none" strike="noStrike" cap="none">
                          <a:solidFill>
                            <a:schemeClr val="bg1"/>
                          </a:solidFill>
                        </a:rPr>
                        <a:t>Australian Cric</a:t>
                      </a:r>
                      <a:endParaRPr lang="en-US" sz="2000" b="1" u="none" strike="noStrike" cap="none">
                        <a:solidFill>
                          <a:schemeClr val="bg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2060"/>
                    </a:solidFill>
                  </a:tcPr>
                </a:tc>
                <a:tc>
                  <a:txBody>
                    <a:bodyPr/>
                    <a:p>
                      <a:pPr marL="0" marR="0" lvl="0" indent="0" algn="l" rtl="0">
                        <a:lnSpc>
                          <a:spcPct val="100000"/>
                        </a:lnSpc>
                        <a:spcBef>
                          <a:spcPts val="0"/>
                        </a:spcBef>
                        <a:spcAft>
                          <a:spcPts val="0"/>
                        </a:spcAft>
                        <a:buClr>
                          <a:schemeClr val="dk1"/>
                        </a:buClr>
                        <a:buSzPts val="1400"/>
                        <a:buFont typeface="Arial" panose="020B0604020202020204"/>
                        <a:buNone/>
                      </a:pPr>
                      <a:r>
                        <a:rPr lang="en-US" sz="2000" b="1" u="none" strike="noStrike" cap="none">
                          <a:solidFill>
                            <a:schemeClr val="bg1"/>
                          </a:solidFill>
                        </a:rPr>
                        <a:t>            IPL</a:t>
                      </a:r>
                      <a:endParaRPr lang="en-US" sz="2000" b="1" u="none" strike="noStrike" cap="none">
                        <a:solidFill>
                          <a:schemeClr val="bg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2060"/>
                    </a:solidFill>
                  </a:tcPr>
                </a:tc>
                <a:tc>
                  <a:txBody>
                    <a:bodyPr/>
                    <a:p>
                      <a:pPr marL="0" marR="0" lvl="0" indent="0" algn="ctr" rtl="0">
                        <a:lnSpc>
                          <a:spcPct val="100000"/>
                        </a:lnSpc>
                        <a:spcBef>
                          <a:spcPts val="0"/>
                        </a:spcBef>
                        <a:spcAft>
                          <a:spcPts val="0"/>
                        </a:spcAft>
                        <a:buClr>
                          <a:schemeClr val="dk1"/>
                        </a:buClr>
                        <a:buSzPts val="1200"/>
                        <a:buFont typeface="Arial" panose="020B0604020202020204"/>
                        <a:buNone/>
                      </a:pPr>
                      <a:r>
                        <a:rPr lang="en-US" sz="2000" u="none" strike="noStrike" cap="none">
                          <a:solidFill>
                            <a:schemeClr val="bg1"/>
                          </a:solidFill>
                        </a:rPr>
                        <a:t>Proposed system (BCL)</a:t>
                      </a:r>
                      <a:endParaRPr lang="en-US" sz="2000" u="none" strike="noStrike" cap="none">
                        <a:solidFill>
                          <a:schemeClr val="bg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002060"/>
                    </a:solidFill>
                  </a:tcPr>
                </a:tc>
              </a:tr>
              <a:tr h="593725">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News</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tx1"/>
                          </a:solidFill>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r h="594360">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Result</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bg1"/>
                          </a:solidFill>
                          <a:sym typeface="+mn-ea"/>
                        </a:rPr>
                        <a:t>❌</a:t>
                      </a:r>
                      <a:endParaRPr lang="en-US" sz="2000">
                        <a:solidFill>
                          <a:schemeClr val="bg1"/>
                        </a:solidFill>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8090F"/>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r h="593725">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Fixture</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bg1"/>
                          </a:solidFill>
                          <a:sym typeface="+mn-ea"/>
                        </a:rPr>
                        <a:t>❌</a:t>
                      </a:r>
                      <a:endParaRPr lang="en-US" sz="2000">
                        <a:solidFill>
                          <a:schemeClr val="bg1"/>
                        </a:solidFill>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8090F"/>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r h="594360">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Live Scores</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bg1"/>
                          </a:solidFill>
                          <a:sym typeface="+mn-ea"/>
                        </a:rPr>
                        <a:t>❌</a:t>
                      </a:r>
                      <a:endParaRPr lang="en-US" sz="2000">
                        <a:solidFill>
                          <a:schemeClr val="bg1"/>
                        </a:solidFill>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8090F"/>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r h="593725">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Login</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bg1"/>
                          </a:solidFill>
                          <a:sym typeface="+mn-ea"/>
                        </a:rPr>
                        <a:t>❌</a:t>
                      </a:r>
                      <a:endParaRPr lang="en-US" sz="2000">
                        <a:solidFill>
                          <a:schemeClr val="bg1"/>
                        </a:solidFill>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8090F"/>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r h="594360">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Search</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r h="593725">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Blog</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bg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8090F"/>
                    </a:solidFill>
                  </a:tcPr>
                </a:tc>
                <a:tc>
                  <a:txBody>
                    <a:bodyPr/>
                    <a:p>
                      <a:pPr algn="ctr">
                        <a:buNone/>
                      </a:pPr>
                      <a:r>
                        <a:rPr lang="en-US" sz="2000">
                          <a:solidFill>
                            <a:schemeClr val="tx1"/>
                          </a:solidFill>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r h="594360">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Videos</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r h="593725">
                <a:tc>
                  <a:txBody>
                    <a:bodyPr/>
                    <a:p>
                      <a:pPr marL="0" marR="0" lvl="0" indent="0" algn="l" rtl="0">
                        <a:lnSpc>
                          <a:spcPct val="100000"/>
                        </a:lnSpc>
                        <a:spcBef>
                          <a:spcPts val="0"/>
                        </a:spcBef>
                        <a:spcAft>
                          <a:spcPts val="0"/>
                        </a:spcAft>
                        <a:buClr>
                          <a:srgbClr val="000000"/>
                        </a:buClr>
                        <a:buSzPts val="1100"/>
                        <a:buFont typeface="Arial" panose="020B0604020202020204"/>
                        <a:buNone/>
                      </a:pPr>
                      <a:r>
                        <a:rPr lang="en-US" sz="2000" b="1" u="none" strike="noStrike" cap="none">
                          <a:solidFill>
                            <a:schemeClr val="tx1"/>
                          </a:solidFill>
                        </a:rPr>
                        <a:t>Ticket</a:t>
                      </a:r>
                      <a:endParaRPr lang="en-US" sz="2000" b="1" u="none" strike="noStrike" cap="none">
                        <a:solidFill>
                          <a:schemeClr val="tx1"/>
                        </a:solidFill>
                      </a:endParaRPr>
                    </a:p>
                  </a:txBody>
                  <a:tcPr marL="91433" marR="91433" marT="45733" marB="45733">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20000"/>
                        <a:lumOff val="80000"/>
                      </a:schemeClr>
                    </a:solidFill>
                  </a:tcPr>
                </a:tc>
                <a:tc>
                  <a:txBody>
                    <a:bodyPr/>
                    <a:p>
                      <a:pPr algn="ctr">
                        <a:buNone/>
                      </a:pPr>
                      <a:r>
                        <a:rPr lang="en-US" sz="2000">
                          <a:solidFill>
                            <a:schemeClr val="bg1"/>
                          </a:solidFill>
                        </a:rPr>
                        <a:t>❌</a:t>
                      </a:r>
                      <a:endParaRPr lang="en-US" sz="2000">
                        <a:solidFill>
                          <a:schemeClr val="bg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8090F"/>
                    </a:solidFill>
                  </a:tcPr>
                </a:tc>
                <a:tc>
                  <a:txBody>
                    <a:bodyPr/>
                    <a:p>
                      <a:pPr algn="ctr">
                        <a:buNone/>
                      </a:pPr>
                      <a:r>
                        <a:rPr lang="en-US" sz="2000">
                          <a:solidFill>
                            <a:schemeClr val="bg1"/>
                          </a:solidFill>
                          <a:sym typeface="+mn-ea"/>
                        </a:rPr>
                        <a:t>❌</a:t>
                      </a:r>
                      <a:endParaRPr lang="en-US" sz="2000">
                        <a:solidFill>
                          <a:schemeClr val="bg1"/>
                        </a:solidFill>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D8090F"/>
                    </a:solidFill>
                  </a:tcPr>
                </a:tc>
                <a:tc>
                  <a:txBody>
                    <a:bodyPr/>
                    <a:p>
                      <a:pPr algn="ctr">
                        <a:buNone/>
                      </a:pPr>
                      <a:r>
                        <a:rPr lang="en-US" sz="2000">
                          <a:solidFill>
                            <a:schemeClr val="tx1"/>
                          </a:solidFill>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c>
                  <a:txBody>
                    <a:bodyPr/>
                    <a:p>
                      <a:pPr algn="ctr">
                        <a:buNone/>
                      </a:pPr>
                      <a:r>
                        <a:rPr lang="en-US" sz="2000">
                          <a:solidFill>
                            <a:schemeClr val="tx1"/>
                          </a:solidFill>
                          <a:sym typeface="+mn-ea"/>
                        </a:rPr>
                        <a:t>✔</a:t>
                      </a:r>
                      <a:endParaRPr lang="en-US" sz="200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F882"/>
                    </a:solidFill>
                  </a:tcPr>
                </a:tc>
              </a:tr>
            </a:tbl>
          </a:graphicData>
        </a:graphic>
      </p:graphicFrame>
      <p:sp>
        <p:nvSpPr>
          <p:cNvPr id="4" name="Footer Placeholder 3"/>
          <p:cNvSpPr>
            <a:spLocks noGrp="1"/>
          </p:cNvSpPr>
          <p:nvPr>
            <p:ph type="ftr" sz="quarter" idx="11"/>
          </p:nvPr>
        </p:nvSpPr>
        <p:spPr/>
        <p:txBody>
          <a:bodyPr/>
          <a:p>
            <a:r>
              <a:rPr lang="en-US"/>
              <a:t>Tasmin Sanjida, Lecturer, CSE, UIU</a:t>
            </a:r>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a:ln>
            <a:solidFill>
              <a:schemeClr val="tx1"/>
            </a:solidFill>
          </a:ln>
        </p:spPr>
        <p:txBody>
          <a:bodyPr/>
          <a:lstStyle/>
          <a:p>
            <a:r>
              <a:rPr lang="en-GB" sz="4400" b="1" dirty="0">
                <a:solidFill>
                  <a:schemeClr val="tx1"/>
                </a:solidFill>
              </a:rPr>
              <a:t>Online - Benchmark Products</a:t>
            </a:r>
            <a:endParaRPr lang="en-GB" sz="4400" b="1" dirty="0">
              <a:solidFill>
                <a:schemeClr val="tx1"/>
              </a:solidFill>
            </a:endParaRPr>
          </a:p>
        </p:txBody>
      </p:sp>
      <p:pic>
        <p:nvPicPr>
          <p:cNvPr id="5" name="Content Placeholder 4" descr="A graph with text overlay&#10;&#10;Description automatically generated"/>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016635" y="1826895"/>
            <a:ext cx="10420985" cy="4667250"/>
          </a:xfrm>
        </p:spPr>
      </p:pic>
      <p:sp>
        <p:nvSpPr>
          <p:cNvPr id="6" name="Footer Placeholder 5"/>
          <p:cNvSpPr>
            <a:spLocks noGrp="1"/>
          </p:cNvSpPr>
          <p:nvPr>
            <p:ph type="ftr" sz="quarter" idx="11"/>
          </p:nvPr>
        </p:nvSpPr>
        <p:spPr/>
        <p:txBody>
          <a:bodyPr/>
          <a:lstStyle/>
          <a:p>
            <a:r>
              <a:rPr lang="en-US"/>
              <a:t>Tasmin Sanjida, Lecturer, CSE, UIU</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solidFill>
              <a:srgbClr val="000000">
                <a:alpha val="0"/>
              </a:srgbClr>
            </a:solidFill>
          </a:ln>
        </p:spPr>
        <p:txBody>
          <a:bodyPr>
            <a:normAutofit/>
          </a:bodyPr>
          <a:p>
            <a:r>
              <a:rPr lang="en-US" altLang="en-US" b="1">
                <a:solidFill>
                  <a:schemeClr val="bg1"/>
                </a:solidFill>
                <a:latin typeface="Calibri" panose="020F0502020204030204" charset="0"/>
                <a:cs typeface="Calibri" panose="020F0502020204030204" charset="0"/>
                <a:sym typeface="+mn-ea"/>
              </a:rPr>
              <a:t>Steps for Feature List Fixation</a:t>
            </a:r>
            <a:endParaRPr lang="en-US" altLang="en-US" b="1">
              <a:solidFill>
                <a:schemeClr val="bg1"/>
              </a:solidFill>
              <a:latin typeface="Calibri" panose="020F0502020204030204" charset="0"/>
              <a:cs typeface="Calibri" panose="020F0502020204030204" charset="0"/>
              <a:sym typeface="+mn-ea"/>
            </a:endParaRPr>
          </a:p>
        </p:txBody>
      </p:sp>
      <p:sp>
        <p:nvSpPr>
          <p:cNvPr id="3" name="Content Placeholder 2"/>
          <p:cNvSpPr>
            <a:spLocks noGrp="1"/>
          </p:cNvSpPr>
          <p:nvPr>
            <p:ph idx="1"/>
          </p:nvPr>
        </p:nvSpPr>
        <p:spPr/>
        <p:txBody>
          <a:bodyPr>
            <a:normAutofit/>
          </a:bodyPr>
          <a:p>
            <a:pPr marL="0" indent="0">
              <a:buNone/>
            </a:pPr>
            <a:r>
              <a:rPr lang="en-US" altLang="en-US"/>
              <a:t>Benchmarks show us what good systems achieve. To reach that level, we must first identify which features are essential. </a:t>
            </a:r>
            <a:endParaRPr lang="en-US" altLang="en-US"/>
          </a:p>
          <a:p>
            <a:pPr marL="0" indent="0">
              <a:buNone/>
            </a:pPr>
            <a:r>
              <a:rPr lang="en-US" altLang="en-US"/>
              <a:t>Steps for Feature List Fixation:</a:t>
            </a:r>
            <a:endParaRPr lang="en-US" altLang="en-US"/>
          </a:p>
          <a:p>
            <a:pPr marL="514350" indent="-514350">
              <a:buAutoNum type="arabicPeriod"/>
            </a:pPr>
            <a:r>
              <a:rPr lang="en-US" altLang="en-US" b="1"/>
              <a:t>Prioritize requirements</a:t>
            </a:r>
            <a:r>
              <a:rPr lang="en-US" altLang="en-US"/>
              <a:t> to identify what matters most</a:t>
            </a:r>
            <a:endParaRPr lang="en-US" altLang="en-US"/>
          </a:p>
          <a:p>
            <a:pPr marL="514350" indent="-514350">
              <a:buAutoNum type="arabicPeriod"/>
            </a:pPr>
            <a:r>
              <a:rPr lang="en-US" altLang="en-US"/>
              <a:t>Conduct </a:t>
            </a:r>
            <a:r>
              <a:rPr lang="en-US" altLang="en-US" b="1"/>
              <a:t>gap analysis</a:t>
            </a:r>
            <a:r>
              <a:rPr lang="en-US" altLang="en-US"/>
              <a:t> to find what is missing or needs improvement</a:t>
            </a:r>
            <a:endParaRPr lang="en-US" altLang="en-US"/>
          </a:p>
          <a:p>
            <a:pPr marL="514350" indent="-514350">
              <a:buAutoNum type="arabicPeriod"/>
            </a:pPr>
            <a:r>
              <a:rPr lang="en-US" altLang="en-US"/>
              <a:t>Perform </a:t>
            </a:r>
            <a:r>
              <a:rPr lang="en-US" altLang="en-US" b="1"/>
              <a:t>SWOT analysis</a:t>
            </a:r>
            <a:r>
              <a:rPr lang="en-US" altLang="en-US"/>
              <a:t> to understand internal and external factors</a:t>
            </a:r>
            <a:endParaRPr lang="en-US" altLang="en-US"/>
          </a:p>
          <a:p>
            <a:pPr marL="514350" indent="-514350">
              <a:buAutoNum type="arabicPeriod"/>
            </a:pPr>
            <a:r>
              <a:rPr lang="en-US" altLang="en-US"/>
              <a:t>Do </a:t>
            </a:r>
            <a:r>
              <a:rPr lang="en-US" altLang="en-US" b="1"/>
              <a:t>stakeholder analysis</a:t>
            </a:r>
            <a:r>
              <a:rPr lang="en-US" altLang="en-US"/>
              <a:t> to ensure all needs and expectations are aligned</a:t>
            </a:r>
            <a:endParaRPr lang="en-US" altLang="en-US"/>
          </a:p>
          <a:p>
            <a:pPr marL="0" indent="0">
              <a:buNone/>
            </a:pPr>
            <a:endParaRPr lang="en-US" altLang="en-US"/>
          </a:p>
          <a:p>
            <a:pPr marL="0" indent="0">
              <a:buNone/>
            </a:pPr>
            <a:endParaRPr lang="en-US" alt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noFill/>
          </a:ln>
        </p:spPr>
        <p:txBody>
          <a:bodyPr>
            <a:normAutofit/>
          </a:bodyPr>
          <a:p>
            <a:r>
              <a:rPr lang="en-US" altLang="en-US" b="1">
                <a:solidFill>
                  <a:schemeClr val="bg1"/>
                </a:solidFill>
                <a:latin typeface="Calibri" panose="020F0502020204030204" charset="0"/>
                <a:cs typeface="Calibri" panose="020F0502020204030204" charset="0"/>
              </a:rPr>
              <a:t>Importance of Prioritizing Requirements </a:t>
            </a:r>
            <a:endParaRPr lang="en-US" altLang="en-US" b="1">
              <a:solidFill>
                <a:schemeClr val="bg1"/>
              </a:solidFill>
              <a:latin typeface="Calibri" panose="020F0502020204030204" charset="0"/>
              <a:cs typeface="Calibri" panose="020F0502020204030204" charset="0"/>
            </a:endParaRPr>
          </a:p>
        </p:txBody>
      </p:sp>
      <p:sp>
        <p:nvSpPr>
          <p:cNvPr id="3" name="Content Placeholder 2"/>
          <p:cNvSpPr>
            <a:spLocks noGrp="1"/>
          </p:cNvSpPr>
          <p:nvPr>
            <p:ph idx="1"/>
          </p:nvPr>
        </p:nvSpPr>
        <p:spPr/>
        <p:txBody>
          <a:bodyPr/>
          <a:p>
            <a:pPr marL="0" indent="0">
              <a:buNone/>
            </a:pPr>
            <a:r>
              <a:rPr lang="en-US" altLang="en-US" sz="2400">
                <a:latin typeface="Calibri" panose="020F0502020204030204" charset="0"/>
                <a:cs typeface="Calibri" panose="020F0502020204030204" charset="0"/>
              </a:rPr>
              <a:t>Prioritizing requirements means deciding which requirements are most important and should be implemented first.</a:t>
            </a:r>
            <a:endParaRPr lang="en-US" altLang="en-US" sz="2400">
              <a:latin typeface="Calibri" panose="020F0502020204030204" charset="0"/>
              <a:cs typeface="Calibri" panose="020F0502020204030204" charset="0"/>
            </a:endParaRPr>
          </a:p>
          <a:p>
            <a:pPr marL="0" indent="0">
              <a:buNone/>
            </a:pPr>
            <a:endParaRPr lang="en-US" altLang="en-US" sz="2400">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Resources are limited</a:t>
            </a:r>
            <a:r>
              <a:rPr lang="en-US" altLang="en-US" sz="2400">
                <a:latin typeface="Calibri" panose="020F0502020204030204" charset="0"/>
                <a:cs typeface="Calibri" panose="020F0502020204030204" charset="0"/>
              </a:rPr>
              <a:t> </a:t>
            </a:r>
            <a:endParaRPr lang="en-US" altLang="en-US" sz="2400">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Not all requirements are equally critical </a:t>
            </a:r>
            <a:endParaRPr lang="en-US" altLang="en-US" sz="2400" b="1">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Helps manage stakeholder expectations </a:t>
            </a:r>
            <a:endParaRPr lang="en-US" altLang="en-US" sz="2400" b="1">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Reduces project risk</a:t>
            </a:r>
            <a:r>
              <a:rPr lang="en-US" altLang="en-US" sz="2400">
                <a:latin typeface="Calibri" panose="020F0502020204030204" charset="0"/>
                <a:cs typeface="Calibri" panose="020F0502020204030204" charset="0"/>
              </a:rPr>
              <a:t> </a:t>
            </a:r>
            <a:endParaRPr lang="en-US" altLang="en-US" sz="2400">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Supports better planning</a:t>
            </a:r>
            <a:r>
              <a:rPr lang="en-US" altLang="en-US" sz="2400">
                <a:latin typeface="Calibri" panose="020F0502020204030204" charset="0"/>
                <a:cs typeface="Calibri" panose="020F0502020204030204" charset="0"/>
              </a:rPr>
              <a:t> </a:t>
            </a:r>
            <a:endParaRPr lang="en-US" altLang="en-US" sz="2400">
              <a:latin typeface="Calibri" panose="020F0502020204030204" charset="0"/>
              <a:cs typeface="Calibri" panose="020F05020202040302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solidFill>
              <a:srgbClr val="000000">
                <a:alpha val="0"/>
              </a:srgbClr>
            </a:solidFill>
          </a:ln>
        </p:spPr>
        <p:txBody>
          <a:bodyPr>
            <a:normAutofit fontScale="90000"/>
          </a:bodyPr>
          <a:p>
            <a:r>
              <a:rPr lang="en-US" altLang="en-US">
                <a:solidFill>
                  <a:schemeClr val="bg1"/>
                </a:solidFill>
                <a:latin typeface="Calibri" panose="020F0502020204030204" charset="0"/>
                <a:cs typeface="Calibri" panose="020F0502020204030204" charset="0"/>
              </a:rPr>
              <a:t>Common Approaches to Prioritizing Requirements</a:t>
            </a:r>
            <a:endParaRPr lang="en-US" altLang="en-US">
              <a:solidFill>
                <a:schemeClr val="bg1"/>
              </a:solidFill>
              <a:latin typeface="Calibri" panose="020F0502020204030204" charset="0"/>
              <a:cs typeface="Calibri" panose="020F0502020204030204" charset="0"/>
            </a:endParaRPr>
          </a:p>
        </p:txBody>
      </p:sp>
      <p:sp>
        <p:nvSpPr>
          <p:cNvPr id="3" name="Content Placeholder 2"/>
          <p:cNvSpPr>
            <a:spLocks noGrp="1"/>
          </p:cNvSpPr>
          <p:nvPr>
            <p:ph idx="1"/>
          </p:nvPr>
        </p:nvSpPr>
        <p:spPr/>
        <p:txBody>
          <a:bodyPr/>
          <a:p>
            <a:r>
              <a:rPr lang="en-US" altLang="en-US"/>
              <a:t>MoSCoW Method</a:t>
            </a:r>
            <a:endParaRPr lang="en-US" altLang="en-US"/>
          </a:p>
          <a:p>
            <a:r>
              <a:rPr lang="en-US" altLang="en-US"/>
              <a:t>Kano Model</a:t>
            </a:r>
            <a:endParaRPr lang="en-US" altLang="en-US"/>
          </a:p>
        </p:txBody>
      </p:sp>
      <p:pic>
        <p:nvPicPr>
          <p:cNvPr id="4" name="Picture 3"/>
          <p:cNvPicPr>
            <a:picLocks noChangeAspect="1"/>
          </p:cNvPicPr>
          <p:nvPr/>
        </p:nvPicPr>
        <p:blipFill>
          <a:blip r:embed="rId1"/>
          <a:stretch>
            <a:fillRect/>
          </a:stretch>
        </p:blipFill>
        <p:spPr>
          <a:xfrm>
            <a:off x="7516495" y="1974215"/>
            <a:ext cx="3837305" cy="3837305"/>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
        <p:nvSpPr>
          <p:cNvPr id="6" name="Footer Placeholder 5"/>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solidFill>
              <a:srgbClr val="000000">
                <a:alpha val="0"/>
              </a:srgbClr>
            </a:solidFill>
          </a:ln>
        </p:spPr>
        <p:txBody>
          <a:bodyPr/>
          <a:p>
            <a:r>
              <a:rPr lang="en-US" altLang="en-US" b="1">
                <a:solidFill>
                  <a:schemeClr val="bg1"/>
                </a:solidFill>
                <a:sym typeface="+mn-ea"/>
              </a:rPr>
              <a:t>MoSCoW Method</a:t>
            </a:r>
            <a:endParaRPr lang="en-US" altLang="en-US" b="1">
              <a:solidFill>
                <a:schemeClr val="bg1"/>
              </a:solidFill>
              <a:sym typeface="+mn-ea"/>
            </a:endParaRPr>
          </a:p>
        </p:txBody>
      </p:sp>
      <p:sp>
        <p:nvSpPr>
          <p:cNvPr id="3" name="Content Placeholder 2"/>
          <p:cNvSpPr>
            <a:spLocks noGrp="1"/>
          </p:cNvSpPr>
          <p:nvPr>
            <p:ph idx="1"/>
          </p:nvPr>
        </p:nvSpPr>
        <p:spPr>
          <a:xfrm>
            <a:off x="838200" y="3256280"/>
            <a:ext cx="10422890" cy="2921000"/>
          </a:xfrm>
        </p:spPr>
        <p:txBody>
          <a:bodyPr>
            <a:noAutofit/>
          </a:bodyPr>
          <a:p>
            <a:pPr marL="0" indent="0">
              <a:lnSpc>
                <a:spcPct val="100000"/>
              </a:lnSpc>
              <a:buNone/>
            </a:pPr>
            <a:r>
              <a:rPr lang="en-US" altLang="en-US" sz="2400">
                <a:latin typeface="Calibri" panose="020F0502020204030204" charset="0"/>
                <a:cs typeface="Calibri" panose="020F0502020204030204" charset="0"/>
              </a:rPr>
              <a:t>MoSCoW divides requirements into four groups:</a:t>
            </a:r>
            <a:endParaRPr lang="en-US" altLang="en-US" sz="2400">
              <a:latin typeface="Calibri" panose="020F0502020204030204" charset="0"/>
              <a:cs typeface="Calibri" panose="020F0502020204030204" charset="0"/>
            </a:endParaRPr>
          </a:p>
          <a:p>
            <a:pPr>
              <a:lnSpc>
                <a:spcPct val="100000"/>
              </a:lnSpc>
            </a:pPr>
            <a:r>
              <a:rPr lang="en-US" altLang="en-US" sz="2400" b="1">
                <a:latin typeface="Calibri" panose="020F0502020204030204" charset="0"/>
                <a:cs typeface="Calibri" panose="020F0502020204030204" charset="0"/>
              </a:rPr>
              <a:t>Must Have</a:t>
            </a:r>
            <a:r>
              <a:rPr lang="en-US" altLang="en-US" sz="2400">
                <a:latin typeface="Calibri" panose="020F0502020204030204" charset="0"/>
                <a:cs typeface="Calibri" panose="020F0502020204030204" charset="0"/>
              </a:rPr>
              <a:t> : Essential features; without them, the system fails.</a:t>
            </a:r>
            <a:endParaRPr lang="en-US" altLang="en-US" sz="2400">
              <a:latin typeface="Calibri" panose="020F0502020204030204" charset="0"/>
              <a:cs typeface="Calibri" panose="020F0502020204030204" charset="0"/>
            </a:endParaRPr>
          </a:p>
          <a:p>
            <a:pPr>
              <a:lnSpc>
                <a:spcPct val="100000"/>
              </a:lnSpc>
            </a:pPr>
            <a:r>
              <a:rPr lang="en-US" altLang="en-US" sz="2400" b="1">
                <a:latin typeface="Calibri" panose="020F0502020204030204" charset="0"/>
                <a:cs typeface="Calibri" panose="020F0502020204030204" charset="0"/>
              </a:rPr>
              <a:t>Should Have</a:t>
            </a:r>
            <a:r>
              <a:rPr lang="en-US" altLang="en-US" sz="2400">
                <a:latin typeface="Calibri" panose="020F0502020204030204" charset="0"/>
                <a:cs typeface="Calibri" panose="020F0502020204030204" charset="0"/>
              </a:rPr>
              <a:t> : Important but not absolutely critical; can be delivered later if needed.</a:t>
            </a:r>
            <a:endParaRPr lang="en-US" altLang="en-US" sz="2400">
              <a:latin typeface="Calibri" panose="020F0502020204030204" charset="0"/>
              <a:cs typeface="Calibri" panose="020F0502020204030204" charset="0"/>
            </a:endParaRPr>
          </a:p>
          <a:p>
            <a:pPr>
              <a:lnSpc>
                <a:spcPct val="100000"/>
              </a:lnSpc>
            </a:pPr>
            <a:r>
              <a:rPr lang="en-US" altLang="en-US" sz="2400" b="1">
                <a:latin typeface="Calibri" panose="020F0502020204030204" charset="0"/>
                <a:cs typeface="Calibri" panose="020F0502020204030204" charset="0"/>
              </a:rPr>
              <a:t>Could Have </a:t>
            </a:r>
            <a:r>
              <a:rPr lang="en-US" altLang="en-US" sz="2400">
                <a:latin typeface="Calibri" panose="020F0502020204030204" charset="0"/>
                <a:cs typeface="Calibri" panose="020F0502020204030204" charset="0"/>
              </a:rPr>
              <a:t>:</a:t>
            </a:r>
            <a:r>
              <a:rPr lang="en-US" altLang="en-US" sz="2400">
                <a:latin typeface="Calibri" panose="020F0502020204030204" charset="0"/>
                <a:cs typeface="Calibri" panose="020F0502020204030204" charset="0"/>
              </a:rPr>
              <a:t> Useful but optional; included only if resources allow.</a:t>
            </a:r>
            <a:endParaRPr lang="en-US" altLang="en-US" sz="2400">
              <a:latin typeface="Calibri" panose="020F0502020204030204" charset="0"/>
              <a:cs typeface="Calibri" panose="020F0502020204030204" charset="0"/>
            </a:endParaRPr>
          </a:p>
          <a:p>
            <a:pPr>
              <a:lnSpc>
                <a:spcPct val="100000"/>
              </a:lnSpc>
            </a:pPr>
            <a:r>
              <a:rPr lang="en-US" altLang="en-US" sz="2400" b="1">
                <a:latin typeface="Calibri" panose="020F0502020204030204" charset="0"/>
                <a:cs typeface="Calibri" panose="020F0502020204030204" charset="0"/>
              </a:rPr>
              <a:t>Won’t Have</a:t>
            </a:r>
            <a:r>
              <a:rPr lang="en-US" altLang="en-US" sz="2400">
                <a:latin typeface="Calibri" panose="020F0502020204030204" charset="0"/>
                <a:cs typeface="Calibri" panose="020F0502020204030204" charset="0"/>
              </a:rPr>
              <a:t> (for now) : Out of scope for the current release.</a:t>
            </a:r>
            <a:endParaRPr lang="en-US" altLang="en-US" sz="2400">
              <a:latin typeface="Calibri" panose="020F0502020204030204" charset="0"/>
              <a:cs typeface="Calibri" panose="020F0502020204030204" charset="0"/>
            </a:endParaRPr>
          </a:p>
          <a:p>
            <a:pPr marL="0" indent="0">
              <a:lnSpc>
                <a:spcPct val="100000"/>
              </a:lnSpc>
              <a:buNone/>
            </a:pPr>
            <a:r>
              <a:rPr lang="en-US" altLang="en-US" sz="2400">
                <a:latin typeface="Calibri" panose="020F0502020204030204" charset="0"/>
                <a:cs typeface="Calibri" panose="020F0502020204030204" charset="0"/>
              </a:rPr>
              <a:t>This method helps teams make clear decisions and avoid confusion.</a:t>
            </a:r>
            <a:endParaRPr lang="en-US" altLang="en-US" sz="2400">
              <a:latin typeface="Calibri" panose="020F0502020204030204" charset="0"/>
              <a:cs typeface="Calibri" panose="020F0502020204030204" charset="0"/>
            </a:endParaRPr>
          </a:p>
        </p:txBody>
      </p:sp>
      <p:pic>
        <p:nvPicPr>
          <p:cNvPr id="4" name="Picture 3"/>
          <p:cNvPicPr>
            <a:picLocks noChangeAspect="1"/>
          </p:cNvPicPr>
          <p:nvPr/>
        </p:nvPicPr>
        <p:blipFill>
          <a:blip r:embed="rId1"/>
          <a:srcRect t="22581"/>
          <a:stretch>
            <a:fillRect/>
          </a:stretch>
        </p:blipFill>
        <p:spPr>
          <a:xfrm>
            <a:off x="3497580" y="1805305"/>
            <a:ext cx="5533390" cy="1336040"/>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
        <p:nvSpPr>
          <p:cNvPr id="6" name="Footer Placeholder 5"/>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solidFill>
              <a:srgbClr val="000000">
                <a:alpha val="0"/>
              </a:srgbClr>
            </a:solidFill>
          </a:ln>
        </p:spPr>
        <p:txBody>
          <a:bodyPr/>
          <a:p>
            <a:r>
              <a:rPr lang="en-US" altLang="en-US">
                <a:solidFill>
                  <a:schemeClr val="bg1"/>
                </a:solidFill>
              </a:rPr>
              <a:t>Kano Model</a:t>
            </a:r>
            <a:endParaRPr lang="en-US" altLang="en-US">
              <a:solidFill>
                <a:schemeClr val="bg1"/>
              </a:solidFill>
            </a:endParaRPr>
          </a:p>
        </p:txBody>
      </p:sp>
      <p:sp>
        <p:nvSpPr>
          <p:cNvPr id="3" name="Content Placeholder 2"/>
          <p:cNvSpPr>
            <a:spLocks noGrp="1"/>
          </p:cNvSpPr>
          <p:nvPr>
            <p:ph idx="1"/>
          </p:nvPr>
        </p:nvSpPr>
        <p:spPr/>
        <p:txBody>
          <a:bodyPr/>
          <a:p>
            <a:pPr marL="0" indent="0">
              <a:buNone/>
            </a:pPr>
            <a:r>
              <a:rPr lang="en-US" altLang="en-US" sz="2400">
                <a:latin typeface="Calibri" panose="020F0502020204030204" charset="0"/>
                <a:cs typeface="Calibri" panose="020F0502020204030204" charset="0"/>
              </a:rPr>
              <a:t>The Kano model categorizes features based on customer satisfaction:</a:t>
            </a:r>
            <a:endParaRPr lang="en-US" altLang="en-US" sz="2400">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Basic Needs</a:t>
            </a:r>
            <a:r>
              <a:rPr lang="en-US" altLang="en-US" sz="2400">
                <a:latin typeface="Calibri" panose="020F0502020204030204" charset="0"/>
                <a:cs typeface="Calibri" panose="020F0502020204030204" charset="0"/>
              </a:rPr>
              <a:t> : Expected features; their absence causes dissatisfaction, but presence does not excite users.</a:t>
            </a:r>
            <a:endParaRPr lang="en-US" altLang="en-US" sz="2400">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Performance Needs</a:t>
            </a:r>
            <a:r>
              <a:rPr lang="en-US" altLang="en-US" sz="2400">
                <a:latin typeface="Calibri" panose="020F0502020204030204" charset="0"/>
                <a:cs typeface="Calibri" panose="020F0502020204030204" charset="0"/>
              </a:rPr>
              <a:t> : The more you improve them, the more satisfied users become.</a:t>
            </a:r>
            <a:endParaRPr lang="en-US" altLang="en-US" sz="2400">
              <a:latin typeface="Calibri" panose="020F0502020204030204" charset="0"/>
              <a:cs typeface="Calibri" panose="020F0502020204030204" charset="0"/>
            </a:endParaRPr>
          </a:p>
          <a:p>
            <a:r>
              <a:rPr lang="en-US" altLang="en-US" sz="2400" b="1">
                <a:latin typeface="Calibri" panose="020F0502020204030204" charset="0"/>
                <a:cs typeface="Calibri" panose="020F0502020204030204" charset="0"/>
              </a:rPr>
              <a:t>Delighter Features </a:t>
            </a:r>
            <a:r>
              <a:rPr lang="en-US" altLang="en-US" sz="2400">
                <a:latin typeface="Calibri" panose="020F0502020204030204" charset="0"/>
                <a:cs typeface="Calibri" panose="020F0502020204030204" charset="0"/>
              </a:rPr>
              <a:t>:</a:t>
            </a:r>
            <a:r>
              <a:rPr lang="en-US" altLang="en-US" sz="2400">
                <a:latin typeface="Calibri" panose="020F0502020204030204" charset="0"/>
                <a:cs typeface="Calibri" panose="020F0502020204030204" charset="0"/>
              </a:rPr>
              <a:t> Unexpected features that pleasantly surprise users.</a:t>
            </a:r>
            <a:endParaRPr lang="en-US" altLang="en-US" sz="2400">
              <a:latin typeface="Calibri" panose="020F0502020204030204" charset="0"/>
              <a:cs typeface="Calibri" panose="020F0502020204030204" charset="0"/>
            </a:endParaRPr>
          </a:p>
          <a:p>
            <a:pPr marL="0" indent="0">
              <a:buNone/>
            </a:pPr>
            <a:r>
              <a:rPr lang="en-US" altLang="en-US" sz="2400">
                <a:latin typeface="Calibri" panose="020F0502020204030204" charset="0"/>
                <a:cs typeface="Calibri" panose="020F0502020204030204" charset="0"/>
              </a:rPr>
              <a:t>This approach helps decide which features make customers happiest.</a:t>
            </a:r>
            <a:endParaRPr lang="en-US" altLang="en-US" sz="2400">
              <a:latin typeface="Calibri" panose="020F0502020204030204" charset="0"/>
              <a:cs typeface="Calibri" panose="020F05020202040302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solidFill>
              <a:srgbClr val="000000">
                <a:alpha val="0"/>
              </a:srgbClr>
            </a:solidFill>
          </a:ln>
        </p:spPr>
        <p:txBody>
          <a:bodyPr/>
          <a:p>
            <a:r>
              <a:rPr lang="en-US" altLang="en-US">
                <a:solidFill>
                  <a:schemeClr val="bg1"/>
                </a:solidFill>
                <a:latin typeface="Calibri" panose="020F0502020204030204" charset="0"/>
                <a:cs typeface="Calibri" panose="020F0502020204030204" charset="0"/>
                <a:sym typeface="+mn-ea"/>
              </a:rPr>
              <a:t>Gap Analysis</a:t>
            </a:r>
            <a:endParaRPr lang="en-US" altLang="en-US">
              <a:solidFill>
                <a:schemeClr val="bg1"/>
              </a:solidFill>
              <a:latin typeface="Calibri" panose="020F0502020204030204" charset="0"/>
              <a:cs typeface="Calibri" panose="020F0502020204030204" charset="0"/>
              <a:sym typeface="+mn-ea"/>
            </a:endParaRPr>
          </a:p>
        </p:txBody>
      </p:sp>
      <p:sp>
        <p:nvSpPr>
          <p:cNvPr id="3" name="Content Placeholder 2"/>
          <p:cNvSpPr>
            <a:spLocks noGrp="1"/>
          </p:cNvSpPr>
          <p:nvPr>
            <p:ph idx="1"/>
          </p:nvPr>
        </p:nvSpPr>
        <p:spPr>
          <a:xfrm>
            <a:off x="838200" y="1825625"/>
            <a:ext cx="5125720" cy="4351655"/>
          </a:xfrm>
        </p:spPr>
        <p:txBody>
          <a:bodyPr/>
          <a:p>
            <a:pPr marL="0" indent="0">
              <a:lnSpc>
                <a:spcPct val="100000"/>
              </a:lnSpc>
              <a:buNone/>
            </a:pPr>
            <a:r>
              <a:rPr lang="en-US" altLang="en-US" sz="2400">
                <a:latin typeface="Calibri" panose="020F0502020204030204" charset="0"/>
                <a:cs typeface="Calibri" panose="020F0502020204030204" charset="0"/>
              </a:rPr>
              <a:t>After prioritizing requirements using MoSCoW and the Kano model, the next step is to identify what is missing or incomplete.</a:t>
            </a:r>
            <a:endParaRPr lang="en-US" altLang="en-US" sz="2400">
              <a:latin typeface="Calibri" panose="020F0502020204030204" charset="0"/>
              <a:cs typeface="Calibri" panose="020F0502020204030204" charset="0"/>
            </a:endParaRPr>
          </a:p>
          <a:p>
            <a:pPr marL="0" indent="0">
              <a:lnSpc>
                <a:spcPct val="100000"/>
              </a:lnSpc>
              <a:buNone/>
            </a:pPr>
            <a:r>
              <a:rPr lang="en-US" altLang="en-US" sz="2400">
                <a:latin typeface="Calibri" panose="020F0502020204030204" charset="0"/>
                <a:cs typeface="Calibri" panose="020F0502020204030204" charset="0"/>
              </a:rPr>
              <a:t>This leads us to Gap Analysis</a:t>
            </a:r>
            <a:endParaRPr lang="en-US" altLang="en-US" sz="2400">
              <a:latin typeface="Calibri" panose="020F0502020204030204" charset="0"/>
              <a:cs typeface="Calibri" panose="020F0502020204030204" charset="0"/>
            </a:endParaRPr>
          </a:p>
        </p:txBody>
      </p:sp>
      <p:pic>
        <p:nvPicPr>
          <p:cNvPr id="4" name="Picture 3"/>
          <p:cNvPicPr>
            <a:picLocks noChangeAspect="1"/>
          </p:cNvPicPr>
          <p:nvPr/>
        </p:nvPicPr>
        <p:blipFill>
          <a:blip r:embed="rId1"/>
          <a:stretch>
            <a:fillRect/>
          </a:stretch>
        </p:blipFill>
        <p:spPr>
          <a:xfrm>
            <a:off x="6471920" y="1824990"/>
            <a:ext cx="4709160" cy="3232150"/>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
        <p:nvSpPr>
          <p:cNvPr id="6" name="Footer Placeholder 5"/>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noFill/>
          </a:ln>
        </p:spPr>
        <p:txBody>
          <a:bodyPr/>
          <a:p>
            <a:r>
              <a:rPr lang="en-US" b="1">
                <a:solidFill>
                  <a:schemeClr val="bg1"/>
                </a:solidFill>
              </a:rPr>
              <a:t>Understanding Gap Analysis</a:t>
            </a:r>
            <a:endParaRPr lang="en-US" b="1">
              <a:solidFill>
                <a:schemeClr val="bg1"/>
              </a:solidFill>
            </a:endParaRPr>
          </a:p>
        </p:txBody>
      </p:sp>
      <p:sp>
        <p:nvSpPr>
          <p:cNvPr id="3" name="Content Placeholder 2"/>
          <p:cNvSpPr>
            <a:spLocks noGrp="1"/>
          </p:cNvSpPr>
          <p:nvPr>
            <p:ph idx="1"/>
          </p:nvPr>
        </p:nvSpPr>
        <p:spPr/>
        <p:txBody>
          <a:bodyPr anchor="t" anchorCtr="0">
            <a:normAutofit fontScale="90000" lnSpcReduction="10000"/>
          </a:bodyPr>
          <a:p>
            <a:pPr marL="457200" lvl="0" indent="-355600" algn="l" rtl="0">
              <a:lnSpc>
                <a:spcPct val="150000"/>
              </a:lnSpc>
              <a:spcBef>
                <a:spcPts val="0"/>
              </a:spcBef>
              <a:spcAft>
                <a:spcPts val="0"/>
              </a:spcAft>
              <a:buSzPts val="2000"/>
              <a:buFont typeface="Oswald"/>
              <a:buChar char="▪"/>
            </a:pPr>
            <a:r>
              <a:rPr lang="en-GB" sz="2400">
                <a:latin typeface="Calibri" panose="020F0502020204030204" charset="0"/>
                <a:ea typeface="Oswald"/>
                <a:cs typeface="Calibri" panose="020F0502020204030204" charset="0"/>
                <a:sym typeface="Oswald"/>
              </a:rPr>
              <a:t>A method of assessing the performance of a business unit to determine </a:t>
            </a:r>
            <a:r>
              <a:rPr lang="en-GB" sz="2400">
                <a:solidFill>
                  <a:srgbClr val="C00000"/>
                </a:solidFill>
                <a:latin typeface="Calibri" panose="020F0502020204030204" charset="0"/>
                <a:ea typeface="Oswald"/>
                <a:cs typeface="Calibri" panose="020F0502020204030204" charset="0"/>
                <a:sym typeface="Oswald"/>
              </a:rPr>
              <a:t>whether business requirements or objectives are being met</a:t>
            </a:r>
            <a:r>
              <a:rPr lang="en-GB" sz="2400">
                <a:solidFill>
                  <a:srgbClr val="6AA84F"/>
                </a:solidFill>
                <a:latin typeface="Calibri" panose="020F0502020204030204" charset="0"/>
                <a:ea typeface="Oswald"/>
                <a:cs typeface="Calibri" panose="020F0502020204030204" charset="0"/>
                <a:sym typeface="Oswald"/>
              </a:rPr>
              <a:t> </a:t>
            </a:r>
            <a:r>
              <a:rPr lang="en-GB" sz="2400">
                <a:latin typeface="Calibri" panose="020F0502020204030204" charset="0"/>
                <a:ea typeface="Oswald"/>
                <a:cs typeface="Calibri" panose="020F0502020204030204" charset="0"/>
                <a:sym typeface="Oswald"/>
              </a:rPr>
              <a:t>and, if not, </a:t>
            </a:r>
            <a:r>
              <a:rPr lang="en-GB" sz="2400">
                <a:solidFill>
                  <a:srgbClr val="C00000"/>
                </a:solidFill>
                <a:latin typeface="Calibri" panose="020F0502020204030204" charset="0"/>
                <a:ea typeface="Oswald"/>
                <a:cs typeface="Calibri" panose="020F0502020204030204" charset="0"/>
                <a:sym typeface="Oswald"/>
              </a:rPr>
              <a:t>what steps should be taken to meet them</a:t>
            </a:r>
            <a:endParaRPr sz="2400">
              <a:solidFill>
                <a:srgbClr val="C00000"/>
              </a:solidFill>
              <a:latin typeface="Calibri" panose="020F0502020204030204" charset="0"/>
              <a:ea typeface="Oswald"/>
              <a:cs typeface="Calibri" panose="020F0502020204030204" charset="0"/>
              <a:sym typeface="Oswald"/>
            </a:endParaRPr>
          </a:p>
          <a:p>
            <a:pPr marL="457200" lvl="0" indent="-355600" algn="l" rtl="0">
              <a:lnSpc>
                <a:spcPct val="150000"/>
              </a:lnSpc>
              <a:spcBef>
                <a:spcPts val="0"/>
              </a:spcBef>
              <a:spcAft>
                <a:spcPts val="0"/>
              </a:spcAft>
              <a:buSzPts val="2000"/>
              <a:buFont typeface="Oswald"/>
              <a:buChar char="▪"/>
            </a:pPr>
            <a:r>
              <a:rPr lang="en-GB" sz="2400">
                <a:latin typeface="Calibri" panose="020F0502020204030204" charset="0"/>
                <a:ea typeface="Oswald"/>
                <a:cs typeface="Calibri" panose="020F0502020204030204" charset="0"/>
                <a:sym typeface="Oswald"/>
              </a:rPr>
              <a:t>Used by</a:t>
            </a:r>
            <a:r>
              <a:rPr lang="en-GB" sz="2400">
                <a:uFill>
                  <a:noFill/>
                </a:uFill>
                <a:latin typeface="Calibri" panose="020F0502020204030204" charset="0"/>
                <a:ea typeface="Oswald"/>
                <a:cs typeface="Calibri" panose="020F0502020204030204" charset="0"/>
                <a:sym typeface="Oswald"/>
                <a:hlinkClick r:id="rId1"/>
              </a:rPr>
              <a:t> project managers</a:t>
            </a:r>
            <a:r>
              <a:rPr lang="en-GB" sz="2400">
                <a:latin typeface="Calibri" panose="020F0502020204030204" charset="0"/>
                <a:ea typeface="Oswald"/>
                <a:cs typeface="Calibri" panose="020F0502020204030204" charset="0"/>
                <a:sym typeface="Oswald"/>
              </a:rPr>
              <a:t> and</a:t>
            </a:r>
            <a:r>
              <a:rPr lang="en-GB" sz="2400">
                <a:uFill>
                  <a:noFill/>
                </a:uFill>
                <a:latin typeface="Calibri" panose="020F0502020204030204" charset="0"/>
                <a:ea typeface="Oswald"/>
                <a:cs typeface="Calibri" panose="020F0502020204030204" charset="0"/>
                <a:sym typeface="Oswald"/>
                <a:hlinkClick r:id="rId2"/>
              </a:rPr>
              <a:t> process improvement</a:t>
            </a:r>
            <a:r>
              <a:rPr lang="en-GB" sz="2400">
                <a:latin typeface="Calibri" panose="020F0502020204030204" charset="0"/>
                <a:ea typeface="Oswald"/>
                <a:cs typeface="Calibri" panose="020F0502020204030204" charset="0"/>
                <a:sym typeface="Oswald"/>
              </a:rPr>
              <a:t> teams as the starting point for an action plan to produce operational improvement</a:t>
            </a:r>
            <a:endParaRPr sz="2400">
              <a:latin typeface="Calibri" panose="020F0502020204030204" charset="0"/>
              <a:ea typeface="Oswald"/>
              <a:cs typeface="Calibri" panose="020F0502020204030204" charset="0"/>
              <a:sym typeface="Oswald"/>
            </a:endParaRPr>
          </a:p>
          <a:p>
            <a:pPr marL="457200" lvl="0" indent="-355600" algn="l" rtl="0">
              <a:lnSpc>
                <a:spcPct val="150000"/>
              </a:lnSpc>
              <a:spcBef>
                <a:spcPts val="0"/>
              </a:spcBef>
              <a:spcAft>
                <a:spcPts val="0"/>
              </a:spcAft>
              <a:buSzPts val="2000"/>
              <a:buFont typeface="Oswald"/>
              <a:buChar char="▪"/>
            </a:pPr>
            <a:r>
              <a:rPr lang="en-GB" sz="2400">
                <a:latin typeface="Calibri" panose="020F0502020204030204" charset="0"/>
                <a:ea typeface="Oswald"/>
                <a:cs typeface="Calibri" panose="020F0502020204030204" charset="0"/>
                <a:sym typeface="Oswald"/>
              </a:rPr>
              <a:t>Helps in benchmarking actual business performance so it can be measured against optimal performance levels</a:t>
            </a:r>
            <a:endParaRPr sz="2400">
              <a:latin typeface="Calibri" panose="020F0502020204030204" charset="0"/>
              <a:ea typeface="Oswald"/>
              <a:cs typeface="Calibri" panose="020F0502020204030204" charset="0"/>
              <a:sym typeface="Oswald"/>
            </a:endParaRPr>
          </a:p>
          <a:p>
            <a:pPr marL="457200" lvl="0" indent="-355600" algn="l" rtl="0">
              <a:lnSpc>
                <a:spcPct val="150000"/>
              </a:lnSpc>
              <a:spcBef>
                <a:spcPts val="0"/>
              </a:spcBef>
              <a:spcAft>
                <a:spcPts val="0"/>
              </a:spcAft>
              <a:buSzPts val="2000"/>
              <a:buFont typeface="Oswald"/>
              <a:buChar char="▪"/>
            </a:pPr>
            <a:r>
              <a:rPr lang="en-GB" sz="2400">
                <a:latin typeface="Calibri" panose="020F0502020204030204" charset="0"/>
                <a:ea typeface="Oswald"/>
                <a:cs typeface="Calibri" panose="020F0502020204030204" charset="0"/>
                <a:sym typeface="Oswald"/>
              </a:rPr>
              <a:t>Can be identified from benchmark products, academic papers, online articles, stakeholders’ expectations, etc</a:t>
            </a:r>
            <a:endParaRPr lang="en-US" altLang="en-US" sz="2400">
              <a:latin typeface="Calibri" panose="020F0502020204030204" charset="0"/>
              <a:cs typeface="Calibri" panose="020F05020202040302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noFill/>
          </a:ln>
        </p:spPr>
        <p:txBody>
          <a:bodyPr/>
          <a:p>
            <a:r>
              <a:rPr lang="en-US" b="1">
                <a:solidFill>
                  <a:schemeClr val="bg1"/>
                </a:solidFill>
              </a:rPr>
              <a:t>Steps in Gap Analysis</a:t>
            </a:r>
            <a:endParaRPr lang="en-US" b="1">
              <a:solidFill>
                <a:schemeClr val="bg1"/>
              </a:solidFill>
            </a:endParaRPr>
          </a:p>
        </p:txBody>
      </p:sp>
      <p:sp>
        <p:nvSpPr>
          <p:cNvPr id="3" name="Content Placeholder 2"/>
          <p:cNvSpPr>
            <a:spLocks noGrp="1"/>
          </p:cNvSpPr>
          <p:nvPr>
            <p:ph sz="half" idx="1"/>
          </p:nvPr>
        </p:nvSpPr>
        <p:spPr/>
        <p:txBody>
          <a:bodyPr/>
          <a:p>
            <a:pPr marL="0" indent="0">
              <a:buNone/>
            </a:pPr>
            <a:r>
              <a:rPr lang="en-US" sz="2400"/>
              <a:t>The process of gap analysis involves four main steps:</a:t>
            </a:r>
            <a:endParaRPr lang="en-US" sz="2400"/>
          </a:p>
          <a:p>
            <a:pPr marL="514350" indent="-514350">
              <a:buAutoNum type="arabicPeriod"/>
            </a:pPr>
            <a:r>
              <a:rPr lang="en-US" sz="2400"/>
              <a:t>Identify Current State</a:t>
            </a:r>
            <a:endParaRPr lang="en-US" sz="2400"/>
          </a:p>
          <a:p>
            <a:pPr marL="514350" indent="-514350">
              <a:buAutoNum type="arabicPeriod"/>
            </a:pPr>
            <a:r>
              <a:rPr lang="en-US" sz="2400"/>
              <a:t>Define Desired State</a:t>
            </a:r>
            <a:endParaRPr lang="en-US" sz="2400"/>
          </a:p>
          <a:p>
            <a:pPr marL="514350" indent="-514350">
              <a:buAutoNum type="arabicPeriod"/>
            </a:pPr>
            <a:r>
              <a:rPr lang="en-US" sz="2400"/>
              <a:t>Analyze Gaps</a:t>
            </a:r>
            <a:endParaRPr lang="en-US" sz="2400"/>
          </a:p>
          <a:p>
            <a:pPr marL="514350" indent="-514350">
              <a:buAutoNum type="arabicPeriod"/>
            </a:pPr>
            <a:r>
              <a:rPr lang="en-US" sz="2400"/>
              <a:t>Develop Action Plans</a:t>
            </a:r>
            <a:endParaRPr lang="en-US" sz="2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Footer Placeholder 4"/>
          <p:cNvSpPr>
            <a:spLocks noGrp="1"/>
          </p:cNvSpPr>
          <p:nvPr>
            <p:ph type="ftr" sz="quarter" idx="11"/>
          </p:nvPr>
        </p:nvSpPr>
        <p:spPr/>
        <p:txBody>
          <a:bodyPr/>
          <a:p>
            <a:r>
              <a:rPr lang="en-US"/>
              <a:t>Tasmin Sanjida, Lecturer, CSE, UIU</a:t>
            </a:r>
            <a:endParaRPr lang="en-US"/>
          </a:p>
        </p:txBody>
      </p:sp>
      <p:pic>
        <p:nvPicPr>
          <p:cNvPr id="6" name="Content Placeholder 5"/>
          <p:cNvPicPr>
            <a:picLocks noChangeAspect="1"/>
          </p:cNvPicPr>
          <p:nvPr>
            <p:ph sz="half" idx="2"/>
          </p:nvPr>
        </p:nvPicPr>
        <p:blipFill>
          <a:blip r:embed="rId1"/>
          <a:srcRect l="8812" t="2650" r="7464" b="2791"/>
          <a:stretch>
            <a:fillRect/>
          </a:stretch>
        </p:blipFill>
        <p:spPr>
          <a:xfrm>
            <a:off x="6257290" y="1825625"/>
            <a:ext cx="5096510" cy="322326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solidFill>
            <a:srgbClr val="FF8000"/>
          </a:solidFill>
          <a:ln>
            <a:solidFill>
              <a:srgbClr val="000000">
                <a:alpha val="0"/>
              </a:srgbClr>
            </a:solidFill>
          </a:ln>
        </p:spPr>
        <p:txBody>
          <a:bodyPr/>
          <a:p>
            <a:r>
              <a:rPr lang="en-US" altLang="en-US" b="1">
                <a:solidFill>
                  <a:schemeClr val="bg1"/>
                </a:solidFill>
              </a:rPr>
              <a:t>SWOT Analysis</a:t>
            </a:r>
            <a:endParaRPr lang="en-US" altLang="en-US" b="1">
              <a:solidFill>
                <a:schemeClr val="bg1"/>
              </a:solidFill>
            </a:endParaRPr>
          </a:p>
        </p:txBody>
      </p:sp>
      <p:sp>
        <p:nvSpPr>
          <p:cNvPr id="3" name="Content Placeholder 2"/>
          <p:cNvSpPr>
            <a:spLocks noGrp="1"/>
          </p:cNvSpPr>
          <p:nvPr>
            <p:ph sz="half" idx="1"/>
          </p:nvPr>
        </p:nvSpPr>
        <p:spPr/>
        <p:txBody>
          <a:bodyPr/>
          <a:p>
            <a:pPr marL="0" indent="0">
              <a:buNone/>
            </a:pPr>
            <a:r>
              <a:rPr lang="en-US" altLang="en-US" sz="2400">
                <a:latin typeface="Calibri" panose="020F0502020204030204" charset="0"/>
                <a:cs typeface="Calibri" panose="020F0502020204030204" charset="0"/>
              </a:rPr>
              <a:t>Provides a quick strategic view to support decisions and risk planning.</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Strengths</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Weaknesses</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Opportunities</a:t>
            </a:r>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Threats</a:t>
            </a:r>
            <a:endParaRPr lang="en-US" altLang="en-US" sz="2400">
              <a:latin typeface="Calibri" panose="020F0502020204030204" charset="0"/>
              <a:cs typeface="Calibri" panose="020F0502020204030204" charset="0"/>
            </a:endParaRPr>
          </a:p>
        </p:txBody>
      </p:sp>
      <p:pic>
        <p:nvPicPr>
          <p:cNvPr id="8" name="Content Placeholder 7"/>
          <p:cNvPicPr>
            <a:picLocks noChangeAspect="1"/>
          </p:cNvPicPr>
          <p:nvPr>
            <p:ph sz="half" idx="2"/>
          </p:nvPr>
        </p:nvPicPr>
        <p:blipFill>
          <a:blip r:embed="rId1"/>
          <a:srcRect b="9368"/>
          <a:stretch>
            <a:fillRect/>
          </a:stretch>
        </p:blipFill>
        <p:spPr>
          <a:xfrm>
            <a:off x="6702425" y="1825625"/>
            <a:ext cx="4119880" cy="3943985"/>
          </a:xfrm>
          <a:prstGeom prst="rect">
            <a:avLst/>
          </a:prstGeom>
        </p:spPr>
      </p:pic>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
        <p:nvSpPr>
          <p:cNvPr id="10" name="Footer Placeholder 9"/>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p:cNvPicPr>
            <a:picLocks noChangeAspect="1"/>
          </p:cNvPicPr>
          <p:nvPr/>
        </p:nvPicPr>
        <p:blipFill>
          <a:blip r:embed="rId1"/>
          <a:srcRect b="12565"/>
          <a:stretch>
            <a:fillRect/>
          </a:stretch>
        </p:blipFill>
        <p:spPr>
          <a:xfrm>
            <a:off x="9528175" y="2525395"/>
            <a:ext cx="2209800" cy="1807210"/>
          </a:xfrm>
          <a:prstGeom prst="rect">
            <a:avLst/>
          </a:prstGeom>
        </p:spPr>
      </p:pic>
      <p:pic>
        <p:nvPicPr>
          <p:cNvPr id="6" name="Picture 5"/>
          <p:cNvPicPr>
            <a:picLocks noChangeAspect="1"/>
          </p:cNvPicPr>
          <p:nvPr/>
        </p:nvPicPr>
        <p:blipFill>
          <a:blip r:embed="rId2"/>
          <a:srcRect b="13737"/>
          <a:stretch>
            <a:fillRect/>
          </a:stretch>
        </p:blipFill>
        <p:spPr>
          <a:xfrm>
            <a:off x="7861935" y="2164715"/>
            <a:ext cx="1933575" cy="2037715"/>
          </a:xfrm>
          <a:prstGeom prst="rect">
            <a:avLst/>
          </a:prstGeom>
        </p:spPr>
      </p:pic>
      <p:sp>
        <p:nvSpPr>
          <p:cNvPr id="2" name="Title 1"/>
          <p:cNvSpPr>
            <a:spLocks noGrp="1"/>
          </p:cNvSpPr>
          <p:nvPr>
            <p:ph type="title"/>
          </p:nvPr>
        </p:nvSpPr>
        <p:spPr>
          <a:solidFill>
            <a:srgbClr val="FF8000"/>
          </a:solidFill>
        </p:spPr>
        <p:txBody>
          <a:bodyPr/>
          <a:p>
            <a:r>
              <a:rPr lang="en-US" altLang="en-US" b="1">
                <a:solidFill>
                  <a:schemeClr val="bg1"/>
                </a:solidFill>
              </a:rPr>
              <a:t>Stakeholder Analysis</a:t>
            </a:r>
            <a:endParaRPr lang="en-US" altLang="en-US" b="1">
              <a:solidFill>
                <a:schemeClr val="bg1"/>
              </a:solidFill>
            </a:endParaRPr>
          </a:p>
        </p:txBody>
      </p:sp>
      <p:sp>
        <p:nvSpPr>
          <p:cNvPr id="3" name="Content Placeholder 2"/>
          <p:cNvSpPr>
            <a:spLocks noGrp="1"/>
          </p:cNvSpPr>
          <p:nvPr>
            <p:ph sz="half" idx="1"/>
          </p:nvPr>
        </p:nvSpPr>
        <p:spPr/>
        <p:txBody>
          <a:bodyPr/>
          <a:p>
            <a:pPr marL="0" indent="0">
              <a:lnSpc>
                <a:spcPct val="100000"/>
              </a:lnSpc>
              <a:buNone/>
            </a:pPr>
            <a:r>
              <a:rPr lang="en-US" altLang="en-US" sz="2400">
                <a:latin typeface="Calibri" panose="020F0502020204030204" charset="0"/>
                <a:cs typeface="Calibri" panose="020F0502020204030204" charset="0"/>
              </a:rPr>
              <a:t>Identify who matters, what they want, and how to engage them.</a:t>
            </a:r>
            <a:endParaRPr lang="en-US" altLang="en-US" sz="2400">
              <a:latin typeface="Calibri" panose="020F0502020204030204" charset="0"/>
              <a:cs typeface="Calibri" panose="020F0502020204030204" charset="0"/>
            </a:endParaRPr>
          </a:p>
          <a:p>
            <a:pPr marL="0" indent="0">
              <a:lnSpc>
                <a:spcPct val="100000"/>
              </a:lnSpc>
              <a:buNone/>
            </a:pPr>
            <a:endParaRPr lang="en-US" altLang="en-US" sz="2400">
              <a:latin typeface="Calibri" panose="020F0502020204030204" charset="0"/>
              <a:cs typeface="Calibri" panose="020F0502020204030204" charset="0"/>
            </a:endParaRPr>
          </a:p>
          <a:p>
            <a:pPr marL="0" indent="0">
              <a:lnSpc>
                <a:spcPct val="100000"/>
              </a:lnSpc>
              <a:buNone/>
            </a:pPr>
            <a:r>
              <a:rPr lang="en-US" altLang="en-US" sz="2400">
                <a:latin typeface="Calibri" panose="020F0502020204030204" charset="0"/>
                <a:cs typeface="Calibri" panose="020F0502020204030204" charset="0"/>
              </a:rPr>
              <a:t>Before finalizing the feature list, we must first conduct a Stakeholder Analysis to understand everyone’s needs and expectations.a</a:t>
            </a:r>
            <a:endParaRPr lang="en-US" altLang="en-US" sz="2400">
              <a:latin typeface="Calibri" panose="020F0502020204030204" charset="0"/>
              <a:cs typeface="Calibri" panose="020F0502020204030204" charset="0"/>
            </a:endParaRPr>
          </a:p>
        </p:txBody>
      </p:sp>
      <p:pic>
        <p:nvPicPr>
          <p:cNvPr id="5" name="Content Placeholder 4"/>
          <p:cNvPicPr>
            <a:picLocks noChangeAspect="1"/>
          </p:cNvPicPr>
          <p:nvPr>
            <p:ph sz="half" idx="2"/>
          </p:nvPr>
        </p:nvPicPr>
        <p:blipFill>
          <a:blip r:embed="rId3"/>
          <a:srcRect r="59800" b="11905"/>
          <a:stretch>
            <a:fillRect/>
          </a:stretch>
        </p:blipFill>
        <p:spPr>
          <a:xfrm>
            <a:off x="6203950" y="2164715"/>
            <a:ext cx="1657985" cy="2349500"/>
          </a:xfrm>
          <a:prstGeom prst="rect">
            <a:avLst/>
          </a:prstGeom>
        </p:spPr>
      </p:pic>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
        <p:nvSpPr>
          <p:cNvPr id="9" name="Footer Placeholder 8"/>
          <p:cNvSpPr>
            <a:spLocks noGrp="1"/>
          </p:cNvSpPr>
          <p:nvPr>
            <p:ph type="ftr" sz="quarter" idx="11"/>
          </p:nvPr>
        </p:nvSpPr>
        <p:spPr/>
        <p:txBody>
          <a:bodyPr/>
          <a:p>
            <a:r>
              <a:rPr lang="en-US"/>
              <a:t>Tasmin Sanjida, Lecturer, CSE, UIU</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756" name="Shape 756"/>
        <p:cNvGrpSpPr/>
        <p:nvPr/>
      </p:nvGrpSpPr>
      <p:grpSpPr>
        <a:xfrm>
          <a:off x="0" y="0"/>
          <a:ext cx="0" cy="0"/>
          <a:chOff x="0" y="0"/>
          <a:chExt cx="0" cy="0"/>
        </a:xfrm>
      </p:grpSpPr>
      <p:sp>
        <p:nvSpPr>
          <p:cNvPr id="757" name="Google Shape;757;p83"/>
          <p:cNvSpPr txBox="1"/>
          <p:nvPr>
            <p:ph type="title"/>
          </p:nvPr>
        </p:nvSpPr>
        <p:spPr>
          <a:xfrm>
            <a:off x="415290" y="314325"/>
            <a:ext cx="11360785" cy="1222375"/>
          </a:xfrm>
          <a:prstGeom prst="rect">
            <a:avLst/>
          </a:prstGeom>
          <a:solidFill>
            <a:srgbClr val="FF8000"/>
          </a:solidFill>
          <a:ln>
            <a:solidFill>
              <a:srgbClr val="000000">
                <a:alpha val="0"/>
              </a:srgbClr>
            </a:solidFill>
          </a:ln>
        </p:spPr>
        <p:txBody>
          <a:bodyPr spcFirstLastPara="1" wrap="square" lIns="121900" tIns="121900" rIns="121900" bIns="121900" anchor="ctr" anchorCtr="0">
            <a:noAutofit/>
          </a:bodyPr>
          <a:lstStyle/>
          <a:p>
            <a:pPr marL="0" lvl="0" indent="0" algn="l" rtl="0">
              <a:spcBef>
                <a:spcPts val="0"/>
              </a:spcBef>
              <a:spcAft>
                <a:spcPts val="0"/>
              </a:spcAft>
              <a:buClr>
                <a:srgbClr val="000000"/>
              </a:buClr>
              <a:buSzPts val="2800"/>
              <a:buFont typeface="Arial" panose="020B0604020202020204"/>
              <a:buNone/>
            </a:pPr>
            <a:r>
              <a:rPr lang="en-GB" sz="4265" b="1">
                <a:solidFill>
                  <a:schemeClr val="bg1"/>
                </a:solidFill>
              </a:rPr>
              <a:t>Feature List Fixation</a:t>
            </a:r>
            <a:endParaRPr lang="en-GB" sz="4265" b="1">
              <a:solidFill>
                <a:schemeClr val="bg1"/>
              </a:solidFill>
            </a:endParaRPr>
          </a:p>
        </p:txBody>
      </p:sp>
      <p:sp>
        <p:nvSpPr>
          <p:cNvPr id="758" name="Google Shape;758;p83"/>
          <p:cNvSpPr txBox="1"/>
          <p:nvPr>
            <p:ph type="body" idx="1"/>
          </p:nvPr>
        </p:nvSpPr>
        <p:spPr>
          <a:xfrm>
            <a:off x="415290" y="1536700"/>
            <a:ext cx="7219315" cy="4704715"/>
          </a:xfrm>
          <a:prstGeom prst="rect">
            <a:avLst/>
          </a:prstGeom>
          <a:noFill/>
          <a:ln>
            <a:noFill/>
          </a:ln>
        </p:spPr>
        <p:txBody>
          <a:bodyPr spcFirstLastPara="1" wrap="square" lIns="121900" tIns="121900" rIns="121900" bIns="121900" anchor="t" anchorCtr="0">
            <a:noAutofit/>
          </a:bodyPr>
          <a:lstStyle/>
          <a:p>
            <a:pPr marL="0" lvl="0" indent="0" algn="l" rtl="0">
              <a:lnSpc>
                <a:spcPct val="150000"/>
              </a:lnSpc>
              <a:spcBef>
                <a:spcPts val="0"/>
              </a:spcBef>
              <a:spcAft>
                <a:spcPts val="0"/>
              </a:spcAft>
              <a:buNone/>
            </a:pPr>
            <a:r>
              <a:rPr lang="en-GB" sz="2400">
                <a:latin typeface="Calibri" panose="020F0502020204030204" charset="0"/>
                <a:ea typeface="Oswald"/>
                <a:cs typeface="Calibri" panose="020F0502020204030204" charset="0"/>
                <a:sym typeface="Oswald"/>
              </a:rPr>
              <a:t>Now that we have gathered the necessary information and gone through some form of analysis, we can reliably fix our feature list with justification.</a:t>
            </a:r>
            <a:endParaRPr sz="2400">
              <a:latin typeface="Calibri" panose="020F0502020204030204" charset="0"/>
              <a:ea typeface="Oswald"/>
              <a:cs typeface="Calibri" panose="020F0502020204030204" charset="0"/>
              <a:sym typeface="Oswald"/>
            </a:endParaRPr>
          </a:p>
          <a:p>
            <a:pPr marL="457200" lvl="0" indent="-311150" algn="l" rtl="0">
              <a:lnSpc>
                <a:spcPct val="150000"/>
              </a:lnSpc>
              <a:spcBef>
                <a:spcPts val="0"/>
              </a:spcBef>
              <a:spcAft>
                <a:spcPts val="0"/>
              </a:spcAft>
              <a:buSzPts val="2200"/>
              <a:buFont typeface="Oswald"/>
              <a:buChar char="▪"/>
            </a:pPr>
            <a:r>
              <a:rPr lang="en-GB" sz="2400">
                <a:latin typeface="Calibri" panose="020F0502020204030204" charset="0"/>
                <a:ea typeface="Oswald"/>
                <a:cs typeface="Calibri" panose="020F0502020204030204" charset="0"/>
                <a:sym typeface="Oswald"/>
              </a:rPr>
              <a:t>Try to Cover All possible Features found in Gap Analysis</a:t>
            </a:r>
            <a:endParaRPr lang="en-GB" sz="2400">
              <a:latin typeface="Calibri" panose="020F0502020204030204" charset="0"/>
              <a:ea typeface="Oswald"/>
              <a:cs typeface="Calibri" panose="020F0502020204030204" charset="0"/>
              <a:sym typeface="Oswald"/>
            </a:endParaRPr>
          </a:p>
          <a:p>
            <a:pPr marL="457200" lvl="0" indent="-311150" algn="l" rtl="0">
              <a:lnSpc>
                <a:spcPct val="150000"/>
              </a:lnSpc>
              <a:spcBef>
                <a:spcPts val="0"/>
              </a:spcBef>
              <a:spcAft>
                <a:spcPts val="0"/>
              </a:spcAft>
              <a:buSzPts val="2200"/>
              <a:buFont typeface="Oswald"/>
              <a:buChar char="▪"/>
            </a:pPr>
            <a:r>
              <a:rPr lang="en-GB" sz="2400">
                <a:latin typeface="Calibri" panose="020F0502020204030204" charset="0"/>
                <a:ea typeface="Oswald"/>
                <a:cs typeface="Calibri" panose="020F0502020204030204" charset="0"/>
                <a:sym typeface="Oswald"/>
              </a:rPr>
              <a:t>Try to Cover All possible Standard Features that exist in the Benchmark Products</a:t>
            </a:r>
            <a:endParaRPr sz="2400">
              <a:latin typeface="Calibri" panose="020F0502020204030204" charset="0"/>
              <a:ea typeface="Oswald"/>
              <a:cs typeface="Calibri" panose="020F0502020204030204" charset="0"/>
              <a:sym typeface="Oswald"/>
            </a:endParaRPr>
          </a:p>
        </p:txBody>
      </p:sp>
      <p:sp>
        <p:nvSpPr>
          <p:cNvPr id="759" name="Google Shape;759;p83"/>
          <p:cNvSpPr txBox="1"/>
          <p:nvPr>
            <p:ph type="sldNum" idx="12"/>
          </p:nvPr>
        </p:nvSpPr>
        <p:spPr>
          <a:xfrm>
            <a:off x="11320333" y="6241345"/>
            <a:ext cx="731600" cy="5248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GB" sz="1600">
                <a:latin typeface="Oswald"/>
                <a:ea typeface="Oswald"/>
                <a:cs typeface="Oswald"/>
                <a:sym typeface="Oswald"/>
              </a:rPr>
            </a:fld>
            <a:endParaRPr sz="1600">
              <a:latin typeface="Oswald"/>
              <a:ea typeface="Oswald"/>
              <a:cs typeface="Oswald"/>
              <a:sym typeface="Oswald"/>
            </a:endParaRPr>
          </a:p>
        </p:txBody>
      </p:sp>
      <p:pic>
        <p:nvPicPr>
          <p:cNvPr id="1" name="Picture 0"/>
          <p:cNvPicPr>
            <a:picLocks noChangeAspect="1"/>
          </p:cNvPicPr>
          <p:nvPr/>
        </p:nvPicPr>
        <p:blipFill>
          <a:blip r:embed="rId1"/>
          <a:stretch>
            <a:fillRect/>
          </a:stretch>
        </p:blipFill>
        <p:spPr>
          <a:xfrm>
            <a:off x="7784465" y="2101850"/>
            <a:ext cx="3763010" cy="376301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763" name="Shape 763"/>
        <p:cNvGrpSpPr/>
        <p:nvPr/>
      </p:nvGrpSpPr>
      <p:grpSpPr>
        <a:xfrm>
          <a:off x="0" y="0"/>
          <a:ext cx="0" cy="0"/>
          <a:chOff x="0" y="0"/>
          <a:chExt cx="0" cy="0"/>
        </a:xfrm>
      </p:grpSpPr>
      <p:sp>
        <p:nvSpPr>
          <p:cNvPr id="764" name="Google Shape;764;p84"/>
          <p:cNvSpPr txBox="1"/>
          <p:nvPr>
            <p:ph type="title"/>
          </p:nvPr>
        </p:nvSpPr>
        <p:spPr>
          <a:xfrm>
            <a:off x="415290" y="334645"/>
            <a:ext cx="11360785" cy="1052830"/>
          </a:xfrm>
          <a:prstGeom prst="rect">
            <a:avLst/>
          </a:prstGeom>
          <a:solidFill>
            <a:srgbClr val="FF8000"/>
          </a:solidFill>
          <a:ln>
            <a:solidFill>
              <a:srgbClr val="000000">
                <a:alpha val="0"/>
              </a:srgbClr>
            </a:solidFill>
          </a:ln>
        </p:spPr>
        <p:txBody>
          <a:bodyPr spcFirstLastPara="1" wrap="square" lIns="121900" tIns="121900" rIns="121900" bIns="121900" anchor="t" anchorCtr="0">
            <a:noAutofit/>
          </a:bodyPr>
          <a:lstStyle/>
          <a:p>
            <a:pPr marL="0" lvl="0" indent="0" algn="l" rtl="0">
              <a:spcBef>
                <a:spcPts val="0"/>
              </a:spcBef>
              <a:spcAft>
                <a:spcPts val="0"/>
              </a:spcAft>
              <a:buClr>
                <a:srgbClr val="000000"/>
              </a:buClr>
              <a:buSzPts val="2800"/>
              <a:buFont typeface="Arial" panose="020B0604020202020204"/>
              <a:buNone/>
            </a:pPr>
            <a:r>
              <a:rPr lang="en-GB" b="1">
                <a:solidFill>
                  <a:schemeClr val="bg1"/>
                </a:solidFill>
              </a:rPr>
              <a:t>Feature List Fixation - Example</a:t>
            </a:r>
            <a:endParaRPr lang="en-GB" b="1">
              <a:solidFill>
                <a:schemeClr val="bg1"/>
              </a:solidFill>
            </a:endParaRPr>
          </a:p>
        </p:txBody>
      </p:sp>
      <p:sp>
        <p:nvSpPr>
          <p:cNvPr id="765" name="Google Shape;765;p84"/>
          <p:cNvSpPr txBox="1"/>
          <p:nvPr>
            <p:ph type="body" idx="1"/>
          </p:nvPr>
        </p:nvSpPr>
        <p:spPr>
          <a:xfrm>
            <a:off x="415600" y="1536633"/>
            <a:ext cx="11360800" cy="4704800"/>
          </a:xfrm>
          <a:prstGeom prst="rect">
            <a:avLst/>
          </a:prstGeom>
          <a:noFill/>
          <a:ln>
            <a:noFill/>
          </a:ln>
        </p:spPr>
        <p:txBody>
          <a:bodyPr spcFirstLastPara="1" wrap="square" lIns="121900" tIns="121900" rIns="121900" bIns="121900" anchor="t" anchorCtr="0">
            <a:noAutofit/>
          </a:bodyPr>
          <a:lstStyle/>
          <a:p>
            <a:pPr marL="0" lvl="0" indent="0" algn="l" rtl="0">
              <a:lnSpc>
                <a:spcPct val="130000"/>
              </a:lnSpc>
              <a:spcBef>
                <a:spcPts val="0"/>
              </a:spcBef>
              <a:spcAft>
                <a:spcPts val="0"/>
              </a:spcAft>
              <a:buNone/>
            </a:pPr>
            <a:endParaRPr sz="1600">
              <a:latin typeface="Calibri" panose="020F0502020204030204" charset="0"/>
              <a:ea typeface="Oswald Light"/>
              <a:cs typeface="Calibri" panose="020F0502020204030204" charset="0"/>
              <a:sym typeface="Oswald Light"/>
            </a:endParaRPr>
          </a:p>
          <a:p>
            <a:pPr marL="0" lvl="0" indent="196850" algn="l" rtl="0">
              <a:lnSpc>
                <a:spcPct val="100000"/>
              </a:lnSpc>
              <a:spcBef>
                <a:spcPts val="0"/>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Team Name (International , Domestic , BPL)</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Result ( Result of the matches)</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Fixture (The time schedule of matches)</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Live Score ( Live scores of running matches)</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Login ( You can LOGIN as an Admin and an user)</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Search ( You can search through Matches , Teams , Player name)</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Series ( Which series are going on now)</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Point  Table ( The point table of Teams )</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Ticket ( Online E-Ticket system for booking )</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Videos ( Videos of the matches , toss , wickets , Highlights  etc.)</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News ( News about matches , series etc.)</a:t>
            </a:r>
            <a:endParaRPr sz="1865">
              <a:latin typeface="Calibri" panose="020F0502020204030204" charset="0"/>
              <a:ea typeface="Oswald Light"/>
              <a:cs typeface="Calibri" panose="020F0502020204030204" charset="0"/>
              <a:sym typeface="Oswald Light"/>
            </a:endParaRPr>
          </a:p>
          <a:p>
            <a:pPr marL="0" lvl="0" indent="196850" algn="l" rtl="0">
              <a:lnSpc>
                <a:spcPct val="100000"/>
              </a:lnSpc>
              <a:spcBef>
                <a:spcPts val="335"/>
              </a:spcBef>
              <a:spcAft>
                <a:spcPts val="0"/>
              </a:spcAft>
              <a:buSzPts val="1400"/>
              <a:buFont typeface="Oswald Light"/>
              <a:buChar char="▪"/>
            </a:pPr>
            <a:r>
              <a:rPr lang="en-GB" sz="1865">
                <a:latin typeface="Calibri" panose="020F0502020204030204" charset="0"/>
                <a:ea typeface="Oswald Light"/>
                <a:cs typeface="Calibri" panose="020F0502020204030204" charset="0"/>
                <a:sym typeface="Oswald Light"/>
              </a:rPr>
              <a:t>Photos ( Photos of matches , Players etc. )</a:t>
            </a:r>
            <a:endParaRPr sz="1865">
              <a:latin typeface="Calibri" panose="020F0502020204030204" charset="0"/>
              <a:ea typeface="Oswald Light"/>
              <a:cs typeface="Calibri" panose="020F0502020204030204" charset="0"/>
              <a:sym typeface="Oswald Light"/>
            </a:endParaRPr>
          </a:p>
        </p:txBody>
      </p:sp>
      <p:sp>
        <p:nvSpPr>
          <p:cNvPr id="766" name="Google Shape;766;p84"/>
          <p:cNvSpPr txBox="1"/>
          <p:nvPr>
            <p:ph type="sldNum" idx="12"/>
          </p:nvPr>
        </p:nvSpPr>
        <p:spPr>
          <a:xfrm>
            <a:off x="11320333" y="6241345"/>
            <a:ext cx="731600" cy="5248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GB" sz="1600">
                <a:latin typeface="Oswald"/>
                <a:ea typeface="Oswald"/>
                <a:cs typeface="Oswald"/>
                <a:sym typeface="Oswald"/>
              </a:rPr>
            </a:fld>
            <a:endParaRPr sz="1600">
              <a:latin typeface="Oswald"/>
              <a:ea typeface="Oswald"/>
              <a:cs typeface="Oswald"/>
              <a:sym typeface="Oswa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770" name="Shape 770"/>
        <p:cNvGrpSpPr/>
        <p:nvPr/>
      </p:nvGrpSpPr>
      <p:grpSpPr>
        <a:xfrm>
          <a:off x="0" y="0"/>
          <a:ext cx="0" cy="0"/>
          <a:chOff x="0" y="0"/>
          <a:chExt cx="0" cy="0"/>
        </a:xfrm>
      </p:grpSpPr>
      <p:sp>
        <p:nvSpPr>
          <p:cNvPr id="771" name="Google Shape;771;p85"/>
          <p:cNvSpPr txBox="1"/>
          <p:nvPr>
            <p:ph type="title"/>
          </p:nvPr>
        </p:nvSpPr>
        <p:spPr>
          <a:xfrm>
            <a:off x="415290" y="293370"/>
            <a:ext cx="11360785" cy="1423670"/>
          </a:xfrm>
          <a:prstGeom prst="rect">
            <a:avLst/>
          </a:prstGeom>
          <a:solidFill>
            <a:srgbClr val="FF8000"/>
          </a:solidFill>
          <a:ln>
            <a:solidFill>
              <a:srgbClr val="000000">
                <a:alpha val="0"/>
              </a:srgbClr>
            </a:solidFill>
          </a:ln>
        </p:spPr>
        <p:txBody>
          <a:bodyPr spcFirstLastPara="1" wrap="square" lIns="121900" tIns="121900" rIns="121900" bIns="121900" anchor="t" anchorCtr="0">
            <a:noAutofit/>
          </a:bodyPr>
          <a:lstStyle/>
          <a:p>
            <a:pPr marL="0" lvl="0" indent="0" algn="l" rtl="0">
              <a:spcBef>
                <a:spcPts val="0"/>
              </a:spcBef>
              <a:spcAft>
                <a:spcPts val="0"/>
              </a:spcAft>
              <a:buClr>
                <a:srgbClr val="000000"/>
              </a:buClr>
              <a:buSzPts val="2800"/>
              <a:buFont typeface="Arial" panose="020B0604020202020204"/>
              <a:buNone/>
            </a:pPr>
            <a:r>
              <a:rPr lang="en-GB" sz="4265" b="1">
                <a:solidFill>
                  <a:schemeClr val="bg1"/>
                </a:solidFill>
              </a:rPr>
              <a:t>Feature List Fixation - With Respect To Stakeholders</a:t>
            </a:r>
            <a:endParaRPr lang="en-GB" sz="4265" b="1">
              <a:solidFill>
                <a:schemeClr val="bg1"/>
              </a:solidFill>
            </a:endParaRPr>
          </a:p>
        </p:txBody>
      </p:sp>
      <p:sp>
        <p:nvSpPr>
          <p:cNvPr id="772" name="Google Shape;772;p85"/>
          <p:cNvSpPr txBox="1"/>
          <p:nvPr>
            <p:ph type="body" idx="1"/>
          </p:nvPr>
        </p:nvSpPr>
        <p:spPr>
          <a:xfrm>
            <a:off x="415600" y="1536633"/>
            <a:ext cx="11360800" cy="4704800"/>
          </a:xfrm>
          <a:prstGeom prst="rect">
            <a:avLst/>
          </a:prstGeom>
          <a:noFill/>
          <a:ln>
            <a:noFill/>
          </a:ln>
        </p:spPr>
        <p:txBody>
          <a:bodyPr spcFirstLastPara="1" wrap="square" lIns="121900" tIns="121900" rIns="121900" bIns="121900" anchor="t" anchorCtr="0">
            <a:noAutofit/>
          </a:bodyPr>
          <a:lstStyle/>
          <a:p>
            <a:pPr marL="0" lvl="0" indent="0" algn="l" rtl="0">
              <a:lnSpc>
                <a:spcPct val="130000"/>
              </a:lnSpc>
              <a:spcBef>
                <a:spcPts val="0"/>
              </a:spcBef>
              <a:spcAft>
                <a:spcPts val="0"/>
              </a:spcAft>
              <a:buNone/>
            </a:pPr>
            <a:endParaRPr>
              <a:latin typeface="Calibri" panose="020F0502020204030204" charset="0"/>
              <a:ea typeface="Oswald Light"/>
              <a:cs typeface="Calibri" panose="020F0502020204030204" charset="0"/>
              <a:sym typeface="Oswald Light"/>
            </a:endParaRPr>
          </a:p>
          <a:p>
            <a:pPr marL="285750" lvl="0" indent="-184150" algn="l" rtl="0">
              <a:lnSpc>
                <a:spcPct val="100000"/>
              </a:lnSpc>
              <a:spcBef>
                <a:spcPts val="0"/>
              </a:spcBef>
              <a:spcAft>
                <a:spcPts val="0"/>
              </a:spcAft>
              <a:buSzPts val="2000"/>
              <a:buFont typeface="Oswald Light"/>
              <a:buChar char="▪"/>
            </a:pPr>
            <a:r>
              <a:rPr lang="en-GB" sz="2665">
                <a:latin typeface="Calibri" panose="020F0502020204030204" charset="0"/>
                <a:ea typeface="Oswald Light"/>
                <a:cs typeface="Calibri" panose="020F0502020204030204" charset="0"/>
                <a:sym typeface="Oswald Light"/>
              </a:rPr>
              <a:t>Admin</a:t>
            </a:r>
            <a:endParaRPr sz="2665">
              <a:latin typeface="Calibri" panose="020F0502020204030204" charset="0"/>
              <a:ea typeface="Oswald Light"/>
              <a:cs typeface="Calibri" panose="020F0502020204030204" charset="0"/>
              <a:sym typeface="Oswald Light"/>
            </a:endParaRPr>
          </a:p>
          <a:p>
            <a:pPr marL="514350" lvl="1" indent="-101600" algn="l" rtl="0">
              <a:lnSpc>
                <a:spcPct val="100000"/>
              </a:lnSpc>
              <a:spcBef>
                <a:spcPts val="440"/>
              </a:spcBef>
              <a:spcAft>
                <a:spcPts val="0"/>
              </a:spcAft>
              <a:buClr>
                <a:schemeClr val="accent3"/>
              </a:buClr>
              <a:buSzPts val="1600"/>
              <a:buFont typeface="Oswald Light"/>
              <a:buChar char="▹"/>
            </a:pPr>
            <a:r>
              <a:rPr lang="en-GB" sz="2135">
                <a:latin typeface="Calibri" panose="020F0502020204030204" charset="0"/>
                <a:ea typeface="Oswald Light"/>
                <a:cs typeface="Calibri" panose="020F0502020204030204" charset="0"/>
                <a:sym typeface="Oswald Light"/>
              </a:rPr>
              <a:t> Activity 1</a:t>
            </a:r>
            <a:endParaRPr sz="2135">
              <a:latin typeface="Calibri" panose="020F0502020204030204" charset="0"/>
              <a:ea typeface="Oswald Light"/>
              <a:cs typeface="Calibri" panose="020F0502020204030204" charset="0"/>
              <a:sym typeface="Oswald Light"/>
            </a:endParaRPr>
          </a:p>
          <a:p>
            <a:pPr marL="514350" lvl="1" indent="-101600" algn="l" rtl="0">
              <a:lnSpc>
                <a:spcPct val="100000"/>
              </a:lnSpc>
              <a:spcBef>
                <a:spcPts val="440"/>
              </a:spcBef>
              <a:spcAft>
                <a:spcPts val="0"/>
              </a:spcAft>
              <a:buClr>
                <a:schemeClr val="accent3"/>
              </a:buClr>
              <a:buSzPts val="1600"/>
              <a:buFont typeface="Oswald Light"/>
              <a:buChar char="▹"/>
            </a:pPr>
            <a:r>
              <a:rPr lang="en-GB" sz="2135">
                <a:latin typeface="Calibri" panose="020F0502020204030204" charset="0"/>
                <a:ea typeface="Oswald Light"/>
                <a:cs typeface="Calibri" panose="020F0502020204030204" charset="0"/>
                <a:sym typeface="Oswald Light"/>
              </a:rPr>
              <a:t> Activity 2</a:t>
            </a:r>
            <a:endParaRPr sz="2135">
              <a:latin typeface="Calibri" panose="020F0502020204030204" charset="0"/>
              <a:ea typeface="Oswald Light"/>
              <a:cs typeface="Calibri" panose="020F0502020204030204" charset="0"/>
              <a:sym typeface="Oswald Light"/>
            </a:endParaRPr>
          </a:p>
          <a:p>
            <a:pPr marL="285750" lvl="0" indent="-184150" algn="l" rtl="0">
              <a:lnSpc>
                <a:spcPct val="100000"/>
              </a:lnSpc>
              <a:spcBef>
                <a:spcPts val="540"/>
              </a:spcBef>
              <a:spcAft>
                <a:spcPts val="0"/>
              </a:spcAft>
              <a:buSzPts val="2000"/>
              <a:buFont typeface="Oswald Light"/>
              <a:buChar char="▪"/>
            </a:pPr>
            <a:r>
              <a:rPr lang="en-GB" sz="2665">
                <a:latin typeface="Calibri" panose="020F0502020204030204" charset="0"/>
                <a:ea typeface="Oswald Light"/>
                <a:cs typeface="Calibri" panose="020F0502020204030204" charset="0"/>
                <a:sym typeface="Oswald Light"/>
              </a:rPr>
              <a:t>User</a:t>
            </a:r>
            <a:endParaRPr sz="2665">
              <a:latin typeface="Calibri" panose="020F0502020204030204" charset="0"/>
              <a:ea typeface="Oswald Light"/>
              <a:cs typeface="Calibri" panose="020F0502020204030204" charset="0"/>
              <a:sym typeface="Oswald Light"/>
            </a:endParaRPr>
          </a:p>
          <a:p>
            <a:pPr marL="514350" lvl="1" indent="-101600" algn="l" rtl="0">
              <a:lnSpc>
                <a:spcPct val="100000"/>
              </a:lnSpc>
              <a:spcBef>
                <a:spcPts val="440"/>
              </a:spcBef>
              <a:spcAft>
                <a:spcPts val="0"/>
              </a:spcAft>
              <a:buClr>
                <a:schemeClr val="accent3"/>
              </a:buClr>
              <a:buSzPts val="1600"/>
              <a:buFont typeface="Oswald Light"/>
              <a:buChar char="▹"/>
            </a:pPr>
            <a:r>
              <a:rPr lang="en-GB" sz="2135">
                <a:latin typeface="Calibri" panose="020F0502020204030204" charset="0"/>
                <a:ea typeface="Oswald Light"/>
                <a:cs typeface="Calibri" panose="020F0502020204030204" charset="0"/>
                <a:sym typeface="Oswald Light"/>
              </a:rPr>
              <a:t> Activity 1</a:t>
            </a:r>
            <a:endParaRPr sz="2135">
              <a:latin typeface="Calibri" panose="020F0502020204030204" charset="0"/>
              <a:ea typeface="Oswald Light"/>
              <a:cs typeface="Calibri" panose="020F0502020204030204" charset="0"/>
              <a:sym typeface="Oswald Light"/>
            </a:endParaRPr>
          </a:p>
          <a:p>
            <a:pPr marL="514350" lvl="1" indent="-101600" algn="l" rtl="0">
              <a:lnSpc>
                <a:spcPct val="100000"/>
              </a:lnSpc>
              <a:spcBef>
                <a:spcPts val="440"/>
              </a:spcBef>
              <a:spcAft>
                <a:spcPts val="0"/>
              </a:spcAft>
              <a:buClr>
                <a:schemeClr val="accent3"/>
              </a:buClr>
              <a:buSzPts val="1600"/>
              <a:buFont typeface="Oswald Light"/>
              <a:buChar char="▹"/>
            </a:pPr>
            <a:r>
              <a:rPr lang="en-GB" sz="2135">
                <a:latin typeface="Calibri" panose="020F0502020204030204" charset="0"/>
                <a:ea typeface="Oswald Light"/>
                <a:cs typeface="Calibri" panose="020F0502020204030204" charset="0"/>
                <a:sym typeface="Oswald Light"/>
              </a:rPr>
              <a:t> Activity 2</a:t>
            </a:r>
            <a:endParaRPr sz="2135">
              <a:latin typeface="Calibri" panose="020F0502020204030204" charset="0"/>
              <a:ea typeface="Oswald Light"/>
              <a:cs typeface="Calibri" panose="020F0502020204030204" charset="0"/>
              <a:sym typeface="Oswald Light"/>
            </a:endParaRPr>
          </a:p>
          <a:p>
            <a:pPr marL="285750" lvl="0" indent="-184150" algn="l" rtl="0">
              <a:lnSpc>
                <a:spcPct val="100000"/>
              </a:lnSpc>
              <a:spcBef>
                <a:spcPts val="540"/>
              </a:spcBef>
              <a:spcAft>
                <a:spcPts val="0"/>
              </a:spcAft>
              <a:buSzPts val="2000"/>
              <a:buFont typeface="Oswald Light"/>
              <a:buChar char="▪"/>
            </a:pPr>
            <a:r>
              <a:rPr lang="en-GB" sz="2665">
                <a:latin typeface="Calibri" panose="020F0502020204030204" charset="0"/>
                <a:ea typeface="Oswald Light"/>
                <a:cs typeface="Calibri" panose="020F0502020204030204" charset="0"/>
                <a:sym typeface="Oswald Light"/>
              </a:rPr>
              <a:t>Guest</a:t>
            </a:r>
            <a:endParaRPr sz="2665">
              <a:latin typeface="Calibri" panose="020F0502020204030204" charset="0"/>
              <a:ea typeface="Oswald Light"/>
              <a:cs typeface="Calibri" panose="020F0502020204030204" charset="0"/>
              <a:sym typeface="Oswald Light"/>
            </a:endParaRPr>
          </a:p>
          <a:p>
            <a:pPr marL="285750" lvl="0" indent="-184150" algn="l" rtl="0">
              <a:lnSpc>
                <a:spcPct val="100000"/>
              </a:lnSpc>
              <a:spcBef>
                <a:spcPts val="540"/>
              </a:spcBef>
              <a:spcAft>
                <a:spcPts val="0"/>
              </a:spcAft>
              <a:buSzPts val="2000"/>
              <a:buFont typeface="Oswald Light"/>
              <a:buChar char="▪"/>
            </a:pPr>
            <a:r>
              <a:rPr lang="en-GB" sz="2665">
                <a:latin typeface="Calibri" panose="020F0502020204030204" charset="0"/>
                <a:ea typeface="Oswald Light"/>
                <a:cs typeface="Calibri" panose="020F0502020204030204" charset="0"/>
                <a:sym typeface="Oswald Light"/>
              </a:rPr>
              <a:t>Sponsors</a:t>
            </a:r>
            <a:endParaRPr sz="2665">
              <a:latin typeface="Calibri" panose="020F0502020204030204" charset="0"/>
              <a:ea typeface="Oswald Light"/>
              <a:cs typeface="Calibri" panose="020F0502020204030204" charset="0"/>
              <a:sym typeface="Oswald Light"/>
            </a:endParaRPr>
          </a:p>
        </p:txBody>
      </p:sp>
      <p:sp>
        <p:nvSpPr>
          <p:cNvPr id="773" name="Google Shape;773;p85"/>
          <p:cNvSpPr txBox="1"/>
          <p:nvPr>
            <p:ph type="sldNum" idx="12"/>
          </p:nvPr>
        </p:nvSpPr>
        <p:spPr>
          <a:xfrm>
            <a:off x="11320333" y="6241345"/>
            <a:ext cx="731600" cy="5248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GB" sz="1600">
                <a:latin typeface="Oswald"/>
                <a:ea typeface="Oswald"/>
                <a:cs typeface="Oswald"/>
                <a:sym typeface="Oswald"/>
              </a:rPr>
            </a:fld>
            <a:endParaRPr sz="1600">
              <a:latin typeface="Oswald"/>
              <a:ea typeface="Oswald"/>
              <a:cs typeface="Oswald"/>
              <a:sym typeface="Oswa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783" name="Shape 783"/>
        <p:cNvGrpSpPr/>
        <p:nvPr/>
      </p:nvGrpSpPr>
      <p:grpSpPr>
        <a:xfrm>
          <a:off x="0" y="0"/>
          <a:ext cx="0" cy="0"/>
          <a:chOff x="0" y="0"/>
          <a:chExt cx="0" cy="0"/>
        </a:xfrm>
      </p:grpSpPr>
      <p:sp>
        <p:nvSpPr>
          <p:cNvPr id="784" name="Google Shape;784;p87"/>
          <p:cNvSpPr txBox="1"/>
          <p:nvPr>
            <p:ph type="body" idx="1"/>
          </p:nvPr>
        </p:nvSpPr>
        <p:spPr>
          <a:xfrm>
            <a:off x="110800" y="6250367"/>
            <a:ext cx="7998400" cy="573200"/>
          </a:xfrm>
          <a:prstGeom prst="rect">
            <a:avLst/>
          </a:prstGeom>
        </p:spPr>
        <p:txBody>
          <a:bodyPr spcFirstLastPara="1" wrap="square" lIns="121900" tIns="121900" rIns="121900" bIns="121900" anchor="ctr" anchorCtr="0">
            <a:normAutofit fontScale="70000"/>
          </a:bodyPr>
          <a:lstStyle/>
          <a:p>
            <a:pPr marL="0" lvl="0" indent="0" algn="l" rtl="0">
              <a:spcBef>
                <a:spcPts val="0"/>
              </a:spcBef>
              <a:spcAft>
                <a:spcPts val="0"/>
              </a:spcAft>
              <a:buNone/>
            </a:pPr>
            <a:r>
              <a:rPr lang="en-GB" sz="2665"/>
              <a:t>References</a:t>
            </a:r>
            <a:endParaRPr sz="2665"/>
          </a:p>
        </p:txBody>
      </p:sp>
      <p:sp>
        <p:nvSpPr>
          <p:cNvPr id="785" name="Google Shape;785;p87"/>
          <p:cNvSpPr txBox="1"/>
          <p:nvPr/>
        </p:nvSpPr>
        <p:spPr>
          <a:xfrm>
            <a:off x="160733" y="196467"/>
            <a:ext cx="11805200" cy="5965200"/>
          </a:xfrm>
          <a:prstGeom prst="rect">
            <a:avLst/>
          </a:prstGeom>
          <a:noFill/>
          <a:ln>
            <a:noFill/>
          </a:ln>
        </p:spPr>
        <p:txBody>
          <a:bodyPr spcFirstLastPara="1" wrap="square" lIns="121900" tIns="121900" rIns="121900" bIns="121900" anchor="t" anchorCtr="0">
            <a:noAutofit/>
          </a:bodyPr>
          <a:lstStyle/>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1"/>
              </a:rPr>
              <a:t>https://www.softwaretestinghelp.com/requirement-analysis-in-sdlc/</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2"/>
              </a:rPr>
              <a:t>https://www.geeksforgeeks.org/software-engineering-requirements-elicitation/</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3"/>
              </a:rPr>
              <a:t>https://open.lib.umn.edu/strategicmanagement/chapter/2-2-vision-mission-and-goals/</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accent5"/>
                </a:solidFill>
                <a:latin typeface="Average"/>
                <a:ea typeface="Average"/>
                <a:cs typeface="Average"/>
                <a:sym typeface="Average"/>
                <a:hlinkClick r:id="rId4"/>
              </a:rPr>
              <a:t>https://www.withum.com/resources/digital-workflow-benefits-for-every-department-in-your-organization/</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5"/>
              </a:rPr>
              <a:t>https://jobs.washingtonpost.com/article/differences-in-prepping-for-an-in-person-vs-virtual-interview/</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6"/>
              </a:rPr>
              <a:t>https://www.yourarticlelibrary.com/management/mis-management/tools-of-information-gathering-for-system-analysis/70398</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7"/>
              </a:rPr>
              <a:t>https://www.1000sourcecodes.com/2012/06/sad-information-gathering-tools.html</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8"/>
              </a:rPr>
              <a:t>https://management.org/businessresearch/interviews.htm</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9"/>
              </a:rPr>
              <a:t>https://www.formpl.us/blog/good-bad-survey</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135" u="sng">
                <a:solidFill>
                  <a:schemeClr val="hlink"/>
                </a:solidFill>
                <a:latin typeface="Average"/>
                <a:ea typeface="Average"/>
                <a:cs typeface="Average"/>
                <a:sym typeface="Average"/>
                <a:hlinkClick r:id="rId10"/>
              </a:rPr>
              <a:t>https://www.techtarget.com/searchsoftwarequality/definition/JAD</a:t>
            </a:r>
            <a:endParaRPr sz="2135">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2400" u="sng">
                <a:solidFill>
                  <a:schemeClr val="hlink"/>
                </a:solidFill>
                <a:latin typeface="Average"/>
                <a:ea typeface="Average"/>
                <a:cs typeface="Average"/>
                <a:sym typeface="Average"/>
                <a:hlinkClick r:id="rId11"/>
              </a:rPr>
              <a:t>https://www.britannica.com/technology/Internet</a:t>
            </a:r>
            <a:endParaRPr sz="2400">
              <a:solidFill>
                <a:schemeClr val="accent3"/>
              </a:solidFill>
              <a:latin typeface="Average"/>
              <a:ea typeface="Average"/>
              <a:cs typeface="Average"/>
              <a:sym typeface="Average"/>
            </a:endParaRPr>
          </a:p>
          <a:p>
            <a:pPr marL="457200" lvl="0" indent="-342900" algn="l" rtl="0">
              <a:spcBef>
                <a:spcPts val="0"/>
              </a:spcBef>
              <a:spcAft>
                <a:spcPts val="0"/>
              </a:spcAft>
              <a:buClr>
                <a:schemeClr val="accent3"/>
              </a:buClr>
              <a:buSzPts val="1800"/>
              <a:buFont typeface="Average"/>
              <a:buChar char="❏"/>
            </a:pPr>
            <a:r>
              <a:rPr lang="en-GB" sz="2400" u="sng">
                <a:solidFill>
                  <a:schemeClr val="hlink"/>
                </a:solidFill>
                <a:latin typeface="Average"/>
                <a:ea typeface="Average"/>
                <a:cs typeface="Average"/>
                <a:sym typeface="Average"/>
                <a:hlinkClick r:id="rId12"/>
              </a:rPr>
              <a:t>https://www.wisdomtree.com/investments/blog/2023/12/18/5-cutting-edge-innovations-redefining-battery-technology-right-now</a:t>
            </a:r>
            <a:endParaRPr sz="2400">
              <a:solidFill>
                <a:schemeClr val="accent3"/>
              </a:solidFill>
              <a:latin typeface="Average"/>
              <a:ea typeface="Average"/>
              <a:cs typeface="Average"/>
              <a:sym typeface="Average"/>
            </a:endParaRPr>
          </a:p>
        </p:txBody>
      </p:sp>
      <p:sp>
        <p:nvSpPr>
          <p:cNvPr id="1" name="Slide Number Placeholder 0"/>
          <p:cNvSpPr>
            <a:spLocks noGrp="1"/>
          </p:cNvSpPr>
          <p:nvPr>
            <p:ph type="sldNum" idx="12"/>
          </p:nvPr>
        </p:nvSpPr>
        <p:spPr/>
        <p:txBody>
          <a:bodyPr/>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789" name="Shape 789"/>
        <p:cNvGrpSpPr/>
        <p:nvPr/>
      </p:nvGrpSpPr>
      <p:grpSpPr>
        <a:xfrm>
          <a:off x="0" y="0"/>
          <a:ext cx="0" cy="0"/>
          <a:chOff x="0" y="0"/>
          <a:chExt cx="0" cy="0"/>
        </a:xfrm>
      </p:grpSpPr>
      <p:sp>
        <p:nvSpPr>
          <p:cNvPr id="790" name="Google Shape;790;p88"/>
          <p:cNvSpPr txBox="1"/>
          <p:nvPr>
            <p:ph type="body" idx="1"/>
          </p:nvPr>
        </p:nvSpPr>
        <p:spPr>
          <a:xfrm>
            <a:off x="110800" y="6250367"/>
            <a:ext cx="7998400" cy="573200"/>
          </a:xfrm>
          <a:prstGeom prst="rect">
            <a:avLst/>
          </a:prstGeom>
        </p:spPr>
        <p:txBody>
          <a:bodyPr spcFirstLastPara="1" wrap="square" lIns="121900" tIns="121900" rIns="121900" bIns="121900" anchor="ctr" anchorCtr="0">
            <a:normAutofit fontScale="70000"/>
          </a:bodyPr>
          <a:lstStyle/>
          <a:p>
            <a:pPr marL="0" lvl="0" indent="0" algn="l" rtl="0">
              <a:spcBef>
                <a:spcPts val="0"/>
              </a:spcBef>
              <a:spcAft>
                <a:spcPts val="0"/>
              </a:spcAft>
              <a:buNone/>
            </a:pPr>
            <a:r>
              <a:rPr lang="en-GB" sz="2665"/>
              <a:t>References</a:t>
            </a:r>
            <a:endParaRPr sz="2665"/>
          </a:p>
        </p:txBody>
      </p:sp>
      <p:sp>
        <p:nvSpPr>
          <p:cNvPr id="791" name="Google Shape;791;p88"/>
          <p:cNvSpPr txBox="1"/>
          <p:nvPr/>
        </p:nvSpPr>
        <p:spPr>
          <a:xfrm>
            <a:off x="160733" y="196467"/>
            <a:ext cx="11805200" cy="5965200"/>
          </a:xfrm>
          <a:prstGeom prst="rect">
            <a:avLst/>
          </a:prstGeom>
          <a:noFill/>
          <a:ln>
            <a:noFill/>
          </a:ln>
        </p:spPr>
        <p:txBody>
          <a:bodyPr spcFirstLastPara="1" wrap="square" lIns="121900" tIns="121900" rIns="121900" bIns="121900" anchor="t" anchorCtr="0">
            <a:noAutofit/>
          </a:bodyPr>
          <a:lstStyle/>
          <a:p>
            <a:pPr marL="457200" lvl="0" indent="-342900" algn="l" rtl="0">
              <a:spcBef>
                <a:spcPts val="0"/>
              </a:spcBef>
              <a:spcAft>
                <a:spcPts val="0"/>
              </a:spcAft>
              <a:buClr>
                <a:schemeClr val="accent3"/>
              </a:buClr>
              <a:buSzPts val="1800"/>
              <a:buFont typeface="Average"/>
              <a:buChar char="❏"/>
            </a:pPr>
            <a:r>
              <a:rPr lang="en-GB" sz="2400" u="sng">
                <a:solidFill>
                  <a:schemeClr val="hlink"/>
                </a:solidFill>
                <a:latin typeface="Average"/>
                <a:ea typeface="Average"/>
                <a:cs typeface="Average"/>
                <a:sym typeface="Average"/>
                <a:hlinkClick r:id="rId1"/>
              </a:rPr>
              <a:t>https://wssintl.com/services/product-benchmarking/</a:t>
            </a:r>
            <a:endParaRPr sz="2400">
              <a:solidFill>
                <a:schemeClr val="accent3"/>
              </a:solidFill>
              <a:latin typeface="Average"/>
              <a:ea typeface="Average"/>
              <a:cs typeface="Average"/>
              <a:sym typeface="Average"/>
            </a:endParaRPr>
          </a:p>
          <a:p>
            <a:pPr marL="457200" lvl="0" indent="-342900" algn="l" rtl="0">
              <a:spcBef>
                <a:spcPts val="0"/>
              </a:spcBef>
              <a:spcAft>
                <a:spcPts val="0"/>
              </a:spcAft>
              <a:buClr>
                <a:schemeClr val="accent3"/>
              </a:buClr>
              <a:buSzPts val="1800"/>
              <a:buFont typeface="Average"/>
              <a:buChar char="❏"/>
            </a:pPr>
            <a:r>
              <a:rPr lang="en-GB" sz="2400" u="sng">
                <a:solidFill>
                  <a:schemeClr val="hlink"/>
                </a:solidFill>
                <a:latin typeface="Average"/>
                <a:ea typeface="Average"/>
                <a:cs typeface="Average"/>
                <a:sym typeface="Average"/>
                <a:hlinkClick r:id="rId2"/>
              </a:rPr>
              <a:t>https://www.businessnewsdaily.com/15960-benchmarking-benefits-small-business.html</a:t>
            </a:r>
            <a:endParaRPr sz="2400">
              <a:solidFill>
                <a:schemeClr val="accent3"/>
              </a:solidFill>
              <a:latin typeface="Average"/>
              <a:ea typeface="Average"/>
              <a:cs typeface="Average"/>
              <a:sym typeface="Average"/>
            </a:endParaRPr>
          </a:p>
          <a:p>
            <a:pPr marL="457200" lvl="0" indent="-342900" algn="l" rtl="0">
              <a:spcBef>
                <a:spcPts val="0"/>
              </a:spcBef>
              <a:spcAft>
                <a:spcPts val="0"/>
              </a:spcAft>
              <a:buClr>
                <a:schemeClr val="accent3"/>
              </a:buClr>
              <a:buSzPts val="1800"/>
              <a:buFont typeface="Average"/>
              <a:buChar char="❏"/>
            </a:pPr>
            <a:r>
              <a:rPr lang="en-GB" sz="2400" u="sng">
                <a:solidFill>
                  <a:schemeClr val="hlink"/>
                </a:solidFill>
                <a:latin typeface="Average"/>
                <a:ea typeface="Average"/>
                <a:cs typeface="Average"/>
                <a:sym typeface="Average"/>
                <a:hlinkClick r:id="rId3"/>
              </a:rPr>
              <a:t>https://www.linkedin.com/advice/1/what-advantages-disadvantages-benchmarking</a:t>
            </a:r>
            <a:endParaRPr sz="2400">
              <a:solidFill>
                <a:schemeClr val="accent3"/>
              </a:solidFill>
              <a:latin typeface="Average"/>
              <a:ea typeface="Average"/>
              <a:cs typeface="Average"/>
              <a:sym typeface="Average"/>
            </a:endParaRPr>
          </a:p>
          <a:p>
            <a:pPr marL="457200" lvl="0" indent="-342900" algn="l" rtl="0">
              <a:spcBef>
                <a:spcPts val="0"/>
              </a:spcBef>
              <a:spcAft>
                <a:spcPts val="0"/>
              </a:spcAft>
              <a:buClr>
                <a:schemeClr val="accent3"/>
              </a:buClr>
              <a:buSzPts val="1800"/>
              <a:buFont typeface="Average"/>
              <a:buChar char="❏"/>
            </a:pPr>
            <a:r>
              <a:rPr lang="en-GB" sz="2400" u="sng">
                <a:solidFill>
                  <a:schemeClr val="hlink"/>
                </a:solidFill>
                <a:latin typeface="Average"/>
                <a:ea typeface="Average"/>
                <a:cs typeface="Average"/>
                <a:sym typeface="Average"/>
                <a:hlinkClick r:id="rId4"/>
              </a:rPr>
              <a:t>https://www.nngroup.com/articles/comparison-tables/</a:t>
            </a:r>
            <a:endParaRPr sz="2400">
              <a:solidFill>
                <a:schemeClr val="accent3"/>
              </a:solidFill>
              <a:latin typeface="Average"/>
              <a:ea typeface="Average"/>
              <a:cs typeface="Average"/>
              <a:sym typeface="Average"/>
            </a:endParaRPr>
          </a:p>
          <a:p>
            <a:pPr marL="457200" lvl="0" indent="-342900" algn="l" rtl="0">
              <a:spcBef>
                <a:spcPts val="0"/>
              </a:spcBef>
              <a:spcAft>
                <a:spcPts val="0"/>
              </a:spcAft>
              <a:buClr>
                <a:schemeClr val="accent3"/>
              </a:buClr>
              <a:buSzPts val="1800"/>
              <a:buFont typeface="Average"/>
              <a:buChar char="❏"/>
            </a:pPr>
            <a:r>
              <a:rPr lang="en-GB" sz="2400" u="sng">
                <a:solidFill>
                  <a:schemeClr val="hlink"/>
                </a:solidFill>
                <a:latin typeface="Average"/>
                <a:ea typeface="Average"/>
                <a:cs typeface="Average"/>
                <a:sym typeface="Average"/>
                <a:hlinkClick r:id="rId5"/>
              </a:rPr>
              <a:t>https://www.lucidchart.com/blog/8-steps-of-the-benchmarking-process</a:t>
            </a:r>
            <a:endParaRPr sz="2400">
              <a:solidFill>
                <a:schemeClr val="accent3"/>
              </a:solidFill>
              <a:latin typeface="Average"/>
              <a:ea typeface="Average"/>
              <a:cs typeface="Average"/>
              <a:sym typeface="Average"/>
            </a:endParaRPr>
          </a:p>
          <a:p>
            <a:pPr marL="457200" lvl="0" indent="-342900" algn="l" rtl="0">
              <a:spcBef>
                <a:spcPts val="0"/>
              </a:spcBef>
              <a:spcAft>
                <a:spcPts val="0"/>
              </a:spcAft>
              <a:buClr>
                <a:schemeClr val="accent3"/>
              </a:buClr>
              <a:buSzPts val="1800"/>
              <a:buFont typeface="Average"/>
              <a:buChar char="❏"/>
            </a:pPr>
            <a:r>
              <a:rPr lang="en-GB" sz="2400" u="sng">
                <a:solidFill>
                  <a:schemeClr val="hlink"/>
                </a:solidFill>
                <a:latin typeface="Average"/>
                <a:ea typeface="Average"/>
                <a:cs typeface="Average"/>
                <a:sym typeface="Average"/>
                <a:hlinkClick r:id="rId6"/>
              </a:rPr>
              <a:t>https://www.techtarget.com/searchcio/definition/gap-analysis</a:t>
            </a:r>
            <a:endParaRPr sz="2400">
              <a:solidFill>
                <a:schemeClr val="accent3"/>
              </a:solidFill>
              <a:latin typeface="Average"/>
              <a:ea typeface="Average"/>
              <a:cs typeface="Average"/>
              <a:sym typeface="Average"/>
            </a:endParaRPr>
          </a:p>
          <a:p>
            <a:pPr marL="457200" lvl="0" indent="-342900" algn="l" rtl="0">
              <a:spcBef>
                <a:spcPts val="0"/>
              </a:spcBef>
              <a:spcAft>
                <a:spcPts val="0"/>
              </a:spcAft>
              <a:buClr>
                <a:schemeClr val="accent3"/>
              </a:buClr>
              <a:buSzPts val="1800"/>
              <a:buFont typeface="Average"/>
              <a:buChar char="❏"/>
            </a:pPr>
            <a:endParaRPr sz="2400">
              <a:solidFill>
                <a:schemeClr val="accent3"/>
              </a:solidFill>
              <a:latin typeface="Average"/>
              <a:ea typeface="Average"/>
              <a:cs typeface="Average"/>
              <a:sym typeface="Average"/>
            </a:endParaRPr>
          </a:p>
        </p:txBody>
      </p:sp>
      <p:sp>
        <p:nvSpPr>
          <p:cNvPr id="1" name="Slide Number Placeholder 0"/>
          <p:cNvSpPr>
            <a:spLocks noGrp="1"/>
          </p:cNvSpPr>
          <p:nvPr>
            <p:ph type="sldNum" idx="12"/>
          </p:nvPr>
        </p:nvSpPr>
        <p:spPr/>
        <p:txBody>
          <a:bodyPr/>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solidFill>
            <a:srgbClr val="FF8000"/>
          </a:solidFill>
          <a:ln>
            <a:solidFill>
              <a:srgbClr val="000000">
                <a:alpha val="0"/>
              </a:srgbClr>
            </a:solidFill>
          </a:ln>
        </p:spPr>
        <p:txBody>
          <a:bodyPr/>
          <a:p>
            <a:r>
              <a:rPr lang="en-US" b="1">
                <a:solidFill>
                  <a:schemeClr val="bg1"/>
                </a:solidFill>
              </a:rPr>
              <a:t>Thank You</a:t>
            </a:r>
            <a:endParaRPr lang="en-US" b="1">
              <a:solidFill>
                <a:schemeClr val="bg1"/>
              </a:solidFill>
            </a:endParaRPr>
          </a:p>
        </p:txBody>
      </p:sp>
      <p:sp>
        <p:nvSpPr>
          <p:cNvPr id="3" name="Slide Number Placeholder 2"/>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tags/tag1.xml><?xml version="1.0" encoding="utf-8"?>
<p:tagLst xmlns:p="http://schemas.openxmlformats.org/presentationml/2006/main">
  <p:tag name="TABLE_ENDDRAG_ORIGIN_RECT" val="928*484"/>
  <p:tag name="TABLE_ENDDRAG_RECT" val="19*19*928*484"/>
</p:tagLst>
</file>

<file path=ppt/tags/tag2.xml><?xml version="1.0" encoding="utf-8"?>
<p:tagLst xmlns:p="http://schemas.openxmlformats.org/presentationml/2006/main">
  <p:tag name="TABLE_ENDDRAG_ORIGIN_RECT" val="841*465"/>
  <p:tag name="TABLE_ENDDRAG_RECT" val="66*24*841*46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20719</Words>
  <Application>WPS Presentation</Application>
  <PresentationFormat>Widescreen</PresentationFormat>
  <Paragraphs>1002</Paragraphs>
  <Slides>69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69</vt:i4>
      </vt:variant>
    </vt:vector>
  </HeadingPairs>
  <TitlesOfParts>
    <vt:vector size="83" baseType="lpstr">
      <vt:lpstr>Arial</vt:lpstr>
      <vt:lpstr>SimSun</vt:lpstr>
      <vt:lpstr>Wingdings</vt:lpstr>
      <vt:lpstr>Calibri</vt:lpstr>
      <vt:lpstr>Arial</vt:lpstr>
      <vt:lpstr>Oswald</vt:lpstr>
      <vt:lpstr>Siyam Rupali</vt:lpstr>
      <vt:lpstr>Average</vt:lpstr>
      <vt:lpstr>Microsoft YaHei</vt:lpstr>
      <vt:lpstr>Arial Unicode MS</vt:lpstr>
      <vt:lpstr>Calibri Light</vt:lpstr>
      <vt:lpstr>Oswald Light</vt:lpstr>
      <vt:lpstr>Tahoma</vt:lpstr>
      <vt:lpstr>Office Theme</vt:lpstr>
      <vt:lpstr>Requirement Gathering &amp; Analysis</vt:lpstr>
      <vt:lpstr>SDLC Steps </vt:lpstr>
      <vt:lpstr>Requirements Gathering &amp; Analysis</vt:lpstr>
      <vt:lpstr>Requirements Gathering &amp; Analysis</vt:lpstr>
      <vt:lpstr>Why do we need this phase?</vt:lpstr>
      <vt:lpstr>Importance of Requirements Analysis</vt:lpstr>
      <vt:lpstr>Types of Requirements</vt:lpstr>
      <vt:lpstr>Good requirement characteristics</vt:lpstr>
      <vt:lpstr>User stories vs Use cases</vt:lpstr>
      <vt:lpstr>Requirement Ambiguity </vt:lpstr>
      <vt:lpstr>Types of Information</vt:lpstr>
      <vt:lpstr>Types of Information</vt:lpstr>
      <vt:lpstr>Types of Information</vt:lpstr>
      <vt:lpstr>Types of Information</vt:lpstr>
      <vt:lpstr>Types of Information</vt:lpstr>
      <vt:lpstr>Roles &amp; Job Responsibilities</vt:lpstr>
      <vt:lpstr>Major Steps of Information Gathering</vt:lpstr>
      <vt:lpstr>Sources of Information</vt:lpstr>
      <vt:lpstr>Categorize the following sources of information</vt:lpstr>
      <vt:lpstr>Categorize the following sources of information</vt:lpstr>
      <vt:lpstr>Information Gathering Tools</vt:lpstr>
      <vt:lpstr>1. Review Documents, Procedures, Forms</vt:lpstr>
      <vt:lpstr>1. Review Documents, Procedures, Forms</vt:lpstr>
      <vt:lpstr>2. On-Site Observation</vt:lpstr>
      <vt:lpstr>2. On-Site Observation</vt:lpstr>
      <vt:lpstr>2. On-Site Observation</vt:lpstr>
      <vt:lpstr>PowerPoint 演示文稿</vt:lpstr>
      <vt:lpstr>3. Interviews</vt:lpstr>
      <vt:lpstr>PowerPoint 演示文稿</vt:lpstr>
      <vt:lpstr>Preparation to Conduct a Good Interview</vt:lpstr>
      <vt:lpstr>Steps to Conduct a Good Interview</vt:lpstr>
      <vt:lpstr>Common Tips To Conduct Interviews</vt:lpstr>
      <vt:lpstr>Sample Tips To Conduct Interviews (Dos and Don’ts)</vt:lpstr>
      <vt:lpstr>Sample Tips To Conduct Interviews</vt:lpstr>
      <vt:lpstr>Sample Guide To Conduct Interviews</vt:lpstr>
      <vt:lpstr>4. Questionnaires</vt:lpstr>
      <vt:lpstr>4. Questionnaires</vt:lpstr>
      <vt:lpstr>Sample Requirement Analysis Survey Questions</vt:lpstr>
      <vt:lpstr>4. Joint Application Development</vt:lpstr>
      <vt:lpstr>PowerPoint 演示文稿</vt:lpstr>
      <vt:lpstr>4. Joint Application Development</vt:lpstr>
      <vt:lpstr>4. Joint Application Development</vt:lpstr>
      <vt:lpstr>5. Online</vt:lpstr>
      <vt:lpstr>5. Online</vt:lpstr>
      <vt:lpstr>Benchmark Study</vt:lpstr>
      <vt:lpstr>Benchmark Study</vt:lpstr>
      <vt:lpstr>Comparison Table</vt:lpstr>
      <vt:lpstr>Comparison Table - Steps To Create</vt:lpstr>
      <vt:lpstr>Comparison Table - When You Don’t Need It</vt:lpstr>
      <vt:lpstr>PowerPoint 演示文稿</vt:lpstr>
      <vt:lpstr>PowerPoint 演示文稿</vt:lpstr>
      <vt:lpstr>PowerPoint 演示文稿</vt:lpstr>
      <vt:lpstr>Online - Benchmark Products</vt:lpstr>
      <vt:lpstr>PowerPoint 演示文稿</vt:lpstr>
      <vt:lpstr>PowerPoint 演示文稿</vt:lpstr>
      <vt:lpstr>PowerPoint 演示文稿</vt:lpstr>
      <vt:lpstr>PowerPoint 演示文稿</vt:lpstr>
      <vt:lpstr>PowerPoint 演示文稿</vt:lpstr>
      <vt:lpstr>PowerPoint 演示文稿</vt:lpstr>
      <vt:lpstr>Understanding Gap Analysis</vt:lpstr>
      <vt:lpstr>Steps in Gap Analysis</vt:lpstr>
      <vt:lpstr>PowerPoint 演示文稿</vt:lpstr>
      <vt:lpstr>PowerPoint 演示文稿</vt:lpstr>
      <vt:lpstr>Feature List Fixation</vt:lpstr>
      <vt:lpstr>Feature List Fixation - Example</vt:lpstr>
      <vt:lpstr>Feature List Fixation - With Respect To Stakeholders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tasmin sanjida</cp:lastModifiedBy>
  <cp:revision>13</cp:revision>
  <dcterms:created xsi:type="dcterms:W3CDTF">2025-07-23T00:59:00Z</dcterms:created>
  <dcterms:modified xsi:type="dcterms:W3CDTF">2025-11-17T17:59:39Z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1033-12.2.0.23155</vt:lpwstr>
  </property>
</Properties>
</file>