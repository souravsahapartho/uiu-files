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Poppins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27A07F-286E-497A-9BE0-F89E836D4F6A}">
  <a:tblStyle styleId="{ED27A07F-286E-497A-9BE0-F89E836D4F6A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PoppinsSemiBold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PoppinsSemiBold-italic.fntdata"/><Relationship Id="rId23" Type="http://schemas.openxmlformats.org/officeDocument/2006/relationships/font" Target="fonts/Poppi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Poppi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41ab44bba_4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41ab44bba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11" Type="http://schemas.openxmlformats.org/officeDocument/2006/relationships/image" Target="../media/image14.png"/><Relationship Id="rId10" Type="http://schemas.openxmlformats.org/officeDocument/2006/relationships/image" Target="../media/image19.png"/><Relationship Id="rId12" Type="http://schemas.openxmlformats.org/officeDocument/2006/relationships/image" Target="../media/image20.png"/><Relationship Id="rId9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9473" y="3737194"/>
            <a:ext cx="4639400" cy="59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373350" y="1932734"/>
            <a:ext cx="7445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SaveABite</a:t>
            </a:r>
            <a:endParaRPr sz="1900"/>
          </a:p>
        </p:txBody>
      </p:sp>
      <p:sp>
        <p:nvSpPr>
          <p:cNvPr id="87" name="Google Shape;87;p13"/>
          <p:cNvSpPr txBox="1"/>
          <p:nvPr/>
        </p:nvSpPr>
        <p:spPr>
          <a:xfrm>
            <a:off x="2550616" y="3001857"/>
            <a:ext cx="709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Feasibility Analysis </a:t>
            </a:r>
            <a:endParaRPr b="1" sz="2100"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4851" y="9688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947049" y="3897790"/>
            <a:ext cx="445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CSE 3412: System Analysis &amp; Design Lab</a:t>
            </a:r>
            <a:endParaRPr sz="1800"/>
          </a:p>
        </p:txBody>
      </p:sp>
      <p:sp>
        <p:nvSpPr>
          <p:cNvPr id="90" name="Google Shape;90;p13"/>
          <p:cNvSpPr txBox="1"/>
          <p:nvPr/>
        </p:nvSpPr>
        <p:spPr>
          <a:xfrm>
            <a:off x="1718925" y="4713775"/>
            <a:ext cx="39960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Safyal Muznabin Ratul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Sumaiya Sadika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Saptarshi Biswas Supty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123825" y="4625174"/>
            <a:ext cx="44583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Sourav Saha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Urbashi Biswas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2375" y="1783571"/>
            <a:ext cx="3609525" cy="360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67922" y="2496839"/>
            <a:ext cx="2187425" cy="21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Survey Attendee Statistics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2212627"/>
            <a:ext cx="490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Total Respondents:</a:t>
            </a:r>
            <a:r>
              <a:rPr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2660302"/>
            <a:ext cx="490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Method:</a:t>
            </a:r>
            <a:r>
              <a:rPr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Online Google Form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3107977"/>
            <a:ext cx="49053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Primary Demographic:</a:t>
            </a:r>
            <a:r>
              <a:rPr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rgbClr val="65A30D"/>
                </a:solidFill>
                <a:latin typeface="Calibri"/>
                <a:ea typeface="Calibri"/>
                <a:cs typeface="Calibri"/>
                <a:sym typeface="Calibri"/>
              </a:rPr>
              <a:t>90% Students, 10% Rest</a:t>
            </a:r>
            <a:r>
              <a:rPr b="1" lang="en-US" sz="2000">
                <a:solidFill>
                  <a:srgbClr val="65A30D"/>
                </a:solidFill>
                <a:latin typeface="Calibri"/>
                <a:ea typeface="Calibri"/>
                <a:cs typeface="Calibri"/>
                <a:sym typeface="Calibri"/>
              </a:rPr>
              <a:t>aurant Owners and Corporate workers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4328614"/>
            <a:ext cx="5421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Device Usage:</a:t>
            </a:r>
            <a:r>
              <a:rPr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rgbClr val="65A30D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r>
              <a:rPr b="1" i="0" lang="en-US" sz="2000" u="none" cap="none" strike="noStrike">
                <a:solidFill>
                  <a:srgbClr val="65A30D"/>
                </a:solidFill>
                <a:latin typeface="Calibri"/>
                <a:ea typeface="Calibri"/>
                <a:cs typeface="Calibri"/>
                <a:sym typeface="Calibri"/>
              </a:rPr>
              <a:t>% Mobile</a:t>
            </a:r>
            <a:r>
              <a:rPr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(Android/iOS)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8988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5528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7886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2358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003620" y="5791675"/>
            <a:ext cx="102243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Target Audience validated: Students are the primary volunteer force.</a:t>
            </a:r>
            <a:endParaRPr i="1" sz="2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12611" y="283546"/>
            <a:ext cx="12994474" cy="66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Survey Results: Key Insights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2287002" y="1600503"/>
            <a:ext cx="78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identified 3 critical </a:t>
            </a:r>
            <a:r>
              <a:rPr b="1" lang="en-US" sz="2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feasibility barriers</a:t>
            </a:r>
            <a:r>
              <a:rPr b="1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from the</a:t>
            </a:r>
            <a:r>
              <a:rPr b="1" lang="en-US" sz="2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endParaRPr b="1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80188"/>
            <a:ext cx="5429250" cy="1853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1880200"/>
            <a:ext cx="5429250" cy="185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42025"/>
            <a:ext cx="5429250" cy="207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3924300"/>
            <a:ext cx="5429250" cy="207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Comprehensive Feasibility Analysis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71575" y="2191061"/>
            <a:ext cx="482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66775" y="2587124"/>
            <a:ext cx="48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Requirement: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Geo-location &amp; </a:t>
            </a:r>
            <a:r>
              <a:rPr lang="en-US" sz="1500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real-time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updates.</a:t>
            </a:r>
            <a:endParaRPr sz="1500"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2901788"/>
            <a:ext cx="4896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Data Support: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69% of users are on </a:t>
            </a:r>
            <a:r>
              <a:rPr lang="en-US" sz="1500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smartphones. 76% are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willing to enable </a:t>
            </a:r>
            <a:r>
              <a:rPr lang="en-US" sz="1500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location services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for rescues.</a:t>
            </a:r>
            <a:endParaRPr sz="1500"/>
          </a:p>
        </p:txBody>
      </p:sp>
      <p:sp>
        <p:nvSpPr>
          <p:cNvPr id="133" name="Google Shape;133;p16"/>
          <p:cNvSpPr txBox="1"/>
          <p:nvPr/>
        </p:nvSpPr>
        <p:spPr>
          <a:xfrm>
            <a:off x="6791325" y="2208782"/>
            <a:ext cx="482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468804" y="2587124"/>
            <a:ext cx="48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Requirement: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Sustainable Logistics Funding.</a:t>
            </a:r>
            <a:endParaRPr sz="1500"/>
          </a:p>
        </p:txBody>
      </p:sp>
      <p:sp>
        <p:nvSpPr>
          <p:cNvPr id="135" name="Google Shape;135;p16"/>
          <p:cNvSpPr txBox="1"/>
          <p:nvPr/>
        </p:nvSpPr>
        <p:spPr>
          <a:xfrm>
            <a:off x="6468804" y="2901800"/>
            <a:ext cx="5262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Data Support: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72% of users are willing to pay micro-donations (e.g., 50 BDT) to sponsor volunteer rickshaw fares.</a:t>
            </a:r>
            <a:endParaRPr sz="1500"/>
          </a:p>
        </p:txBody>
      </p:sp>
      <p:sp>
        <p:nvSpPr>
          <p:cNvPr id="136" name="Google Shape;136;p16"/>
          <p:cNvSpPr txBox="1"/>
          <p:nvPr/>
        </p:nvSpPr>
        <p:spPr>
          <a:xfrm>
            <a:off x="1228725" y="4197867"/>
            <a:ext cx="476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Legal/Safety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66775" y="4576209"/>
            <a:ext cx="48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Requirement: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Trust &amp; Food Safety.</a:t>
            </a:r>
            <a:endParaRPr sz="1500"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4908593"/>
            <a:ext cx="48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Data Support: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52% only trust "</a:t>
            </a:r>
            <a:r>
              <a:rPr lang="en-US" sz="1500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known sources."</a:t>
            </a:r>
            <a:endParaRPr sz="1500"/>
          </a:p>
        </p:txBody>
      </p:sp>
      <p:sp>
        <p:nvSpPr>
          <p:cNvPr id="139" name="Google Shape;139;p16"/>
          <p:cNvSpPr txBox="1"/>
          <p:nvPr/>
        </p:nvSpPr>
        <p:spPr>
          <a:xfrm>
            <a:off x="6762750" y="4197867"/>
            <a:ext cx="485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486525" y="4576209"/>
            <a:ext cx="48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Requirement: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Volunteer Availability.</a:t>
            </a:r>
            <a:endParaRPr sz="1500"/>
          </a:p>
        </p:txBody>
      </p:sp>
      <p:sp>
        <p:nvSpPr>
          <p:cNvPr id="141" name="Google Shape;141;p16"/>
          <p:cNvSpPr txBox="1"/>
          <p:nvPr/>
        </p:nvSpPr>
        <p:spPr>
          <a:xfrm>
            <a:off x="6486525" y="4908593"/>
            <a:ext cx="48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Data Support: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"Lack of time" </a:t>
            </a:r>
            <a:r>
              <a:rPr lang="en-US" sz="1500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is the</a:t>
            </a:r>
            <a:r>
              <a:rPr b="0" i="0" lang="en-US" sz="1500" u="none" cap="none" strike="noStrike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#1 barrier.</a:t>
            </a:r>
            <a:endParaRPr sz="1500"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210111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9375" y="2180080"/>
            <a:ext cx="1093250" cy="336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22783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67864" y="2197800"/>
            <a:ext cx="914511" cy="33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421691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69375" y="4228590"/>
            <a:ext cx="1093250" cy="286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86525" y="421691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89114" y="4238334"/>
            <a:ext cx="1093261" cy="2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779725" y="5142218"/>
            <a:ext cx="39696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Mitigation:</a:t>
            </a:r>
            <a:r>
              <a:rPr lang="en-US" sz="1500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Mandatory "Hygiene Ratings" (requested by 13 users).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379525" y="5159945"/>
            <a:ext cx="476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Solution:</a:t>
            </a:r>
            <a:r>
              <a:rPr lang="en-US" sz="1500">
                <a:solidFill>
                  <a:srgbClr val="52525B"/>
                </a:solidFill>
                <a:latin typeface="Lato"/>
                <a:ea typeface="Lato"/>
                <a:cs typeface="Lato"/>
                <a:sym typeface="Lato"/>
              </a:rPr>
              <a:t> Hyper-local (&lt; 2 km) matches to reduce task time.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3525"/>
            <a:ext cx="5238750" cy="486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33537"/>
            <a:ext cx="52387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Feasibility: Feature Selection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962025" y="2062162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Selected Features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772275" y="2100637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Discarded Features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0621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295400" y="2614612"/>
            <a:ext cx="41244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Hygiene Ratings: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Essential for the 52% of users who are skeptical about safety.</a:t>
            </a:r>
            <a:endParaRPr sz="1800"/>
          </a:p>
        </p:txBody>
      </p:sp>
      <p:sp>
        <p:nvSpPr>
          <p:cNvPr id="165" name="Google Shape;165;p17"/>
          <p:cNvSpPr txBox="1"/>
          <p:nvPr/>
        </p:nvSpPr>
        <p:spPr>
          <a:xfrm>
            <a:off x="1295400" y="3471630"/>
            <a:ext cx="41244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Expiry Timers: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Critical to address the "Fear of Liability" donor barrier.</a:t>
            </a:r>
            <a:endParaRPr sz="1800"/>
          </a:p>
        </p:txBody>
      </p:sp>
      <p:sp>
        <p:nvSpPr>
          <p:cNvPr id="166" name="Google Shape;166;p17"/>
          <p:cNvSpPr txBox="1"/>
          <p:nvPr/>
        </p:nvSpPr>
        <p:spPr>
          <a:xfrm>
            <a:off x="1295400" y="4307739"/>
            <a:ext cx="41244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Rickshaw Fare Fund:</a:t>
            </a:r>
            <a:r>
              <a:rPr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Validated by 72% willingness to pay.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295400" y="5164757"/>
            <a:ext cx="4124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Masked In-App Chat:</a:t>
            </a:r>
            <a:r>
              <a:rPr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Rated "Mandatory" by student volunteers for privacy.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09925" y="21097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6772275" y="2614612"/>
            <a:ext cx="4457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Impact Statistics (CO2):</a:t>
            </a:r>
            <a:br>
              <a:rPr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Reason: Only 2 votes. Users care about personal rewards (CV/Vouchers).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772275" y="3624262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772275" y="3860296"/>
            <a:ext cx="4457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Complex Verification Badges:</a:t>
            </a:r>
            <a:br>
              <a:rPr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Reason: Low interest (1 vote). Users prefer </a:t>
            </a:r>
            <a:r>
              <a:rPr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peer-ratings</a:t>
            </a:r>
            <a:r>
              <a:rPr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over static badges.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72" name="Google Shape;17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267733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53435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37046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522748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/>
          <p:nvPr/>
        </p:nvSpPr>
        <p:spPr>
          <a:xfrm>
            <a:off x="6772275" y="3624262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15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SWOT Analysis &amp; Strategy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71500" y="1352550"/>
            <a:ext cx="11049000" cy="1920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8"/>
          <p:cNvGraphicFramePr/>
          <p:nvPr/>
        </p:nvGraphicFramePr>
        <p:xfrm>
          <a:off x="571500" y="18203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{ED27A07F-286E-497A-9BE0-F89E836D4F6A}</a:tableStyleId>
              </a:tblPr>
              <a:tblGrid>
                <a:gridCol w="5524500"/>
                <a:gridCol w="5524500"/>
              </a:tblGrid>
              <a:tr h="155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</a:tr>
              <a:tr h="155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18"/>
          <p:cNvSpPr/>
          <p:nvPr/>
        </p:nvSpPr>
        <p:spPr>
          <a:xfrm>
            <a:off x="571500" y="3362325"/>
            <a:ext cx="552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6096000" y="3362325"/>
            <a:ext cx="552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857250" y="2049025"/>
            <a:ext cx="50598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Strengths (Internal)</a:t>
            </a:r>
            <a:endParaRPr b="1" sz="2300">
              <a:solidFill>
                <a:srgbClr val="1580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student volunteer-based (90%)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Community willingness to fund logistics (72%)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328350" y="3533541"/>
            <a:ext cx="52923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Threats</a:t>
            </a:r>
            <a:r>
              <a:rPr b="1" lang="en-US" sz="23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 (External)</a:t>
            </a:r>
            <a:endParaRPr b="1" sz="2300">
              <a:solidFill>
                <a:srgbClr val="1580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Food safety incidents (Liability)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Competitor platforms (though they lack logistics).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328350" y="2008900"/>
            <a:ext cx="50598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Weakness</a:t>
            </a:r>
            <a:r>
              <a:rPr b="1" lang="en-US" sz="23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 (Internal)</a:t>
            </a:r>
            <a:endParaRPr b="1" sz="2300">
              <a:solidFill>
                <a:srgbClr val="1580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Volunteer time constraints (Exams)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Privacy concerns (24% hesitant on location).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803850" y="3560541"/>
            <a:ext cx="52923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Opportunities</a:t>
            </a:r>
            <a:r>
              <a:rPr b="1" lang="en-US" sz="23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 (External)</a:t>
            </a:r>
            <a:endParaRPr b="1" sz="2300">
              <a:solidFill>
                <a:srgbClr val="1580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demand for Discount Vouchers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Gap in market for “Transport-included” donation.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564516" y="5268958"/>
            <a:ext cx="11049000" cy="8154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highlight>
                  <a:srgbClr val="14532D"/>
                </a:highlight>
              </a:rPr>
              <a:t>Final Strategy:</a:t>
            </a:r>
            <a:r>
              <a:rPr lang="en-US" sz="1800">
                <a:solidFill>
                  <a:schemeClr val="lt1"/>
                </a:solidFill>
                <a:highlight>
                  <a:srgbClr val="14532D"/>
                </a:highlight>
              </a:rPr>
              <a:t> “Focus on a hyper-local mobile app to solve the Time Barrier, using mandatory </a:t>
            </a:r>
            <a:r>
              <a:rPr lang="en-US" sz="1800">
                <a:solidFill>
                  <a:schemeClr val="lt1"/>
                </a:solidFill>
                <a:highlight>
                  <a:srgbClr val="14532D"/>
                </a:highlight>
              </a:rPr>
              <a:t>hygiene</a:t>
            </a:r>
            <a:r>
              <a:rPr lang="en-US" sz="1800">
                <a:solidFill>
                  <a:schemeClr val="lt1"/>
                </a:solidFill>
                <a:highlight>
                  <a:srgbClr val="14532D"/>
                </a:highlight>
              </a:rPr>
              <a:t> </a:t>
            </a:r>
            <a:r>
              <a:rPr lang="en-US" sz="1800">
                <a:solidFill>
                  <a:schemeClr val="lt1"/>
                </a:solidFill>
                <a:highlight>
                  <a:srgbClr val="14532D"/>
                </a:highlight>
              </a:rPr>
              <a:t>ratings to solve the Trust Threat, and gamification (CV/Vouchers) to maintain student engagement.”</a:t>
            </a:r>
            <a:endParaRPr sz="1800">
              <a:solidFill>
                <a:schemeClr val="lt1"/>
              </a:solidFill>
              <a:highlight>
                <a:srgbClr val="14532D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3515359" y="1798125"/>
            <a:ext cx="5036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Thank </a:t>
            </a:r>
            <a:r>
              <a:rPr b="1" i="0" lang="en-US" sz="64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You</a:t>
            </a:r>
            <a:endParaRPr sz="3000"/>
          </a:p>
        </p:txBody>
      </p:sp>
      <p:sp>
        <p:nvSpPr>
          <p:cNvPr id="198" name="Google Shape;198;p19"/>
          <p:cNvSpPr txBox="1"/>
          <p:nvPr/>
        </p:nvSpPr>
        <p:spPr>
          <a:xfrm>
            <a:off x="4438151" y="3641700"/>
            <a:ext cx="340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