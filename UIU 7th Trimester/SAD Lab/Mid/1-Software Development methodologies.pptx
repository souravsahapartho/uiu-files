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12192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iq6XJDMFqSAjVQufRMN+TMCd+X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7"/>
          <p:cNvSpPr txBox="1"/>
          <p:nvPr>
            <p:ph type="title"/>
          </p:nvPr>
        </p:nvSpPr>
        <p:spPr>
          <a:xfrm>
            <a:off x="724835" y="417137"/>
            <a:ext cx="8062595" cy="7569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>
                <a:solidFill>
                  <a:srgbClr val="EBEBEB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" type="body"/>
          </p:nvPr>
        </p:nvSpPr>
        <p:spPr>
          <a:xfrm>
            <a:off x="803664" y="1711598"/>
            <a:ext cx="8211184" cy="3715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"/>
          <p:cNvSpPr txBox="1"/>
          <p:nvPr>
            <p:ph type="title"/>
          </p:nvPr>
        </p:nvSpPr>
        <p:spPr>
          <a:xfrm>
            <a:off x="724835" y="417137"/>
            <a:ext cx="8062595" cy="7569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>
                <a:solidFill>
                  <a:srgbClr val="EBEBEB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9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/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>
                <a:solidFill>
                  <a:srgbClr val="EBEBEB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0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0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/>
          <p:nvPr>
            <p:ph type="title"/>
          </p:nvPr>
        </p:nvSpPr>
        <p:spPr>
          <a:xfrm>
            <a:off x="724835" y="417137"/>
            <a:ext cx="8062595" cy="7569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>
                <a:solidFill>
                  <a:srgbClr val="EBEBEB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1"/>
          <p:cNvSpPr txBox="1"/>
          <p:nvPr>
            <p:ph idx="2" type="body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1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1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1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.xml"/><Relationship Id="rId10" Type="http://schemas.openxmlformats.org/officeDocument/2006/relationships/slideLayout" Target="../slideLayouts/slideLayout3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5.xml"/><Relationship Id="rId1" Type="http://schemas.openxmlformats.org/officeDocument/2006/relationships/image" Target="../media/image6.jpg"/><Relationship Id="rId2" Type="http://schemas.openxmlformats.org/officeDocument/2006/relationships/image" Target="../media/image1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image" Target="../media/image7.png"/><Relationship Id="rId8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669692"/>
            <a:ext cx="4035666" cy="4188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892348"/>
            <a:ext cx="1522411" cy="236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09010" y="1676400"/>
            <a:ext cx="2819400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99410" y="0"/>
            <a:ext cx="1603386" cy="11414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09012" y="6096000"/>
            <a:ext cx="993732" cy="76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98252" y="0"/>
            <a:ext cx="765047" cy="1208532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6"/>
          <p:cNvSpPr/>
          <p:nvPr/>
        </p:nvSpPr>
        <p:spPr>
          <a:xfrm>
            <a:off x="10437812" y="0"/>
            <a:ext cx="685800" cy="1143000"/>
          </a:xfrm>
          <a:custGeom>
            <a:rect b="b" l="l" r="r" t="t"/>
            <a:pathLst>
              <a:path extrusionOk="0" h="1143000" w="685800">
                <a:moveTo>
                  <a:pt x="685800" y="0"/>
                </a:moveTo>
                <a:lnTo>
                  <a:pt x="0" y="0"/>
                </a:lnTo>
                <a:lnTo>
                  <a:pt x="0" y="1143000"/>
                </a:lnTo>
                <a:lnTo>
                  <a:pt x="685800" y="1143000"/>
                </a:lnTo>
                <a:lnTo>
                  <a:pt x="685800" y="0"/>
                </a:lnTo>
                <a:close/>
              </a:path>
            </a:pathLst>
          </a:custGeom>
          <a:solidFill>
            <a:srgbClr val="B3116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" name="Google Shape;14;p16"/>
          <p:cNvSpPr txBox="1"/>
          <p:nvPr>
            <p:ph type="title"/>
          </p:nvPr>
        </p:nvSpPr>
        <p:spPr>
          <a:xfrm>
            <a:off x="724835" y="417137"/>
            <a:ext cx="8062595" cy="7569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EBEBEB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" name="Google Shape;15;p16"/>
          <p:cNvSpPr txBox="1"/>
          <p:nvPr>
            <p:ph idx="1" type="body"/>
          </p:nvPr>
        </p:nvSpPr>
        <p:spPr>
          <a:xfrm>
            <a:off x="803664" y="1711598"/>
            <a:ext cx="8211184" cy="3715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16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16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" name="Google Shape;18;p16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8"/>
    <p:sldLayoutId id="2147483650" r:id="rId9"/>
    <p:sldLayoutId id="2147483651" r:id="rId10"/>
    <p:sldLayoutId id="2147483652" r:id="rId11"/>
    <p:sldLayoutId id="214748365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"/>
          <p:cNvSpPr txBox="1"/>
          <p:nvPr>
            <p:ph type="title"/>
          </p:nvPr>
        </p:nvSpPr>
        <p:spPr>
          <a:xfrm>
            <a:off x="1206965" y="1576300"/>
            <a:ext cx="6859800" cy="11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/>
              <a:t>CSE 3412</a:t>
            </a:r>
            <a:endParaRPr sz="7200"/>
          </a:p>
        </p:txBody>
      </p:sp>
      <p:sp>
        <p:nvSpPr>
          <p:cNvPr id="52" name="Google Shape;52;p1"/>
          <p:cNvSpPr txBox="1"/>
          <p:nvPr/>
        </p:nvSpPr>
        <p:spPr>
          <a:xfrm>
            <a:off x="1206971" y="2713200"/>
            <a:ext cx="7094700" cy="28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EBEBEB"/>
                </a:solidFill>
                <a:latin typeface="Trebuchet MS"/>
                <a:ea typeface="Trebuchet MS"/>
                <a:cs typeface="Trebuchet MS"/>
                <a:sym typeface="Trebuchet MS"/>
              </a:rPr>
              <a:t>S</a:t>
            </a:r>
            <a:r>
              <a:rPr b="1" lang="en-US" sz="4400">
                <a:solidFill>
                  <a:srgbClr val="EBEBEB"/>
                </a:solidFill>
                <a:latin typeface="Trebuchet MS"/>
                <a:ea typeface="Trebuchet MS"/>
                <a:cs typeface="Trebuchet MS"/>
                <a:sym typeface="Trebuchet MS"/>
              </a:rPr>
              <a:t>oftware Development Methodologies</a:t>
            </a:r>
            <a:endParaRPr sz="4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67310" marR="3398520" rtl="0" algn="l">
              <a:lnSpc>
                <a:spcPct val="100000"/>
              </a:lnSpc>
              <a:spcBef>
                <a:spcPts val="3229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ED52A3"/>
                </a:solidFill>
                <a:latin typeface="Trebuchet MS"/>
                <a:ea typeface="Trebuchet MS"/>
                <a:cs typeface="Trebuchet MS"/>
                <a:sym typeface="Trebuchet MS"/>
              </a:rPr>
              <a:t>Sidratul Muntaha</a:t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67310" marR="324485" rtl="0" algn="l">
              <a:lnSpc>
                <a:spcPct val="14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ED52A3"/>
                </a:solidFill>
                <a:latin typeface="Trebuchet MS"/>
                <a:ea typeface="Trebuchet MS"/>
                <a:cs typeface="Trebuchet MS"/>
                <a:sym typeface="Trebuchet MS"/>
              </a:rPr>
              <a:t>LECTURER, DEPT. OF CSE, UIU </a:t>
            </a:r>
            <a:endParaRPr b="1" sz="2000">
              <a:solidFill>
                <a:srgbClr val="ED52A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67310" marR="324485" rtl="0" algn="l">
              <a:lnSpc>
                <a:spcPct val="14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ED52A3"/>
                </a:solidFill>
                <a:latin typeface="Trebuchet MS"/>
                <a:ea typeface="Trebuchet MS"/>
                <a:cs typeface="Trebuchet MS"/>
                <a:sym typeface="Trebuchet MS"/>
              </a:rPr>
              <a:t>ACKNOWLEDGED: SAMIN SHARAF SOMIK</a:t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>
            <p:ph type="title"/>
          </p:nvPr>
        </p:nvSpPr>
        <p:spPr>
          <a:xfrm>
            <a:off x="1240073" y="2981350"/>
            <a:ext cx="8387100" cy="13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651000" lvl="0" marL="1663064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/>
              <a:t>What is Software Development Methodologies?</a:t>
            </a:r>
            <a:endParaRPr sz="420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"/>
          <p:cNvSpPr txBox="1"/>
          <p:nvPr>
            <p:ph type="title"/>
          </p:nvPr>
        </p:nvSpPr>
        <p:spPr>
          <a:xfrm>
            <a:off x="1208748" y="2589450"/>
            <a:ext cx="8899800" cy="13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731520" lvl="0" marL="74358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/>
              <a:t>A structured management of the workflow during a project</a:t>
            </a:r>
            <a:endParaRPr sz="420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"/>
          <p:cNvSpPr txBox="1"/>
          <p:nvPr>
            <p:ph type="title"/>
          </p:nvPr>
        </p:nvSpPr>
        <p:spPr>
          <a:xfrm>
            <a:off x="2735218" y="2589461"/>
            <a:ext cx="7216140" cy="1305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9525" lvl="0" marL="2159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/>
              <a:t>Ways of Implementing Software Development Life-Cycle (SDLC)</a:t>
            </a:r>
            <a:endParaRPr sz="420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2095" y="504535"/>
            <a:ext cx="9220837" cy="58131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27049"/>
            <a:ext cx="12191998" cy="52038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/>
          <p:nvPr>
            <p:ph type="title"/>
          </p:nvPr>
        </p:nvSpPr>
        <p:spPr>
          <a:xfrm>
            <a:off x="724835" y="417137"/>
            <a:ext cx="8062595" cy="7569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/>
              <a:t>Planning</a:t>
            </a:r>
            <a:endParaRPr sz="4200"/>
          </a:p>
        </p:txBody>
      </p:sp>
      <p:sp>
        <p:nvSpPr>
          <p:cNvPr id="83" name="Google Shape;83;p7"/>
          <p:cNvSpPr txBox="1"/>
          <p:nvPr/>
        </p:nvSpPr>
        <p:spPr>
          <a:xfrm>
            <a:off x="857572" y="1643170"/>
            <a:ext cx="3185795" cy="2666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52A3"/>
              </a:buClr>
              <a:buSzPts val="2200"/>
              <a:buFont typeface="Tahoma"/>
              <a:buChar char="►"/>
            </a:pP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Defining Scope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2110"/>
              </a:spcBef>
              <a:spcAft>
                <a:spcPts val="0"/>
              </a:spcAft>
              <a:buClr>
                <a:srgbClr val="ED52A3"/>
              </a:buClr>
              <a:buSzPts val="2800"/>
              <a:buFont typeface="Tahoma"/>
              <a:buNone/>
            </a:pPr>
            <a:r>
              <a:t/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52A3"/>
              </a:buClr>
              <a:buSzPts val="2200"/>
              <a:buFont typeface="Tahoma"/>
              <a:buChar char="►"/>
            </a:pP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Feasibility Analysis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ED52A3"/>
              </a:buClr>
              <a:buSzPts val="2800"/>
              <a:buFont typeface="Tahoma"/>
              <a:buNone/>
            </a:pPr>
            <a:r>
              <a:t/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ED52A3"/>
              </a:buClr>
              <a:buSzPts val="2200"/>
              <a:buFont typeface="Tahoma"/>
              <a:buChar char="►"/>
            </a:pP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Benchmark Study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"/>
          <p:cNvSpPr txBox="1"/>
          <p:nvPr>
            <p:ph type="title"/>
          </p:nvPr>
        </p:nvSpPr>
        <p:spPr>
          <a:xfrm>
            <a:off x="724835" y="417137"/>
            <a:ext cx="8062595" cy="7569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Requirement Analysis</a:t>
            </a:r>
            <a:endParaRPr/>
          </a:p>
        </p:txBody>
      </p:sp>
      <p:sp>
        <p:nvSpPr>
          <p:cNvPr id="89" name="Google Shape;89;p8"/>
          <p:cNvSpPr txBox="1"/>
          <p:nvPr/>
        </p:nvSpPr>
        <p:spPr>
          <a:xfrm>
            <a:off x="1182037" y="1885690"/>
            <a:ext cx="4652645" cy="2887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72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52A3"/>
              </a:buClr>
              <a:buSzPts val="2200"/>
              <a:buFont typeface="Tahoma"/>
              <a:buChar char="►"/>
            </a:pPr>
            <a:r>
              <a:rPr b="1" lang="en-US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Analyzing the Resources:</a:t>
            </a:r>
            <a:endParaRPr sz="32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27964" lvl="1" marL="1155065" rtl="0" algn="l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Clr>
                <a:srgbClr val="ED52A3"/>
              </a:buClr>
              <a:buSzPts val="1900"/>
              <a:buFont typeface="Arial"/>
              <a:buChar char="-"/>
            </a:pP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Hardware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27964" lvl="1" marL="1155065" rtl="0" algn="l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Clr>
                <a:srgbClr val="ED52A3"/>
              </a:buClr>
              <a:buSzPts val="1900"/>
              <a:buFont typeface="Arial"/>
              <a:buChar char="-"/>
            </a:pP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Software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27964" lvl="1" marL="1155065" rtl="0" algn="l">
              <a:lnSpc>
                <a:spcPct val="100000"/>
              </a:lnSpc>
              <a:spcBef>
                <a:spcPts val="994"/>
              </a:spcBef>
              <a:spcAft>
                <a:spcPts val="0"/>
              </a:spcAft>
              <a:buClr>
                <a:srgbClr val="ED52A3"/>
              </a:buClr>
              <a:buSzPts val="1900"/>
              <a:buFont typeface="Arial"/>
              <a:buChar char="-"/>
            </a:pP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Skilled People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27964" lvl="1" marL="1155065" rtl="0" algn="l">
              <a:lnSpc>
                <a:spcPct val="100000"/>
              </a:lnSpc>
              <a:spcBef>
                <a:spcPts val="994"/>
              </a:spcBef>
              <a:spcAft>
                <a:spcPts val="0"/>
              </a:spcAft>
              <a:buClr>
                <a:srgbClr val="ED52A3"/>
              </a:buClr>
              <a:buSzPts val="1900"/>
              <a:buFont typeface="Arial"/>
              <a:buChar char="-"/>
            </a:pP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Time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9"/>
          <p:cNvSpPr txBox="1"/>
          <p:nvPr>
            <p:ph type="title"/>
          </p:nvPr>
        </p:nvSpPr>
        <p:spPr>
          <a:xfrm>
            <a:off x="724835" y="417137"/>
            <a:ext cx="8062595" cy="7569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Designing &amp; Prototyping</a:t>
            </a:r>
            <a:endParaRPr/>
          </a:p>
        </p:txBody>
      </p:sp>
      <p:sp>
        <p:nvSpPr>
          <p:cNvPr id="95" name="Google Shape;95;p9"/>
          <p:cNvSpPr txBox="1"/>
          <p:nvPr/>
        </p:nvSpPr>
        <p:spPr>
          <a:xfrm>
            <a:off x="1182037" y="1911267"/>
            <a:ext cx="7550784" cy="3532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032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52A3"/>
              </a:buClr>
              <a:buSzPts val="2200"/>
              <a:buFont typeface="Tahoma"/>
              <a:buChar char="►"/>
            </a:pPr>
            <a:r>
              <a:rPr b="1" lang="en-US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Visual Representation of the project :</a:t>
            </a:r>
            <a:endParaRPr sz="32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927100" rtl="0" algn="l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- Wireframe Modeling</a:t>
            </a:r>
            <a:endParaRPr sz="32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2115"/>
              </a:spcBef>
              <a:spcAft>
                <a:spcPts val="0"/>
              </a:spcAft>
              <a:buNone/>
            </a:pPr>
            <a:r>
              <a:t/>
            </a:r>
            <a:endParaRPr sz="32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52A3"/>
              </a:buClr>
              <a:buSzPts val="2200"/>
              <a:buFont typeface="Tahoma"/>
              <a:buChar char="►"/>
            </a:pPr>
            <a:r>
              <a:rPr b="1" lang="en-US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Prototype: A prototype is an early sample, model, or release of a product</a:t>
            </a:r>
            <a:endParaRPr sz="32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- Manual/ Digital Prototyping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"/>
          <p:cNvSpPr txBox="1"/>
          <p:nvPr>
            <p:ph type="title"/>
          </p:nvPr>
        </p:nvSpPr>
        <p:spPr>
          <a:xfrm>
            <a:off x="724835" y="417137"/>
            <a:ext cx="8062595" cy="7569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Development/ Implementation</a:t>
            </a:r>
            <a:endParaRPr sz="4800"/>
          </a:p>
        </p:txBody>
      </p:sp>
      <p:pic>
        <p:nvPicPr>
          <p:cNvPr id="101" name="Google Shape;10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66041" y="1853248"/>
            <a:ext cx="3949496" cy="3949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1"/>
          <p:cNvSpPr txBox="1"/>
          <p:nvPr>
            <p:ph type="title"/>
          </p:nvPr>
        </p:nvSpPr>
        <p:spPr>
          <a:xfrm>
            <a:off x="724835" y="417137"/>
            <a:ext cx="8062595" cy="7569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Testing</a:t>
            </a:r>
            <a:endParaRPr sz="4800"/>
          </a:p>
        </p:txBody>
      </p:sp>
      <p:pic>
        <p:nvPicPr>
          <p:cNvPr id="107" name="Google Shape;10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21889" y="2267191"/>
            <a:ext cx="5414324" cy="30455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2"/>
          <p:cNvSpPr txBox="1"/>
          <p:nvPr>
            <p:ph type="title"/>
          </p:nvPr>
        </p:nvSpPr>
        <p:spPr>
          <a:xfrm>
            <a:off x="724835" y="417137"/>
            <a:ext cx="8062595" cy="7569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Deployment/ Release</a:t>
            </a:r>
            <a:endParaRPr sz="4800"/>
          </a:p>
        </p:txBody>
      </p:sp>
      <p:pic>
        <p:nvPicPr>
          <p:cNvPr id="113" name="Google Shape;11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95942" y="2389771"/>
            <a:ext cx="5422531" cy="3124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32493" y="1666218"/>
            <a:ext cx="6343027" cy="4356209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3"/>
          <p:cNvSpPr txBox="1"/>
          <p:nvPr>
            <p:ph type="title"/>
          </p:nvPr>
        </p:nvSpPr>
        <p:spPr>
          <a:xfrm>
            <a:off x="724835" y="417137"/>
            <a:ext cx="8062595" cy="7569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Maintenance</a:t>
            </a:r>
            <a:endParaRPr sz="4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4"/>
          <p:cNvSpPr txBox="1"/>
          <p:nvPr>
            <p:ph type="title"/>
          </p:nvPr>
        </p:nvSpPr>
        <p:spPr>
          <a:xfrm>
            <a:off x="724835" y="417137"/>
            <a:ext cx="8062595" cy="7569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Maintenance</a:t>
            </a:r>
            <a:endParaRPr/>
          </a:p>
        </p:txBody>
      </p:sp>
      <p:sp>
        <p:nvSpPr>
          <p:cNvPr id="125" name="Google Shape;125;p14"/>
          <p:cNvSpPr txBox="1"/>
          <p:nvPr>
            <p:ph idx="1" type="body"/>
          </p:nvPr>
        </p:nvSpPr>
        <p:spPr>
          <a:xfrm>
            <a:off x="803664" y="1711598"/>
            <a:ext cx="8211184" cy="3715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032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52A3"/>
              </a:buClr>
              <a:buSzPts val="2200"/>
              <a:buFont typeface="Tahoma"/>
              <a:buChar char="►"/>
            </a:pPr>
            <a:r>
              <a:rPr lang="en-US"/>
              <a:t>Post-release bug fixing</a:t>
            </a:r>
            <a:endParaRPr/>
          </a:p>
          <a:p>
            <a:pPr indent="-342265" lvl="0" marL="354965" rtl="0" algn="l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Clr>
                <a:srgbClr val="ED52A3"/>
              </a:buClr>
              <a:buSzPts val="2200"/>
              <a:buFont typeface="Tahoma"/>
              <a:buChar char="►"/>
            </a:pPr>
            <a:r>
              <a:rPr lang="en-US"/>
              <a:t>Check for optimization &amp; improvement scope</a:t>
            </a:r>
            <a:endParaRPr/>
          </a:p>
          <a:p>
            <a:pPr indent="-342265" lvl="0" marL="354965" rtl="0" algn="l">
              <a:lnSpc>
                <a:spcPct val="100000"/>
              </a:lnSpc>
              <a:spcBef>
                <a:spcPts val="994"/>
              </a:spcBef>
              <a:spcAft>
                <a:spcPts val="0"/>
              </a:spcAft>
              <a:buClr>
                <a:srgbClr val="ED52A3"/>
              </a:buClr>
              <a:buSzPts val="2200"/>
              <a:buFont typeface="Tahoma"/>
              <a:buChar char="►"/>
            </a:pPr>
            <a:r>
              <a:rPr lang="en-US"/>
              <a:t>Deletion of outdated features/ data</a:t>
            </a:r>
            <a:endParaRPr/>
          </a:p>
          <a:p>
            <a:pPr indent="-342265" lvl="0" marL="354965" rtl="0" algn="l">
              <a:lnSpc>
                <a:spcPct val="100000"/>
              </a:lnSpc>
              <a:spcBef>
                <a:spcPts val="994"/>
              </a:spcBef>
              <a:spcAft>
                <a:spcPts val="0"/>
              </a:spcAft>
              <a:buClr>
                <a:srgbClr val="ED52A3"/>
              </a:buClr>
              <a:buSzPts val="2200"/>
              <a:buFont typeface="Tahoma"/>
              <a:buChar char="►"/>
            </a:pPr>
            <a:r>
              <a:rPr lang="en-US"/>
              <a:t>Enhancement of existing features</a:t>
            </a:r>
            <a:endParaRPr/>
          </a:p>
          <a:p>
            <a:pPr indent="-342265" lvl="0" marL="354965" rtl="0" algn="l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Clr>
                <a:srgbClr val="ED52A3"/>
              </a:buClr>
              <a:buSzPts val="2200"/>
              <a:buFont typeface="Tahoma"/>
              <a:buChar char="►"/>
            </a:pPr>
            <a:r>
              <a:rPr lang="en-US"/>
              <a:t>Migration</a:t>
            </a:r>
            <a:endParaRPr/>
          </a:p>
          <a:p>
            <a:pPr indent="-342265" lvl="0" marL="354965" rtl="0" algn="l">
              <a:lnSpc>
                <a:spcPct val="100000"/>
              </a:lnSpc>
              <a:spcBef>
                <a:spcPts val="994"/>
              </a:spcBef>
              <a:spcAft>
                <a:spcPts val="0"/>
              </a:spcAft>
              <a:buClr>
                <a:srgbClr val="ED52A3"/>
              </a:buClr>
              <a:buSzPts val="2200"/>
              <a:buFont typeface="Tahoma"/>
              <a:buChar char="►"/>
            </a:pPr>
            <a:r>
              <a:rPr lang="en-US"/>
              <a:t>Release newer versions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 txBox="1"/>
          <p:nvPr>
            <p:ph type="title"/>
          </p:nvPr>
        </p:nvSpPr>
        <p:spPr>
          <a:xfrm>
            <a:off x="2727557" y="2981350"/>
            <a:ext cx="40848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/>
              <a:t>Thank You</a:t>
            </a:r>
            <a:endParaRPr sz="420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2025-07-20T16:47:46Z</dcterms:created>
  <dc:creator>1505045 - Md. Rafi-Ur-Rashid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2024-01-27T00:00:00Z</vt:filetime>
  </property>
  <property fmtid="{D5CDD505-2E9C-101B-9397-08002B2CF9AE}" pid="3" name="Creator">
    <vt:lpwstr>Acrobat PDFMaker 20 for PowerPoint</vt:lpwstr>
  </property>
  <property fmtid="{D5CDD505-2E9C-101B-9397-08002B2CF9AE}" pid="4" name="LastSaved">
    <vt:filetime>2025-07-20T00:00:00Z</vt:filetime>
  </property>
  <property fmtid="{D5CDD505-2E9C-101B-9397-08002B2CF9AE}" pid="5" name="Producer">
    <vt:lpwstr>Adobe PDF Library 20.6.74</vt:lpwstr>
  </property>
</Properties>
</file>