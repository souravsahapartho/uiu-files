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9144000" cy="6858000"/>
  <p:embeddedFontLst>
    <p:embeddedFont>
      <p:font typeface="Century Gothic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h1zMU55mN9/q9ncKXa4192sbMS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1236" y="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934634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EE52A4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1"/>
          </p:nvPr>
        </p:nvSpPr>
        <p:spPr>
          <a:xfrm>
            <a:off x="827700" y="2060576"/>
            <a:ext cx="3298113" cy="419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19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2"/>
          </p:nvPr>
        </p:nvSpPr>
        <p:spPr>
          <a:xfrm>
            <a:off x="4241975" y="2056093"/>
            <a:ext cx="3298115" cy="420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19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2"/>
          </p:nvPr>
        </p:nvSpPr>
        <p:spPr>
          <a:xfrm>
            <a:off x="827700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19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3"/>
          </p:nvPr>
        </p:nvSpPr>
        <p:spPr>
          <a:xfrm>
            <a:off x="4241976" y="1905000"/>
            <a:ext cx="32981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4"/>
          </p:nvPr>
        </p:nvSpPr>
        <p:spPr>
          <a:xfrm>
            <a:off x="4241976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19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body" idx="1"/>
          </p:nvPr>
        </p:nvSpPr>
        <p:spPr>
          <a:xfrm>
            <a:off x="3589397" y="1447800"/>
            <a:ext cx="389801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0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marL="1371600" lvl="2" indent="-30988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marL="1828800" lvl="3" indent="-299719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marL="2286000" lvl="4" indent="-29972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marL="2743200" lvl="5" indent="-29972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marL="3200400" lvl="6" indent="-29972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marL="3657600" lvl="7" indent="-29972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marL="4114800" lvl="8" indent="-29972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body" idx="2"/>
          </p:nvPr>
        </p:nvSpPr>
        <p:spPr>
          <a:xfrm>
            <a:off x="866442" y="3129281"/>
            <a:ext cx="2551461" cy="2895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4"/>
          <p:cNvSpPr txBox="1"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4"/>
          <p:cNvSpPr>
            <a:spLocks noGrp="1"/>
          </p:cNvSpPr>
          <p:nvPr>
            <p:ph type="pic" idx="2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>
            <a:off x="866441" y="3657600"/>
            <a:ext cx="381472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>
            <a:spLocks noGrp="1"/>
          </p:cNvSpPr>
          <p:nvPr>
            <p:ph type="pic" idx="2"/>
          </p:nvPr>
        </p:nvSpPr>
        <p:spPr>
          <a:xfrm>
            <a:off x="866442" y="685800"/>
            <a:ext cx="6620968" cy="3640667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77" name="Google Shape;77;p25"/>
          <p:cNvSpPr txBox="1">
            <a:spLocks noGrp="1"/>
          </p:cNvSpPr>
          <p:nvPr>
            <p:ph type="body" idx="1"/>
          </p:nvPr>
        </p:nvSpPr>
        <p:spPr>
          <a:xfrm>
            <a:off x="866443" y="5367325"/>
            <a:ext cx="662096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6"/>
          <p:cNvSpPr txBox="1"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body" idx="1"/>
          </p:nvPr>
        </p:nvSpPr>
        <p:spPr>
          <a:xfrm>
            <a:off x="866442" y="3657600"/>
            <a:ext cx="6620968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6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1181408" y="1447800"/>
            <a:ext cx="6001049" cy="232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1448177" y="3771174"/>
            <a:ext cx="5461159" cy="342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 b="0" i="0" cap="small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866442" y="4350657"/>
            <a:ext cx="6620968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27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0" b="0" i="0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27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0" b="0" i="0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8"/>
          <p:cNvSpPr txBox="1"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8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body" idx="2"/>
          </p:nvPr>
        </p:nvSpPr>
        <p:spPr>
          <a:xfrm>
            <a:off x="489475" y="2667000"/>
            <a:ext cx="2196084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body" idx="3"/>
          </p:nvPr>
        </p:nvSpPr>
        <p:spPr>
          <a:xfrm>
            <a:off x="2913504" y="1981200"/>
            <a:ext cx="220275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body" idx="4"/>
          </p:nvPr>
        </p:nvSpPr>
        <p:spPr>
          <a:xfrm>
            <a:off x="2905586" y="2667000"/>
            <a:ext cx="2210671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08" name="Google Shape;108;p29"/>
          <p:cNvSpPr txBox="1">
            <a:spLocks noGrp="1"/>
          </p:cNvSpPr>
          <p:nvPr>
            <p:ph type="body" idx="5"/>
          </p:nvPr>
        </p:nvSpPr>
        <p:spPr>
          <a:xfrm>
            <a:off x="5344917" y="1981200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29"/>
          <p:cNvSpPr txBox="1">
            <a:spLocks noGrp="1"/>
          </p:cNvSpPr>
          <p:nvPr>
            <p:ph type="body" idx="6"/>
          </p:nvPr>
        </p:nvSpPr>
        <p:spPr>
          <a:xfrm>
            <a:off x="5344917" y="2667000"/>
            <a:ext cx="2199658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110" name="Google Shape;110;p29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" name="Google Shape;111;p29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29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9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9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0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0"/>
          <p:cNvSpPr txBox="1"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0"/>
          <p:cNvSpPr>
            <a:spLocks noGrp="1"/>
          </p:cNvSpPr>
          <p:nvPr>
            <p:ph type="pic" idx="2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19" name="Google Shape;119;p30"/>
          <p:cNvSpPr txBox="1">
            <a:spLocks noGrp="1"/>
          </p:cNvSpPr>
          <p:nvPr>
            <p:ph type="body" idx="3"/>
          </p:nvPr>
        </p:nvSpPr>
        <p:spPr>
          <a:xfrm>
            <a:off x="489475" y="4827212"/>
            <a:ext cx="2205612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20" name="Google Shape;120;p30"/>
          <p:cNvSpPr txBox="1">
            <a:spLocks noGrp="1"/>
          </p:cNvSpPr>
          <p:nvPr>
            <p:ph type="body" idx="4"/>
          </p:nvPr>
        </p:nvSpPr>
        <p:spPr>
          <a:xfrm>
            <a:off x="2917792" y="4250949"/>
            <a:ext cx="2198466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21" name="Google Shape;121;p30"/>
          <p:cNvSpPr>
            <a:spLocks noGrp="1"/>
          </p:cNvSpPr>
          <p:nvPr>
            <p:ph type="pic" idx="5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22" name="Google Shape;122;p30"/>
          <p:cNvSpPr txBox="1">
            <a:spLocks noGrp="1"/>
          </p:cNvSpPr>
          <p:nvPr>
            <p:ph type="body" idx="6"/>
          </p:nvPr>
        </p:nvSpPr>
        <p:spPr>
          <a:xfrm>
            <a:off x="2916776" y="4827211"/>
            <a:ext cx="2201378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30"/>
          <p:cNvSpPr txBox="1">
            <a:spLocks noGrp="1"/>
          </p:cNvSpPr>
          <p:nvPr>
            <p:ph type="body" idx="7"/>
          </p:nvPr>
        </p:nvSpPr>
        <p:spPr>
          <a:xfrm>
            <a:off x="5344917" y="4250949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30"/>
          <p:cNvSpPr>
            <a:spLocks noGrp="1"/>
          </p:cNvSpPr>
          <p:nvPr>
            <p:ph type="pic" idx="8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25" name="Google Shape;125;p30"/>
          <p:cNvSpPr txBox="1">
            <a:spLocks noGrp="1"/>
          </p:cNvSpPr>
          <p:nvPr>
            <p:ph type="body" idx="9"/>
          </p:nvPr>
        </p:nvSpPr>
        <p:spPr>
          <a:xfrm>
            <a:off x="5344824" y="4827209"/>
            <a:ext cx="2202571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126" name="Google Shape;126;p30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" name="Google Shape;127;p30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" name="Google Shape;128;p30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0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0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1"/>
          <p:cNvSpPr txBox="1">
            <a:spLocks noGrp="1"/>
          </p:cNvSpPr>
          <p:nvPr>
            <p:ph type="body" idx="1"/>
          </p:nvPr>
        </p:nvSpPr>
        <p:spPr>
          <a:xfrm rot="5400000">
            <a:off x="2085787" y="794839"/>
            <a:ext cx="4195481" cy="671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4" name="Google Shape;134;p31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1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1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2"/>
          <p:cNvSpPr txBox="1">
            <a:spLocks noGrp="1"/>
          </p:cNvSpPr>
          <p:nvPr>
            <p:ph type="title"/>
          </p:nvPr>
        </p:nvSpPr>
        <p:spPr>
          <a:xfrm rot="5400000">
            <a:off x="3974116" y="2685880"/>
            <a:ext cx="5826125" cy="131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2"/>
          <p:cNvSpPr txBox="1">
            <a:spLocks noGrp="1"/>
          </p:cNvSpPr>
          <p:nvPr>
            <p:ph type="body" idx="1"/>
          </p:nvPr>
        </p:nvSpPr>
        <p:spPr>
          <a:xfrm rot="5400000">
            <a:off x="532314" y="730366"/>
            <a:ext cx="5483134" cy="5568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40" name="Google Shape;140;p32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2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2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>
            <a:gsLst>
              <a:gs pos="0">
                <a:srgbClr val="9B6BF2">
                  <a:alpha val="6666"/>
                </a:srgbClr>
              </a:gs>
              <a:gs pos="36000">
                <a:srgbClr val="9B6BF2">
                  <a:alpha val="5882"/>
                </a:srgbClr>
              </a:gs>
              <a:gs pos="69000">
                <a:srgbClr val="9B6BF2">
                  <a:alpha val="0"/>
                </a:srgbClr>
              </a:gs>
              <a:gs pos="100000">
                <a:srgbClr val="9B6BF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5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>
            <a:gsLst>
              <a:gs pos="0">
                <a:srgbClr val="9B6BF2">
                  <a:alpha val="13725"/>
                </a:srgbClr>
              </a:gs>
              <a:gs pos="36000">
                <a:srgbClr val="9B6BF2">
                  <a:alpha val="6666"/>
                </a:srgbClr>
              </a:gs>
              <a:gs pos="73000">
                <a:srgbClr val="9B6BF2">
                  <a:alpha val="0"/>
                </a:srgbClr>
              </a:gs>
              <a:gs pos="100000">
                <a:srgbClr val="9B6BF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5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>
            <a:gsLst>
              <a:gs pos="0">
                <a:srgbClr val="9B6BF2">
                  <a:alpha val="13725"/>
                </a:srgbClr>
              </a:gs>
              <a:gs pos="36000">
                <a:srgbClr val="9B6BF2">
                  <a:alpha val="6666"/>
                </a:srgbClr>
              </a:gs>
              <a:gs pos="66000">
                <a:srgbClr val="9B6BF2">
                  <a:alpha val="0"/>
                </a:srgbClr>
              </a:gs>
              <a:gs pos="100000">
                <a:srgbClr val="9B6BF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5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>
            <a:gsLst>
              <a:gs pos="0">
                <a:srgbClr val="9B6BF2">
                  <a:alpha val="10980"/>
                </a:srgbClr>
              </a:gs>
              <a:gs pos="36000">
                <a:srgbClr val="9B6BF2">
                  <a:alpha val="9803"/>
                </a:srgbClr>
              </a:gs>
              <a:gs pos="75000">
                <a:srgbClr val="9B6BF2">
                  <a:alpha val="0"/>
                </a:srgbClr>
              </a:gs>
              <a:gs pos="100000">
                <a:srgbClr val="9B6BF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15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>
            <a:gsLst>
              <a:gs pos="0">
                <a:srgbClr val="9B6BF2">
                  <a:alpha val="7843"/>
                </a:srgbClr>
              </a:gs>
              <a:gs pos="36000">
                <a:srgbClr val="9B6BF2">
                  <a:alpha val="7843"/>
                </a:srgbClr>
              </a:gs>
              <a:gs pos="72000">
                <a:srgbClr val="9B6BF2">
                  <a:alpha val="0"/>
                </a:srgbClr>
              </a:gs>
              <a:gs pos="100000">
                <a:srgbClr val="9B6BF2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0200" algn="l" rtl="0">
              <a:spcBef>
                <a:spcPts val="1000"/>
              </a:spcBef>
              <a:spcAft>
                <a:spcPts val="0"/>
              </a:spcAft>
              <a:buClr>
                <a:srgbClr val="EE52A4"/>
              </a:buClr>
              <a:buSzPts val="1600"/>
              <a:buFont typeface="Noto Sans Symbols"/>
              <a:buChar char="►"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20040" algn="l" rtl="0">
              <a:spcBef>
                <a:spcPts val="1000"/>
              </a:spcBef>
              <a:spcAft>
                <a:spcPts val="0"/>
              </a:spcAft>
              <a:buClr>
                <a:srgbClr val="EE52A4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09880" algn="l" rtl="0">
              <a:spcBef>
                <a:spcPts val="1000"/>
              </a:spcBef>
              <a:spcAft>
                <a:spcPts val="0"/>
              </a:spcAft>
              <a:buClr>
                <a:srgbClr val="EE52A4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99719" algn="l" rtl="0">
              <a:spcBef>
                <a:spcPts val="1000"/>
              </a:spcBef>
              <a:spcAft>
                <a:spcPts val="0"/>
              </a:spcAft>
              <a:buClr>
                <a:srgbClr val="EE52A4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99720" algn="l" rtl="0">
              <a:spcBef>
                <a:spcPts val="1000"/>
              </a:spcBef>
              <a:spcAft>
                <a:spcPts val="0"/>
              </a:spcAft>
              <a:buClr>
                <a:srgbClr val="EE52A4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99720" algn="l" rtl="0">
              <a:spcBef>
                <a:spcPts val="1000"/>
              </a:spcBef>
              <a:spcAft>
                <a:spcPts val="0"/>
              </a:spcAft>
              <a:buClr>
                <a:srgbClr val="EE52A4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99720" algn="l" rtl="0">
              <a:spcBef>
                <a:spcPts val="1000"/>
              </a:spcBef>
              <a:spcAft>
                <a:spcPts val="0"/>
              </a:spcAft>
              <a:buClr>
                <a:srgbClr val="EE52A4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99720" algn="l" rtl="0">
              <a:spcBef>
                <a:spcPts val="1000"/>
              </a:spcBef>
              <a:spcAft>
                <a:spcPts val="0"/>
              </a:spcAft>
              <a:buClr>
                <a:srgbClr val="EE52A4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99720" algn="l" rtl="0">
              <a:spcBef>
                <a:spcPts val="1000"/>
              </a:spcBef>
              <a:spcAft>
                <a:spcPts val="0"/>
              </a:spcAft>
              <a:buClr>
                <a:srgbClr val="EE52A4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1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spcBef>
                <a:spcPts val="0"/>
              </a:spcBef>
              <a:buNone/>
              <a:defRPr sz="2801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spcBef>
                <a:spcPts val="0"/>
              </a:spcBef>
              <a:buNone/>
              <a:defRPr sz="2801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spcBef>
                <a:spcPts val="0"/>
              </a:spcBef>
              <a:buNone/>
              <a:defRPr sz="2801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spcBef>
                <a:spcPts val="0"/>
              </a:spcBef>
              <a:buNone/>
              <a:defRPr sz="2801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spcBef>
                <a:spcPts val="0"/>
              </a:spcBef>
              <a:buNone/>
              <a:defRPr sz="2801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spcBef>
                <a:spcPts val="0"/>
              </a:spcBef>
              <a:buNone/>
              <a:defRPr sz="2801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spcBef>
                <a:spcPts val="0"/>
              </a:spcBef>
              <a:buNone/>
              <a:defRPr sz="2801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spcBef>
                <a:spcPts val="0"/>
              </a:spcBef>
              <a:buNone/>
              <a:defRPr sz="2801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>
            <a:spLocks noGrp="1"/>
          </p:cNvSpPr>
          <p:nvPr>
            <p:ph type="ctrTitle"/>
          </p:nvPr>
        </p:nvSpPr>
        <p:spPr>
          <a:xfrm>
            <a:off x="838200" y="2133600"/>
            <a:ext cx="6619244" cy="1897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</a:pPr>
            <a:r>
              <a:rPr lang="en-US"/>
              <a:t>CSE 3412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 sz="4050"/>
              <a:t>Project Proposal &amp;</a:t>
            </a:r>
            <a:br>
              <a:rPr lang="en-US" sz="4050"/>
            </a:br>
            <a:r>
              <a:rPr lang="en-US" sz="4050"/>
              <a:t>Benchmark Study</a:t>
            </a:r>
            <a:endParaRPr/>
          </a:p>
        </p:txBody>
      </p:sp>
      <p:sp>
        <p:nvSpPr>
          <p:cNvPr id="148" name="Google Shape;148;p1"/>
          <p:cNvSpPr txBox="1">
            <a:spLocks noGrp="1"/>
          </p:cNvSpPr>
          <p:nvPr>
            <p:ph type="subTitle" idx="1"/>
          </p:nvPr>
        </p:nvSpPr>
        <p:spPr>
          <a:xfrm>
            <a:off x="866216" y="4161453"/>
            <a:ext cx="6971498" cy="201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b="1" dirty="0" err="1" smtClean="0"/>
              <a:t>Sidratul</a:t>
            </a:r>
            <a:r>
              <a:rPr lang="en-GB" b="1" dirty="0" smtClean="0"/>
              <a:t> </a:t>
            </a:r>
            <a:r>
              <a:rPr lang="en-GB" b="1" dirty="0" err="1" smtClean="0"/>
              <a:t>Muntaha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b="1" dirty="0"/>
              <a:t>LECTURER, DEPT. OF CSE, UIU</a:t>
            </a:r>
          </a:p>
          <a:p>
            <a:pPr marL="0" indent="0"/>
            <a:r>
              <a:rPr lang="en-US" b="1" dirty="0"/>
              <a:t>ACKNOWLEDGED: SAMIN SHARAF SOMIK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/>
          <p:nvPr/>
        </p:nvSpPr>
        <p:spPr>
          <a:xfrm>
            <a:off x="685800" y="1676400"/>
            <a:ext cx="7772400" cy="379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139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are required to present a project proposal from each group on the next lab. It must have the following sections.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12800" marR="0" lvl="0" indent="-342900" algn="l" rtl="0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short description of your project.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128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Motivation (Why do you want to build </a:t>
            </a: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</a:t>
            </a: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project?)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12800" marR="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Benchmark study (Discussion on existing similar systems and their </a:t>
            </a:r>
            <a:r>
              <a:rPr lang="en-US" sz="1800" b="0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limitations</a:t>
            </a: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128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Scope and Features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128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Tools/Languages/APIs/Frameworks/Programs to be used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Make each section comprehensive to get better marks.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-76200" y="609600"/>
            <a:ext cx="6781056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 sz="3600" b="1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Content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 txBox="1"/>
          <p:nvPr/>
        </p:nvSpPr>
        <p:spPr>
          <a:xfrm>
            <a:off x="762000" y="1600200"/>
            <a:ext cx="7066280" cy="2875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Two members from each group will give the presentation.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other members will answer questions.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Duration of each presentation will be 5 minute. Each of the two  members will get equal amount of time (2.5min +2.5min).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preferred language of the presentation will be English.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Each group member needs to attend the class to get marks.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 not just read out the slide</a:t>
            </a: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-76200" y="446163"/>
            <a:ext cx="6781056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 sz="3600" b="1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</a:t>
            </a:r>
            <a:endParaRPr/>
          </a:p>
        </p:txBody>
      </p:sp>
      <p:sp>
        <p:nvSpPr>
          <p:cNvPr id="161" name="Google Shape;161;p3"/>
          <p:cNvSpPr txBox="1"/>
          <p:nvPr/>
        </p:nvSpPr>
        <p:spPr>
          <a:xfrm>
            <a:off x="-1555" y="477265"/>
            <a:ext cx="6781056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 sz="3600" b="1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Do’s and Don’ts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4"/>
          <p:cNvGrpSpPr/>
          <p:nvPr/>
        </p:nvGrpSpPr>
        <p:grpSpPr>
          <a:xfrm>
            <a:off x="741172" y="2040382"/>
            <a:ext cx="7661275" cy="2776855"/>
            <a:chOff x="713231" y="1095755"/>
            <a:chExt cx="7661275" cy="2776855"/>
          </a:xfrm>
        </p:grpSpPr>
        <p:sp>
          <p:nvSpPr>
            <p:cNvPr id="167" name="Google Shape;167;p4"/>
            <p:cNvSpPr/>
            <p:nvPr/>
          </p:nvSpPr>
          <p:spPr>
            <a:xfrm>
              <a:off x="1027351" y="1273301"/>
              <a:ext cx="6933854" cy="259461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713231" y="1095755"/>
              <a:ext cx="7661275" cy="2776855"/>
            </a:xfrm>
            <a:custGeom>
              <a:avLst/>
              <a:gdLst/>
              <a:ahLst/>
              <a:cxnLst/>
              <a:rect l="l" t="t" r="r" b="b"/>
              <a:pathLst>
                <a:path w="7661275" h="2776854" extrusionOk="0">
                  <a:moveTo>
                    <a:pt x="0" y="2776728"/>
                  </a:moveTo>
                  <a:lnTo>
                    <a:pt x="7661148" y="2776728"/>
                  </a:lnTo>
                  <a:lnTo>
                    <a:pt x="7661148" y="0"/>
                  </a:lnTo>
                  <a:lnTo>
                    <a:pt x="0" y="0"/>
                  </a:lnTo>
                  <a:lnTo>
                    <a:pt x="0" y="2776728"/>
                  </a:lnTo>
                  <a:close/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69" name="Google Shape;169;p4"/>
          <p:cNvSpPr txBox="1"/>
          <p:nvPr/>
        </p:nvSpPr>
        <p:spPr>
          <a:xfrm>
            <a:off x="-152400" y="395490"/>
            <a:ext cx="6781056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 sz="3600" b="1" i="0" u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Short Description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5"/>
          <p:cNvGrpSpPr/>
          <p:nvPr/>
        </p:nvGrpSpPr>
        <p:grpSpPr>
          <a:xfrm>
            <a:off x="766572" y="1985772"/>
            <a:ext cx="7469505" cy="3145790"/>
            <a:chOff x="755903" y="1234439"/>
            <a:chExt cx="7469505" cy="3145790"/>
          </a:xfrm>
        </p:grpSpPr>
        <p:sp>
          <p:nvSpPr>
            <p:cNvPr id="175" name="Google Shape;175;p5"/>
            <p:cNvSpPr/>
            <p:nvPr/>
          </p:nvSpPr>
          <p:spPr>
            <a:xfrm>
              <a:off x="870722" y="1435036"/>
              <a:ext cx="6884250" cy="294036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755903" y="1234439"/>
              <a:ext cx="7469505" cy="3145790"/>
            </a:xfrm>
            <a:custGeom>
              <a:avLst/>
              <a:gdLst/>
              <a:ahLst/>
              <a:cxnLst/>
              <a:rect l="l" t="t" r="r" b="b"/>
              <a:pathLst>
                <a:path w="7469505" h="3145790" extrusionOk="0">
                  <a:moveTo>
                    <a:pt x="0" y="3145536"/>
                  </a:moveTo>
                  <a:lnTo>
                    <a:pt x="7469124" y="3145536"/>
                  </a:lnTo>
                  <a:lnTo>
                    <a:pt x="7469124" y="0"/>
                  </a:lnTo>
                  <a:lnTo>
                    <a:pt x="0" y="0"/>
                  </a:lnTo>
                  <a:lnTo>
                    <a:pt x="0" y="3145536"/>
                  </a:lnTo>
                  <a:close/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77" name="Google Shape;177;p5"/>
          <p:cNvSpPr txBox="1"/>
          <p:nvPr/>
        </p:nvSpPr>
        <p:spPr>
          <a:xfrm>
            <a:off x="-76200" y="609600"/>
            <a:ext cx="6781056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 sz="3600" b="1" i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Motivation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6"/>
          <p:cNvGrpSpPr/>
          <p:nvPr/>
        </p:nvGrpSpPr>
        <p:grpSpPr>
          <a:xfrm>
            <a:off x="1909444" y="1223568"/>
            <a:ext cx="5270749" cy="5330206"/>
            <a:chOff x="1757172" y="973835"/>
            <a:chExt cx="5422900" cy="5579745"/>
          </a:xfrm>
        </p:grpSpPr>
        <p:sp>
          <p:nvSpPr>
            <p:cNvPr id="183" name="Google Shape;183;p6"/>
            <p:cNvSpPr/>
            <p:nvPr/>
          </p:nvSpPr>
          <p:spPr>
            <a:xfrm>
              <a:off x="1920135" y="1090184"/>
              <a:ext cx="5254856" cy="545844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1757172" y="973835"/>
              <a:ext cx="5422900" cy="5579745"/>
            </a:xfrm>
            <a:custGeom>
              <a:avLst/>
              <a:gdLst/>
              <a:ahLst/>
              <a:cxnLst/>
              <a:rect l="l" t="t" r="r" b="b"/>
              <a:pathLst>
                <a:path w="5422900" h="5579745" extrusionOk="0">
                  <a:moveTo>
                    <a:pt x="0" y="5579364"/>
                  </a:moveTo>
                  <a:lnTo>
                    <a:pt x="5422391" y="5579364"/>
                  </a:lnTo>
                  <a:lnTo>
                    <a:pt x="5422391" y="0"/>
                  </a:lnTo>
                  <a:lnTo>
                    <a:pt x="0" y="0"/>
                  </a:lnTo>
                  <a:lnTo>
                    <a:pt x="0" y="5579364"/>
                  </a:lnTo>
                  <a:close/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85" name="Google Shape;185;p6"/>
          <p:cNvSpPr txBox="1"/>
          <p:nvPr/>
        </p:nvSpPr>
        <p:spPr>
          <a:xfrm>
            <a:off x="-152400" y="307530"/>
            <a:ext cx="6781056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 sz="3600" b="1" i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Scope &amp; Features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7"/>
          <p:cNvGrpSpPr/>
          <p:nvPr/>
        </p:nvGrpSpPr>
        <p:grpSpPr>
          <a:xfrm>
            <a:off x="2214084" y="1451904"/>
            <a:ext cx="4633560" cy="4166065"/>
            <a:chOff x="1901951" y="976883"/>
            <a:chExt cx="4945380" cy="4640580"/>
          </a:xfrm>
        </p:grpSpPr>
        <p:sp>
          <p:nvSpPr>
            <p:cNvPr id="191" name="Google Shape;191;p7"/>
            <p:cNvSpPr/>
            <p:nvPr/>
          </p:nvSpPr>
          <p:spPr>
            <a:xfrm>
              <a:off x="2170670" y="1105291"/>
              <a:ext cx="4366670" cy="45076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1901951" y="976883"/>
              <a:ext cx="4945380" cy="4640580"/>
            </a:xfrm>
            <a:custGeom>
              <a:avLst/>
              <a:gdLst/>
              <a:ahLst/>
              <a:cxnLst/>
              <a:rect l="l" t="t" r="r" b="b"/>
              <a:pathLst>
                <a:path w="4945380" h="4640580" extrusionOk="0">
                  <a:moveTo>
                    <a:pt x="0" y="4640580"/>
                  </a:moveTo>
                  <a:lnTo>
                    <a:pt x="4945380" y="4640580"/>
                  </a:lnTo>
                  <a:lnTo>
                    <a:pt x="4945380" y="0"/>
                  </a:lnTo>
                  <a:lnTo>
                    <a:pt x="0" y="0"/>
                  </a:lnTo>
                  <a:lnTo>
                    <a:pt x="0" y="4640580"/>
                  </a:lnTo>
                  <a:close/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93" name="Google Shape;193;p7"/>
          <p:cNvSpPr txBox="1"/>
          <p:nvPr/>
        </p:nvSpPr>
        <p:spPr>
          <a:xfrm>
            <a:off x="402437" y="6012586"/>
            <a:ext cx="8411210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Prototyping tools such as Pencil (https://pencil.evolus.vn/) can be used.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-152400" y="307530"/>
            <a:ext cx="6781056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 sz="3600" b="1" i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Scope &amp; Features (Bonus)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8"/>
          <p:cNvGrpSpPr/>
          <p:nvPr/>
        </p:nvGrpSpPr>
        <p:grpSpPr>
          <a:xfrm>
            <a:off x="821435" y="1271016"/>
            <a:ext cx="7420609" cy="1543304"/>
            <a:chOff x="821435" y="1271016"/>
            <a:chExt cx="7420609" cy="1590040"/>
          </a:xfrm>
        </p:grpSpPr>
        <p:sp>
          <p:nvSpPr>
            <p:cNvPr id="200" name="Google Shape;200;p8"/>
            <p:cNvSpPr/>
            <p:nvPr/>
          </p:nvSpPr>
          <p:spPr>
            <a:xfrm>
              <a:off x="1063546" y="1489475"/>
              <a:ext cx="6544195" cy="13665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821435" y="1271016"/>
              <a:ext cx="7420609" cy="1590040"/>
            </a:xfrm>
            <a:custGeom>
              <a:avLst/>
              <a:gdLst/>
              <a:ahLst/>
              <a:cxnLst/>
              <a:rect l="l" t="t" r="r" b="b"/>
              <a:pathLst>
                <a:path w="7420609" h="1590039" extrusionOk="0">
                  <a:moveTo>
                    <a:pt x="0" y="1589531"/>
                  </a:moveTo>
                  <a:lnTo>
                    <a:pt x="7420356" y="1589531"/>
                  </a:lnTo>
                  <a:lnTo>
                    <a:pt x="7420356" y="0"/>
                  </a:lnTo>
                  <a:lnTo>
                    <a:pt x="0" y="0"/>
                  </a:lnTo>
                  <a:lnTo>
                    <a:pt x="0" y="1589531"/>
                  </a:lnTo>
                  <a:close/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02" name="Google Shape;202;p8"/>
          <p:cNvSpPr txBox="1"/>
          <p:nvPr/>
        </p:nvSpPr>
        <p:spPr>
          <a:xfrm>
            <a:off x="-152400" y="307530"/>
            <a:ext cx="6781056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 sz="3600" b="1" i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Tools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057400" y="2971800"/>
            <a:ext cx="6007189" cy="105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 b="1"/>
              <a:t>Benchmark Analysis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/>
          <p:nvPr/>
        </p:nvSpPr>
        <p:spPr>
          <a:xfrm>
            <a:off x="402437" y="988898"/>
            <a:ext cx="8061959" cy="1502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Your task is to create a presentation comparing </a:t>
            </a:r>
            <a:r>
              <a:rPr lang="en-US" sz="2000" i="1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20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number of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popular  information systems (Softwares/Services) </a:t>
            </a:r>
            <a:r>
              <a:rPr lang="en-US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against your project </a:t>
            </a: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the same  market.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162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Where, </a:t>
            </a:r>
            <a:r>
              <a:rPr lang="en-US" sz="20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0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number of team members in your group</a:t>
            </a:r>
            <a:endParaRPr sz="20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9090" cy="167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None/>
            </a:pPr>
            <a:r>
              <a:rPr lang="en-US" sz="1800"/>
              <a:t>Note down what features are offered in each of the other softwares/services,  and what features you are offering in a chart. The chart should have not less  than </a:t>
            </a:r>
            <a:r>
              <a:rPr lang="en-US" sz="1800">
                <a:solidFill>
                  <a:srgbClr val="FF0000"/>
                </a:solidFill>
              </a:rPr>
              <a:t>2n features for comparison </a:t>
            </a:r>
            <a:r>
              <a:rPr lang="en-US" sz="1800"/>
              <a:t>(where n = number of team members in your  group). </a:t>
            </a:r>
            <a:r>
              <a:rPr lang="en-US" sz="1800">
                <a:solidFill>
                  <a:srgbClr val="FF0000"/>
                </a:solidFill>
              </a:rPr>
              <a:t>I.e. for a group of 6, the number of features to compare will be 2 x 6 =  12.</a:t>
            </a:r>
            <a:endParaRPr/>
          </a:p>
        </p:txBody>
      </p:sp>
      <p:pic>
        <p:nvPicPr>
          <p:cNvPr id="218" name="Google Shape;21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2384" y="2575066"/>
            <a:ext cx="8499232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/>
          <p:nvPr/>
        </p:nvSpPr>
        <p:spPr>
          <a:xfrm>
            <a:off x="182879" y="1295400"/>
            <a:ext cx="508889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Benchmark for Antivirus software (Source: Wiki)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182879" y="1667255"/>
            <a:ext cx="8773668" cy="44241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5" name="Google Shape;225;p12"/>
          <p:cNvSpPr txBox="1"/>
          <p:nvPr/>
        </p:nvSpPr>
        <p:spPr>
          <a:xfrm>
            <a:off x="-381000" y="304800"/>
            <a:ext cx="6781056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 sz="3600" b="1" i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Benchmark Chart Example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/>
          <p:nvPr/>
        </p:nvSpPr>
        <p:spPr>
          <a:xfrm>
            <a:off x="685800" y="1295400"/>
            <a:ext cx="7010400" cy="30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Alongside the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2n</a:t>
            </a: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functional features of the service, the following points may be  considered: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AutoNum type="arabicPeriod"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Pricing policy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Example: free/one time/monthly/Pay-as-you-go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 startAt="2"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Customer base size</a:t>
            </a:r>
            <a:endParaRPr/>
          </a:p>
          <a:p>
            <a:pPr marL="3556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 startAt="2"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Market Value/ Stock price</a:t>
            </a:r>
            <a:endParaRPr/>
          </a:p>
          <a:p>
            <a:pPr marL="3556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 startAt="2"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Country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 txBox="1"/>
          <p:nvPr/>
        </p:nvSpPr>
        <p:spPr>
          <a:xfrm>
            <a:off x="402437" y="855344"/>
            <a:ext cx="8216265" cy="530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your presentation, you possibly need to explain the following scenarios:</a:t>
            </a:r>
            <a:endParaRPr/>
          </a:p>
          <a:p>
            <a:pPr marL="12700" marR="0" lvl="0" indent="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Suppose, Organization 2 does not support feature2 but your project does.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12800" marR="445134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lphaLcParenR"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Explain how that puts organization 2 in a weak spot. Make sure to  support your claim with evidence and argument.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233679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Suppose, Org 3 supports feature5 and feature6 which your project does  not.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12800" marR="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lphaLcParenR"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Discuss how they put them in a strong position.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12800" marR="12065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lphaLcParenR"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Also discuss why you thought the feature should not be implemented  in your project (eg. the service of Org 3 is more expensive or not so  important to your target audience.)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Suppose, feature 5 is unique to your project.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12800" marR="32512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lphaLcParenR"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Discuss why you think it will create credibility of your project to the  consumers.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n">
  <a:themeElements>
    <a:clrScheme name="Ion">
      <a:dk1>
        <a:srgbClr val="000000"/>
      </a:dk1>
      <a:lt1>
        <a:srgbClr val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478</Words>
  <Application>Microsoft Office PowerPoint</Application>
  <PresentationFormat>On-screen Show (4:3)</PresentationFormat>
  <Paragraphs>50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Noto Sans Symbols</vt:lpstr>
      <vt:lpstr>Century Gothic</vt:lpstr>
      <vt:lpstr>Ion</vt:lpstr>
      <vt:lpstr>CSE 3412  Project Proposal &amp; Benchmark Study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Benchmark Analysis</vt:lpstr>
      <vt:lpstr>PowerPoint Presentation</vt:lpstr>
      <vt:lpstr>Note down what features are offered in each of the other softwares/services,  and what features you are offering in a chart. The chart should have not less  than 2n features for comparison (where n = number of team members in your  group). I.e. for a group of 6, the number of features to compare will be 2 x 6 =  12.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3412  Project Proposal &amp; Benchmark Study</dc:title>
  <dc:creator>Asus</dc:creator>
  <cp:lastModifiedBy>Ms. Sidratul Muntaha</cp:lastModifiedBy>
  <cp:revision>5</cp:revision>
  <dcterms:created xsi:type="dcterms:W3CDTF">2021-11-15T03:32:05Z</dcterms:created>
  <dcterms:modified xsi:type="dcterms:W3CDTF">2025-07-27T05:19:11Z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2021-07-13T00:00:00Z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2021-11-15T00:00:00Z</vt:filetime>
  </property>
</Properties>
</file>