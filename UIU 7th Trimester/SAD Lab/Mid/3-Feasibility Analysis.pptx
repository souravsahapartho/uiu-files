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4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3" r:id="rId11"/>
    <p:sldId id="267" r:id="rId12"/>
    <p:sldId id="268" r:id="rId13"/>
    <p:sldId id="270" r:id="rId14"/>
    <p:sldId id="274" r:id="rId15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7/27/2025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graph/" TargetMode="External"/><Relationship Id="rId2" Type="http://schemas.openxmlformats.org/officeDocument/2006/relationships/hyperlink" Target="https://www.visme.co/chart-make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mpl.us/blog/good-bad-survey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apterra.com/s-w-o-t-analysis-examples-for-beginner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346A76-C165-4DBF-A69B-C7F1116FB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216" y="2057402"/>
            <a:ext cx="6619244" cy="1897981"/>
          </a:xfrm>
        </p:spPr>
        <p:txBody>
          <a:bodyPr/>
          <a:lstStyle/>
          <a:p>
            <a:r>
              <a:rPr lang="en-US" dirty="0"/>
              <a:t>CSE 3412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4050" dirty="0"/>
              <a:t>Feasibility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3CCEE80-4248-4A7A-BB45-0BA7BD2CB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216" y="4419600"/>
            <a:ext cx="6619244" cy="1219978"/>
          </a:xfrm>
        </p:spPr>
        <p:txBody>
          <a:bodyPr>
            <a:normAutofit fontScale="92500" lnSpcReduction="20000"/>
          </a:bodyPr>
          <a:lstStyle/>
          <a:p>
            <a:endParaRPr lang="en-US" b="1" dirty="0"/>
          </a:p>
          <a:p>
            <a:r>
              <a:rPr lang="en-US" b="1" dirty="0" err="1" smtClean="0"/>
              <a:t>Sidratul</a:t>
            </a:r>
            <a:r>
              <a:rPr lang="en-US" b="1" dirty="0" smtClean="0"/>
              <a:t> </a:t>
            </a:r>
            <a:r>
              <a:rPr lang="en-US" b="1" dirty="0" err="1" smtClean="0"/>
              <a:t>Muntaha</a:t>
            </a:r>
            <a:endParaRPr lang="en-US" b="1" dirty="0" smtClean="0"/>
          </a:p>
          <a:p>
            <a:r>
              <a:rPr lang="en-US" b="1" dirty="0" smtClean="0"/>
              <a:t>Lecturer</a:t>
            </a:r>
            <a:r>
              <a:rPr lang="en-US" b="1" dirty="0"/>
              <a:t>, DEPT. OF CSE, UIU</a:t>
            </a:r>
          </a:p>
          <a:p>
            <a:r>
              <a:rPr lang="en-US" b="1" dirty="0"/>
              <a:t>ACKKNOWLEDGED: SAMIN SHARAF SOMIK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587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437" y="988898"/>
            <a:ext cx="8284363" cy="4137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5" dirty="0">
                <a:latin typeface="Noto Sans"/>
                <a:cs typeface="Noto Sans"/>
              </a:rPr>
              <a:t>You </a:t>
            </a:r>
            <a:r>
              <a:rPr spc="-25" dirty="0">
                <a:latin typeface="Noto Sans"/>
                <a:cs typeface="Noto Sans"/>
              </a:rPr>
              <a:t>are </a:t>
            </a:r>
            <a:r>
              <a:rPr spc="-20" dirty="0">
                <a:latin typeface="Noto Sans"/>
                <a:cs typeface="Noto Sans"/>
              </a:rPr>
              <a:t>required </a:t>
            </a:r>
            <a:r>
              <a:rPr spc="-10" dirty="0">
                <a:latin typeface="Noto Sans"/>
                <a:cs typeface="Noto Sans"/>
              </a:rPr>
              <a:t>to </a:t>
            </a:r>
            <a:r>
              <a:rPr spc="-15" dirty="0">
                <a:latin typeface="Noto Sans"/>
                <a:cs typeface="Noto Sans"/>
              </a:rPr>
              <a:t>present </a:t>
            </a:r>
            <a:r>
              <a:rPr spc="-10" dirty="0">
                <a:latin typeface="Noto Sans"/>
                <a:cs typeface="Noto Sans"/>
              </a:rPr>
              <a:t>a </a:t>
            </a:r>
            <a:r>
              <a:rPr spc="-15" dirty="0">
                <a:latin typeface="Noto Sans"/>
                <a:cs typeface="Noto Sans"/>
              </a:rPr>
              <a:t>feasibility </a:t>
            </a:r>
            <a:r>
              <a:rPr spc="-10" dirty="0">
                <a:latin typeface="Noto Sans"/>
                <a:cs typeface="Noto Sans"/>
              </a:rPr>
              <a:t>analysis. For </a:t>
            </a:r>
            <a:r>
              <a:rPr spc="-20" dirty="0">
                <a:latin typeface="Noto Sans"/>
                <a:cs typeface="Noto Sans"/>
              </a:rPr>
              <a:t>this, </a:t>
            </a:r>
            <a:r>
              <a:rPr spc="-10" dirty="0">
                <a:latin typeface="Noto Sans"/>
                <a:cs typeface="Noto Sans"/>
              </a:rPr>
              <a:t>you’ll conduct a</a:t>
            </a:r>
            <a:r>
              <a:rPr spc="85" dirty="0">
                <a:latin typeface="Noto Sans"/>
                <a:cs typeface="Noto Sans"/>
              </a:rPr>
              <a:t> </a:t>
            </a:r>
            <a:r>
              <a:rPr spc="-20" dirty="0">
                <a:latin typeface="Noto Sans"/>
                <a:cs typeface="Noto Sans"/>
              </a:rPr>
              <a:t>survey</a:t>
            </a:r>
            <a:endParaRPr dirty="0">
              <a:latin typeface="Noto Sans"/>
              <a:cs typeface="Noto Sans"/>
            </a:endParaRPr>
          </a:p>
          <a:p>
            <a:pPr marL="12700">
              <a:spcBef>
                <a:spcPts val="5"/>
              </a:spcBef>
            </a:pPr>
            <a:r>
              <a:rPr spc="-35" dirty="0">
                <a:latin typeface="Noto Sans"/>
                <a:cs typeface="Noto Sans"/>
              </a:rPr>
              <a:t>among </a:t>
            </a:r>
            <a:r>
              <a:rPr dirty="0">
                <a:solidFill>
                  <a:srgbClr val="FF0000"/>
                </a:solidFill>
                <a:latin typeface="Noto Sans"/>
                <a:cs typeface="Noto Sans"/>
              </a:rPr>
              <a:t>5 </a:t>
            </a:r>
            <a:r>
              <a:rPr spc="-10" dirty="0">
                <a:solidFill>
                  <a:srgbClr val="FF0000"/>
                </a:solidFill>
                <a:latin typeface="Noto Sans"/>
                <a:cs typeface="Noto Sans"/>
              </a:rPr>
              <a:t>x n </a:t>
            </a:r>
            <a:r>
              <a:rPr spc="-5" dirty="0">
                <a:latin typeface="Noto Sans"/>
                <a:cs typeface="Noto Sans"/>
              </a:rPr>
              <a:t>persons </a:t>
            </a:r>
            <a:r>
              <a:rPr spc="-10" dirty="0">
                <a:latin typeface="Noto Sans"/>
                <a:cs typeface="Noto Sans"/>
              </a:rPr>
              <a:t>(n </a:t>
            </a:r>
            <a:r>
              <a:rPr dirty="0">
                <a:latin typeface="Noto Sans"/>
                <a:cs typeface="Noto Sans"/>
              </a:rPr>
              <a:t>= </a:t>
            </a:r>
            <a:r>
              <a:rPr spc="-10" dirty="0">
                <a:latin typeface="Noto Sans"/>
                <a:cs typeface="Noto Sans"/>
              </a:rPr>
              <a:t>number of </a:t>
            </a:r>
            <a:r>
              <a:rPr spc="-15" dirty="0">
                <a:latin typeface="Noto Sans"/>
                <a:cs typeface="Noto Sans"/>
              </a:rPr>
              <a:t>team </a:t>
            </a:r>
            <a:r>
              <a:rPr spc="-10" dirty="0">
                <a:latin typeface="Noto Sans"/>
                <a:cs typeface="Noto Sans"/>
              </a:rPr>
              <a:t>members in your</a:t>
            </a:r>
            <a:r>
              <a:rPr spc="-5" dirty="0">
                <a:latin typeface="Noto Sans"/>
                <a:cs typeface="Noto Sans"/>
              </a:rPr>
              <a:t> </a:t>
            </a:r>
            <a:r>
              <a:rPr spc="-35" dirty="0">
                <a:latin typeface="Noto Sans"/>
                <a:cs typeface="Noto Sans"/>
              </a:rPr>
              <a:t>group)</a:t>
            </a:r>
            <a:endParaRPr dirty="0">
              <a:latin typeface="Noto Sans"/>
              <a:cs typeface="Noto Sans"/>
            </a:endParaRPr>
          </a:p>
          <a:p>
            <a:pPr marL="12700">
              <a:spcBef>
                <a:spcPts val="1200"/>
              </a:spcBef>
            </a:pPr>
            <a:r>
              <a:rPr spc="-60" dirty="0">
                <a:latin typeface="Noto Sans"/>
                <a:cs typeface="Noto Sans"/>
              </a:rPr>
              <a:t>In </a:t>
            </a:r>
            <a:r>
              <a:rPr spc="-10" dirty="0">
                <a:latin typeface="Noto Sans"/>
                <a:cs typeface="Noto Sans"/>
              </a:rPr>
              <a:t>your</a:t>
            </a:r>
            <a:r>
              <a:rPr spc="30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presentation-</a:t>
            </a:r>
            <a:endParaRPr dirty="0">
              <a:latin typeface="Noto Sans"/>
              <a:cs typeface="Noto Sans"/>
            </a:endParaRPr>
          </a:p>
          <a:p>
            <a:pPr marL="812800" marR="167640" indent="-342900">
              <a:spcBef>
                <a:spcPts val="1200"/>
              </a:spcBef>
              <a:buAutoNum type="arabicPeriod"/>
              <a:tabLst>
                <a:tab pos="812165" algn="l"/>
                <a:tab pos="812800" algn="l"/>
              </a:tabLst>
            </a:pPr>
            <a:r>
              <a:rPr spc="-10" dirty="0">
                <a:latin typeface="Noto Sans"/>
                <a:cs typeface="Noto Sans"/>
              </a:rPr>
              <a:t>Briefly discuss </a:t>
            </a:r>
            <a:r>
              <a:rPr spc="-20" dirty="0">
                <a:latin typeface="Noto Sans"/>
                <a:cs typeface="Noto Sans"/>
              </a:rPr>
              <a:t>how </a:t>
            </a:r>
            <a:r>
              <a:rPr spc="-10" dirty="0">
                <a:latin typeface="Noto Sans"/>
                <a:cs typeface="Noto Sans"/>
              </a:rPr>
              <a:t>you </a:t>
            </a:r>
            <a:r>
              <a:rPr spc="-30" dirty="0">
                <a:latin typeface="Noto Sans"/>
                <a:cs typeface="Noto Sans"/>
              </a:rPr>
              <a:t>gathered </a:t>
            </a:r>
            <a:r>
              <a:rPr spc="-15" dirty="0">
                <a:latin typeface="Noto Sans"/>
                <a:cs typeface="Noto Sans"/>
              </a:rPr>
              <a:t>the </a:t>
            </a:r>
            <a:r>
              <a:rPr spc="-10" dirty="0">
                <a:latin typeface="Noto Sans"/>
                <a:cs typeface="Noto Sans"/>
              </a:rPr>
              <a:t>information </a:t>
            </a:r>
            <a:r>
              <a:rPr spc="-15" dirty="0">
                <a:latin typeface="Noto Sans"/>
                <a:cs typeface="Noto Sans"/>
              </a:rPr>
              <a:t>and what </a:t>
            </a:r>
            <a:r>
              <a:rPr spc="-40" dirty="0">
                <a:latin typeface="Noto Sans"/>
                <a:cs typeface="Noto Sans"/>
              </a:rPr>
              <a:t>group (Age,  </a:t>
            </a:r>
            <a:r>
              <a:rPr spc="-15" dirty="0">
                <a:latin typeface="Noto Sans"/>
                <a:cs typeface="Noto Sans"/>
              </a:rPr>
              <a:t>Gender, </a:t>
            </a:r>
            <a:r>
              <a:rPr spc="-10" dirty="0">
                <a:latin typeface="Noto Sans"/>
                <a:cs typeface="Noto Sans"/>
              </a:rPr>
              <a:t>Occupation) of </a:t>
            </a:r>
            <a:r>
              <a:rPr spc="-5" dirty="0">
                <a:latin typeface="Noto Sans"/>
                <a:cs typeface="Noto Sans"/>
              </a:rPr>
              <a:t>people </a:t>
            </a:r>
            <a:r>
              <a:rPr spc="-15" dirty="0">
                <a:latin typeface="Noto Sans"/>
                <a:cs typeface="Noto Sans"/>
              </a:rPr>
              <a:t>participated </a:t>
            </a:r>
            <a:r>
              <a:rPr spc="-10" dirty="0">
                <a:latin typeface="Noto Sans"/>
                <a:cs typeface="Noto Sans"/>
              </a:rPr>
              <a:t>in </a:t>
            </a:r>
            <a:r>
              <a:rPr spc="-15" dirty="0">
                <a:latin typeface="Noto Sans"/>
                <a:cs typeface="Noto Sans"/>
              </a:rPr>
              <a:t>the</a:t>
            </a:r>
            <a:r>
              <a:rPr spc="25" dirty="0">
                <a:latin typeface="Noto Sans"/>
                <a:cs typeface="Noto Sans"/>
              </a:rPr>
              <a:t> </a:t>
            </a:r>
            <a:r>
              <a:rPr spc="-30" dirty="0">
                <a:latin typeface="Noto Sans"/>
                <a:cs typeface="Noto Sans"/>
              </a:rPr>
              <a:t>survey.</a:t>
            </a:r>
            <a:endParaRPr dirty="0">
              <a:latin typeface="Noto Sans"/>
              <a:cs typeface="Noto Sans"/>
            </a:endParaRPr>
          </a:p>
          <a:p>
            <a:pPr marL="812800" marR="69215" indent="-342900">
              <a:spcBef>
                <a:spcPts val="1200"/>
              </a:spcBef>
              <a:buAutoNum type="arabicPeriod"/>
              <a:tabLst>
                <a:tab pos="812165" algn="l"/>
                <a:tab pos="812800" algn="l"/>
              </a:tabLst>
            </a:pPr>
            <a:r>
              <a:rPr spc="-10" dirty="0">
                <a:latin typeface="Noto Sans"/>
                <a:cs typeface="Noto Sans"/>
              </a:rPr>
              <a:t>Discuss </a:t>
            </a:r>
            <a:r>
              <a:rPr spc="-15" dirty="0">
                <a:latin typeface="Noto Sans"/>
                <a:cs typeface="Noto Sans"/>
              </a:rPr>
              <a:t>the questionnaire and the </a:t>
            </a:r>
            <a:r>
              <a:rPr spc="-10" dirty="0">
                <a:latin typeface="Noto Sans"/>
                <a:cs typeface="Noto Sans"/>
              </a:rPr>
              <a:t>amount of </a:t>
            </a:r>
            <a:r>
              <a:rPr spc="-15" dirty="0">
                <a:latin typeface="Noto Sans"/>
                <a:cs typeface="Noto Sans"/>
              </a:rPr>
              <a:t>responses </a:t>
            </a:r>
            <a:r>
              <a:rPr spc="-10" dirty="0">
                <a:latin typeface="Noto Sans"/>
                <a:cs typeface="Noto Sans"/>
              </a:rPr>
              <a:t>in favor of </a:t>
            </a:r>
            <a:r>
              <a:rPr spc="-15" dirty="0">
                <a:latin typeface="Noto Sans"/>
                <a:cs typeface="Noto Sans"/>
              </a:rPr>
              <a:t>each  </a:t>
            </a:r>
            <a:r>
              <a:rPr spc="-20" dirty="0">
                <a:latin typeface="Noto Sans"/>
                <a:cs typeface="Noto Sans"/>
              </a:rPr>
              <a:t>feature.</a:t>
            </a:r>
            <a:endParaRPr dirty="0">
              <a:latin typeface="Noto Sans"/>
              <a:cs typeface="Noto Sans"/>
            </a:endParaRPr>
          </a:p>
          <a:p>
            <a:pPr marL="812800" indent="-342900">
              <a:spcBef>
                <a:spcPts val="1200"/>
              </a:spcBef>
              <a:buAutoNum type="arabicPeriod"/>
              <a:tabLst>
                <a:tab pos="812165" algn="l"/>
                <a:tab pos="812800" algn="l"/>
              </a:tabLst>
            </a:pPr>
            <a:r>
              <a:rPr spc="-10" dirty="0">
                <a:latin typeface="Noto Sans"/>
                <a:cs typeface="Noto Sans"/>
              </a:rPr>
              <a:t>Discuss which </a:t>
            </a:r>
            <a:r>
              <a:rPr spc="-15" dirty="0">
                <a:latin typeface="Noto Sans"/>
                <a:cs typeface="Noto Sans"/>
              </a:rPr>
              <a:t>features </a:t>
            </a:r>
            <a:r>
              <a:rPr spc="-25" dirty="0">
                <a:latin typeface="Noto Sans"/>
                <a:cs typeface="Noto Sans"/>
              </a:rPr>
              <a:t>are </a:t>
            </a:r>
            <a:r>
              <a:rPr spc="-10" dirty="0">
                <a:latin typeface="Noto Sans"/>
                <a:cs typeface="Noto Sans"/>
              </a:rPr>
              <a:t>feasible </a:t>
            </a:r>
            <a:r>
              <a:rPr spc="-15" dirty="0">
                <a:latin typeface="Noto Sans"/>
                <a:cs typeface="Noto Sans"/>
              </a:rPr>
              <a:t>and </a:t>
            </a:r>
            <a:r>
              <a:rPr spc="-10" dirty="0">
                <a:latin typeface="Noto Sans"/>
                <a:cs typeface="Noto Sans"/>
              </a:rPr>
              <a:t>which you </a:t>
            </a:r>
            <a:r>
              <a:rPr spc="-25" dirty="0">
                <a:latin typeface="Noto Sans"/>
                <a:cs typeface="Noto Sans"/>
              </a:rPr>
              <a:t>are </a:t>
            </a:r>
            <a:r>
              <a:rPr spc="-55" dirty="0">
                <a:latin typeface="Noto Sans"/>
                <a:cs typeface="Noto Sans"/>
              </a:rPr>
              <a:t>going </a:t>
            </a:r>
            <a:r>
              <a:rPr spc="-10" dirty="0">
                <a:latin typeface="Noto Sans"/>
                <a:cs typeface="Noto Sans"/>
              </a:rPr>
              <a:t>to</a:t>
            </a:r>
            <a:r>
              <a:rPr spc="130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discard.</a:t>
            </a:r>
            <a:endParaRPr dirty="0">
              <a:latin typeface="Noto Sans"/>
              <a:cs typeface="Noto Sans"/>
            </a:endParaRPr>
          </a:p>
          <a:p>
            <a:pPr marL="812800" indent="-342900">
              <a:spcBef>
                <a:spcPts val="1200"/>
              </a:spcBef>
              <a:buAutoNum type="arabicPeriod"/>
              <a:tabLst>
                <a:tab pos="812165" algn="l"/>
                <a:tab pos="812800" algn="l"/>
              </a:tabLst>
            </a:pPr>
            <a:r>
              <a:rPr spc="-10" dirty="0">
                <a:latin typeface="Noto Sans"/>
                <a:cs typeface="Noto Sans"/>
              </a:rPr>
              <a:t>Discuss the </a:t>
            </a:r>
            <a:r>
              <a:rPr spc="-30" dirty="0">
                <a:latin typeface="Noto Sans"/>
                <a:cs typeface="Noto Sans"/>
              </a:rPr>
              <a:t>Strengths, </a:t>
            </a:r>
            <a:r>
              <a:rPr spc="-15" dirty="0">
                <a:latin typeface="Noto Sans"/>
                <a:cs typeface="Noto Sans"/>
              </a:rPr>
              <a:t>Weaknesses, </a:t>
            </a:r>
            <a:r>
              <a:rPr spc="-10" dirty="0">
                <a:latin typeface="Noto Sans"/>
                <a:cs typeface="Noto Sans"/>
              </a:rPr>
              <a:t>Opportunities, and</a:t>
            </a:r>
            <a:r>
              <a:rPr spc="10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Threats.</a:t>
            </a:r>
            <a:endParaRPr lang="en-US" spc="-15" dirty="0">
              <a:latin typeface="Noto Sans"/>
              <a:cs typeface="Noto Sans"/>
            </a:endParaRPr>
          </a:p>
          <a:p>
            <a:pPr marL="469900">
              <a:spcBef>
                <a:spcPts val="1200"/>
              </a:spcBef>
              <a:tabLst>
                <a:tab pos="812165" algn="l"/>
                <a:tab pos="812800" algn="l"/>
              </a:tabLst>
            </a:pPr>
            <a:endParaRPr dirty="0">
              <a:latin typeface="Noto Sans"/>
              <a:cs typeface="Noto Sans"/>
            </a:endParaRPr>
          </a:p>
          <a:p>
            <a:pPr marL="12700">
              <a:spcBef>
                <a:spcPts val="1200"/>
              </a:spcBef>
            </a:pPr>
            <a:r>
              <a:rPr spc="-25" dirty="0">
                <a:latin typeface="Noto Sans"/>
                <a:cs typeface="Noto Sans"/>
              </a:rPr>
              <a:t>Make </a:t>
            </a:r>
            <a:r>
              <a:rPr spc="-15" dirty="0">
                <a:latin typeface="Noto Sans"/>
                <a:cs typeface="Noto Sans"/>
              </a:rPr>
              <a:t>each section comprehensive to </a:t>
            </a:r>
            <a:r>
              <a:rPr spc="-50" dirty="0">
                <a:latin typeface="Noto Sans"/>
                <a:cs typeface="Noto Sans"/>
              </a:rPr>
              <a:t>get </a:t>
            </a:r>
            <a:r>
              <a:rPr spc="-10" dirty="0">
                <a:latin typeface="Noto Sans"/>
                <a:cs typeface="Noto Sans"/>
              </a:rPr>
              <a:t>better</a:t>
            </a:r>
            <a:r>
              <a:rPr spc="114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marks.</a:t>
            </a:r>
            <a:endParaRPr dirty="0">
              <a:latin typeface="Noto Sans"/>
              <a:cs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54178" y="1298830"/>
            <a:ext cx="7579359" cy="22903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3660" indent="-342900"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lang="en-US" spc="-25" dirty="0">
                <a:latin typeface="Noto Sans"/>
                <a:cs typeface="Noto Sans"/>
              </a:rPr>
              <a:t>One/ </a:t>
            </a:r>
            <a:r>
              <a:rPr spc="-25" dirty="0">
                <a:latin typeface="Noto Sans"/>
                <a:cs typeface="Noto Sans"/>
              </a:rPr>
              <a:t>Two </a:t>
            </a:r>
            <a:r>
              <a:rPr spc="-10" dirty="0">
                <a:latin typeface="Noto Sans"/>
                <a:cs typeface="Noto Sans"/>
              </a:rPr>
              <a:t>members (who </a:t>
            </a:r>
            <a:r>
              <a:rPr spc="-15" dirty="0">
                <a:latin typeface="Noto Sans"/>
                <a:cs typeface="Noto Sans"/>
              </a:rPr>
              <a:t>haven’t presented before) </a:t>
            </a:r>
            <a:r>
              <a:rPr spc="-20" dirty="0">
                <a:latin typeface="Noto Sans"/>
                <a:cs typeface="Noto Sans"/>
              </a:rPr>
              <a:t>from </a:t>
            </a:r>
            <a:r>
              <a:rPr spc="-15" dirty="0">
                <a:latin typeface="Noto Sans"/>
                <a:cs typeface="Noto Sans"/>
              </a:rPr>
              <a:t>each </a:t>
            </a:r>
            <a:r>
              <a:rPr spc="-40" dirty="0">
                <a:latin typeface="Noto Sans"/>
                <a:cs typeface="Noto Sans"/>
              </a:rPr>
              <a:t>group </a:t>
            </a:r>
            <a:r>
              <a:rPr spc="-15" dirty="0">
                <a:latin typeface="Noto Sans"/>
                <a:cs typeface="Noto Sans"/>
              </a:rPr>
              <a:t>will  </a:t>
            </a:r>
            <a:r>
              <a:rPr spc="-40" dirty="0">
                <a:latin typeface="Noto Sans"/>
                <a:cs typeface="Noto Sans"/>
              </a:rPr>
              <a:t>give </a:t>
            </a:r>
            <a:r>
              <a:rPr spc="-15" dirty="0">
                <a:latin typeface="Noto Sans"/>
                <a:cs typeface="Noto Sans"/>
              </a:rPr>
              <a:t>the</a:t>
            </a:r>
            <a:r>
              <a:rPr spc="15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presentation.</a:t>
            </a:r>
            <a:endParaRPr dirty="0">
              <a:latin typeface="Noto Sans"/>
              <a:cs typeface="Noto Sans"/>
            </a:endParaRPr>
          </a:p>
          <a:p>
            <a:pPr marL="355600" indent="-342900"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pc="-10" dirty="0">
                <a:latin typeface="Noto Sans"/>
                <a:cs typeface="Noto Sans"/>
              </a:rPr>
              <a:t>The other members will answer</a:t>
            </a:r>
            <a:r>
              <a:rPr spc="-15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questions.</a:t>
            </a:r>
            <a:endParaRPr dirty="0">
              <a:latin typeface="Noto Sans"/>
              <a:cs typeface="Noto Sans"/>
            </a:endParaRPr>
          </a:p>
          <a:p>
            <a:pPr marL="355600" marR="5080" indent="-342900"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pc="-20" dirty="0">
                <a:latin typeface="Noto Sans"/>
                <a:cs typeface="Noto Sans"/>
              </a:rPr>
              <a:t>Duration </a:t>
            </a:r>
            <a:r>
              <a:rPr spc="-10" dirty="0">
                <a:latin typeface="Noto Sans"/>
                <a:cs typeface="Noto Sans"/>
              </a:rPr>
              <a:t>of </a:t>
            </a:r>
            <a:r>
              <a:rPr spc="-15" dirty="0">
                <a:latin typeface="Noto Sans"/>
                <a:cs typeface="Noto Sans"/>
              </a:rPr>
              <a:t>each presentation will </a:t>
            </a:r>
            <a:r>
              <a:rPr spc="-5" dirty="0">
                <a:latin typeface="Noto Sans"/>
                <a:cs typeface="Noto Sans"/>
              </a:rPr>
              <a:t>be </a:t>
            </a:r>
            <a:r>
              <a:rPr dirty="0">
                <a:solidFill>
                  <a:srgbClr val="FF0000"/>
                </a:solidFill>
                <a:latin typeface="Noto Sans"/>
                <a:cs typeface="Noto Sans"/>
              </a:rPr>
              <a:t>5 </a:t>
            </a:r>
            <a:r>
              <a:rPr spc="-10" dirty="0">
                <a:solidFill>
                  <a:srgbClr val="FF0000"/>
                </a:solidFill>
                <a:latin typeface="Noto Sans"/>
                <a:cs typeface="Noto Sans"/>
              </a:rPr>
              <a:t>minute</a:t>
            </a:r>
            <a:r>
              <a:rPr spc="-10" dirty="0">
                <a:latin typeface="Noto Sans"/>
                <a:cs typeface="Noto Sans"/>
              </a:rPr>
              <a:t>. </a:t>
            </a:r>
            <a:endParaRPr dirty="0">
              <a:latin typeface="Noto Sans"/>
              <a:cs typeface="Noto Sans"/>
            </a:endParaRPr>
          </a:p>
          <a:p>
            <a:pPr marL="355600" indent="-342900"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pc="-10" dirty="0">
                <a:latin typeface="Noto Sans"/>
                <a:cs typeface="Noto Sans"/>
              </a:rPr>
              <a:t>The </a:t>
            </a:r>
            <a:r>
              <a:rPr spc="-40" dirty="0">
                <a:latin typeface="Noto Sans"/>
                <a:cs typeface="Noto Sans"/>
              </a:rPr>
              <a:t>language </a:t>
            </a:r>
            <a:r>
              <a:rPr spc="-5" dirty="0">
                <a:latin typeface="Noto Sans"/>
                <a:cs typeface="Noto Sans"/>
              </a:rPr>
              <a:t>of </a:t>
            </a:r>
            <a:r>
              <a:rPr spc="-10" dirty="0">
                <a:latin typeface="Noto Sans"/>
                <a:cs typeface="Noto Sans"/>
              </a:rPr>
              <a:t>the </a:t>
            </a:r>
            <a:r>
              <a:rPr spc="-15" dirty="0">
                <a:latin typeface="Noto Sans"/>
                <a:cs typeface="Noto Sans"/>
              </a:rPr>
              <a:t>presentation </a:t>
            </a:r>
            <a:r>
              <a:rPr spc="-10" dirty="0">
                <a:latin typeface="Noto Sans"/>
                <a:cs typeface="Noto Sans"/>
              </a:rPr>
              <a:t>will </a:t>
            </a:r>
            <a:r>
              <a:rPr spc="-5" dirty="0">
                <a:latin typeface="Noto Sans"/>
                <a:cs typeface="Noto Sans"/>
              </a:rPr>
              <a:t>be </a:t>
            </a:r>
            <a:r>
              <a:rPr spc="-25" dirty="0">
                <a:latin typeface="Noto Sans"/>
                <a:cs typeface="Noto Sans"/>
              </a:rPr>
              <a:t>English.</a:t>
            </a:r>
            <a:endParaRPr dirty="0">
              <a:latin typeface="Noto Sans"/>
              <a:cs typeface="Noto Sans"/>
            </a:endParaRPr>
          </a:p>
          <a:p>
            <a:pPr marL="355600" indent="-342900">
              <a:spcBef>
                <a:spcPts val="120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pc="-15" dirty="0">
                <a:latin typeface="Noto Sans"/>
                <a:cs typeface="Noto Sans"/>
              </a:rPr>
              <a:t>Each </a:t>
            </a:r>
            <a:r>
              <a:rPr spc="-40" dirty="0">
                <a:latin typeface="Noto Sans"/>
                <a:cs typeface="Noto Sans"/>
              </a:rPr>
              <a:t>group </a:t>
            </a:r>
            <a:r>
              <a:rPr spc="-15" dirty="0">
                <a:latin typeface="Noto Sans"/>
                <a:cs typeface="Noto Sans"/>
              </a:rPr>
              <a:t>member </a:t>
            </a:r>
            <a:r>
              <a:rPr spc="-10" dirty="0">
                <a:latin typeface="Noto Sans"/>
                <a:cs typeface="Noto Sans"/>
              </a:rPr>
              <a:t>needs to </a:t>
            </a:r>
            <a:r>
              <a:rPr spc="-15" dirty="0">
                <a:latin typeface="Noto Sans"/>
                <a:cs typeface="Noto Sans"/>
              </a:rPr>
              <a:t>attend the </a:t>
            </a:r>
            <a:r>
              <a:rPr spc="-10" dirty="0">
                <a:latin typeface="Noto Sans"/>
                <a:cs typeface="Noto Sans"/>
              </a:rPr>
              <a:t>class to </a:t>
            </a:r>
            <a:r>
              <a:rPr spc="-50" dirty="0">
                <a:latin typeface="Noto Sans"/>
                <a:cs typeface="Noto Sans"/>
              </a:rPr>
              <a:t>get</a:t>
            </a:r>
            <a:r>
              <a:rPr spc="135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marks.</a:t>
            </a:r>
            <a:endParaRPr dirty="0">
              <a:latin typeface="Noto Sans"/>
              <a:cs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1302" y="1077701"/>
            <a:ext cx="7101098" cy="93615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000" b="1" spc="-10" dirty="0"/>
              <a:t>Briefly discuss </a:t>
            </a:r>
            <a:r>
              <a:rPr sz="2000" b="1" spc="-20" dirty="0"/>
              <a:t>how </a:t>
            </a:r>
            <a:r>
              <a:rPr sz="2000" b="1" spc="-10" dirty="0"/>
              <a:t>you </a:t>
            </a:r>
            <a:r>
              <a:rPr sz="2000" b="1" spc="-30" dirty="0"/>
              <a:t>gathered </a:t>
            </a:r>
            <a:r>
              <a:rPr sz="2000" b="1" spc="-15" dirty="0"/>
              <a:t>the </a:t>
            </a:r>
            <a:r>
              <a:rPr sz="2000" b="1" spc="-10" dirty="0"/>
              <a:t>information </a:t>
            </a:r>
            <a:r>
              <a:rPr sz="2000" b="1" spc="-15" dirty="0"/>
              <a:t>and what </a:t>
            </a:r>
            <a:r>
              <a:rPr sz="2000" b="1" spc="-40" dirty="0"/>
              <a:t>group (Age,  </a:t>
            </a:r>
            <a:r>
              <a:rPr sz="2000" b="1" spc="-15" dirty="0"/>
              <a:t>Gender, </a:t>
            </a:r>
            <a:r>
              <a:rPr sz="2000" b="1" spc="-10" dirty="0"/>
              <a:t>Occupation) of </a:t>
            </a:r>
            <a:r>
              <a:rPr sz="2000" b="1" spc="-5" dirty="0"/>
              <a:t>people </a:t>
            </a:r>
            <a:r>
              <a:rPr sz="2000" b="1" spc="-15" dirty="0"/>
              <a:t>participated </a:t>
            </a:r>
            <a:r>
              <a:rPr sz="2000" b="1" spc="-10" dirty="0"/>
              <a:t>in </a:t>
            </a:r>
            <a:r>
              <a:rPr sz="2000" b="1" spc="-15" dirty="0"/>
              <a:t>the</a:t>
            </a:r>
            <a:r>
              <a:rPr sz="2000" b="1" spc="30" dirty="0"/>
              <a:t> </a:t>
            </a:r>
            <a:r>
              <a:rPr sz="2000" b="1" spc="-30" dirty="0"/>
              <a:t>survey.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1302" y="2743200"/>
            <a:ext cx="7673340" cy="339836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spcBef>
                <a:spcPts val="1300"/>
              </a:spcBef>
            </a:pPr>
            <a:r>
              <a:rPr spc="-15" dirty="0">
                <a:latin typeface="Noto Sans"/>
                <a:cs typeface="Noto Sans"/>
              </a:rPr>
              <a:t>Mention</a:t>
            </a:r>
            <a:r>
              <a:rPr spc="-20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the-</a:t>
            </a:r>
            <a:endParaRPr dirty="0">
              <a:latin typeface="Noto Sans"/>
              <a:cs typeface="Noto Sans"/>
            </a:endParaRPr>
          </a:p>
          <a:p>
            <a:pPr marL="355600" indent="-342900"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pc="-15" dirty="0">
                <a:latin typeface="Noto Sans"/>
                <a:cs typeface="Noto Sans"/>
              </a:rPr>
              <a:t>Medium </a:t>
            </a:r>
            <a:r>
              <a:rPr spc="-10" dirty="0">
                <a:latin typeface="Noto Sans"/>
                <a:cs typeface="Noto Sans"/>
              </a:rPr>
              <a:t>of </a:t>
            </a:r>
            <a:r>
              <a:rPr spc="-15" dirty="0">
                <a:latin typeface="Noto Sans"/>
                <a:cs typeface="Noto Sans"/>
              </a:rPr>
              <a:t>information </a:t>
            </a:r>
            <a:r>
              <a:rPr spc="-40" dirty="0">
                <a:latin typeface="Noto Sans"/>
                <a:cs typeface="Noto Sans"/>
              </a:rPr>
              <a:t>gathering </a:t>
            </a:r>
            <a:r>
              <a:rPr spc="-15" dirty="0">
                <a:latin typeface="Noto Sans"/>
                <a:cs typeface="Noto Sans"/>
              </a:rPr>
              <a:t>(via phone, </a:t>
            </a:r>
            <a:r>
              <a:rPr spc="-20" dirty="0">
                <a:latin typeface="Noto Sans"/>
                <a:cs typeface="Noto Sans"/>
              </a:rPr>
              <a:t>email, </a:t>
            </a:r>
            <a:r>
              <a:rPr spc="-10" dirty="0">
                <a:latin typeface="Noto Sans"/>
                <a:cs typeface="Noto Sans"/>
              </a:rPr>
              <a:t>social media</a:t>
            </a:r>
            <a:r>
              <a:rPr spc="110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etc)</a:t>
            </a:r>
            <a:endParaRPr dirty="0">
              <a:latin typeface="Noto Sans"/>
              <a:cs typeface="Noto Sans"/>
            </a:endParaRPr>
          </a:p>
          <a:p>
            <a:pPr marL="355600" indent="-342900"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pc="-35" dirty="0">
                <a:latin typeface="Noto Sans"/>
                <a:cs typeface="Noto Sans"/>
              </a:rPr>
              <a:t>Total </a:t>
            </a:r>
            <a:r>
              <a:rPr spc="-10" dirty="0">
                <a:latin typeface="Noto Sans"/>
                <a:cs typeface="Noto Sans"/>
              </a:rPr>
              <a:t>Number of</a:t>
            </a:r>
            <a:r>
              <a:rPr spc="10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attendee</a:t>
            </a:r>
            <a:endParaRPr dirty="0">
              <a:latin typeface="Noto Sans"/>
              <a:cs typeface="Noto Sans"/>
            </a:endParaRPr>
          </a:p>
          <a:p>
            <a:pPr marL="355600" indent="-342900">
              <a:spcBef>
                <a:spcPts val="120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pc="-15" dirty="0">
                <a:latin typeface="Noto Sans"/>
                <a:cs typeface="Noto Sans"/>
              </a:rPr>
              <a:t>Group distribution statistics </a:t>
            </a:r>
            <a:r>
              <a:rPr spc="-30" dirty="0">
                <a:latin typeface="Noto Sans"/>
                <a:cs typeface="Noto Sans"/>
              </a:rPr>
              <a:t>(e.g. </a:t>
            </a:r>
            <a:r>
              <a:rPr spc="-5" dirty="0">
                <a:latin typeface="Noto Sans"/>
                <a:cs typeface="Noto Sans"/>
              </a:rPr>
              <a:t>30% </a:t>
            </a:r>
            <a:r>
              <a:rPr spc="-15" dirty="0">
                <a:latin typeface="Noto Sans"/>
                <a:cs typeface="Noto Sans"/>
              </a:rPr>
              <a:t>businessman, </a:t>
            </a:r>
            <a:r>
              <a:rPr spc="-5" dirty="0">
                <a:latin typeface="Noto Sans"/>
                <a:cs typeface="Noto Sans"/>
              </a:rPr>
              <a:t>55% </a:t>
            </a:r>
            <a:r>
              <a:rPr spc="-10" dirty="0">
                <a:latin typeface="Noto Sans"/>
                <a:cs typeface="Noto Sans"/>
              </a:rPr>
              <a:t>female</a:t>
            </a:r>
            <a:r>
              <a:rPr spc="45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etc.)</a:t>
            </a:r>
            <a:endParaRPr lang="en-US" spc="-15" dirty="0">
              <a:latin typeface="Noto Sans"/>
              <a:cs typeface="Noto Sans"/>
            </a:endParaRPr>
          </a:p>
          <a:p>
            <a:pPr marL="355600" indent="-342900">
              <a:spcBef>
                <a:spcPts val="1205"/>
              </a:spcBef>
              <a:buAutoNum type="arabicPeriod"/>
              <a:tabLst>
                <a:tab pos="354965" algn="l"/>
                <a:tab pos="355600" algn="l"/>
              </a:tabLst>
            </a:pPr>
            <a:endParaRPr lang="en-US" spc="-15" dirty="0">
              <a:latin typeface="Noto Sans"/>
              <a:cs typeface="Noto Sans"/>
            </a:endParaRPr>
          </a:p>
          <a:p>
            <a:pPr marL="12700">
              <a:spcBef>
                <a:spcPts val="1205"/>
              </a:spcBef>
              <a:tabLst>
                <a:tab pos="354965" algn="l"/>
                <a:tab pos="355600" algn="l"/>
              </a:tabLst>
            </a:pPr>
            <a:r>
              <a:rPr lang="en-US" spc="-15" dirty="0">
                <a:latin typeface="Noto Sans"/>
                <a:cs typeface="Noto Sans"/>
                <a:hlinkClick r:id="rId2"/>
              </a:rPr>
              <a:t>https://www.visme.co/chart-maker/</a:t>
            </a:r>
            <a:endParaRPr lang="en-US" spc="-15" dirty="0">
              <a:latin typeface="Noto Sans"/>
              <a:cs typeface="Noto Sans"/>
            </a:endParaRPr>
          </a:p>
          <a:p>
            <a:pPr marL="12700">
              <a:spcBef>
                <a:spcPts val="1205"/>
              </a:spcBef>
              <a:tabLst>
                <a:tab pos="354965" algn="l"/>
                <a:tab pos="355600" algn="l"/>
              </a:tabLst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Noto Sans"/>
                <a:cs typeface="Noto Sans"/>
                <a:hlinkClick r:id="rId3"/>
              </a:rPr>
              <a:t>https://www.canva.com/graph/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Noto Sans"/>
              <a:cs typeface="Noto Sans"/>
            </a:endParaRPr>
          </a:p>
          <a:p>
            <a:pPr marL="12700">
              <a:spcBef>
                <a:spcPts val="1205"/>
              </a:spcBef>
              <a:tabLst>
                <a:tab pos="354965" algn="l"/>
                <a:tab pos="355600" algn="l"/>
              </a:tabLst>
            </a:pPr>
            <a:endParaRPr lang="en-US" sz="1600" dirty="0">
              <a:solidFill>
                <a:schemeClr val="accent2">
                  <a:lumMod val="50000"/>
                </a:schemeClr>
              </a:solidFill>
              <a:latin typeface="Noto Sans"/>
              <a:cs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42054" y="1676400"/>
            <a:ext cx="7560309" cy="2413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841375" algn="l"/>
                <a:tab pos="1099185" algn="l"/>
                <a:tab pos="2705735" algn="l"/>
                <a:tab pos="3292475" algn="l"/>
                <a:tab pos="3550285" algn="l"/>
                <a:tab pos="4060825" algn="l"/>
                <a:tab pos="5295265" algn="l"/>
                <a:tab pos="6043930" algn="l"/>
                <a:tab pos="7198995" algn="l"/>
              </a:tabLst>
            </a:pPr>
            <a:r>
              <a:rPr spc="-10" dirty="0">
                <a:latin typeface="Noto Sans"/>
                <a:cs typeface="Noto Sans"/>
              </a:rPr>
              <a:t>C</a:t>
            </a:r>
            <a:r>
              <a:rPr spc="-40" dirty="0">
                <a:latin typeface="Noto Sans"/>
                <a:cs typeface="Noto Sans"/>
              </a:rPr>
              <a:t>r</a:t>
            </a:r>
            <a:r>
              <a:rPr spc="-15" dirty="0">
                <a:latin typeface="Noto Sans"/>
                <a:cs typeface="Noto Sans"/>
              </a:rPr>
              <a:t>e</a:t>
            </a:r>
            <a:r>
              <a:rPr spc="-20" dirty="0">
                <a:latin typeface="Noto Sans"/>
                <a:cs typeface="Noto Sans"/>
              </a:rPr>
              <a:t>a</a:t>
            </a:r>
            <a:r>
              <a:rPr spc="-10" dirty="0">
                <a:latin typeface="Noto Sans"/>
                <a:cs typeface="Noto Sans"/>
              </a:rPr>
              <a:t>te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0" dirty="0">
                <a:latin typeface="Noto Sans"/>
                <a:cs typeface="Noto Sans"/>
              </a:rPr>
              <a:t>a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0" dirty="0">
                <a:latin typeface="Noto Sans"/>
                <a:cs typeface="Noto Sans"/>
              </a:rPr>
              <a:t>questi</a:t>
            </a:r>
            <a:r>
              <a:rPr spc="-5" dirty="0">
                <a:latin typeface="Noto Sans"/>
                <a:cs typeface="Noto Sans"/>
              </a:rPr>
              <a:t>o</a:t>
            </a:r>
            <a:r>
              <a:rPr spc="-25" dirty="0">
                <a:latin typeface="Noto Sans"/>
                <a:cs typeface="Noto Sans"/>
              </a:rPr>
              <a:t>n</a:t>
            </a:r>
            <a:r>
              <a:rPr spc="-10" dirty="0">
                <a:latin typeface="Noto Sans"/>
                <a:cs typeface="Noto Sans"/>
              </a:rPr>
              <a:t>n</a:t>
            </a:r>
            <a:r>
              <a:rPr spc="-15" dirty="0">
                <a:latin typeface="Noto Sans"/>
                <a:cs typeface="Noto Sans"/>
              </a:rPr>
              <a:t>a</a:t>
            </a:r>
            <a:r>
              <a:rPr spc="-10" dirty="0">
                <a:latin typeface="Noto Sans"/>
                <a:cs typeface="Noto Sans"/>
              </a:rPr>
              <a:t>i</a:t>
            </a:r>
            <a:r>
              <a:rPr spc="-55" dirty="0">
                <a:latin typeface="Noto Sans"/>
                <a:cs typeface="Noto Sans"/>
              </a:rPr>
              <a:t>r</a:t>
            </a:r>
            <a:r>
              <a:rPr spc="-10" dirty="0">
                <a:latin typeface="Noto Sans"/>
                <a:cs typeface="Noto Sans"/>
              </a:rPr>
              <a:t>e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5" dirty="0">
                <a:latin typeface="Noto Sans"/>
                <a:cs typeface="Noto Sans"/>
              </a:rPr>
              <a:t>wi</a:t>
            </a:r>
            <a:r>
              <a:rPr spc="-20" dirty="0">
                <a:latin typeface="Noto Sans"/>
                <a:cs typeface="Noto Sans"/>
              </a:rPr>
              <a:t>t</a:t>
            </a:r>
            <a:r>
              <a:rPr spc="-10" dirty="0">
                <a:latin typeface="Noto Sans"/>
                <a:cs typeface="Noto Sans"/>
              </a:rPr>
              <a:t>h</a:t>
            </a:r>
            <a:r>
              <a:rPr dirty="0">
                <a:latin typeface="Noto Sans"/>
                <a:cs typeface="Noto Sans"/>
              </a:rPr>
              <a:t>	</a:t>
            </a:r>
            <a:r>
              <a:rPr lang="en-US" spc="-10" dirty="0">
                <a:latin typeface="Noto Sans"/>
                <a:cs typeface="Noto Sans"/>
              </a:rPr>
              <a:t>at least </a:t>
            </a:r>
            <a:r>
              <a:rPr lang="en-US" b="1" spc="-10" dirty="0">
                <a:latin typeface="Noto Sans"/>
                <a:cs typeface="Noto Sans"/>
              </a:rPr>
              <a:t>10</a:t>
            </a:r>
            <a:r>
              <a:rPr lang="en-US" spc="-10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que</a:t>
            </a:r>
            <a:r>
              <a:rPr spc="-15" dirty="0">
                <a:latin typeface="Noto Sans"/>
                <a:cs typeface="Noto Sans"/>
              </a:rPr>
              <a:t>s</a:t>
            </a:r>
            <a:r>
              <a:rPr spc="-10" dirty="0">
                <a:latin typeface="Noto Sans"/>
                <a:cs typeface="Noto Sans"/>
              </a:rPr>
              <a:t>tions</a:t>
            </a:r>
            <a:r>
              <a:rPr spc="-5" dirty="0">
                <a:latin typeface="Noto Sans"/>
                <a:cs typeface="Noto Sans"/>
              </a:rPr>
              <a:t>.</a:t>
            </a:r>
            <a:r>
              <a:rPr lang="en-US" spc="-5" dirty="0">
                <a:latin typeface="Noto Sans"/>
                <a:cs typeface="Noto Sans"/>
              </a:rPr>
              <a:t> </a:t>
            </a:r>
            <a:r>
              <a:rPr spc="-25" dirty="0">
                <a:latin typeface="Noto Sans"/>
                <a:cs typeface="Noto Sans"/>
              </a:rPr>
              <a:t>W</a:t>
            </a:r>
            <a:r>
              <a:rPr spc="-10" dirty="0">
                <a:latin typeface="Noto Sans"/>
                <a:cs typeface="Noto Sans"/>
              </a:rPr>
              <a:t>hen</a:t>
            </a:r>
            <a:r>
              <a:rPr lang="en-US" spc="-10" dirty="0">
                <a:latin typeface="Noto Sans"/>
                <a:cs typeface="Noto Sans"/>
              </a:rPr>
              <a:t> </a:t>
            </a:r>
            <a:r>
              <a:rPr spc="-35" dirty="0">
                <a:latin typeface="Noto Sans"/>
                <a:cs typeface="Noto Sans"/>
              </a:rPr>
              <a:t>designing</a:t>
            </a:r>
            <a:r>
              <a:rPr lang="en-US" spc="-35" dirty="0">
                <a:latin typeface="Noto Sans"/>
                <a:cs typeface="Noto Sans"/>
              </a:rPr>
              <a:t> </a:t>
            </a:r>
            <a:r>
              <a:rPr spc="-30" dirty="0">
                <a:latin typeface="Noto Sans"/>
                <a:cs typeface="Noto Sans"/>
              </a:rPr>
              <a:t>t</a:t>
            </a:r>
            <a:r>
              <a:rPr spc="-5" dirty="0">
                <a:latin typeface="Noto Sans"/>
                <a:cs typeface="Noto Sans"/>
              </a:rPr>
              <a:t>he  </a:t>
            </a:r>
            <a:r>
              <a:rPr spc="-10" dirty="0">
                <a:latin typeface="Noto Sans"/>
                <a:cs typeface="Noto Sans"/>
              </a:rPr>
              <a:t>question </a:t>
            </a:r>
            <a:r>
              <a:rPr spc="-20" dirty="0">
                <a:latin typeface="Noto Sans"/>
                <a:cs typeface="Noto Sans"/>
              </a:rPr>
              <a:t>set, </a:t>
            </a:r>
            <a:r>
              <a:rPr spc="-15" dirty="0">
                <a:latin typeface="Noto Sans"/>
                <a:cs typeface="Noto Sans"/>
              </a:rPr>
              <a:t>try </a:t>
            </a:r>
            <a:r>
              <a:rPr spc="-10" dirty="0">
                <a:latin typeface="Noto Sans"/>
                <a:cs typeface="Noto Sans"/>
              </a:rPr>
              <a:t>to </a:t>
            </a:r>
            <a:r>
              <a:rPr spc="-30" dirty="0">
                <a:latin typeface="Noto Sans"/>
                <a:cs typeface="Noto Sans"/>
              </a:rPr>
              <a:t>gather </a:t>
            </a:r>
            <a:r>
              <a:rPr spc="-10" dirty="0">
                <a:latin typeface="Noto Sans"/>
                <a:cs typeface="Noto Sans"/>
              </a:rPr>
              <a:t>the </a:t>
            </a:r>
            <a:r>
              <a:rPr spc="-25" dirty="0">
                <a:latin typeface="Noto Sans"/>
                <a:cs typeface="Noto Sans"/>
              </a:rPr>
              <a:t>following</a:t>
            </a:r>
            <a:r>
              <a:rPr spc="20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information-</a:t>
            </a:r>
            <a:endParaRPr dirty="0">
              <a:latin typeface="Noto Sans"/>
              <a:cs typeface="Noto Sans"/>
            </a:endParaRPr>
          </a:p>
          <a:p>
            <a:pPr marL="355600" marR="6350" indent="-342900">
              <a:spcBef>
                <a:spcPts val="1200"/>
              </a:spcBef>
              <a:buAutoNum type="arabicPeriod"/>
              <a:tabLst>
                <a:tab pos="354965" algn="l"/>
                <a:tab pos="355600" algn="l"/>
                <a:tab pos="629285" algn="l"/>
                <a:tab pos="1222375" algn="l"/>
                <a:tab pos="2138680" algn="l"/>
                <a:tab pos="2649220" algn="l"/>
                <a:tab pos="3164840" algn="l"/>
                <a:tab pos="4110990" algn="l"/>
                <a:tab pos="4999990" algn="l"/>
                <a:tab pos="5560695" algn="l"/>
                <a:tab pos="5861050" algn="l"/>
                <a:tab pos="6704965" algn="l"/>
                <a:tab pos="7057390" algn="l"/>
              </a:tabLst>
            </a:pPr>
            <a:r>
              <a:rPr spc="-60" dirty="0">
                <a:latin typeface="Noto Sans"/>
                <a:cs typeface="Noto Sans"/>
              </a:rPr>
              <a:t>If	</a:t>
            </a:r>
            <a:r>
              <a:rPr spc="-10" dirty="0">
                <a:latin typeface="Noto Sans"/>
                <a:cs typeface="Noto Sans"/>
              </a:rPr>
              <a:t>th</a:t>
            </a:r>
            <a:r>
              <a:rPr spc="-50" dirty="0">
                <a:latin typeface="Noto Sans"/>
                <a:cs typeface="Noto Sans"/>
              </a:rPr>
              <a:t>e</a:t>
            </a:r>
            <a:r>
              <a:rPr spc="-15" dirty="0">
                <a:latin typeface="Noto Sans"/>
                <a:cs typeface="Noto Sans"/>
              </a:rPr>
              <a:t>y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5" dirty="0">
                <a:latin typeface="Noto Sans"/>
                <a:cs typeface="Noto Sans"/>
              </a:rPr>
              <a:t>al</a:t>
            </a:r>
            <a:r>
              <a:rPr spc="-55" dirty="0">
                <a:latin typeface="Noto Sans"/>
                <a:cs typeface="Noto Sans"/>
              </a:rPr>
              <a:t>r</a:t>
            </a:r>
            <a:r>
              <a:rPr spc="-15" dirty="0">
                <a:latin typeface="Noto Sans"/>
                <a:cs typeface="Noto Sans"/>
              </a:rPr>
              <a:t>e</a:t>
            </a:r>
            <a:r>
              <a:rPr spc="-20" dirty="0">
                <a:latin typeface="Noto Sans"/>
                <a:cs typeface="Noto Sans"/>
              </a:rPr>
              <a:t>a</a:t>
            </a:r>
            <a:r>
              <a:rPr spc="-10" dirty="0">
                <a:latin typeface="Noto Sans"/>
                <a:cs typeface="Noto Sans"/>
              </a:rPr>
              <a:t>dy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0" dirty="0">
                <a:latin typeface="Noto Sans"/>
                <a:cs typeface="Noto Sans"/>
              </a:rPr>
              <a:t>use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5" dirty="0">
                <a:latin typeface="Noto Sans"/>
                <a:cs typeface="Noto Sans"/>
              </a:rPr>
              <a:t>a</a:t>
            </a:r>
            <a:r>
              <a:rPr spc="-20" dirty="0">
                <a:latin typeface="Noto Sans"/>
                <a:cs typeface="Noto Sans"/>
              </a:rPr>
              <a:t>n</a:t>
            </a:r>
            <a:r>
              <a:rPr spc="-15" dirty="0">
                <a:latin typeface="Noto Sans"/>
                <a:cs typeface="Noto Sans"/>
              </a:rPr>
              <a:t>y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50" dirty="0">
                <a:latin typeface="Noto Sans"/>
                <a:cs typeface="Noto Sans"/>
              </a:rPr>
              <a:t>e</a:t>
            </a:r>
            <a:r>
              <a:rPr spc="-20" dirty="0">
                <a:latin typeface="Noto Sans"/>
                <a:cs typeface="Noto Sans"/>
              </a:rPr>
              <a:t>x</a:t>
            </a:r>
            <a:r>
              <a:rPr spc="-10" dirty="0">
                <a:latin typeface="Noto Sans"/>
                <a:cs typeface="Noto Sans"/>
              </a:rPr>
              <a:t>is</a:t>
            </a:r>
            <a:r>
              <a:rPr spc="-40" dirty="0">
                <a:latin typeface="Noto Sans"/>
                <a:cs typeface="Noto Sans"/>
              </a:rPr>
              <a:t>ting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5" dirty="0">
                <a:latin typeface="Noto Sans"/>
                <a:cs typeface="Noto Sans"/>
              </a:rPr>
              <a:t>s</a:t>
            </a:r>
            <a:r>
              <a:rPr spc="-5" dirty="0">
                <a:latin typeface="Noto Sans"/>
                <a:cs typeface="Noto Sans"/>
              </a:rPr>
              <a:t>y</a:t>
            </a:r>
            <a:r>
              <a:rPr spc="-15" dirty="0">
                <a:latin typeface="Noto Sans"/>
                <a:cs typeface="Noto Sans"/>
              </a:rPr>
              <a:t>s</a:t>
            </a:r>
            <a:r>
              <a:rPr spc="-10" dirty="0">
                <a:latin typeface="Noto Sans"/>
                <a:cs typeface="Noto Sans"/>
              </a:rPr>
              <a:t>t</a:t>
            </a:r>
            <a:r>
              <a:rPr spc="-15" dirty="0">
                <a:latin typeface="Noto Sans"/>
                <a:cs typeface="Noto Sans"/>
              </a:rPr>
              <a:t>e</a:t>
            </a:r>
            <a:r>
              <a:rPr spc="-10" dirty="0">
                <a:latin typeface="Noto Sans"/>
                <a:cs typeface="Noto Sans"/>
              </a:rPr>
              <a:t>m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0" dirty="0">
                <a:latin typeface="Noto Sans"/>
                <a:cs typeface="Noto Sans"/>
              </a:rPr>
              <a:t>th</a:t>
            </a:r>
            <a:r>
              <a:rPr spc="-25" dirty="0">
                <a:latin typeface="Noto Sans"/>
                <a:cs typeface="Noto Sans"/>
              </a:rPr>
              <a:t>a</a:t>
            </a:r>
            <a:r>
              <a:rPr spc="-15" dirty="0">
                <a:latin typeface="Noto Sans"/>
                <a:cs typeface="Noto Sans"/>
              </a:rPr>
              <a:t>t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0" dirty="0">
                <a:latin typeface="Noto Sans"/>
                <a:cs typeface="Noto Sans"/>
              </a:rPr>
              <a:t>is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5" dirty="0">
                <a:latin typeface="Noto Sans"/>
                <a:cs typeface="Noto Sans"/>
              </a:rPr>
              <a:t>si</a:t>
            </a:r>
            <a:r>
              <a:rPr spc="-10" dirty="0">
                <a:latin typeface="Noto Sans"/>
                <a:cs typeface="Noto Sans"/>
              </a:rPr>
              <a:t>m</a:t>
            </a:r>
            <a:r>
              <a:rPr spc="-25" dirty="0">
                <a:latin typeface="Noto Sans"/>
                <a:cs typeface="Noto Sans"/>
              </a:rPr>
              <a:t>il</a:t>
            </a:r>
            <a:r>
              <a:rPr spc="-20" dirty="0">
                <a:latin typeface="Noto Sans"/>
                <a:cs typeface="Noto Sans"/>
              </a:rPr>
              <a:t>a</a:t>
            </a:r>
            <a:r>
              <a:rPr spc="-10" dirty="0">
                <a:latin typeface="Noto Sans"/>
                <a:cs typeface="Noto Sans"/>
              </a:rPr>
              <a:t>r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0" dirty="0">
                <a:latin typeface="Noto Sans"/>
                <a:cs typeface="Noto Sans"/>
              </a:rPr>
              <a:t>to</a:t>
            </a:r>
            <a:r>
              <a:rPr dirty="0">
                <a:latin typeface="Noto Sans"/>
                <a:cs typeface="Noto Sans"/>
              </a:rPr>
              <a:t>	</a:t>
            </a:r>
            <a:r>
              <a:rPr spc="-10" dirty="0">
                <a:latin typeface="Noto Sans"/>
                <a:cs typeface="Noto Sans"/>
              </a:rPr>
              <a:t>y</a:t>
            </a:r>
            <a:r>
              <a:rPr spc="-5" dirty="0">
                <a:latin typeface="Noto Sans"/>
                <a:cs typeface="Noto Sans"/>
              </a:rPr>
              <a:t>o</a:t>
            </a:r>
            <a:r>
              <a:rPr spc="-10" dirty="0">
                <a:latin typeface="Noto Sans"/>
                <a:cs typeface="Noto Sans"/>
              </a:rPr>
              <a:t>ur  </a:t>
            </a:r>
            <a:r>
              <a:rPr spc="-15" dirty="0">
                <a:latin typeface="Noto Sans"/>
                <a:cs typeface="Noto Sans"/>
              </a:rPr>
              <a:t>project. </a:t>
            </a:r>
            <a:r>
              <a:rPr spc="-10" dirty="0">
                <a:latin typeface="Noto Sans"/>
                <a:cs typeface="Noto Sans"/>
              </a:rPr>
              <a:t>(5</a:t>
            </a:r>
            <a:r>
              <a:rPr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questions)</a:t>
            </a:r>
            <a:endParaRPr dirty="0">
              <a:latin typeface="Noto Sans"/>
              <a:cs typeface="Noto Sans"/>
            </a:endParaRPr>
          </a:p>
          <a:p>
            <a:pPr marL="355600" indent="-342900"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pc="-60" dirty="0">
                <a:latin typeface="Noto Sans"/>
                <a:cs typeface="Noto Sans"/>
              </a:rPr>
              <a:t>If </a:t>
            </a:r>
            <a:r>
              <a:rPr spc="-20" dirty="0">
                <a:latin typeface="Noto Sans"/>
                <a:cs typeface="Noto Sans"/>
              </a:rPr>
              <a:t>they </a:t>
            </a:r>
            <a:r>
              <a:rPr spc="-25" dirty="0">
                <a:latin typeface="Noto Sans"/>
                <a:cs typeface="Noto Sans"/>
              </a:rPr>
              <a:t>are </a:t>
            </a:r>
            <a:r>
              <a:rPr spc="-15" dirty="0">
                <a:latin typeface="Noto Sans"/>
                <a:cs typeface="Noto Sans"/>
              </a:rPr>
              <a:t>interested </a:t>
            </a:r>
            <a:r>
              <a:rPr spc="-10" dirty="0">
                <a:latin typeface="Noto Sans"/>
                <a:cs typeface="Noto Sans"/>
              </a:rPr>
              <a:t>in the </a:t>
            </a:r>
            <a:r>
              <a:rPr spc="-15" dirty="0">
                <a:latin typeface="Noto Sans"/>
                <a:cs typeface="Noto Sans"/>
              </a:rPr>
              <a:t>features </a:t>
            </a:r>
            <a:r>
              <a:rPr spc="-10" dirty="0">
                <a:latin typeface="Noto Sans"/>
                <a:cs typeface="Noto Sans"/>
              </a:rPr>
              <a:t>of your </a:t>
            </a:r>
            <a:r>
              <a:rPr spc="-15" dirty="0">
                <a:latin typeface="Noto Sans"/>
                <a:cs typeface="Noto Sans"/>
              </a:rPr>
              <a:t>project. </a:t>
            </a:r>
            <a:r>
              <a:rPr spc="-10" dirty="0">
                <a:latin typeface="Noto Sans"/>
                <a:cs typeface="Noto Sans"/>
              </a:rPr>
              <a:t>(5</a:t>
            </a:r>
            <a:r>
              <a:rPr spc="155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questions)</a:t>
            </a:r>
            <a:endParaRPr dirty="0">
              <a:latin typeface="Noto Sans"/>
              <a:cs typeface="Noto Sans"/>
            </a:endParaRPr>
          </a:p>
          <a:p>
            <a:pPr marL="12700">
              <a:spcBef>
                <a:spcPts val="1200"/>
              </a:spcBef>
            </a:pPr>
            <a:r>
              <a:rPr spc="-20" dirty="0">
                <a:latin typeface="Noto Sans"/>
                <a:cs typeface="Noto Sans"/>
              </a:rPr>
              <a:t>Provide</a:t>
            </a:r>
            <a:r>
              <a:rPr spc="125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multiple</a:t>
            </a:r>
            <a:r>
              <a:rPr spc="125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choices</a:t>
            </a:r>
            <a:r>
              <a:rPr spc="130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for</a:t>
            </a:r>
            <a:r>
              <a:rPr spc="130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each</a:t>
            </a:r>
            <a:r>
              <a:rPr spc="125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question.</a:t>
            </a:r>
            <a:r>
              <a:rPr spc="130" dirty="0">
                <a:latin typeface="Noto Sans"/>
                <a:cs typeface="Noto Sans"/>
              </a:rPr>
              <a:t> </a:t>
            </a:r>
            <a:r>
              <a:rPr spc="-40" dirty="0">
                <a:latin typeface="Noto Sans"/>
                <a:cs typeface="Noto Sans"/>
              </a:rPr>
              <a:t>You</a:t>
            </a:r>
            <a:r>
              <a:rPr spc="114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can</a:t>
            </a:r>
            <a:r>
              <a:rPr spc="125" dirty="0">
                <a:latin typeface="Noto Sans"/>
                <a:cs typeface="Noto Sans"/>
              </a:rPr>
              <a:t> </a:t>
            </a:r>
            <a:r>
              <a:rPr spc="-20" dirty="0">
                <a:latin typeface="Noto Sans"/>
                <a:cs typeface="Noto Sans"/>
              </a:rPr>
              <a:t>keep</a:t>
            </a:r>
            <a:r>
              <a:rPr spc="130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open-ended</a:t>
            </a:r>
            <a:endParaRPr dirty="0">
              <a:latin typeface="Noto Sans"/>
              <a:cs typeface="Noto Sans"/>
            </a:endParaRPr>
          </a:p>
          <a:p>
            <a:pPr marL="12700">
              <a:spcBef>
                <a:spcPts val="5"/>
              </a:spcBef>
            </a:pPr>
            <a:r>
              <a:rPr spc="-10" dirty="0">
                <a:latin typeface="Noto Sans"/>
                <a:cs typeface="Noto Sans"/>
              </a:rPr>
              <a:t>questions but </a:t>
            </a:r>
            <a:r>
              <a:rPr spc="-25" dirty="0">
                <a:latin typeface="Noto Sans"/>
                <a:cs typeface="Noto Sans"/>
              </a:rPr>
              <a:t>make </a:t>
            </a:r>
            <a:r>
              <a:rPr spc="-20" dirty="0">
                <a:latin typeface="Noto Sans"/>
                <a:cs typeface="Noto Sans"/>
              </a:rPr>
              <a:t>sure </a:t>
            </a:r>
            <a:r>
              <a:rPr spc="-10" dirty="0">
                <a:latin typeface="Noto Sans"/>
                <a:cs typeface="Noto Sans"/>
              </a:rPr>
              <a:t>to </a:t>
            </a:r>
            <a:r>
              <a:rPr spc="-20" dirty="0">
                <a:latin typeface="Noto Sans"/>
                <a:cs typeface="Noto Sans"/>
              </a:rPr>
              <a:t>keep </a:t>
            </a:r>
            <a:r>
              <a:rPr spc="-15" dirty="0">
                <a:latin typeface="Noto Sans"/>
                <a:cs typeface="Noto Sans"/>
              </a:rPr>
              <a:t>that</a:t>
            </a:r>
            <a:r>
              <a:rPr spc="45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optional.</a:t>
            </a:r>
            <a:endParaRPr dirty="0">
              <a:latin typeface="Noto Sans"/>
              <a:cs typeface="Noto San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88DC2115-3CD0-423F-ABAC-D0B6EEA4A6B8}"/>
              </a:ext>
            </a:extLst>
          </p:cNvPr>
          <p:cNvSpPr txBox="1">
            <a:spLocks/>
          </p:cNvSpPr>
          <p:nvPr/>
        </p:nvSpPr>
        <p:spPr>
          <a:xfrm>
            <a:off x="-76200" y="609600"/>
            <a:ext cx="6781056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/>
              <a:t>     How many questions?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5137" y="317245"/>
            <a:ext cx="2698496" cy="47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94232" y="900683"/>
            <a:ext cx="6859524" cy="5812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4220" y="1137411"/>
          <a:ext cx="8095615" cy="5355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523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17702">
                <a:tc>
                  <a:txBody>
                    <a:bodyPr/>
                    <a:lstStyle/>
                    <a:p>
                      <a:pPr marL="8477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800" spc="-10" dirty="0">
                          <a:latin typeface="Noto Sans"/>
                          <a:cs typeface="Noto Sans"/>
                        </a:rPr>
                        <a:t>Bad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Question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800" spc="-5" dirty="0">
                          <a:latin typeface="Noto Sans"/>
                          <a:cs typeface="Noto Sans"/>
                        </a:rPr>
                        <a:t>Good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Question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630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91440" marR="18669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Noto Sans"/>
                          <a:cs typeface="Noto Sans"/>
                        </a:rPr>
                        <a:t>Q: Do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you use</a:t>
                      </a:r>
                      <a:r>
                        <a:rPr sz="1800" spc="-6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Foodpanda? 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40" dirty="0">
                          <a:latin typeface="Noto Sans"/>
                          <a:cs typeface="Noto Sans"/>
                        </a:rPr>
                        <a:t> Yes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4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No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6635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" dirty="0">
                          <a:latin typeface="Noto Sans"/>
                          <a:cs typeface="Noto Sans"/>
                        </a:rPr>
                        <a:t>Q: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Which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food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delivery app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do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you</a:t>
                      </a:r>
                      <a:r>
                        <a:rPr sz="1800" spc="-9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use? 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Uber</a:t>
                      </a:r>
                      <a:r>
                        <a:rPr sz="1800" spc="-3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Eats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2075" marR="304419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Pathao</a:t>
                      </a:r>
                      <a:r>
                        <a:rPr sz="1800" spc="-10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Food 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7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Foodpanda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tabLst>
                          <a:tab pos="2532380" algn="l"/>
                        </a:tabLst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 Others:</a:t>
                      </a:r>
                      <a:r>
                        <a:rPr sz="1800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Noto Sans"/>
                          <a:cs typeface="Noto Sans"/>
                        </a:rPr>
                        <a:t> 	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(mention)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91440" marR="3479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Noto Sans"/>
                          <a:cs typeface="Noto Sans"/>
                        </a:rPr>
                        <a:t>Q: Do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you find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the</a:t>
                      </a:r>
                      <a:r>
                        <a:rPr sz="1800" spc="-8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search  feature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useful?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40" dirty="0">
                          <a:latin typeface="Noto Sans"/>
                          <a:cs typeface="Noto Sans"/>
                        </a:rPr>
                        <a:t> Yes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4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No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546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" dirty="0">
                          <a:latin typeface="Noto Sans"/>
                          <a:cs typeface="Noto Sans"/>
                        </a:rPr>
                        <a:t>Q: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Tick all the features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you find most useful 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about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your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food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app.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3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Search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2075" marR="268732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Online</a:t>
                      </a:r>
                      <a:r>
                        <a:rPr sz="1800" spc="-114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Payment 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4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Schedule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tabLst>
                          <a:tab pos="2532380" algn="l"/>
                        </a:tabLst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 Others:</a:t>
                      </a:r>
                      <a:r>
                        <a:rPr sz="1800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Noto Sans"/>
                          <a:cs typeface="Noto Sans"/>
                        </a:rPr>
                        <a:t> 	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(mention)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737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91440" marR="24257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Noto Sans"/>
                          <a:cs typeface="Noto Sans"/>
                        </a:rPr>
                        <a:t>Q: Do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you 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think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we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should  implement this</a:t>
                      </a:r>
                      <a:r>
                        <a:rPr sz="1800" spc="-5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feature?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40" dirty="0">
                          <a:latin typeface="Noto Sans"/>
                          <a:cs typeface="Noto Sans"/>
                        </a:rPr>
                        <a:t> Yes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4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No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794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Noto Sans"/>
                          <a:cs typeface="Noto Sans"/>
                        </a:rPr>
                        <a:t>Q: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Tick the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one </a:t>
                      </a:r>
                      <a:r>
                        <a:rPr sz="1800" spc="-25" dirty="0">
                          <a:latin typeface="Noto Sans"/>
                          <a:cs typeface="Noto Sans"/>
                        </a:rPr>
                        <a:t>new 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feature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you would 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love 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to see in our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app.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3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Search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2075" marR="268732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Online</a:t>
                      </a:r>
                      <a:r>
                        <a:rPr sz="1800" spc="-114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Payment 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4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Schedule</a:t>
                      </a:r>
                      <a:endParaRPr sz="1800">
                        <a:latin typeface="Noto Sans"/>
                        <a:cs typeface="Noto San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2532380" algn="l"/>
                        </a:tabLst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 Others:</a:t>
                      </a:r>
                      <a:r>
                        <a:rPr sz="1800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Noto Sans"/>
                          <a:cs typeface="Noto Sans"/>
                        </a:rPr>
                        <a:t> 	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(mention)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5137" y="317245"/>
            <a:ext cx="7197344" cy="47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8307" y="1049273"/>
            <a:ext cx="8235950" cy="487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pc="-10" dirty="0">
                <a:latin typeface="Noto Sans"/>
                <a:cs typeface="Noto Sans"/>
              </a:rPr>
              <a:t>Clearly outline the </a:t>
            </a:r>
            <a:r>
              <a:rPr spc="-5" dirty="0">
                <a:latin typeface="Noto Sans"/>
                <a:cs typeface="Noto Sans"/>
              </a:rPr>
              <a:t>purpose </a:t>
            </a:r>
            <a:r>
              <a:rPr spc="-10" dirty="0">
                <a:latin typeface="Noto Sans"/>
                <a:cs typeface="Noto Sans"/>
              </a:rPr>
              <a:t>of the </a:t>
            </a:r>
            <a:r>
              <a:rPr spc="-30" dirty="0">
                <a:latin typeface="Noto Sans"/>
                <a:cs typeface="Noto Sans"/>
              </a:rPr>
              <a:t>survey. </a:t>
            </a:r>
            <a:r>
              <a:rPr spc="-60" dirty="0">
                <a:latin typeface="Noto Sans"/>
                <a:cs typeface="Noto Sans"/>
              </a:rPr>
              <a:t>In </a:t>
            </a:r>
            <a:r>
              <a:rPr spc="-15" dirty="0">
                <a:latin typeface="Noto Sans"/>
                <a:cs typeface="Noto Sans"/>
              </a:rPr>
              <a:t>this sense, </a:t>
            </a:r>
            <a:r>
              <a:rPr spc="-5" dirty="0">
                <a:latin typeface="Noto Sans"/>
                <a:cs typeface="Noto Sans"/>
              </a:rPr>
              <a:t>you </a:t>
            </a:r>
            <a:r>
              <a:rPr spc="-10" dirty="0">
                <a:latin typeface="Noto Sans"/>
                <a:cs typeface="Noto Sans"/>
              </a:rPr>
              <a:t>should </a:t>
            </a:r>
            <a:r>
              <a:rPr spc="-15" dirty="0">
                <a:latin typeface="Noto Sans"/>
                <a:cs typeface="Noto Sans"/>
              </a:rPr>
              <a:t>have </a:t>
            </a:r>
            <a:r>
              <a:rPr spc="-10" dirty="0">
                <a:latin typeface="Noto Sans"/>
                <a:cs typeface="Noto Sans"/>
              </a:rPr>
              <a:t>a  well-defined </a:t>
            </a:r>
            <a:r>
              <a:rPr spc="-15" dirty="0">
                <a:latin typeface="Noto Sans"/>
                <a:cs typeface="Noto Sans"/>
              </a:rPr>
              <a:t>idea </a:t>
            </a:r>
            <a:r>
              <a:rPr spc="-10" dirty="0">
                <a:latin typeface="Noto Sans"/>
                <a:cs typeface="Noto Sans"/>
              </a:rPr>
              <a:t>of </a:t>
            </a:r>
            <a:r>
              <a:rPr spc="-15" dirty="0">
                <a:latin typeface="Noto Sans"/>
                <a:cs typeface="Noto Sans"/>
              </a:rPr>
              <a:t>what </a:t>
            </a:r>
            <a:r>
              <a:rPr spc="-5" dirty="0">
                <a:latin typeface="Noto Sans"/>
                <a:cs typeface="Noto Sans"/>
              </a:rPr>
              <a:t>you </a:t>
            </a:r>
            <a:r>
              <a:rPr spc="-15" dirty="0">
                <a:latin typeface="Noto Sans"/>
                <a:cs typeface="Noto Sans"/>
              </a:rPr>
              <a:t>intend </a:t>
            </a:r>
            <a:r>
              <a:rPr spc="-10" dirty="0">
                <a:latin typeface="Noto Sans"/>
                <a:cs typeface="Noto Sans"/>
              </a:rPr>
              <a:t>to </a:t>
            </a:r>
            <a:r>
              <a:rPr spc="-20" dirty="0">
                <a:latin typeface="Noto Sans"/>
                <a:cs typeface="Noto Sans"/>
              </a:rPr>
              <a:t>achieve </a:t>
            </a:r>
            <a:r>
              <a:rPr spc="-15" dirty="0">
                <a:latin typeface="Noto Sans"/>
                <a:cs typeface="Noto Sans"/>
              </a:rPr>
              <a:t>with </a:t>
            </a:r>
            <a:r>
              <a:rPr spc="-10" dirty="0">
                <a:latin typeface="Noto Sans"/>
                <a:cs typeface="Noto Sans"/>
              </a:rPr>
              <a:t>your </a:t>
            </a:r>
            <a:r>
              <a:rPr spc="-30" dirty="0">
                <a:latin typeface="Noto Sans"/>
                <a:cs typeface="Noto Sans"/>
              </a:rPr>
              <a:t>survey. </a:t>
            </a:r>
            <a:r>
              <a:rPr spc="-5" dirty="0">
                <a:latin typeface="Noto Sans"/>
                <a:cs typeface="Noto Sans"/>
              </a:rPr>
              <a:t>Do you  </a:t>
            </a:r>
            <a:r>
              <a:rPr spc="-15" dirty="0">
                <a:latin typeface="Noto Sans"/>
                <a:cs typeface="Noto Sans"/>
              </a:rPr>
              <a:t>want </a:t>
            </a:r>
            <a:r>
              <a:rPr spc="-10" dirty="0">
                <a:latin typeface="Noto Sans"/>
                <a:cs typeface="Noto Sans"/>
              </a:rPr>
              <a:t>to </a:t>
            </a:r>
            <a:r>
              <a:rPr spc="-30" dirty="0">
                <a:latin typeface="Noto Sans"/>
                <a:cs typeface="Noto Sans"/>
              </a:rPr>
              <a:t>gather </a:t>
            </a:r>
            <a:r>
              <a:rPr spc="-10" dirty="0">
                <a:latin typeface="Noto Sans"/>
                <a:cs typeface="Noto Sans"/>
              </a:rPr>
              <a:t>feedback for a </a:t>
            </a:r>
            <a:r>
              <a:rPr spc="-15" dirty="0">
                <a:latin typeface="Noto Sans"/>
                <a:cs typeface="Noto Sans"/>
              </a:rPr>
              <a:t>product </a:t>
            </a:r>
            <a:r>
              <a:rPr spc="-10" dirty="0">
                <a:latin typeface="Noto Sans"/>
                <a:cs typeface="Noto Sans"/>
              </a:rPr>
              <a:t>or find </a:t>
            </a:r>
            <a:r>
              <a:rPr spc="-15" dirty="0">
                <a:latin typeface="Noto Sans"/>
                <a:cs typeface="Noto Sans"/>
              </a:rPr>
              <a:t>out what </a:t>
            </a:r>
            <a:r>
              <a:rPr spc="-10" dirty="0">
                <a:latin typeface="Noto Sans"/>
                <a:cs typeface="Noto Sans"/>
              </a:rPr>
              <a:t>customers </a:t>
            </a:r>
            <a:r>
              <a:rPr spc="-15" dirty="0">
                <a:latin typeface="Noto Sans"/>
                <a:cs typeface="Noto Sans"/>
              </a:rPr>
              <a:t>think  about </a:t>
            </a:r>
            <a:r>
              <a:rPr spc="-10" dirty="0">
                <a:latin typeface="Noto Sans"/>
                <a:cs typeface="Noto Sans"/>
              </a:rPr>
              <a:t>a business decision?</a:t>
            </a:r>
            <a:endParaRPr dirty="0">
              <a:latin typeface="Noto Sans"/>
              <a:cs typeface="Noto Sans"/>
            </a:endParaRPr>
          </a:p>
          <a:p>
            <a:pPr marL="355600" indent="-342900"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pc="-25" dirty="0">
                <a:latin typeface="Noto Sans"/>
                <a:cs typeface="Noto Sans"/>
              </a:rPr>
              <a:t>Make</a:t>
            </a:r>
            <a:r>
              <a:rPr spc="245" dirty="0">
                <a:latin typeface="Noto Sans"/>
                <a:cs typeface="Noto Sans"/>
              </a:rPr>
              <a:t> </a:t>
            </a:r>
            <a:r>
              <a:rPr spc="-20" dirty="0">
                <a:latin typeface="Noto Sans"/>
                <a:cs typeface="Noto Sans"/>
              </a:rPr>
              <a:t>sure</a:t>
            </a:r>
            <a:r>
              <a:rPr spc="250" dirty="0">
                <a:latin typeface="Noto Sans"/>
                <a:cs typeface="Noto Sans"/>
              </a:rPr>
              <a:t> </a:t>
            </a:r>
            <a:r>
              <a:rPr spc="-5" dirty="0">
                <a:latin typeface="Noto Sans"/>
                <a:cs typeface="Noto Sans"/>
              </a:rPr>
              <a:t>your</a:t>
            </a:r>
            <a:r>
              <a:rPr spc="245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questions</a:t>
            </a:r>
            <a:r>
              <a:rPr spc="235" dirty="0">
                <a:latin typeface="Noto Sans"/>
                <a:cs typeface="Noto Sans"/>
              </a:rPr>
              <a:t> </a:t>
            </a:r>
            <a:r>
              <a:rPr spc="-25" dirty="0">
                <a:latin typeface="Noto Sans"/>
                <a:cs typeface="Noto Sans"/>
              </a:rPr>
              <a:t>are</a:t>
            </a:r>
            <a:r>
              <a:rPr spc="245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simple,</a:t>
            </a:r>
            <a:r>
              <a:rPr spc="240" dirty="0">
                <a:latin typeface="Noto Sans"/>
                <a:cs typeface="Noto Sans"/>
              </a:rPr>
              <a:t> </a:t>
            </a:r>
            <a:r>
              <a:rPr spc="-35" dirty="0">
                <a:latin typeface="Noto Sans"/>
                <a:cs typeface="Noto Sans"/>
              </a:rPr>
              <a:t>straight</a:t>
            </a:r>
            <a:r>
              <a:rPr spc="254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to</a:t>
            </a:r>
            <a:r>
              <a:rPr spc="254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the</a:t>
            </a:r>
            <a:r>
              <a:rPr spc="235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point,</a:t>
            </a:r>
            <a:r>
              <a:rPr spc="250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and</a:t>
            </a:r>
            <a:r>
              <a:rPr spc="254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easy</a:t>
            </a:r>
            <a:r>
              <a:rPr spc="260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to</a:t>
            </a:r>
            <a:endParaRPr dirty="0">
              <a:latin typeface="Noto Sans"/>
              <a:cs typeface="Noto Sans"/>
            </a:endParaRPr>
          </a:p>
          <a:p>
            <a:pPr marL="355600"/>
            <a:r>
              <a:rPr spc="-10" dirty="0">
                <a:latin typeface="Noto Sans"/>
                <a:cs typeface="Noto Sans"/>
              </a:rPr>
              <a:t>understand. Avoid </a:t>
            </a:r>
            <a:r>
              <a:rPr spc="-35" dirty="0">
                <a:latin typeface="Noto Sans"/>
                <a:cs typeface="Noto Sans"/>
              </a:rPr>
              <a:t>making </a:t>
            </a:r>
            <a:r>
              <a:rPr spc="-5" dirty="0">
                <a:latin typeface="Noto Sans"/>
                <a:cs typeface="Noto Sans"/>
              </a:rPr>
              <a:t>use </a:t>
            </a:r>
            <a:r>
              <a:rPr spc="-10" dirty="0">
                <a:latin typeface="Noto Sans"/>
                <a:cs typeface="Noto Sans"/>
              </a:rPr>
              <a:t>of </a:t>
            </a:r>
            <a:r>
              <a:rPr spc="-35" dirty="0">
                <a:latin typeface="Noto Sans"/>
                <a:cs typeface="Noto Sans"/>
              </a:rPr>
              <a:t>vague </a:t>
            </a:r>
            <a:r>
              <a:rPr spc="-15" dirty="0">
                <a:latin typeface="Noto Sans"/>
                <a:cs typeface="Noto Sans"/>
              </a:rPr>
              <a:t>and </a:t>
            </a:r>
            <a:r>
              <a:rPr spc="-25" dirty="0">
                <a:latin typeface="Noto Sans"/>
                <a:cs typeface="Noto Sans"/>
              </a:rPr>
              <a:t>ambiguous</a:t>
            </a:r>
            <a:r>
              <a:rPr spc="25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words.</a:t>
            </a:r>
            <a:endParaRPr dirty="0">
              <a:latin typeface="Noto Sans"/>
              <a:cs typeface="Noto Sans"/>
            </a:endParaRPr>
          </a:p>
          <a:p>
            <a:pPr marL="355600" marR="5715" indent="-342900" algn="just">
              <a:spcBef>
                <a:spcPts val="1200"/>
              </a:spcBef>
              <a:buAutoNum type="arabicPeriod" startAt="3"/>
              <a:tabLst>
                <a:tab pos="355600" algn="l"/>
              </a:tabLst>
            </a:pPr>
            <a:r>
              <a:rPr spc="-10" dirty="0">
                <a:latin typeface="Noto Sans"/>
                <a:cs typeface="Noto Sans"/>
              </a:rPr>
              <a:t>Avoid </a:t>
            </a:r>
            <a:r>
              <a:rPr spc="-15" dirty="0">
                <a:latin typeface="Noto Sans"/>
                <a:cs typeface="Noto Sans"/>
              </a:rPr>
              <a:t>double-barrelled </a:t>
            </a:r>
            <a:r>
              <a:rPr spc="-10" dirty="0">
                <a:latin typeface="Noto Sans"/>
                <a:cs typeface="Noto Sans"/>
              </a:rPr>
              <a:t>questions: </a:t>
            </a:r>
            <a:r>
              <a:rPr spc="-20" dirty="0">
                <a:latin typeface="Noto Sans"/>
                <a:cs typeface="Noto Sans"/>
              </a:rPr>
              <a:t>Ensure </a:t>
            </a:r>
            <a:r>
              <a:rPr spc="-15" dirty="0">
                <a:latin typeface="Noto Sans"/>
                <a:cs typeface="Noto Sans"/>
              </a:rPr>
              <a:t>that </a:t>
            </a:r>
            <a:r>
              <a:rPr spc="-10" dirty="0">
                <a:latin typeface="Noto Sans"/>
                <a:cs typeface="Noto Sans"/>
              </a:rPr>
              <a:t>each question </a:t>
            </a:r>
            <a:r>
              <a:rPr spc="-20" dirty="0">
                <a:latin typeface="Noto Sans"/>
                <a:cs typeface="Noto Sans"/>
              </a:rPr>
              <a:t>requests  </a:t>
            </a:r>
            <a:r>
              <a:rPr spc="-5" dirty="0">
                <a:latin typeface="Noto Sans"/>
                <a:cs typeface="Noto Sans"/>
              </a:rPr>
              <a:t>one </a:t>
            </a:r>
            <a:r>
              <a:rPr spc="-10" dirty="0">
                <a:latin typeface="Noto Sans"/>
                <a:cs typeface="Noto Sans"/>
              </a:rPr>
              <a:t>specific </a:t>
            </a:r>
            <a:r>
              <a:rPr spc="-15" dirty="0">
                <a:latin typeface="Noto Sans"/>
                <a:cs typeface="Noto Sans"/>
              </a:rPr>
              <a:t>information </a:t>
            </a:r>
            <a:r>
              <a:rPr spc="-20" dirty="0">
                <a:latin typeface="Noto Sans"/>
                <a:cs typeface="Noto Sans"/>
              </a:rPr>
              <a:t>from </a:t>
            </a:r>
            <a:r>
              <a:rPr spc="-15" dirty="0">
                <a:latin typeface="Noto Sans"/>
                <a:cs typeface="Noto Sans"/>
              </a:rPr>
              <a:t>respondents. </a:t>
            </a:r>
            <a:r>
              <a:rPr spc="-60" dirty="0">
                <a:latin typeface="Noto Sans"/>
                <a:cs typeface="Noto Sans"/>
              </a:rPr>
              <a:t>In </a:t>
            </a:r>
            <a:r>
              <a:rPr spc="-10" dirty="0">
                <a:latin typeface="Noto Sans"/>
                <a:cs typeface="Noto Sans"/>
              </a:rPr>
              <a:t>other </a:t>
            </a:r>
            <a:r>
              <a:rPr spc="-20" dirty="0">
                <a:latin typeface="Noto Sans"/>
                <a:cs typeface="Noto Sans"/>
              </a:rPr>
              <a:t>words, </a:t>
            </a:r>
            <a:r>
              <a:rPr spc="-15" dirty="0">
                <a:latin typeface="Noto Sans"/>
                <a:cs typeface="Noto Sans"/>
              </a:rPr>
              <a:t>do </a:t>
            </a:r>
            <a:r>
              <a:rPr spc="-10" dirty="0">
                <a:latin typeface="Noto Sans"/>
                <a:cs typeface="Noto Sans"/>
              </a:rPr>
              <a:t>not use  </a:t>
            </a:r>
            <a:r>
              <a:rPr spc="-5" dirty="0">
                <a:latin typeface="Noto Sans"/>
                <a:cs typeface="Noto Sans"/>
              </a:rPr>
              <a:t>one </a:t>
            </a:r>
            <a:r>
              <a:rPr spc="-10" dirty="0">
                <a:latin typeface="Noto Sans"/>
                <a:cs typeface="Noto Sans"/>
              </a:rPr>
              <a:t>question to </a:t>
            </a:r>
            <a:r>
              <a:rPr spc="-30" dirty="0">
                <a:latin typeface="Noto Sans"/>
                <a:cs typeface="Noto Sans"/>
              </a:rPr>
              <a:t>gather </a:t>
            </a:r>
            <a:r>
              <a:rPr spc="-15" dirty="0">
                <a:latin typeface="Noto Sans"/>
                <a:cs typeface="Noto Sans"/>
              </a:rPr>
              <a:t>information </a:t>
            </a:r>
            <a:r>
              <a:rPr spc="-10" dirty="0">
                <a:latin typeface="Noto Sans"/>
                <a:cs typeface="Noto Sans"/>
              </a:rPr>
              <a:t>for multiple</a:t>
            </a:r>
            <a:r>
              <a:rPr spc="-5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contexts.</a:t>
            </a:r>
            <a:endParaRPr dirty="0">
              <a:latin typeface="Noto Sans"/>
              <a:cs typeface="Noto Sans"/>
            </a:endParaRPr>
          </a:p>
          <a:p>
            <a:pPr marL="355600" marR="5080" indent="-342900" algn="just">
              <a:spcBef>
                <a:spcPts val="1205"/>
              </a:spcBef>
              <a:buAutoNum type="arabicPeriod" startAt="3"/>
              <a:tabLst>
                <a:tab pos="355600" algn="l"/>
              </a:tabLst>
            </a:pPr>
            <a:r>
              <a:rPr spc="-10" dirty="0">
                <a:latin typeface="Noto Sans"/>
                <a:cs typeface="Noto Sans"/>
              </a:rPr>
              <a:t>Avoid </a:t>
            </a:r>
            <a:r>
              <a:rPr spc="-25" dirty="0">
                <a:latin typeface="Noto Sans"/>
                <a:cs typeface="Noto Sans"/>
              </a:rPr>
              <a:t>leading </a:t>
            </a:r>
            <a:r>
              <a:rPr spc="-15" dirty="0">
                <a:latin typeface="Noto Sans"/>
                <a:cs typeface="Noto Sans"/>
              </a:rPr>
              <a:t>and </a:t>
            </a:r>
            <a:r>
              <a:rPr spc="-10" dirty="0">
                <a:latin typeface="Noto Sans"/>
                <a:cs typeface="Noto Sans"/>
              </a:rPr>
              <a:t>loaded questions. These </a:t>
            </a:r>
            <a:r>
              <a:rPr spc="-15" dirty="0">
                <a:latin typeface="Noto Sans"/>
                <a:cs typeface="Noto Sans"/>
              </a:rPr>
              <a:t>kinds </a:t>
            </a:r>
            <a:r>
              <a:rPr spc="-10" dirty="0">
                <a:latin typeface="Noto Sans"/>
                <a:cs typeface="Noto Sans"/>
              </a:rPr>
              <a:t>of questions </a:t>
            </a:r>
            <a:r>
              <a:rPr spc="-25" dirty="0">
                <a:latin typeface="Noto Sans"/>
                <a:cs typeface="Noto Sans"/>
              </a:rPr>
              <a:t>are </a:t>
            </a:r>
            <a:r>
              <a:rPr spc="-15" dirty="0">
                <a:latin typeface="Noto Sans"/>
                <a:cs typeface="Noto Sans"/>
              </a:rPr>
              <a:t>infused  with </a:t>
            </a:r>
            <a:r>
              <a:rPr spc="-10" dirty="0">
                <a:latin typeface="Noto Sans"/>
                <a:cs typeface="Noto Sans"/>
              </a:rPr>
              <a:t>biases </a:t>
            </a:r>
            <a:r>
              <a:rPr spc="-20" dirty="0">
                <a:latin typeface="Noto Sans"/>
                <a:cs typeface="Noto Sans"/>
              </a:rPr>
              <a:t>that prevent survey </a:t>
            </a:r>
            <a:r>
              <a:rPr spc="-15" dirty="0">
                <a:latin typeface="Noto Sans"/>
                <a:cs typeface="Noto Sans"/>
              </a:rPr>
              <a:t>respondents </a:t>
            </a:r>
            <a:r>
              <a:rPr spc="-20" dirty="0">
                <a:latin typeface="Noto Sans"/>
                <a:cs typeface="Noto Sans"/>
              </a:rPr>
              <a:t>from </a:t>
            </a:r>
            <a:r>
              <a:rPr spc="-35" dirty="0">
                <a:latin typeface="Noto Sans"/>
                <a:cs typeface="Noto Sans"/>
              </a:rPr>
              <a:t>providing </a:t>
            </a:r>
            <a:r>
              <a:rPr spc="-10" dirty="0">
                <a:latin typeface="Noto Sans"/>
                <a:cs typeface="Noto Sans"/>
              </a:rPr>
              <a:t>objective  responses. </a:t>
            </a:r>
            <a:r>
              <a:rPr spc="-15" dirty="0">
                <a:latin typeface="Noto Sans"/>
                <a:cs typeface="Noto Sans"/>
              </a:rPr>
              <a:t>For instance, when </a:t>
            </a:r>
            <a:r>
              <a:rPr spc="-25" dirty="0">
                <a:latin typeface="Noto Sans"/>
                <a:cs typeface="Noto Sans"/>
              </a:rPr>
              <a:t>collecting </a:t>
            </a:r>
            <a:r>
              <a:rPr spc="-10" dirty="0">
                <a:latin typeface="Noto Sans"/>
                <a:cs typeface="Noto Sans"/>
              </a:rPr>
              <a:t>feedback </a:t>
            </a:r>
            <a:r>
              <a:rPr spc="-15" dirty="0">
                <a:latin typeface="Noto Sans"/>
                <a:cs typeface="Noto Sans"/>
              </a:rPr>
              <a:t>from clients </a:t>
            </a:r>
            <a:r>
              <a:rPr spc="-5" dirty="0">
                <a:latin typeface="Noto Sans"/>
                <a:cs typeface="Noto Sans"/>
              </a:rPr>
              <a:t>on </a:t>
            </a:r>
            <a:r>
              <a:rPr spc="-10" dirty="0">
                <a:latin typeface="Noto Sans"/>
                <a:cs typeface="Noto Sans"/>
              </a:rPr>
              <a:t>a  </a:t>
            </a:r>
            <a:r>
              <a:rPr spc="-15" dirty="0">
                <a:latin typeface="Noto Sans"/>
                <a:cs typeface="Noto Sans"/>
              </a:rPr>
              <a:t>product </a:t>
            </a:r>
            <a:r>
              <a:rPr spc="-5" dirty="0">
                <a:latin typeface="Noto Sans"/>
                <a:cs typeface="Noto Sans"/>
              </a:rPr>
              <a:t>or </a:t>
            </a:r>
            <a:r>
              <a:rPr spc="-15" dirty="0">
                <a:latin typeface="Noto Sans"/>
                <a:cs typeface="Noto Sans"/>
              </a:rPr>
              <a:t>service </a:t>
            </a:r>
            <a:r>
              <a:rPr spc="-5" dirty="0">
                <a:latin typeface="Noto Sans"/>
                <a:cs typeface="Noto Sans"/>
              </a:rPr>
              <a:t>you </a:t>
            </a:r>
            <a:r>
              <a:rPr spc="-15" dirty="0">
                <a:latin typeface="Noto Sans"/>
                <a:cs typeface="Noto Sans"/>
              </a:rPr>
              <a:t>can </a:t>
            </a:r>
            <a:r>
              <a:rPr spc="-10" dirty="0">
                <a:latin typeface="Noto Sans"/>
                <a:cs typeface="Noto Sans"/>
              </a:rPr>
              <a:t>include </a:t>
            </a:r>
            <a:r>
              <a:rPr spc="-15" dirty="0">
                <a:latin typeface="Noto Sans"/>
                <a:cs typeface="Noto Sans"/>
              </a:rPr>
              <a:t>an </a:t>
            </a:r>
            <a:r>
              <a:rPr spc="-10" dirty="0">
                <a:latin typeface="Noto Sans"/>
                <a:cs typeface="Noto Sans"/>
              </a:rPr>
              <a:t>assumption-based </a:t>
            </a:r>
            <a:r>
              <a:rPr spc="-25" dirty="0">
                <a:latin typeface="Noto Sans"/>
                <a:cs typeface="Noto Sans"/>
              </a:rPr>
              <a:t>leading </a:t>
            </a:r>
            <a:r>
              <a:rPr spc="-10" dirty="0">
                <a:latin typeface="Noto Sans"/>
                <a:cs typeface="Noto Sans"/>
              </a:rPr>
              <a:t>question  </a:t>
            </a:r>
            <a:r>
              <a:rPr spc="-20" dirty="0">
                <a:latin typeface="Noto Sans"/>
                <a:cs typeface="Noto Sans"/>
              </a:rPr>
              <a:t>like: </a:t>
            </a:r>
            <a:r>
              <a:rPr spc="-25" dirty="0">
                <a:latin typeface="Noto Sans"/>
                <a:cs typeface="Noto Sans"/>
              </a:rPr>
              <a:t>"How </a:t>
            </a:r>
            <a:r>
              <a:rPr spc="-15" dirty="0">
                <a:latin typeface="Noto Sans"/>
                <a:cs typeface="Noto Sans"/>
              </a:rPr>
              <a:t>much </a:t>
            </a:r>
            <a:r>
              <a:rPr spc="-10" dirty="0">
                <a:latin typeface="Noto Sans"/>
                <a:cs typeface="Noto Sans"/>
              </a:rPr>
              <a:t>did you </a:t>
            </a:r>
            <a:r>
              <a:rPr spc="-20" dirty="0">
                <a:latin typeface="Noto Sans"/>
                <a:cs typeface="Noto Sans"/>
              </a:rPr>
              <a:t>enjoy </a:t>
            </a:r>
            <a:r>
              <a:rPr spc="-35" dirty="0">
                <a:latin typeface="Noto Sans"/>
                <a:cs typeface="Noto Sans"/>
              </a:rPr>
              <a:t>using </a:t>
            </a:r>
            <a:r>
              <a:rPr spc="-10" dirty="0">
                <a:latin typeface="Noto Sans"/>
                <a:cs typeface="Noto Sans"/>
              </a:rPr>
              <a:t>our </a:t>
            </a:r>
            <a:r>
              <a:rPr spc="-15" dirty="0">
                <a:latin typeface="Noto Sans"/>
                <a:cs typeface="Noto Sans"/>
              </a:rPr>
              <a:t>product?" This </a:t>
            </a:r>
            <a:r>
              <a:rPr spc="-10" dirty="0">
                <a:latin typeface="Noto Sans"/>
                <a:cs typeface="Noto Sans"/>
              </a:rPr>
              <a:t>question  </a:t>
            </a:r>
            <a:r>
              <a:rPr spc="-15" dirty="0">
                <a:latin typeface="Noto Sans"/>
                <a:cs typeface="Noto Sans"/>
              </a:rPr>
              <a:t>presupposes that </a:t>
            </a:r>
            <a:r>
              <a:rPr spc="-10" dirty="0">
                <a:latin typeface="Noto Sans"/>
                <a:cs typeface="Noto Sans"/>
              </a:rPr>
              <a:t>the </a:t>
            </a:r>
            <a:r>
              <a:rPr spc="-15" dirty="0">
                <a:latin typeface="Noto Sans"/>
                <a:cs typeface="Noto Sans"/>
              </a:rPr>
              <a:t>client </a:t>
            </a:r>
            <a:r>
              <a:rPr spc="-10" dirty="0">
                <a:latin typeface="Noto Sans"/>
                <a:cs typeface="Noto Sans"/>
              </a:rPr>
              <a:t>must have </a:t>
            </a:r>
            <a:r>
              <a:rPr spc="-15" dirty="0">
                <a:latin typeface="Noto Sans"/>
                <a:cs typeface="Noto Sans"/>
              </a:rPr>
              <a:t>enjoyed </a:t>
            </a:r>
            <a:r>
              <a:rPr spc="-35" dirty="0">
                <a:latin typeface="Noto Sans"/>
                <a:cs typeface="Noto Sans"/>
              </a:rPr>
              <a:t>using </a:t>
            </a:r>
            <a:r>
              <a:rPr spc="-10" dirty="0">
                <a:latin typeface="Noto Sans"/>
                <a:cs typeface="Noto Sans"/>
              </a:rPr>
              <a:t>the </a:t>
            </a:r>
            <a:r>
              <a:rPr spc="-15" dirty="0">
                <a:latin typeface="Noto Sans"/>
                <a:cs typeface="Noto Sans"/>
              </a:rPr>
              <a:t>product and  </a:t>
            </a:r>
            <a:r>
              <a:rPr spc="-10" dirty="0">
                <a:latin typeface="Noto Sans"/>
                <a:cs typeface="Noto Sans"/>
              </a:rPr>
              <a:t>only </a:t>
            </a:r>
            <a:r>
              <a:rPr spc="-15" dirty="0">
                <a:latin typeface="Noto Sans"/>
                <a:cs typeface="Noto Sans"/>
              </a:rPr>
              <a:t>inquires </a:t>
            </a:r>
            <a:r>
              <a:rPr spc="-10" dirty="0">
                <a:latin typeface="Noto Sans"/>
                <a:cs typeface="Noto Sans"/>
              </a:rPr>
              <a:t>to the </a:t>
            </a:r>
            <a:r>
              <a:rPr spc="-35" dirty="0">
                <a:latin typeface="Noto Sans"/>
                <a:cs typeface="Noto Sans"/>
              </a:rPr>
              <a:t>degree </a:t>
            </a:r>
            <a:r>
              <a:rPr spc="-5" dirty="0">
                <a:latin typeface="Noto Sans"/>
                <a:cs typeface="Noto Sans"/>
              </a:rPr>
              <a:t>of</a:t>
            </a:r>
            <a:r>
              <a:rPr spc="30" dirty="0">
                <a:latin typeface="Noto Sans"/>
                <a:cs typeface="Noto Sans"/>
              </a:rPr>
              <a:t> </a:t>
            </a:r>
            <a:r>
              <a:rPr spc="-15" dirty="0">
                <a:latin typeface="Noto Sans"/>
                <a:cs typeface="Noto Sans"/>
              </a:rPr>
              <a:t>enjoyment.</a:t>
            </a:r>
            <a:endParaRPr dirty="0">
              <a:latin typeface="Noto Sans"/>
              <a:cs typeface="Noto San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0566B486-C5FC-4D65-8895-27A0FABE034D}"/>
              </a:ext>
            </a:extLst>
          </p:cNvPr>
          <p:cNvSpPr txBox="1"/>
          <p:nvPr/>
        </p:nvSpPr>
        <p:spPr>
          <a:xfrm>
            <a:off x="838200" y="6250932"/>
            <a:ext cx="719409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Noto Sans"/>
                <a:cs typeface="Noto Sans"/>
                <a:hlinkClick r:id="rId3"/>
              </a:rPr>
              <a:t>https://www.formpl.us/blog/good-bad-survey</a:t>
            </a:r>
            <a:endParaRPr sz="1600" dirty="0">
              <a:latin typeface="Noto Sans"/>
              <a:cs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4684" y="1143000"/>
            <a:ext cx="801624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20" dirty="0">
                <a:latin typeface="Noto Sans"/>
                <a:cs typeface="Noto Sans"/>
              </a:rPr>
              <a:t>Create </a:t>
            </a:r>
            <a:r>
              <a:rPr spc="-10" dirty="0">
                <a:latin typeface="Noto Sans"/>
                <a:cs typeface="Noto Sans"/>
              </a:rPr>
              <a:t>a table </a:t>
            </a:r>
            <a:r>
              <a:rPr spc="-30" dirty="0">
                <a:latin typeface="Noto Sans"/>
                <a:cs typeface="Noto Sans"/>
              </a:rPr>
              <a:t>having </a:t>
            </a:r>
            <a:r>
              <a:rPr spc="-10" dirty="0">
                <a:latin typeface="Noto Sans"/>
                <a:cs typeface="Noto Sans"/>
              </a:rPr>
              <a:t>the questions </a:t>
            </a:r>
            <a:r>
              <a:rPr spc="-25" dirty="0">
                <a:latin typeface="Noto Sans"/>
                <a:cs typeface="Noto Sans"/>
              </a:rPr>
              <a:t>displaying </a:t>
            </a:r>
            <a:r>
              <a:rPr spc="-15" dirty="0">
                <a:latin typeface="Noto Sans"/>
                <a:cs typeface="Noto Sans"/>
              </a:rPr>
              <a:t>the proportion </a:t>
            </a:r>
            <a:r>
              <a:rPr spc="-10" dirty="0">
                <a:latin typeface="Noto Sans"/>
                <a:cs typeface="Noto Sans"/>
              </a:rPr>
              <a:t>of </a:t>
            </a:r>
            <a:r>
              <a:rPr spc="-15" dirty="0">
                <a:latin typeface="Noto Sans"/>
                <a:cs typeface="Noto Sans"/>
              </a:rPr>
              <a:t>each  </a:t>
            </a:r>
            <a:r>
              <a:rPr spc="-10" dirty="0">
                <a:latin typeface="Noto Sans"/>
                <a:cs typeface="Noto Sans"/>
              </a:rPr>
              <a:t>possible </a:t>
            </a:r>
            <a:r>
              <a:rPr spc="-15" dirty="0">
                <a:latin typeface="Noto Sans"/>
                <a:cs typeface="Noto Sans"/>
              </a:rPr>
              <a:t>answers and </a:t>
            </a:r>
            <a:r>
              <a:rPr spc="-10" dirty="0">
                <a:latin typeface="Noto Sans"/>
                <a:cs typeface="Noto Sans"/>
              </a:rPr>
              <a:t>the decisions based in the</a:t>
            </a:r>
            <a:r>
              <a:rPr dirty="0">
                <a:latin typeface="Noto Sans"/>
                <a:cs typeface="Noto Sans"/>
              </a:rPr>
              <a:t> </a:t>
            </a:r>
            <a:r>
              <a:rPr spc="-20" dirty="0">
                <a:latin typeface="Noto Sans"/>
                <a:cs typeface="Noto Sans"/>
              </a:rPr>
              <a:t>result.</a:t>
            </a:r>
            <a:endParaRPr dirty="0">
              <a:latin typeface="Noto Sans"/>
              <a:cs typeface="Noto Sans"/>
            </a:endParaRPr>
          </a:p>
          <a:p>
            <a:pPr marL="12700">
              <a:spcBef>
                <a:spcPts val="1200"/>
              </a:spcBef>
            </a:pPr>
            <a:r>
              <a:rPr spc="-10" dirty="0">
                <a:latin typeface="Noto Sans"/>
                <a:cs typeface="Noto Sans"/>
              </a:rPr>
              <a:t>For </a:t>
            </a:r>
            <a:r>
              <a:rPr spc="-15" dirty="0">
                <a:latin typeface="Noto Sans"/>
                <a:cs typeface="Noto Sans"/>
              </a:rPr>
              <a:t>example:</a:t>
            </a:r>
            <a:endParaRPr dirty="0">
              <a:latin typeface="Noto Sans"/>
              <a:cs typeface="Noto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930782"/>
              </p:ext>
            </p:extLst>
          </p:nvPr>
        </p:nvGraphicFramePr>
        <p:xfrm>
          <a:off x="933832" y="2334260"/>
          <a:ext cx="7644765" cy="28925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97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949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1859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Noto Sans"/>
                          <a:cs typeface="Noto Sans"/>
                        </a:rPr>
                        <a:t>Question</a:t>
                      </a:r>
                      <a:endParaRPr sz="1800" dirty="0">
                        <a:solidFill>
                          <a:srgbClr val="FF0000"/>
                        </a:solidFill>
                        <a:latin typeface="Noto Sans"/>
                        <a:cs typeface="Noto Sans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Noto Sans"/>
                          <a:cs typeface="Noto Sans"/>
                        </a:rPr>
                        <a:t>Decision</a:t>
                      </a:r>
                      <a:endParaRPr sz="1800" dirty="0">
                        <a:solidFill>
                          <a:srgbClr val="FF0000"/>
                        </a:solidFill>
                        <a:latin typeface="Noto Sans"/>
                        <a:cs typeface="Noto Sans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73960">
                <a:tc>
                  <a:txBody>
                    <a:bodyPr/>
                    <a:lstStyle/>
                    <a:p>
                      <a:pPr marL="137160" marR="3238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800" spc="-5" dirty="0">
                          <a:latin typeface="Noto Sans"/>
                          <a:cs typeface="Noto Sans"/>
                        </a:rPr>
                        <a:t>Q</a:t>
                      </a:r>
                      <a:r>
                        <a:rPr lang="en-US" sz="1800" spc="-5" dirty="0">
                          <a:latin typeface="Noto Sans"/>
                          <a:cs typeface="Noto Sans"/>
                        </a:rPr>
                        <a:t>1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: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Tick the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one </a:t>
                      </a:r>
                      <a:r>
                        <a:rPr sz="1800" spc="-25" dirty="0">
                          <a:latin typeface="Noto Sans"/>
                          <a:cs typeface="Noto Sans"/>
                        </a:rPr>
                        <a:t>new 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feature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you would  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love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to see in our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app.</a:t>
                      </a:r>
                      <a:endParaRPr sz="1800" dirty="0">
                        <a:latin typeface="Noto Sans"/>
                        <a:cs typeface="Noto Sans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48%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4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Search</a:t>
                      </a:r>
                      <a:endParaRPr sz="1800" dirty="0">
                        <a:latin typeface="Noto Sans"/>
                        <a:cs typeface="Noto Sans"/>
                      </a:endParaRPr>
                    </a:p>
                    <a:p>
                      <a:pPr marL="137160" marR="192913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22%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Online</a:t>
                      </a:r>
                      <a:r>
                        <a:rPr sz="1800" spc="-12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Payment 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10%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5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Schedule</a:t>
                      </a:r>
                      <a:endParaRPr sz="1800" dirty="0">
                        <a:latin typeface="Noto Sans"/>
                        <a:cs typeface="Noto Sans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[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20% 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]</a:t>
                      </a:r>
                      <a:r>
                        <a:rPr sz="1800" spc="-4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Others:</a:t>
                      </a:r>
                      <a:endParaRPr sz="1800" dirty="0">
                        <a:latin typeface="Noto Sans"/>
                        <a:cs typeface="Noto Sans"/>
                      </a:endParaRPr>
                    </a:p>
                    <a:p>
                      <a:pPr marL="880744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"/>
                        <a:buChar char="•"/>
                        <a:tabLst>
                          <a:tab pos="880744" algn="l"/>
                          <a:tab pos="881380" algn="l"/>
                        </a:tabLst>
                      </a:pPr>
                      <a:r>
                        <a:rPr sz="1800" spc="-10" dirty="0">
                          <a:latin typeface="Noto Sans"/>
                          <a:cs typeface="Noto Sans"/>
                        </a:rPr>
                        <a:t>Customize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Menu</a:t>
                      </a:r>
                      <a:r>
                        <a:rPr sz="1800" spc="-2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(15%)</a:t>
                      </a:r>
                      <a:endParaRPr sz="1800" dirty="0">
                        <a:latin typeface="Noto Sans"/>
                        <a:cs typeface="Noto Sans"/>
                      </a:endParaRPr>
                    </a:p>
                    <a:p>
                      <a:pPr marL="880744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880744" algn="l"/>
                          <a:tab pos="881380" algn="l"/>
                        </a:tabLst>
                      </a:pPr>
                      <a:r>
                        <a:rPr sz="1800" spc="-30" dirty="0">
                          <a:latin typeface="Noto Sans"/>
                          <a:cs typeface="Noto Sans"/>
                        </a:rPr>
                        <a:t>Theming</a:t>
                      </a:r>
                      <a:r>
                        <a:rPr sz="1800" spc="-2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(5%)</a:t>
                      </a:r>
                      <a:endParaRPr sz="1800" dirty="0">
                        <a:latin typeface="Noto Sans"/>
                        <a:cs typeface="Noto Sans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 marR="14541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800" spc="-25" dirty="0">
                          <a:latin typeface="Noto Sans"/>
                          <a:cs typeface="Noto Sans"/>
                        </a:rPr>
                        <a:t>We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should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implement  </a:t>
                      </a:r>
                      <a:r>
                        <a:rPr sz="1800" b="1" spc="-10" dirty="0">
                          <a:latin typeface="Noto Sans"/>
                          <a:cs typeface="Noto Sans"/>
                        </a:rPr>
                        <a:t>search </a:t>
                      </a:r>
                      <a:r>
                        <a:rPr sz="1800" b="1" spc="-5" dirty="0">
                          <a:latin typeface="Noto Sans"/>
                          <a:cs typeface="Noto Sans"/>
                        </a:rPr>
                        <a:t>option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and </a:t>
                      </a:r>
                      <a:r>
                        <a:rPr sz="1800" b="1" spc="-5" dirty="0">
                          <a:latin typeface="Noto Sans"/>
                          <a:cs typeface="Noto Sans"/>
                        </a:rPr>
                        <a:t>online  </a:t>
                      </a:r>
                      <a:r>
                        <a:rPr sz="1800" b="1" dirty="0">
                          <a:latin typeface="Noto Sans"/>
                          <a:cs typeface="Noto Sans"/>
                        </a:rPr>
                        <a:t>payment</a:t>
                      </a:r>
                      <a:r>
                        <a:rPr sz="1800" b="1" spc="-3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system.</a:t>
                      </a:r>
                      <a:endParaRPr sz="1800" dirty="0">
                        <a:latin typeface="Noto Sans"/>
                        <a:cs typeface="Noto Sans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3"/>
          <p:cNvSpPr txBox="1"/>
          <p:nvPr/>
        </p:nvSpPr>
        <p:spPr>
          <a:xfrm>
            <a:off x="449775" y="5741976"/>
            <a:ext cx="7924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355600" algn="l"/>
              </a:tabLst>
            </a:pPr>
            <a:r>
              <a:rPr lang="en-US" dirty="0">
                <a:latin typeface="Noto Sans"/>
                <a:cs typeface="Noto Sans"/>
              </a:rPr>
              <a:t>	Provide a short description of your project at the beginning of the Google form, so that the participant get an idea about it. </a:t>
            </a:r>
            <a:endParaRPr dirty="0">
              <a:latin typeface="Noto Sans"/>
              <a:cs typeface="Noto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0A3C530-57C3-4866-892B-0C40051F9EAE}"/>
              </a:ext>
            </a:extLst>
          </p:cNvPr>
          <p:cNvSpPr txBox="1"/>
          <p:nvPr/>
        </p:nvSpPr>
        <p:spPr>
          <a:xfrm>
            <a:off x="584684" y="524530"/>
            <a:ext cx="1982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Result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8144" y="734291"/>
            <a:ext cx="3757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">
              <a:lnSpc>
                <a:spcPct val="100000"/>
              </a:lnSpc>
              <a:spcBef>
                <a:spcPts val="495"/>
              </a:spcBef>
            </a:pPr>
            <a:r>
              <a:rPr lang="en-US" sz="2400" b="1" spc="-10" dirty="0">
                <a:latin typeface="Noto Sans"/>
                <a:cs typeface="Noto Sans"/>
              </a:rPr>
              <a:t>List of </a:t>
            </a:r>
            <a:r>
              <a:rPr lang="en-US" sz="2400" b="1" spc="-15" dirty="0">
                <a:latin typeface="Noto Sans"/>
                <a:cs typeface="Noto Sans"/>
              </a:rPr>
              <a:t>selected features</a:t>
            </a:r>
            <a:endParaRPr lang="en-US" sz="2400" b="1" dirty="0">
              <a:latin typeface="Noto Sans"/>
              <a:cs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0435" y="1828799"/>
            <a:ext cx="716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495"/>
              </a:spcBef>
            </a:pPr>
            <a:r>
              <a:rPr lang="en-US" spc="-10" dirty="0">
                <a:latin typeface="Noto Sans"/>
                <a:cs typeface="Noto Sans"/>
              </a:rPr>
              <a:t>Based on the survey result, update your feature list from benchmark analysis and write down your short listed features.</a:t>
            </a:r>
            <a:endParaRPr lang="en-US" dirty="0">
              <a:latin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182298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5139" y="317245"/>
            <a:ext cx="2838069" cy="47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64286" y="1011173"/>
            <a:ext cx="7546340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5" dirty="0">
                <a:latin typeface="Noto Sans"/>
                <a:cs typeface="Noto Sans"/>
              </a:rPr>
              <a:t>Mention </a:t>
            </a:r>
            <a:r>
              <a:rPr spc="-10" dirty="0">
                <a:latin typeface="Noto Sans"/>
                <a:cs typeface="Noto Sans"/>
              </a:rPr>
              <a:t>these </a:t>
            </a:r>
            <a:r>
              <a:rPr u="sng" spc="-10" dirty="0">
                <a:uFill>
                  <a:solidFill>
                    <a:srgbClr val="000000"/>
                  </a:solidFill>
                </a:uFill>
                <a:latin typeface="Noto Sans"/>
                <a:cs typeface="Noto Sans"/>
              </a:rPr>
              <a:t>five</a:t>
            </a:r>
            <a:r>
              <a:rPr spc="-10" dirty="0">
                <a:latin typeface="Noto Sans"/>
                <a:cs typeface="Noto Sans"/>
              </a:rPr>
              <a:t> </a:t>
            </a:r>
            <a:r>
              <a:rPr spc="-30" dirty="0">
                <a:latin typeface="Noto Sans"/>
                <a:cs typeface="Noto Sans"/>
              </a:rPr>
              <a:t>things </a:t>
            </a:r>
            <a:r>
              <a:rPr spc="-15" dirty="0">
                <a:latin typeface="Noto Sans"/>
                <a:cs typeface="Noto Sans"/>
              </a:rPr>
              <a:t>about </a:t>
            </a:r>
            <a:r>
              <a:rPr spc="-25" dirty="0">
                <a:latin typeface="Noto Sans"/>
                <a:cs typeface="Noto Sans"/>
              </a:rPr>
              <a:t>SWOT</a:t>
            </a:r>
            <a:r>
              <a:rPr spc="5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Analysis</a:t>
            </a:r>
            <a:endParaRPr>
              <a:latin typeface="Noto Sans"/>
              <a:cs typeface="Noto Sans"/>
            </a:endParaRPr>
          </a:p>
          <a:p>
            <a:pPr>
              <a:spcBef>
                <a:spcPts val="45"/>
              </a:spcBef>
            </a:pPr>
            <a:endParaRPr sz="1550">
              <a:latin typeface="Noto Sans"/>
              <a:cs typeface="Noto Sans"/>
            </a:endParaRPr>
          </a:p>
          <a:p>
            <a:pPr marL="299085" indent="-287020">
              <a:spcBef>
                <a:spcPts val="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b="1" spc="-20" dirty="0">
                <a:latin typeface="Noto Sans"/>
                <a:cs typeface="Noto Sans"/>
              </a:rPr>
              <a:t>Strengths: </a:t>
            </a:r>
            <a:r>
              <a:rPr spc="-15" dirty="0">
                <a:latin typeface="Noto Sans"/>
                <a:cs typeface="Noto Sans"/>
              </a:rPr>
              <a:t>What </a:t>
            </a:r>
            <a:r>
              <a:rPr spc="-10" dirty="0">
                <a:latin typeface="Noto Sans"/>
                <a:cs typeface="Noto Sans"/>
              </a:rPr>
              <a:t>is your </a:t>
            </a:r>
            <a:r>
              <a:rPr spc="-15" dirty="0">
                <a:latin typeface="Noto Sans"/>
                <a:cs typeface="Noto Sans"/>
              </a:rPr>
              <a:t>team </a:t>
            </a:r>
            <a:r>
              <a:rPr spc="-20" dirty="0">
                <a:latin typeface="Noto Sans"/>
                <a:cs typeface="Noto Sans"/>
              </a:rPr>
              <a:t>really </a:t>
            </a:r>
            <a:r>
              <a:rPr spc="-35" dirty="0">
                <a:latin typeface="Noto Sans"/>
                <a:cs typeface="Noto Sans"/>
              </a:rPr>
              <a:t>good </a:t>
            </a:r>
            <a:r>
              <a:rPr spc="-15" dirty="0">
                <a:latin typeface="Noto Sans"/>
                <a:cs typeface="Noto Sans"/>
              </a:rPr>
              <a:t>at? </a:t>
            </a:r>
            <a:r>
              <a:rPr spc="-10" dirty="0">
                <a:latin typeface="Noto Sans"/>
                <a:cs typeface="Noto Sans"/>
              </a:rPr>
              <a:t>What </a:t>
            </a:r>
            <a:r>
              <a:rPr spc="-15" dirty="0">
                <a:latin typeface="Noto Sans"/>
                <a:cs typeface="Noto Sans"/>
              </a:rPr>
              <a:t>do</a:t>
            </a:r>
            <a:r>
              <a:rPr spc="-75" dirty="0">
                <a:latin typeface="Noto Sans"/>
                <a:cs typeface="Noto Sans"/>
              </a:rPr>
              <a:t> </a:t>
            </a:r>
            <a:r>
              <a:rPr spc="-5" dirty="0">
                <a:latin typeface="Noto Sans"/>
                <a:cs typeface="Noto Sans"/>
              </a:rPr>
              <a:t>you </a:t>
            </a:r>
            <a:r>
              <a:rPr spc="-10" dirty="0">
                <a:latin typeface="Noto Sans"/>
                <a:cs typeface="Noto Sans"/>
              </a:rPr>
              <a:t>offer</a:t>
            </a:r>
            <a:endParaRPr>
              <a:latin typeface="Noto Sans"/>
              <a:cs typeface="Noto Sans"/>
            </a:endParaRPr>
          </a:p>
          <a:p>
            <a:pPr marL="299085"/>
            <a:r>
              <a:rPr spc="-5" dirty="0">
                <a:latin typeface="Noto Sans"/>
                <a:cs typeface="Noto Sans"/>
              </a:rPr>
              <a:t>people </a:t>
            </a:r>
            <a:r>
              <a:rPr spc="-15" dirty="0">
                <a:latin typeface="Noto Sans"/>
                <a:cs typeface="Noto Sans"/>
              </a:rPr>
              <a:t>that </a:t>
            </a:r>
            <a:r>
              <a:rPr spc="-10" dirty="0">
                <a:latin typeface="Noto Sans"/>
                <a:cs typeface="Noto Sans"/>
              </a:rPr>
              <a:t>others </a:t>
            </a:r>
            <a:r>
              <a:rPr spc="-20" dirty="0">
                <a:latin typeface="Noto Sans"/>
                <a:cs typeface="Noto Sans"/>
              </a:rPr>
              <a:t>can’t </a:t>
            </a:r>
            <a:r>
              <a:rPr spc="-5" dirty="0">
                <a:latin typeface="Noto Sans"/>
                <a:cs typeface="Noto Sans"/>
              </a:rPr>
              <a:t>or </a:t>
            </a:r>
            <a:r>
              <a:rPr spc="-15" dirty="0">
                <a:latin typeface="Noto Sans"/>
                <a:cs typeface="Noto Sans"/>
              </a:rPr>
              <a:t>don’t? </a:t>
            </a:r>
            <a:r>
              <a:rPr spc="-25" dirty="0">
                <a:latin typeface="Noto Sans"/>
                <a:cs typeface="Noto Sans"/>
              </a:rPr>
              <a:t>(Internal</a:t>
            </a:r>
            <a:r>
              <a:rPr spc="5" dirty="0">
                <a:latin typeface="Noto Sans"/>
                <a:cs typeface="Noto Sans"/>
              </a:rPr>
              <a:t> </a:t>
            </a:r>
            <a:r>
              <a:rPr spc="-30" dirty="0">
                <a:latin typeface="Noto Sans"/>
                <a:cs typeface="Noto Sans"/>
              </a:rPr>
              <a:t>good)</a:t>
            </a:r>
            <a:endParaRPr>
              <a:latin typeface="Noto Sans"/>
              <a:cs typeface="Noto Sans"/>
            </a:endParaRPr>
          </a:p>
          <a:p>
            <a:pPr>
              <a:spcBef>
                <a:spcPts val="50"/>
              </a:spcBef>
            </a:pPr>
            <a:endParaRPr sz="1550">
              <a:latin typeface="Noto Sans"/>
              <a:cs typeface="Noto Sans"/>
            </a:endParaRPr>
          </a:p>
          <a:p>
            <a:pPr marL="299085" marR="6985" indent="-287020" algn="just">
              <a:buFont typeface="Arial"/>
              <a:buChar char="•"/>
              <a:tabLst>
                <a:tab pos="299720" algn="l"/>
              </a:tabLst>
            </a:pPr>
            <a:r>
              <a:rPr b="1" spc="-5" dirty="0">
                <a:latin typeface="Noto Sans"/>
                <a:cs typeface="Noto Sans"/>
              </a:rPr>
              <a:t>Weaknesses: </a:t>
            </a:r>
            <a:r>
              <a:rPr spc="-10" dirty="0">
                <a:latin typeface="Noto Sans"/>
                <a:cs typeface="Noto Sans"/>
              </a:rPr>
              <a:t>What </a:t>
            </a:r>
            <a:r>
              <a:rPr spc="-25" dirty="0">
                <a:latin typeface="Noto Sans"/>
                <a:cs typeface="Noto Sans"/>
              </a:rPr>
              <a:t>are </a:t>
            </a:r>
            <a:r>
              <a:rPr spc="-5" dirty="0">
                <a:latin typeface="Noto Sans"/>
                <a:cs typeface="Noto Sans"/>
              </a:rPr>
              <a:t>some </a:t>
            </a:r>
            <a:r>
              <a:rPr spc="-30" dirty="0">
                <a:latin typeface="Noto Sans"/>
                <a:cs typeface="Noto Sans"/>
              </a:rPr>
              <a:t>things </a:t>
            </a:r>
            <a:r>
              <a:rPr spc="-20" dirty="0">
                <a:latin typeface="Noto Sans"/>
                <a:cs typeface="Noto Sans"/>
              </a:rPr>
              <a:t>that </a:t>
            </a:r>
            <a:r>
              <a:rPr spc="-10" dirty="0">
                <a:latin typeface="Noto Sans"/>
                <a:cs typeface="Noto Sans"/>
              </a:rPr>
              <a:t>your </a:t>
            </a:r>
            <a:r>
              <a:rPr spc="-15" dirty="0">
                <a:latin typeface="Noto Sans"/>
                <a:cs typeface="Noto Sans"/>
              </a:rPr>
              <a:t>team </a:t>
            </a:r>
            <a:r>
              <a:rPr spc="-10" dirty="0">
                <a:latin typeface="Noto Sans"/>
                <a:cs typeface="Noto Sans"/>
              </a:rPr>
              <a:t>is </a:t>
            </a:r>
            <a:r>
              <a:rPr spc="-15" dirty="0">
                <a:latin typeface="Noto Sans"/>
                <a:cs typeface="Noto Sans"/>
              </a:rPr>
              <a:t>not very  </a:t>
            </a:r>
            <a:r>
              <a:rPr spc="-35" dirty="0">
                <a:latin typeface="Noto Sans"/>
                <a:cs typeface="Noto Sans"/>
              </a:rPr>
              <a:t>good </a:t>
            </a:r>
            <a:r>
              <a:rPr spc="-25" dirty="0">
                <a:latin typeface="Noto Sans"/>
                <a:cs typeface="Noto Sans"/>
              </a:rPr>
              <a:t>at, </a:t>
            </a:r>
            <a:r>
              <a:rPr spc="-15" dirty="0">
                <a:latin typeface="Noto Sans"/>
                <a:cs typeface="Noto Sans"/>
              </a:rPr>
              <a:t>that </a:t>
            </a:r>
            <a:r>
              <a:rPr spc="-10" dirty="0">
                <a:latin typeface="Noto Sans"/>
                <a:cs typeface="Noto Sans"/>
              </a:rPr>
              <a:t>others </a:t>
            </a:r>
            <a:r>
              <a:rPr spc="-5" dirty="0">
                <a:latin typeface="Noto Sans"/>
                <a:cs typeface="Noto Sans"/>
              </a:rPr>
              <a:t>do </a:t>
            </a:r>
            <a:r>
              <a:rPr spc="-10" dirty="0">
                <a:latin typeface="Noto Sans"/>
                <a:cs typeface="Noto Sans"/>
              </a:rPr>
              <a:t>much better? </a:t>
            </a:r>
            <a:r>
              <a:rPr spc="-25" dirty="0">
                <a:latin typeface="Noto Sans"/>
                <a:cs typeface="Noto Sans"/>
              </a:rPr>
              <a:t>(Internal</a:t>
            </a:r>
            <a:r>
              <a:rPr spc="55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bad)</a:t>
            </a:r>
            <a:endParaRPr>
              <a:latin typeface="Noto Sans"/>
              <a:cs typeface="Noto Sans"/>
            </a:endParaRPr>
          </a:p>
          <a:p>
            <a:pPr>
              <a:spcBef>
                <a:spcPts val="45"/>
              </a:spcBef>
              <a:buFont typeface="Arial"/>
              <a:buChar char="•"/>
            </a:pPr>
            <a:endParaRPr sz="1550">
              <a:latin typeface="Noto Sans"/>
              <a:cs typeface="Noto Sans"/>
            </a:endParaRPr>
          </a:p>
          <a:p>
            <a:pPr marL="299085" marR="5080" indent="-287020" algn="just">
              <a:spcBef>
                <a:spcPts val="5"/>
              </a:spcBef>
              <a:buFont typeface="Arial"/>
              <a:buChar char="•"/>
              <a:tabLst>
                <a:tab pos="299720" algn="l"/>
              </a:tabLst>
            </a:pPr>
            <a:r>
              <a:rPr b="1" dirty="0">
                <a:latin typeface="Noto Sans"/>
                <a:cs typeface="Noto Sans"/>
              </a:rPr>
              <a:t>Opportunities: </a:t>
            </a:r>
            <a:r>
              <a:rPr spc="-10" dirty="0">
                <a:latin typeface="Noto Sans"/>
                <a:cs typeface="Noto Sans"/>
              </a:rPr>
              <a:t>What </a:t>
            </a:r>
            <a:r>
              <a:rPr spc="-25" dirty="0">
                <a:latin typeface="Noto Sans"/>
                <a:cs typeface="Noto Sans"/>
              </a:rPr>
              <a:t>are </a:t>
            </a:r>
            <a:r>
              <a:rPr dirty="0">
                <a:latin typeface="Noto Sans"/>
                <a:cs typeface="Noto Sans"/>
              </a:rPr>
              <a:t>some </a:t>
            </a:r>
            <a:r>
              <a:rPr spc="-20" dirty="0">
                <a:latin typeface="Noto Sans"/>
                <a:cs typeface="Noto Sans"/>
              </a:rPr>
              <a:t>areas </a:t>
            </a:r>
            <a:r>
              <a:rPr spc="-15" dirty="0">
                <a:latin typeface="Noto Sans"/>
                <a:cs typeface="Noto Sans"/>
              </a:rPr>
              <a:t>that </a:t>
            </a:r>
            <a:r>
              <a:rPr spc="-10" dirty="0">
                <a:latin typeface="Noto Sans"/>
                <a:cs typeface="Noto Sans"/>
              </a:rPr>
              <a:t>your </a:t>
            </a:r>
            <a:r>
              <a:rPr spc="-20" dirty="0">
                <a:latin typeface="Noto Sans"/>
                <a:cs typeface="Noto Sans"/>
              </a:rPr>
              <a:t>organization </a:t>
            </a:r>
            <a:r>
              <a:rPr spc="-15" dirty="0">
                <a:latin typeface="Noto Sans"/>
                <a:cs typeface="Noto Sans"/>
              </a:rPr>
              <a:t>could  </a:t>
            </a:r>
            <a:r>
              <a:rPr spc="-10" dirty="0">
                <a:latin typeface="Noto Sans"/>
                <a:cs typeface="Noto Sans"/>
              </a:rPr>
              <a:t>thrive in </a:t>
            </a:r>
            <a:r>
              <a:rPr spc="-15" dirty="0">
                <a:latin typeface="Noto Sans"/>
                <a:cs typeface="Noto Sans"/>
              </a:rPr>
              <a:t>that it isn’t </a:t>
            </a:r>
            <a:r>
              <a:rPr spc="-20" dirty="0">
                <a:latin typeface="Noto Sans"/>
                <a:cs typeface="Noto Sans"/>
              </a:rPr>
              <a:t>currently </a:t>
            </a:r>
            <a:r>
              <a:rPr spc="-30" dirty="0">
                <a:latin typeface="Noto Sans"/>
                <a:cs typeface="Noto Sans"/>
              </a:rPr>
              <a:t>taking advantage </a:t>
            </a:r>
            <a:r>
              <a:rPr spc="-10" dirty="0">
                <a:latin typeface="Noto Sans"/>
                <a:cs typeface="Noto Sans"/>
              </a:rPr>
              <a:t>of? </a:t>
            </a:r>
            <a:r>
              <a:rPr spc="-15" dirty="0">
                <a:latin typeface="Noto Sans"/>
                <a:cs typeface="Noto Sans"/>
              </a:rPr>
              <a:t>(External</a:t>
            </a:r>
            <a:r>
              <a:rPr spc="114" dirty="0">
                <a:latin typeface="Noto Sans"/>
                <a:cs typeface="Noto Sans"/>
              </a:rPr>
              <a:t> </a:t>
            </a:r>
            <a:r>
              <a:rPr spc="-30" dirty="0">
                <a:latin typeface="Noto Sans"/>
                <a:cs typeface="Noto Sans"/>
              </a:rPr>
              <a:t>good)</a:t>
            </a:r>
            <a:endParaRPr>
              <a:latin typeface="Noto Sans"/>
              <a:cs typeface="Noto Sans"/>
            </a:endParaRPr>
          </a:p>
          <a:p>
            <a:pPr>
              <a:spcBef>
                <a:spcPts val="50"/>
              </a:spcBef>
              <a:buFont typeface="Arial"/>
              <a:buChar char="•"/>
            </a:pPr>
            <a:endParaRPr sz="1550">
              <a:latin typeface="Noto Sans"/>
              <a:cs typeface="Noto Sans"/>
            </a:endParaRPr>
          </a:p>
          <a:p>
            <a:pPr marL="299085" marR="5080" indent="-287020" algn="just">
              <a:buFont typeface="Arial"/>
              <a:buChar char="•"/>
              <a:tabLst>
                <a:tab pos="299720" algn="l"/>
              </a:tabLst>
            </a:pPr>
            <a:r>
              <a:rPr b="1" spc="-5" dirty="0">
                <a:latin typeface="Noto Sans"/>
                <a:cs typeface="Noto Sans"/>
              </a:rPr>
              <a:t>Threats: </a:t>
            </a:r>
            <a:r>
              <a:rPr spc="-15" dirty="0">
                <a:latin typeface="Noto Sans"/>
                <a:cs typeface="Noto Sans"/>
              </a:rPr>
              <a:t>What </a:t>
            </a:r>
            <a:r>
              <a:rPr spc="-25" dirty="0">
                <a:latin typeface="Noto Sans"/>
                <a:cs typeface="Noto Sans"/>
              </a:rPr>
              <a:t>are </a:t>
            </a:r>
            <a:r>
              <a:rPr spc="-5" dirty="0">
                <a:latin typeface="Noto Sans"/>
                <a:cs typeface="Noto Sans"/>
              </a:rPr>
              <a:t>some </a:t>
            </a:r>
            <a:r>
              <a:rPr spc="-20" dirty="0">
                <a:latin typeface="Noto Sans"/>
                <a:cs typeface="Noto Sans"/>
              </a:rPr>
              <a:t>external </a:t>
            </a:r>
            <a:r>
              <a:rPr spc="-10" dirty="0">
                <a:latin typeface="Noto Sans"/>
                <a:cs typeface="Noto Sans"/>
              </a:rPr>
              <a:t>factors—competitors, </a:t>
            </a:r>
            <a:r>
              <a:rPr spc="-15" dirty="0">
                <a:latin typeface="Noto Sans"/>
                <a:cs typeface="Noto Sans"/>
              </a:rPr>
              <a:t>consumer  demand, </a:t>
            </a:r>
            <a:r>
              <a:rPr spc="-10" dirty="0">
                <a:latin typeface="Noto Sans"/>
                <a:cs typeface="Noto Sans"/>
              </a:rPr>
              <a:t>economic </a:t>
            </a:r>
            <a:r>
              <a:rPr spc="-15" dirty="0">
                <a:latin typeface="Noto Sans"/>
                <a:cs typeface="Noto Sans"/>
              </a:rPr>
              <a:t>conditions—that </a:t>
            </a:r>
            <a:r>
              <a:rPr spc="-10" dirty="0">
                <a:latin typeface="Noto Sans"/>
                <a:cs typeface="Noto Sans"/>
              </a:rPr>
              <a:t>could </a:t>
            </a:r>
            <a:r>
              <a:rPr spc="-25" dirty="0">
                <a:latin typeface="Noto Sans"/>
                <a:cs typeface="Noto Sans"/>
              </a:rPr>
              <a:t>make </a:t>
            </a:r>
            <a:r>
              <a:rPr spc="-15" dirty="0">
                <a:latin typeface="Noto Sans"/>
                <a:cs typeface="Noto Sans"/>
              </a:rPr>
              <a:t>it </a:t>
            </a:r>
            <a:r>
              <a:rPr spc="-20" dirty="0">
                <a:latin typeface="Noto Sans"/>
                <a:cs typeface="Noto Sans"/>
              </a:rPr>
              <a:t>more </a:t>
            </a:r>
            <a:r>
              <a:rPr spc="-15" dirty="0">
                <a:latin typeface="Noto Sans"/>
                <a:cs typeface="Noto Sans"/>
              </a:rPr>
              <a:t>difficult </a:t>
            </a:r>
            <a:r>
              <a:rPr spc="-20" dirty="0">
                <a:latin typeface="Noto Sans"/>
                <a:cs typeface="Noto Sans"/>
              </a:rPr>
              <a:t>for  </a:t>
            </a:r>
            <a:r>
              <a:rPr spc="-10" dirty="0">
                <a:latin typeface="Noto Sans"/>
                <a:cs typeface="Noto Sans"/>
              </a:rPr>
              <a:t>your </a:t>
            </a:r>
            <a:r>
              <a:rPr spc="-15" dirty="0">
                <a:latin typeface="Noto Sans"/>
                <a:cs typeface="Noto Sans"/>
              </a:rPr>
              <a:t>team </a:t>
            </a:r>
            <a:r>
              <a:rPr spc="-10" dirty="0">
                <a:latin typeface="Noto Sans"/>
                <a:cs typeface="Noto Sans"/>
              </a:rPr>
              <a:t>to </a:t>
            </a:r>
            <a:r>
              <a:rPr spc="-15" dirty="0">
                <a:latin typeface="Noto Sans"/>
                <a:cs typeface="Noto Sans"/>
              </a:rPr>
              <a:t>succeed? (External</a:t>
            </a:r>
            <a:r>
              <a:rPr spc="65" dirty="0">
                <a:latin typeface="Noto Sans"/>
                <a:cs typeface="Noto Sans"/>
              </a:rPr>
              <a:t> </a:t>
            </a:r>
            <a:r>
              <a:rPr spc="-10" dirty="0">
                <a:latin typeface="Noto Sans"/>
                <a:cs typeface="Noto Sans"/>
              </a:rPr>
              <a:t>bad)</a:t>
            </a:r>
            <a:endParaRPr>
              <a:latin typeface="Noto Sans"/>
              <a:cs typeface="Noto Sans"/>
            </a:endParaRPr>
          </a:p>
          <a:p>
            <a:pPr>
              <a:spcBef>
                <a:spcPts val="50"/>
              </a:spcBef>
              <a:buFont typeface="Arial"/>
              <a:buChar char="•"/>
            </a:pPr>
            <a:endParaRPr sz="1550">
              <a:latin typeface="Noto Sans"/>
              <a:cs typeface="Noto Sans"/>
            </a:endParaRPr>
          </a:p>
          <a:p>
            <a:pPr marL="299085" marR="5080" indent="-287020" algn="just">
              <a:buFont typeface="Arial"/>
              <a:buChar char="•"/>
              <a:tabLst>
                <a:tab pos="299720" algn="l"/>
              </a:tabLst>
            </a:pPr>
            <a:r>
              <a:rPr b="1" spc="-20" dirty="0">
                <a:latin typeface="Noto Sans"/>
                <a:cs typeface="Noto Sans"/>
              </a:rPr>
              <a:t>Strategy: </a:t>
            </a:r>
            <a:r>
              <a:rPr spc="-35" dirty="0">
                <a:latin typeface="Noto Sans"/>
                <a:cs typeface="Noto Sans"/>
              </a:rPr>
              <a:t>Your </a:t>
            </a:r>
            <a:r>
              <a:rPr spc="-10" dirty="0">
                <a:latin typeface="Noto Sans"/>
                <a:cs typeface="Noto Sans"/>
              </a:rPr>
              <a:t>conclusion based </a:t>
            </a:r>
            <a:r>
              <a:rPr spc="-5" dirty="0">
                <a:latin typeface="Noto Sans"/>
                <a:cs typeface="Noto Sans"/>
              </a:rPr>
              <a:t>on </a:t>
            </a:r>
            <a:r>
              <a:rPr spc="-15" dirty="0">
                <a:latin typeface="Noto Sans"/>
                <a:cs typeface="Noto Sans"/>
              </a:rPr>
              <a:t>the </a:t>
            </a:r>
            <a:r>
              <a:rPr spc="-10" dirty="0">
                <a:latin typeface="Noto Sans"/>
                <a:cs typeface="Noto Sans"/>
              </a:rPr>
              <a:t>four points </a:t>
            </a:r>
            <a:r>
              <a:rPr spc="-20" dirty="0">
                <a:latin typeface="Noto Sans"/>
                <a:cs typeface="Noto Sans"/>
              </a:rPr>
              <a:t>above </a:t>
            </a:r>
            <a:r>
              <a:rPr spc="-15" dirty="0">
                <a:latin typeface="Noto Sans"/>
                <a:cs typeface="Noto Sans"/>
              </a:rPr>
              <a:t>(What  </a:t>
            </a:r>
            <a:r>
              <a:rPr spc="-25" dirty="0">
                <a:latin typeface="Noto Sans"/>
                <a:cs typeface="Noto Sans"/>
              </a:rPr>
              <a:t>are </a:t>
            </a:r>
            <a:r>
              <a:rPr spc="-5" dirty="0">
                <a:latin typeface="Noto Sans"/>
                <a:cs typeface="Noto Sans"/>
              </a:rPr>
              <a:t>you </a:t>
            </a:r>
            <a:r>
              <a:rPr spc="-55" dirty="0">
                <a:latin typeface="Noto Sans"/>
                <a:cs typeface="Noto Sans"/>
              </a:rPr>
              <a:t>going </a:t>
            </a:r>
            <a:r>
              <a:rPr spc="-10" dirty="0">
                <a:latin typeface="Noto Sans"/>
                <a:cs typeface="Noto Sans"/>
              </a:rPr>
              <a:t>to</a:t>
            </a:r>
            <a:r>
              <a:rPr spc="55" dirty="0">
                <a:latin typeface="Noto Sans"/>
                <a:cs typeface="Noto Sans"/>
              </a:rPr>
              <a:t> </a:t>
            </a:r>
            <a:r>
              <a:rPr spc="-5" dirty="0">
                <a:latin typeface="Noto Sans"/>
                <a:cs typeface="Noto Sans"/>
              </a:rPr>
              <a:t>do)</a:t>
            </a:r>
            <a:endParaRPr>
              <a:latin typeface="Noto Sans"/>
              <a:cs typeface="Noto San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2CAD32D-1112-4FD8-885A-4E7D388ECA15}"/>
              </a:ext>
            </a:extLst>
          </p:cNvPr>
          <p:cNvSpPr txBox="1"/>
          <p:nvPr/>
        </p:nvSpPr>
        <p:spPr>
          <a:xfrm>
            <a:off x="585316" y="5791200"/>
            <a:ext cx="833008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Noto Sans"/>
                <a:cs typeface="Noto Sans"/>
                <a:hlinkClick r:id="rId3"/>
              </a:rPr>
              <a:t>https://blog.capterra.com/s-w-o-t-analysis-examples-for-beginners/</a:t>
            </a:r>
            <a:endParaRPr sz="1600" dirty="0">
              <a:latin typeface="Noto Sans"/>
              <a:cs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5139" y="317247"/>
            <a:ext cx="4780915" cy="475615"/>
            <a:chOff x="415137" y="317245"/>
            <a:chExt cx="4780915" cy="475615"/>
          </a:xfrm>
        </p:grpSpPr>
        <p:sp>
          <p:nvSpPr>
            <p:cNvPr id="3" name="object 3"/>
            <p:cNvSpPr/>
            <p:nvPr/>
          </p:nvSpPr>
          <p:spPr>
            <a:xfrm>
              <a:off x="415137" y="317245"/>
              <a:ext cx="2915031" cy="4754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35756" y="317245"/>
              <a:ext cx="445007" cy="4754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45129" y="317245"/>
              <a:ext cx="1750822" cy="4754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16530"/>
              </p:ext>
            </p:extLst>
          </p:nvPr>
        </p:nvGraphicFramePr>
        <p:xfrm>
          <a:off x="452461" y="990599"/>
          <a:ext cx="8276400" cy="58019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8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38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4383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Noto Sans"/>
                          <a:cs typeface="Noto Sans"/>
                        </a:rPr>
                        <a:t>Free 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Noto Sans"/>
                          <a:cs typeface="Noto Sans"/>
                        </a:rPr>
                        <a:t>or open 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Noto Sans"/>
                          <a:cs typeface="Noto Sans"/>
                        </a:rPr>
                        <a:t>source 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Noto Sans"/>
                          <a:cs typeface="Noto Sans"/>
                        </a:rPr>
                        <a:t>Project </a:t>
                      </a:r>
                      <a:r>
                        <a:rPr sz="1800" spc="-30" dirty="0">
                          <a:solidFill>
                            <a:srgbClr val="FF0000"/>
                          </a:solidFill>
                          <a:latin typeface="Noto Sans"/>
                          <a:cs typeface="Noto Sans"/>
                        </a:rPr>
                        <a:t>Management 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Noto Sans"/>
                          <a:cs typeface="Noto Sans"/>
                        </a:rPr>
                        <a:t>(PM)</a:t>
                      </a:r>
                      <a:r>
                        <a:rPr sz="1800" spc="125" dirty="0">
                          <a:solidFill>
                            <a:srgbClr val="FF0000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Noto Sans"/>
                          <a:cs typeface="Noto Sans"/>
                        </a:rPr>
                        <a:t>software</a:t>
                      </a:r>
                      <a:endParaRPr sz="1800" dirty="0">
                        <a:solidFill>
                          <a:srgbClr val="FF0000"/>
                        </a:solidFill>
                        <a:latin typeface="Noto Sans"/>
                        <a:cs typeface="Noto Sans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81200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600" b="1" spc="-20" dirty="0">
                          <a:latin typeface="Noto Sans"/>
                          <a:cs typeface="Noto Sans"/>
                        </a:rPr>
                        <a:t>Strengths</a:t>
                      </a:r>
                      <a:r>
                        <a:rPr lang="en-US" sz="1600" b="1" spc="-20" dirty="0">
                          <a:latin typeface="Noto Sans"/>
                          <a:cs typeface="Noto Sans"/>
                        </a:rPr>
                        <a:t/>
                      </a:r>
                      <a:br>
                        <a:rPr lang="en-US" sz="1600" b="1" spc="-20" dirty="0">
                          <a:latin typeface="Noto Sans"/>
                          <a:cs typeface="Noto Sans"/>
                        </a:rPr>
                      </a:b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354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423545" algn="l"/>
                          <a:tab pos="424180" algn="l"/>
                        </a:tabLst>
                      </a:pPr>
                      <a:r>
                        <a:rPr sz="1600" spc="-25" dirty="0">
                          <a:latin typeface="Noto Sans"/>
                          <a:cs typeface="Noto Sans"/>
                        </a:rPr>
                        <a:t>Free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3545" marR="41211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423545" algn="l"/>
                          <a:tab pos="424180" algn="l"/>
                        </a:tabLst>
                      </a:pPr>
                      <a:r>
                        <a:rPr sz="1600" spc="-10" dirty="0">
                          <a:latin typeface="Noto Sans"/>
                          <a:cs typeface="Noto Sans"/>
                        </a:rPr>
                        <a:t>Community support 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makes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open 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source 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more</a:t>
                      </a:r>
                      <a:r>
                        <a:rPr sz="1600" spc="3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35" dirty="0">
                          <a:latin typeface="Noto Sans"/>
                          <a:cs typeface="Noto Sans"/>
                        </a:rPr>
                        <a:t>agile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3545" marR="326390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423545" algn="l"/>
                          <a:tab pos="424180" algn="l"/>
                        </a:tabLst>
                      </a:pPr>
                      <a:r>
                        <a:rPr sz="1600" spc="-10" dirty="0">
                          <a:latin typeface="Noto Sans"/>
                          <a:cs typeface="Noto Sans"/>
                        </a:rPr>
                        <a:t>Basic versions 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are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often easier for  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new</a:t>
                      </a:r>
                      <a:r>
                        <a:rPr sz="160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users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600" b="1" spc="-10" dirty="0">
                          <a:latin typeface="Noto Sans"/>
                          <a:cs typeface="Noto Sans"/>
                        </a:rPr>
                        <a:t>Opportunities</a:t>
                      </a:r>
                      <a:r>
                        <a:rPr lang="en-US" sz="1600" b="1" spc="-10" dirty="0">
                          <a:latin typeface="Noto Sans"/>
                          <a:cs typeface="Noto Sans"/>
                        </a:rPr>
                        <a:t/>
                      </a:r>
                      <a:br>
                        <a:rPr lang="en-US" sz="1600" b="1" spc="-10" dirty="0">
                          <a:latin typeface="Noto Sans"/>
                          <a:cs typeface="Noto Sans"/>
                        </a:rPr>
                      </a:b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4180" marR="681990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424180" algn="l"/>
                          <a:tab pos="424815" algn="l"/>
                        </a:tabLst>
                      </a:pPr>
                      <a:r>
                        <a:rPr sz="1600" spc="-40" dirty="0">
                          <a:latin typeface="Noto Sans"/>
                          <a:cs typeface="Noto Sans"/>
                        </a:rPr>
                        <a:t>Try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out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PM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software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without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a 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financial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commitment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4180" marR="49085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424180" algn="l"/>
                          <a:tab pos="424815" algn="l"/>
                        </a:tabLst>
                      </a:pPr>
                      <a:r>
                        <a:rPr sz="1600" spc="-10" dirty="0">
                          <a:latin typeface="Noto Sans"/>
                          <a:cs typeface="Noto Sans"/>
                        </a:rPr>
                        <a:t>Save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company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resources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for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the  annual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holiday</a:t>
                      </a:r>
                      <a:r>
                        <a:rPr sz="160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party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4180" marR="444500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424180" algn="l"/>
                          <a:tab pos="424815" algn="l"/>
                        </a:tabLst>
                      </a:pPr>
                      <a:r>
                        <a:rPr sz="1600" spc="-10" dirty="0">
                          <a:latin typeface="Noto Sans"/>
                          <a:cs typeface="Noto Sans"/>
                        </a:rPr>
                        <a:t>Stick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it to the man 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by </a:t>
                      </a:r>
                      <a:r>
                        <a:rPr sz="1600" spc="-30" dirty="0">
                          <a:latin typeface="Noto Sans"/>
                          <a:cs typeface="Noto Sans"/>
                        </a:rPr>
                        <a:t>using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open 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source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25052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600" b="1" spc="-10" dirty="0">
                          <a:latin typeface="Noto Sans"/>
                          <a:cs typeface="Noto Sans"/>
                        </a:rPr>
                        <a:t>Weaknesses</a:t>
                      </a:r>
                      <a:r>
                        <a:rPr lang="en-US" sz="1600" b="1" spc="-10" dirty="0">
                          <a:latin typeface="Noto Sans"/>
                          <a:cs typeface="Noto Sans"/>
                        </a:rPr>
                        <a:t/>
                      </a:r>
                      <a:br>
                        <a:rPr lang="en-US" sz="1600" b="1" spc="-10" dirty="0">
                          <a:latin typeface="Noto Sans"/>
                          <a:cs typeface="Noto Sans"/>
                        </a:rPr>
                      </a:b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354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423545" algn="l"/>
                          <a:tab pos="424180" algn="l"/>
                        </a:tabLst>
                      </a:pPr>
                      <a:r>
                        <a:rPr sz="1600" spc="-15" dirty="0">
                          <a:latin typeface="Noto Sans"/>
                          <a:cs typeface="Noto Sans"/>
                        </a:rPr>
                        <a:t>Limited</a:t>
                      </a:r>
                      <a:r>
                        <a:rPr sz="1600" spc="-3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features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3545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"/>
                        <a:buChar char="•"/>
                        <a:tabLst>
                          <a:tab pos="423545" algn="l"/>
                          <a:tab pos="424180" algn="l"/>
                        </a:tabLst>
                      </a:pPr>
                      <a:r>
                        <a:rPr sz="1600" spc="-15" dirty="0">
                          <a:latin typeface="Noto Sans"/>
                          <a:cs typeface="Noto Sans"/>
                        </a:rPr>
                        <a:t>Limited customer</a:t>
                      </a:r>
                      <a:r>
                        <a:rPr sz="1600" spc="-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support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354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423545" algn="l"/>
                          <a:tab pos="424180" algn="l"/>
                        </a:tabLst>
                      </a:pPr>
                      <a:r>
                        <a:rPr sz="1600" spc="-25" dirty="0">
                          <a:latin typeface="Noto Sans"/>
                          <a:cs typeface="Noto Sans"/>
                        </a:rPr>
                        <a:t>Infrequent</a:t>
                      </a:r>
                      <a:r>
                        <a:rPr sz="160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updates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600" b="1" spc="-10" dirty="0">
                          <a:latin typeface="Noto Sans"/>
                          <a:cs typeface="Noto Sans"/>
                        </a:rPr>
                        <a:t>Threats</a:t>
                      </a:r>
                      <a:r>
                        <a:rPr lang="en-US" sz="1600" b="1" spc="-10" dirty="0">
                          <a:latin typeface="Noto Sans"/>
                          <a:cs typeface="Noto Sans"/>
                        </a:rPr>
                        <a:t/>
                      </a:r>
                      <a:br>
                        <a:rPr lang="en-US" sz="1600" b="1" spc="-10" dirty="0">
                          <a:latin typeface="Noto Sans"/>
                          <a:cs typeface="Noto Sans"/>
                        </a:rPr>
                      </a:b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4180" marR="13779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424180" algn="l"/>
                          <a:tab pos="424815" algn="l"/>
                        </a:tabLst>
                      </a:pPr>
                      <a:r>
                        <a:rPr sz="1600" spc="-25" dirty="0">
                          <a:latin typeface="Noto Sans"/>
                          <a:cs typeface="Noto Sans"/>
                        </a:rPr>
                        <a:t>Missing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out on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all the 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extra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features 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of paid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software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4180" marR="425450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"/>
                        <a:buChar char="•"/>
                        <a:tabLst>
                          <a:tab pos="424180" algn="l"/>
                          <a:tab pos="424815" algn="l"/>
                        </a:tabLst>
                      </a:pPr>
                      <a:r>
                        <a:rPr sz="1600" spc="-35" dirty="0">
                          <a:latin typeface="Noto Sans"/>
                          <a:cs typeface="Noto Sans"/>
                        </a:rPr>
                        <a:t>Your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open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source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PM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software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is  abandoned 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by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the</a:t>
                      </a:r>
                      <a:r>
                        <a:rPr sz="1600" spc="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developer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  <a:p>
                      <a:pPr marL="424180" marR="222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424180" algn="l"/>
                          <a:tab pos="424815" algn="l"/>
                        </a:tabLst>
                      </a:pPr>
                      <a:r>
                        <a:rPr sz="1600" spc="-45" dirty="0">
                          <a:latin typeface="Noto Sans"/>
                          <a:cs typeface="Noto Sans"/>
                        </a:rPr>
                        <a:t>Trying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to </a:t>
                      </a:r>
                      <a:r>
                        <a:rPr sz="1600" spc="-45" dirty="0">
                          <a:latin typeface="Noto Sans"/>
                          <a:cs typeface="Noto Sans"/>
                        </a:rPr>
                        <a:t>get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customer service on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a 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free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version in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the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middle of a 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hectic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project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05840">
                <a:tc gridSpan="2">
                  <a:txBody>
                    <a:bodyPr/>
                    <a:lstStyle/>
                    <a:p>
                      <a:pPr marL="137160" marR="128905" algn="just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600" b="1" spc="-20" dirty="0">
                          <a:latin typeface="Noto Sans"/>
                          <a:cs typeface="Noto Sans"/>
                        </a:rPr>
                        <a:t>Strategy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: Free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project 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management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software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has its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limitations,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but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can </a:t>
                      </a:r>
                      <a:r>
                        <a:rPr sz="1600" spc="-5" dirty="0">
                          <a:latin typeface="Noto Sans"/>
                          <a:cs typeface="Noto Sans"/>
                        </a:rPr>
                        <a:t>be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a  </a:t>
                      </a:r>
                      <a:r>
                        <a:rPr sz="1600" spc="-35" dirty="0">
                          <a:latin typeface="Noto Sans"/>
                          <a:cs typeface="Noto Sans"/>
                        </a:rPr>
                        <a:t>good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fit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for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small teams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or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freelancers 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looking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to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try it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out for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the first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time. But 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it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is not a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replacement </a:t>
                      </a:r>
                      <a:r>
                        <a:rPr sz="1600" spc="-10" dirty="0">
                          <a:latin typeface="Noto Sans"/>
                          <a:cs typeface="Noto Sans"/>
                        </a:rPr>
                        <a:t>for full </a:t>
                      </a:r>
                      <a:r>
                        <a:rPr sz="1600" spc="-15" dirty="0">
                          <a:latin typeface="Noto Sans"/>
                          <a:cs typeface="Noto Sans"/>
                        </a:rPr>
                        <a:t>featured project </a:t>
                      </a:r>
                      <a:r>
                        <a:rPr sz="1600" spc="-25" dirty="0">
                          <a:latin typeface="Noto Sans"/>
                          <a:cs typeface="Noto Sans"/>
                        </a:rPr>
                        <a:t>management</a:t>
                      </a:r>
                      <a:r>
                        <a:rPr sz="1600" spc="5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600" spc="-20" dirty="0">
                          <a:latin typeface="Noto Sans"/>
                          <a:cs typeface="Noto Sans"/>
                        </a:rPr>
                        <a:t>software.</a:t>
                      </a:r>
                      <a:endParaRPr sz="1600" dirty="0">
                        <a:latin typeface="Noto Sans"/>
                        <a:cs typeface="Noto Sans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5137" y="317245"/>
            <a:ext cx="3430016" cy="47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236079"/>
              </p:ext>
            </p:extLst>
          </p:nvPr>
        </p:nvGraphicFramePr>
        <p:xfrm>
          <a:off x="1330072" y="1219200"/>
          <a:ext cx="6289927" cy="2192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575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1741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1503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spc="-10" dirty="0">
                          <a:latin typeface="Noto Sans"/>
                          <a:cs typeface="Noto Sans"/>
                        </a:rPr>
                        <a:t>Ser</a:t>
                      </a:r>
                      <a:endParaRPr sz="1800" dirty="0">
                        <a:latin typeface="Noto Sans"/>
                        <a:cs typeface="Noto Sans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spc="-10" dirty="0">
                          <a:latin typeface="Noto Sans"/>
                          <a:cs typeface="Noto Sans"/>
                        </a:rPr>
                        <a:t>Criteria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77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1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20" dirty="0">
                          <a:latin typeface="Noto Sans"/>
                          <a:cs typeface="Noto Sans"/>
                        </a:rPr>
                        <a:t>Survey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Attendee</a:t>
                      </a:r>
                      <a:r>
                        <a:rPr sz="1800" spc="5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Statistics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6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2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spc="-20" dirty="0">
                          <a:latin typeface="Noto Sans"/>
                          <a:cs typeface="Noto Sans"/>
                        </a:rPr>
                        <a:t>Survey 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Result</a:t>
                      </a:r>
                      <a:r>
                        <a:rPr sz="180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40" dirty="0">
                          <a:latin typeface="Noto Sans"/>
                          <a:cs typeface="Noto Sans"/>
                        </a:rPr>
                        <a:t>Table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6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3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spc="-10" dirty="0">
                          <a:latin typeface="Noto Sans"/>
                          <a:cs typeface="Noto Sans"/>
                        </a:rPr>
                        <a:t>List of </a:t>
                      </a:r>
                      <a:r>
                        <a:rPr sz="1800" spc="-15" dirty="0">
                          <a:latin typeface="Noto Sans"/>
                          <a:cs typeface="Noto Sans"/>
                        </a:rPr>
                        <a:t>selected features</a:t>
                      </a:r>
                      <a:endParaRPr sz="1800" dirty="0">
                        <a:latin typeface="Noto Sans"/>
                        <a:cs typeface="Noto Sans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64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dirty="0">
                          <a:latin typeface="Noto Sans"/>
                          <a:cs typeface="Noto Sans"/>
                        </a:rPr>
                        <a:t>4</a:t>
                      </a:r>
                      <a:endParaRPr sz="1800">
                        <a:latin typeface="Noto Sans"/>
                        <a:cs typeface="Noto Sans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spc="-25" dirty="0">
                          <a:latin typeface="Noto Sans"/>
                          <a:cs typeface="Noto Sans"/>
                        </a:rPr>
                        <a:t>SWOT </a:t>
                      </a:r>
                      <a:r>
                        <a:rPr sz="1800" spc="-5" dirty="0">
                          <a:latin typeface="Noto Sans"/>
                          <a:cs typeface="Noto Sans"/>
                        </a:rPr>
                        <a:t>&amp;</a:t>
                      </a:r>
                      <a:r>
                        <a:rPr sz="1800" spc="-10" dirty="0">
                          <a:latin typeface="Noto Sans"/>
                          <a:cs typeface="Noto Sans"/>
                        </a:rPr>
                        <a:t> </a:t>
                      </a:r>
                      <a:r>
                        <a:rPr sz="1800" spc="-35" dirty="0">
                          <a:latin typeface="Noto Sans"/>
                          <a:cs typeface="Noto Sans"/>
                        </a:rPr>
                        <a:t>Strategy</a:t>
                      </a:r>
                      <a:endParaRPr sz="1800" dirty="0">
                        <a:latin typeface="Noto Sans"/>
                        <a:cs typeface="Noto Sans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89997" y="3124200"/>
            <a:ext cx="18079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">
              <a:lnSpc>
                <a:spcPct val="100000"/>
              </a:lnSpc>
              <a:spcBef>
                <a:spcPts val="495"/>
              </a:spcBef>
            </a:pPr>
            <a:r>
              <a:rPr lang="en-US" sz="2400" b="1" spc="-10" dirty="0">
                <a:latin typeface="Noto Sans"/>
                <a:cs typeface="Noto Sans"/>
              </a:rPr>
              <a:t>Thank You</a:t>
            </a:r>
            <a:endParaRPr lang="en-US" sz="2400" b="1" dirty="0">
              <a:latin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2591826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167</TotalTime>
  <Words>908</Words>
  <Application>Microsoft Office PowerPoint</Application>
  <PresentationFormat>On-screen Show (4:3)</PresentationFormat>
  <Paragraphs>120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Adjacency</vt:lpstr>
      <vt:lpstr>CSE 3412  Feasibility Analysis</vt:lpstr>
      <vt:lpstr>PowerPoint Presentation</vt:lpstr>
      <vt:lpstr>PowerPoint Presentation</vt:lpstr>
      <vt:lpstr>Briefly discuss how you gathered the information and what group (Age,  Gender, Occupation) of people participated in the survey.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Ms. Sidratul Muntaha</cp:lastModifiedBy>
  <cp:revision>19</cp:revision>
  <dcterms:created xsi:type="dcterms:W3CDTF">2021-11-16T02:01:38Z</dcterms:created>
  <dcterms:modified xsi:type="dcterms:W3CDTF">2025-07-27T05:26:33Z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2021-11-16T00:00:00Z</vt:filetime>
  </property>
</Properties>
</file>