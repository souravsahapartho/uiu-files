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</p:sldIdLst>
  <p:sldSz cy="6858000" cx="9144000"/>
  <p:notesSz cx="7315200" cy="9601200"/>
  <p:embeddedFontLst>
    <p:embeddedFont>
      <p:font typeface="Libre Franklin"/>
      <p:regular r:id="rId89"/>
      <p:bold r:id="rId90"/>
      <p:italic r:id="rId91"/>
      <p:boldItalic r:id="rId92"/>
    </p:embeddedFont>
    <p:embeddedFont>
      <p:font typeface="Constantia"/>
      <p:regular r:id="rId93"/>
      <p:bold r:id="rId94"/>
      <p:italic r:id="rId95"/>
      <p:boldItalic r:id="rId96"/>
    </p:embeddedFont>
    <p:embeddedFont>
      <p:font typeface="Arial Narrow"/>
      <p:regular r:id="rId97"/>
      <p:bold r:id="rId98"/>
      <p:italic r:id="rId99"/>
      <p:boldItalic r:id="rId100"/>
    </p:embeddedFont>
    <p:embeddedFont>
      <p:font typeface="Tahoma"/>
      <p:regular r:id="rId101"/>
      <p:bold r:id="rId10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03" roundtripDataSignature="AMtx7mi0QHJ/7oW6JgcXmIXyCaR6N5iE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customschemas.google.com/relationships/presentationmetadata" Target="metadata"/><Relationship Id="rId102" Type="http://schemas.openxmlformats.org/officeDocument/2006/relationships/font" Target="fonts/Tahoma-bold.fntdata"/><Relationship Id="rId101" Type="http://schemas.openxmlformats.org/officeDocument/2006/relationships/font" Target="fonts/Tahoma-regular.fntdata"/><Relationship Id="rId100" Type="http://schemas.openxmlformats.org/officeDocument/2006/relationships/font" Target="fonts/ArialNarrow-bold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font" Target="fonts/Constantia-italic.fntdata"/><Relationship Id="rId94" Type="http://schemas.openxmlformats.org/officeDocument/2006/relationships/font" Target="fonts/Constantia-bold.fntdata"/><Relationship Id="rId97" Type="http://schemas.openxmlformats.org/officeDocument/2006/relationships/font" Target="fonts/ArialNarrow-regular.fntdata"/><Relationship Id="rId96" Type="http://schemas.openxmlformats.org/officeDocument/2006/relationships/font" Target="fonts/Constantia-boldItalic.fntdata"/><Relationship Id="rId11" Type="http://schemas.openxmlformats.org/officeDocument/2006/relationships/slide" Target="slides/slide6.xml"/><Relationship Id="rId99" Type="http://schemas.openxmlformats.org/officeDocument/2006/relationships/font" Target="fonts/ArialNarrow-italic.fntdata"/><Relationship Id="rId10" Type="http://schemas.openxmlformats.org/officeDocument/2006/relationships/slide" Target="slides/slide5.xml"/><Relationship Id="rId98" Type="http://schemas.openxmlformats.org/officeDocument/2006/relationships/font" Target="fonts/ArialNarrow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font" Target="fonts/LibreFranklin-italic.fntdata"/><Relationship Id="rId90" Type="http://schemas.openxmlformats.org/officeDocument/2006/relationships/font" Target="fonts/LibreFranklin-bold.fntdata"/><Relationship Id="rId93" Type="http://schemas.openxmlformats.org/officeDocument/2006/relationships/font" Target="fonts/Constantia-regular.fntdata"/><Relationship Id="rId92" Type="http://schemas.openxmlformats.org/officeDocument/2006/relationships/font" Target="fonts/LibreFranklin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font" Target="fonts/LibreFranklin-regular.fntdata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8650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6550" y="0"/>
            <a:ext cx="3168650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1775"/>
            <a:ext cx="316865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3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4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5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5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6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6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7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7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8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8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9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9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0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0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1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1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2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2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3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3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4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4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25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5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6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6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7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7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8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8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29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9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0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0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31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32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2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33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33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4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4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35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35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36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36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37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37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38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38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39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39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0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40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1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41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42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42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43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43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44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44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45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45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46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46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47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47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48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48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49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9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50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50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51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51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52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52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53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53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54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54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55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55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56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56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57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57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58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58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59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59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60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60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61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p61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62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62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63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63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64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64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65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65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66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66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67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67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68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68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69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69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70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70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71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2" name="Google Shape;1632;p71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72:notes"/>
          <p:cNvSpPr txBox="1"/>
          <p:nvPr/>
        </p:nvSpPr>
        <p:spPr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7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9" name="Google Shape;1639;p7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3" name="Shape 1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" name="Google Shape;1644;p73:notes"/>
          <p:cNvSpPr txBox="1"/>
          <p:nvPr/>
        </p:nvSpPr>
        <p:spPr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5" name="Google Shape;1645;p7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6" name="Google Shape;1646;p7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74:notes"/>
          <p:cNvSpPr txBox="1"/>
          <p:nvPr/>
        </p:nvSpPr>
        <p:spPr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7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4" name="Google Shape;1674;p7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75:notes"/>
          <p:cNvSpPr txBox="1"/>
          <p:nvPr/>
        </p:nvSpPr>
        <p:spPr>
          <a:xfrm>
            <a:off x="4146550" y="9121775"/>
            <a:ext cx="316865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1" name="Google Shape;1681;p7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2" name="Google Shape;1682;p7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76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76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p77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77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78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78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79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79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9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0" name="Google Shape;1770;p80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80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81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81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Google Shape;1793;p82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82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p83:notes"/>
          <p:cNvSpPr txBox="1"/>
          <p:nvPr>
            <p:ph idx="1" type="body"/>
          </p:nvPr>
        </p:nvSpPr>
        <p:spPr>
          <a:xfrm>
            <a:off x="974725" y="4560888"/>
            <a:ext cx="5365750" cy="431800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83:notes"/>
          <p:cNvSpPr/>
          <p:nvPr>
            <p:ph idx="2" type="sldImg"/>
          </p:nvPr>
        </p:nvSpPr>
        <p:spPr>
          <a:xfrm>
            <a:off x="1258888" y="722313"/>
            <a:ext cx="4799012" cy="35988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algn="ctr">
              <a:spcBef>
                <a:spcPts val="520"/>
              </a:spcBef>
              <a:spcAft>
                <a:spcPts val="0"/>
              </a:spcAft>
              <a:buSzPts val="1950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SzPts val="1560"/>
              <a:buNone/>
              <a:defRPr/>
            </a:lvl2pPr>
            <a:lvl3pPr lvl="2" algn="ctr">
              <a:spcBef>
                <a:spcPts val="440"/>
              </a:spcBef>
              <a:spcAft>
                <a:spcPts val="0"/>
              </a:spcAft>
              <a:buSzPts val="143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6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6"/>
          <p:cNvSpPr txBox="1"/>
          <p:nvPr>
            <p:ph idx="1" type="body"/>
          </p:nvPr>
        </p:nvSpPr>
        <p:spPr>
          <a:xfrm>
            <a:off x="457200" y="10525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02894" lvl="1" marL="9144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7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7"/>
          <p:cNvSpPr txBox="1"/>
          <p:nvPr>
            <p:ph idx="1" type="body"/>
          </p:nvPr>
        </p:nvSpPr>
        <p:spPr>
          <a:xfrm>
            <a:off x="457200" y="1052513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indent="-327660" lvl="1" marL="914400" algn="l">
              <a:spcBef>
                <a:spcPts val="480"/>
              </a:spcBef>
              <a:spcAft>
                <a:spcPts val="0"/>
              </a:spcAft>
              <a:buSzPts val="1560"/>
              <a:buChar char="●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9pPr>
          </a:lstStyle>
          <a:p/>
        </p:txBody>
      </p:sp>
      <p:sp>
        <p:nvSpPr>
          <p:cNvPr id="24" name="Google Shape;24;p87"/>
          <p:cNvSpPr txBox="1"/>
          <p:nvPr>
            <p:ph idx="2" type="body"/>
          </p:nvPr>
        </p:nvSpPr>
        <p:spPr>
          <a:xfrm>
            <a:off x="4648200" y="1052513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indent="-327660" lvl="1" marL="914400" algn="l">
              <a:spcBef>
                <a:spcPts val="480"/>
              </a:spcBef>
              <a:spcAft>
                <a:spcPts val="0"/>
              </a:spcAft>
              <a:buSzPts val="1560"/>
              <a:buChar char="●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3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32" name="Google Shape;32;p9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indent="-311150" lvl="1" marL="9144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9pPr>
          </a:lstStyle>
          <a:p/>
        </p:txBody>
      </p:sp>
      <p:sp>
        <p:nvSpPr>
          <p:cNvPr id="33" name="Google Shape;33;p9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3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34" name="Google Shape;34;p9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indent="-311150" lvl="1" marL="9144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1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algn="l">
              <a:spcBef>
                <a:spcPts val="640"/>
              </a:spcBef>
              <a:spcAft>
                <a:spcPts val="0"/>
              </a:spcAft>
              <a:buSzPts val="2400"/>
              <a:buChar char="●"/>
              <a:defRPr sz="3200"/>
            </a:lvl1pPr>
            <a:lvl2pPr indent="-344169" lvl="1" marL="914400" algn="l">
              <a:spcBef>
                <a:spcPts val="560"/>
              </a:spcBef>
              <a:spcAft>
                <a:spcPts val="0"/>
              </a:spcAft>
              <a:buSzPts val="1820"/>
              <a:buChar char="●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●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9pPr>
          </a:lstStyle>
          <a:p/>
        </p:txBody>
      </p:sp>
      <p:sp>
        <p:nvSpPr>
          <p:cNvPr id="40" name="Google Shape;40;p9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9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4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4"/>
          <p:cNvSpPr txBox="1"/>
          <p:nvPr>
            <p:ph idx="1" type="body"/>
          </p:nvPr>
        </p:nvSpPr>
        <p:spPr>
          <a:xfrm rot="5400000">
            <a:off x="2400300" y="-890587"/>
            <a:ext cx="43434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02894" lvl="1" marL="9144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5"/>
          <p:cNvSpPr txBox="1"/>
          <p:nvPr>
            <p:ph type="title"/>
          </p:nvPr>
        </p:nvSpPr>
        <p:spPr>
          <a:xfrm rot="5400000">
            <a:off x="5074444" y="1783556"/>
            <a:ext cx="516731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95"/>
          <p:cNvSpPr txBox="1"/>
          <p:nvPr>
            <p:ph idx="1" type="body"/>
          </p:nvPr>
        </p:nvSpPr>
        <p:spPr>
          <a:xfrm rot="5400000">
            <a:off x="883444" y="-197644"/>
            <a:ext cx="516731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02894" lvl="1" marL="9144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4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4"/>
          <p:cNvSpPr txBox="1"/>
          <p:nvPr>
            <p:ph idx="1" type="body"/>
          </p:nvPr>
        </p:nvSpPr>
        <p:spPr>
          <a:xfrm>
            <a:off x="457200" y="10525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5242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Char char="●"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2766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56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Arial"/>
              <a:buChar char="●"/>
              <a:defRPr b="0" i="0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84"/>
          <p:cNvSpPr/>
          <p:nvPr/>
        </p:nvSpPr>
        <p:spPr>
          <a:xfrm>
            <a:off x="0" y="836613"/>
            <a:ext cx="4572000" cy="76200"/>
          </a:xfrm>
          <a:prstGeom prst="rect">
            <a:avLst/>
          </a:prstGeom>
          <a:gradFill>
            <a:gsLst>
              <a:gs pos="0">
                <a:srgbClr val="FF8200"/>
              </a:gs>
              <a:gs pos="10001">
                <a:srgbClr val="FF0000"/>
              </a:gs>
              <a:gs pos="35001">
                <a:srgbClr val="BA0066"/>
              </a:gs>
              <a:gs pos="70000">
                <a:srgbClr val="66008F"/>
              </a:gs>
              <a:gs pos="100000">
                <a:srgbClr val="00008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" name="Google Shape;13;p84"/>
          <p:cNvSpPr/>
          <p:nvPr/>
        </p:nvSpPr>
        <p:spPr>
          <a:xfrm>
            <a:off x="4572000" y="836613"/>
            <a:ext cx="4572000" cy="76200"/>
          </a:xfrm>
          <a:prstGeom prst="rect">
            <a:avLst/>
          </a:prstGeom>
          <a:gradFill>
            <a:gsLst>
              <a:gs pos="0">
                <a:srgbClr val="00008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4" name="Google Shape;14;p84"/>
          <p:cNvSpPr/>
          <p:nvPr/>
        </p:nvSpPr>
        <p:spPr>
          <a:xfrm>
            <a:off x="2825750" y="6653213"/>
            <a:ext cx="4267200" cy="160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Dr. Md. Abul Kashem Mia, Professor, CSE Dept, BUET</a:t>
            </a: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8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8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8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1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685800" y="1066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Algorithms</a:t>
            </a:r>
            <a:endParaRPr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914400" y="2781300"/>
            <a:ext cx="7315200" cy="2028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 sz="3600">
                <a:solidFill>
                  <a:srgbClr val="0000CC"/>
                </a:solidFill>
              </a:rPr>
              <a:t>Graph Searching Techniques</a:t>
            </a:r>
            <a:endParaRPr/>
          </a:p>
          <a:p>
            <a:pPr indent="0" lvl="0" marL="0" rtl="0" algn="ctr">
              <a:spcBef>
                <a:spcPts val="720"/>
              </a:spcBef>
              <a:spcAft>
                <a:spcPts val="0"/>
              </a:spcAft>
              <a:buSzPts val="2700"/>
              <a:buNone/>
            </a:pPr>
            <a:r>
              <a:rPr lang="en-US" sz="3600">
                <a:solidFill>
                  <a:srgbClr val="0000FF"/>
                </a:solidFill>
              </a:rPr>
              <a:t>Topological Sorting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Graph Searching</a:t>
            </a:r>
            <a:endParaRPr/>
          </a:p>
        </p:txBody>
      </p:sp>
      <p:sp>
        <p:nvSpPr>
          <p:cNvPr id="62" name="Google Shape;62;p2"/>
          <p:cNvSpPr txBox="1"/>
          <p:nvPr>
            <p:ph idx="1" type="body"/>
          </p:nvPr>
        </p:nvSpPr>
        <p:spPr>
          <a:xfrm>
            <a:off x="457200" y="1052513"/>
            <a:ext cx="8229600" cy="2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50"/>
              <a:buChar char="●"/>
            </a:pPr>
            <a:r>
              <a:rPr lang="en-US" sz="2200"/>
              <a:t>Given: a graph G = (V, E), directed or undirected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SzPts val="1650"/>
              <a:buChar char="●"/>
            </a:pPr>
            <a:r>
              <a:rPr lang="en-US" sz="2200"/>
              <a:t>Goal: methodically explore every vertex and every edge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SzPts val="1650"/>
              <a:buChar char="●"/>
            </a:pPr>
            <a:r>
              <a:rPr lang="en-US" sz="2200"/>
              <a:t>Ultimately: build a tree on the graph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 sz="2200"/>
              <a:t>Pick a vertex as the root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 sz="2200"/>
              <a:t>Choose certain edges to produce a tree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 sz="2200"/>
              <a:t>Note: might also build a </a:t>
            </a:r>
            <a:r>
              <a:rPr i="1" lang="en-US" sz="2200">
                <a:solidFill>
                  <a:schemeClr val="dk2"/>
                </a:solidFill>
              </a:rPr>
              <a:t>forest</a:t>
            </a:r>
            <a:r>
              <a:rPr lang="en-US" sz="2200"/>
              <a:t> if graph is not connected</a:t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539750" y="4365625"/>
            <a:ext cx="75438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There are two standard graph traversal techniques:</a:t>
            </a:r>
            <a:endParaRPr/>
          </a:p>
          <a:p>
            <a:pPr indent="-152400" lvl="1" marL="457200" marR="0" rtl="0" algn="l"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Breadth-First Search (BFS)</a:t>
            </a:r>
            <a:endParaRPr/>
          </a:p>
          <a:p>
            <a:pPr indent="-152400" lvl="1" marL="4572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 Depth-First Search (DFS)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</a:t>
            </a:r>
            <a:endParaRPr/>
          </a:p>
        </p:txBody>
      </p:sp>
      <p:sp>
        <p:nvSpPr>
          <p:cNvPr id="69" name="Google Shape;69;p3"/>
          <p:cNvSpPr txBox="1"/>
          <p:nvPr>
            <p:ph idx="1" type="body"/>
          </p:nvPr>
        </p:nvSpPr>
        <p:spPr>
          <a:xfrm>
            <a:off x="457200" y="10525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“Explore” a graph, turning it into a tree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One vertex at a time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Expand frontier of explored vertices across the </a:t>
            </a:r>
            <a:r>
              <a:rPr i="1" lang="en-US"/>
              <a:t>breadth</a:t>
            </a:r>
            <a:r>
              <a:rPr lang="en-US"/>
              <a:t> of the frontier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Builds a tree over the graph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Pick a </a:t>
            </a:r>
            <a:r>
              <a:rPr i="1" lang="en-US"/>
              <a:t>source vertex</a:t>
            </a:r>
            <a:r>
              <a:rPr lang="en-US"/>
              <a:t> to be the root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Find (“discover”) its children, then their children, etc.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</a:t>
            </a:r>
            <a:endParaRPr/>
          </a:p>
        </p:txBody>
      </p:sp>
      <p:sp>
        <p:nvSpPr>
          <p:cNvPr id="75" name="Google Shape;75;p4"/>
          <p:cNvSpPr txBox="1"/>
          <p:nvPr>
            <p:ph idx="1" type="body"/>
          </p:nvPr>
        </p:nvSpPr>
        <p:spPr>
          <a:xfrm>
            <a:off x="457200" y="1052513"/>
            <a:ext cx="8229600" cy="500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Again will associate vertex “colors” to guide the algorithm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>
                <a:solidFill>
                  <a:schemeClr val="dk2"/>
                </a:solidFill>
              </a:rPr>
              <a:t>White vertices</a:t>
            </a:r>
            <a:r>
              <a:rPr lang="en-US"/>
              <a:t> have not been discovered</a:t>
            </a:r>
            <a:endParaRPr/>
          </a:p>
          <a:p>
            <a:pPr indent="-228600" lvl="2" marL="1143000" rtl="0" algn="l"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/>
              <a:t>All vertices start out white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>
                <a:solidFill>
                  <a:schemeClr val="dk2"/>
                </a:solidFill>
              </a:rPr>
              <a:t>Grey vertices</a:t>
            </a:r>
            <a:r>
              <a:rPr lang="en-US"/>
              <a:t> are discovered but not fully explored</a:t>
            </a:r>
            <a:endParaRPr/>
          </a:p>
          <a:p>
            <a:pPr indent="-228600" lvl="2" marL="1143000" rtl="0" algn="l"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/>
              <a:t>They may be adjacent to white vertices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>
                <a:solidFill>
                  <a:schemeClr val="dk2"/>
                </a:solidFill>
              </a:rPr>
              <a:t>Black vertices</a:t>
            </a:r>
            <a:r>
              <a:rPr lang="en-US"/>
              <a:t> are discovered and fully explored</a:t>
            </a:r>
            <a:endParaRPr/>
          </a:p>
          <a:p>
            <a:pPr indent="-228600" lvl="2" marL="1143000" rtl="0" algn="l"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/>
              <a:t>They are adjacent only to black and grey vertices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Explore vertices by scanning </a:t>
            </a:r>
            <a:r>
              <a:rPr lang="en-US">
                <a:solidFill>
                  <a:srgbClr val="FF0066"/>
                </a:solidFill>
              </a:rPr>
              <a:t>adjacency list</a:t>
            </a:r>
            <a:r>
              <a:rPr lang="en-US"/>
              <a:t> of grey vertices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</a:t>
            </a:r>
            <a:endParaRPr/>
          </a:p>
        </p:txBody>
      </p:sp>
      <p:pic>
        <p:nvPicPr>
          <p:cNvPr descr="BFS"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7350" y="228600"/>
            <a:ext cx="5635625" cy="66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Search: Example</a:t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4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1430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95" name="Google Shape;95;p6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96" name="Google Shape;96;p6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97" name="Google Shape;97;p6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98" name="Google Shape;98;p6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99" name="Google Shape;99;p6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00" name="Google Shape;100;p6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01" name="Google Shape;101;p6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02" name="Google Shape;102;p6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103" name="Google Shape;103;p6"/>
          <p:cNvCxnSpPr>
            <a:stCxn id="88" idx="0"/>
            <a:endCxn id="87" idx="4"/>
          </p:cNvCxnSpPr>
          <p:nvPr/>
        </p:nvCxnSpPr>
        <p:spPr>
          <a:xfrm rot="10800000">
            <a:off x="15240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6"/>
          <p:cNvCxnSpPr>
            <a:stCxn id="87" idx="6"/>
            <a:endCxn id="89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6"/>
          <p:cNvCxnSpPr>
            <a:stCxn id="89" idx="4"/>
            <a:endCxn id="90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6"/>
          <p:cNvCxnSpPr>
            <a:stCxn id="90" idx="7"/>
            <a:endCxn id="91" idx="3"/>
          </p:cNvCxnSpPr>
          <p:nvPr/>
        </p:nvCxnSpPr>
        <p:spPr>
          <a:xfrm flipH="1" rot="10800000">
            <a:off x="3850808" y="2783992"/>
            <a:ext cx="1518600" cy="985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6"/>
          <p:cNvCxnSpPr>
            <a:stCxn id="90" idx="6"/>
            <a:endCxn id="92" idx="2"/>
          </p:cNvCxnSpPr>
          <p:nvPr/>
        </p:nvCxnSpPr>
        <p:spPr>
          <a:xfrm>
            <a:off x="3962400" y="4038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6"/>
          <p:cNvCxnSpPr>
            <a:stCxn id="92" idx="0"/>
            <a:endCxn id="91" idx="4"/>
          </p:cNvCxnSpPr>
          <p:nvPr/>
        </p:nvCxnSpPr>
        <p:spPr>
          <a:xfrm rot="10800000">
            <a:off x="56388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" name="Google Shape;109;p6"/>
          <p:cNvCxnSpPr>
            <a:stCxn id="91" idx="6"/>
            <a:endCxn id="93" idx="2"/>
          </p:cNvCxnSpPr>
          <p:nvPr/>
        </p:nvCxnSpPr>
        <p:spPr>
          <a:xfrm>
            <a:off x="6019800" y="2514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6"/>
          <p:cNvCxnSpPr>
            <a:stCxn id="92" idx="6"/>
            <a:endCxn id="94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6"/>
          <p:cNvCxnSpPr>
            <a:stCxn id="94" idx="0"/>
            <a:endCxn id="93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Search: Example</a:t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4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1430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125" name="Google Shape;125;p7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126" name="Google Shape;126;p7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128" name="Google Shape;128;p7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129" name="Google Shape;129;p7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30" name="Google Shape;130;p7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31" name="Google Shape;131;p7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133" name="Google Shape;133;p7"/>
          <p:cNvCxnSpPr>
            <a:stCxn id="118" idx="0"/>
            <a:endCxn id="117" idx="4"/>
          </p:cNvCxnSpPr>
          <p:nvPr/>
        </p:nvCxnSpPr>
        <p:spPr>
          <a:xfrm rot="10800000">
            <a:off x="15240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7"/>
          <p:cNvCxnSpPr>
            <a:stCxn id="117" idx="6"/>
            <a:endCxn id="119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7"/>
          <p:cNvCxnSpPr>
            <a:stCxn id="119" idx="4"/>
            <a:endCxn id="120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7"/>
          <p:cNvCxnSpPr>
            <a:stCxn id="120" idx="7"/>
            <a:endCxn id="121" idx="3"/>
          </p:cNvCxnSpPr>
          <p:nvPr/>
        </p:nvCxnSpPr>
        <p:spPr>
          <a:xfrm flipH="1" rot="10800000">
            <a:off x="3850808" y="2783992"/>
            <a:ext cx="1518600" cy="985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7"/>
          <p:cNvCxnSpPr>
            <a:stCxn id="120" idx="6"/>
            <a:endCxn id="122" idx="2"/>
          </p:cNvCxnSpPr>
          <p:nvPr/>
        </p:nvCxnSpPr>
        <p:spPr>
          <a:xfrm>
            <a:off x="3962400" y="4038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7"/>
          <p:cNvCxnSpPr>
            <a:stCxn id="122" idx="0"/>
            <a:endCxn id="121" idx="4"/>
          </p:cNvCxnSpPr>
          <p:nvPr/>
        </p:nvCxnSpPr>
        <p:spPr>
          <a:xfrm rot="10800000">
            <a:off x="56388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7"/>
          <p:cNvCxnSpPr>
            <a:stCxn id="121" idx="6"/>
            <a:endCxn id="123" idx="2"/>
          </p:cNvCxnSpPr>
          <p:nvPr/>
        </p:nvCxnSpPr>
        <p:spPr>
          <a:xfrm>
            <a:off x="6019800" y="2514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7"/>
          <p:cNvCxnSpPr>
            <a:stCxn id="122" idx="6"/>
            <a:endCxn id="124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7"/>
          <p:cNvCxnSpPr>
            <a:stCxn id="124" idx="0"/>
            <a:endCxn id="123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7"/>
          <p:cNvSpPr/>
          <p:nvPr/>
        </p:nvSpPr>
        <p:spPr>
          <a:xfrm>
            <a:off x="25146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Search: Example</a:t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11430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157" name="Google Shape;157;p8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158" name="Google Shape;158;p8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159" name="Google Shape;159;p8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161" name="Google Shape;161;p8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62" name="Google Shape;162;p8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63" name="Google Shape;163;p8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64" name="Google Shape;164;p8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165" name="Google Shape;165;p8"/>
          <p:cNvCxnSpPr>
            <a:stCxn id="150" idx="0"/>
            <a:endCxn id="149" idx="4"/>
          </p:cNvCxnSpPr>
          <p:nvPr/>
        </p:nvCxnSpPr>
        <p:spPr>
          <a:xfrm rot="10800000">
            <a:off x="15240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8"/>
          <p:cNvCxnSpPr>
            <a:stCxn id="149" idx="6"/>
            <a:endCxn id="151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8"/>
          <p:cNvCxnSpPr>
            <a:stCxn id="151" idx="4"/>
            <a:endCxn id="152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8"/>
          <p:cNvCxnSpPr>
            <a:stCxn id="152" idx="7"/>
            <a:endCxn id="153" idx="3"/>
          </p:cNvCxnSpPr>
          <p:nvPr/>
        </p:nvCxnSpPr>
        <p:spPr>
          <a:xfrm flipH="1" rot="10800000">
            <a:off x="3850808" y="2783992"/>
            <a:ext cx="1518600" cy="985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8"/>
          <p:cNvCxnSpPr>
            <a:stCxn id="152" idx="6"/>
            <a:endCxn id="154" idx="2"/>
          </p:cNvCxnSpPr>
          <p:nvPr/>
        </p:nvCxnSpPr>
        <p:spPr>
          <a:xfrm>
            <a:off x="3962400" y="4038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8"/>
          <p:cNvCxnSpPr>
            <a:stCxn id="154" idx="0"/>
            <a:endCxn id="153" idx="4"/>
          </p:cNvCxnSpPr>
          <p:nvPr/>
        </p:nvCxnSpPr>
        <p:spPr>
          <a:xfrm rot="10800000">
            <a:off x="56388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8"/>
          <p:cNvCxnSpPr>
            <a:stCxn id="153" idx="6"/>
            <a:endCxn id="155" idx="2"/>
          </p:cNvCxnSpPr>
          <p:nvPr/>
        </p:nvCxnSpPr>
        <p:spPr>
          <a:xfrm>
            <a:off x="6019800" y="2514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8"/>
          <p:cNvCxnSpPr>
            <a:stCxn id="154" idx="6"/>
            <a:endCxn id="156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8"/>
          <p:cNvCxnSpPr>
            <a:stCxn id="156" idx="0"/>
            <a:endCxn id="155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8"/>
          <p:cNvSpPr/>
          <p:nvPr/>
        </p:nvSpPr>
        <p:spPr>
          <a:xfrm>
            <a:off x="25146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32004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Search: Example</a:t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11430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192" name="Google Shape;192;p9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194" name="Google Shape;194;p9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195" name="Google Shape;195;p9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196" name="Google Shape;196;p9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197" name="Google Shape;197;p9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198" name="Google Shape;198;p9"/>
          <p:cNvCxnSpPr>
            <a:stCxn id="183" idx="0"/>
            <a:endCxn id="182" idx="4"/>
          </p:cNvCxnSpPr>
          <p:nvPr/>
        </p:nvCxnSpPr>
        <p:spPr>
          <a:xfrm rot="10800000">
            <a:off x="15240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9"/>
          <p:cNvCxnSpPr>
            <a:stCxn id="182" idx="6"/>
            <a:endCxn id="184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9"/>
          <p:cNvCxnSpPr>
            <a:stCxn id="184" idx="4"/>
            <a:endCxn id="185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9"/>
          <p:cNvCxnSpPr>
            <a:stCxn id="185" idx="7"/>
            <a:endCxn id="186" idx="3"/>
          </p:cNvCxnSpPr>
          <p:nvPr/>
        </p:nvCxnSpPr>
        <p:spPr>
          <a:xfrm flipH="1" rot="10800000">
            <a:off x="3850808" y="2783992"/>
            <a:ext cx="1518600" cy="985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9"/>
          <p:cNvCxnSpPr>
            <a:stCxn id="185" idx="6"/>
            <a:endCxn id="187" idx="2"/>
          </p:cNvCxnSpPr>
          <p:nvPr/>
        </p:nvCxnSpPr>
        <p:spPr>
          <a:xfrm>
            <a:off x="3962400" y="4038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9"/>
          <p:cNvCxnSpPr>
            <a:stCxn id="187" idx="0"/>
            <a:endCxn id="186" idx="4"/>
          </p:cNvCxnSpPr>
          <p:nvPr/>
        </p:nvCxnSpPr>
        <p:spPr>
          <a:xfrm rot="10800000">
            <a:off x="56388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9"/>
          <p:cNvCxnSpPr>
            <a:stCxn id="186" idx="6"/>
            <a:endCxn id="188" idx="2"/>
          </p:cNvCxnSpPr>
          <p:nvPr/>
        </p:nvCxnSpPr>
        <p:spPr>
          <a:xfrm>
            <a:off x="6019800" y="2514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9"/>
          <p:cNvCxnSpPr>
            <a:stCxn id="187" idx="6"/>
            <a:endCxn id="189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9"/>
          <p:cNvCxnSpPr>
            <a:stCxn id="189" idx="0"/>
            <a:endCxn id="188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9"/>
          <p:cNvSpPr/>
          <p:nvPr/>
        </p:nvSpPr>
        <p:spPr>
          <a:xfrm>
            <a:off x="25146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32004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38862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Search: Example</a:t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143000" y="3657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224" name="Google Shape;224;p10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225" name="Google Shape;225;p10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226" name="Google Shape;226;p10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227" name="Google Shape;227;p10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228" name="Google Shape;228;p10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229" name="Google Shape;229;p10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230" name="Google Shape;230;p10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231" name="Google Shape;231;p10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232" name="Google Shape;232;p10"/>
          <p:cNvCxnSpPr>
            <a:stCxn id="217" idx="0"/>
            <a:endCxn id="216" idx="4"/>
          </p:cNvCxnSpPr>
          <p:nvPr/>
        </p:nvCxnSpPr>
        <p:spPr>
          <a:xfrm rot="10800000">
            <a:off x="15240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10"/>
          <p:cNvCxnSpPr>
            <a:stCxn id="216" idx="6"/>
            <a:endCxn id="218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10"/>
          <p:cNvCxnSpPr>
            <a:stCxn id="218" idx="4"/>
            <a:endCxn id="219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10"/>
          <p:cNvCxnSpPr>
            <a:stCxn id="219" idx="7"/>
            <a:endCxn id="220" idx="3"/>
          </p:cNvCxnSpPr>
          <p:nvPr/>
        </p:nvCxnSpPr>
        <p:spPr>
          <a:xfrm flipH="1" rot="10800000">
            <a:off x="3850808" y="2783992"/>
            <a:ext cx="1518600" cy="985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10"/>
          <p:cNvCxnSpPr>
            <a:stCxn id="219" idx="6"/>
            <a:endCxn id="221" idx="2"/>
          </p:cNvCxnSpPr>
          <p:nvPr/>
        </p:nvCxnSpPr>
        <p:spPr>
          <a:xfrm>
            <a:off x="3962400" y="4038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10"/>
          <p:cNvCxnSpPr>
            <a:stCxn id="221" idx="0"/>
            <a:endCxn id="220" idx="4"/>
          </p:cNvCxnSpPr>
          <p:nvPr/>
        </p:nvCxnSpPr>
        <p:spPr>
          <a:xfrm rot="10800000">
            <a:off x="56388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10"/>
          <p:cNvCxnSpPr>
            <a:stCxn id="220" idx="6"/>
            <a:endCxn id="222" idx="2"/>
          </p:cNvCxnSpPr>
          <p:nvPr/>
        </p:nvCxnSpPr>
        <p:spPr>
          <a:xfrm>
            <a:off x="6019800" y="2514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10"/>
          <p:cNvCxnSpPr>
            <a:stCxn id="221" idx="6"/>
            <a:endCxn id="223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10"/>
          <p:cNvCxnSpPr>
            <a:stCxn id="223" idx="0"/>
            <a:endCxn id="222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10"/>
          <p:cNvSpPr/>
          <p:nvPr/>
        </p:nvSpPr>
        <p:spPr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25146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32004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38862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Search: Example</a:t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1143000" y="3657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258" name="Google Shape;258;p11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259" name="Google Shape;259;p11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260" name="Google Shape;260;p11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261" name="Google Shape;261;p11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262" name="Google Shape;262;p11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263" name="Google Shape;263;p11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264" name="Google Shape;264;p11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266" name="Google Shape;266;p11"/>
          <p:cNvCxnSpPr>
            <a:stCxn id="251" idx="0"/>
            <a:endCxn id="250" idx="4"/>
          </p:cNvCxnSpPr>
          <p:nvPr/>
        </p:nvCxnSpPr>
        <p:spPr>
          <a:xfrm rot="10800000">
            <a:off x="15240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11"/>
          <p:cNvCxnSpPr>
            <a:stCxn id="250" idx="6"/>
            <a:endCxn id="252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" name="Google Shape;268;p11"/>
          <p:cNvCxnSpPr>
            <a:stCxn id="252" idx="4"/>
            <a:endCxn id="253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11"/>
          <p:cNvCxnSpPr>
            <a:stCxn id="253" idx="7"/>
            <a:endCxn id="254" idx="3"/>
          </p:cNvCxnSpPr>
          <p:nvPr/>
        </p:nvCxnSpPr>
        <p:spPr>
          <a:xfrm flipH="1" rot="10800000">
            <a:off x="3850808" y="2783992"/>
            <a:ext cx="1518600" cy="985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" name="Google Shape;270;p11"/>
          <p:cNvCxnSpPr>
            <a:stCxn id="253" idx="6"/>
            <a:endCxn id="255" idx="2"/>
          </p:cNvCxnSpPr>
          <p:nvPr/>
        </p:nvCxnSpPr>
        <p:spPr>
          <a:xfrm>
            <a:off x="3962400" y="4038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11"/>
          <p:cNvCxnSpPr>
            <a:stCxn id="255" idx="0"/>
            <a:endCxn id="254" idx="4"/>
          </p:cNvCxnSpPr>
          <p:nvPr/>
        </p:nvCxnSpPr>
        <p:spPr>
          <a:xfrm rot="10800000">
            <a:off x="56388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11"/>
          <p:cNvCxnSpPr>
            <a:stCxn id="254" idx="6"/>
            <a:endCxn id="256" idx="2"/>
          </p:cNvCxnSpPr>
          <p:nvPr/>
        </p:nvCxnSpPr>
        <p:spPr>
          <a:xfrm>
            <a:off x="60198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1"/>
          <p:cNvCxnSpPr>
            <a:stCxn id="255" idx="6"/>
            <a:endCxn id="257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11"/>
          <p:cNvCxnSpPr>
            <a:stCxn id="257" idx="0"/>
            <a:endCxn id="256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5" name="Google Shape;275;p11"/>
          <p:cNvSpPr/>
          <p:nvPr/>
        </p:nvSpPr>
        <p:spPr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25146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32004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38862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2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Search: Example</a:t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1143000" y="3657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292" name="Google Shape;292;p12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293" name="Google Shape;293;p12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294" name="Google Shape;294;p12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295" name="Google Shape;295;p12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296" name="Google Shape;296;p12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297" name="Google Shape;297;p12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298" name="Google Shape;298;p12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299" name="Google Shape;299;p12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300" name="Google Shape;300;p12"/>
          <p:cNvCxnSpPr>
            <a:stCxn id="285" idx="0"/>
            <a:endCxn id="284" idx="4"/>
          </p:cNvCxnSpPr>
          <p:nvPr/>
        </p:nvCxnSpPr>
        <p:spPr>
          <a:xfrm rot="10800000">
            <a:off x="15240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12"/>
          <p:cNvCxnSpPr>
            <a:stCxn id="284" idx="6"/>
            <a:endCxn id="286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12"/>
          <p:cNvCxnSpPr>
            <a:stCxn id="286" idx="4"/>
            <a:endCxn id="287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12"/>
          <p:cNvCxnSpPr>
            <a:stCxn id="287" idx="7"/>
            <a:endCxn id="288" idx="3"/>
          </p:cNvCxnSpPr>
          <p:nvPr/>
        </p:nvCxnSpPr>
        <p:spPr>
          <a:xfrm flipH="1" rot="10800000">
            <a:off x="3850808" y="2783992"/>
            <a:ext cx="1518600" cy="985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12"/>
          <p:cNvCxnSpPr>
            <a:stCxn id="287" idx="6"/>
            <a:endCxn id="289" idx="2"/>
          </p:cNvCxnSpPr>
          <p:nvPr/>
        </p:nvCxnSpPr>
        <p:spPr>
          <a:xfrm>
            <a:off x="3962400" y="4038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12"/>
          <p:cNvCxnSpPr>
            <a:stCxn id="289" idx="0"/>
            <a:endCxn id="288" idx="4"/>
          </p:cNvCxnSpPr>
          <p:nvPr/>
        </p:nvCxnSpPr>
        <p:spPr>
          <a:xfrm rot="10800000">
            <a:off x="56388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12"/>
          <p:cNvCxnSpPr>
            <a:stCxn id="288" idx="6"/>
            <a:endCxn id="290" idx="2"/>
          </p:cNvCxnSpPr>
          <p:nvPr/>
        </p:nvCxnSpPr>
        <p:spPr>
          <a:xfrm>
            <a:off x="60198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12"/>
          <p:cNvCxnSpPr>
            <a:stCxn id="289" idx="6"/>
            <a:endCxn id="291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12"/>
          <p:cNvCxnSpPr>
            <a:stCxn id="291" idx="0"/>
            <a:endCxn id="290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" name="Google Shape;309;p12"/>
          <p:cNvSpPr/>
          <p:nvPr/>
        </p:nvSpPr>
        <p:spPr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25146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32004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38862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3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Search: Example</a:t>
            </a:r>
            <a:endParaRPr/>
          </a:p>
        </p:txBody>
      </p:sp>
      <p:sp>
        <p:nvSpPr>
          <p:cNvPr id="318" name="Google Shape;318;p13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11430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26" name="Google Shape;326;p13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327" name="Google Shape;327;p13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328" name="Google Shape;328;p13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329" name="Google Shape;329;p13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330" name="Google Shape;330;p13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331" name="Google Shape;331;p13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332" name="Google Shape;332;p13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333" name="Google Shape;333;p13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334" name="Google Shape;334;p13"/>
          <p:cNvCxnSpPr>
            <a:stCxn id="319" idx="0"/>
            <a:endCxn id="318" idx="4"/>
          </p:cNvCxnSpPr>
          <p:nvPr/>
        </p:nvCxnSpPr>
        <p:spPr>
          <a:xfrm rot="10800000">
            <a:off x="15240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13"/>
          <p:cNvCxnSpPr>
            <a:stCxn id="318" idx="6"/>
            <a:endCxn id="320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p13"/>
          <p:cNvCxnSpPr>
            <a:stCxn id="320" idx="4"/>
            <a:endCxn id="321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13"/>
          <p:cNvCxnSpPr>
            <a:stCxn id="321" idx="7"/>
            <a:endCxn id="322" idx="3"/>
          </p:cNvCxnSpPr>
          <p:nvPr/>
        </p:nvCxnSpPr>
        <p:spPr>
          <a:xfrm flipH="1" rot="10800000">
            <a:off x="3850808" y="2783992"/>
            <a:ext cx="1518600" cy="985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p13"/>
          <p:cNvCxnSpPr>
            <a:stCxn id="321" idx="6"/>
            <a:endCxn id="323" idx="2"/>
          </p:cNvCxnSpPr>
          <p:nvPr/>
        </p:nvCxnSpPr>
        <p:spPr>
          <a:xfrm>
            <a:off x="3962400" y="4038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p13"/>
          <p:cNvCxnSpPr>
            <a:stCxn id="323" idx="0"/>
            <a:endCxn id="322" idx="4"/>
          </p:cNvCxnSpPr>
          <p:nvPr/>
        </p:nvCxnSpPr>
        <p:spPr>
          <a:xfrm rot="10800000">
            <a:off x="56388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p13"/>
          <p:cNvCxnSpPr>
            <a:stCxn id="322" idx="6"/>
            <a:endCxn id="324" idx="2"/>
          </p:cNvCxnSpPr>
          <p:nvPr/>
        </p:nvCxnSpPr>
        <p:spPr>
          <a:xfrm>
            <a:off x="60198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p13"/>
          <p:cNvCxnSpPr>
            <a:stCxn id="323" idx="6"/>
            <a:endCxn id="325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" name="Google Shape;342;p13"/>
          <p:cNvCxnSpPr>
            <a:stCxn id="325" idx="0"/>
            <a:endCxn id="324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13"/>
          <p:cNvSpPr/>
          <p:nvPr/>
        </p:nvSpPr>
        <p:spPr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25146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345" name="Google Shape;345;p13"/>
          <p:cNvSpPr/>
          <p:nvPr/>
        </p:nvSpPr>
        <p:spPr>
          <a:xfrm>
            <a:off x="32004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Search: Example</a:t>
            </a:r>
            <a:endParaRPr/>
          </a:p>
        </p:txBody>
      </p:sp>
      <p:sp>
        <p:nvSpPr>
          <p:cNvPr id="351" name="Google Shape;351;p14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14"/>
          <p:cNvSpPr/>
          <p:nvPr/>
        </p:nvSpPr>
        <p:spPr>
          <a:xfrm>
            <a:off x="11430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53" name="Google Shape;353;p14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354" name="Google Shape;354;p14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55" name="Google Shape;355;p14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56" name="Google Shape;356;p14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57" name="Google Shape;357;p14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58" name="Google Shape;358;p14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59" name="Google Shape;359;p14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360" name="Google Shape;360;p14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361" name="Google Shape;361;p14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362" name="Google Shape;362;p14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363" name="Google Shape;363;p14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364" name="Google Shape;364;p14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365" name="Google Shape;365;p14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366" name="Google Shape;366;p14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367" name="Google Shape;367;p14"/>
          <p:cNvCxnSpPr>
            <a:stCxn id="352" idx="0"/>
            <a:endCxn id="351" idx="4"/>
          </p:cNvCxnSpPr>
          <p:nvPr/>
        </p:nvCxnSpPr>
        <p:spPr>
          <a:xfrm rot="10800000">
            <a:off x="15240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14"/>
          <p:cNvCxnSpPr>
            <a:stCxn id="351" idx="6"/>
            <a:endCxn id="353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14"/>
          <p:cNvCxnSpPr>
            <a:stCxn id="353" idx="4"/>
            <a:endCxn id="354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14"/>
          <p:cNvCxnSpPr>
            <a:stCxn id="354" idx="7"/>
            <a:endCxn id="355" idx="3"/>
          </p:cNvCxnSpPr>
          <p:nvPr/>
        </p:nvCxnSpPr>
        <p:spPr>
          <a:xfrm flipH="1" rot="10800000">
            <a:off x="3850808" y="2783992"/>
            <a:ext cx="1518600" cy="985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14"/>
          <p:cNvCxnSpPr>
            <a:stCxn id="354" idx="6"/>
            <a:endCxn id="356" idx="2"/>
          </p:cNvCxnSpPr>
          <p:nvPr/>
        </p:nvCxnSpPr>
        <p:spPr>
          <a:xfrm>
            <a:off x="3962400" y="4038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p14"/>
          <p:cNvCxnSpPr>
            <a:stCxn id="356" idx="0"/>
            <a:endCxn id="355" idx="4"/>
          </p:cNvCxnSpPr>
          <p:nvPr/>
        </p:nvCxnSpPr>
        <p:spPr>
          <a:xfrm rot="10800000">
            <a:off x="56388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14"/>
          <p:cNvCxnSpPr>
            <a:stCxn id="355" idx="6"/>
            <a:endCxn id="357" idx="2"/>
          </p:cNvCxnSpPr>
          <p:nvPr/>
        </p:nvCxnSpPr>
        <p:spPr>
          <a:xfrm>
            <a:off x="60198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14"/>
          <p:cNvCxnSpPr>
            <a:stCxn id="356" idx="6"/>
            <a:endCxn id="358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14"/>
          <p:cNvCxnSpPr>
            <a:stCxn id="358" idx="0"/>
            <a:endCxn id="357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" name="Google Shape;376;p14"/>
          <p:cNvSpPr/>
          <p:nvPr/>
        </p:nvSpPr>
        <p:spPr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/>
          </a:p>
        </p:txBody>
      </p:sp>
      <p:sp>
        <p:nvSpPr>
          <p:cNvPr id="377" name="Google Shape;377;p14"/>
          <p:cNvSpPr/>
          <p:nvPr/>
        </p:nvSpPr>
        <p:spPr>
          <a:xfrm>
            <a:off x="25146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5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Search: Example</a:t>
            </a: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11430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91" name="Google Shape;391;p15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392" name="Google Shape;392;p15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393" name="Google Shape;393;p15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394" name="Google Shape;394;p15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395" name="Google Shape;395;p15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396" name="Google Shape;396;p15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397" name="Google Shape;397;p15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398" name="Google Shape;398;p15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399" name="Google Shape;399;p15"/>
          <p:cNvCxnSpPr>
            <a:stCxn id="384" idx="0"/>
            <a:endCxn id="383" idx="4"/>
          </p:cNvCxnSpPr>
          <p:nvPr/>
        </p:nvCxnSpPr>
        <p:spPr>
          <a:xfrm rot="10800000">
            <a:off x="15240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" name="Google Shape;400;p15"/>
          <p:cNvCxnSpPr>
            <a:stCxn id="383" idx="6"/>
            <a:endCxn id="385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15"/>
          <p:cNvCxnSpPr>
            <a:stCxn id="385" idx="4"/>
            <a:endCxn id="386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15"/>
          <p:cNvCxnSpPr>
            <a:stCxn id="386" idx="7"/>
            <a:endCxn id="387" idx="3"/>
          </p:cNvCxnSpPr>
          <p:nvPr/>
        </p:nvCxnSpPr>
        <p:spPr>
          <a:xfrm flipH="1" rot="10800000">
            <a:off x="3850808" y="2783992"/>
            <a:ext cx="1518600" cy="9852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15"/>
          <p:cNvCxnSpPr>
            <a:stCxn id="386" idx="6"/>
            <a:endCxn id="388" idx="2"/>
          </p:cNvCxnSpPr>
          <p:nvPr/>
        </p:nvCxnSpPr>
        <p:spPr>
          <a:xfrm>
            <a:off x="3962400" y="4038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" name="Google Shape;404;p15"/>
          <p:cNvCxnSpPr>
            <a:stCxn id="388" idx="0"/>
            <a:endCxn id="387" idx="4"/>
          </p:cNvCxnSpPr>
          <p:nvPr/>
        </p:nvCxnSpPr>
        <p:spPr>
          <a:xfrm rot="10800000">
            <a:off x="56388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15"/>
          <p:cNvCxnSpPr>
            <a:stCxn id="387" idx="6"/>
            <a:endCxn id="389" idx="2"/>
          </p:cNvCxnSpPr>
          <p:nvPr/>
        </p:nvCxnSpPr>
        <p:spPr>
          <a:xfrm>
            <a:off x="60198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15"/>
          <p:cNvCxnSpPr>
            <a:stCxn id="388" idx="6"/>
            <a:endCxn id="390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15"/>
          <p:cNvCxnSpPr>
            <a:stCxn id="390" idx="0"/>
            <a:endCxn id="389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15"/>
          <p:cNvSpPr/>
          <p:nvPr/>
        </p:nvSpPr>
        <p:spPr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25146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Ø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6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BFS - A Graphical Representation</a:t>
            </a:r>
            <a:endParaRPr/>
          </a:p>
        </p:txBody>
      </p:sp>
      <p:pic>
        <p:nvPicPr>
          <p:cNvPr id="415" name="Google Shape;4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700213"/>
            <a:ext cx="76200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986213"/>
            <a:ext cx="373380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9600" y="4138613"/>
            <a:ext cx="41148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6"/>
          <p:cNvSpPr txBox="1"/>
          <p:nvPr/>
        </p:nvSpPr>
        <p:spPr>
          <a:xfrm>
            <a:off x="8388350" y="4519613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d)</a:t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19" name="Google Shape;419;p16"/>
          <p:cNvSpPr txBox="1"/>
          <p:nvPr/>
        </p:nvSpPr>
        <p:spPr>
          <a:xfrm>
            <a:off x="304800" y="4443413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c)</a:t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0" name="Google Shape;420;p16"/>
          <p:cNvSpPr txBox="1"/>
          <p:nvPr/>
        </p:nvSpPr>
        <p:spPr>
          <a:xfrm>
            <a:off x="8229600" y="2386013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b)</a:t>
            </a:r>
            <a:endParaRPr b="0" i="0" sz="2400" u="none" cap="none" strike="noStrik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1" name="Google Shape;421;p16"/>
          <p:cNvSpPr txBox="1"/>
          <p:nvPr/>
        </p:nvSpPr>
        <p:spPr>
          <a:xfrm>
            <a:off x="290513" y="2386013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7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BFS - A Graphical Representation</a:t>
            </a:r>
            <a:endParaRPr/>
          </a:p>
        </p:txBody>
      </p:sp>
      <p:pic>
        <p:nvPicPr>
          <p:cNvPr id="427" name="Google Shape;4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3213" y="2209800"/>
            <a:ext cx="411480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2813" y="2286000"/>
            <a:ext cx="402590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7"/>
          <p:cNvSpPr txBox="1"/>
          <p:nvPr/>
        </p:nvSpPr>
        <p:spPr>
          <a:xfrm>
            <a:off x="303213" y="1892300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/>
          </a:p>
        </p:txBody>
      </p:sp>
      <p:sp>
        <p:nvSpPr>
          <p:cNvPr id="430" name="Google Shape;430;p17"/>
          <p:cNvSpPr txBox="1"/>
          <p:nvPr/>
        </p:nvSpPr>
        <p:spPr>
          <a:xfrm>
            <a:off x="4418013" y="1828800"/>
            <a:ext cx="60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f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BFS: The Code Again</a:t>
            </a:r>
            <a:endParaRPr/>
          </a:p>
        </p:txBody>
      </p:sp>
      <p:sp>
        <p:nvSpPr>
          <p:cNvPr id="436" name="Google Shape;436;p18"/>
          <p:cNvSpPr txBox="1"/>
          <p:nvPr>
            <p:ph idx="1" type="body"/>
          </p:nvPr>
        </p:nvSpPr>
        <p:spPr>
          <a:xfrm>
            <a:off x="457200" y="10525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BFS(G, s) {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initialize vertices;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Q = {s};		</a:t>
            </a:r>
            <a:endParaRPr b="1" i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while (Q not empty) {    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u = RemoveTop(Q);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for each v ∈ u-&gt;adj {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    if (v-&gt;color == WHITE)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        v-&gt;color = GREY;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        v-&gt;d = u-&gt;d + 1;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        v-&gt;p = u;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        Enqueue(Q, v);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u-&gt;color = BLACK;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437" name="Google Shape;437;p18"/>
          <p:cNvSpPr txBox="1"/>
          <p:nvPr/>
        </p:nvSpPr>
        <p:spPr>
          <a:xfrm>
            <a:off x="4508500" y="5334000"/>
            <a:ext cx="410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will be the running time?</a:t>
            </a:r>
            <a:endParaRPr/>
          </a:p>
        </p:txBody>
      </p:sp>
      <p:grpSp>
        <p:nvGrpSpPr>
          <p:cNvPr id="438" name="Google Shape;438;p18"/>
          <p:cNvGrpSpPr/>
          <p:nvPr/>
        </p:nvGrpSpPr>
        <p:grpSpPr>
          <a:xfrm>
            <a:off x="3962400" y="1268413"/>
            <a:ext cx="3995738" cy="457200"/>
            <a:chOff x="2496" y="1104"/>
            <a:chExt cx="2517" cy="288"/>
          </a:xfrm>
        </p:grpSpPr>
        <p:sp>
          <p:nvSpPr>
            <p:cNvPr id="439" name="Google Shape;439;p18"/>
            <p:cNvSpPr txBox="1"/>
            <p:nvPr/>
          </p:nvSpPr>
          <p:spPr>
            <a:xfrm>
              <a:off x="2888" y="1104"/>
              <a:ext cx="2125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 u="none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Touch every vertex: O(V)</a:t>
              </a:r>
              <a:endParaRPr/>
            </a:p>
          </p:txBody>
        </p:sp>
        <p:cxnSp>
          <p:nvCxnSpPr>
            <p:cNvPr id="440" name="Google Shape;440;p18"/>
            <p:cNvCxnSpPr/>
            <p:nvPr/>
          </p:nvCxnSpPr>
          <p:spPr>
            <a:xfrm rot="10800000">
              <a:off x="2496" y="1248"/>
              <a:ext cx="384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41" name="Google Shape;441;p18"/>
          <p:cNvGrpSpPr/>
          <p:nvPr/>
        </p:nvGrpSpPr>
        <p:grpSpPr>
          <a:xfrm>
            <a:off x="3967163" y="2060575"/>
            <a:ext cx="4781550" cy="822325"/>
            <a:chOff x="2544" y="1772"/>
            <a:chExt cx="3012" cy="518"/>
          </a:xfrm>
        </p:grpSpPr>
        <p:sp>
          <p:nvSpPr>
            <p:cNvPr id="442" name="Google Shape;442;p18"/>
            <p:cNvSpPr txBox="1"/>
            <p:nvPr/>
          </p:nvSpPr>
          <p:spPr>
            <a:xfrm>
              <a:off x="3024" y="1772"/>
              <a:ext cx="2532" cy="5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 u="none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 = every vertex, but only once</a:t>
              </a:r>
              <a:br>
                <a:rPr b="1" i="1" lang="en-US" sz="2400" u="none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b="1" i="1" lang="en-US" sz="2400" u="none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                         (</a:t>
              </a:r>
              <a:r>
                <a:rPr b="1" i="1" lang="en-US" sz="24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Why?</a:t>
              </a:r>
              <a:r>
                <a:rPr b="1" i="1" lang="en-US" sz="2400" u="none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/>
            </a:p>
          </p:txBody>
        </p:sp>
        <p:cxnSp>
          <p:nvCxnSpPr>
            <p:cNvPr id="443" name="Google Shape;443;p18"/>
            <p:cNvCxnSpPr/>
            <p:nvPr/>
          </p:nvCxnSpPr>
          <p:spPr>
            <a:xfrm rot="10800000">
              <a:off x="2544" y="1920"/>
              <a:ext cx="48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44" name="Google Shape;444;p18"/>
          <p:cNvGrpSpPr/>
          <p:nvPr/>
        </p:nvGrpSpPr>
        <p:grpSpPr>
          <a:xfrm>
            <a:off x="76200" y="2692400"/>
            <a:ext cx="2590800" cy="1801813"/>
            <a:chOff x="48" y="1696"/>
            <a:chExt cx="1632" cy="1135"/>
          </a:xfrm>
        </p:grpSpPr>
        <p:sp>
          <p:nvSpPr>
            <p:cNvPr id="445" name="Google Shape;445;p18"/>
            <p:cNvSpPr txBox="1"/>
            <p:nvPr/>
          </p:nvSpPr>
          <p:spPr>
            <a:xfrm>
              <a:off x="48" y="1853"/>
              <a:ext cx="1632" cy="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 u="none" cap="none" strike="noStrike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 v = every vertex that appears in some other vert’s adjacency list</a:t>
              </a:r>
              <a:endParaRPr/>
            </a:p>
          </p:txBody>
        </p:sp>
        <p:cxnSp>
          <p:nvCxnSpPr>
            <p:cNvPr id="446" name="Google Shape;446;p18"/>
            <p:cNvCxnSpPr/>
            <p:nvPr/>
          </p:nvCxnSpPr>
          <p:spPr>
            <a:xfrm flipH="1" rot="10800000">
              <a:off x="930" y="1696"/>
              <a:ext cx="592" cy="192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447" name="Google Shape;447;p18"/>
          <p:cNvSpPr txBox="1"/>
          <p:nvPr/>
        </p:nvSpPr>
        <p:spPr>
          <a:xfrm>
            <a:off x="4508500" y="5715000"/>
            <a:ext cx="38369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running time: </a:t>
            </a: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9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BFS: The Code Again</a:t>
            </a:r>
            <a:endParaRPr/>
          </a:p>
        </p:txBody>
      </p:sp>
      <p:sp>
        <p:nvSpPr>
          <p:cNvPr id="453" name="Google Shape;453;p19"/>
          <p:cNvSpPr txBox="1"/>
          <p:nvPr>
            <p:ph idx="1" type="body"/>
          </p:nvPr>
        </p:nvSpPr>
        <p:spPr>
          <a:xfrm>
            <a:off x="457200" y="10525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BFS(G, s) {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initialize vertices;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Q = {s};		</a:t>
            </a:r>
            <a:endParaRPr b="1" i="1"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while (Q not empty) {    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u = RemoveTop(Q);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for each v ∈ u-&gt;adj {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    if (v-&gt;color == WHITE)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        v-&gt;color = GREY;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        v-&gt;d = u-&gt;d + 1;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        v-&gt;p = u;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        Enqueue(Q, v);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u-&gt;color = BLACK;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454" name="Google Shape;454;p19"/>
          <p:cNvSpPr txBox="1"/>
          <p:nvPr/>
        </p:nvSpPr>
        <p:spPr>
          <a:xfrm>
            <a:off x="4703763" y="4953000"/>
            <a:ext cx="3983037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will be the storage cost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addition to storing the tree?</a:t>
            </a:r>
            <a:endParaRPr/>
          </a:p>
        </p:txBody>
      </p:sp>
      <p:sp>
        <p:nvSpPr>
          <p:cNvPr id="455" name="Google Shape;455;p19"/>
          <p:cNvSpPr txBox="1"/>
          <p:nvPr/>
        </p:nvSpPr>
        <p:spPr>
          <a:xfrm>
            <a:off x="4356100" y="5715000"/>
            <a:ext cx="4330700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space used: </a:t>
            </a:r>
            <a:b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Σ(degree(v))) = O(</a:t>
            </a: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 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"/>
          <p:cNvSpPr txBox="1"/>
          <p:nvPr>
            <p:ph type="title"/>
          </p:nvPr>
        </p:nvSpPr>
        <p:spPr>
          <a:xfrm>
            <a:off x="206375" y="228600"/>
            <a:ext cx="86868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</a:t>
            </a: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 : Disconnected Graph</a:t>
            </a:r>
            <a:endParaRPr/>
          </a:p>
        </p:txBody>
      </p:sp>
      <p:sp>
        <p:nvSpPr>
          <p:cNvPr id="461" name="Google Shape;461;p20"/>
          <p:cNvSpPr txBox="1"/>
          <p:nvPr>
            <p:ph idx="1" type="body"/>
          </p:nvPr>
        </p:nvSpPr>
        <p:spPr>
          <a:xfrm>
            <a:off x="0" y="1125538"/>
            <a:ext cx="42116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650"/>
              <a:buNone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BFS(G) </a:t>
            </a:r>
            <a:endParaRPr/>
          </a:p>
          <a:p>
            <a:pPr indent="-457200" lvl="0" marL="457200" rtl="0" algn="l">
              <a:spcBef>
                <a:spcPts val="440"/>
              </a:spcBef>
              <a:spcAft>
                <a:spcPts val="0"/>
              </a:spcAft>
              <a:buSzPts val="1650"/>
              <a:buFont typeface="Arial"/>
              <a:buAutoNum type="arabicPeriod"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 for each vertex u ∈ G-&gt;V </a:t>
            </a:r>
            <a:endParaRPr/>
          </a:p>
          <a:p>
            <a:pPr indent="-457200" lvl="0" marL="457200" rtl="0" algn="l">
              <a:spcBef>
                <a:spcPts val="440"/>
              </a:spcBef>
              <a:spcAft>
                <a:spcPts val="0"/>
              </a:spcAft>
              <a:buSzPts val="1650"/>
              <a:buFont typeface="Arial"/>
              <a:buAutoNum type="arabicPeriod"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         u-&gt;color = WHITE;</a:t>
            </a:r>
            <a:endParaRPr/>
          </a:p>
          <a:p>
            <a:pPr indent="-457200" lvl="0" marL="457200" rtl="0" algn="l">
              <a:spcBef>
                <a:spcPts val="440"/>
              </a:spcBef>
              <a:spcAft>
                <a:spcPts val="0"/>
              </a:spcAft>
              <a:buSzPts val="1650"/>
              <a:buFont typeface="Arial"/>
              <a:buAutoNum type="arabicPeriod"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	   u-&gt;d = ∝</a:t>
            </a:r>
            <a:endParaRPr/>
          </a:p>
          <a:p>
            <a:pPr indent="-457200" lvl="0" marL="457200" rtl="0" algn="l">
              <a:spcBef>
                <a:spcPts val="440"/>
              </a:spcBef>
              <a:spcAft>
                <a:spcPts val="0"/>
              </a:spcAft>
              <a:buSzPts val="1650"/>
              <a:buFont typeface="Arial"/>
              <a:buAutoNum type="arabicPeriod"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	   u-&gt;π = NIL</a:t>
            </a:r>
            <a:endParaRPr/>
          </a:p>
          <a:p>
            <a:pPr indent="-457200" lvl="0" marL="457200" rtl="0" algn="l">
              <a:spcBef>
                <a:spcPts val="440"/>
              </a:spcBef>
              <a:spcAft>
                <a:spcPts val="0"/>
              </a:spcAft>
              <a:buSzPts val="1650"/>
              <a:buFont typeface="Arial"/>
              <a:buAutoNum type="arabicPeriod"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   </a:t>
            </a:r>
            <a:endParaRPr/>
          </a:p>
          <a:p>
            <a:pPr indent="-457200" lvl="0" marL="457200" rtl="0" algn="l">
              <a:spcBef>
                <a:spcPts val="440"/>
              </a:spcBef>
              <a:spcAft>
                <a:spcPts val="0"/>
              </a:spcAft>
              <a:buSzPts val="1650"/>
              <a:buFont typeface="Arial"/>
              <a:buAutoNum type="arabicPeriod"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 for each vertex u ∈ G-&gt;V </a:t>
            </a:r>
            <a:endParaRPr/>
          </a:p>
          <a:p>
            <a:pPr indent="-457200" lvl="0" marL="457200" rtl="0" algn="l">
              <a:spcBef>
                <a:spcPts val="440"/>
              </a:spcBef>
              <a:spcAft>
                <a:spcPts val="0"/>
              </a:spcAft>
              <a:buSzPts val="1650"/>
              <a:buFont typeface="Arial"/>
              <a:buAutoNum type="arabicPeriod"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        if (u-&gt;color == WHITE)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650"/>
              <a:buFont typeface="Arial"/>
              <a:buAutoNum type="arabicPeriod"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             BFS_Visit(u);</a:t>
            </a:r>
            <a:endParaRPr/>
          </a:p>
        </p:txBody>
      </p:sp>
      <p:sp>
        <p:nvSpPr>
          <p:cNvPr id="462" name="Google Shape;462;p20"/>
          <p:cNvSpPr/>
          <p:nvPr/>
        </p:nvSpPr>
        <p:spPr>
          <a:xfrm>
            <a:off x="4500564" y="979488"/>
            <a:ext cx="4643436" cy="5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BFS_Visit(u) 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u-&gt;color = GREY;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u-&gt;d = 0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u-&gt;π = NIL   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Q = φ;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Enqueue(Q, u)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while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Q ≠ φ 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	   u = Dequeue(Q)</a:t>
            </a:r>
            <a:endParaRPr/>
          </a:p>
          <a:p>
            <a:pPr indent="-457200" lvl="0" marL="4572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	  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for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each v ∈ u-&gt;Adj[u]</a:t>
            </a:r>
            <a:endParaRPr b="0" i="0" sz="22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457200" lvl="0" marL="4572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           </a:t>
            </a:r>
            <a:r>
              <a:rPr b="1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if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(v-&gt;color == WHITE)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                    v-&gt;color = GREY;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		     v-&gt;d = u-&gt;d + 1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		     v-&gt;π = u   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		     Enqueue(Q, v)</a:t>
            </a:r>
            <a:endParaRPr/>
          </a:p>
          <a:p>
            <a:pPr indent="-457200" lvl="0" marL="4572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AutoNum type="arabicPeriod"/>
            </a:pPr>
            <a:r>
              <a:rPr b="0" i="0" lang="en-US" sz="2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	   u-&gt;color = BLACK;</a:t>
            </a:r>
            <a:endParaRPr/>
          </a:p>
        </p:txBody>
      </p:sp>
      <p:cxnSp>
        <p:nvCxnSpPr>
          <p:cNvPr id="463" name="Google Shape;463;p20"/>
          <p:cNvCxnSpPr/>
          <p:nvPr/>
        </p:nvCxnSpPr>
        <p:spPr>
          <a:xfrm rot="10800000">
            <a:off x="4500563" y="1524000"/>
            <a:ext cx="0" cy="44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1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4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9" name="Google Shape;469;p21"/>
          <p:cNvSpPr/>
          <p:nvPr/>
        </p:nvSpPr>
        <p:spPr>
          <a:xfrm>
            <a:off x="11430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470" name="Google Shape;470;p21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471" name="Google Shape;471;p21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472" name="Google Shape;472;p21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473" name="Google Shape;473;p21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474" name="Google Shape;474;p21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475" name="Google Shape;475;p21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476" name="Google Shape;476;p21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477" name="Google Shape;477;p21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478" name="Google Shape;478;p21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479" name="Google Shape;479;p21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480" name="Google Shape;480;p21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481" name="Google Shape;481;p21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482" name="Google Shape;482;p21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483" name="Google Shape;483;p21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484" name="Google Shape;484;p21"/>
          <p:cNvCxnSpPr>
            <a:stCxn id="469" idx="0"/>
            <a:endCxn id="468" idx="4"/>
          </p:cNvCxnSpPr>
          <p:nvPr/>
        </p:nvCxnSpPr>
        <p:spPr>
          <a:xfrm rot="10800000">
            <a:off x="15240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21"/>
          <p:cNvCxnSpPr>
            <a:stCxn id="468" idx="6"/>
            <a:endCxn id="470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21"/>
          <p:cNvCxnSpPr>
            <a:stCxn id="470" idx="4"/>
            <a:endCxn id="471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7" name="Google Shape;487;p21"/>
          <p:cNvCxnSpPr/>
          <p:nvPr/>
        </p:nvCxnSpPr>
        <p:spPr>
          <a:xfrm flipH="1" rot="10800000">
            <a:off x="1763713" y="2781300"/>
            <a:ext cx="1517650" cy="9556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21"/>
          <p:cNvCxnSpPr/>
          <p:nvPr/>
        </p:nvCxnSpPr>
        <p:spPr>
          <a:xfrm>
            <a:off x="1908175" y="4038600"/>
            <a:ext cx="12668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9" name="Google Shape;489;p21"/>
          <p:cNvCxnSpPr>
            <a:stCxn id="473" idx="0"/>
            <a:endCxn id="472" idx="4"/>
          </p:cNvCxnSpPr>
          <p:nvPr/>
        </p:nvCxnSpPr>
        <p:spPr>
          <a:xfrm rot="10800000">
            <a:off x="56388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21"/>
          <p:cNvCxnSpPr>
            <a:stCxn id="472" idx="6"/>
            <a:endCxn id="474" idx="2"/>
          </p:cNvCxnSpPr>
          <p:nvPr/>
        </p:nvCxnSpPr>
        <p:spPr>
          <a:xfrm>
            <a:off x="6019800" y="2514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21"/>
          <p:cNvCxnSpPr>
            <a:stCxn id="473" idx="6"/>
            <a:endCxn id="475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21"/>
          <p:cNvCxnSpPr>
            <a:stCxn id="475" idx="0"/>
            <a:endCxn id="474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" name="Google Shape;493;p21"/>
          <p:cNvSpPr txBox="1"/>
          <p:nvPr>
            <p:ph type="title"/>
          </p:nvPr>
        </p:nvSpPr>
        <p:spPr>
          <a:xfrm>
            <a:off x="206375" y="228600"/>
            <a:ext cx="86868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</a:t>
            </a: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 : Disconnected Graph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2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4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9" name="Google Shape;499;p22"/>
          <p:cNvSpPr/>
          <p:nvPr/>
        </p:nvSpPr>
        <p:spPr>
          <a:xfrm>
            <a:off x="11430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500" name="Google Shape;500;p22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501" name="Google Shape;501;p22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502" name="Google Shape;502;p22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503" name="Google Shape;503;p22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504" name="Google Shape;504;p22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505" name="Google Shape;505;p22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506" name="Google Shape;506;p22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507" name="Google Shape;507;p22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508" name="Google Shape;508;p22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509" name="Google Shape;509;p22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510" name="Google Shape;510;p22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511" name="Google Shape;511;p22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512" name="Google Shape;512;p22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513" name="Google Shape;513;p22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514" name="Google Shape;514;p22"/>
          <p:cNvCxnSpPr>
            <a:stCxn id="499" idx="0"/>
            <a:endCxn id="498" idx="4"/>
          </p:cNvCxnSpPr>
          <p:nvPr/>
        </p:nvCxnSpPr>
        <p:spPr>
          <a:xfrm rot="10800000">
            <a:off x="15240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22"/>
          <p:cNvCxnSpPr>
            <a:stCxn id="498" idx="6"/>
            <a:endCxn id="500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22"/>
          <p:cNvCxnSpPr>
            <a:stCxn id="500" idx="4"/>
            <a:endCxn id="501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22"/>
          <p:cNvCxnSpPr/>
          <p:nvPr/>
        </p:nvCxnSpPr>
        <p:spPr>
          <a:xfrm>
            <a:off x="1936750" y="4038600"/>
            <a:ext cx="12668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22"/>
          <p:cNvCxnSpPr>
            <a:stCxn id="503" idx="0"/>
            <a:endCxn id="502" idx="4"/>
          </p:cNvCxnSpPr>
          <p:nvPr/>
        </p:nvCxnSpPr>
        <p:spPr>
          <a:xfrm rot="10800000">
            <a:off x="56388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22"/>
          <p:cNvCxnSpPr>
            <a:stCxn id="502" idx="6"/>
            <a:endCxn id="504" idx="2"/>
          </p:cNvCxnSpPr>
          <p:nvPr/>
        </p:nvCxnSpPr>
        <p:spPr>
          <a:xfrm>
            <a:off x="6019800" y="2514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22"/>
          <p:cNvCxnSpPr>
            <a:stCxn id="503" idx="6"/>
            <a:endCxn id="505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22"/>
          <p:cNvCxnSpPr>
            <a:stCxn id="505" idx="0"/>
            <a:endCxn id="504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2" name="Google Shape;522;p22"/>
          <p:cNvSpPr/>
          <p:nvPr/>
        </p:nvSpPr>
        <p:spPr>
          <a:xfrm>
            <a:off x="25146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523" name="Google Shape;523;p22"/>
          <p:cNvSpPr/>
          <p:nvPr/>
        </p:nvSpPr>
        <p:spPr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/>
          </a:p>
        </p:txBody>
      </p:sp>
      <p:sp>
        <p:nvSpPr>
          <p:cNvPr id="524" name="Google Shape;524;p22"/>
          <p:cNvSpPr txBox="1"/>
          <p:nvPr>
            <p:ph type="title"/>
          </p:nvPr>
        </p:nvSpPr>
        <p:spPr>
          <a:xfrm>
            <a:off x="206375" y="228600"/>
            <a:ext cx="86868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</a:t>
            </a: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 : Disconnected Graph</a:t>
            </a:r>
            <a:endParaRPr/>
          </a:p>
        </p:txBody>
      </p:sp>
      <p:cxnSp>
        <p:nvCxnSpPr>
          <p:cNvPr id="525" name="Google Shape;525;p22"/>
          <p:cNvCxnSpPr/>
          <p:nvPr/>
        </p:nvCxnSpPr>
        <p:spPr>
          <a:xfrm flipH="1" rot="10800000">
            <a:off x="1763713" y="2781300"/>
            <a:ext cx="1517650" cy="9556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3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1" name="Google Shape;531;p23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532" name="Google Shape;532;p23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33" name="Google Shape;533;p23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534" name="Google Shape;534;p23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535" name="Google Shape;535;p23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536" name="Google Shape;536;p23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537" name="Google Shape;537;p23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538" name="Google Shape;538;p23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539" name="Google Shape;539;p23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540" name="Google Shape;540;p23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541" name="Google Shape;541;p23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542" name="Google Shape;542;p23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543" name="Google Shape;543;p23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544" name="Google Shape;544;p23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545" name="Google Shape;545;p23"/>
          <p:cNvCxnSpPr>
            <a:endCxn id="530" idx="4"/>
          </p:cNvCxnSpPr>
          <p:nvPr/>
        </p:nvCxnSpPr>
        <p:spPr>
          <a:xfrm rot="10800000">
            <a:off x="1524000" y="2895600"/>
            <a:ext cx="0" cy="733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23"/>
          <p:cNvCxnSpPr>
            <a:stCxn id="530" idx="6"/>
            <a:endCxn id="531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23"/>
          <p:cNvCxnSpPr>
            <a:stCxn id="531" idx="4"/>
            <a:endCxn id="532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8" name="Google Shape;548;p23"/>
          <p:cNvCxnSpPr/>
          <p:nvPr/>
        </p:nvCxnSpPr>
        <p:spPr>
          <a:xfrm>
            <a:off x="1908175" y="4038600"/>
            <a:ext cx="12668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23"/>
          <p:cNvCxnSpPr>
            <a:stCxn id="534" idx="0"/>
            <a:endCxn id="533" idx="4"/>
          </p:cNvCxnSpPr>
          <p:nvPr/>
        </p:nvCxnSpPr>
        <p:spPr>
          <a:xfrm rot="10800000">
            <a:off x="56388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23"/>
          <p:cNvCxnSpPr>
            <a:stCxn id="533" idx="6"/>
            <a:endCxn id="535" idx="2"/>
          </p:cNvCxnSpPr>
          <p:nvPr/>
        </p:nvCxnSpPr>
        <p:spPr>
          <a:xfrm>
            <a:off x="6019800" y="2514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23"/>
          <p:cNvCxnSpPr>
            <a:stCxn id="534" idx="6"/>
            <a:endCxn id="536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23"/>
          <p:cNvCxnSpPr>
            <a:stCxn id="536" idx="0"/>
            <a:endCxn id="535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3" name="Google Shape;553;p23"/>
          <p:cNvSpPr/>
          <p:nvPr/>
        </p:nvSpPr>
        <p:spPr>
          <a:xfrm>
            <a:off x="25146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sp>
        <p:nvSpPr>
          <p:cNvPr id="554" name="Google Shape;554;p23"/>
          <p:cNvSpPr/>
          <p:nvPr/>
        </p:nvSpPr>
        <p:spPr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/>
          </a:p>
        </p:txBody>
      </p:sp>
      <p:sp>
        <p:nvSpPr>
          <p:cNvPr id="555" name="Google Shape;555;p23"/>
          <p:cNvSpPr/>
          <p:nvPr/>
        </p:nvSpPr>
        <p:spPr>
          <a:xfrm>
            <a:off x="32004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556" name="Google Shape;556;p23"/>
          <p:cNvSpPr txBox="1"/>
          <p:nvPr>
            <p:ph type="title"/>
          </p:nvPr>
        </p:nvSpPr>
        <p:spPr>
          <a:xfrm>
            <a:off x="206375" y="228600"/>
            <a:ext cx="86868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</a:t>
            </a: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 : Disconnected Graph</a:t>
            </a:r>
            <a:endParaRPr/>
          </a:p>
        </p:txBody>
      </p:sp>
      <p:cxnSp>
        <p:nvCxnSpPr>
          <p:cNvPr id="557" name="Google Shape;557;p23"/>
          <p:cNvCxnSpPr/>
          <p:nvPr/>
        </p:nvCxnSpPr>
        <p:spPr>
          <a:xfrm flipH="1" rot="10800000">
            <a:off x="1763713" y="2798763"/>
            <a:ext cx="1517650" cy="955675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8" name="Google Shape;558;p23"/>
          <p:cNvSpPr/>
          <p:nvPr/>
        </p:nvSpPr>
        <p:spPr>
          <a:xfrm>
            <a:off x="38862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559" name="Google Shape;559;p23"/>
          <p:cNvSpPr/>
          <p:nvPr/>
        </p:nvSpPr>
        <p:spPr>
          <a:xfrm>
            <a:off x="1116013" y="36449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4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5" name="Google Shape;565;p24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566" name="Google Shape;566;p24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567" name="Google Shape;567;p24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568" name="Google Shape;568;p24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569" name="Google Shape;569;p24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570" name="Google Shape;570;p24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cxnSp>
        <p:nvCxnSpPr>
          <p:cNvPr id="571" name="Google Shape;571;p24"/>
          <p:cNvCxnSpPr>
            <a:endCxn id="564" idx="4"/>
          </p:cNvCxnSpPr>
          <p:nvPr/>
        </p:nvCxnSpPr>
        <p:spPr>
          <a:xfrm rot="10800000">
            <a:off x="1524000" y="2895600"/>
            <a:ext cx="0" cy="733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24"/>
          <p:cNvCxnSpPr>
            <a:stCxn id="564" idx="6"/>
            <a:endCxn id="565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24"/>
          <p:cNvCxnSpPr>
            <a:stCxn id="565" idx="4"/>
            <a:endCxn id="566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" name="Google Shape;574;p24"/>
          <p:cNvSpPr/>
          <p:nvPr/>
        </p:nvSpPr>
        <p:spPr>
          <a:xfrm>
            <a:off x="25146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575" name="Google Shape;575;p24"/>
          <p:cNvSpPr/>
          <p:nvPr/>
        </p:nvSpPr>
        <p:spPr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/>
          </a:p>
        </p:txBody>
      </p:sp>
      <p:sp>
        <p:nvSpPr>
          <p:cNvPr id="576" name="Google Shape;576;p24"/>
          <p:cNvSpPr/>
          <p:nvPr/>
        </p:nvSpPr>
        <p:spPr>
          <a:xfrm>
            <a:off x="32004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577" name="Google Shape;577;p24"/>
          <p:cNvSpPr txBox="1"/>
          <p:nvPr>
            <p:ph type="title"/>
          </p:nvPr>
        </p:nvSpPr>
        <p:spPr>
          <a:xfrm>
            <a:off x="206375" y="228600"/>
            <a:ext cx="86868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</a:t>
            </a: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 : Disconnected Graph</a:t>
            </a:r>
            <a:endParaRPr/>
          </a:p>
        </p:txBody>
      </p:sp>
      <p:cxnSp>
        <p:nvCxnSpPr>
          <p:cNvPr id="578" name="Google Shape;578;p24"/>
          <p:cNvCxnSpPr/>
          <p:nvPr/>
        </p:nvCxnSpPr>
        <p:spPr>
          <a:xfrm flipH="1" rot="10800000">
            <a:off x="1763713" y="2798763"/>
            <a:ext cx="1517650" cy="955675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9" name="Google Shape;579;p24"/>
          <p:cNvSpPr/>
          <p:nvPr/>
        </p:nvSpPr>
        <p:spPr>
          <a:xfrm>
            <a:off x="1116013" y="36449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580" name="Google Shape;580;p24"/>
          <p:cNvCxnSpPr/>
          <p:nvPr/>
        </p:nvCxnSpPr>
        <p:spPr>
          <a:xfrm>
            <a:off x="1908175" y="4038600"/>
            <a:ext cx="12668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1" name="Google Shape;581;p24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582" name="Google Shape;582;p24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583" name="Google Shape;583;p24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584" name="Google Shape;584;p24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585" name="Google Shape;585;p24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586" name="Google Shape;586;p24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587" name="Google Shape;587;p24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588" name="Google Shape;588;p24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589" name="Google Shape;589;p24"/>
          <p:cNvCxnSpPr>
            <a:stCxn id="582" idx="0"/>
            <a:endCxn id="581" idx="4"/>
          </p:cNvCxnSpPr>
          <p:nvPr/>
        </p:nvCxnSpPr>
        <p:spPr>
          <a:xfrm rot="10800000">
            <a:off x="56388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24"/>
          <p:cNvCxnSpPr>
            <a:stCxn id="581" idx="6"/>
            <a:endCxn id="583" idx="2"/>
          </p:cNvCxnSpPr>
          <p:nvPr/>
        </p:nvCxnSpPr>
        <p:spPr>
          <a:xfrm>
            <a:off x="6019800" y="2514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24"/>
          <p:cNvCxnSpPr>
            <a:stCxn id="582" idx="6"/>
            <a:endCxn id="584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24"/>
          <p:cNvCxnSpPr>
            <a:stCxn id="584" idx="0"/>
            <a:endCxn id="583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5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8" name="Google Shape;598;p25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599" name="Google Shape;599;p25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00" name="Google Shape;600;p25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601" name="Google Shape;601;p25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602" name="Google Shape;602;p25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603" name="Google Shape;603;p25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cxnSp>
        <p:nvCxnSpPr>
          <p:cNvPr id="604" name="Google Shape;604;p25"/>
          <p:cNvCxnSpPr>
            <a:endCxn id="597" idx="4"/>
          </p:cNvCxnSpPr>
          <p:nvPr/>
        </p:nvCxnSpPr>
        <p:spPr>
          <a:xfrm rot="10800000">
            <a:off x="1524000" y="2895600"/>
            <a:ext cx="0" cy="733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5" name="Google Shape;605;p25"/>
          <p:cNvCxnSpPr>
            <a:stCxn id="597" idx="6"/>
            <a:endCxn id="598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" name="Google Shape;606;p25"/>
          <p:cNvCxnSpPr>
            <a:stCxn id="598" idx="4"/>
            <a:endCxn id="599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7" name="Google Shape;607;p25"/>
          <p:cNvSpPr/>
          <p:nvPr/>
        </p:nvSpPr>
        <p:spPr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/>
          </a:p>
        </p:txBody>
      </p:sp>
      <p:sp>
        <p:nvSpPr>
          <p:cNvPr id="608" name="Google Shape;608;p25"/>
          <p:cNvSpPr/>
          <p:nvPr/>
        </p:nvSpPr>
        <p:spPr>
          <a:xfrm>
            <a:off x="25146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609" name="Google Shape;609;p25"/>
          <p:cNvSpPr txBox="1"/>
          <p:nvPr>
            <p:ph type="title"/>
          </p:nvPr>
        </p:nvSpPr>
        <p:spPr>
          <a:xfrm>
            <a:off x="206375" y="228600"/>
            <a:ext cx="86868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</a:t>
            </a: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 : Disconnected Graph</a:t>
            </a:r>
            <a:endParaRPr/>
          </a:p>
        </p:txBody>
      </p:sp>
      <p:sp>
        <p:nvSpPr>
          <p:cNvPr id="610" name="Google Shape;610;p25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611" name="Google Shape;611;p25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612" name="Google Shape;612;p25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613" name="Google Shape;613;p25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614" name="Google Shape;614;p25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615" name="Google Shape;615;p25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616" name="Google Shape;616;p25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617" name="Google Shape;617;p25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618" name="Google Shape;618;p25"/>
          <p:cNvCxnSpPr>
            <a:stCxn id="611" idx="0"/>
            <a:endCxn id="610" idx="4"/>
          </p:cNvCxnSpPr>
          <p:nvPr/>
        </p:nvCxnSpPr>
        <p:spPr>
          <a:xfrm rot="10800000">
            <a:off x="56388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25"/>
          <p:cNvCxnSpPr>
            <a:stCxn id="610" idx="6"/>
            <a:endCxn id="612" idx="2"/>
          </p:cNvCxnSpPr>
          <p:nvPr/>
        </p:nvCxnSpPr>
        <p:spPr>
          <a:xfrm>
            <a:off x="6019800" y="2514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0" name="Google Shape;620;p25"/>
          <p:cNvCxnSpPr>
            <a:stCxn id="611" idx="6"/>
            <a:endCxn id="613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1" name="Google Shape;621;p25"/>
          <p:cNvCxnSpPr>
            <a:stCxn id="613" idx="0"/>
            <a:endCxn id="612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25"/>
          <p:cNvCxnSpPr/>
          <p:nvPr/>
        </p:nvCxnSpPr>
        <p:spPr>
          <a:xfrm flipH="1" rot="10800000">
            <a:off x="1763713" y="2798763"/>
            <a:ext cx="1517650" cy="955675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3" name="Google Shape;623;p25"/>
          <p:cNvSpPr/>
          <p:nvPr/>
        </p:nvSpPr>
        <p:spPr>
          <a:xfrm>
            <a:off x="1116013" y="36449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624" name="Google Shape;624;p25"/>
          <p:cNvCxnSpPr/>
          <p:nvPr/>
        </p:nvCxnSpPr>
        <p:spPr>
          <a:xfrm>
            <a:off x="1908175" y="4038600"/>
            <a:ext cx="12668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6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0" name="Google Shape;630;p26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631" name="Google Shape;631;p26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32" name="Google Shape;632;p26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633" name="Google Shape;633;p26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634" name="Google Shape;634;p26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635" name="Google Shape;635;p26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cxnSp>
        <p:nvCxnSpPr>
          <p:cNvPr id="636" name="Google Shape;636;p26"/>
          <p:cNvCxnSpPr>
            <a:stCxn id="629" idx="6"/>
            <a:endCxn id="630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7" name="Google Shape;637;p26"/>
          <p:cNvCxnSpPr>
            <a:stCxn id="630" idx="4"/>
            <a:endCxn id="631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8" name="Google Shape;638;p26"/>
          <p:cNvSpPr/>
          <p:nvPr/>
        </p:nvSpPr>
        <p:spPr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/>
          </a:p>
        </p:txBody>
      </p:sp>
      <p:sp>
        <p:nvSpPr>
          <p:cNvPr id="639" name="Google Shape;639;p26"/>
          <p:cNvSpPr txBox="1"/>
          <p:nvPr>
            <p:ph type="title"/>
          </p:nvPr>
        </p:nvSpPr>
        <p:spPr>
          <a:xfrm>
            <a:off x="206375" y="228600"/>
            <a:ext cx="86868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</a:t>
            </a: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 : Disconnected Graph</a:t>
            </a:r>
            <a:endParaRPr/>
          </a:p>
        </p:txBody>
      </p:sp>
      <p:sp>
        <p:nvSpPr>
          <p:cNvPr id="640" name="Google Shape;640;p26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641" name="Google Shape;641;p26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642" name="Google Shape;642;p26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643" name="Google Shape;643;p26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644" name="Google Shape;644;p26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645" name="Google Shape;645;p26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646" name="Google Shape;646;p26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647" name="Google Shape;647;p26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648" name="Google Shape;648;p26"/>
          <p:cNvCxnSpPr>
            <a:stCxn id="641" idx="0"/>
            <a:endCxn id="640" idx="4"/>
          </p:cNvCxnSpPr>
          <p:nvPr/>
        </p:nvCxnSpPr>
        <p:spPr>
          <a:xfrm rot="10800000">
            <a:off x="56388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26"/>
          <p:cNvCxnSpPr>
            <a:stCxn id="640" idx="6"/>
            <a:endCxn id="642" idx="2"/>
          </p:cNvCxnSpPr>
          <p:nvPr/>
        </p:nvCxnSpPr>
        <p:spPr>
          <a:xfrm>
            <a:off x="6019800" y="2514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26"/>
          <p:cNvCxnSpPr>
            <a:stCxn id="641" idx="6"/>
            <a:endCxn id="643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26"/>
          <p:cNvCxnSpPr>
            <a:stCxn id="643" idx="0"/>
            <a:endCxn id="642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2" name="Google Shape;652;p26"/>
          <p:cNvCxnSpPr/>
          <p:nvPr/>
        </p:nvCxnSpPr>
        <p:spPr>
          <a:xfrm flipH="1" rot="10800000">
            <a:off x="1763713" y="2798763"/>
            <a:ext cx="1517650" cy="955675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3" name="Google Shape;653;p26"/>
          <p:cNvSpPr/>
          <p:nvPr/>
        </p:nvSpPr>
        <p:spPr>
          <a:xfrm>
            <a:off x="1116013" y="36449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654" name="Google Shape;654;p26"/>
          <p:cNvCxnSpPr/>
          <p:nvPr/>
        </p:nvCxnSpPr>
        <p:spPr>
          <a:xfrm>
            <a:off x="1908175" y="4038600"/>
            <a:ext cx="12668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5" name="Google Shape;655;p26"/>
          <p:cNvSpPr/>
          <p:nvPr/>
        </p:nvSpPr>
        <p:spPr>
          <a:xfrm>
            <a:off x="25146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Ø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56" name="Google Shape;656;p26"/>
          <p:cNvCxnSpPr/>
          <p:nvPr/>
        </p:nvCxnSpPr>
        <p:spPr>
          <a:xfrm rot="10800000">
            <a:off x="1524000" y="2909888"/>
            <a:ext cx="0" cy="7334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7"/>
          <p:cNvSpPr txBox="1"/>
          <p:nvPr>
            <p:ph type="title"/>
          </p:nvPr>
        </p:nvSpPr>
        <p:spPr>
          <a:xfrm>
            <a:off x="206375" y="228600"/>
            <a:ext cx="86868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</a:t>
            </a: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 : Disconnected Graph</a:t>
            </a:r>
            <a:endParaRPr/>
          </a:p>
        </p:txBody>
      </p:sp>
      <p:sp>
        <p:nvSpPr>
          <p:cNvPr id="662" name="Google Shape;662;p27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3" name="Google Shape;663;p27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664" name="Google Shape;664;p27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65" name="Google Shape;665;p27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666" name="Google Shape;666;p27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667" name="Google Shape;667;p27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668" name="Google Shape;668;p27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cxnSp>
        <p:nvCxnSpPr>
          <p:cNvPr id="669" name="Google Shape;669;p27"/>
          <p:cNvCxnSpPr>
            <a:stCxn id="662" idx="6"/>
            <a:endCxn id="663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0" name="Google Shape;670;p27"/>
          <p:cNvCxnSpPr>
            <a:stCxn id="663" idx="4"/>
            <a:endCxn id="664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1" name="Google Shape;671;p27"/>
          <p:cNvCxnSpPr/>
          <p:nvPr/>
        </p:nvCxnSpPr>
        <p:spPr>
          <a:xfrm flipH="1" rot="10800000">
            <a:off x="1763713" y="2798763"/>
            <a:ext cx="1517650" cy="955675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2" name="Google Shape;672;p27"/>
          <p:cNvSpPr/>
          <p:nvPr/>
        </p:nvSpPr>
        <p:spPr>
          <a:xfrm>
            <a:off x="1116013" y="36449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673" name="Google Shape;673;p27"/>
          <p:cNvCxnSpPr/>
          <p:nvPr/>
        </p:nvCxnSpPr>
        <p:spPr>
          <a:xfrm>
            <a:off x="1908175" y="4038600"/>
            <a:ext cx="12668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4" name="Google Shape;674;p27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675" name="Google Shape;675;p27"/>
          <p:cNvSpPr/>
          <p:nvPr/>
        </p:nvSpPr>
        <p:spPr>
          <a:xfrm>
            <a:off x="25146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676" name="Google Shape;676;p27"/>
          <p:cNvSpPr/>
          <p:nvPr/>
        </p:nvSpPr>
        <p:spPr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/>
          </a:p>
        </p:txBody>
      </p:sp>
      <p:sp>
        <p:nvSpPr>
          <p:cNvPr id="677" name="Google Shape;677;p27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678" name="Google Shape;678;p27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679" name="Google Shape;679;p27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680" name="Google Shape;680;p27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681" name="Google Shape;681;p27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682" name="Google Shape;682;p27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683" name="Google Shape;683;p27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684" name="Google Shape;684;p27"/>
          <p:cNvCxnSpPr>
            <a:stCxn id="677" idx="0"/>
          </p:cNvCxnSpPr>
          <p:nvPr/>
        </p:nvCxnSpPr>
        <p:spPr>
          <a:xfrm rot="10800000">
            <a:off x="5638800" y="2924100"/>
            <a:ext cx="0" cy="733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27"/>
          <p:cNvCxnSpPr>
            <a:endCxn id="678" idx="2"/>
          </p:cNvCxnSpPr>
          <p:nvPr/>
        </p:nvCxnSpPr>
        <p:spPr>
          <a:xfrm>
            <a:off x="6048300" y="2514600"/>
            <a:ext cx="1266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6" name="Google Shape;686;p27"/>
          <p:cNvCxnSpPr>
            <a:stCxn id="677" idx="6"/>
            <a:endCxn id="679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27"/>
          <p:cNvCxnSpPr>
            <a:stCxn id="679" idx="0"/>
            <a:endCxn id="678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8" name="Google Shape;688;p27"/>
          <p:cNvCxnSpPr/>
          <p:nvPr/>
        </p:nvCxnSpPr>
        <p:spPr>
          <a:xfrm rot="10800000">
            <a:off x="1524000" y="2909888"/>
            <a:ext cx="0" cy="7334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28"/>
          <p:cNvSpPr txBox="1"/>
          <p:nvPr>
            <p:ph type="title"/>
          </p:nvPr>
        </p:nvSpPr>
        <p:spPr>
          <a:xfrm>
            <a:off x="206375" y="228600"/>
            <a:ext cx="86868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</a:t>
            </a: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 : Disconnected Graph</a:t>
            </a:r>
            <a:endParaRPr/>
          </a:p>
        </p:txBody>
      </p:sp>
      <p:sp>
        <p:nvSpPr>
          <p:cNvPr id="694" name="Google Shape;694;p28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5" name="Google Shape;695;p28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696" name="Google Shape;696;p28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697" name="Google Shape;697;p28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698" name="Google Shape;698;p28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699" name="Google Shape;699;p28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700" name="Google Shape;700;p28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cxnSp>
        <p:nvCxnSpPr>
          <p:cNvPr id="701" name="Google Shape;701;p28"/>
          <p:cNvCxnSpPr>
            <a:stCxn id="694" idx="6"/>
            <a:endCxn id="695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2" name="Google Shape;702;p28"/>
          <p:cNvCxnSpPr>
            <a:stCxn id="695" idx="4"/>
            <a:endCxn id="696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3" name="Google Shape;703;p28"/>
          <p:cNvCxnSpPr/>
          <p:nvPr/>
        </p:nvCxnSpPr>
        <p:spPr>
          <a:xfrm flipH="1" rot="10800000">
            <a:off x="1763713" y="2798763"/>
            <a:ext cx="1517650" cy="955675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4" name="Google Shape;704;p28"/>
          <p:cNvSpPr/>
          <p:nvPr/>
        </p:nvSpPr>
        <p:spPr>
          <a:xfrm>
            <a:off x="1116013" y="36449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705" name="Google Shape;705;p28"/>
          <p:cNvCxnSpPr/>
          <p:nvPr/>
        </p:nvCxnSpPr>
        <p:spPr>
          <a:xfrm>
            <a:off x="1908175" y="4038600"/>
            <a:ext cx="12668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6" name="Google Shape;706;p28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707" name="Google Shape;707;p28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08" name="Google Shape;708;p28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09" name="Google Shape;709;p28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/>
          </a:p>
        </p:txBody>
      </p:sp>
      <p:sp>
        <p:nvSpPr>
          <p:cNvPr id="710" name="Google Shape;710;p28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711" name="Google Shape;711;p28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712" name="Google Shape;712;p28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713" name="Google Shape;713;p28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714" name="Google Shape;714;p28"/>
          <p:cNvCxnSpPr>
            <a:stCxn id="707" idx="0"/>
          </p:cNvCxnSpPr>
          <p:nvPr/>
        </p:nvCxnSpPr>
        <p:spPr>
          <a:xfrm rot="10800000">
            <a:off x="5638800" y="2924100"/>
            <a:ext cx="0" cy="733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5" name="Google Shape;715;p28"/>
          <p:cNvCxnSpPr>
            <a:stCxn id="707" idx="6"/>
            <a:endCxn id="709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6" name="Google Shape;716;p28"/>
          <p:cNvCxnSpPr>
            <a:stCxn id="709" idx="0"/>
            <a:endCxn id="708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7" name="Google Shape;717;p28"/>
          <p:cNvSpPr/>
          <p:nvPr/>
        </p:nvSpPr>
        <p:spPr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/>
          </a:p>
        </p:txBody>
      </p:sp>
      <p:sp>
        <p:nvSpPr>
          <p:cNvPr id="718" name="Google Shape;718;p28"/>
          <p:cNvSpPr/>
          <p:nvPr/>
        </p:nvSpPr>
        <p:spPr>
          <a:xfrm>
            <a:off x="25146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719" name="Google Shape;719;p28"/>
          <p:cNvSpPr/>
          <p:nvPr/>
        </p:nvSpPr>
        <p:spPr>
          <a:xfrm>
            <a:off x="32004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cxnSp>
        <p:nvCxnSpPr>
          <p:cNvPr id="720" name="Google Shape;720;p28"/>
          <p:cNvCxnSpPr/>
          <p:nvPr/>
        </p:nvCxnSpPr>
        <p:spPr>
          <a:xfrm>
            <a:off x="6034088" y="2514600"/>
            <a:ext cx="1266825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1" name="Google Shape;721;p28"/>
          <p:cNvCxnSpPr/>
          <p:nvPr/>
        </p:nvCxnSpPr>
        <p:spPr>
          <a:xfrm rot="10800000">
            <a:off x="1524000" y="2909888"/>
            <a:ext cx="0" cy="7334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9"/>
          <p:cNvSpPr txBox="1"/>
          <p:nvPr>
            <p:ph type="title"/>
          </p:nvPr>
        </p:nvSpPr>
        <p:spPr>
          <a:xfrm>
            <a:off x="206375" y="228600"/>
            <a:ext cx="86868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</a:t>
            </a: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 : Disconnected Graph</a:t>
            </a:r>
            <a:endParaRPr/>
          </a:p>
        </p:txBody>
      </p:sp>
      <p:sp>
        <p:nvSpPr>
          <p:cNvPr id="727" name="Google Shape;727;p29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8" name="Google Shape;728;p29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729" name="Google Shape;729;p29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30" name="Google Shape;730;p29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731" name="Google Shape;731;p29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732" name="Google Shape;732;p29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733" name="Google Shape;733;p29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cxnSp>
        <p:nvCxnSpPr>
          <p:cNvPr id="734" name="Google Shape;734;p29"/>
          <p:cNvCxnSpPr>
            <a:stCxn id="727" idx="6"/>
            <a:endCxn id="728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5" name="Google Shape;735;p29"/>
          <p:cNvCxnSpPr>
            <a:stCxn id="728" idx="4"/>
            <a:endCxn id="729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6" name="Google Shape;736;p29"/>
          <p:cNvCxnSpPr/>
          <p:nvPr/>
        </p:nvCxnSpPr>
        <p:spPr>
          <a:xfrm flipH="1" rot="10800000">
            <a:off x="1763713" y="2798763"/>
            <a:ext cx="1517650" cy="955675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7" name="Google Shape;737;p29"/>
          <p:cNvSpPr/>
          <p:nvPr/>
        </p:nvSpPr>
        <p:spPr>
          <a:xfrm>
            <a:off x="1116013" y="36449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738" name="Google Shape;738;p29"/>
          <p:cNvCxnSpPr/>
          <p:nvPr/>
        </p:nvCxnSpPr>
        <p:spPr>
          <a:xfrm>
            <a:off x="1908175" y="4038600"/>
            <a:ext cx="12668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9" name="Google Shape;739;p29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740" name="Google Shape;740;p29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41" name="Google Shape;741;p29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42" name="Google Shape;742;p29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743" name="Google Shape;743;p29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744" name="Google Shape;744;p29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745" name="Google Shape;745;p29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746" name="Google Shape;746;p29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747" name="Google Shape;747;p29"/>
          <p:cNvCxnSpPr>
            <a:stCxn id="740" idx="0"/>
          </p:cNvCxnSpPr>
          <p:nvPr/>
        </p:nvCxnSpPr>
        <p:spPr>
          <a:xfrm rot="10800000">
            <a:off x="5638800" y="2924100"/>
            <a:ext cx="0" cy="733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8" name="Google Shape;748;p29"/>
          <p:cNvCxnSpPr>
            <a:stCxn id="740" idx="6"/>
            <a:endCxn id="742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9" name="Google Shape;749;p29"/>
          <p:cNvCxnSpPr>
            <a:stCxn id="742" idx="0"/>
            <a:endCxn id="741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" name="Google Shape;750;p29"/>
          <p:cNvSpPr/>
          <p:nvPr/>
        </p:nvSpPr>
        <p:spPr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/>
          </a:p>
        </p:txBody>
      </p:sp>
      <p:sp>
        <p:nvSpPr>
          <p:cNvPr id="751" name="Google Shape;751;p29"/>
          <p:cNvSpPr/>
          <p:nvPr/>
        </p:nvSpPr>
        <p:spPr>
          <a:xfrm>
            <a:off x="25146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752" name="Google Shape;752;p29"/>
          <p:cNvSpPr/>
          <p:nvPr/>
        </p:nvSpPr>
        <p:spPr>
          <a:xfrm>
            <a:off x="32004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753" name="Google Shape;753;p29"/>
          <p:cNvCxnSpPr/>
          <p:nvPr/>
        </p:nvCxnSpPr>
        <p:spPr>
          <a:xfrm>
            <a:off x="6034088" y="2514600"/>
            <a:ext cx="1266825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" name="Google Shape;754;p29"/>
          <p:cNvCxnSpPr/>
          <p:nvPr/>
        </p:nvCxnSpPr>
        <p:spPr>
          <a:xfrm rot="10800000">
            <a:off x="1524000" y="2909888"/>
            <a:ext cx="0" cy="7334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0"/>
          <p:cNvSpPr txBox="1"/>
          <p:nvPr>
            <p:ph type="title"/>
          </p:nvPr>
        </p:nvSpPr>
        <p:spPr>
          <a:xfrm>
            <a:off x="206375" y="228600"/>
            <a:ext cx="86868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</a:t>
            </a: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 : Disconnected Graph</a:t>
            </a:r>
            <a:endParaRPr/>
          </a:p>
        </p:txBody>
      </p:sp>
      <p:sp>
        <p:nvSpPr>
          <p:cNvPr id="760" name="Google Shape;760;p30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1" name="Google Shape;761;p30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762" name="Google Shape;762;p30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63" name="Google Shape;763;p30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764" name="Google Shape;764;p30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765" name="Google Shape;765;p30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766" name="Google Shape;766;p30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cxnSp>
        <p:nvCxnSpPr>
          <p:cNvPr id="767" name="Google Shape;767;p30"/>
          <p:cNvCxnSpPr>
            <a:stCxn id="760" idx="6"/>
            <a:endCxn id="761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30"/>
          <p:cNvCxnSpPr>
            <a:stCxn id="761" idx="4"/>
            <a:endCxn id="762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9" name="Google Shape;769;p30"/>
          <p:cNvCxnSpPr/>
          <p:nvPr/>
        </p:nvCxnSpPr>
        <p:spPr>
          <a:xfrm flipH="1" rot="10800000">
            <a:off x="1763713" y="2798763"/>
            <a:ext cx="1517650" cy="955675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0" name="Google Shape;770;p30"/>
          <p:cNvSpPr/>
          <p:nvPr/>
        </p:nvSpPr>
        <p:spPr>
          <a:xfrm>
            <a:off x="1116013" y="36449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771" name="Google Shape;771;p30"/>
          <p:cNvCxnSpPr/>
          <p:nvPr/>
        </p:nvCxnSpPr>
        <p:spPr>
          <a:xfrm>
            <a:off x="1908175" y="4038600"/>
            <a:ext cx="12668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2" name="Google Shape;772;p30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773" name="Google Shape;773;p30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74" name="Google Shape;774;p30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75" name="Google Shape;775;p30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776" name="Google Shape;776;p30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777" name="Google Shape;777;p30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778" name="Google Shape;778;p30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779" name="Google Shape;779;p30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780" name="Google Shape;780;p30"/>
          <p:cNvCxnSpPr>
            <a:stCxn id="773" idx="0"/>
          </p:cNvCxnSpPr>
          <p:nvPr/>
        </p:nvCxnSpPr>
        <p:spPr>
          <a:xfrm rot="10800000">
            <a:off x="5638800" y="2924100"/>
            <a:ext cx="0" cy="733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1" name="Google Shape;781;p30"/>
          <p:cNvCxnSpPr>
            <a:stCxn id="773" idx="6"/>
            <a:endCxn id="775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2" name="Google Shape;782;p30"/>
          <p:cNvCxnSpPr>
            <a:stCxn id="775" idx="0"/>
            <a:endCxn id="774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3" name="Google Shape;783;p30"/>
          <p:cNvSpPr/>
          <p:nvPr/>
        </p:nvSpPr>
        <p:spPr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/>
          </a:p>
        </p:txBody>
      </p:sp>
      <p:sp>
        <p:nvSpPr>
          <p:cNvPr id="784" name="Google Shape;784;p30"/>
          <p:cNvSpPr/>
          <p:nvPr/>
        </p:nvSpPr>
        <p:spPr>
          <a:xfrm>
            <a:off x="2514600" y="5562600"/>
            <a:ext cx="685800" cy="609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785" name="Google Shape;785;p30"/>
          <p:cNvCxnSpPr/>
          <p:nvPr/>
        </p:nvCxnSpPr>
        <p:spPr>
          <a:xfrm>
            <a:off x="6034088" y="2514600"/>
            <a:ext cx="1266825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6" name="Google Shape;786;p30"/>
          <p:cNvCxnSpPr/>
          <p:nvPr/>
        </p:nvCxnSpPr>
        <p:spPr>
          <a:xfrm rot="10800000">
            <a:off x="1524000" y="2909888"/>
            <a:ext cx="0" cy="7334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1"/>
          <p:cNvSpPr txBox="1"/>
          <p:nvPr>
            <p:ph type="title"/>
          </p:nvPr>
        </p:nvSpPr>
        <p:spPr>
          <a:xfrm>
            <a:off x="206375" y="228600"/>
            <a:ext cx="86868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</a:t>
            </a:r>
            <a:r>
              <a:rPr lang="en-US">
                <a:latin typeface="Arial Narrow"/>
                <a:ea typeface="Arial Narrow"/>
                <a:cs typeface="Arial Narrow"/>
                <a:sym typeface="Arial Narrow"/>
              </a:rPr>
              <a:t> : Disconnected Graph</a:t>
            </a:r>
            <a:endParaRPr/>
          </a:p>
        </p:txBody>
      </p:sp>
      <p:sp>
        <p:nvSpPr>
          <p:cNvPr id="792" name="Google Shape;792;p31"/>
          <p:cNvSpPr/>
          <p:nvPr/>
        </p:nvSpPr>
        <p:spPr>
          <a:xfrm>
            <a:off x="11430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3" name="Google Shape;793;p31"/>
          <p:cNvSpPr/>
          <p:nvPr/>
        </p:nvSpPr>
        <p:spPr>
          <a:xfrm>
            <a:off x="32004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794" name="Google Shape;794;p31"/>
          <p:cNvSpPr/>
          <p:nvPr/>
        </p:nvSpPr>
        <p:spPr>
          <a:xfrm>
            <a:off x="32004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795" name="Google Shape;795;p31"/>
          <p:cNvSpPr txBox="1"/>
          <p:nvPr/>
        </p:nvSpPr>
        <p:spPr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796" name="Google Shape;796;p31"/>
          <p:cNvSpPr txBox="1"/>
          <p:nvPr/>
        </p:nvSpPr>
        <p:spPr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endParaRPr/>
          </a:p>
        </p:txBody>
      </p:sp>
      <p:sp>
        <p:nvSpPr>
          <p:cNvPr id="797" name="Google Shape;797;p31"/>
          <p:cNvSpPr txBox="1"/>
          <p:nvPr/>
        </p:nvSpPr>
        <p:spPr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  <p:sp>
        <p:nvSpPr>
          <p:cNvPr id="798" name="Google Shape;798;p31"/>
          <p:cNvSpPr txBox="1"/>
          <p:nvPr/>
        </p:nvSpPr>
        <p:spPr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/>
          </a:p>
        </p:txBody>
      </p:sp>
      <p:cxnSp>
        <p:nvCxnSpPr>
          <p:cNvPr id="799" name="Google Shape;799;p31"/>
          <p:cNvCxnSpPr>
            <a:stCxn id="792" idx="6"/>
            <a:endCxn id="793" idx="2"/>
          </p:cNvCxnSpPr>
          <p:nvPr/>
        </p:nvCxnSpPr>
        <p:spPr>
          <a:xfrm>
            <a:off x="1905000" y="2514600"/>
            <a:ext cx="12954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31"/>
          <p:cNvCxnSpPr>
            <a:stCxn id="793" idx="4"/>
            <a:endCxn id="794" idx="0"/>
          </p:cNvCxnSpPr>
          <p:nvPr/>
        </p:nvCxnSpPr>
        <p:spPr>
          <a:xfrm>
            <a:off x="35814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31"/>
          <p:cNvCxnSpPr/>
          <p:nvPr/>
        </p:nvCxnSpPr>
        <p:spPr>
          <a:xfrm flipH="1" rot="10800000">
            <a:off x="1763713" y="2798763"/>
            <a:ext cx="1517650" cy="955675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2" name="Google Shape;802;p31"/>
          <p:cNvSpPr/>
          <p:nvPr/>
        </p:nvSpPr>
        <p:spPr>
          <a:xfrm>
            <a:off x="1116013" y="36449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cxnSp>
        <p:nvCxnSpPr>
          <p:cNvPr id="803" name="Google Shape;803;p31"/>
          <p:cNvCxnSpPr/>
          <p:nvPr/>
        </p:nvCxnSpPr>
        <p:spPr>
          <a:xfrm>
            <a:off x="1908175" y="4038600"/>
            <a:ext cx="126682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4" name="Google Shape;804;p31"/>
          <p:cNvSpPr/>
          <p:nvPr/>
        </p:nvSpPr>
        <p:spPr>
          <a:xfrm>
            <a:off x="52578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805" name="Google Shape;805;p31"/>
          <p:cNvSpPr/>
          <p:nvPr/>
        </p:nvSpPr>
        <p:spPr>
          <a:xfrm>
            <a:off x="52578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806" name="Google Shape;806;p31"/>
          <p:cNvSpPr/>
          <p:nvPr/>
        </p:nvSpPr>
        <p:spPr>
          <a:xfrm>
            <a:off x="7315200" y="2133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807" name="Google Shape;807;p31"/>
          <p:cNvSpPr/>
          <p:nvPr/>
        </p:nvSpPr>
        <p:spPr>
          <a:xfrm>
            <a:off x="7315200" y="3657600"/>
            <a:ext cx="762000" cy="7620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808" name="Google Shape;808;p31"/>
          <p:cNvSpPr txBox="1"/>
          <p:nvPr/>
        </p:nvSpPr>
        <p:spPr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809" name="Google Shape;809;p31"/>
          <p:cNvSpPr txBox="1"/>
          <p:nvPr/>
        </p:nvSpPr>
        <p:spPr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endParaRPr/>
          </a:p>
        </p:txBody>
      </p:sp>
      <p:sp>
        <p:nvSpPr>
          <p:cNvPr id="810" name="Google Shape;810;p31"/>
          <p:cNvSpPr txBox="1"/>
          <p:nvPr/>
        </p:nvSpPr>
        <p:spPr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  <p:sp>
        <p:nvSpPr>
          <p:cNvPr id="811" name="Google Shape;811;p31"/>
          <p:cNvSpPr txBox="1"/>
          <p:nvPr/>
        </p:nvSpPr>
        <p:spPr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/>
          </a:p>
        </p:txBody>
      </p:sp>
      <p:cxnSp>
        <p:nvCxnSpPr>
          <p:cNvPr id="812" name="Google Shape;812;p31"/>
          <p:cNvCxnSpPr>
            <a:stCxn id="805" idx="0"/>
          </p:cNvCxnSpPr>
          <p:nvPr/>
        </p:nvCxnSpPr>
        <p:spPr>
          <a:xfrm rot="10800000">
            <a:off x="5638800" y="2924100"/>
            <a:ext cx="0" cy="7335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3" name="Google Shape;813;p31"/>
          <p:cNvCxnSpPr>
            <a:stCxn id="805" idx="6"/>
            <a:endCxn id="807" idx="2"/>
          </p:cNvCxnSpPr>
          <p:nvPr/>
        </p:nvCxnSpPr>
        <p:spPr>
          <a:xfrm>
            <a:off x="6019800" y="4038600"/>
            <a:ext cx="1295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4" name="Google Shape;814;p31"/>
          <p:cNvCxnSpPr>
            <a:stCxn id="807" idx="0"/>
            <a:endCxn id="806" idx="4"/>
          </p:cNvCxnSpPr>
          <p:nvPr/>
        </p:nvCxnSpPr>
        <p:spPr>
          <a:xfrm rot="10800000">
            <a:off x="7696200" y="2895600"/>
            <a:ext cx="0" cy="762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5" name="Google Shape;815;p31"/>
          <p:cNvCxnSpPr/>
          <p:nvPr/>
        </p:nvCxnSpPr>
        <p:spPr>
          <a:xfrm>
            <a:off x="6034088" y="2514600"/>
            <a:ext cx="1266825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6" name="Google Shape;816;p31"/>
          <p:cNvCxnSpPr/>
          <p:nvPr/>
        </p:nvCxnSpPr>
        <p:spPr>
          <a:xfrm rot="10800000">
            <a:off x="1524000" y="2909888"/>
            <a:ext cx="0" cy="73342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7" name="Google Shape;817;p31"/>
          <p:cNvSpPr/>
          <p:nvPr/>
        </p:nvSpPr>
        <p:spPr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Q:</a:t>
            </a:r>
            <a:endParaRPr/>
          </a:p>
        </p:txBody>
      </p:sp>
      <p:sp>
        <p:nvSpPr>
          <p:cNvPr id="818" name="Google Shape;818;p31"/>
          <p:cNvSpPr/>
          <p:nvPr/>
        </p:nvSpPr>
        <p:spPr>
          <a:xfrm>
            <a:off x="2514600" y="5562600"/>
            <a:ext cx="68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Ø</a:t>
            </a:r>
            <a:endParaRPr b="1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2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Breadth-First Search: Properties</a:t>
            </a:r>
            <a:endParaRPr/>
          </a:p>
        </p:txBody>
      </p:sp>
      <p:sp>
        <p:nvSpPr>
          <p:cNvPr id="824" name="Google Shape;824;p32"/>
          <p:cNvSpPr txBox="1"/>
          <p:nvPr>
            <p:ph idx="1" type="body"/>
          </p:nvPr>
        </p:nvSpPr>
        <p:spPr>
          <a:xfrm>
            <a:off x="457200" y="1052513"/>
            <a:ext cx="8229600" cy="504031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BFS calculates the </a:t>
            </a:r>
            <a:r>
              <a:rPr i="1" lang="en-US">
                <a:solidFill>
                  <a:schemeClr val="dk2"/>
                </a:solidFill>
              </a:rPr>
              <a:t>shortest-path distance</a:t>
            </a:r>
            <a:r>
              <a:rPr lang="en-US"/>
              <a:t> to the source node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Shortest-path distance δ(</a:t>
            </a:r>
            <a:r>
              <a:rPr i="1" lang="en-US"/>
              <a:t>s</a:t>
            </a:r>
            <a:r>
              <a:rPr lang="en-US"/>
              <a:t>, </a:t>
            </a:r>
            <a:r>
              <a:rPr i="1" lang="en-US"/>
              <a:t>v</a:t>
            </a:r>
            <a:r>
              <a:rPr lang="en-US"/>
              <a:t>) = minimum number of edges from </a:t>
            </a:r>
            <a:r>
              <a:rPr i="1" lang="en-US"/>
              <a:t>s</a:t>
            </a:r>
            <a:r>
              <a:rPr lang="en-US"/>
              <a:t> to </a:t>
            </a:r>
            <a:r>
              <a:rPr i="1" lang="en-US"/>
              <a:t>v</a:t>
            </a:r>
            <a:r>
              <a:rPr lang="en-US"/>
              <a:t>, or ∞ if </a:t>
            </a:r>
            <a:r>
              <a:rPr i="1" lang="en-US"/>
              <a:t>v</a:t>
            </a:r>
            <a:r>
              <a:rPr lang="en-US"/>
              <a:t> not reachable from </a:t>
            </a:r>
            <a:r>
              <a:rPr i="1" lang="en-US"/>
              <a:t>s</a:t>
            </a:r>
            <a:endParaRPr i="1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BFS builds </a:t>
            </a:r>
            <a:r>
              <a:rPr i="1" lang="en-US">
                <a:solidFill>
                  <a:schemeClr val="dk2"/>
                </a:solidFill>
              </a:rPr>
              <a:t>breadth-first tree </a:t>
            </a:r>
            <a:r>
              <a:rPr lang="en-US">
                <a:solidFill>
                  <a:schemeClr val="dk2"/>
                </a:solidFill>
              </a:rPr>
              <a:t>(</a:t>
            </a:r>
            <a:r>
              <a:rPr i="1" lang="en-US">
                <a:solidFill>
                  <a:schemeClr val="dk2"/>
                </a:solidFill>
              </a:rPr>
              <a:t>forest</a:t>
            </a:r>
            <a:r>
              <a:rPr lang="en-US">
                <a:solidFill>
                  <a:schemeClr val="dk2"/>
                </a:solidFill>
              </a:rPr>
              <a:t>)</a:t>
            </a:r>
            <a:r>
              <a:rPr lang="en-US"/>
              <a:t>, in which paths to root(s) represent shortest paths in </a:t>
            </a:r>
            <a:r>
              <a:rPr i="1" lang="en-US"/>
              <a:t>G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Thus can use BFS to calculate shortest path from one vertex to another in </a:t>
            </a:r>
            <a:r>
              <a:rPr i="1" lang="en-US"/>
              <a:t>O</a:t>
            </a:r>
            <a:r>
              <a:rPr lang="en-US"/>
              <a:t>(</a:t>
            </a:r>
            <a:r>
              <a:rPr i="1" lang="en-US"/>
              <a:t>V </a:t>
            </a:r>
            <a:r>
              <a:rPr lang="en-US"/>
              <a:t>+ </a:t>
            </a:r>
            <a:r>
              <a:rPr i="1" lang="en-US"/>
              <a:t>E</a:t>
            </a:r>
            <a:r>
              <a:rPr lang="en-US"/>
              <a:t>) time in an unweighted tree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3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Depth-First Search</a:t>
            </a:r>
            <a:endParaRPr/>
          </a:p>
        </p:txBody>
      </p:sp>
      <p:sp>
        <p:nvSpPr>
          <p:cNvPr id="830" name="Google Shape;830;p33"/>
          <p:cNvSpPr txBox="1"/>
          <p:nvPr>
            <p:ph idx="1" type="body"/>
          </p:nvPr>
        </p:nvSpPr>
        <p:spPr>
          <a:xfrm>
            <a:off x="457200" y="1524000"/>
            <a:ext cx="8507413" cy="2481263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575"/>
              <a:buChar char="●"/>
            </a:pPr>
            <a:r>
              <a:rPr i="1" lang="en-US" sz="2100">
                <a:solidFill>
                  <a:schemeClr val="dk2"/>
                </a:solidFill>
              </a:rPr>
              <a:t>Depth-first search</a:t>
            </a:r>
            <a:r>
              <a:rPr lang="en-US" sz="2100"/>
              <a:t> is another strategy for exploring a graph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 sz="2000"/>
              <a:t>Explore “deeper” in the graph whenever possible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 sz="2000"/>
              <a:t>Edges are explored out of the most recently discovered vertex </a:t>
            </a:r>
            <a:r>
              <a:rPr i="1" lang="en-US" sz="2000"/>
              <a:t>v</a:t>
            </a:r>
            <a:r>
              <a:rPr lang="en-US" sz="2000"/>
              <a:t> that still has unexplored edges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 sz="2000"/>
              <a:t>When all of </a:t>
            </a:r>
            <a:r>
              <a:rPr i="1" lang="en-US" sz="2000"/>
              <a:t>v</a:t>
            </a:r>
            <a:r>
              <a:rPr lang="en-US" sz="2000"/>
              <a:t>’s edges have been explored, backtrack to the vertex from which </a:t>
            </a:r>
            <a:r>
              <a:rPr i="1" lang="en-US" sz="2000"/>
              <a:t>v</a:t>
            </a:r>
            <a:r>
              <a:rPr lang="en-US" sz="2000"/>
              <a:t> was discovered</a:t>
            </a:r>
            <a:endParaRPr/>
          </a:p>
        </p:txBody>
      </p:sp>
      <p:sp>
        <p:nvSpPr>
          <p:cNvPr id="831" name="Google Shape;831;p33"/>
          <p:cNvSpPr/>
          <p:nvPr/>
        </p:nvSpPr>
        <p:spPr>
          <a:xfrm>
            <a:off x="468313" y="4475163"/>
            <a:ext cx="6480175" cy="20494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75"/>
              <a:buFont typeface="Arial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Vertices initially colored white</a:t>
            </a:r>
            <a:endParaRPr/>
          </a:p>
          <a:p>
            <a:pPr indent="-342900" lvl="0" marL="342900" marR="0" rtl="0" algn="l"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575"/>
              <a:buFont typeface="Arial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colored grey when discovered</a:t>
            </a:r>
            <a:endParaRPr/>
          </a:p>
          <a:p>
            <a:pPr indent="-342900" lvl="0" marL="342900" marR="0" rtl="0" algn="l">
              <a:spcBef>
                <a:spcPts val="420"/>
              </a:spcBef>
              <a:spcAft>
                <a:spcPts val="0"/>
              </a:spcAft>
              <a:buClr>
                <a:schemeClr val="accent1"/>
              </a:buClr>
              <a:buSzPts val="1575"/>
              <a:buFont typeface="Arial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 black when finished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34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Depth-First Search: The Code</a:t>
            </a:r>
            <a:endParaRPr/>
          </a:p>
        </p:txBody>
      </p:sp>
      <p:sp>
        <p:nvSpPr>
          <p:cNvPr id="837" name="Google Shape;837;p34"/>
          <p:cNvSpPr txBox="1"/>
          <p:nvPr>
            <p:ph idx="1" type="body"/>
          </p:nvPr>
        </p:nvSpPr>
        <p:spPr>
          <a:xfrm>
            <a:off x="109182" y="1052512"/>
            <a:ext cx="4386618" cy="580548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b="1" lang="en-US" sz="2000">
                <a:latin typeface="Constantia"/>
                <a:ea typeface="Constantia"/>
                <a:cs typeface="Constantia"/>
                <a:sym typeface="Constantia"/>
              </a:rPr>
              <a:t>DFS(G)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2000">
              <a:latin typeface="Constantia"/>
              <a:ea typeface="Constantia"/>
              <a:cs typeface="Constantia"/>
              <a:sym typeface="Constantia"/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n-US" sz="2000"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1" lang="en-US" sz="2000">
                <a:latin typeface="Constantia"/>
                <a:ea typeface="Constantia"/>
                <a:cs typeface="Constantia"/>
                <a:sym typeface="Constantia"/>
              </a:rPr>
              <a:t>for</a:t>
            </a:r>
            <a:r>
              <a:rPr lang="en-US" sz="2000">
                <a:latin typeface="Constantia"/>
                <a:ea typeface="Constantia"/>
                <a:cs typeface="Constantia"/>
                <a:sym typeface="Constantia"/>
              </a:rPr>
              <a:t> each vertex u ∈ G-&gt;V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n-US" sz="2000">
                <a:latin typeface="Constantia"/>
                <a:ea typeface="Constantia"/>
                <a:cs typeface="Constantia"/>
                <a:sym typeface="Constantia"/>
              </a:rPr>
              <a:t> 	u-&gt;color = WHITE</a:t>
            </a:r>
            <a:endParaRPr sz="2000">
              <a:latin typeface="Constantia"/>
              <a:ea typeface="Constantia"/>
              <a:cs typeface="Constantia"/>
              <a:sym typeface="Constantia"/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n-US" sz="2000">
                <a:latin typeface="Constantia"/>
                <a:ea typeface="Constantia"/>
                <a:cs typeface="Constantia"/>
                <a:sym typeface="Constantia"/>
              </a:rPr>
              <a:t> 	u-&gt; π = NIL</a:t>
            </a:r>
            <a:endParaRPr sz="2000">
              <a:latin typeface="Constantia"/>
              <a:ea typeface="Constantia"/>
              <a:cs typeface="Constantia"/>
              <a:sym typeface="Constantia"/>
            </a:endParaRPr>
          </a:p>
          <a:p>
            <a:pPr indent="-457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n-US" sz="2000">
                <a:latin typeface="Constantia"/>
                <a:ea typeface="Constantia"/>
                <a:cs typeface="Constantia"/>
                <a:sym typeface="Constantia"/>
              </a:rPr>
              <a:t> time = 0;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n-US" sz="2000">
                <a:latin typeface="Constantia"/>
                <a:ea typeface="Constantia"/>
                <a:cs typeface="Constantia"/>
                <a:sym typeface="Constantia"/>
              </a:rPr>
              <a:t> </a:t>
            </a:r>
            <a:r>
              <a:rPr b="1" lang="en-US" sz="2000">
                <a:latin typeface="Constantia"/>
                <a:ea typeface="Constantia"/>
                <a:cs typeface="Constantia"/>
                <a:sym typeface="Constantia"/>
              </a:rPr>
              <a:t>for</a:t>
            </a:r>
            <a:r>
              <a:rPr lang="en-US" sz="2000">
                <a:latin typeface="Constantia"/>
                <a:ea typeface="Constantia"/>
                <a:cs typeface="Constantia"/>
                <a:sym typeface="Constantia"/>
              </a:rPr>
              <a:t> each vertex u ∈ G-&gt;V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n-US" sz="2000">
                <a:latin typeface="Constantia"/>
                <a:ea typeface="Constantia"/>
                <a:cs typeface="Constantia"/>
                <a:sym typeface="Constantia"/>
              </a:rPr>
              <a:t> 	  if (u-&gt;color == WHITE)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Arial"/>
              <a:buAutoNum type="arabicPeriod"/>
            </a:pPr>
            <a:r>
              <a:rPr lang="en-US" sz="2000">
                <a:latin typeface="Constantia"/>
                <a:ea typeface="Constantia"/>
                <a:cs typeface="Constantia"/>
                <a:sym typeface="Constantia"/>
              </a:rPr>
              <a:t>         	DFS_Visit(u)</a:t>
            </a:r>
            <a:endParaRPr sz="2000"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38" name="Google Shape;838;p34"/>
          <p:cNvSpPr txBox="1"/>
          <p:nvPr>
            <p:ph idx="2" type="body"/>
          </p:nvPr>
        </p:nvSpPr>
        <p:spPr>
          <a:xfrm>
            <a:off x="4648200" y="1052512"/>
            <a:ext cx="4495800" cy="580548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50"/>
              <a:buFont typeface="Arial"/>
              <a:buNone/>
            </a:pPr>
            <a:r>
              <a:rPr b="1" lang="en-US" sz="2200">
                <a:latin typeface="Constantia"/>
                <a:ea typeface="Constantia"/>
                <a:cs typeface="Constantia"/>
                <a:sym typeface="Constantia"/>
              </a:rPr>
              <a:t>DFS_Visit(u)</a:t>
            </a:r>
            <a:endParaRPr sz="2200">
              <a:latin typeface="Constantia"/>
              <a:ea typeface="Constantia"/>
              <a:cs typeface="Constantia"/>
              <a:sym typeface="Constantia"/>
            </a:endParaRPr>
          </a:p>
          <a:p>
            <a:pPr indent="-457200" lvl="0" marL="457200" rtl="0" algn="l">
              <a:spcBef>
                <a:spcPts val="440"/>
              </a:spcBef>
              <a:spcAft>
                <a:spcPts val="0"/>
              </a:spcAft>
              <a:buSzPts val="1650"/>
              <a:buFont typeface="Arial"/>
              <a:buAutoNum type="arabicPeriod"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 u-&gt;color = GREY</a:t>
            </a:r>
            <a:endParaRPr sz="2200">
              <a:latin typeface="Constantia"/>
              <a:ea typeface="Constantia"/>
              <a:cs typeface="Constantia"/>
              <a:sym typeface="Constantia"/>
            </a:endParaRPr>
          </a:p>
          <a:p>
            <a:pPr indent="-457200" lvl="0" marL="457200" rtl="0" algn="l">
              <a:spcBef>
                <a:spcPts val="440"/>
              </a:spcBef>
              <a:spcAft>
                <a:spcPts val="0"/>
              </a:spcAft>
              <a:buSzPts val="1650"/>
              <a:buFont typeface="Arial"/>
              <a:buAutoNum type="arabicPeriod"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 time = time+1</a:t>
            </a:r>
            <a:endParaRPr sz="2200">
              <a:latin typeface="Constantia"/>
              <a:ea typeface="Constantia"/>
              <a:cs typeface="Constantia"/>
              <a:sym typeface="Constantia"/>
            </a:endParaRPr>
          </a:p>
          <a:p>
            <a:pPr indent="-457200" lvl="0" marL="457200" rtl="0" algn="l">
              <a:spcBef>
                <a:spcPts val="440"/>
              </a:spcBef>
              <a:spcAft>
                <a:spcPts val="0"/>
              </a:spcAft>
              <a:buSzPts val="1650"/>
              <a:buFont typeface="Arial"/>
              <a:buAutoNum type="arabicPeriod"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 u-&gt;d = time</a:t>
            </a:r>
            <a:endParaRPr sz="2200">
              <a:latin typeface="Constantia"/>
              <a:ea typeface="Constantia"/>
              <a:cs typeface="Constantia"/>
              <a:sym typeface="Constantia"/>
            </a:endParaRPr>
          </a:p>
          <a:p>
            <a:pPr indent="-457200" lvl="0" marL="457200" rtl="0" algn="l">
              <a:spcBef>
                <a:spcPts val="440"/>
              </a:spcBef>
              <a:spcAft>
                <a:spcPts val="0"/>
              </a:spcAft>
              <a:buSzPts val="1650"/>
              <a:buFont typeface="Arial"/>
              <a:buAutoNum type="arabicPeriod"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 for each v ∈ u-&gt;Adj[]</a:t>
            </a:r>
            <a:endParaRPr sz="2200">
              <a:latin typeface="Constantia"/>
              <a:ea typeface="Constantia"/>
              <a:cs typeface="Constantia"/>
              <a:sym typeface="Constantia"/>
            </a:endParaRPr>
          </a:p>
          <a:p>
            <a:pPr indent="-457200" lvl="0" marL="457200" rtl="0" algn="l">
              <a:spcBef>
                <a:spcPts val="440"/>
              </a:spcBef>
              <a:spcAft>
                <a:spcPts val="0"/>
              </a:spcAft>
              <a:buSzPts val="1650"/>
              <a:buFont typeface="Arial"/>
              <a:buAutoNum type="arabicPeriod"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          if (v-&gt;color == WHITE)</a:t>
            </a:r>
            <a:endParaRPr/>
          </a:p>
          <a:p>
            <a:pPr indent="-457200" lvl="0" marL="457200" rtl="0" algn="l">
              <a:spcBef>
                <a:spcPts val="440"/>
              </a:spcBef>
              <a:spcAft>
                <a:spcPts val="0"/>
              </a:spcAft>
              <a:buSzPts val="1650"/>
              <a:buFont typeface="Arial"/>
              <a:buAutoNum type="arabicPeriod"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   		v -&gt; π = u</a:t>
            </a:r>
            <a:endParaRPr sz="2200">
              <a:latin typeface="Constantia"/>
              <a:ea typeface="Constantia"/>
              <a:cs typeface="Constantia"/>
              <a:sym typeface="Constantia"/>
            </a:endParaRPr>
          </a:p>
          <a:p>
            <a:pPr indent="-457200" lvl="0" marL="457200" rtl="0" algn="l">
              <a:spcBef>
                <a:spcPts val="440"/>
              </a:spcBef>
              <a:spcAft>
                <a:spcPts val="0"/>
              </a:spcAft>
              <a:buSzPts val="1650"/>
              <a:buFont typeface="Arial"/>
              <a:buAutoNum type="arabicPeriod"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             	DFS_Visit(v)</a:t>
            </a:r>
            <a:endParaRPr/>
          </a:p>
          <a:p>
            <a:pPr indent="-352425" lvl="0" marL="457200" rtl="0" algn="l">
              <a:spcBef>
                <a:spcPts val="440"/>
              </a:spcBef>
              <a:spcAft>
                <a:spcPts val="0"/>
              </a:spcAft>
              <a:buSzPts val="1650"/>
              <a:buFont typeface="Arial"/>
              <a:buNone/>
            </a:pPr>
            <a:r>
              <a:t/>
            </a:r>
            <a:endParaRPr sz="2200">
              <a:latin typeface="Constantia"/>
              <a:ea typeface="Constantia"/>
              <a:cs typeface="Constantia"/>
              <a:sym typeface="Constantia"/>
            </a:endParaRPr>
          </a:p>
          <a:p>
            <a:pPr indent="-457200" lvl="0" marL="457200" rtl="0" algn="l">
              <a:spcBef>
                <a:spcPts val="440"/>
              </a:spcBef>
              <a:spcAft>
                <a:spcPts val="0"/>
              </a:spcAft>
              <a:buSzPts val="1650"/>
              <a:buFont typeface="Arial"/>
              <a:buAutoNum type="arabicPeriod"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 u-&gt;color = BLACK</a:t>
            </a:r>
            <a:endParaRPr sz="2200">
              <a:latin typeface="Constantia"/>
              <a:ea typeface="Constantia"/>
              <a:cs typeface="Constantia"/>
              <a:sym typeface="Constantia"/>
            </a:endParaRPr>
          </a:p>
          <a:p>
            <a:pPr indent="-457200" lvl="0" marL="457200" rtl="0" algn="l">
              <a:spcBef>
                <a:spcPts val="440"/>
              </a:spcBef>
              <a:spcAft>
                <a:spcPts val="0"/>
              </a:spcAft>
              <a:buSzPts val="1650"/>
              <a:buFont typeface="Arial"/>
              <a:buAutoNum type="arabicPeriod"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 time = time+1</a:t>
            </a:r>
            <a:endParaRPr sz="2200">
              <a:latin typeface="Constantia"/>
              <a:ea typeface="Constantia"/>
              <a:cs typeface="Constantia"/>
              <a:sym typeface="Constantia"/>
            </a:endParaRPr>
          </a:p>
          <a:p>
            <a:pPr indent="-457200" lvl="0" marL="457200" rtl="0" algn="l">
              <a:spcBef>
                <a:spcPts val="440"/>
              </a:spcBef>
              <a:spcAft>
                <a:spcPts val="0"/>
              </a:spcAft>
              <a:buSzPts val="1650"/>
              <a:buFont typeface="Arial"/>
              <a:buAutoNum type="arabicPeriod"/>
            </a:pPr>
            <a:r>
              <a:rPr lang="en-US" sz="2200">
                <a:latin typeface="Constantia"/>
                <a:ea typeface="Constantia"/>
                <a:cs typeface="Constantia"/>
                <a:sym typeface="Constantia"/>
              </a:rPr>
              <a:t> u-&gt;f = time</a:t>
            </a:r>
            <a:endParaRPr sz="2200"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839" name="Google Shape;839;p34"/>
          <p:cNvCxnSpPr/>
          <p:nvPr/>
        </p:nvCxnSpPr>
        <p:spPr>
          <a:xfrm rot="10800000">
            <a:off x="4495800" y="1524000"/>
            <a:ext cx="0" cy="44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35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Depth-First Search: The Code</a:t>
            </a:r>
            <a:endParaRPr/>
          </a:p>
        </p:txBody>
      </p:sp>
      <p:sp>
        <p:nvSpPr>
          <p:cNvPr id="845" name="Google Shape;845;p35"/>
          <p:cNvSpPr txBox="1"/>
          <p:nvPr>
            <p:ph idx="1" type="body"/>
          </p:nvPr>
        </p:nvSpPr>
        <p:spPr>
          <a:xfrm>
            <a:off x="457200" y="1052513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DFS(G)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u-&gt;color = WHITE;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time = 0;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if (u-&gt;color == WHITE)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   DFS_Visit(u);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46" name="Google Shape;846;p35"/>
          <p:cNvSpPr txBox="1"/>
          <p:nvPr>
            <p:ph idx="2" type="body"/>
          </p:nvPr>
        </p:nvSpPr>
        <p:spPr>
          <a:xfrm>
            <a:off x="4648200" y="1052513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DFS_Visit(u)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u-&gt;color = GREY;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u-&gt;d = time;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∈ u-&gt;Adj[]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if (v-&gt;color == WHITE)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 DFS_Visit(v);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u-&gt;color = BLACK;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u-&gt;f = time;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cxnSp>
        <p:nvCxnSpPr>
          <p:cNvPr id="847" name="Google Shape;847;p35"/>
          <p:cNvCxnSpPr/>
          <p:nvPr/>
        </p:nvCxnSpPr>
        <p:spPr>
          <a:xfrm rot="10800000">
            <a:off x="4495800" y="1524000"/>
            <a:ext cx="0" cy="44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8" name="Google Shape;848;p35"/>
          <p:cNvSpPr txBox="1"/>
          <p:nvPr/>
        </p:nvSpPr>
        <p:spPr>
          <a:xfrm>
            <a:off x="2667000" y="6172200"/>
            <a:ext cx="37004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does </a:t>
            </a: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u-&gt;d</a:t>
            </a:r>
            <a:r>
              <a:rPr b="1" i="1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represent?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36"/>
          <p:cNvSpPr txBox="1"/>
          <p:nvPr>
            <p:ph type="title"/>
          </p:nvPr>
        </p:nvSpPr>
        <p:spPr>
          <a:xfrm>
            <a:off x="457200" y="228600"/>
            <a:ext cx="82296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lang="en-US"/>
              <a:t>Depth-First Search: The Code</a:t>
            </a:r>
            <a:endParaRPr/>
          </a:p>
        </p:txBody>
      </p:sp>
      <p:sp>
        <p:nvSpPr>
          <p:cNvPr id="854" name="Google Shape;854;p36"/>
          <p:cNvSpPr txBox="1"/>
          <p:nvPr>
            <p:ph idx="1" type="body"/>
          </p:nvPr>
        </p:nvSpPr>
        <p:spPr>
          <a:xfrm>
            <a:off x="457200" y="1052513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DFS(G)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u-&gt;color = WHITE;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time = 0;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if (u-&gt;color == WHITE)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   DFS_Visit(u);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55" name="Google Shape;855;p36"/>
          <p:cNvSpPr txBox="1"/>
          <p:nvPr>
            <p:ph idx="2" type="body"/>
          </p:nvPr>
        </p:nvSpPr>
        <p:spPr>
          <a:xfrm>
            <a:off x="4648200" y="1052513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DFS_Visit(u)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u-&gt;color = GREY;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u-&gt;d = time;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∈ u-&gt;Adj[]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if (v-&gt;color == WHITE)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 DFS_Visit(v);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u-&gt;color = BLACK;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u-&gt;f = time;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cxnSp>
        <p:nvCxnSpPr>
          <p:cNvPr id="856" name="Google Shape;856;p36"/>
          <p:cNvCxnSpPr/>
          <p:nvPr/>
        </p:nvCxnSpPr>
        <p:spPr>
          <a:xfrm>
            <a:off x="4495800" y="1524000"/>
            <a:ext cx="0" cy="44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7" name="Google Shape;857;p36"/>
          <p:cNvSpPr txBox="1"/>
          <p:nvPr/>
        </p:nvSpPr>
        <p:spPr>
          <a:xfrm>
            <a:off x="2667000" y="6477495"/>
            <a:ext cx="3700500" cy="11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</a:pPr>
            <a:r>
              <a:rPr b="1" i="1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does </a:t>
            </a: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u-&gt;f</a:t>
            </a:r>
            <a:r>
              <a:rPr b="1" i="1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represent?</a:t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37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Depth-First Search: The Code</a:t>
            </a:r>
            <a:endParaRPr/>
          </a:p>
        </p:txBody>
      </p:sp>
      <p:sp>
        <p:nvSpPr>
          <p:cNvPr id="863" name="Google Shape;863;p37"/>
          <p:cNvSpPr txBox="1"/>
          <p:nvPr>
            <p:ph idx="1" type="body"/>
          </p:nvPr>
        </p:nvSpPr>
        <p:spPr>
          <a:xfrm>
            <a:off x="457200" y="1052513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DFS(G)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u-&gt;color = WHITE;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time = 0;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if (u-&gt;color == WHITE)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   DFS_Visit(u);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64" name="Google Shape;864;p37"/>
          <p:cNvSpPr txBox="1"/>
          <p:nvPr>
            <p:ph idx="2" type="body"/>
          </p:nvPr>
        </p:nvSpPr>
        <p:spPr>
          <a:xfrm>
            <a:off x="4648200" y="1052513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DFS_Visit(u)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u-&gt;color = GREY;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u-&gt;d = time;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∈ u-&gt;Adj[]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if (v-&gt;color == WHITE)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 DFS_Visit(v);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u-&gt;color = BLACK;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u-&gt;f = time;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cxnSp>
        <p:nvCxnSpPr>
          <p:cNvPr id="865" name="Google Shape;865;p37"/>
          <p:cNvCxnSpPr/>
          <p:nvPr/>
        </p:nvCxnSpPr>
        <p:spPr>
          <a:xfrm rot="10800000">
            <a:off x="4495800" y="1524000"/>
            <a:ext cx="0" cy="44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6" name="Google Shape;866;p37"/>
          <p:cNvSpPr txBox="1"/>
          <p:nvPr/>
        </p:nvSpPr>
        <p:spPr>
          <a:xfrm>
            <a:off x="1662113" y="6151563"/>
            <a:ext cx="57626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Will all vertices eventually be colored black?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8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Depth-First Search: The Code</a:t>
            </a:r>
            <a:endParaRPr/>
          </a:p>
        </p:txBody>
      </p:sp>
      <p:sp>
        <p:nvSpPr>
          <p:cNvPr id="872" name="Google Shape;872;p38"/>
          <p:cNvSpPr txBox="1"/>
          <p:nvPr>
            <p:ph idx="1" type="body"/>
          </p:nvPr>
        </p:nvSpPr>
        <p:spPr>
          <a:xfrm>
            <a:off x="457200" y="1052513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DFS(G)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u-&gt;color = WHITE;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time = 0;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if (u-&gt;color == WHITE)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   DFS_Visit(u);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73" name="Google Shape;873;p38"/>
          <p:cNvSpPr txBox="1"/>
          <p:nvPr>
            <p:ph idx="2" type="body"/>
          </p:nvPr>
        </p:nvSpPr>
        <p:spPr>
          <a:xfrm>
            <a:off x="4648199" y="1052513"/>
            <a:ext cx="4227941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DFS_Visit(u)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u-&gt;color = GREY;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u-&gt;d = time;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∈ u-&gt;Adj[]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if (v-&gt;color == WHITE)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 DFS_Visit(v);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if (v-&gt;color == GREY)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 print(this is a backedge)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u-&gt;color = BLACK;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u-&gt;f = time;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cxnSp>
        <p:nvCxnSpPr>
          <p:cNvPr id="874" name="Google Shape;874;p38"/>
          <p:cNvCxnSpPr/>
          <p:nvPr/>
        </p:nvCxnSpPr>
        <p:spPr>
          <a:xfrm rot="10800000">
            <a:off x="4495800" y="1524000"/>
            <a:ext cx="0" cy="44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5" name="Google Shape;875;p38"/>
          <p:cNvSpPr txBox="1"/>
          <p:nvPr/>
        </p:nvSpPr>
        <p:spPr>
          <a:xfrm>
            <a:off x="2506663" y="6151563"/>
            <a:ext cx="410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will be the running time?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39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Depth-First Search: The Code</a:t>
            </a:r>
            <a:endParaRPr/>
          </a:p>
        </p:txBody>
      </p:sp>
      <p:sp>
        <p:nvSpPr>
          <p:cNvPr id="881" name="Google Shape;881;p39"/>
          <p:cNvSpPr txBox="1"/>
          <p:nvPr>
            <p:ph idx="1" type="body"/>
          </p:nvPr>
        </p:nvSpPr>
        <p:spPr>
          <a:xfrm>
            <a:off x="457200" y="1052513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DFS(G)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u-&gt;color = WHITE;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time = 0;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if (u-&gt;color == WHITE)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   DFS_Visit(u);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82" name="Google Shape;882;p39"/>
          <p:cNvSpPr txBox="1"/>
          <p:nvPr>
            <p:ph idx="2" type="body"/>
          </p:nvPr>
        </p:nvSpPr>
        <p:spPr>
          <a:xfrm>
            <a:off x="4648200" y="1052513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DFS_Visit(u)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u-&gt;color = GREY;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u-&gt;d = time;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∈ u-&gt;Adj[]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if (v-&gt;color == WHITE)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 DFS_Visit(v);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u-&gt;color = BLACK;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u-&gt;f = time;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cxnSp>
        <p:nvCxnSpPr>
          <p:cNvPr id="883" name="Google Shape;883;p39"/>
          <p:cNvCxnSpPr/>
          <p:nvPr/>
        </p:nvCxnSpPr>
        <p:spPr>
          <a:xfrm rot="10800000">
            <a:off x="4495800" y="1524000"/>
            <a:ext cx="0" cy="44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4" name="Google Shape;884;p39"/>
          <p:cNvSpPr txBox="1"/>
          <p:nvPr/>
        </p:nvSpPr>
        <p:spPr>
          <a:xfrm>
            <a:off x="1303338" y="5943600"/>
            <a:ext cx="6567487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Running time: O(n</a:t>
            </a:r>
            <a:r>
              <a:rPr b="1" baseline="30000" i="1" lang="en-US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1" lang="en-US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because call DFS_Visit on each vertex, </a:t>
            </a:r>
            <a:br>
              <a:rPr b="1" i="1" lang="en-US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 loop over Adj[] can run as many as |V| times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0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Depth-First Search: The Code</a:t>
            </a:r>
            <a:endParaRPr/>
          </a:p>
        </p:txBody>
      </p:sp>
      <p:sp>
        <p:nvSpPr>
          <p:cNvPr id="890" name="Google Shape;890;p40"/>
          <p:cNvSpPr txBox="1"/>
          <p:nvPr>
            <p:ph idx="1" type="body"/>
          </p:nvPr>
        </p:nvSpPr>
        <p:spPr>
          <a:xfrm>
            <a:off x="457200" y="1052513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DFS(G)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u-&gt;color = WHITE;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time = 0;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if (u-&gt;color == WHITE)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   DFS_Visit(u);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91" name="Google Shape;891;p40"/>
          <p:cNvSpPr txBox="1"/>
          <p:nvPr>
            <p:ph idx="2" type="body"/>
          </p:nvPr>
        </p:nvSpPr>
        <p:spPr>
          <a:xfrm>
            <a:off x="4648200" y="1052513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DFS_Visit(u)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u-&gt;color = GREY;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u-&gt;d = time;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∈ u-&gt;Adj[]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if (v-&gt;color == WHITE)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 DFS_Visit(v);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u-&gt;color = BLACK;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u-&gt;f = time;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cxnSp>
        <p:nvCxnSpPr>
          <p:cNvPr id="892" name="Google Shape;892;p40"/>
          <p:cNvCxnSpPr/>
          <p:nvPr/>
        </p:nvCxnSpPr>
        <p:spPr>
          <a:xfrm rot="10800000">
            <a:off x="4495800" y="1524000"/>
            <a:ext cx="0" cy="44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3" name="Google Shape;893;p40"/>
          <p:cNvSpPr txBox="1"/>
          <p:nvPr/>
        </p:nvSpPr>
        <p:spPr>
          <a:xfrm>
            <a:off x="1747838" y="5943600"/>
            <a:ext cx="571182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BUT, there is actually a tighter bound.  </a:t>
            </a:r>
            <a:br>
              <a:rPr b="1" i="1" lang="en-US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many times will DFS_Visit() actually be called?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41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Depth-First Search: The Code</a:t>
            </a:r>
            <a:endParaRPr/>
          </a:p>
        </p:txBody>
      </p:sp>
      <p:sp>
        <p:nvSpPr>
          <p:cNvPr id="899" name="Google Shape;899;p41"/>
          <p:cNvSpPr txBox="1"/>
          <p:nvPr>
            <p:ph idx="1" type="body"/>
          </p:nvPr>
        </p:nvSpPr>
        <p:spPr>
          <a:xfrm>
            <a:off x="457200" y="1052513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DFS(G)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u-&gt;color = WHITE;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time = 0;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for each vertex u ∈ G-&gt;V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if (u-&gt;color == WHITE)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      DFS_Visit(u);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1350"/>
              <a:buFont typeface="Arial"/>
              <a:buNone/>
            </a:pP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00" name="Google Shape;900;p41"/>
          <p:cNvSpPr txBox="1"/>
          <p:nvPr>
            <p:ph idx="2" type="body"/>
          </p:nvPr>
        </p:nvSpPr>
        <p:spPr>
          <a:xfrm>
            <a:off x="4648200" y="1052513"/>
            <a:ext cx="4038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DFS_Visit(u)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u-&gt;color = GREY;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/>
          </a:p>
          <a:p>
            <a:pPr indent="-342900" lvl="0" marL="342900" rtl="0" algn="l">
              <a:spcBef>
                <a:spcPts val="26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u-&gt;d = time;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975"/>
              <a:buFont typeface="Arial"/>
              <a:buNone/>
            </a:pPr>
            <a:r>
              <a:rPr b="1" lang="en-US" sz="1300"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∈ u-&gt;Adj[]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if (v-&gt;color == WHITE)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      DFS_Visit(v);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u-&gt;color = BLACK;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time = time+1;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   u-&gt;f = time;</a:t>
            </a:r>
            <a:endParaRPr/>
          </a:p>
          <a:p>
            <a:pPr indent="-342900" lvl="0" marL="342900" rtl="0" algn="l">
              <a:spcBef>
                <a:spcPts val="300"/>
              </a:spcBef>
              <a:spcAft>
                <a:spcPts val="0"/>
              </a:spcAft>
              <a:buSzPts val="1125"/>
              <a:buFont typeface="Arial"/>
              <a:buNone/>
            </a:pPr>
            <a:r>
              <a:rPr b="1" lang="en-US" sz="15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cxnSp>
        <p:nvCxnSpPr>
          <p:cNvPr id="901" name="Google Shape;901;p41"/>
          <p:cNvCxnSpPr/>
          <p:nvPr/>
        </p:nvCxnSpPr>
        <p:spPr>
          <a:xfrm rot="10800000">
            <a:off x="4495800" y="1524000"/>
            <a:ext cx="0" cy="4495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Google Shape;902;p41"/>
          <p:cNvSpPr txBox="1"/>
          <p:nvPr/>
        </p:nvSpPr>
        <p:spPr>
          <a:xfrm>
            <a:off x="2670175" y="5943600"/>
            <a:ext cx="3894138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i="1" lang="en-US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running time of DFS = O(V+E)</a:t>
            </a:r>
            <a:endParaRPr b="1" i="1" sz="20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2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Depth-First Search Analysis</a:t>
            </a:r>
            <a:endParaRPr/>
          </a:p>
        </p:txBody>
      </p:sp>
      <p:sp>
        <p:nvSpPr>
          <p:cNvPr id="908" name="Google Shape;908;p42"/>
          <p:cNvSpPr txBox="1"/>
          <p:nvPr>
            <p:ph idx="1" type="body"/>
          </p:nvPr>
        </p:nvSpPr>
        <p:spPr>
          <a:xfrm>
            <a:off x="457200" y="1524000"/>
            <a:ext cx="8382000" cy="485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This running time argument is an informal example of </a:t>
            </a:r>
            <a:r>
              <a:rPr i="1" lang="en-US">
                <a:solidFill>
                  <a:schemeClr val="dk2"/>
                </a:solidFill>
              </a:rPr>
              <a:t>amortized analysis</a:t>
            </a:r>
            <a:endParaRPr>
              <a:solidFill>
                <a:schemeClr val="dk2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“Charge” the exploration of edge to the edge:</a:t>
            </a:r>
            <a:endParaRPr/>
          </a:p>
          <a:p>
            <a:pPr indent="-228600" lvl="2" marL="1143000" rtl="0" algn="l"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/>
              <a:t>Each loop in DFS_Visit can be attributed to an edge in the graph </a:t>
            </a:r>
            <a:endParaRPr/>
          </a:p>
          <a:p>
            <a:pPr indent="-228600" lvl="2" marL="1143000" rtl="0" algn="l"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/>
              <a:t>Runs once/edge if directed graph, twice if undirected</a:t>
            </a:r>
            <a:endParaRPr/>
          </a:p>
          <a:p>
            <a:pPr indent="-228600" lvl="2" marL="1143000" rtl="0" algn="l"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/>
              <a:t>Thus loop will run in </a:t>
            </a:r>
            <a:r>
              <a:rPr i="1" lang="en-US"/>
              <a:t>O</a:t>
            </a:r>
            <a:r>
              <a:rPr lang="en-US"/>
              <a:t>(</a:t>
            </a:r>
            <a:r>
              <a:rPr i="1" lang="en-US"/>
              <a:t>E</a:t>
            </a:r>
            <a:r>
              <a:rPr lang="en-US"/>
              <a:t>) time, algorithm </a:t>
            </a:r>
            <a:r>
              <a:rPr i="1" lang="en-US"/>
              <a:t>O</a:t>
            </a:r>
            <a:r>
              <a:rPr lang="en-US"/>
              <a:t>(</a:t>
            </a:r>
            <a:r>
              <a:rPr i="1" lang="en-US"/>
              <a:t>V </a:t>
            </a:r>
            <a:r>
              <a:rPr lang="en-US"/>
              <a:t>+ </a:t>
            </a:r>
            <a:r>
              <a:rPr i="1" lang="en-US"/>
              <a:t>E</a:t>
            </a:r>
            <a:r>
              <a:rPr lang="en-US"/>
              <a:t>)</a:t>
            </a:r>
            <a:endParaRPr/>
          </a:p>
          <a:p>
            <a:pPr indent="-186690" lvl="1" marL="742950" rtl="0" algn="l">
              <a:spcBef>
                <a:spcPts val="48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Storage requirement is </a:t>
            </a:r>
            <a:r>
              <a:rPr i="1" lang="en-US"/>
              <a:t>O</a:t>
            </a:r>
            <a:r>
              <a:rPr lang="en-US"/>
              <a:t>(</a:t>
            </a:r>
            <a:r>
              <a:rPr i="1" lang="en-US"/>
              <a:t>V </a:t>
            </a:r>
            <a:r>
              <a:rPr lang="en-US"/>
              <a:t>+ </a:t>
            </a:r>
            <a:r>
              <a:rPr i="1" lang="en-US"/>
              <a:t>E</a:t>
            </a:r>
            <a:r>
              <a:rPr lang="en-US"/>
              <a:t>), since adjacent list requires </a:t>
            </a:r>
            <a:r>
              <a:rPr i="1" lang="en-US"/>
              <a:t>O</a:t>
            </a:r>
            <a:r>
              <a:rPr lang="en-US"/>
              <a:t>(</a:t>
            </a:r>
            <a:r>
              <a:rPr i="1" lang="en-US"/>
              <a:t>V </a:t>
            </a:r>
            <a:r>
              <a:rPr lang="en-US"/>
              <a:t>+ </a:t>
            </a:r>
            <a:r>
              <a:rPr i="1" lang="en-US"/>
              <a:t>E</a:t>
            </a:r>
            <a:r>
              <a:rPr lang="en-US"/>
              <a:t>) storage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43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 Example</a:t>
            </a:r>
            <a:endParaRPr/>
          </a:p>
        </p:txBody>
      </p:sp>
      <p:sp>
        <p:nvSpPr>
          <p:cNvPr id="914" name="Google Shape;914;p43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5" name="Google Shape;915;p43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6" name="Google Shape;916;p43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7" name="Google Shape;917;p43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8" name="Google Shape;918;p43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9" name="Google Shape;919;p43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0" name="Google Shape;920;p43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1" name="Google Shape;921;p43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8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22" name="Google Shape;922;p43"/>
          <p:cNvCxnSpPr>
            <a:stCxn id="914" idx="3"/>
            <a:endCxn id="920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3" name="Google Shape;923;p43"/>
          <p:cNvCxnSpPr>
            <a:stCxn id="920" idx="5"/>
            <a:endCxn id="919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4" name="Google Shape;924;p43"/>
          <p:cNvCxnSpPr>
            <a:stCxn id="920" idx="6"/>
            <a:endCxn id="918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5" name="Google Shape;925;p43"/>
          <p:cNvCxnSpPr>
            <a:stCxn id="918" idx="2"/>
            <a:endCxn id="919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6" name="Google Shape;926;p43"/>
          <p:cNvCxnSpPr>
            <a:stCxn id="919" idx="0"/>
            <a:endCxn id="914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7" name="Google Shape;927;p43"/>
          <p:cNvCxnSpPr>
            <a:stCxn id="914" idx="5"/>
            <a:endCxn id="918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8" name="Google Shape;928;p43"/>
          <p:cNvCxnSpPr>
            <a:stCxn id="915" idx="4"/>
            <a:endCxn id="918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9" name="Google Shape;929;p43"/>
          <p:cNvCxnSpPr>
            <a:stCxn id="914" idx="6"/>
            <a:endCxn id="915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0" name="Google Shape;930;p43"/>
          <p:cNvCxnSpPr>
            <a:stCxn id="916" idx="2"/>
            <a:endCxn id="915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1" name="Google Shape;931;p43"/>
          <p:cNvCxnSpPr>
            <a:stCxn id="915" idx="5"/>
            <a:endCxn id="921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2" name="Google Shape;932;p43"/>
          <p:cNvCxnSpPr>
            <a:stCxn id="916" idx="3"/>
            <a:endCxn id="921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3" name="Google Shape;933;p43"/>
          <p:cNvCxnSpPr>
            <a:stCxn id="916" idx="4"/>
            <a:endCxn id="917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4" name="Google Shape;934;p43"/>
          <p:cNvCxnSpPr>
            <a:stCxn id="917" idx="2"/>
            <a:endCxn id="918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5" name="Google Shape;935;p43"/>
          <p:cNvCxnSpPr>
            <a:stCxn id="921" idx="3"/>
            <a:endCxn id="918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6" name="Google Shape;936;p43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7" name="Google Shape;937;p43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pic>
        <p:nvPicPr>
          <p:cNvPr id="938" name="Google Shape;93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2225" y="31089"/>
            <a:ext cx="4102641" cy="22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44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 Example</a:t>
            </a:r>
            <a:endParaRPr/>
          </a:p>
        </p:txBody>
      </p:sp>
      <p:sp>
        <p:nvSpPr>
          <p:cNvPr id="944" name="Google Shape;944;p44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/>
          </a:p>
        </p:txBody>
      </p:sp>
      <p:sp>
        <p:nvSpPr>
          <p:cNvPr id="945" name="Google Shape;945;p44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946" name="Google Shape;946;p44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947" name="Google Shape;947;p44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948" name="Google Shape;948;p44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endParaRPr/>
          </a:p>
        </p:txBody>
      </p:sp>
      <p:sp>
        <p:nvSpPr>
          <p:cNvPr id="949" name="Google Shape;949;p44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|  </a:t>
            </a:r>
            <a:endParaRPr/>
          </a:p>
        </p:txBody>
      </p:sp>
      <p:sp>
        <p:nvSpPr>
          <p:cNvPr id="950" name="Google Shape;950;p44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951" name="Google Shape;951;p44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cxnSp>
        <p:nvCxnSpPr>
          <p:cNvPr id="952" name="Google Shape;952;p44"/>
          <p:cNvCxnSpPr>
            <a:stCxn id="944" idx="3"/>
            <a:endCxn id="950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3" name="Google Shape;953;p44"/>
          <p:cNvCxnSpPr>
            <a:stCxn id="950" idx="5"/>
            <a:endCxn id="949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4" name="Google Shape;954;p44"/>
          <p:cNvCxnSpPr>
            <a:stCxn id="950" idx="6"/>
            <a:endCxn id="948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5" name="Google Shape;955;p44"/>
          <p:cNvCxnSpPr>
            <a:stCxn id="948" idx="2"/>
            <a:endCxn id="949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6" name="Google Shape;956;p44"/>
          <p:cNvCxnSpPr>
            <a:stCxn id="949" idx="0"/>
            <a:endCxn id="944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7" name="Google Shape;957;p44"/>
          <p:cNvCxnSpPr>
            <a:stCxn id="944" idx="5"/>
            <a:endCxn id="948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8" name="Google Shape;958;p44"/>
          <p:cNvCxnSpPr>
            <a:stCxn id="945" idx="4"/>
            <a:endCxn id="948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9" name="Google Shape;959;p44"/>
          <p:cNvCxnSpPr>
            <a:stCxn id="944" idx="6"/>
            <a:endCxn id="945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0" name="Google Shape;960;p44"/>
          <p:cNvCxnSpPr>
            <a:stCxn id="946" idx="2"/>
            <a:endCxn id="945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1" name="Google Shape;961;p44"/>
          <p:cNvCxnSpPr>
            <a:stCxn id="945" idx="5"/>
            <a:endCxn id="951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2" name="Google Shape;962;p44"/>
          <p:cNvCxnSpPr>
            <a:stCxn id="946" idx="3"/>
            <a:endCxn id="951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3" name="Google Shape;963;p44"/>
          <p:cNvCxnSpPr>
            <a:stCxn id="946" idx="4"/>
            <a:endCxn id="947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4" name="Google Shape;964;p44"/>
          <p:cNvCxnSpPr>
            <a:stCxn id="947" idx="2"/>
            <a:endCxn id="948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5" name="Google Shape;965;p44"/>
          <p:cNvCxnSpPr>
            <a:stCxn id="951" idx="3"/>
            <a:endCxn id="948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6" name="Google Shape;966;p44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7" name="Google Shape;967;p44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sp>
        <p:nvSpPr>
          <p:cNvPr id="968" name="Google Shape;968;p44"/>
          <p:cNvSpPr/>
          <p:nvPr/>
        </p:nvSpPr>
        <p:spPr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/>
          </a:p>
        </p:txBody>
      </p:sp>
      <p:pic>
        <p:nvPicPr>
          <p:cNvPr id="969" name="Google Shape;96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2225" y="31089"/>
            <a:ext cx="4102641" cy="22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45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 Example</a:t>
            </a:r>
            <a:endParaRPr/>
          </a:p>
        </p:txBody>
      </p:sp>
      <p:sp>
        <p:nvSpPr>
          <p:cNvPr id="975" name="Google Shape;975;p45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/>
          </a:p>
        </p:txBody>
      </p:sp>
      <p:sp>
        <p:nvSpPr>
          <p:cNvPr id="976" name="Google Shape;976;p45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977" name="Google Shape;977;p45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978" name="Google Shape;978;p45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979" name="Google Shape;979;p45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endParaRPr/>
          </a:p>
        </p:txBody>
      </p:sp>
      <p:sp>
        <p:nvSpPr>
          <p:cNvPr id="980" name="Google Shape;980;p45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|  </a:t>
            </a:r>
            <a:endParaRPr/>
          </a:p>
        </p:txBody>
      </p:sp>
      <p:sp>
        <p:nvSpPr>
          <p:cNvPr id="981" name="Google Shape;981;p45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 </a:t>
            </a:r>
            <a:endParaRPr/>
          </a:p>
        </p:txBody>
      </p:sp>
      <p:sp>
        <p:nvSpPr>
          <p:cNvPr id="982" name="Google Shape;982;p45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cxnSp>
        <p:nvCxnSpPr>
          <p:cNvPr id="983" name="Google Shape;983;p45"/>
          <p:cNvCxnSpPr>
            <a:stCxn id="975" idx="3"/>
            <a:endCxn id="981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4" name="Google Shape;984;p45"/>
          <p:cNvCxnSpPr>
            <a:stCxn id="981" idx="5"/>
            <a:endCxn id="980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5" name="Google Shape;985;p45"/>
          <p:cNvCxnSpPr>
            <a:stCxn id="981" idx="6"/>
            <a:endCxn id="979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6" name="Google Shape;986;p45"/>
          <p:cNvCxnSpPr>
            <a:stCxn id="979" idx="2"/>
            <a:endCxn id="980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7" name="Google Shape;987;p45"/>
          <p:cNvCxnSpPr>
            <a:stCxn id="980" idx="0"/>
            <a:endCxn id="975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8" name="Google Shape;988;p45"/>
          <p:cNvCxnSpPr>
            <a:stCxn id="975" idx="5"/>
            <a:endCxn id="979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9" name="Google Shape;989;p45"/>
          <p:cNvCxnSpPr>
            <a:stCxn id="976" idx="4"/>
            <a:endCxn id="979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0" name="Google Shape;990;p45"/>
          <p:cNvCxnSpPr>
            <a:stCxn id="975" idx="6"/>
            <a:endCxn id="976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1" name="Google Shape;991;p45"/>
          <p:cNvCxnSpPr>
            <a:stCxn id="977" idx="2"/>
            <a:endCxn id="976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2" name="Google Shape;992;p45"/>
          <p:cNvCxnSpPr>
            <a:stCxn id="976" idx="5"/>
            <a:endCxn id="982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3" name="Google Shape;993;p45"/>
          <p:cNvCxnSpPr>
            <a:stCxn id="977" idx="3"/>
            <a:endCxn id="982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4" name="Google Shape;994;p45"/>
          <p:cNvCxnSpPr>
            <a:stCxn id="977" idx="4"/>
            <a:endCxn id="978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5" name="Google Shape;995;p45"/>
          <p:cNvCxnSpPr>
            <a:stCxn id="978" idx="2"/>
            <a:endCxn id="979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6" name="Google Shape;996;p45"/>
          <p:cNvCxnSpPr>
            <a:stCxn id="982" idx="3"/>
            <a:endCxn id="979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7" name="Google Shape;997;p45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8" name="Google Shape;998;p45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sp>
        <p:nvSpPr>
          <p:cNvPr id="999" name="Google Shape;999;p45"/>
          <p:cNvSpPr/>
          <p:nvPr/>
        </p:nvSpPr>
        <p:spPr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/>
          </a:p>
        </p:txBody>
      </p:sp>
      <p:pic>
        <p:nvPicPr>
          <p:cNvPr id="1000" name="Google Shape;100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2225" y="31089"/>
            <a:ext cx="4102641" cy="22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p46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 Example</a:t>
            </a:r>
            <a:endParaRPr/>
          </a:p>
        </p:txBody>
      </p:sp>
      <p:sp>
        <p:nvSpPr>
          <p:cNvPr id="1006" name="Google Shape;1006;p46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/>
          </a:p>
        </p:txBody>
      </p:sp>
      <p:sp>
        <p:nvSpPr>
          <p:cNvPr id="1007" name="Google Shape;1007;p46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008" name="Google Shape;1008;p46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009" name="Google Shape;1009;p46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010" name="Google Shape;1010;p46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endParaRPr/>
          </a:p>
        </p:txBody>
      </p:sp>
      <p:sp>
        <p:nvSpPr>
          <p:cNvPr id="1011" name="Google Shape;1011;p46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 </a:t>
            </a:r>
            <a:endParaRPr/>
          </a:p>
        </p:txBody>
      </p:sp>
      <p:sp>
        <p:nvSpPr>
          <p:cNvPr id="1012" name="Google Shape;1012;p46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 </a:t>
            </a:r>
            <a:endParaRPr/>
          </a:p>
        </p:txBody>
      </p:sp>
      <p:sp>
        <p:nvSpPr>
          <p:cNvPr id="1013" name="Google Shape;1013;p46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cxnSp>
        <p:nvCxnSpPr>
          <p:cNvPr id="1014" name="Google Shape;1014;p46"/>
          <p:cNvCxnSpPr>
            <a:stCxn id="1006" idx="3"/>
            <a:endCxn id="1012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5" name="Google Shape;1015;p46"/>
          <p:cNvCxnSpPr>
            <a:stCxn id="1012" idx="5"/>
            <a:endCxn id="1011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6" name="Google Shape;1016;p46"/>
          <p:cNvCxnSpPr>
            <a:stCxn id="1012" idx="6"/>
            <a:endCxn id="1010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7" name="Google Shape;1017;p46"/>
          <p:cNvCxnSpPr>
            <a:stCxn id="1010" idx="2"/>
            <a:endCxn id="1011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8" name="Google Shape;1018;p46"/>
          <p:cNvCxnSpPr>
            <a:stCxn id="1011" idx="0"/>
            <a:endCxn id="1006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9" name="Google Shape;1019;p46"/>
          <p:cNvCxnSpPr>
            <a:stCxn id="1006" idx="5"/>
            <a:endCxn id="1010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0" name="Google Shape;1020;p46"/>
          <p:cNvCxnSpPr>
            <a:stCxn id="1007" idx="4"/>
            <a:endCxn id="1010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1" name="Google Shape;1021;p46"/>
          <p:cNvCxnSpPr>
            <a:stCxn id="1006" idx="6"/>
            <a:endCxn id="1007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2" name="Google Shape;1022;p46"/>
          <p:cNvCxnSpPr>
            <a:stCxn id="1008" idx="2"/>
            <a:endCxn id="1007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3" name="Google Shape;1023;p46"/>
          <p:cNvCxnSpPr>
            <a:stCxn id="1007" idx="5"/>
            <a:endCxn id="1013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4" name="Google Shape;1024;p46"/>
          <p:cNvCxnSpPr>
            <a:stCxn id="1008" idx="3"/>
            <a:endCxn id="1013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5" name="Google Shape;1025;p46"/>
          <p:cNvCxnSpPr>
            <a:stCxn id="1008" idx="4"/>
            <a:endCxn id="1009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6" name="Google Shape;1026;p46"/>
          <p:cNvCxnSpPr>
            <a:stCxn id="1009" idx="2"/>
            <a:endCxn id="1010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7" name="Google Shape;1027;p46"/>
          <p:cNvCxnSpPr>
            <a:stCxn id="1013" idx="3"/>
            <a:endCxn id="1010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8" name="Google Shape;1028;p46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9" name="Google Shape;1029;p46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sp>
        <p:nvSpPr>
          <p:cNvPr id="1030" name="Google Shape;1030;p46"/>
          <p:cNvSpPr/>
          <p:nvPr/>
        </p:nvSpPr>
        <p:spPr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/>
          </a:p>
        </p:txBody>
      </p:sp>
      <p:pic>
        <p:nvPicPr>
          <p:cNvPr id="1031" name="Google Shape;103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2225" y="31089"/>
            <a:ext cx="4102641" cy="22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47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 Example</a:t>
            </a:r>
            <a:endParaRPr/>
          </a:p>
        </p:txBody>
      </p:sp>
      <p:sp>
        <p:nvSpPr>
          <p:cNvPr id="1037" name="Google Shape;1037;p47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/>
          </a:p>
        </p:txBody>
      </p:sp>
      <p:sp>
        <p:nvSpPr>
          <p:cNvPr id="1038" name="Google Shape;1038;p47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039" name="Google Shape;1039;p47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040" name="Google Shape;1040;p47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041" name="Google Shape;1041;p47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endParaRPr/>
          </a:p>
        </p:txBody>
      </p:sp>
      <p:sp>
        <p:nvSpPr>
          <p:cNvPr id="1042" name="Google Shape;1042;p47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/>
          </a:p>
        </p:txBody>
      </p:sp>
      <p:sp>
        <p:nvSpPr>
          <p:cNvPr id="1043" name="Google Shape;1043;p47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 </a:t>
            </a:r>
            <a:endParaRPr/>
          </a:p>
        </p:txBody>
      </p:sp>
      <p:sp>
        <p:nvSpPr>
          <p:cNvPr id="1044" name="Google Shape;1044;p47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cxnSp>
        <p:nvCxnSpPr>
          <p:cNvPr id="1045" name="Google Shape;1045;p47"/>
          <p:cNvCxnSpPr>
            <a:stCxn id="1037" idx="3"/>
            <a:endCxn id="1043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6" name="Google Shape;1046;p47"/>
          <p:cNvCxnSpPr>
            <a:stCxn id="1043" idx="5"/>
            <a:endCxn id="1042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7" name="Google Shape;1047;p47"/>
          <p:cNvCxnSpPr>
            <a:stCxn id="1043" idx="6"/>
            <a:endCxn id="1041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8" name="Google Shape;1048;p47"/>
          <p:cNvCxnSpPr>
            <a:stCxn id="1041" idx="2"/>
            <a:endCxn id="1042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9" name="Google Shape;1049;p47"/>
          <p:cNvCxnSpPr>
            <a:stCxn id="1042" idx="0"/>
            <a:endCxn id="1037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0" name="Google Shape;1050;p47"/>
          <p:cNvCxnSpPr>
            <a:stCxn id="1037" idx="5"/>
            <a:endCxn id="1041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1" name="Google Shape;1051;p47"/>
          <p:cNvCxnSpPr>
            <a:stCxn id="1038" idx="4"/>
            <a:endCxn id="1041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2" name="Google Shape;1052;p47"/>
          <p:cNvCxnSpPr>
            <a:stCxn id="1037" idx="6"/>
            <a:endCxn id="1038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3" name="Google Shape;1053;p47"/>
          <p:cNvCxnSpPr>
            <a:stCxn id="1039" idx="2"/>
            <a:endCxn id="1038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4" name="Google Shape;1054;p47"/>
          <p:cNvCxnSpPr>
            <a:stCxn id="1038" idx="5"/>
            <a:endCxn id="1044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5" name="Google Shape;1055;p47"/>
          <p:cNvCxnSpPr>
            <a:stCxn id="1039" idx="3"/>
            <a:endCxn id="1044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6" name="Google Shape;1056;p47"/>
          <p:cNvCxnSpPr>
            <a:stCxn id="1039" idx="4"/>
            <a:endCxn id="1040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7" name="Google Shape;1057;p47"/>
          <p:cNvCxnSpPr>
            <a:stCxn id="1040" idx="2"/>
            <a:endCxn id="1041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8" name="Google Shape;1058;p47"/>
          <p:cNvCxnSpPr>
            <a:stCxn id="1044" idx="3"/>
            <a:endCxn id="1041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9" name="Google Shape;1059;p47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0" name="Google Shape;1060;p47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sp>
        <p:nvSpPr>
          <p:cNvPr id="1061" name="Google Shape;1061;p47"/>
          <p:cNvSpPr/>
          <p:nvPr/>
        </p:nvSpPr>
        <p:spPr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/>
          </a:p>
        </p:txBody>
      </p:sp>
      <p:pic>
        <p:nvPicPr>
          <p:cNvPr id="1062" name="Google Shape;106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2225" y="31089"/>
            <a:ext cx="4102641" cy="22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48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 Example</a:t>
            </a:r>
            <a:endParaRPr/>
          </a:p>
        </p:txBody>
      </p:sp>
      <p:sp>
        <p:nvSpPr>
          <p:cNvPr id="1068" name="Google Shape;1068;p48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/>
          </a:p>
        </p:txBody>
      </p:sp>
      <p:sp>
        <p:nvSpPr>
          <p:cNvPr id="1069" name="Google Shape;1069;p48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070" name="Google Shape;1070;p48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071" name="Google Shape;1071;p48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072" name="Google Shape;1072;p48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 </a:t>
            </a:r>
            <a:endParaRPr/>
          </a:p>
        </p:txBody>
      </p:sp>
      <p:sp>
        <p:nvSpPr>
          <p:cNvPr id="1073" name="Google Shape;1073;p48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/>
          </a:p>
        </p:txBody>
      </p:sp>
      <p:sp>
        <p:nvSpPr>
          <p:cNvPr id="1074" name="Google Shape;1074;p48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 </a:t>
            </a:r>
            <a:endParaRPr/>
          </a:p>
        </p:txBody>
      </p:sp>
      <p:sp>
        <p:nvSpPr>
          <p:cNvPr id="1075" name="Google Shape;1075;p48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cxnSp>
        <p:nvCxnSpPr>
          <p:cNvPr id="1076" name="Google Shape;1076;p48"/>
          <p:cNvCxnSpPr>
            <a:stCxn id="1068" idx="3"/>
            <a:endCxn id="1074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7" name="Google Shape;1077;p48"/>
          <p:cNvCxnSpPr>
            <a:stCxn id="1074" idx="5"/>
            <a:endCxn id="1073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8" name="Google Shape;1078;p48"/>
          <p:cNvCxnSpPr>
            <a:stCxn id="1074" idx="6"/>
            <a:endCxn id="1072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9" name="Google Shape;1079;p48"/>
          <p:cNvCxnSpPr>
            <a:stCxn id="1072" idx="2"/>
            <a:endCxn id="1073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0" name="Google Shape;1080;p48"/>
          <p:cNvCxnSpPr>
            <a:stCxn id="1073" idx="0"/>
            <a:endCxn id="1068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1" name="Google Shape;1081;p48"/>
          <p:cNvCxnSpPr>
            <a:stCxn id="1068" idx="5"/>
            <a:endCxn id="1072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2" name="Google Shape;1082;p48"/>
          <p:cNvCxnSpPr>
            <a:stCxn id="1069" idx="4"/>
            <a:endCxn id="1072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3" name="Google Shape;1083;p48"/>
          <p:cNvCxnSpPr>
            <a:stCxn id="1068" idx="6"/>
            <a:endCxn id="1069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4" name="Google Shape;1084;p48"/>
          <p:cNvCxnSpPr>
            <a:stCxn id="1070" idx="2"/>
            <a:endCxn id="1069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5" name="Google Shape;1085;p48"/>
          <p:cNvCxnSpPr>
            <a:stCxn id="1069" idx="5"/>
            <a:endCxn id="1075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6" name="Google Shape;1086;p48"/>
          <p:cNvCxnSpPr>
            <a:stCxn id="1070" idx="3"/>
            <a:endCxn id="1075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7" name="Google Shape;1087;p48"/>
          <p:cNvCxnSpPr>
            <a:stCxn id="1070" idx="4"/>
            <a:endCxn id="1071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8" name="Google Shape;1088;p48"/>
          <p:cNvCxnSpPr>
            <a:stCxn id="1071" idx="2"/>
            <a:endCxn id="1072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9" name="Google Shape;1089;p48"/>
          <p:cNvCxnSpPr>
            <a:stCxn id="1075" idx="3"/>
            <a:endCxn id="1072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0" name="Google Shape;1090;p48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1" name="Google Shape;1091;p48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sp>
        <p:nvSpPr>
          <p:cNvPr id="1092" name="Google Shape;1092;p48"/>
          <p:cNvSpPr/>
          <p:nvPr/>
        </p:nvSpPr>
        <p:spPr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/>
          </a:p>
        </p:txBody>
      </p:sp>
      <p:pic>
        <p:nvPicPr>
          <p:cNvPr id="1093" name="Google Shape;109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2225" y="31089"/>
            <a:ext cx="4102641" cy="22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49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 Example</a:t>
            </a:r>
            <a:endParaRPr/>
          </a:p>
        </p:txBody>
      </p:sp>
      <p:sp>
        <p:nvSpPr>
          <p:cNvPr id="1099" name="Google Shape;1099;p49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/>
          </a:p>
        </p:txBody>
      </p:sp>
      <p:sp>
        <p:nvSpPr>
          <p:cNvPr id="1100" name="Google Shape;1100;p49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101" name="Google Shape;1101;p49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102" name="Google Shape;1102;p49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103" name="Google Shape;1103;p49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/>
          </a:p>
        </p:txBody>
      </p:sp>
      <p:sp>
        <p:nvSpPr>
          <p:cNvPr id="1104" name="Google Shape;1104;p49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/>
          </a:p>
        </p:txBody>
      </p:sp>
      <p:sp>
        <p:nvSpPr>
          <p:cNvPr id="1105" name="Google Shape;1105;p49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 </a:t>
            </a:r>
            <a:endParaRPr/>
          </a:p>
        </p:txBody>
      </p:sp>
      <p:sp>
        <p:nvSpPr>
          <p:cNvPr id="1106" name="Google Shape;1106;p49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cxnSp>
        <p:nvCxnSpPr>
          <p:cNvPr id="1107" name="Google Shape;1107;p49"/>
          <p:cNvCxnSpPr>
            <a:stCxn id="1099" idx="3"/>
            <a:endCxn id="1105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8" name="Google Shape;1108;p49"/>
          <p:cNvCxnSpPr>
            <a:stCxn id="1105" idx="5"/>
            <a:endCxn id="1104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9" name="Google Shape;1109;p49"/>
          <p:cNvCxnSpPr>
            <a:stCxn id="1105" idx="6"/>
            <a:endCxn id="1103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0" name="Google Shape;1110;p49"/>
          <p:cNvCxnSpPr>
            <a:stCxn id="1103" idx="2"/>
            <a:endCxn id="1104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1" name="Google Shape;1111;p49"/>
          <p:cNvCxnSpPr>
            <a:stCxn id="1104" idx="0"/>
            <a:endCxn id="1099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2" name="Google Shape;1112;p49"/>
          <p:cNvCxnSpPr>
            <a:stCxn id="1099" idx="5"/>
            <a:endCxn id="1103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3" name="Google Shape;1113;p49"/>
          <p:cNvCxnSpPr>
            <a:stCxn id="1100" idx="4"/>
            <a:endCxn id="1103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4" name="Google Shape;1114;p49"/>
          <p:cNvCxnSpPr>
            <a:stCxn id="1099" idx="6"/>
            <a:endCxn id="1100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5" name="Google Shape;1115;p49"/>
          <p:cNvCxnSpPr>
            <a:stCxn id="1101" idx="2"/>
            <a:endCxn id="1100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6" name="Google Shape;1116;p49"/>
          <p:cNvCxnSpPr>
            <a:stCxn id="1100" idx="5"/>
            <a:endCxn id="1106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7" name="Google Shape;1117;p49"/>
          <p:cNvCxnSpPr>
            <a:stCxn id="1101" idx="3"/>
            <a:endCxn id="1106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8" name="Google Shape;1118;p49"/>
          <p:cNvCxnSpPr>
            <a:stCxn id="1101" idx="4"/>
            <a:endCxn id="1102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9" name="Google Shape;1119;p49"/>
          <p:cNvCxnSpPr>
            <a:stCxn id="1102" idx="2"/>
            <a:endCxn id="1103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0" name="Google Shape;1120;p49"/>
          <p:cNvCxnSpPr>
            <a:stCxn id="1106" idx="3"/>
            <a:endCxn id="1103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1" name="Google Shape;1121;p49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2" name="Google Shape;1122;p49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sp>
        <p:nvSpPr>
          <p:cNvPr id="1123" name="Google Shape;1123;p49"/>
          <p:cNvSpPr/>
          <p:nvPr/>
        </p:nvSpPr>
        <p:spPr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/>
          </a:p>
        </p:txBody>
      </p:sp>
      <p:pic>
        <p:nvPicPr>
          <p:cNvPr id="1124" name="Google Shape;112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2225" y="31089"/>
            <a:ext cx="4102641" cy="22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50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 Example</a:t>
            </a:r>
            <a:endParaRPr/>
          </a:p>
        </p:txBody>
      </p:sp>
      <p:sp>
        <p:nvSpPr>
          <p:cNvPr id="1130" name="Google Shape;1130;p50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/>
          </a:p>
        </p:txBody>
      </p:sp>
      <p:sp>
        <p:nvSpPr>
          <p:cNvPr id="1131" name="Google Shape;1131;p50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  </a:t>
            </a:r>
            <a:endParaRPr/>
          </a:p>
        </p:txBody>
      </p:sp>
      <p:sp>
        <p:nvSpPr>
          <p:cNvPr id="1132" name="Google Shape;1132;p50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133" name="Google Shape;1133;p50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134" name="Google Shape;1134;p50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/>
          </a:p>
        </p:txBody>
      </p:sp>
      <p:sp>
        <p:nvSpPr>
          <p:cNvPr id="1135" name="Google Shape;1135;p50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/>
          </a:p>
        </p:txBody>
      </p:sp>
      <p:sp>
        <p:nvSpPr>
          <p:cNvPr id="1136" name="Google Shape;1136;p50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/>
          </a:p>
        </p:txBody>
      </p:sp>
      <p:sp>
        <p:nvSpPr>
          <p:cNvPr id="1137" name="Google Shape;1137;p50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cxnSp>
        <p:nvCxnSpPr>
          <p:cNvPr id="1138" name="Google Shape;1138;p50"/>
          <p:cNvCxnSpPr>
            <a:stCxn id="1130" idx="3"/>
            <a:endCxn id="1136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9" name="Google Shape;1139;p50"/>
          <p:cNvCxnSpPr>
            <a:stCxn id="1136" idx="5"/>
            <a:endCxn id="1135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0" name="Google Shape;1140;p50"/>
          <p:cNvCxnSpPr>
            <a:stCxn id="1136" idx="6"/>
            <a:endCxn id="1134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1" name="Google Shape;1141;p50"/>
          <p:cNvCxnSpPr>
            <a:stCxn id="1134" idx="2"/>
            <a:endCxn id="1135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2" name="Google Shape;1142;p50"/>
          <p:cNvCxnSpPr>
            <a:stCxn id="1135" idx="0"/>
            <a:endCxn id="1130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3" name="Google Shape;1143;p50"/>
          <p:cNvCxnSpPr>
            <a:stCxn id="1130" idx="5"/>
            <a:endCxn id="1134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4" name="Google Shape;1144;p50"/>
          <p:cNvCxnSpPr>
            <a:stCxn id="1131" idx="4"/>
            <a:endCxn id="1134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5" name="Google Shape;1145;p50"/>
          <p:cNvCxnSpPr>
            <a:stCxn id="1130" idx="6"/>
            <a:endCxn id="1131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6" name="Google Shape;1146;p50"/>
          <p:cNvCxnSpPr>
            <a:stCxn id="1132" idx="2"/>
            <a:endCxn id="1131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7" name="Google Shape;1147;p50"/>
          <p:cNvCxnSpPr>
            <a:stCxn id="1131" idx="5"/>
            <a:endCxn id="1137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8" name="Google Shape;1148;p50"/>
          <p:cNvCxnSpPr>
            <a:stCxn id="1132" idx="3"/>
            <a:endCxn id="1137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9" name="Google Shape;1149;p50"/>
          <p:cNvCxnSpPr>
            <a:stCxn id="1132" idx="4"/>
            <a:endCxn id="1133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0" name="Google Shape;1150;p50"/>
          <p:cNvCxnSpPr>
            <a:stCxn id="1133" idx="2"/>
            <a:endCxn id="1134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1" name="Google Shape;1151;p50"/>
          <p:cNvCxnSpPr>
            <a:stCxn id="1137" idx="3"/>
            <a:endCxn id="1134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2" name="Google Shape;1152;p50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3" name="Google Shape;1153;p50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sp>
        <p:nvSpPr>
          <p:cNvPr id="1154" name="Google Shape;1154;p50"/>
          <p:cNvSpPr/>
          <p:nvPr/>
        </p:nvSpPr>
        <p:spPr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/>
          </a:p>
        </p:txBody>
      </p:sp>
      <p:pic>
        <p:nvPicPr>
          <p:cNvPr id="1155" name="Google Shape;1155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2225" y="31089"/>
            <a:ext cx="4102641" cy="22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51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 Example</a:t>
            </a:r>
            <a:endParaRPr/>
          </a:p>
        </p:txBody>
      </p:sp>
      <p:sp>
        <p:nvSpPr>
          <p:cNvPr id="1161" name="Google Shape;1161;p51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/>
          </a:p>
        </p:txBody>
      </p:sp>
      <p:sp>
        <p:nvSpPr>
          <p:cNvPr id="1162" name="Google Shape;1162;p51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  </a:t>
            </a:r>
            <a:endParaRPr/>
          </a:p>
        </p:txBody>
      </p:sp>
      <p:sp>
        <p:nvSpPr>
          <p:cNvPr id="1163" name="Google Shape;1163;p51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164" name="Google Shape;1164;p51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165" name="Google Shape;1165;p51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/>
          </a:p>
        </p:txBody>
      </p:sp>
      <p:sp>
        <p:nvSpPr>
          <p:cNvPr id="1166" name="Google Shape;1166;p51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/>
          </a:p>
        </p:txBody>
      </p:sp>
      <p:sp>
        <p:nvSpPr>
          <p:cNvPr id="1167" name="Google Shape;1167;p51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/>
          </a:p>
        </p:txBody>
      </p:sp>
      <p:sp>
        <p:nvSpPr>
          <p:cNvPr id="1168" name="Google Shape;1168;p51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cxnSp>
        <p:nvCxnSpPr>
          <p:cNvPr id="1169" name="Google Shape;1169;p51"/>
          <p:cNvCxnSpPr>
            <a:stCxn id="1161" idx="3"/>
            <a:endCxn id="1167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0" name="Google Shape;1170;p51"/>
          <p:cNvCxnSpPr>
            <a:stCxn id="1167" idx="5"/>
            <a:endCxn id="1166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1" name="Google Shape;1171;p51"/>
          <p:cNvCxnSpPr>
            <a:stCxn id="1167" idx="6"/>
            <a:endCxn id="1165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2" name="Google Shape;1172;p51"/>
          <p:cNvCxnSpPr>
            <a:stCxn id="1165" idx="2"/>
            <a:endCxn id="1166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3" name="Google Shape;1173;p51"/>
          <p:cNvCxnSpPr>
            <a:stCxn id="1166" idx="0"/>
            <a:endCxn id="1161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4" name="Google Shape;1174;p51"/>
          <p:cNvCxnSpPr>
            <a:stCxn id="1161" idx="5"/>
            <a:endCxn id="1165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5" name="Google Shape;1175;p51"/>
          <p:cNvCxnSpPr>
            <a:stCxn id="1162" idx="4"/>
            <a:endCxn id="1165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6" name="Google Shape;1176;p51"/>
          <p:cNvCxnSpPr>
            <a:stCxn id="1161" idx="6"/>
            <a:endCxn id="1162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7" name="Google Shape;1177;p51"/>
          <p:cNvCxnSpPr>
            <a:stCxn id="1163" idx="2"/>
            <a:endCxn id="1162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8" name="Google Shape;1178;p51"/>
          <p:cNvCxnSpPr>
            <a:stCxn id="1162" idx="5"/>
            <a:endCxn id="1168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9" name="Google Shape;1179;p51"/>
          <p:cNvCxnSpPr>
            <a:stCxn id="1163" idx="3"/>
            <a:endCxn id="1168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0" name="Google Shape;1180;p51"/>
          <p:cNvCxnSpPr>
            <a:stCxn id="1163" idx="4"/>
            <a:endCxn id="1164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1" name="Google Shape;1181;p51"/>
          <p:cNvCxnSpPr>
            <a:stCxn id="1164" idx="2"/>
            <a:endCxn id="1165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2" name="Google Shape;1182;p51"/>
          <p:cNvCxnSpPr>
            <a:stCxn id="1168" idx="3"/>
            <a:endCxn id="1165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3" name="Google Shape;1183;p51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84" name="Google Shape;1184;p51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sp>
        <p:nvSpPr>
          <p:cNvPr id="1185" name="Google Shape;1185;p51"/>
          <p:cNvSpPr/>
          <p:nvPr/>
        </p:nvSpPr>
        <p:spPr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/>
          </a:p>
        </p:txBody>
      </p:sp>
      <p:pic>
        <p:nvPicPr>
          <p:cNvPr id="1186" name="Google Shape;118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2225" y="31089"/>
            <a:ext cx="4102641" cy="22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52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 Example</a:t>
            </a:r>
            <a:endParaRPr/>
          </a:p>
        </p:txBody>
      </p:sp>
      <p:sp>
        <p:nvSpPr>
          <p:cNvPr id="1192" name="Google Shape;1192;p52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/>
          </a:p>
        </p:txBody>
      </p:sp>
      <p:sp>
        <p:nvSpPr>
          <p:cNvPr id="1193" name="Google Shape;1193;p52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  </a:t>
            </a:r>
            <a:endParaRPr/>
          </a:p>
        </p:txBody>
      </p:sp>
      <p:sp>
        <p:nvSpPr>
          <p:cNvPr id="1194" name="Google Shape;1194;p52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195" name="Google Shape;1195;p52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196" name="Google Shape;1196;p52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/>
          </a:p>
        </p:txBody>
      </p:sp>
      <p:sp>
        <p:nvSpPr>
          <p:cNvPr id="1197" name="Google Shape;1197;p52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/>
          </a:p>
        </p:txBody>
      </p:sp>
      <p:sp>
        <p:nvSpPr>
          <p:cNvPr id="1198" name="Google Shape;1198;p52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/>
          </a:p>
        </p:txBody>
      </p:sp>
      <p:sp>
        <p:nvSpPr>
          <p:cNvPr id="1199" name="Google Shape;1199;p52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  </a:t>
            </a:r>
            <a:endParaRPr/>
          </a:p>
        </p:txBody>
      </p:sp>
      <p:cxnSp>
        <p:nvCxnSpPr>
          <p:cNvPr id="1200" name="Google Shape;1200;p52"/>
          <p:cNvCxnSpPr>
            <a:stCxn id="1192" idx="3"/>
            <a:endCxn id="1198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1" name="Google Shape;1201;p52"/>
          <p:cNvCxnSpPr>
            <a:stCxn id="1198" idx="5"/>
            <a:endCxn id="1197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2" name="Google Shape;1202;p52"/>
          <p:cNvCxnSpPr>
            <a:stCxn id="1198" idx="6"/>
            <a:endCxn id="1196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3" name="Google Shape;1203;p52"/>
          <p:cNvCxnSpPr>
            <a:stCxn id="1196" idx="2"/>
            <a:endCxn id="1197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4" name="Google Shape;1204;p52"/>
          <p:cNvCxnSpPr>
            <a:stCxn id="1197" idx="0"/>
            <a:endCxn id="1192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5" name="Google Shape;1205;p52"/>
          <p:cNvCxnSpPr>
            <a:stCxn id="1192" idx="5"/>
            <a:endCxn id="1196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6" name="Google Shape;1206;p52"/>
          <p:cNvCxnSpPr>
            <a:stCxn id="1193" idx="4"/>
            <a:endCxn id="1196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7" name="Google Shape;1207;p52"/>
          <p:cNvCxnSpPr>
            <a:stCxn id="1192" idx="6"/>
            <a:endCxn id="1193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8" name="Google Shape;1208;p52"/>
          <p:cNvCxnSpPr>
            <a:stCxn id="1194" idx="2"/>
            <a:endCxn id="1193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9" name="Google Shape;1209;p52"/>
          <p:cNvCxnSpPr>
            <a:stCxn id="1193" idx="5"/>
            <a:endCxn id="1199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0" name="Google Shape;1210;p52"/>
          <p:cNvCxnSpPr>
            <a:stCxn id="1194" idx="3"/>
            <a:endCxn id="1199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1" name="Google Shape;1211;p52"/>
          <p:cNvCxnSpPr>
            <a:stCxn id="1194" idx="4"/>
            <a:endCxn id="1195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2" name="Google Shape;1212;p52"/>
          <p:cNvCxnSpPr>
            <a:stCxn id="1195" idx="2"/>
            <a:endCxn id="1196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3" name="Google Shape;1213;p52"/>
          <p:cNvCxnSpPr>
            <a:stCxn id="1199" idx="3"/>
            <a:endCxn id="1196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4" name="Google Shape;1214;p52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5" name="Google Shape;1215;p52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sp>
        <p:nvSpPr>
          <p:cNvPr id="1216" name="Google Shape;1216;p52"/>
          <p:cNvSpPr/>
          <p:nvPr/>
        </p:nvSpPr>
        <p:spPr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/>
          </a:p>
        </p:txBody>
      </p:sp>
      <p:pic>
        <p:nvPicPr>
          <p:cNvPr id="1217" name="Google Shape;121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2225" y="31089"/>
            <a:ext cx="4102641" cy="22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53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 Example</a:t>
            </a:r>
            <a:endParaRPr/>
          </a:p>
        </p:txBody>
      </p:sp>
      <p:sp>
        <p:nvSpPr>
          <p:cNvPr id="1223" name="Google Shape;1223;p53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/>
          </a:p>
        </p:txBody>
      </p:sp>
      <p:sp>
        <p:nvSpPr>
          <p:cNvPr id="1224" name="Google Shape;1224;p53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  </a:t>
            </a:r>
            <a:endParaRPr/>
          </a:p>
        </p:txBody>
      </p:sp>
      <p:sp>
        <p:nvSpPr>
          <p:cNvPr id="1225" name="Google Shape;1225;p53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226" name="Google Shape;1226;p53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227" name="Google Shape;1227;p53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/>
          </a:p>
        </p:txBody>
      </p:sp>
      <p:sp>
        <p:nvSpPr>
          <p:cNvPr id="1228" name="Google Shape;1228;p53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/>
          </a:p>
        </p:txBody>
      </p:sp>
      <p:sp>
        <p:nvSpPr>
          <p:cNvPr id="1229" name="Google Shape;1229;p53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/>
          </a:p>
        </p:txBody>
      </p:sp>
      <p:sp>
        <p:nvSpPr>
          <p:cNvPr id="1230" name="Google Shape;1230;p53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|10</a:t>
            </a:r>
            <a:endParaRPr/>
          </a:p>
        </p:txBody>
      </p:sp>
      <p:cxnSp>
        <p:nvCxnSpPr>
          <p:cNvPr id="1231" name="Google Shape;1231;p53"/>
          <p:cNvCxnSpPr>
            <a:stCxn id="1223" idx="3"/>
            <a:endCxn id="1229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2" name="Google Shape;1232;p53"/>
          <p:cNvCxnSpPr>
            <a:stCxn id="1229" idx="5"/>
            <a:endCxn id="1228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3" name="Google Shape;1233;p53"/>
          <p:cNvCxnSpPr>
            <a:stCxn id="1229" idx="6"/>
            <a:endCxn id="1227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4" name="Google Shape;1234;p53"/>
          <p:cNvCxnSpPr>
            <a:stCxn id="1227" idx="2"/>
            <a:endCxn id="1228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5" name="Google Shape;1235;p53"/>
          <p:cNvCxnSpPr>
            <a:stCxn id="1228" idx="0"/>
            <a:endCxn id="1223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6" name="Google Shape;1236;p53"/>
          <p:cNvCxnSpPr>
            <a:stCxn id="1223" idx="5"/>
            <a:endCxn id="1227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7" name="Google Shape;1237;p53"/>
          <p:cNvCxnSpPr>
            <a:stCxn id="1224" idx="4"/>
            <a:endCxn id="1227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8" name="Google Shape;1238;p53"/>
          <p:cNvCxnSpPr>
            <a:stCxn id="1223" idx="6"/>
            <a:endCxn id="1224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9" name="Google Shape;1239;p53"/>
          <p:cNvCxnSpPr>
            <a:stCxn id="1225" idx="2"/>
            <a:endCxn id="1224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0" name="Google Shape;1240;p53"/>
          <p:cNvCxnSpPr>
            <a:stCxn id="1224" idx="5"/>
            <a:endCxn id="1230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1" name="Google Shape;1241;p53"/>
          <p:cNvCxnSpPr>
            <a:stCxn id="1225" idx="3"/>
            <a:endCxn id="1230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2" name="Google Shape;1242;p53"/>
          <p:cNvCxnSpPr>
            <a:stCxn id="1225" idx="4"/>
            <a:endCxn id="1226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3" name="Google Shape;1243;p53"/>
          <p:cNvCxnSpPr>
            <a:stCxn id="1226" idx="2"/>
            <a:endCxn id="1227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4" name="Google Shape;1244;p53"/>
          <p:cNvCxnSpPr>
            <a:stCxn id="1230" idx="3"/>
            <a:endCxn id="1227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5" name="Google Shape;1245;p53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46" name="Google Shape;1246;p53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sp>
        <p:nvSpPr>
          <p:cNvPr id="1247" name="Google Shape;1247;p53"/>
          <p:cNvSpPr/>
          <p:nvPr/>
        </p:nvSpPr>
        <p:spPr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/>
          </a:p>
        </p:txBody>
      </p:sp>
      <p:pic>
        <p:nvPicPr>
          <p:cNvPr id="1248" name="Google Shape;124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2225" y="31089"/>
            <a:ext cx="4102641" cy="22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54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 Example</a:t>
            </a:r>
            <a:endParaRPr/>
          </a:p>
        </p:txBody>
      </p:sp>
      <p:sp>
        <p:nvSpPr>
          <p:cNvPr id="1254" name="Google Shape;1254;p54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/>
          </a:p>
        </p:txBody>
      </p:sp>
      <p:sp>
        <p:nvSpPr>
          <p:cNvPr id="1255" name="Google Shape;1255;p54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|11</a:t>
            </a:r>
            <a:endParaRPr/>
          </a:p>
        </p:txBody>
      </p:sp>
      <p:sp>
        <p:nvSpPr>
          <p:cNvPr id="1256" name="Google Shape;1256;p54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257" name="Google Shape;1257;p54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258" name="Google Shape;1258;p54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/>
          </a:p>
        </p:txBody>
      </p:sp>
      <p:sp>
        <p:nvSpPr>
          <p:cNvPr id="1259" name="Google Shape;1259;p54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/>
          </a:p>
        </p:txBody>
      </p:sp>
      <p:sp>
        <p:nvSpPr>
          <p:cNvPr id="1260" name="Google Shape;1260;p54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/>
          </a:p>
        </p:txBody>
      </p:sp>
      <p:sp>
        <p:nvSpPr>
          <p:cNvPr id="1261" name="Google Shape;1261;p54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|10</a:t>
            </a:r>
            <a:endParaRPr/>
          </a:p>
        </p:txBody>
      </p:sp>
      <p:cxnSp>
        <p:nvCxnSpPr>
          <p:cNvPr id="1262" name="Google Shape;1262;p54"/>
          <p:cNvCxnSpPr>
            <a:stCxn id="1254" idx="3"/>
            <a:endCxn id="1260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3" name="Google Shape;1263;p54"/>
          <p:cNvCxnSpPr>
            <a:stCxn id="1260" idx="5"/>
            <a:endCxn id="1259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4" name="Google Shape;1264;p54"/>
          <p:cNvCxnSpPr>
            <a:stCxn id="1260" idx="6"/>
            <a:endCxn id="1258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5" name="Google Shape;1265;p54"/>
          <p:cNvCxnSpPr>
            <a:stCxn id="1258" idx="2"/>
            <a:endCxn id="1259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6" name="Google Shape;1266;p54"/>
          <p:cNvCxnSpPr>
            <a:stCxn id="1259" idx="0"/>
            <a:endCxn id="1254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7" name="Google Shape;1267;p54"/>
          <p:cNvCxnSpPr>
            <a:stCxn id="1254" idx="5"/>
            <a:endCxn id="1258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8" name="Google Shape;1268;p54"/>
          <p:cNvCxnSpPr>
            <a:stCxn id="1255" idx="4"/>
            <a:endCxn id="1258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9" name="Google Shape;1269;p54"/>
          <p:cNvCxnSpPr>
            <a:stCxn id="1254" idx="6"/>
            <a:endCxn id="1255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0" name="Google Shape;1270;p54"/>
          <p:cNvCxnSpPr>
            <a:stCxn id="1256" idx="2"/>
            <a:endCxn id="1255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1" name="Google Shape;1271;p54"/>
          <p:cNvCxnSpPr>
            <a:stCxn id="1255" idx="5"/>
            <a:endCxn id="1261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2" name="Google Shape;1272;p54"/>
          <p:cNvCxnSpPr>
            <a:stCxn id="1256" idx="3"/>
            <a:endCxn id="1261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3" name="Google Shape;1273;p54"/>
          <p:cNvCxnSpPr>
            <a:stCxn id="1256" idx="4"/>
            <a:endCxn id="1257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4" name="Google Shape;1274;p54"/>
          <p:cNvCxnSpPr>
            <a:stCxn id="1257" idx="2"/>
            <a:endCxn id="1258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5" name="Google Shape;1275;p54"/>
          <p:cNvCxnSpPr>
            <a:stCxn id="1261" idx="3"/>
            <a:endCxn id="1258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6" name="Google Shape;1276;p54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7" name="Google Shape;1277;p54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sp>
        <p:nvSpPr>
          <p:cNvPr id="1278" name="Google Shape;1278;p54"/>
          <p:cNvSpPr/>
          <p:nvPr/>
        </p:nvSpPr>
        <p:spPr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/>
          </a:p>
        </p:txBody>
      </p:sp>
      <p:pic>
        <p:nvPicPr>
          <p:cNvPr id="1279" name="Google Shape;1279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2225" y="31089"/>
            <a:ext cx="4102641" cy="22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55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 Example</a:t>
            </a:r>
            <a:endParaRPr/>
          </a:p>
        </p:txBody>
      </p:sp>
      <p:sp>
        <p:nvSpPr>
          <p:cNvPr id="1285" name="Google Shape;1285;p55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|12</a:t>
            </a:r>
            <a:endParaRPr/>
          </a:p>
        </p:txBody>
      </p:sp>
      <p:sp>
        <p:nvSpPr>
          <p:cNvPr id="1286" name="Google Shape;1286;p55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|11</a:t>
            </a:r>
            <a:endParaRPr/>
          </a:p>
        </p:txBody>
      </p:sp>
      <p:sp>
        <p:nvSpPr>
          <p:cNvPr id="1287" name="Google Shape;1287;p55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288" name="Google Shape;1288;p55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289" name="Google Shape;1289;p55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/>
          </a:p>
        </p:txBody>
      </p:sp>
      <p:sp>
        <p:nvSpPr>
          <p:cNvPr id="1290" name="Google Shape;1290;p55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/>
          </a:p>
        </p:txBody>
      </p:sp>
      <p:sp>
        <p:nvSpPr>
          <p:cNvPr id="1291" name="Google Shape;1291;p55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/>
          </a:p>
        </p:txBody>
      </p:sp>
      <p:sp>
        <p:nvSpPr>
          <p:cNvPr id="1292" name="Google Shape;1292;p55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|10</a:t>
            </a:r>
            <a:endParaRPr/>
          </a:p>
        </p:txBody>
      </p:sp>
      <p:cxnSp>
        <p:nvCxnSpPr>
          <p:cNvPr id="1293" name="Google Shape;1293;p55"/>
          <p:cNvCxnSpPr>
            <a:stCxn id="1285" idx="3"/>
            <a:endCxn id="1291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4" name="Google Shape;1294;p55"/>
          <p:cNvCxnSpPr>
            <a:stCxn id="1291" idx="5"/>
            <a:endCxn id="1290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5" name="Google Shape;1295;p55"/>
          <p:cNvCxnSpPr>
            <a:stCxn id="1291" idx="6"/>
            <a:endCxn id="1289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6" name="Google Shape;1296;p55"/>
          <p:cNvCxnSpPr>
            <a:stCxn id="1289" idx="2"/>
            <a:endCxn id="1290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7" name="Google Shape;1297;p55"/>
          <p:cNvCxnSpPr>
            <a:stCxn id="1290" idx="0"/>
            <a:endCxn id="1285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8" name="Google Shape;1298;p55"/>
          <p:cNvCxnSpPr>
            <a:stCxn id="1285" idx="5"/>
            <a:endCxn id="1289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9" name="Google Shape;1299;p55"/>
          <p:cNvCxnSpPr>
            <a:stCxn id="1286" idx="4"/>
            <a:endCxn id="1289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0" name="Google Shape;1300;p55"/>
          <p:cNvCxnSpPr>
            <a:stCxn id="1285" idx="6"/>
            <a:endCxn id="1286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1" name="Google Shape;1301;p55"/>
          <p:cNvCxnSpPr>
            <a:stCxn id="1287" idx="2"/>
            <a:endCxn id="1286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2" name="Google Shape;1302;p55"/>
          <p:cNvCxnSpPr>
            <a:stCxn id="1286" idx="5"/>
            <a:endCxn id="1292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3" name="Google Shape;1303;p55"/>
          <p:cNvCxnSpPr>
            <a:stCxn id="1287" idx="3"/>
            <a:endCxn id="1292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4" name="Google Shape;1304;p55"/>
          <p:cNvCxnSpPr>
            <a:stCxn id="1287" idx="4"/>
            <a:endCxn id="1288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5" name="Google Shape;1305;p55"/>
          <p:cNvCxnSpPr>
            <a:stCxn id="1288" idx="2"/>
            <a:endCxn id="1289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6" name="Google Shape;1306;p55"/>
          <p:cNvCxnSpPr>
            <a:stCxn id="1292" idx="3"/>
            <a:endCxn id="1289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7" name="Google Shape;1307;p55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8" name="Google Shape;1308;p55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sp>
        <p:nvSpPr>
          <p:cNvPr id="1309" name="Google Shape;1309;p55"/>
          <p:cNvSpPr/>
          <p:nvPr/>
        </p:nvSpPr>
        <p:spPr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/>
          </a:p>
        </p:txBody>
      </p:sp>
      <p:pic>
        <p:nvPicPr>
          <p:cNvPr id="1310" name="Google Shape;13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2225" y="31089"/>
            <a:ext cx="4102641" cy="22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56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 Example</a:t>
            </a:r>
            <a:endParaRPr/>
          </a:p>
        </p:txBody>
      </p:sp>
      <p:sp>
        <p:nvSpPr>
          <p:cNvPr id="1316" name="Google Shape;1316;p56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|12</a:t>
            </a:r>
            <a:endParaRPr/>
          </a:p>
        </p:txBody>
      </p:sp>
      <p:sp>
        <p:nvSpPr>
          <p:cNvPr id="1317" name="Google Shape;1317;p56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|11</a:t>
            </a:r>
            <a:endParaRPr/>
          </a:p>
        </p:txBody>
      </p:sp>
      <p:sp>
        <p:nvSpPr>
          <p:cNvPr id="1318" name="Google Shape;1318;p56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13|  </a:t>
            </a:r>
            <a:endParaRPr/>
          </a:p>
        </p:txBody>
      </p:sp>
      <p:sp>
        <p:nvSpPr>
          <p:cNvPr id="1319" name="Google Shape;1319;p56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320" name="Google Shape;1320;p56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/>
          </a:p>
        </p:txBody>
      </p:sp>
      <p:sp>
        <p:nvSpPr>
          <p:cNvPr id="1321" name="Google Shape;1321;p56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/>
          </a:p>
        </p:txBody>
      </p:sp>
      <p:sp>
        <p:nvSpPr>
          <p:cNvPr id="1322" name="Google Shape;1322;p56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/>
          </a:p>
        </p:txBody>
      </p:sp>
      <p:sp>
        <p:nvSpPr>
          <p:cNvPr id="1323" name="Google Shape;1323;p56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|10</a:t>
            </a:r>
            <a:endParaRPr/>
          </a:p>
        </p:txBody>
      </p:sp>
      <p:cxnSp>
        <p:nvCxnSpPr>
          <p:cNvPr id="1324" name="Google Shape;1324;p56"/>
          <p:cNvCxnSpPr>
            <a:stCxn id="1316" idx="3"/>
            <a:endCxn id="1322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5" name="Google Shape;1325;p56"/>
          <p:cNvCxnSpPr>
            <a:stCxn id="1322" idx="5"/>
            <a:endCxn id="1321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6" name="Google Shape;1326;p56"/>
          <p:cNvCxnSpPr>
            <a:stCxn id="1322" idx="6"/>
            <a:endCxn id="1320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7" name="Google Shape;1327;p56"/>
          <p:cNvCxnSpPr>
            <a:stCxn id="1320" idx="2"/>
            <a:endCxn id="1321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8" name="Google Shape;1328;p56"/>
          <p:cNvCxnSpPr>
            <a:stCxn id="1321" idx="0"/>
            <a:endCxn id="1316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9" name="Google Shape;1329;p56"/>
          <p:cNvCxnSpPr>
            <a:stCxn id="1316" idx="5"/>
            <a:endCxn id="1320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0" name="Google Shape;1330;p56"/>
          <p:cNvCxnSpPr>
            <a:stCxn id="1317" idx="4"/>
            <a:endCxn id="1320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1" name="Google Shape;1331;p56"/>
          <p:cNvCxnSpPr>
            <a:stCxn id="1316" idx="6"/>
            <a:endCxn id="1317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2" name="Google Shape;1332;p56"/>
          <p:cNvCxnSpPr>
            <a:stCxn id="1318" idx="2"/>
            <a:endCxn id="1317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3" name="Google Shape;1333;p56"/>
          <p:cNvCxnSpPr>
            <a:stCxn id="1317" idx="5"/>
            <a:endCxn id="1323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4" name="Google Shape;1334;p56"/>
          <p:cNvCxnSpPr>
            <a:stCxn id="1318" idx="3"/>
            <a:endCxn id="1323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5" name="Google Shape;1335;p56"/>
          <p:cNvCxnSpPr>
            <a:stCxn id="1318" idx="4"/>
            <a:endCxn id="1319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6" name="Google Shape;1336;p56"/>
          <p:cNvCxnSpPr>
            <a:stCxn id="1319" idx="2"/>
            <a:endCxn id="1320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7" name="Google Shape;1337;p56"/>
          <p:cNvCxnSpPr>
            <a:stCxn id="1323" idx="3"/>
            <a:endCxn id="1320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8" name="Google Shape;1338;p56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9" name="Google Shape;1339;p56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sp>
        <p:nvSpPr>
          <p:cNvPr id="1340" name="Google Shape;1340;p56"/>
          <p:cNvSpPr/>
          <p:nvPr/>
        </p:nvSpPr>
        <p:spPr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/>
          </a:p>
        </p:txBody>
      </p:sp>
      <p:pic>
        <p:nvPicPr>
          <p:cNvPr id="1341" name="Google Shape;134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2225" y="31089"/>
            <a:ext cx="4102641" cy="22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57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 Example</a:t>
            </a:r>
            <a:endParaRPr/>
          </a:p>
        </p:txBody>
      </p:sp>
      <p:sp>
        <p:nvSpPr>
          <p:cNvPr id="1347" name="Google Shape;1347;p57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|12</a:t>
            </a:r>
            <a:endParaRPr/>
          </a:p>
        </p:txBody>
      </p:sp>
      <p:sp>
        <p:nvSpPr>
          <p:cNvPr id="1348" name="Google Shape;1348;p57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|11</a:t>
            </a:r>
            <a:endParaRPr/>
          </a:p>
        </p:txBody>
      </p:sp>
      <p:sp>
        <p:nvSpPr>
          <p:cNvPr id="1349" name="Google Shape;1349;p57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13|  </a:t>
            </a:r>
            <a:endParaRPr/>
          </a:p>
        </p:txBody>
      </p:sp>
      <p:sp>
        <p:nvSpPr>
          <p:cNvPr id="1350" name="Google Shape;1350;p57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14|  </a:t>
            </a:r>
            <a:endParaRPr/>
          </a:p>
        </p:txBody>
      </p:sp>
      <p:sp>
        <p:nvSpPr>
          <p:cNvPr id="1351" name="Google Shape;1351;p57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/>
          </a:p>
        </p:txBody>
      </p:sp>
      <p:sp>
        <p:nvSpPr>
          <p:cNvPr id="1352" name="Google Shape;1352;p57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/>
          </a:p>
        </p:txBody>
      </p:sp>
      <p:sp>
        <p:nvSpPr>
          <p:cNvPr id="1353" name="Google Shape;1353;p57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/>
          </a:p>
        </p:txBody>
      </p:sp>
      <p:sp>
        <p:nvSpPr>
          <p:cNvPr id="1354" name="Google Shape;1354;p57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|10</a:t>
            </a:r>
            <a:endParaRPr/>
          </a:p>
        </p:txBody>
      </p:sp>
      <p:cxnSp>
        <p:nvCxnSpPr>
          <p:cNvPr id="1355" name="Google Shape;1355;p57"/>
          <p:cNvCxnSpPr>
            <a:stCxn id="1347" idx="3"/>
            <a:endCxn id="1353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6" name="Google Shape;1356;p57"/>
          <p:cNvCxnSpPr>
            <a:stCxn id="1353" idx="5"/>
            <a:endCxn id="1352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7" name="Google Shape;1357;p57"/>
          <p:cNvCxnSpPr>
            <a:stCxn id="1353" idx="6"/>
            <a:endCxn id="1351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8" name="Google Shape;1358;p57"/>
          <p:cNvCxnSpPr>
            <a:stCxn id="1351" idx="2"/>
            <a:endCxn id="1352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9" name="Google Shape;1359;p57"/>
          <p:cNvCxnSpPr>
            <a:stCxn id="1352" idx="0"/>
            <a:endCxn id="1347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0" name="Google Shape;1360;p57"/>
          <p:cNvCxnSpPr>
            <a:stCxn id="1347" idx="5"/>
            <a:endCxn id="1351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1" name="Google Shape;1361;p57"/>
          <p:cNvCxnSpPr>
            <a:stCxn id="1348" idx="4"/>
            <a:endCxn id="1351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2" name="Google Shape;1362;p57"/>
          <p:cNvCxnSpPr>
            <a:stCxn id="1347" idx="6"/>
            <a:endCxn id="1348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3" name="Google Shape;1363;p57"/>
          <p:cNvCxnSpPr>
            <a:stCxn id="1349" idx="2"/>
            <a:endCxn id="1348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4" name="Google Shape;1364;p57"/>
          <p:cNvCxnSpPr>
            <a:stCxn id="1348" idx="5"/>
            <a:endCxn id="1354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5" name="Google Shape;1365;p57"/>
          <p:cNvCxnSpPr>
            <a:stCxn id="1349" idx="3"/>
            <a:endCxn id="1354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6" name="Google Shape;1366;p57"/>
          <p:cNvCxnSpPr>
            <a:stCxn id="1349" idx="4"/>
            <a:endCxn id="1350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7" name="Google Shape;1367;p57"/>
          <p:cNvCxnSpPr>
            <a:stCxn id="1350" idx="2"/>
            <a:endCxn id="1351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8" name="Google Shape;1368;p57"/>
          <p:cNvCxnSpPr>
            <a:stCxn id="1354" idx="3"/>
            <a:endCxn id="1351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69" name="Google Shape;1369;p57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0" name="Google Shape;1370;p57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sp>
        <p:nvSpPr>
          <p:cNvPr id="1371" name="Google Shape;1371;p57"/>
          <p:cNvSpPr/>
          <p:nvPr/>
        </p:nvSpPr>
        <p:spPr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/>
          </a:p>
        </p:txBody>
      </p:sp>
      <p:pic>
        <p:nvPicPr>
          <p:cNvPr id="1372" name="Google Shape;137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2225" y="31089"/>
            <a:ext cx="4102641" cy="22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58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 Example</a:t>
            </a:r>
            <a:endParaRPr/>
          </a:p>
        </p:txBody>
      </p:sp>
      <p:sp>
        <p:nvSpPr>
          <p:cNvPr id="1378" name="Google Shape;1378;p58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|12</a:t>
            </a:r>
            <a:endParaRPr/>
          </a:p>
        </p:txBody>
      </p:sp>
      <p:sp>
        <p:nvSpPr>
          <p:cNvPr id="1379" name="Google Shape;1379;p58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|11</a:t>
            </a:r>
            <a:endParaRPr/>
          </a:p>
        </p:txBody>
      </p:sp>
      <p:sp>
        <p:nvSpPr>
          <p:cNvPr id="1380" name="Google Shape;1380;p58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13|  </a:t>
            </a:r>
            <a:endParaRPr/>
          </a:p>
        </p:txBody>
      </p:sp>
      <p:sp>
        <p:nvSpPr>
          <p:cNvPr id="1381" name="Google Shape;1381;p58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14|15</a:t>
            </a:r>
            <a:endParaRPr/>
          </a:p>
        </p:txBody>
      </p:sp>
      <p:sp>
        <p:nvSpPr>
          <p:cNvPr id="1382" name="Google Shape;1382;p58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/>
          </a:p>
        </p:txBody>
      </p:sp>
      <p:sp>
        <p:nvSpPr>
          <p:cNvPr id="1383" name="Google Shape;1383;p58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/>
          </a:p>
        </p:txBody>
      </p:sp>
      <p:sp>
        <p:nvSpPr>
          <p:cNvPr id="1384" name="Google Shape;1384;p58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/>
          </a:p>
        </p:txBody>
      </p:sp>
      <p:sp>
        <p:nvSpPr>
          <p:cNvPr id="1385" name="Google Shape;1385;p58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|10</a:t>
            </a:r>
            <a:endParaRPr/>
          </a:p>
        </p:txBody>
      </p:sp>
      <p:cxnSp>
        <p:nvCxnSpPr>
          <p:cNvPr id="1386" name="Google Shape;1386;p58"/>
          <p:cNvCxnSpPr>
            <a:stCxn id="1378" idx="3"/>
            <a:endCxn id="1384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7" name="Google Shape;1387;p58"/>
          <p:cNvCxnSpPr>
            <a:stCxn id="1384" idx="5"/>
            <a:endCxn id="1383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8" name="Google Shape;1388;p58"/>
          <p:cNvCxnSpPr>
            <a:stCxn id="1384" idx="6"/>
            <a:endCxn id="1382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9" name="Google Shape;1389;p58"/>
          <p:cNvCxnSpPr>
            <a:stCxn id="1382" idx="2"/>
            <a:endCxn id="1383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0" name="Google Shape;1390;p58"/>
          <p:cNvCxnSpPr>
            <a:stCxn id="1383" idx="0"/>
            <a:endCxn id="1378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1" name="Google Shape;1391;p58"/>
          <p:cNvCxnSpPr>
            <a:stCxn id="1378" idx="5"/>
            <a:endCxn id="1382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2" name="Google Shape;1392;p58"/>
          <p:cNvCxnSpPr>
            <a:stCxn id="1379" idx="4"/>
            <a:endCxn id="1382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3" name="Google Shape;1393;p58"/>
          <p:cNvCxnSpPr>
            <a:stCxn id="1378" idx="6"/>
            <a:endCxn id="1379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4" name="Google Shape;1394;p58"/>
          <p:cNvCxnSpPr>
            <a:stCxn id="1380" idx="2"/>
            <a:endCxn id="1379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5" name="Google Shape;1395;p58"/>
          <p:cNvCxnSpPr>
            <a:stCxn id="1379" idx="5"/>
            <a:endCxn id="1385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6" name="Google Shape;1396;p58"/>
          <p:cNvCxnSpPr>
            <a:stCxn id="1380" idx="3"/>
            <a:endCxn id="1385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7" name="Google Shape;1397;p58"/>
          <p:cNvCxnSpPr>
            <a:stCxn id="1380" idx="4"/>
            <a:endCxn id="1381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8" name="Google Shape;1398;p58"/>
          <p:cNvCxnSpPr>
            <a:stCxn id="1381" idx="2"/>
            <a:endCxn id="1382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9" name="Google Shape;1399;p58"/>
          <p:cNvCxnSpPr>
            <a:stCxn id="1385" idx="3"/>
            <a:endCxn id="1382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0" name="Google Shape;1400;p58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1" name="Google Shape;1401;p58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sp>
        <p:nvSpPr>
          <p:cNvPr id="1402" name="Google Shape;1402;p58"/>
          <p:cNvSpPr/>
          <p:nvPr/>
        </p:nvSpPr>
        <p:spPr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/>
          </a:p>
        </p:txBody>
      </p:sp>
      <p:pic>
        <p:nvPicPr>
          <p:cNvPr id="1403" name="Google Shape;140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2225" y="31089"/>
            <a:ext cx="4102641" cy="22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59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 Example</a:t>
            </a:r>
            <a:endParaRPr/>
          </a:p>
        </p:txBody>
      </p:sp>
      <p:sp>
        <p:nvSpPr>
          <p:cNvPr id="1409" name="Google Shape;1409;p59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|12</a:t>
            </a:r>
            <a:endParaRPr/>
          </a:p>
        </p:txBody>
      </p:sp>
      <p:sp>
        <p:nvSpPr>
          <p:cNvPr id="1410" name="Google Shape;1410;p59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|11</a:t>
            </a:r>
            <a:endParaRPr/>
          </a:p>
        </p:txBody>
      </p:sp>
      <p:sp>
        <p:nvSpPr>
          <p:cNvPr id="1411" name="Google Shape;1411;p59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13|16</a:t>
            </a:r>
            <a:endParaRPr/>
          </a:p>
        </p:txBody>
      </p:sp>
      <p:sp>
        <p:nvSpPr>
          <p:cNvPr id="1412" name="Google Shape;1412;p59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14|15</a:t>
            </a:r>
            <a:endParaRPr/>
          </a:p>
        </p:txBody>
      </p:sp>
      <p:sp>
        <p:nvSpPr>
          <p:cNvPr id="1413" name="Google Shape;1413;p59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/>
          </a:p>
        </p:txBody>
      </p:sp>
      <p:sp>
        <p:nvSpPr>
          <p:cNvPr id="1414" name="Google Shape;1414;p59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/>
          </a:p>
        </p:txBody>
      </p:sp>
      <p:sp>
        <p:nvSpPr>
          <p:cNvPr id="1415" name="Google Shape;1415;p59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/>
          </a:p>
        </p:txBody>
      </p:sp>
      <p:sp>
        <p:nvSpPr>
          <p:cNvPr id="1416" name="Google Shape;1416;p59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|10</a:t>
            </a:r>
            <a:endParaRPr/>
          </a:p>
        </p:txBody>
      </p:sp>
      <p:cxnSp>
        <p:nvCxnSpPr>
          <p:cNvPr id="1417" name="Google Shape;1417;p59"/>
          <p:cNvCxnSpPr>
            <a:stCxn id="1409" idx="3"/>
            <a:endCxn id="1415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8" name="Google Shape;1418;p59"/>
          <p:cNvCxnSpPr>
            <a:stCxn id="1415" idx="5"/>
            <a:endCxn id="1414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9" name="Google Shape;1419;p59"/>
          <p:cNvCxnSpPr>
            <a:stCxn id="1415" idx="6"/>
            <a:endCxn id="1413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0" name="Google Shape;1420;p59"/>
          <p:cNvCxnSpPr>
            <a:stCxn id="1413" idx="2"/>
            <a:endCxn id="1414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1" name="Google Shape;1421;p59"/>
          <p:cNvCxnSpPr>
            <a:stCxn id="1414" idx="0"/>
            <a:endCxn id="1409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2" name="Google Shape;1422;p59"/>
          <p:cNvCxnSpPr>
            <a:stCxn id="1409" idx="5"/>
            <a:endCxn id="1413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3" name="Google Shape;1423;p59"/>
          <p:cNvCxnSpPr>
            <a:stCxn id="1410" idx="4"/>
            <a:endCxn id="1413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4" name="Google Shape;1424;p59"/>
          <p:cNvCxnSpPr>
            <a:stCxn id="1409" idx="6"/>
            <a:endCxn id="1410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5" name="Google Shape;1425;p59"/>
          <p:cNvCxnSpPr>
            <a:stCxn id="1411" idx="2"/>
            <a:endCxn id="1410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6" name="Google Shape;1426;p59"/>
          <p:cNvCxnSpPr>
            <a:stCxn id="1410" idx="5"/>
            <a:endCxn id="1416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7" name="Google Shape;1427;p59"/>
          <p:cNvCxnSpPr>
            <a:stCxn id="1411" idx="3"/>
            <a:endCxn id="1416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8" name="Google Shape;1428;p59"/>
          <p:cNvCxnSpPr>
            <a:stCxn id="1411" idx="4"/>
            <a:endCxn id="1412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9" name="Google Shape;1429;p59"/>
          <p:cNvCxnSpPr>
            <a:stCxn id="1412" idx="2"/>
            <a:endCxn id="1413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0" name="Google Shape;1430;p59"/>
          <p:cNvCxnSpPr>
            <a:stCxn id="1416" idx="3"/>
            <a:endCxn id="1413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1" name="Google Shape;1431;p59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2" name="Google Shape;1432;p59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sp>
        <p:nvSpPr>
          <p:cNvPr id="1433" name="Google Shape;1433;p59"/>
          <p:cNvSpPr/>
          <p:nvPr/>
        </p:nvSpPr>
        <p:spPr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/>
          </a:p>
        </p:txBody>
      </p:sp>
      <p:pic>
        <p:nvPicPr>
          <p:cNvPr id="1434" name="Google Shape;143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1359" y="12617"/>
            <a:ext cx="4102641" cy="220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60"/>
          <p:cNvSpPr txBox="1"/>
          <p:nvPr>
            <p:ph idx="1" type="body"/>
          </p:nvPr>
        </p:nvSpPr>
        <p:spPr>
          <a:xfrm>
            <a:off x="457200" y="10525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DFS introduces an important distinction among edges in the original graph: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i="1" lang="en-US">
                <a:solidFill>
                  <a:schemeClr val="dk2"/>
                </a:solidFill>
              </a:rPr>
              <a:t>Tree edge</a:t>
            </a:r>
            <a:r>
              <a:rPr lang="en-US"/>
              <a:t>: encounter new (white) vertex </a:t>
            </a:r>
            <a:endParaRPr/>
          </a:p>
          <a:p>
            <a:pPr indent="-228600" lvl="2" marL="1143000" rtl="0" algn="l"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/>
              <a:t>The tree edges form a spanning forest</a:t>
            </a:r>
            <a:endParaRPr/>
          </a:p>
          <a:p>
            <a:pPr indent="-228600" lvl="2" marL="1143000" rtl="0" algn="l"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i="1" lang="en-US">
                <a:solidFill>
                  <a:schemeClr val="accent1"/>
                </a:solidFill>
              </a:rPr>
              <a:t>Can tree edges form cycles?  Why or why not?</a:t>
            </a:r>
            <a:endParaRPr>
              <a:solidFill>
                <a:schemeClr val="accent1"/>
              </a:solidFill>
            </a:endParaRPr>
          </a:p>
          <a:p>
            <a:pPr indent="-186690" lvl="1" marL="742950" rtl="0" algn="l">
              <a:spcBef>
                <a:spcPts val="48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440" name="Google Shape;1440;p60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DFS: Kinds of edges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61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|12</a:t>
            </a:r>
            <a:endParaRPr/>
          </a:p>
        </p:txBody>
      </p:sp>
      <p:sp>
        <p:nvSpPr>
          <p:cNvPr id="1446" name="Google Shape;1446;p61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|11</a:t>
            </a:r>
            <a:endParaRPr/>
          </a:p>
        </p:txBody>
      </p:sp>
      <p:sp>
        <p:nvSpPr>
          <p:cNvPr id="1447" name="Google Shape;1447;p61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13|16</a:t>
            </a:r>
            <a:endParaRPr/>
          </a:p>
        </p:txBody>
      </p:sp>
      <p:sp>
        <p:nvSpPr>
          <p:cNvPr id="1448" name="Google Shape;1448;p61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14|15</a:t>
            </a:r>
            <a:endParaRPr/>
          </a:p>
        </p:txBody>
      </p:sp>
      <p:sp>
        <p:nvSpPr>
          <p:cNvPr id="1449" name="Google Shape;1449;p61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/>
          </a:p>
        </p:txBody>
      </p:sp>
      <p:sp>
        <p:nvSpPr>
          <p:cNvPr id="1450" name="Google Shape;1450;p61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/>
          </a:p>
        </p:txBody>
      </p:sp>
      <p:sp>
        <p:nvSpPr>
          <p:cNvPr id="1451" name="Google Shape;1451;p61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/>
          </a:p>
        </p:txBody>
      </p:sp>
      <p:sp>
        <p:nvSpPr>
          <p:cNvPr id="1452" name="Google Shape;1452;p61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|10</a:t>
            </a:r>
            <a:endParaRPr/>
          </a:p>
        </p:txBody>
      </p:sp>
      <p:cxnSp>
        <p:nvCxnSpPr>
          <p:cNvPr id="1453" name="Google Shape;1453;p61"/>
          <p:cNvCxnSpPr>
            <a:stCxn id="1445" idx="3"/>
            <a:endCxn id="1451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4" name="Google Shape;1454;p61"/>
          <p:cNvCxnSpPr>
            <a:stCxn id="1451" idx="5"/>
            <a:endCxn id="1450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5" name="Google Shape;1455;p61"/>
          <p:cNvCxnSpPr>
            <a:stCxn id="1451" idx="6"/>
            <a:endCxn id="1449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6" name="Google Shape;1456;p61"/>
          <p:cNvCxnSpPr>
            <a:stCxn id="1449" idx="2"/>
            <a:endCxn id="1450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7" name="Google Shape;1457;p61"/>
          <p:cNvCxnSpPr>
            <a:stCxn id="1450" idx="0"/>
            <a:endCxn id="1445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8" name="Google Shape;1458;p61"/>
          <p:cNvCxnSpPr>
            <a:stCxn id="1445" idx="5"/>
            <a:endCxn id="1449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9" name="Google Shape;1459;p61"/>
          <p:cNvCxnSpPr>
            <a:stCxn id="1446" idx="4"/>
            <a:endCxn id="1449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0" name="Google Shape;1460;p61"/>
          <p:cNvCxnSpPr>
            <a:stCxn id="1445" idx="6"/>
            <a:endCxn id="1446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1" name="Google Shape;1461;p61"/>
          <p:cNvCxnSpPr>
            <a:stCxn id="1447" idx="2"/>
            <a:endCxn id="1446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2" name="Google Shape;1462;p61"/>
          <p:cNvCxnSpPr>
            <a:stCxn id="1446" idx="5"/>
            <a:endCxn id="1452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3" name="Google Shape;1463;p61"/>
          <p:cNvCxnSpPr>
            <a:stCxn id="1447" idx="3"/>
            <a:endCxn id="1452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4" name="Google Shape;1464;p61"/>
          <p:cNvCxnSpPr>
            <a:stCxn id="1447" idx="4"/>
            <a:endCxn id="1448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5" name="Google Shape;1465;p61"/>
          <p:cNvCxnSpPr>
            <a:stCxn id="1448" idx="2"/>
            <a:endCxn id="1449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6" name="Google Shape;1466;p61"/>
          <p:cNvCxnSpPr>
            <a:stCxn id="1452" idx="3"/>
            <a:endCxn id="1449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7" name="Google Shape;1467;p61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8" name="Google Shape;1468;p61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sp>
        <p:nvSpPr>
          <p:cNvPr id="1469" name="Google Shape;1469;p61"/>
          <p:cNvSpPr/>
          <p:nvPr/>
        </p:nvSpPr>
        <p:spPr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/>
          </a:p>
        </p:txBody>
      </p:sp>
      <p:sp>
        <p:nvSpPr>
          <p:cNvPr id="1470" name="Google Shape;1470;p61"/>
          <p:cNvSpPr txBox="1"/>
          <p:nvPr/>
        </p:nvSpPr>
        <p:spPr>
          <a:xfrm>
            <a:off x="223838" y="5791200"/>
            <a:ext cx="15287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/>
          </a:p>
        </p:txBody>
      </p:sp>
      <p:sp>
        <p:nvSpPr>
          <p:cNvPr id="1471" name="Google Shape;1471;p61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DFS: Kinds of edges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62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DFS: Kinds of edges</a:t>
            </a:r>
            <a:endParaRPr/>
          </a:p>
        </p:txBody>
      </p:sp>
      <p:sp>
        <p:nvSpPr>
          <p:cNvPr id="1477" name="Google Shape;1477;p62"/>
          <p:cNvSpPr txBox="1"/>
          <p:nvPr>
            <p:ph idx="1" type="body"/>
          </p:nvPr>
        </p:nvSpPr>
        <p:spPr>
          <a:xfrm>
            <a:off x="457200" y="10525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DFS introduces an important distinction among edges in the original graph: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i="1" lang="en-US">
                <a:solidFill>
                  <a:schemeClr val="dk2"/>
                </a:solidFill>
              </a:rPr>
              <a:t>Tree edge</a:t>
            </a:r>
            <a:r>
              <a:rPr lang="en-US"/>
              <a:t>: encounter new (white) vertex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i="1" lang="en-US">
                <a:solidFill>
                  <a:schemeClr val="dk2"/>
                </a:solidFill>
              </a:rPr>
              <a:t>Back edge</a:t>
            </a:r>
            <a:r>
              <a:rPr lang="en-US"/>
              <a:t>: from descendent to ancestor</a:t>
            </a:r>
            <a:endParaRPr/>
          </a:p>
          <a:p>
            <a:pPr indent="-228600" lvl="2" marL="1143000" rtl="0" algn="l"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/>
              <a:t>Encounter a grey vertex (grey to grey)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63"/>
          <p:cNvSpPr txBox="1"/>
          <p:nvPr/>
        </p:nvSpPr>
        <p:spPr>
          <a:xfrm>
            <a:off x="223838" y="5791200"/>
            <a:ext cx="15287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/>
          </a:p>
        </p:txBody>
      </p:sp>
      <p:sp>
        <p:nvSpPr>
          <p:cNvPr id="1483" name="Google Shape;1483;p63"/>
          <p:cNvSpPr txBox="1"/>
          <p:nvPr/>
        </p:nvSpPr>
        <p:spPr>
          <a:xfrm>
            <a:off x="1828800" y="5791200"/>
            <a:ext cx="1597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/>
          </a:p>
        </p:txBody>
      </p:sp>
      <p:sp>
        <p:nvSpPr>
          <p:cNvPr id="1484" name="Google Shape;1484;p63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DFS: Kinds of edges</a:t>
            </a:r>
            <a:endParaRPr/>
          </a:p>
        </p:txBody>
      </p:sp>
      <p:sp>
        <p:nvSpPr>
          <p:cNvPr id="1485" name="Google Shape;1485;p63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/>
          </a:p>
        </p:txBody>
      </p:sp>
      <p:sp>
        <p:nvSpPr>
          <p:cNvPr id="1486" name="Google Shape;1486;p63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487" name="Google Shape;1487;p63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488" name="Google Shape;1488;p63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489" name="Google Shape;1489;p63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endParaRPr/>
          </a:p>
        </p:txBody>
      </p:sp>
      <p:sp>
        <p:nvSpPr>
          <p:cNvPr id="1490" name="Google Shape;1490;p63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 </a:t>
            </a:r>
            <a:endParaRPr/>
          </a:p>
        </p:txBody>
      </p:sp>
      <p:sp>
        <p:nvSpPr>
          <p:cNvPr id="1491" name="Google Shape;1491;p63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 </a:t>
            </a:r>
            <a:endParaRPr/>
          </a:p>
        </p:txBody>
      </p:sp>
      <p:sp>
        <p:nvSpPr>
          <p:cNvPr id="1492" name="Google Shape;1492;p63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cxnSp>
        <p:nvCxnSpPr>
          <p:cNvPr id="1493" name="Google Shape;1493;p63"/>
          <p:cNvCxnSpPr>
            <a:stCxn id="1485" idx="3"/>
            <a:endCxn id="1491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4" name="Google Shape;1494;p63"/>
          <p:cNvCxnSpPr>
            <a:stCxn id="1491" idx="5"/>
            <a:endCxn id="1490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5" name="Google Shape;1495;p63"/>
          <p:cNvCxnSpPr>
            <a:stCxn id="1491" idx="6"/>
            <a:endCxn id="1489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6" name="Google Shape;1496;p63"/>
          <p:cNvCxnSpPr>
            <a:stCxn id="1489" idx="2"/>
            <a:endCxn id="1490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7" name="Google Shape;1497;p63"/>
          <p:cNvCxnSpPr>
            <a:stCxn id="1490" idx="0"/>
            <a:endCxn id="1485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rgbClr val="00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8" name="Google Shape;1498;p63"/>
          <p:cNvCxnSpPr>
            <a:stCxn id="1485" idx="5"/>
            <a:endCxn id="1489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9" name="Google Shape;1499;p63"/>
          <p:cNvCxnSpPr>
            <a:stCxn id="1486" idx="4"/>
            <a:endCxn id="1489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0" name="Google Shape;1500;p63"/>
          <p:cNvCxnSpPr>
            <a:stCxn id="1485" idx="6"/>
            <a:endCxn id="1486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1" name="Google Shape;1501;p63"/>
          <p:cNvCxnSpPr>
            <a:stCxn id="1487" idx="2"/>
            <a:endCxn id="1486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2" name="Google Shape;1502;p63"/>
          <p:cNvCxnSpPr>
            <a:stCxn id="1486" idx="5"/>
            <a:endCxn id="1492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3" name="Google Shape;1503;p63"/>
          <p:cNvCxnSpPr>
            <a:stCxn id="1487" idx="3"/>
            <a:endCxn id="1492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4" name="Google Shape;1504;p63"/>
          <p:cNvCxnSpPr>
            <a:stCxn id="1487" idx="4"/>
            <a:endCxn id="1488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5" name="Google Shape;1505;p63"/>
          <p:cNvCxnSpPr>
            <a:stCxn id="1488" idx="2"/>
            <a:endCxn id="1489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6" name="Google Shape;1506;p63"/>
          <p:cNvCxnSpPr>
            <a:stCxn id="1492" idx="3"/>
            <a:endCxn id="1489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7" name="Google Shape;1507;p63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8" name="Google Shape;1508;p63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sp>
        <p:nvSpPr>
          <p:cNvPr id="1509" name="Google Shape;1509;p63"/>
          <p:cNvSpPr/>
          <p:nvPr/>
        </p:nvSpPr>
        <p:spPr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64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DFS: Kinds of edges</a:t>
            </a:r>
            <a:endParaRPr/>
          </a:p>
        </p:txBody>
      </p:sp>
      <p:sp>
        <p:nvSpPr>
          <p:cNvPr id="1515" name="Google Shape;1515;p64"/>
          <p:cNvSpPr txBox="1"/>
          <p:nvPr>
            <p:ph idx="1" type="body"/>
          </p:nvPr>
        </p:nvSpPr>
        <p:spPr>
          <a:xfrm>
            <a:off x="457200" y="10525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DFS introduces an important distinction among edges in the original graph: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i="1" lang="en-US">
                <a:solidFill>
                  <a:schemeClr val="dk2"/>
                </a:solidFill>
              </a:rPr>
              <a:t>Tree edge</a:t>
            </a:r>
            <a:r>
              <a:rPr lang="en-US"/>
              <a:t>: encounter new (white) vertex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i="1" lang="en-US">
                <a:solidFill>
                  <a:schemeClr val="dk2"/>
                </a:solidFill>
              </a:rPr>
              <a:t>Back edge</a:t>
            </a:r>
            <a:r>
              <a:rPr lang="en-US"/>
              <a:t>: from descendent to ancestor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i="1" lang="en-US">
                <a:solidFill>
                  <a:schemeClr val="dk2"/>
                </a:solidFill>
              </a:rPr>
              <a:t>Forward edge</a:t>
            </a:r>
            <a:r>
              <a:rPr lang="en-US"/>
              <a:t>: from ancestor to descendent</a:t>
            </a:r>
            <a:endParaRPr/>
          </a:p>
          <a:p>
            <a:pPr indent="-228600" lvl="2" marL="1143000" rtl="0" algn="l"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/>
              <a:t>Not a tree edge, though</a:t>
            </a:r>
            <a:endParaRPr/>
          </a:p>
          <a:p>
            <a:pPr indent="-228600" lvl="2" marL="1143000" rtl="0" algn="l"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/>
              <a:t>From grey node to black node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65"/>
          <p:cNvSpPr txBox="1"/>
          <p:nvPr/>
        </p:nvSpPr>
        <p:spPr>
          <a:xfrm>
            <a:off x="223838" y="5791200"/>
            <a:ext cx="15287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/>
          </a:p>
        </p:txBody>
      </p:sp>
      <p:sp>
        <p:nvSpPr>
          <p:cNvPr id="1521" name="Google Shape;1521;p65"/>
          <p:cNvSpPr txBox="1"/>
          <p:nvPr/>
        </p:nvSpPr>
        <p:spPr>
          <a:xfrm>
            <a:off x="1828800" y="5791200"/>
            <a:ext cx="1597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/>
          </a:p>
        </p:txBody>
      </p:sp>
      <p:sp>
        <p:nvSpPr>
          <p:cNvPr id="1522" name="Google Shape;1522;p65"/>
          <p:cNvSpPr txBox="1"/>
          <p:nvPr/>
        </p:nvSpPr>
        <p:spPr>
          <a:xfrm>
            <a:off x="3505200" y="5791200"/>
            <a:ext cx="20558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Forward edges</a:t>
            </a:r>
            <a:endParaRPr/>
          </a:p>
        </p:txBody>
      </p:sp>
      <p:sp>
        <p:nvSpPr>
          <p:cNvPr id="1523" name="Google Shape;1523;p65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DFS: Kinds of edges</a:t>
            </a:r>
            <a:endParaRPr/>
          </a:p>
        </p:txBody>
      </p:sp>
      <p:sp>
        <p:nvSpPr>
          <p:cNvPr id="1524" name="Google Shape;1524;p65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  </a:t>
            </a:r>
            <a:endParaRPr/>
          </a:p>
        </p:txBody>
      </p:sp>
      <p:sp>
        <p:nvSpPr>
          <p:cNvPr id="1525" name="Google Shape;1525;p65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solidFill>
            <a:schemeClr val="folHlink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  </a:t>
            </a:r>
            <a:endParaRPr/>
          </a:p>
        </p:txBody>
      </p:sp>
      <p:sp>
        <p:nvSpPr>
          <p:cNvPr id="1526" name="Google Shape;1526;p65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527" name="Google Shape;1527;p65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sp>
        <p:nvSpPr>
          <p:cNvPr id="1528" name="Google Shape;1528;p65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/>
          </a:p>
        </p:txBody>
      </p:sp>
      <p:sp>
        <p:nvSpPr>
          <p:cNvPr id="1529" name="Google Shape;1529;p65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/>
          </a:p>
        </p:txBody>
      </p:sp>
      <p:sp>
        <p:nvSpPr>
          <p:cNvPr id="1530" name="Google Shape;1530;p65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/>
          </a:p>
        </p:txBody>
      </p:sp>
      <p:sp>
        <p:nvSpPr>
          <p:cNvPr id="1531" name="Google Shape;1531;p65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  |  </a:t>
            </a:r>
            <a:endParaRPr/>
          </a:p>
        </p:txBody>
      </p:sp>
      <p:cxnSp>
        <p:nvCxnSpPr>
          <p:cNvPr id="1532" name="Google Shape;1532;p65"/>
          <p:cNvCxnSpPr>
            <a:stCxn id="1524" idx="3"/>
            <a:endCxn id="1530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3" name="Google Shape;1533;p65"/>
          <p:cNvCxnSpPr>
            <a:stCxn id="1530" idx="5"/>
            <a:endCxn id="1529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4" name="Google Shape;1534;p65"/>
          <p:cNvCxnSpPr>
            <a:stCxn id="1530" idx="6"/>
            <a:endCxn id="1528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5" name="Google Shape;1535;p65"/>
          <p:cNvCxnSpPr>
            <a:stCxn id="1528" idx="2"/>
            <a:endCxn id="1529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6" name="Google Shape;1536;p65"/>
          <p:cNvCxnSpPr>
            <a:stCxn id="1529" idx="0"/>
            <a:endCxn id="1524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7" name="Google Shape;1537;p65"/>
          <p:cNvCxnSpPr>
            <a:stCxn id="1524" idx="5"/>
            <a:endCxn id="1528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8" name="Google Shape;1538;p65"/>
          <p:cNvCxnSpPr>
            <a:stCxn id="1525" idx="4"/>
            <a:endCxn id="1528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9" name="Google Shape;1539;p65"/>
          <p:cNvCxnSpPr>
            <a:stCxn id="1524" idx="6"/>
            <a:endCxn id="1525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0" name="Google Shape;1540;p65"/>
          <p:cNvCxnSpPr>
            <a:stCxn id="1526" idx="2"/>
            <a:endCxn id="1525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1" name="Google Shape;1541;p65"/>
          <p:cNvCxnSpPr>
            <a:stCxn id="1525" idx="5"/>
            <a:endCxn id="1531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2" name="Google Shape;1542;p65"/>
          <p:cNvCxnSpPr>
            <a:stCxn id="1526" idx="3"/>
            <a:endCxn id="1531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3" name="Google Shape;1543;p65"/>
          <p:cNvCxnSpPr>
            <a:stCxn id="1526" idx="4"/>
            <a:endCxn id="1527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4" name="Google Shape;1544;p65"/>
          <p:cNvCxnSpPr>
            <a:stCxn id="1527" idx="2"/>
            <a:endCxn id="1528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5" name="Google Shape;1545;p65"/>
          <p:cNvCxnSpPr>
            <a:stCxn id="1531" idx="3"/>
            <a:endCxn id="1528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6" name="Google Shape;1546;p65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7" name="Google Shape;1547;p65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sp>
        <p:nvSpPr>
          <p:cNvPr id="1548" name="Google Shape;1548;p65"/>
          <p:cNvSpPr/>
          <p:nvPr/>
        </p:nvSpPr>
        <p:spPr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66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DFS: Kinds of edges</a:t>
            </a:r>
            <a:endParaRPr/>
          </a:p>
        </p:txBody>
      </p:sp>
      <p:sp>
        <p:nvSpPr>
          <p:cNvPr id="1554" name="Google Shape;1554;p66"/>
          <p:cNvSpPr txBox="1"/>
          <p:nvPr>
            <p:ph idx="1" type="body"/>
          </p:nvPr>
        </p:nvSpPr>
        <p:spPr>
          <a:xfrm>
            <a:off x="457200" y="10525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DFS introduces an important distinction among edges in the original graph: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i="1" lang="en-US">
                <a:solidFill>
                  <a:schemeClr val="dk2"/>
                </a:solidFill>
              </a:rPr>
              <a:t>Tree edge</a:t>
            </a:r>
            <a:r>
              <a:rPr lang="en-US"/>
              <a:t>: encounter new (white) vertex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i="1" lang="en-US">
                <a:solidFill>
                  <a:schemeClr val="dk2"/>
                </a:solidFill>
              </a:rPr>
              <a:t>Back edge</a:t>
            </a:r>
            <a:r>
              <a:rPr lang="en-US"/>
              <a:t>: from descendent to ancestor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i="1" lang="en-US">
                <a:solidFill>
                  <a:schemeClr val="dk2"/>
                </a:solidFill>
              </a:rPr>
              <a:t>Forward edge</a:t>
            </a:r>
            <a:r>
              <a:rPr lang="en-US"/>
              <a:t>: from ancestor to descendent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i="1" lang="en-US">
                <a:solidFill>
                  <a:schemeClr val="dk2"/>
                </a:solidFill>
              </a:rPr>
              <a:t>Cross edge</a:t>
            </a:r>
            <a:r>
              <a:rPr lang="en-US"/>
              <a:t>: between a tree or subtrees</a:t>
            </a:r>
            <a:endParaRPr/>
          </a:p>
          <a:p>
            <a:pPr indent="-228600" lvl="2" marL="1143000" rtl="0" algn="l">
              <a:spcBef>
                <a:spcPts val="440"/>
              </a:spcBef>
              <a:spcAft>
                <a:spcPts val="0"/>
              </a:spcAft>
              <a:buSzPts val="1430"/>
              <a:buChar char="●"/>
            </a:pPr>
            <a:r>
              <a:rPr lang="en-US"/>
              <a:t>From a grey node to a black node</a:t>
            </a:r>
            <a:endParaRPr/>
          </a:p>
          <a:p>
            <a:pPr indent="-137794" lvl="2" marL="1143000" rtl="0" algn="l">
              <a:spcBef>
                <a:spcPts val="440"/>
              </a:spcBef>
              <a:spcAft>
                <a:spcPts val="0"/>
              </a:spcAft>
              <a:buSzPts val="143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p67"/>
          <p:cNvSpPr/>
          <p:nvPr/>
        </p:nvSpPr>
        <p:spPr>
          <a:xfrm>
            <a:off x="1524000" y="2362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 |12</a:t>
            </a:r>
            <a:endParaRPr/>
          </a:p>
        </p:txBody>
      </p:sp>
      <p:sp>
        <p:nvSpPr>
          <p:cNvPr id="1560" name="Google Shape;1560;p67"/>
          <p:cNvSpPr/>
          <p:nvPr/>
        </p:nvSpPr>
        <p:spPr>
          <a:xfrm>
            <a:off x="4191000" y="2362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 |11</a:t>
            </a:r>
            <a:endParaRPr/>
          </a:p>
        </p:txBody>
      </p:sp>
      <p:sp>
        <p:nvSpPr>
          <p:cNvPr id="1561" name="Google Shape;1561;p67"/>
          <p:cNvSpPr/>
          <p:nvPr/>
        </p:nvSpPr>
        <p:spPr>
          <a:xfrm>
            <a:off x="6858000" y="2362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13|16</a:t>
            </a:r>
            <a:endParaRPr/>
          </a:p>
        </p:txBody>
      </p:sp>
      <p:sp>
        <p:nvSpPr>
          <p:cNvPr id="1562" name="Google Shape;1562;p67"/>
          <p:cNvSpPr/>
          <p:nvPr/>
        </p:nvSpPr>
        <p:spPr>
          <a:xfrm>
            <a:off x="6858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14|15</a:t>
            </a:r>
            <a:endParaRPr/>
          </a:p>
        </p:txBody>
      </p:sp>
      <p:sp>
        <p:nvSpPr>
          <p:cNvPr id="1563" name="Google Shape;1563;p67"/>
          <p:cNvSpPr/>
          <p:nvPr/>
        </p:nvSpPr>
        <p:spPr>
          <a:xfrm>
            <a:off x="4191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 | 6</a:t>
            </a:r>
            <a:endParaRPr/>
          </a:p>
        </p:txBody>
      </p:sp>
      <p:sp>
        <p:nvSpPr>
          <p:cNvPr id="1564" name="Google Shape;1564;p67"/>
          <p:cNvSpPr/>
          <p:nvPr/>
        </p:nvSpPr>
        <p:spPr>
          <a:xfrm>
            <a:off x="1524000" y="47244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3 | 4</a:t>
            </a:r>
            <a:endParaRPr/>
          </a:p>
        </p:txBody>
      </p:sp>
      <p:sp>
        <p:nvSpPr>
          <p:cNvPr id="1565" name="Google Shape;1565;p67"/>
          <p:cNvSpPr/>
          <p:nvPr/>
        </p:nvSpPr>
        <p:spPr>
          <a:xfrm>
            <a:off x="228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 | 7</a:t>
            </a:r>
            <a:endParaRPr/>
          </a:p>
        </p:txBody>
      </p:sp>
      <p:sp>
        <p:nvSpPr>
          <p:cNvPr id="1566" name="Google Shape;1566;p67"/>
          <p:cNvSpPr/>
          <p:nvPr/>
        </p:nvSpPr>
        <p:spPr>
          <a:xfrm>
            <a:off x="5562600" y="3505200"/>
            <a:ext cx="1066800" cy="685800"/>
          </a:xfrm>
          <a:prstGeom prst="ellipse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 |10</a:t>
            </a:r>
            <a:endParaRPr/>
          </a:p>
        </p:txBody>
      </p:sp>
      <p:cxnSp>
        <p:nvCxnSpPr>
          <p:cNvPr id="1567" name="Google Shape;1567;p67"/>
          <p:cNvCxnSpPr>
            <a:stCxn id="1559" idx="3"/>
            <a:endCxn id="1565" idx="7"/>
          </p:cNvCxnSpPr>
          <p:nvPr/>
        </p:nvCxnSpPr>
        <p:spPr>
          <a:xfrm flipH="1">
            <a:off x="1139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8" name="Google Shape;1568;p67"/>
          <p:cNvCxnSpPr>
            <a:stCxn id="1565" idx="5"/>
            <a:endCxn id="1564" idx="1"/>
          </p:cNvCxnSpPr>
          <p:nvPr/>
        </p:nvCxnSpPr>
        <p:spPr>
          <a:xfrm>
            <a:off x="1139171" y="4090567"/>
            <a:ext cx="541200" cy="73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9" name="Google Shape;1569;p67"/>
          <p:cNvCxnSpPr>
            <a:stCxn id="1565" idx="6"/>
            <a:endCxn id="1563" idx="1"/>
          </p:cNvCxnSpPr>
          <p:nvPr/>
        </p:nvCxnSpPr>
        <p:spPr>
          <a:xfrm>
            <a:off x="1295400" y="3848100"/>
            <a:ext cx="3051900" cy="976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0" name="Google Shape;1570;p67"/>
          <p:cNvCxnSpPr>
            <a:stCxn id="1563" idx="2"/>
            <a:endCxn id="1564" idx="6"/>
          </p:cNvCxnSpPr>
          <p:nvPr/>
        </p:nvCxnSpPr>
        <p:spPr>
          <a:xfrm rot="10800000">
            <a:off x="2590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1" name="Google Shape;1571;p67"/>
          <p:cNvCxnSpPr>
            <a:stCxn id="1564" idx="0"/>
            <a:endCxn id="1559" idx="4"/>
          </p:cNvCxnSpPr>
          <p:nvPr/>
        </p:nvCxnSpPr>
        <p:spPr>
          <a:xfrm rot="10800000">
            <a:off x="2057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2" name="Google Shape;1572;p67"/>
          <p:cNvCxnSpPr>
            <a:stCxn id="1560" idx="4"/>
            <a:endCxn id="1563" idx="0"/>
          </p:cNvCxnSpPr>
          <p:nvPr/>
        </p:nvCxnSpPr>
        <p:spPr>
          <a:xfrm>
            <a:off x="4724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3" name="Google Shape;1573;p67"/>
          <p:cNvCxnSpPr>
            <a:stCxn id="1559" idx="6"/>
            <a:endCxn id="1560" idx="2"/>
          </p:cNvCxnSpPr>
          <p:nvPr/>
        </p:nvCxnSpPr>
        <p:spPr>
          <a:xfrm>
            <a:off x="2590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4" name="Google Shape;1574;p67"/>
          <p:cNvCxnSpPr>
            <a:stCxn id="1561" idx="2"/>
            <a:endCxn id="1560" idx="6"/>
          </p:cNvCxnSpPr>
          <p:nvPr/>
        </p:nvCxnSpPr>
        <p:spPr>
          <a:xfrm rot="10800000">
            <a:off x="5257800" y="27051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5" name="Google Shape;1575;p67"/>
          <p:cNvCxnSpPr>
            <a:stCxn id="1560" idx="5"/>
            <a:endCxn id="1566" idx="1"/>
          </p:cNvCxnSpPr>
          <p:nvPr/>
        </p:nvCxnSpPr>
        <p:spPr>
          <a:xfrm>
            <a:off x="5101571" y="2947567"/>
            <a:ext cx="617400" cy="658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6" name="Google Shape;1576;p67"/>
          <p:cNvCxnSpPr>
            <a:stCxn id="1561" idx="3"/>
            <a:endCxn id="1566" idx="7"/>
          </p:cNvCxnSpPr>
          <p:nvPr/>
        </p:nvCxnSpPr>
        <p:spPr>
          <a:xfrm flipH="1">
            <a:off x="6473029" y="2947567"/>
            <a:ext cx="541200" cy="658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7" name="Google Shape;1577;p67"/>
          <p:cNvCxnSpPr>
            <a:stCxn id="1561" idx="4"/>
            <a:endCxn id="1562" idx="0"/>
          </p:cNvCxnSpPr>
          <p:nvPr/>
        </p:nvCxnSpPr>
        <p:spPr>
          <a:xfrm>
            <a:off x="7391400" y="3048000"/>
            <a:ext cx="0" cy="167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8" name="Google Shape;1578;p67"/>
          <p:cNvCxnSpPr>
            <a:stCxn id="1562" idx="2"/>
            <a:endCxn id="1563" idx="6"/>
          </p:cNvCxnSpPr>
          <p:nvPr/>
        </p:nvCxnSpPr>
        <p:spPr>
          <a:xfrm rot="10800000">
            <a:off x="5257800" y="5067300"/>
            <a:ext cx="1600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9" name="Google Shape;1579;p67"/>
          <p:cNvCxnSpPr>
            <a:stCxn id="1566" idx="3"/>
            <a:endCxn id="1563" idx="7"/>
          </p:cNvCxnSpPr>
          <p:nvPr/>
        </p:nvCxnSpPr>
        <p:spPr>
          <a:xfrm flipH="1">
            <a:off x="5101429" y="4090567"/>
            <a:ext cx="617400" cy="73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0" name="Google Shape;1580;p67"/>
          <p:cNvCxnSpPr/>
          <p:nvPr/>
        </p:nvCxnSpPr>
        <p:spPr>
          <a:xfrm>
            <a:off x="457200" y="2133600"/>
            <a:ext cx="1066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1" name="Google Shape;1581;p67"/>
          <p:cNvSpPr txBox="1"/>
          <p:nvPr/>
        </p:nvSpPr>
        <p:spPr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b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vertex</a:t>
            </a:r>
            <a:endParaRPr/>
          </a:p>
        </p:txBody>
      </p:sp>
      <p:sp>
        <p:nvSpPr>
          <p:cNvPr id="1582" name="Google Shape;1582;p67"/>
          <p:cNvSpPr/>
          <p:nvPr/>
        </p:nvSpPr>
        <p:spPr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     f</a:t>
            </a:r>
            <a:endParaRPr/>
          </a:p>
        </p:txBody>
      </p:sp>
      <p:sp>
        <p:nvSpPr>
          <p:cNvPr id="1583" name="Google Shape;1583;p67"/>
          <p:cNvSpPr txBox="1"/>
          <p:nvPr/>
        </p:nvSpPr>
        <p:spPr>
          <a:xfrm>
            <a:off x="223838" y="5791200"/>
            <a:ext cx="152876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edges</a:t>
            </a:r>
            <a:endParaRPr/>
          </a:p>
        </p:txBody>
      </p:sp>
      <p:sp>
        <p:nvSpPr>
          <p:cNvPr id="1584" name="Google Shape;1584;p67"/>
          <p:cNvSpPr txBox="1"/>
          <p:nvPr/>
        </p:nvSpPr>
        <p:spPr>
          <a:xfrm>
            <a:off x="1828800" y="5791200"/>
            <a:ext cx="1597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edges</a:t>
            </a:r>
            <a:endParaRPr/>
          </a:p>
        </p:txBody>
      </p:sp>
      <p:sp>
        <p:nvSpPr>
          <p:cNvPr id="1585" name="Google Shape;1585;p67"/>
          <p:cNvSpPr txBox="1"/>
          <p:nvPr/>
        </p:nvSpPr>
        <p:spPr>
          <a:xfrm>
            <a:off x="3505200" y="5791200"/>
            <a:ext cx="20558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Forward edges</a:t>
            </a:r>
            <a:endParaRPr/>
          </a:p>
        </p:txBody>
      </p:sp>
      <p:cxnSp>
        <p:nvCxnSpPr>
          <p:cNvPr id="1586" name="Google Shape;1586;p67"/>
          <p:cNvCxnSpPr>
            <a:stCxn id="1559" idx="5"/>
            <a:endCxn id="1563" idx="1"/>
          </p:cNvCxnSpPr>
          <p:nvPr/>
        </p:nvCxnSpPr>
        <p:spPr>
          <a:xfrm>
            <a:off x="2434571" y="2947567"/>
            <a:ext cx="1912800" cy="187740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7" name="Google Shape;1587;p67"/>
          <p:cNvSpPr txBox="1"/>
          <p:nvPr/>
        </p:nvSpPr>
        <p:spPr>
          <a:xfrm>
            <a:off x="5638800" y="5791200"/>
            <a:ext cx="16668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edges</a:t>
            </a:r>
            <a:endParaRPr/>
          </a:p>
        </p:txBody>
      </p:sp>
      <p:sp>
        <p:nvSpPr>
          <p:cNvPr id="1588" name="Google Shape;1588;p67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DFS: Kinds of edges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68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DFS: Kinds of edges</a:t>
            </a:r>
            <a:endParaRPr/>
          </a:p>
        </p:txBody>
      </p:sp>
      <p:sp>
        <p:nvSpPr>
          <p:cNvPr id="1594" name="Google Shape;1594;p68"/>
          <p:cNvSpPr txBox="1"/>
          <p:nvPr>
            <p:ph idx="1" type="body"/>
          </p:nvPr>
        </p:nvSpPr>
        <p:spPr>
          <a:xfrm>
            <a:off x="457200" y="10525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DFS introduces an important distinction among edges in the original graph: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i="1" lang="en-US">
                <a:solidFill>
                  <a:schemeClr val="dk2"/>
                </a:solidFill>
              </a:rPr>
              <a:t>Tree edge</a:t>
            </a:r>
            <a:r>
              <a:rPr lang="en-US"/>
              <a:t>: encounter new (white) vertex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i="1" lang="en-US">
                <a:solidFill>
                  <a:schemeClr val="dk2"/>
                </a:solidFill>
              </a:rPr>
              <a:t>Back edge</a:t>
            </a:r>
            <a:r>
              <a:rPr lang="en-US"/>
              <a:t>: from descendent to ancestor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i="1" lang="en-US">
                <a:solidFill>
                  <a:schemeClr val="dk2"/>
                </a:solidFill>
              </a:rPr>
              <a:t>Forward edge</a:t>
            </a:r>
            <a:r>
              <a:rPr lang="en-US"/>
              <a:t>: from ancestor to descendent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i="1" lang="en-US">
                <a:solidFill>
                  <a:schemeClr val="dk2"/>
                </a:solidFill>
              </a:rPr>
              <a:t>Cross edge</a:t>
            </a:r>
            <a:r>
              <a:rPr lang="en-US"/>
              <a:t>: between a tree or subtrees</a:t>
            </a:r>
            <a:endParaRPr/>
          </a:p>
          <a:p>
            <a:pPr indent="-219075" lvl="0" marL="342900" rtl="0" algn="l"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Note: tree and back edges are very important; some algorithms use forward and cross edges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69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DFS: Kinds of edges</a:t>
            </a:r>
            <a:endParaRPr/>
          </a:p>
        </p:txBody>
      </p:sp>
      <p:pic>
        <p:nvPicPr>
          <p:cNvPr id="1600" name="Google Shape;160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513" y="1101725"/>
            <a:ext cx="4321175" cy="179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1" name="Google Shape;1601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63713" y="3290888"/>
            <a:ext cx="4968875" cy="294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p70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Directed Acyclic Graphs</a:t>
            </a:r>
            <a:endParaRPr/>
          </a:p>
        </p:txBody>
      </p:sp>
      <p:sp>
        <p:nvSpPr>
          <p:cNvPr id="1607" name="Google Shape;1607;p70"/>
          <p:cNvSpPr txBox="1"/>
          <p:nvPr>
            <p:ph idx="1" type="body"/>
          </p:nvPr>
        </p:nvSpPr>
        <p:spPr>
          <a:xfrm>
            <a:off x="457200" y="1052513"/>
            <a:ext cx="8229600" cy="108108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A </a:t>
            </a:r>
            <a:r>
              <a:rPr i="1" lang="en-US">
                <a:solidFill>
                  <a:schemeClr val="dk2"/>
                </a:solidFill>
              </a:rPr>
              <a:t>directed acyclic graph</a:t>
            </a:r>
            <a:r>
              <a:rPr lang="en-US"/>
              <a:t> or </a:t>
            </a:r>
            <a:r>
              <a:rPr i="1" lang="en-US">
                <a:solidFill>
                  <a:schemeClr val="dk2"/>
                </a:solidFill>
              </a:rPr>
              <a:t>DAG</a:t>
            </a:r>
            <a:r>
              <a:rPr lang="en-US"/>
              <a:t> is a directed graph with no directed cycles</a:t>
            </a:r>
            <a:endParaRPr/>
          </a:p>
        </p:txBody>
      </p:sp>
      <p:sp>
        <p:nvSpPr>
          <p:cNvPr id="1608" name="Google Shape;1608;p70"/>
          <p:cNvSpPr/>
          <p:nvPr/>
        </p:nvSpPr>
        <p:spPr>
          <a:xfrm>
            <a:off x="1524000" y="2349500"/>
            <a:ext cx="609600" cy="6096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path path="circle">
              <a:fillToRect b="50%" l="50%" r="50%" t="50%"/>
            </a:path>
            <a:tileRect/>
          </a:gra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09" name="Google Shape;1609;p70"/>
          <p:cNvSpPr/>
          <p:nvPr/>
        </p:nvSpPr>
        <p:spPr>
          <a:xfrm>
            <a:off x="4267200" y="2425700"/>
            <a:ext cx="609600" cy="6096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path path="circle">
              <a:fillToRect b="50%" l="50%" r="50%" t="50%"/>
            </a:path>
            <a:tileRect/>
          </a:gra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10" name="Google Shape;1610;p70"/>
          <p:cNvSpPr/>
          <p:nvPr/>
        </p:nvSpPr>
        <p:spPr>
          <a:xfrm>
            <a:off x="2895600" y="3340100"/>
            <a:ext cx="609600" cy="6096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path path="circle">
              <a:fillToRect b="50%" l="50%" r="50%" t="50%"/>
            </a:path>
            <a:tileRect/>
          </a:gra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11" name="Google Shape;1611;p70"/>
          <p:cNvSpPr/>
          <p:nvPr/>
        </p:nvSpPr>
        <p:spPr>
          <a:xfrm>
            <a:off x="1524000" y="3949700"/>
            <a:ext cx="609600" cy="6096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path path="circle">
              <a:fillToRect b="50%" l="50%" r="50%" t="50%"/>
            </a:path>
            <a:tileRect/>
          </a:gra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12" name="Google Shape;1612;p70"/>
          <p:cNvSpPr/>
          <p:nvPr/>
        </p:nvSpPr>
        <p:spPr>
          <a:xfrm>
            <a:off x="4343400" y="3949700"/>
            <a:ext cx="609600" cy="6096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path path="circle">
              <a:fillToRect b="50%" l="50%" r="50%" t="50%"/>
            </a:path>
            <a:tileRect/>
          </a:gra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13" name="Google Shape;1613;p70"/>
          <p:cNvSpPr/>
          <p:nvPr/>
        </p:nvSpPr>
        <p:spPr>
          <a:xfrm>
            <a:off x="2438400" y="5092700"/>
            <a:ext cx="609600" cy="6096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path path="circle">
              <a:fillToRect b="50%" l="50%" r="50%" t="50%"/>
            </a:path>
            <a:tileRect/>
          </a:gra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14" name="Google Shape;1614;p70"/>
          <p:cNvSpPr/>
          <p:nvPr/>
        </p:nvSpPr>
        <p:spPr>
          <a:xfrm>
            <a:off x="609600" y="5168900"/>
            <a:ext cx="609600" cy="6096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path path="circle">
              <a:fillToRect b="50%" l="50%" r="50%" t="50%"/>
            </a:path>
            <a:tileRect/>
          </a:gra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615" name="Google Shape;1615;p70"/>
          <p:cNvCxnSpPr>
            <a:stCxn id="1608" idx="4"/>
            <a:endCxn id="1611" idx="0"/>
          </p:cNvCxnSpPr>
          <p:nvPr/>
        </p:nvCxnSpPr>
        <p:spPr>
          <a:xfrm>
            <a:off x="1828800" y="2959100"/>
            <a:ext cx="0" cy="9906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lg" w="lg" type="stealth"/>
          </a:ln>
        </p:spPr>
      </p:cxnSp>
      <p:cxnSp>
        <p:nvCxnSpPr>
          <p:cNvPr id="1616" name="Google Shape;1616;p70"/>
          <p:cNvCxnSpPr>
            <a:stCxn id="1608" idx="5"/>
            <a:endCxn id="1610" idx="1"/>
          </p:cNvCxnSpPr>
          <p:nvPr/>
        </p:nvCxnSpPr>
        <p:spPr>
          <a:xfrm>
            <a:off x="2044326" y="2869826"/>
            <a:ext cx="940500" cy="559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lg" w="lg" type="stealth"/>
          </a:ln>
        </p:spPr>
      </p:cxnSp>
      <p:cxnSp>
        <p:nvCxnSpPr>
          <p:cNvPr id="1617" name="Google Shape;1617;p70"/>
          <p:cNvCxnSpPr>
            <a:stCxn id="1609" idx="3"/>
            <a:endCxn id="1610" idx="7"/>
          </p:cNvCxnSpPr>
          <p:nvPr/>
        </p:nvCxnSpPr>
        <p:spPr>
          <a:xfrm flipH="1">
            <a:off x="3415974" y="2946026"/>
            <a:ext cx="940500" cy="4833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lg" w="lg" type="stealth"/>
          </a:ln>
        </p:spPr>
      </p:cxnSp>
      <p:cxnSp>
        <p:nvCxnSpPr>
          <p:cNvPr id="1618" name="Google Shape;1618;p70"/>
          <p:cNvCxnSpPr>
            <a:stCxn id="1609" idx="4"/>
            <a:endCxn id="1612" idx="0"/>
          </p:cNvCxnSpPr>
          <p:nvPr/>
        </p:nvCxnSpPr>
        <p:spPr>
          <a:xfrm>
            <a:off x="4572000" y="3035300"/>
            <a:ext cx="76200" cy="9144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lg" w="lg" type="stealth"/>
          </a:ln>
        </p:spPr>
      </p:cxnSp>
      <p:cxnSp>
        <p:nvCxnSpPr>
          <p:cNvPr id="1619" name="Google Shape;1619;p70"/>
          <p:cNvCxnSpPr>
            <a:stCxn id="1612" idx="2"/>
            <a:endCxn id="1611" idx="6"/>
          </p:cNvCxnSpPr>
          <p:nvPr/>
        </p:nvCxnSpPr>
        <p:spPr>
          <a:xfrm rot="10800000">
            <a:off x="2133600" y="4254500"/>
            <a:ext cx="22098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lg" w="lg" type="stealth"/>
          </a:ln>
        </p:spPr>
      </p:cxnSp>
      <p:cxnSp>
        <p:nvCxnSpPr>
          <p:cNvPr id="1620" name="Google Shape;1620;p70"/>
          <p:cNvCxnSpPr>
            <a:stCxn id="1610" idx="4"/>
            <a:endCxn id="1613" idx="0"/>
          </p:cNvCxnSpPr>
          <p:nvPr/>
        </p:nvCxnSpPr>
        <p:spPr>
          <a:xfrm flipH="1">
            <a:off x="2743200" y="3949700"/>
            <a:ext cx="457200" cy="11430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lg" w="lg" type="stealth"/>
          </a:ln>
        </p:spPr>
      </p:cxnSp>
      <p:cxnSp>
        <p:nvCxnSpPr>
          <p:cNvPr id="1621" name="Google Shape;1621;p70"/>
          <p:cNvCxnSpPr>
            <a:stCxn id="1611" idx="5"/>
            <a:endCxn id="1613" idx="1"/>
          </p:cNvCxnSpPr>
          <p:nvPr/>
        </p:nvCxnSpPr>
        <p:spPr>
          <a:xfrm>
            <a:off x="2044326" y="4470026"/>
            <a:ext cx="483300" cy="7119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lg" w="lg" type="stealth"/>
          </a:ln>
        </p:spPr>
      </p:cxnSp>
      <p:cxnSp>
        <p:nvCxnSpPr>
          <p:cNvPr id="1622" name="Google Shape;1622;p70"/>
          <p:cNvCxnSpPr>
            <a:stCxn id="1611" idx="3"/>
            <a:endCxn id="1614" idx="7"/>
          </p:cNvCxnSpPr>
          <p:nvPr/>
        </p:nvCxnSpPr>
        <p:spPr>
          <a:xfrm flipH="1">
            <a:off x="1129974" y="4470026"/>
            <a:ext cx="483300" cy="7881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lg" w="lg" type="stealth"/>
          </a:ln>
        </p:spPr>
      </p:cxnSp>
      <p:cxnSp>
        <p:nvCxnSpPr>
          <p:cNvPr id="1623" name="Google Shape;1623;p70"/>
          <p:cNvCxnSpPr>
            <a:stCxn id="1608" idx="2"/>
            <a:endCxn id="1614" idx="0"/>
          </p:cNvCxnSpPr>
          <p:nvPr/>
        </p:nvCxnSpPr>
        <p:spPr>
          <a:xfrm flipH="1">
            <a:off x="914400" y="2654300"/>
            <a:ext cx="609600" cy="2514600"/>
          </a:xfrm>
          <a:prstGeom prst="curvedConnector2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lg" w="lg" type="stealth"/>
          </a:ln>
        </p:spPr>
      </p:cxnSp>
      <p:sp>
        <p:nvSpPr>
          <p:cNvPr id="1624" name="Google Shape;1624;p70"/>
          <p:cNvSpPr/>
          <p:nvPr/>
        </p:nvSpPr>
        <p:spPr>
          <a:xfrm>
            <a:off x="7010400" y="3035300"/>
            <a:ext cx="609600" cy="6096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path path="circle">
              <a:fillToRect b="50%" l="50%" r="50%" t="50%"/>
            </a:path>
            <a:tileRect/>
          </a:gra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5" name="Google Shape;1625;p70"/>
          <p:cNvSpPr/>
          <p:nvPr/>
        </p:nvSpPr>
        <p:spPr>
          <a:xfrm>
            <a:off x="8077200" y="4406900"/>
            <a:ext cx="609600" cy="6096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path path="circle">
              <a:fillToRect b="50%" l="50%" r="50%" t="50%"/>
            </a:path>
            <a:tileRect/>
          </a:gra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6" name="Google Shape;1626;p70"/>
          <p:cNvSpPr/>
          <p:nvPr/>
        </p:nvSpPr>
        <p:spPr>
          <a:xfrm>
            <a:off x="5943600" y="4406900"/>
            <a:ext cx="609600" cy="6096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chemeClr val="accent1"/>
              </a:gs>
            </a:gsLst>
            <a:path path="circle">
              <a:fillToRect b="50%" l="50%" r="50%" t="50%"/>
            </a:path>
            <a:tileRect/>
          </a:gra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627" name="Google Shape;1627;p70"/>
          <p:cNvCxnSpPr>
            <a:stCxn id="1624" idx="3"/>
            <a:endCxn id="1626" idx="7"/>
          </p:cNvCxnSpPr>
          <p:nvPr/>
        </p:nvCxnSpPr>
        <p:spPr>
          <a:xfrm flipH="1">
            <a:off x="6463974" y="3555626"/>
            <a:ext cx="635700" cy="940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lg" w="lg" type="stealth"/>
          </a:ln>
        </p:spPr>
      </p:cxnSp>
      <p:cxnSp>
        <p:nvCxnSpPr>
          <p:cNvPr id="1628" name="Google Shape;1628;p70"/>
          <p:cNvCxnSpPr>
            <a:stCxn id="1626" idx="6"/>
            <a:endCxn id="1625" idx="2"/>
          </p:cNvCxnSpPr>
          <p:nvPr/>
        </p:nvCxnSpPr>
        <p:spPr>
          <a:xfrm>
            <a:off x="6553200" y="4711700"/>
            <a:ext cx="15240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lg" w="lg" type="stealth"/>
          </a:ln>
        </p:spPr>
      </p:cxnSp>
      <p:cxnSp>
        <p:nvCxnSpPr>
          <p:cNvPr id="1629" name="Google Shape;1629;p70"/>
          <p:cNvCxnSpPr>
            <a:stCxn id="1624" idx="5"/>
            <a:endCxn id="1625" idx="1"/>
          </p:cNvCxnSpPr>
          <p:nvPr/>
        </p:nvCxnSpPr>
        <p:spPr>
          <a:xfrm>
            <a:off x="7530726" y="3555626"/>
            <a:ext cx="635700" cy="940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med" w="med" type="none"/>
            <a:tailEnd len="lg" w="lg" type="stealth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71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Topological Sort</a:t>
            </a:r>
            <a:endParaRPr/>
          </a:p>
        </p:txBody>
      </p:sp>
      <p:sp>
        <p:nvSpPr>
          <p:cNvPr id="1635" name="Google Shape;1635;p71"/>
          <p:cNvSpPr txBox="1"/>
          <p:nvPr>
            <p:ph idx="1" type="body"/>
          </p:nvPr>
        </p:nvSpPr>
        <p:spPr>
          <a:xfrm>
            <a:off x="457200" y="1052513"/>
            <a:ext cx="8229600" cy="55451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A</a:t>
            </a:r>
            <a:r>
              <a:rPr i="1" lang="en-US">
                <a:solidFill>
                  <a:schemeClr val="dk2"/>
                </a:solidFill>
              </a:rPr>
              <a:t> topological sort</a:t>
            </a:r>
            <a:r>
              <a:rPr lang="en-US"/>
              <a:t> of a DAG is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a linear ordering of all vertices of the graph </a:t>
            </a:r>
            <a:r>
              <a:rPr i="1" lang="en-US"/>
              <a:t>G</a:t>
            </a:r>
            <a:r>
              <a:rPr lang="en-US"/>
              <a:t> such that vertex </a:t>
            </a:r>
            <a:r>
              <a:rPr i="1" lang="en-US"/>
              <a:t>u</a:t>
            </a:r>
            <a:r>
              <a:rPr lang="en-US"/>
              <a:t> comes before vertex </a:t>
            </a:r>
            <a:r>
              <a:rPr i="1" lang="en-US"/>
              <a:t>v</a:t>
            </a:r>
            <a:r>
              <a:rPr lang="en-US"/>
              <a:t> if (</a:t>
            </a:r>
            <a:r>
              <a:rPr i="1" lang="en-US"/>
              <a:t>u</a:t>
            </a:r>
            <a:r>
              <a:rPr lang="en-US"/>
              <a:t>, </a:t>
            </a:r>
            <a:r>
              <a:rPr i="1" lang="en-US"/>
              <a:t>v</a:t>
            </a:r>
            <a:r>
              <a:rPr lang="en-US"/>
              <a:t>) is an edge in </a:t>
            </a:r>
            <a:r>
              <a:rPr i="1" lang="en-US"/>
              <a:t>G</a:t>
            </a:r>
            <a:r>
              <a:rPr lang="en-US"/>
              <a:t>.</a:t>
            </a:r>
            <a:endParaRPr/>
          </a:p>
          <a:p>
            <a:pPr indent="-219075" lvl="0" marL="342900" rtl="0" algn="l"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DAG indicates precedence among events: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events are graph vertices, edge from </a:t>
            </a:r>
            <a:r>
              <a:rPr i="1" lang="en-US"/>
              <a:t>u</a:t>
            </a:r>
            <a:r>
              <a:rPr lang="en-US"/>
              <a:t> to </a:t>
            </a:r>
            <a:r>
              <a:rPr i="1" lang="en-US"/>
              <a:t>v</a:t>
            </a:r>
            <a:r>
              <a:rPr lang="en-US"/>
              <a:t> means event </a:t>
            </a:r>
            <a:r>
              <a:rPr i="1" lang="en-US"/>
              <a:t>u</a:t>
            </a:r>
            <a:r>
              <a:rPr lang="en-US"/>
              <a:t> has precedence over event </a:t>
            </a:r>
            <a:r>
              <a:rPr i="1" lang="en-US"/>
              <a:t>v</a:t>
            </a:r>
            <a:endParaRPr/>
          </a:p>
          <a:p>
            <a:pPr indent="-219075" lvl="0" marL="342900" rtl="0" algn="l">
              <a:spcBef>
                <a:spcPts val="520"/>
              </a:spcBef>
              <a:spcAft>
                <a:spcPts val="0"/>
              </a:spcAft>
              <a:buSzPts val="195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Real-world example: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getting dressed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course registration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tasks for eating meal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72"/>
          <p:cNvSpPr txBox="1"/>
          <p:nvPr>
            <p:ph idx="4294967295" type="title"/>
          </p:nvPr>
        </p:nvSpPr>
        <p:spPr>
          <a:xfrm>
            <a:off x="457200" y="333375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Precedence Example</a:t>
            </a:r>
            <a:endParaRPr/>
          </a:p>
        </p:txBody>
      </p:sp>
      <p:sp>
        <p:nvSpPr>
          <p:cNvPr id="1642" name="Google Shape;1642;p72"/>
          <p:cNvSpPr txBox="1"/>
          <p:nvPr>
            <p:ph idx="4294967295" type="body"/>
          </p:nvPr>
        </p:nvSpPr>
        <p:spPr>
          <a:xfrm>
            <a:off x="457200" y="1246188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Tasks that have to be done to eat breakfast: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get glass, pour juice, get bowl, pour cereal, pour milk, get spoon, eat.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Certain events  must happen in a certain order (ex: get bowl before pouring milk)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For other events, it doesn't matter (ex: get bowl and get spoon)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73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73"/>
          <p:cNvSpPr txBox="1"/>
          <p:nvPr/>
        </p:nvSpPr>
        <p:spPr>
          <a:xfrm>
            <a:off x="1508125" y="1955800"/>
            <a:ext cx="133667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get glass</a:t>
            </a:r>
            <a:endParaRPr/>
          </a:p>
        </p:txBody>
      </p:sp>
      <p:sp>
        <p:nvSpPr>
          <p:cNvPr id="1650" name="Google Shape;1650;p73"/>
          <p:cNvSpPr txBox="1"/>
          <p:nvPr/>
        </p:nvSpPr>
        <p:spPr>
          <a:xfrm>
            <a:off x="1524000" y="2743200"/>
            <a:ext cx="146526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pour juice</a:t>
            </a:r>
            <a:endParaRPr/>
          </a:p>
        </p:txBody>
      </p:sp>
      <p:sp>
        <p:nvSpPr>
          <p:cNvPr id="1651" name="Google Shape;1651;p73"/>
          <p:cNvSpPr txBox="1"/>
          <p:nvPr/>
        </p:nvSpPr>
        <p:spPr>
          <a:xfrm>
            <a:off x="3810000" y="2133600"/>
            <a:ext cx="126206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get bowl</a:t>
            </a:r>
            <a:endParaRPr/>
          </a:p>
        </p:txBody>
      </p:sp>
      <p:sp>
        <p:nvSpPr>
          <p:cNvPr id="1652" name="Google Shape;1652;p73"/>
          <p:cNvSpPr txBox="1"/>
          <p:nvPr/>
        </p:nvSpPr>
        <p:spPr>
          <a:xfrm>
            <a:off x="3733800" y="2895600"/>
            <a:ext cx="165258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pour cereal</a:t>
            </a:r>
            <a:endParaRPr/>
          </a:p>
        </p:txBody>
      </p:sp>
      <p:sp>
        <p:nvSpPr>
          <p:cNvPr id="1653" name="Google Shape;1653;p73"/>
          <p:cNvSpPr txBox="1"/>
          <p:nvPr/>
        </p:nvSpPr>
        <p:spPr>
          <a:xfrm>
            <a:off x="3810000" y="3810000"/>
            <a:ext cx="140017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pour milk</a:t>
            </a:r>
            <a:endParaRPr/>
          </a:p>
        </p:txBody>
      </p:sp>
      <p:sp>
        <p:nvSpPr>
          <p:cNvPr id="1654" name="Google Shape;1654;p73"/>
          <p:cNvSpPr txBox="1"/>
          <p:nvPr/>
        </p:nvSpPr>
        <p:spPr>
          <a:xfrm>
            <a:off x="6019800" y="3657600"/>
            <a:ext cx="1460500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get spoon</a:t>
            </a:r>
            <a:endParaRPr/>
          </a:p>
        </p:txBody>
      </p:sp>
      <p:sp>
        <p:nvSpPr>
          <p:cNvPr id="1655" name="Google Shape;1655;p73"/>
          <p:cNvSpPr txBox="1"/>
          <p:nvPr/>
        </p:nvSpPr>
        <p:spPr>
          <a:xfrm>
            <a:off x="3352800" y="4876800"/>
            <a:ext cx="191293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eat breakfast</a:t>
            </a:r>
            <a:endParaRPr/>
          </a:p>
        </p:txBody>
      </p:sp>
      <p:sp>
        <p:nvSpPr>
          <p:cNvPr id="1656" name="Google Shape;1656;p73"/>
          <p:cNvSpPr/>
          <p:nvPr/>
        </p:nvSpPr>
        <p:spPr>
          <a:xfrm>
            <a:off x="1447800" y="1981200"/>
            <a:ext cx="1524000" cy="45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57" name="Google Shape;1657;p73"/>
          <p:cNvSpPr/>
          <p:nvPr/>
        </p:nvSpPr>
        <p:spPr>
          <a:xfrm>
            <a:off x="1524000" y="2743200"/>
            <a:ext cx="1524000" cy="45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58" name="Google Shape;1658;p73"/>
          <p:cNvSpPr/>
          <p:nvPr/>
        </p:nvSpPr>
        <p:spPr>
          <a:xfrm>
            <a:off x="3733800" y="2133600"/>
            <a:ext cx="1524000" cy="45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59" name="Google Shape;1659;p73"/>
          <p:cNvSpPr/>
          <p:nvPr/>
        </p:nvSpPr>
        <p:spPr>
          <a:xfrm>
            <a:off x="3733800" y="2895600"/>
            <a:ext cx="1752600" cy="45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60" name="Google Shape;1660;p73"/>
          <p:cNvSpPr/>
          <p:nvPr/>
        </p:nvSpPr>
        <p:spPr>
          <a:xfrm>
            <a:off x="3733800" y="3810000"/>
            <a:ext cx="1752600" cy="45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61" name="Google Shape;1661;p73"/>
          <p:cNvSpPr/>
          <p:nvPr/>
        </p:nvSpPr>
        <p:spPr>
          <a:xfrm>
            <a:off x="6019800" y="3657600"/>
            <a:ext cx="1752600" cy="45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62" name="Google Shape;1662;p73"/>
          <p:cNvSpPr/>
          <p:nvPr/>
        </p:nvSpPr>
        <p:spPr>
          <a:xfrm>
            <a:off x="3352800" y="4876800"/>
            <a:ext cx="2057400" cy="457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663" name="Google Shape;1663;p73"/>
          <p:cNvCxnSpPr/>
          <p:nvPr/>
        </p:nvCxnSpPr>
        <p:spPr>
          <a:xfrm>
            <a:off x="2286000" y="2438400"/>
            <a:ext cx="0" cy="3048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4" name="Google Shape;1664;p73"/>
          <p:cNvCxnSpPr/>
          <p:nvPr/>
        </p:nvCxnSpPr>
        <p:spPr>
          <a:xfrm>
            <a:off x="4495800" y="2590800"/>
            <a:ext cx="0" cy="3048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5" name="Google Shape;1665;p73"/>
          <p:cNvCxnSpPr/>
          <p:nvPr/>
        </p:nvCxnSpPr>
        <p:spPr>
          <a:xfrm>
            <a:off x="4495800" y="3352800"/>
            <a:ext cx="0" cy="4572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6" name="Google Shape;1666;p73"/>
          <p:cNvCxnSpPr/>
          <p:nvPr/>
        </p:nvCxnSpPr>
        <p:spPr>
          <a:xfrm>
            <a:off x="2286000" y="3200400"/>
            <a:ext cx="1219200" cy="16764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7" name="Google Shape;1667;p73"/>
          <p:cNvCxnSpPr/>
          <p:nvPr/>
        </p:nvCxnSpPr>
        <p:spPr>
          <a:xfrm>
            <a:off x="4495800" y="4267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8" name="Google Shape;1668;p73"/>
          <p:cNvCxnSpPr/>
          <p:nvPr/>
        </p:nvCxnSpPr>
        <p:spPr>
          <a:xfrm flipH="1">
            <a:off x="5334000" y="4114800"/>
            <a:ext cx="990600" cy="762000"/>
          </a:xfrm>
          <a:prstGeom prst="straightConnector1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9" name="Google Shape;1669;p73"/>
          <p:cNvSpPr txBox="1"/>
          <p:nvPr/>
        </p:nvSpPr>
        <p:spPr>
          <a:xfrm>
            <a:off x="822325" y="5461000"/>
            <a:ext cx="651351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CC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Order:</a:t>
            </a:r>
            <a:r>
              <a:rPr b="0" i="0" lang="en-US" sz="2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 glass, juice, bowl, cereal, milk, spoon, eat.</a:t>
            </a:r>
            <a:endParaRPr/>
          </a:p>
        </p:txBody>
      </p:sp>
      <p:sp>
        <p:nvSpPr>
          <p:cNvPr id="1670" name="Google Shape;1670;p73"/>
          <p:cNvSpPr/>
          <p:nvPr/>
        </p:nvSpPr>
        <p:spPr>
          <a:xfrm>
            <a:off x="457200" y="333375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Precedence Example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p74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7" name="Google Shape;1677;p74"/>
          <p:cNvSpPr txBox="1"/>
          <p:nvPr>
            <p:ph idx="4294967295" type="title"/>
          </p:nvPr>
        </p:nvSpPr>
        <p:spPr>
          <a:xfrm>
            <a:off x="457200" y="301625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Acyclic?</a:t>
            </a:r>
            <a:endParaRPr/>
          </a:p>
        </p:txBody>
      </p:sp>
      <p:sp>
        <p:nvSpPr>
          <p:cNvPr id="1678" name="Google Shape;1678;p74"/>
          <p:cNvSpPr txBox="1"/>
          <p:nvPr>
            <p:ph idx="4294967295" type="body"/>
          </p:nvPr>
        </p:nvSpPr>
        <p:spPr>
          <a:xfrm>
            <a:off x="457200" y="1246188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Why must directed graph by acyclic for the topological sort problem?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1950"/>
              <a:buChar char="●"/>
            </a:pPr>
            <a:r>
              <a:rPr lang="en-US"/>
              <a:t>Otherwise, no way to order events linearly without violating a precedence constraint.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p75"/>
          <p:cNvSpPr txBox="1"/>
          <p:nvPr/>
        </p:nvSpPr>
        <p:spPr>
          <a:xfrm>
            <a:off x="6781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5" name="Google Shape;1685;p75"/>
          <p:cNvSpPr txBox="1"/>
          <p:nvPr>
            <p:ph idx="4294967295"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Topological Sort Algorithm</a:t>
            </a:r>
            <a:endParaRPr/>
          </a:p>
        </p:txBody>
      </p:sp>
      <p:sp>
        <p:nvSpPr>
          <p:cNvPr id="1686" name="Google Shape;1686;p75"/>
          <p:cNvSpPr txBox="1"/>
          <p:nvPr>
            <p:ph idx="4294967295" type="body"/>
          </p:nvPr>
        </p:nvSpPr>
        <p:spPr>
          <a:xfrm>
            <a:off x="457200" y="3141663"/>
            <a:ext cx="8229600" cy="2232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600"/>
              <a:buFont typeface="Arial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1950"/>
              <a:buChar char="●"/>
            </a:pPr>
            <a:r>
              <a:rPr lang="en-US">
                <a:solidFill>
                  <a:srgbClr val="0000CC"/>
                </a:solidFill>
              </a:rPr>
              <a:t>Time</a:t>
            </a:r>
            <a:r>
              <a:rPr lang="en-US"/>
              <a:t>: </a:t>
            </a:r>
            <a:r>
              <a:rPr i="1" lang="en-US"/>
              <a:t>O</a:t>
            </a:r>
            <a:r>
              <a:rPr lang="en-US"/>
              <a:t>(</a:t>
            </a:r>
            <a:r>
              <a:rPr i="1" lang="en-US"/>
              <a:t>V </a:t>
            </a:r>
            <a:r>
              <a:rPr lang="en-US"/>
              <a:t>+ </a:t>
            </a:r>
            <a:r>
              <a:rPr i="1" lang="en-US"/>
              <a:t>E</a:t>
            </a:r>
            <a:r>
              <a:rPr lang="en-US"/>
              <a:t>)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1950"/>
              <a:buChar char="●"/>
            </a:pPr>
            <a:r>
              <a:rPr lang="en-US">
                <a:solidFill>
                  <a:srgbClr val="0000CC"/>
                </a:solidFill>
              </a:rPr>
              <a:t>Correctness</a:t>
            </a:r>
            <a:r>
              <a:rPr lang="en-US"/>
              <a:t>: Want to prove that</a:t>
            </a:r>
            <a:br>
              <a:rPr lang="en-US"/>
            </a:br>
            <a:r>
              <a:rPr lang="en-US"/>
              <a:t>	(</a:t>
            </a:r>
            <a:r>
              <a:rPr i="1" lang="en-US"/>
              <a:t>u, v</a:t>
            </a:r>
            <a:r>
              <a:rPr lang="en-US"/>
              <a:t>) ∈ </a:t>
            </a:r>
            <a:r>
              <a:rPr i="1" lang="en-US"/>
              <a:t>E</a:t>
            </a:r>
            <a:r>
              <a:rPr lang="en-US"/>
              <a:t>(</a:t>
            </a:r>
            <a:r>
              <a:rPr i="1" lang="en-US"/>
              <a:t>G</a:t>
            </a:r>
            <a:r>
              <a:rPr lang="en-US"/>
              <a:t>) ⇒ </a:t>
            </a:r>
            <a:r>
              <a:rPr i="1" lang="en-US"/>
              <a:t>f </a:t>
            </a:r>
            <a:r>
              <a:rPr lang="en-US"/>
              <a:t>(</a:t>
            </a:r>
            <a:r>
              <a:rPr i="1" lang="en-US"/>
              <a:t>u</a:t>
            </a:r>
            <a:r>
              <a:rPr lang="en-US"/>
              <a:t>) &gt; </a:t>
            </a:r>
            <a:r>
              <a:rPr i="1" lang="en-US"/>
              <a:t>f </a:t>
            </a:r>
            <a:r>
              <a:rPr lang="en-US"/>
              <a:t>(</a:t>
            </a:r>
            <a:r>
              <a:rPr i="1" lang="en-US"/>
              <a:t>v</a:t>
            </a:r>
            <a:r>
              <a:rPr lang="en-US"/>
              <a:t>)</a:t>
            </a:r>
            <a:endParaRPr/>
          </a:p>
        </p:txBody>
      </p:sp>
      <p:pic>
        <p:nvPicPr>
          <p:cNvPr descr="topological_sort" id="1687" name="Google Shape;1687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1166813"/>
            <a:ext cx="8569325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76"/>
          <p:cNvSpPr/>
          <p:nvPr/>
        </p:nvSpPr>
        <p:spPr>
          <a:xfrm>
            <a:off x="5257800" y="36576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/>
          </a:p>
        </p:txBody>
      </p:sp>
      <p:sp>
        <p:nvSpPr>
          <p:cNvPr id="1693" name="Google Shape;1693;p76"/>
          <p:cNvSpPr/>
          <p:nvPr/>
        </p:nvSpPr>
        <p:spPr>
          <a:xfrm>
            <a:off x="2622550" y="5081588"/>
            <a:ext cx="2239963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Topological order:  </a:t>
            </a:r>
            <a:endParaRPr/>
          </a:p>
        </p:txBody>
      </p:sp>
      <p:sp>
        <p:nvSpPr>
          <p:cNvPr id="1694" name="Google Shape;1694;p76"/>
          <p:cNvSpPr/>
          <p:nvPr/>
        </p:nvSpPr>
        <p:spPr>
          <a:xfrm>
            <a:off x="3581400" y="16764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/>
          </a:p>
        </p:txBody>
      </p:sp>
      <p:sp>
        <p:nvSpPr>
          <p:cNvPr id="1695" name="Google Shape;1695;p76"/>
          <p:cNvSpPr/>
          <p:nvPr/>
        </p:nvSpPr>
        <p:spPr>
          <a:xfrm>
            <a:off x="5257800" y="16764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/>
          </a:p>
        </p:txBody>
      </p:sp>
      <p:sp>
        <p:nvSpPr>
          <p:cNvPr id="1696" name="Google Shape;1696;p76"/>
          <p:cNvSpPr/>
          <p:nvPr/>
        </p:nvSpPr>
        <p:spPr>
          <a:xfrm>
            <a:off x="2667000" y="26670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endParaRPr/>
          </a:p>
        </p:txBody>
      </p:sp>
      <p:sp>
        <p:nvSpPr>
          <p:cNvPr id="1697" name="Google Shape;1697;p76"/>
          <p:cNvSpPr/>
          <p:nvPr/>
        </p:nvSpPr>
        <p:spPr>
          <a:xfrm>
            <a:off x="4419600" y="26670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endParaRPr/>
          </a:p>
        </p:txBody>
      </p:sp>
      <p:sp>
        <p:nvSpPr>
          <p:cNvPr id="1698" name="Google Shape;1698;p76"/>
          <p:cNvSpPr/>
          <p:nvPr/>
        </p:nvSpPr>
        <p:spPr>
          <a:xfrm>
            <a:off x="6172200" y="26670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endParaRPr/>
          </a:p>
        </p:txBody>
      </p:sp>
      <p:sp>
        <p:nvSpPr>
          <p:cNvPr id="1699" name="Google Shape;1699;p76"/>
          <p:cNvSpPr/>
          <p:nvPr/>
        </p:nvSpPr>
        <p:spPr>
          <a:xfrm>
            <a:off x="3581400" y="36576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7</a:t>
            </a:r>
            <a:endParaRPr/>
          </a:p>
        </p:txBody>
      </p:sp>
      <p:sp>
        <p:nvSpPr>
          <p:cNvPr id="1700" name="Google Shape;1700;p76"/>
          <p:cNvSpPr/>
          <p:nvPr/>
        </p:nvSpPr>
        <p:spPr>
          <a:xfrm>
            <a:off x="5257800" y="3657600"/>
            <a:ext cx="304800" cy="304800"/>
          </a:xfrm>
          <a:prstGeom prst="ellipse">
            <a:avLst/>
          </a:prstGeom>
          <a:solidFill>
            <a:srgbClr val="0033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/>
          </a:p>
        </p:txBody>
      </p:sp>
      <p:cxnSp>
        <p:nvCxnSpPr>
          <p:cNvPr id="1701" name="Google Shape;1701;p76"/>
          <p:cNvCxnSpPr>
            <a:stCxn id="1694" idx="3"/>
            <a:endCxn id="1696" idx="7"/>
          </p:cNvCxnSpPr>
          <p:nvPr/>
        </p:nvCxnSpPr>
        <p:spPr>
          <a:xfrm flipH="1">
            <a:off x="2927037" y="1936563"/>
            <a:ext cx="6990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2" name="Google Shape;1702;p76"/>
          <p:cNvCxnSpPr>
            <a:stCxn id="1694" idx="5"/>
            <a:endCxn id="1697" idx="1"/>
          </p:cNvCxnSpPr>
          <p:nvPr/>
        </p:nvCxnSpPr>
        <p:spPr>
          <a:xfrm>
            <a:off x="3841563" y="1936563"/>
            <a:ext cx="6228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3" name="Google Shape;1703;p76"/>
          <p:cNvCxnSpPr>
            <a:stCxn id="1694" idx="6"/>
            <a:endCxn id="1695" idx="2"/>
          </p:cNvCxnSpPr>
          <p:nvPr/>
        </p:nvCxnSpPr>
        <p:spPr>
          <a:xfrm>
            <a:off x="3886200" y="1828800"/>
            <a:ext cx="1371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4" name="Google Shape;1704;p76"/>
          <p:cNvCxnSpPr>
            <a:stCxn id="1695" idx="5"/>
            <a:endCxn id="1698" idx="1"/>
          </p:cNvCxnSpPr>
          <p:nvPr/>
        </p:nvCxnSpPr>
        <p:spPr>
          <a:xfrm>
            <a:off x="5517963" y="1936563"/>
            <a:ext cx="6990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5" name="Google Shape;1705;p76"/>
          <p:cNvCxnSpPr>
            <a:stCxn id="1698" idx="2"/>
            <a:endCxn id="1697" idx="6"/>
          </p:cNvCxnSpPr>
          <p:nvPr/>
        </p:nvCxnSpPr>
        <p:spPr>
          <a:xfrm rot="10800000">
            <a:off x="4724400" y="2819400"/>
            <a:ext cx="14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6" name="Google Shape;1706;p76"/>
          <p:cNvCxnSpPr>
            <a:stCxn id="1700" idx="7"/>
            <a:endCxn id="1698" idx="3"/>
          </p:cNvCxnSpPr>
          <p:nvPr/>
        </p:nvCxnSpPr>
        <p:spPr>
          <a:xfrm flipH="1" rot="10800000">
            <a:off x="5517963" y="2927037"/>
            <a:ext cx="6990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7" name="Google Shape;1707;p76"/>
          <p:cNvCxnSpPr>
            <a:stCxn id="1697" idx="3"/>
            <a:endCxn id="1699" idx="7"/>
          </p:cNvCxnSpPr>
          <p:nvPr/>
        </p:nvCxnSpPr>
        <p:spPr>
          <a:xfrm flipH="1">
            <a:off x="3841437" y="2927163"/>
            <a:ext cx="6228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8" name="Google Shape;1708;p76"/>
          <p:cNvCxnSpPr>
            <a:stCxn id="1700" idx="1"/>
            <a:endCxn id="1697" idx="5"/>
          </p:cNvCxnSpPr>
          <p:nvPr/>
        </p:nvCxnSpPr>
        <p:spPr>
          <a:xfrm rot="10800000">
            <a:off x="4679637" y="2927037"/>
            <a:ext cx="6228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9" name="Google Shape;1709;p76"/>
          <p:cNvCxnSpPr>
            <a:stCxn id="1700" idx="2"/>
            <a:endCxn id="1699" idx="6"/>
          </p:cNvCxnSpPr>
          <p:nvPr/>
        </p:nvCxnSpPr>
        <p:spPr>
          <a:xfrm rot="10800000">
            <a:off x="3886200" y="3810000"/>
            <a:ext cx="1371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0" name="Google Shape;1710;p76"/>
          <p:cNvCxnSpPr>
            <a:stCxn id="1696" idx="5"/>
            <a:endCxn id="1699" idx="1"/>
          </p:cNvCxnSpPr>
          <p:nvPr/>
        </p:nvCxnSpPr>
        <p:spPr>
          <a:xfrm>
            <a:off x="2927163" y="2927163"/>
            <a:ext cx="6990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1" name="Google Shape;1711;p76"/>
          <p:cNvCxnSpPr>
            <a:stCxn id="1697" idx="2"/>
            <a:endCxn id="1696" idx="6"/>
          </p:cNvCxnSpPr>
          <p:nvPr/>
        </p:nvCxnSpPr>
        <p:spPr>
          <a:xfrm rot="10800000">
            <a:off x="2971800" y="2819400"/>
            <a:ext cx="14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2" name="Google Shape;1712;p76"/>
          <p:cNvCxnSpPr>
            <a:stCxn id="1695" idx="3"/>
            <a:endCxn id="1697" idx="7"/>
          </p:cNvCxnSpPr>
          <p:nvPr/>
        </p:nvCxnSpPr>
        <p:spPr>
          <a:xfrm flipH="1">
            <a:off x="4679637" y="1936563"/>
            <a:ext cx="6228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3" name="Google Shape;1713;p76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Topological Sort: Another Algorithm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77"/>
          <p:cNvSpPr/>
          <p:nvPr/>
        </p:nvSpPr>
        <p:spPr>
          <a:xfrm>
            <a:off x="3581400" y="1676400"/>
            <a:ext cx="304800" cy="304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/>
          </a:p>
        </p:txBody>
      </p:sp>
      <p:sp>
        <p:nvSpPr>
          <p:cNvPr id="1719" name="Google Shape;1719;p77"/>
          <p:cNvSpPr/>
          <p:nvPr/>
        </p:nvSpPr>
        <p:spPr>
          <a:xfrm>
            <a:off x="2622550" y="5081588"/>
            <a:ext cx="241935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Topological order: 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20" name="Google Shape;1720;p77"/>
          <p:cNvSpPr/>
          <p:nvPr/>
        </p:nvSpPr>
        <p:spPr>
          <a:xfrm>
            <a:off x="3581400" y="1676400"/>
            <a:ext cx="304800" cy="304800"/>
          </a:xfrm>
          <a:prstGeom prst="ellipse">
            <a:avLst/>
          </a:prstGeom>
          <a:solidFill>
            <a:srgbClr val="0033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/>
          </a:p>
        </p:txBody>
      </p:sp>
      <p:sp>
        <p:nvSpPr>
          <p:cNvPr id="1721" name="Google Shape;1721;p77"/>
          <p:cNvSpPr/>
          <p:nvPr/>
        </p:nvSpPr>
        <p:spPr>
          <a:xfrm>
            <a:off x="5257800" y="16764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/>
          </a:p>
        </p:txBody>
      </p:sp>
      <p:sp>
        <p:nvSpPr>
          <p:cNvPr id="1722" name="Google Shape;1722;p77"/>
          <p:cNvSpPr/>
          <p:nvPr/>
        </p:nvSpPr>
        <p:spPr>
          <a:xfrm>
            <a:off x="2667000" y="26670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endParaRPr/>
          </a:p>
        </p:txBody>
      </p:sp>
      <p:sp>
        <p:nvSpPr>
          <p:cNvPr id="1723" name="Google Shape;1723;p77"/>
          <p:cNvSpPr/>
          <p:nvPr/>
        </p:nvSpPr>
        <p:spPr>
          <a:xfrm>
            <a:off x="4419600" y="26670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endParaRPr/>
          </a:p>
        </p:txBody>
      </p:sp>
      <p:sp>
        <p:nvSpPr>
          <p:cNvPr id="1724" name="Google Shape;1724;p77"/>
          <p:cNvSpPr/>
          <p:nvPr/>
        </p:nvSpPr>
        <p:spPr>
          <a:xfrm>
            <a:off x="6172200" y="26670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endParaRPr/>
          </a:p>
        </p:txBody>
      </p:sp>
      <p:sp>
        <p:nvSpPr>
          <p:cNvPr id="1725" name="Google Shape;1725;p77"/>
          <p:cNvSpPr/>
          <p:nvPr/>
        </p:nvSpPr>
        <p:spPr>
          <a:xfrm>
            <a:off x="3581400" y="36576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7</a:t>
            </a:r>
            <a:endParaRPr/>
          </a:p>
        </p:txBody>
      </p:sp>
      <p:cxnSp>
        <p:nvCxnSpPr>
          <p:cNvPr id="1726" name="Google Shape;1726;p77"/>
          <p:cNvCxnSpPr>
            <a:stCxn id="1720" idx="3"/>
            <a:endCxn id="1722" idx="7"/>
          </p:cNvCxnSpPr>
          <p:nvPr/>
        </p:nvCxnSpPr>
        <p:spPr>
          <a:xfrm flipH="1">
            <a:off x="2927037" y="1936563"/>
            <a:ext cx="6990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7" name="Google Shape;1727;p77"/>
          <p:cNvCxnSpPr>
            <a:stCxn id="1720" idx="5"/>
            <a:endCxn id="1723" idx="1"/>
          </p:cNvCxnSpPr>
          <p:nvPr/>
        </p:nvCxnSpPr>
        <p:spPr>
          <a:xfrm>
            <a:off x="3841563" y="1936563"/>
            <a:ext cx="6228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8" name="Google Shape;1728;p77"/>
          <p:cNvCxnSpPr>
            <a:stCxn id="1720" idx="6"/>
            <a:endCxn id="1721" idx="2"/>
          </p:cNvCxnSpPr>
          <p:nvPr/>
        </p:nvCxnSpPr>
        <p:spPr>
          <a:xfrm>
            <a:off x="3886200" y="1828800"/>
            <a:ext cx="1371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9" name="Google Shape;1729;p77"/>
          <p:cNvCxnSpPr>
            <a:stCxn id="1721" idx="5"/>
            <a:endCxn id="1724" idx="1"/>
          </p:cNvCxnSpPr>
          <p:nvPr/>
        </p:nvCxnSpPr>
        <p:spPr>
          <a:xfrm>
            <a:off x="5517963" y="1936563"/>
            <a:ext cx="6990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0" name="Google Shape;1730;p77"/>
          <p:cNvCxnSpPr>
            <a:stCxn id="1724" idx="2"/>
            <a:endCxn id="1723" idx="6"/>
          </p:cNvCxnSpPr>
          <p:nvPr/>
        </p:nvCxnSpPr>
        <p:spPr>
          <a:xfrm rot="10800000">
            <a:off x="4724400" y="2819400"/>
            <a:ext cx="14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1" name="Google Shape;1731;p77"/>
          <p:cNvCxnSpPr>
            <a:stCxn id="1723" idx="3"/>
            <a:endCxn id="1725" idx="7"/>
          </p:cNvCxnSpPr>
          <p:nvPr/>
        </p:nvCxnSpPr>
        <p:spPr>
          <a:xfrm flipH="1">
            <a:off x="3841437" y="2927163"/>
            <a:ext cx="6228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2" name="Google Shape;1732;p77"/>
          <p:cNvCxnSpPr>
            <a:stCxn id="1722" idx="5"/>
            <a:endCxn id="1725" idx="1"/>
          </p:cNvCxnSpPr>
          <p:nvPr/>
        </p:nvCxnSpPr>
        <p:spPr>
          <a:xfrm>
            <a:off x="2927163" y="2927163"/>
            <a:ext cx="6990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3" name="Google Shape;1733;p77"/>
          <p:cNvCxnSpPr>
            <a:stCxn id="1723" idx="2"/>
            <a:endCxn id="1722" idx="6"/>
          </p:cNvCxnSpPr>
          <p:nvPr/>
        </p:nvCxnSpPr>
        <p:spPr>
          <a:xfrm rot="10800000">
            <a:off x="2971800" y="2819400"/>
            <a:ext cx="14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4" name="Google Shape;1734;p77"/>
          <p:cNvCxnSpPr>
            <a:stCxn id="1721" idx="3"/>
            <a:endCxn id="1723" idx="7"/>
          </p:cNvCxnSpPr>
          <p:nvPr/>
        </p:nvCxnSpPr>
        <p:spPr>
          <a:xfrm flipH="1">
            <a:off x="4679637" y="1936563"/>
            <a:ext cx="6228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5" name="Google Shape;1735;p77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Topological Sort: Another Algorithm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78"/>
          <p:cNvSpPr/>
          <p:nvPr/>
        </p:nvSpPr>
        <p:spPr>
          <a:xfrm>
            <a:off x="5257800" y="1676400"/>
            <a:ext cx="304800" cy="304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/>
          </a:p>
        </p:txBody>
      </p:sp>
      <p:sp>
        <p:nvSpPr>
          <p:cNvPr id="1741" name="Google Shape;1741;p78"/>
          <p:cNvSpPr/>
          <p:nvPr/>
        </p:nvSpPr>
        <p:spPr>
          <a:xfrm>
            <a:off x="2622550" y="5081588"/>
            <a:ext cx="2755900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Topological order: 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42" name="Google Shape;1742;p78"/>
          <p:cNvSpPr/>
          <p:nvPr/>
        </p:nvSpPr>
        <p:spPr>
          <a:xfrm>
            <a:off x="5257800" y="1676400"/>
            <a:ext cx="304800" cy="304800"/>
          </a:xfrm>
          <a:prstGeom prst="ellipse">
            <a:avLst/>
          </a:prstGeom>
          <a:solidFill>
            <a:srgbClr val="0033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/>
          </a:p>
        </p:txBody>
      </p:sp>
      <p:sp>
        <p:nvSpPr>
          <p:cNvPr id="1743" name="Google Shape;1743;p78"/>
          <p:cNvSpPr/>
          <p:nvPr/>
        </p:nvSpPr>
        <p:spPr>
          <a:xfrm>
            <a:off x="2667000" y="26670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endParaRPr/>
          </a:p>
        </p:txBody>
      </p:sp>
      <p:sp>
        <p:nvSpPr>
          <p:cNvPr id="1744" name="Google Shape;1744;p78"/>
          <p:cNvSpPr/>
          <p:nvPr/>
        </p:nvSpPr>
        <p:spPr>
          <a:xfrm>
            <a:off x="4419600" y="26670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endParaRPr/>
          </a:p>
        </p:txBody>
      </p:sp>
      <p:sp>
        <p:nvSpPr>
          <p:cNvPr id="1745" name="Google Shape;1745;p78"/>
          <p:cNvSpPr/>
          <p:nvPr/>
        </p:nvSpPr>
        <p:spPr>
          <a:xfrm>
            <a:off x="6172200" y="26670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endParaRPr/>
          </a:p>
        </p:txBody>
      </p:sp>
      <p:sp>
        <p:nvSpPr>
          <p:cNvPr id="1746" name="Google Shape;1746;p78"/>
          <p:cNvSpPr/>
          <p:nvPr/>
        </p:nvSpPr>
        <p:spPr>
          <a:xfrm>
            <a:off x="3581400" y="36576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7</a:t>
            </a:r>
            <a:endParaRPr/>
          </a:p>
        </p:txBody>
      </p:sp>
      <p:cxnSp>
        <p:nvCxnSpPr>
          <p:cNvPr id="1747" name="Google Shape;1747;p78"/>
          <p:cNvCxnSpPr>
            <a:stCxn id="1742" idx="5"/>
            <a:endCxn id="1745" idx="1"/>
          </p:cNvCxnSpPr>
          <p:nvPr/>
        </p:nvCxnSpPr>
        <p:spPr>
          <a:xfrm>
            <a:off x="5517963" y="1936563"/>
            <a:ext cx="6990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8" name="Google Shape;1748;p78"/>
          <p:cNvCxnSpPr>
            <a:stCxn id="1745" idx="2"/>
            <a:endCxn id="1744" idx="6"/>
          </p:cNvCxnSpPr>
          <p:nvPr/>
        </p:nvCxnSpPr>
        <p:spPr>
          <a:xfrm rot="10800000">
            <a:off x="4724400" y="2819400"/>
            <a:ext cx="14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9" name="Google Shape;1749;p78"/>
          <p:cNvCxnSpPr>
            <a:stCxn id="1744" idx="3"/>
            <a:endCxn id="1746" idx="7"/>
          </p:cNvCxnSpPr>
          <p:nvPr/>
        </p:nvCxnSpPr>
        <p:spPr>
          <a:xfrm flipH="1">
            <a:off x="3841437" y="2927163"/>
            <a:ext cx="6228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0" name="Google Shape;1750;p78"/>
          <p:cNvCxnSpPr>
            <a:stCxn id="1743" idx="5"/>
            <a:endCxn id="1746" idx="1"/>
          </p:cNvCxnSpPr>
          <p:nvPr/>
        </p:nvCxnSpPr>
        <p:spPr>
          <a:xfrm>
            <a:off x="2927163" y="2927163"/>
            <a:ext cx="6990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1" name="Google Shape;1751;p78"/>
          <p:cNvCxnSpPr>
            <a:stCxn id="1744" idx="2"/>
            <a:endCxn id="1743" idx="6"/>
          </p:cNvCxnSpPr>
          <p:nvPr/>
        </p:nvCxnSpPr>
        <p:spPr>
          <a:xfrm rot="10800000">
            <a:off x="2971800" y="2819400"/>
            <a:ext cx="14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2" name="Google Shape;1752;p78"/>
          <p:cNvCxnSpPr>
            <a:stCxn id="1742" idx="3"/>
            <a:endCxn id="1744" idx="7"/>
          </p:cNvCxnSpPr>
          <p:nvPr/>
        </p:nvCxnSpPr>
        <p:spPr>
          <a:xfrm flipH="1">
            <a:off x="4679637" y="1936563"/>
            <a:ext cx="6228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3" name="Google Shape;1753;p78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Topological Sort: Another Algorithm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79"/>
          <p:cNvSpPr/>
          <p:nvPr/>
        </p:nvSpPr>
        <p:spPr>
          <a:xfrm>
            <a:off x="6172200" y="2667000"/>
            <a:ext cx="304800" cy="304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endParaRPr/>
          </a:p>
        </p:txBody>
      </p:sp>
      <p:sp>
        <p:nvSpPr>
          <p:cNvPr id="1759" name="Google Shape;1759;p79"/>
          <p:cNvSpPr/>
          <p:nvPr/>
        </p:nvSpPr>
        <p:spPr>
          <a:xfrm>
            <a:off x="2622550" y="5081588"/>
            <a:ext cx="3090863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Topological order: 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60" name="Google Shape;1760;p79"/>
          <p:cNvSpPr/>
          <p:nvPr/>
        </p:nvSpPr>
        <p:spPr>
          <a:xfrm>
            <a:off x="2667000" y="26670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endParaRPr/>
          </a:p>
        </p:txBody>
      </p:sp>
      <p:sp>
        <p:nvSpPr>
          <p:cNvPr id="1761" name="Google Shape;1761;p79"/>
          <p:cNvSpPr/>
          <p:nvPr/>
        </p:nvSpPr>
        <p:spPr>
          <a:xfrm>
            <a:off x="4419600" y="26670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endParaRPr/>
          </a:p>
        </p:txBody>
      </p:sp>
      <p:sp>
        <p:nvSpPr>
          <p:cNvPr id="1762" name="Google Shape;1762;p79"/>
          <p:cNvSpPr/>
          <p:nvPr/>
        </p:nvSpPr>
        <p:spPr>
          <a:xfrm>
            <a:off x="6172200" y="2667000"/>
            <a:ext cx="304800" cy="304800"/>
          </a:xfrm>
          <a:prstGeom prst="ellipse">
            <a:avLst/>
          </a:prstGeom>
          <a:solidFill>
            <a:srgbClr val="0033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endParaRPr/>
          </a:p>
        </p:txBody>
      </p:sp>
      <p:sp>
        <p:nvSpPr>
          <p:cNvPr id="1763" name="Google Shape;1763;p79"/>
          <p:cNvSpPr/>
          <p:nvPr/>
        </p:nvSpPr>
        <p:spPr>
          <a:xfrm>
            <a:off x="3581400" y="36576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7</a:t>
            </a:r>
            <a:endParaRPr/>
          </a:p>
        </p:txBody>
      </p:sp>
      <p:cxnSp>
        <p:nvCxnSpPr>
          <p:cNvPr id="1764" name="Google Shape;1764;p79"/>
          <p:cNvCxnSpPr>
            <a:stCxn id="1762" idx="2"/>
            <a:endCxn id="1761" idx="6"/>
          </p:cNvCxnSpPr>
          <p:nvPr/>
        </p:nvCxnSpPr>
        <p:spPr>
          <a:xfrm rot="10800000">
            <a:off x="4724400" y="2819400"/>
            <a:ext cx="14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5" name="Google Shape;1765;p79"/>
          <p:cNvCxnSpPr>
            <a:stCxn id="1761" idx="3"/>
            <a:endCxn id="1763" idx="7"/>
          </p:cNvCxnSpPr>
          <p:nvPr/>
        </p:nvCxnSpPr>
        <p:spPr>
          <a:xfrm flipH="1">
            <a:off x="3841437" y="2927163"/>
            <a:ext cx="6228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6" name="Google Shape;1766;p79"/>
          <p:cNvCxnSpPr>
            <a:stCxn id="1760" idx="5"/>
            <a:endCxn id="1763" idx="1"/>
          </p:cNvCxnSpPr>
          <p:nvPr/>
        </p:nvCxnSpPr>
        <p:spPr>
          <a:xfrm>
            <a:off x="2927163" y="2927163"/>
            <a:ext cx="6990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7" name="Google Shape;1767;p79"/>
          <p:cNvCxnSpPr>
            <a:stCxn id="1761" idx="2"/>
            <a:endCxn id="1760" idx="6"/>
          </p:cNvCxnSpPr>
          <p:nvPr/>
        </p:nvCxnSpPr>
        <p:spPr>
          <a:xfrm rot="10800000">
            <a:off x="2971800" y="2819400"/>
            <a:ext cx="14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8" name="Google Shape;1768;p79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Topological Sort: Another Algorithm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2" name="Shape 1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3" name="Google Shape;1773;p80"/>
          <p:cNvSpPr/>
          <p:nvPr/>
        </p:nvSpPr>
        <p:spPr>
          <a:xfrm>
            <a:off x="4419600" y="2667000"/>
            <a:ext cx="304800" cy="304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endParaRPr/>
          </a:p>
        </p:txBody>
      </p:sp>
      <p:sp>
        <p:nvSpPr>
          <p:cNvPr id="1774" name="Google Shape;1774;p80"/>
          <p:cNvSpPr/>
          <p:nvPr/>
        </p:nvSpPr>
        <p:spPr>
          <a:xfrm>
            <a:off x="2622550" y="5081588"/>
            <a:ext cx="3427413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Topological order: 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75" name="Google Shape;1775;p80"/>
          <p:cNvSpPr/>
          <p:nvPr/>
        </p:nvSpPr>
        <p:spPr>
          <a:xfrm>
            <a:off x="2667000" y="26670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endParaRPr/>
          </a:p>
        </p:txBody>
      </p:sp>
      <p:sp>
        <p:nvSpPr>
          <p:cNvPr id="1776" name="Google Shape;1776;p80"/>
          <p:cNvSpPr/>
          <p:nvPr/>
        </p:nvSpPr>
        <p:spPr>
          <a:xfrm>
            <a:off x="4419600" y="2667000"/>
            <a:ext cx="304800" cy="304800"/>
          </a:xfrm>
          <a:prstGeom prst="ellipse">
            <a:avLst/>
          </a:prstGeom>
          <a:solidFill>
            <a:srgbClr val="0033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endParaRPr/>
          </a:p>
        </p:txBody>
      </p:sp>
      <p:sp>
        <p:nvSpPr>
          <p:cNvPr id="1777" name="Google Shape;1777;p80"/>
          <p:cNvSpPr/>
          <p:nvPr/>
        </p:nvSpPr>
        <p:spPr>
          <a:xfrm>
            <a:off x="3581400" y="36576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7</a:t>
            </a:r>
            <a:endParaRPr/>
          </a:p>
        </p:txBody>
      </p:sp>
      <p:cxnSp>
        <p:nvCxnSpPr>
          <p:cNvPr id="1778" name="Google Shape;1778;p80"/>
          <p:cNvCxnSpPr>
            <a:stCxn id="1776" idx="3"/>
            <a:endCxn id="1777" idx="7"/>
          </p:cNvCxnSpPr>
          <p:nvPr/>
        </p:nvCxnSpPr>
        <p:spPr>
          <a:xfrm flipH="1">
            <a:off x="3841437" y="2927163"/>
            <a:ext cx="6228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9" name="Google Shape;1779;p80"/>
          <p:cNvCxnSpPr>
            <a:stCxn id="1775" idx="5"/>
            <a:endCxn id="1777" idx="1"/>
          </p:cNvCxnSpPr>
          <p:nvPr/>
        </p:nvCxnSpPr>
        <p:spPr>
          <a:xfrm>
            <a:off x="2927163" y="2927163"/>
            <a:ext cx="6990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0" name="Google Shape;1780;p80"/>
          <p:cNvCxnSpPr>
            <a:stCxn id="1776" idx="2"/>
            <a:endCxn id="1775" idx="6"/>
          </p:cNvCxnSpPr>
          <p:nvPr/>
        </p:nvCxnSpPr>
        <p:spPr>
          <a:xfrm rot="10800000">
            <a:off x="2971800" y="2819400"/>
            <a:ext cx="1447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1" name="Google Shape;1781;p80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Topological Sort: Another Algorithm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81"/>
          <p:cNvSpPr/>
          <p:nvPr/>
        </p:nvSpPr>
        <p:spPr>
          <a:xfrm>
            <a:off x="2667000" y="2667000"/>
            <a:ext cx="304800" cy="304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endParaRPr/>
          </a:p>
        </p:txBody>
      </p:sp>
      <p:sp>
        <p:nvSpPr>
          <p:cNvPr id="1787" name="Google Shape;1787;p81"/>
          <p:cNvSpPr/>
          <p:nvPr/>
        </p:nvSpPr>
        <p:spPr>
          <a:xfrm>
            <a:off x="2622550" y="5081588"/>
            <a:ext cx="3762375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Topological order: 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88" name="Google Shape;1788;p81"/>
          <p:cNvSpPr/>
          <p:nvPr/>
        </p:nvSpPr>
        <p:spPr>
          <a:xfrm>
            <a:off x="2667000" y="2667000"/>
            <a:ext cx="304800" cy="304800"/>
          </a:xfrm>
          <a:prstGeom prst="ellipse">
            <a:avLst/>
          </a:prstGeom>
          <a:solidFill>
            <a:srgbClr val="0033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endParaRPr/>
          </a:p>
        </p:txBody>
      </p:sp>
      <p:sp>
        <p:nvSpPr>
          <p:cNvPr id="1789" name="Google Shape;1789;p81"/>
          <p:cNvSpPr/>
          <p:nvPr/>
        </p:nvSpPr>
        <p:spPr>
          <a:xfrm>
            <a:off x="3581400" y="3657600"/>
            <a:ext cx="304800" cy="3048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7</a:t>
            </a:r>
            <a:endParaRPr/>
          </a:p>
        </p:txBody>
      </p:sp>
      <p:cxnSp>
        <p:nvCxnSpPr>
          <p:cNvPr id="1790" name="Google Shape;1790;p81"/>
          <p:cNvCxnSpPr>
            <a:stCxn id="1788" idx="5"/>
            <a:endCxn id="1789" idx="1"/>
          </p:cNvCxnSpPr>
          <p:nvPr/>
        </p:nvCxnSpPr>
        <p:spPr>
          <a:xfrm>
            <a:off x="2927163" y="2927163"/>
            <a:ext cx="699000" cy="775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91" name="Google Shape;1791;p81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Topological Sort: Another Algorithm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82"/>
          <p:cNvSpPr/>
          <p:nvPr/>
        </p:nvSpPr>
        <p:spPr>
          <a:xfrm>
            <a:off x="3581400" y="3657600"/>
            <a:ext cx="304800" cy="3048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7</a:t>
            </a:r>
            <a:endParaRPr/>
          </a:p>
        </p:txBody>
      </p:sp>
      <p:sp>
        <p:nvSpPr>
          <p:cNvPr id="1797" name="Google Shape;1797;p82"/>
          <p:cNvSpPr/>
          <p:nvPr/>
        </p:nvSpPr>
        <p:spPr>
          <a:xfrm>
            <a:off x="2622550" y="5081588"/>
            <a:ext cx="4098925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Topological order: 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98" name="Google Shape;1798;p82"/>
          <p:cNvSpPr/>
          <p:nvPr/>
        </p:nvSpPr>
        <p:spPr>
          <a:xfrm>
            <a:off x="3581400" y="3657600"/>
            <a:ext cx="304800" cy="304800"/>
          </a:xfrm>
          <a:prstGeom prst="ellipse">
            <a:avLst/>
          </a:prstGeom>
          <a:solidFill>
            <a:srgbClr val="003399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4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7</a:t>
            </a:r>
            <a:endParaRPr/>
          </a:p>
        </p:txBody>
      </p:sp>
      <p:sp>
        <p:nvSpPr>
          <p:cNvPr id="1799" name="Google Shape;1799;p82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Topological Sort: Another Algorithm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83"/>
          <p:cNvSpPr/>
          <p:nvPr/>
        </p:nvSpPr>
        <p:spPr>
          <a:xfrm>
            <a:off x="2622550" y="5081588"/>
            <a:ext cx="4491038" cy="41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Topological order: 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, v</a:t>
            </a:r>
            <a:r>
              <a:rPr b="0" baseline="-2500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7</a:t>
            </a:r>
            <a:r>
              <a:rPr b="0" i="0" lang="en-US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</p:txBody>
      </p:sp>
      <p:sp>
        <p:nvSpPr>
          <p:cNvPr id="1805" name="Google Shape;1805;p83"/>
          <p:cNvSpPr/>
          <p:nvPr/>
        </p:nvSpPr>
        <p:spPr>
          <a:xfrm>
            <a:off x="1371600" y="1754188"/>
            <a:ext cx="274638" cy="274637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/>
          </a:p>
        </p:txBody>
      </p:sp>
      <p:sp>
        <p:nvSpPr>
          <p:cNvPr id="1806" name="Google Shape;1806;p83"/>
          <p:cNvSpPr/>
          <p:nvPr/>
        </p:nvSpPr>
        <p:spPr>
          <a:xfrm>
            <a:off x="2636838" y="1754188"/>
            <a:ext cx="274637" cy="274637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/>
          </a:p>
        </p:txBody>
      </p:sp>
      <p:sp>
        <p:nvSpPr>
          <p:cNvPr id="1807" name="Google Shape;1807;p83"/>
          <p:cNvSpPr/>
          <p:nvPr/>
        </p:nvSpPr>
        <p:spPr>
          <a:xfrm>
            <a:off x="685800" y="2644775"/>
            <a:ext cx="274638" cy="274638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endParaRPr/>
          </a:p>
        </p:txBody>
      </p:sp>
      <p:sp>
        <p:nvSpPr>
          <p:cNvPr id="1808" name="Google Shape;1808;p83"/>
          <p:cNvSpPr/>
          <p:nvPr/>
        </p:nvSpPr>
        <p:spPr>
          <a:xfrm>
            <a:off x="2005013" y="2644775"/>
            <a:ext cx="273050" cy="274638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endParaRPr/>
          </a:p>
        </p:txBody>
      </p:sp>
      <p:sp>
        <p:nvSpPr>
          <p:cNvPr id="1809" name="Google Shape;1809;p83"/>
          <p:cNvSpPr/>
          <p:nvPr/>
        </p:nvSpPr>
        <p:spPr>
          <a:xfrm>
            <a:off x="3322638" y="2644775"/>
            <a:ext cx="274637" cy="274638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endParaRPr/>
          </a:p>
        </p:txBody>
      </p:sp>
      <p:sp>
        <p:nvSpPr>
          <p:cNvPr id="1810" name="Google Shape;1810;p83"/>
          <p:cNvSpPr/>
          <p:nvPr/>
        </p:nvSpPr>
        <p:spPr>
          <a:xfrm>
            <a:off x="1371600" y="3535363"/>
            <a:ext cx="274638" cy="274637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7</a:t>
            </a:r>
            <a:endParaRPr/>
          </a:p>
        </p:txBody>
      </p:sp>
      <p:sp>
        <p:nvSpPr>
          <p:cNvPr id="1811" name="Google Shape;1811;p83"/>
          <p:cNvSpPr/>
          <p:nvPr/>
        </p:nvSpPr>
        <p:spPr>
          <a:xfrm>
            <a:off x="2636838" y="3535363"/>
            <a:ext cx="274637" cy="274637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/>
          </a:p>
        </p:txBody>
      </p:sp>
      <p:cxnSp>
        <p:nvCxnSpPr>
          <p:cNvPr id="1812" name="Google Shape;1812;p83"/>
          <p:cNvCxnSpPr>
            <a:stCxn id="1805" idx="3"/>
            <a:endCxn id="1807" idx="7"/>
          </p:cNvCxnSpPr>
          <p:nvPr/>
        </p:nvCxnSpPr>
        <p:spPr>
          <a:xfrm flipH="1">
            <a:off x="920120" y="1988605"/>
            <a:ext cx="491700" cy="69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3" name="Google Shape;1813;p83"/>
          <p:cNvCxnSpPr>
            <a:stCxn id="1805" idx="5"/>
            <a:endCxn id="1808" idx="1"/>
          </p:cNvCxnSpPr>
          <p:nvPr/>
        </p:nvCxnSpPr>
        <p:spPr>
          <a:xfrm>
            <a:off x="1606018" y="1988605"/>
            <a:ext cx="438900" cy="69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4" name="Google Shape;1814;p83"/>
          <p:cNvCxnSpPr>
            <a:stCxn id="1805" idx="6"/>
            <a:endCxn id="1806" idx="2"/>
          </p:cNvCxnSpPr>
          <p:nvPr/>
        </p:nvCxnSpPr>
        <p:spPr>
          <a:xfrm>
            <a:off x="1646238" y="1891507"/>
            <a:ext cx="990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5" name="Google Shape;1815;p83"/>
          <p:cNvCxnSpPr>
            <a:stCxn id="1806" idx="5"/>
            <a:endCxn id="1809" idx="1"/>
          </p:cNvCxnSpPr>
          <p:nvPr/>
        </p:nvCxnSpPr>
        <p:spPr>
          <a:xfrm>
            <a:off x="2871255" y="1988605"/>
            <a:ext cx="491700" cy="69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6" name="Google Shape;1816;p83"/>
          <p:cNvCxnSpPr>
            <a:stCxn id="1809" idx="2"/>
            <a:endCxn id="1808" idx="6"/>
          </p:cNvCxnSpPr>
          <p:nvPr/>
        </p:nvCxnSpPr>
        <p:spPr>
          <a:xfrm rot="10800000">
            <a:off x="2278038" y="2782094"/>
            <a:ext cx="1044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7" name="Google Shape;1817;p83"/>
          <p:cNvCxnSpPr>
            <a:stCxn id="1811" idx="7"/>
            <a:endCxn id="1809" idx="3"/>
          </p:cNvCxnSpPr>
          <p:nvPr/>
        </p:nvCxnSpPr>
        <p:spPr>
          <a:xfrm flipH="1" rot="10800000">
            <a:off x="2871255" y="2879283"/>
            <a:ext cx="491700" cy="69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8" name="Google Shape;1818;p83"/>
          <p:cNvCxnSpPr>
            <a:stCxn id="1808" idx="3"/>
            <a:endCxn id="1810" idx="7"/>
          </p:cNvCxnSpPr>
          <p:nvPr/>
        </p:nvCxnSpPr>
        <p:spPr>
          <a:xfrm flipH="1">
            <a:off x="1606100" y="2879193"/>
            <a:ext cx="438900" cy="69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9" name="Google Shape;1819;p83"/>
          <p:cNvCxnSpPr>
            <a:stCxn id="1811" idx="1"/>
            <a:endCxn id="1808" idx="5"/>
          </p:cNvCxnSpPr>
          <p:nvPr/>
        </p:nvCxnSpPr>
        <p:spPr>
          <a:xfrm rot="10800000">
            <a:off x="2238158" y="2879283"/>
            <a:ext cx="438900" cy="69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0" name="Google Shape;1820;p83"/>
          <p:cNvCxnSpPr>
            <a:stCxn id="1811" idx="2"/>
            <a:endCxn id="1810" idx="6"/>
          </p:cNvCxnSpPr>
          <p:nvPr/>
        </p:nvCxnSpPr>
        <p:spPr>
          <a:xfrm rot="10800000">
            <a:off x="1646238" y="3672682"/>
            <a:ext cx="990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1" name="Google Shape;1821;p83"/>
          <p:cNvCxnSpPr>
            <a:stCxn id="1807" idx="5"/>
            <a:endCxn id="1810" idx="1"/>
          </p:cNvCxnSpPr>
          <p:nvPr/>
        </p:nvCxnSpPr>
        <p:spPr>
          <a:xfrm>
            <a:off x="920218" y="2879193"/>
            <a:ext cx="491700" cy="69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2" name="Google Shape;1822;p83"/>
          <p:cNvCxnSpPr>
            <a:stCxn id="1808" idx="2"/>
            <a:endCxn id="1807" idx="6"/>
          </p:cNvCxnSpPr>
          <p:nvPr/>
        </p:nvCxnSpPr>
        <p:spPr>
          <a:xfrm rot="10800000">
            <a:off x="960413" y="2782094"/>
            <a:ext cx="1044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23" name="Google Shape;1823;p83"/>
          <p:cNvCxnSpPr>
            <a:stCxn id="1806" idx="3"/>
            <a:endCxn id="1808" idx="7"/>
          </p:cNvCxnSpPr>
          <p:nvPr/>
        </p:nvCxnSpPr>
        <p:spPr>
          <a:xfrm flipH="1">
            <a:off x="2238158" y="1988605"/>
            <a:ext cx="438900" cy="696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4" name="Google Shape;1824;p83"/>
          <p:cNvSpPr/>
          <p:nvPr/>
        </p:nvSpPr>
        <p:spPr>
          <a:xfrm>
            <a:off x="4267200" y="2667000"/>
            <a:ext cx="274638" cy="274638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1</a:t>
            </a:r>
            <a:endParaRPr/>
          </a:p>
        </p:txBody>
      </p:sp>
      <p:sp>
        <p:nvSpPr>
          <p:cNvPr id="1825" name="Google Shape;1825;p83"/>
          <p:cNvSpPr/>
          <p:nvPr/>
        </p:nvSpPr>
        <p:spPr>
          <a:xfrm>
            <a:off x="4953000" y="2667000"/>
            <a:ext cx="274638" cy="274638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endParaRPr/>
          </a:p>
        </p:txBody>
      </p:sp>
      <p:sp>
        <p:nvSpPr>
          <p:cNvPr id="1826" name="Google Shape;1826;p83"/>
          <p:cNvSpPr/>
          <p:nvPr/>
        </p:nvSpPr>
        <p:spPr>
          <a:xfrm>
            <a:off x="5638800" y="2667000"/>
            <a:ext cx="274638" cy="274638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3</a:t>
            </a:r>
            <a:endParaRPr/>
          </a:p>
        </p:txBody>
      </p:sp>
      <p:cxnSp>
        <p:nvCxnSpPr>
          <p:cNvPr id="1827" name="Google Shape;1827;p83"/>
          <p:cNvCxnSpPr>
            <a:stCxn id="1825" idx="6"/>
            <a:endCxn id="1826" idx="2"/>
          </p:cNvCxnSpPr>
          <p:nvPr/>
        </p:nvCxnSpPr>
        <p:spPr>
          <a:xfrm>
            <a:off x="5227638" y="2804319"/>
            <a:ext cx="41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8" name="Google Shape;1828;p83"/>
          <p:cNvSpPr/>
          <p:nvPr/>
        </p:nvSpPr>
        <p:spPr>
          <a:xfrm>
            <a:off x="6324600" y="2667000"/>
            <a:ext cx="274638" cy="274638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4</a:t>
            </a:r>
            <a:endParaRPr/>
          </a:p>
        </p:txBody>
      </p:sp>
      <p:cxnSp>
        <p:nvCxnSpPr>
          <p:cNvPr id="1829" name="Google Shape;1829;p83"/>
          <p:cNvCxnSpPr>
            <a:stCxn id="1826" idx="6"/>
            <a:endCxn id="1828" idx="2"/>
          </p:cNvCxnSpPr>
          <p:nvPr/>
        </p:nvCxnSpPr>
        <p:spPr>
          <a:xfrm>
            <a:off x="5913438" y="2804319"/>
            <a:ext cx="41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0" name="Google Shape;1830;p83"/>
          <p:cNvSpPr/>
          <p:nvPr/>
        </p:nvSpPr>
        <p:spPr>
          <a:xfrm>
            <a:off x="7010400" y="2667000"/>
            <a:ext cx="274638" cy="274638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5</a:t>
            </a:r>
            <a:endParaRPr/>
          </a:p>
        </p:txBody>
      </p:sp>
      <p:cxnSp>
        <p:nvCxnSpPr>
          <p:cNvPr id="1831" name="Google Shape;1831;p83"/>
          <p:cNvCxnSpPr>
            <a:stCxn id="1828" idx="6"/>
            <a:endCxn id="1830" idx="2"/>
          </p:cNvCxnSpPr>
          <p:nvPr/>
        </p:nvCxnSpPr>
        <p:spPr>
          <a:xfrm>
            <a:off x="6599238" y="2804319"/>
            <a:ext cx="41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2" name="Google Shape;1832;p83"/>
          <p:cNvSpPr/>
          <p:nvPr/>
        </p:nvSpPr>
        <p:spPr>
          <a:xfrm>
            <a:off x="7696200" y="2667000"/>
            <a:ext cx="274638" cy="274638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6</a:t>
            </a:r>
            <a:endParaRPr/>
          </a:p>
        </p:txBody>
      </p:sp>
      <p:cxnSp>
        <p:nvCxnSpPr>
          <p:cNvPr id="1833" name="Google Shape;1833;p83"/>
          <p:cNvCxnSpPr>
            <a:stCxn id="1830" idx="6"/>
            <a:endCxn id="1832" idx="2"/>
          </p:cNvCxnSpPr>
          <p:nvPr/>
        </p:nvCxnSpPr>
        <p:spPr>
          <a:xfrm>
            <a:off x="7285038" y="2804319"/>
            <a:ext cx="41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4" name="Google Shape;1834;p83"/>
          <p:cNvSpPr/>
          <p:nvPr/>
        </p:nvSpPr>
        <p:spPr>
          <a:xfrm>
            <a:off x="8412163" y="2667000"/>
            <a:ext cx="274637" cy="274638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00CC00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</a:t>
            </a:r>
            <a:r>
              <a:rPr b="0" baseline="-25000" i="0" lang="en-US" sz="1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7</a:t>
            </a:r>
            <a:endParaRPr/>
          </a:p>
        </p:txBody>
      </p:sp>
      <p:cxnSp>
        <p:nvCxnSpPr>
          <p:cNvPr id="1835" name="Google Shape;1835;p83"/>
          <p:cNvCxnSpPr>
            <a:stCxn id="1832" idx="6"/>
            <a:endCxn id="1834" idx="2"/>
          </p:cNvCxnSpPr>
          <p:nvPr/>
        </p:nvCxnSpPr>
        <p:spPr>
          <a:xfrm>
            <a:off x="7970838" y="2804319"/>
            <a:ext cx="441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6" name="Google Shape;1836;p83"/>
          <p:cNvCxnSpPr>
            <a:stCxn id="1826" idx="0"/>
            <a:endCxn id="1830" idx="0"/>
          </p:cNvCxnSpPr>
          <p:nvPr/>
        </p:nvCxnSpPr>
        <p:spPr>
          <a:xfrm flipH="1" rot="-5400000">
            <a:off x="6461619" y="1981500"/>
            <a:ext cx="600" cy="1371600"/>
          </a:xfrm>
          <a:prstGeom prst="curvedConnector3">
            <a:avLst>
              <a:gd fmla="val -38112013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7" name="Google Shape;1837;p83"/>
          <p:cNvCxnSpPr>
            <a:stCxn id="1825" idx="4"/>
            <a:endCxn id="1830" idx="3"/>
          </p:cNvCxnSpPr>
          <p:nvPr/>
        </p:nvCxnSpPr>
        <p:spPr>
          <a:xfrm rot="-5400000">
            <a:off x="6050319" y="1941438"/>
            <a:ext cx="40200" cy="1960200"/>
          </a:xfrm>
          <a:prstGeom prst="curvedConnector3">
            <a:avLst>
              <a:gd fmla="val -639746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8" name="Google Shape;1838;p83"/>
          <p:cNvCxnSpPr>
            <a:stCxn id="1824" idx="4"/>
            <a:endCxn id="1830" idx="4"/>
          </p:cNvCxnSpPr>
          <p:nvPr/>
        </p:nvCxnSpPr>
        <p:spPr>
          <a:xfrm flipH="1" rot="-5400000">
            <a:off x="5775819" y="1570338"/>
            <a:ext cx="600" cy="2743200"/>
          </a:xfrm>
          <a:prstGeom prst="curvedConnector3">
            <a:avLst>
              <a:gd fmla="val 78821107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9" name="Google Shape;1839;p83"/>
          <p:cNvCxnSpPr>
            <a:stCxn id="1824" idx="0"/>
            <a:endCxn id="1828" idx="0"/>
          </p:cNvCxnSpPr>
          <p:nvPr/>
        </p:nvCxnSpPr>
        <p:spPr>
          <a:xfrm flipH="1" rot="-5400000">
            <a:off x="5432919" y="1638600"/>
            <a:ext cx="600" cy="2057400"/>
          </a:xfrm>
          <a:prstGeom prst="curvedConnector3">
            <a:avLst>
              <a:gd fmla="val -38112013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0" name="Google Shape;1840;p83"/>
          <p:cNvCxnSpPr>
            <a:stCxn id="1830" idx="7"/>
            <a:endCxn id="1834" idx="0"/>
          </p:cNvCxnSpPr>
          <p:nvPr/>
        </p:nvCxnSpPr>
        <p:spPr>
          <a:xfrm rot="-5400000">
            <a:off x="7877068" y="2034770"/>
            <a:ext cx="40200" cy="1304700"/>
          </a:xfrm>
          <a:prstGeom prst="curvedConnector3">
            <a:avLst>
              <a:gd fmla="val 668714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1" name="Google Shape;1841;p83"/>
          <p:cNvCxnSpPr>
            <a:stCxn id="1825" idx="0"/>
            <a:endCxn id="1832" idx="0"/>
          </p:cNvCxnSpPr>
          <p:nvPr/>
        </p:nvCxnSpPr>
        <p:spPr>
          <a:xfrm flipH="1" rot="-5400000">
            <a:off x="6461619" y="1295700"/>
            <a:ext cx="600" cy="2743200"/>
          </a:xfrm>
          <a:prstGeom prst="curvedConnector3">
            <a:avLst>
              <a:gd fmla="val -96338704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42" name="Google Shape;1842;p83"/>
          <p:cNvSpPr txBox="1"/>
          <p:nvPr>
            <p:ph type="title"/>
          </p:nvPr>
        </p:nvSpPr>
        <p:spPr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Topological Sort: Another Algorithm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mputer-bunny.blue">
  <a:themeElements>
    <a:clrScheme name="">
      <a:dk1>
        <a:srgbClr val="000000"/>
      </a:dk1>
      <a:lt1>
        <a:srgbClr val="FFFFFF"/>
      </a:lt1>
      <a:dk2>
        <a:srgbClr val="CC0000"/>
      </a:dk2>
      <a:lt2>
        <a:srgbClr val="969696"/>
      </a:lt2>
      <a:accent1>
        <a:srgbClr val="0033CC"/>
      </a:accent1>
      <a:accent2>
        <a:srgbClr val="339933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8A2D"/>
      </a:accent6>
      <a:hlink>
        <a:srgbClr val="9900CC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