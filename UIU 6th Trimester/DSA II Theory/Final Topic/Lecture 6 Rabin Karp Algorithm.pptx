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y="6858000" cx="12192000"/>
  <p:notesSz cx="6858000" cy="9144000"/>
  <p:embeddedFontLst>
    <p:embeddedFont>
      <p:font typeface="Tahoma"/>
      <p:regular r:id="rId66"/>
      <p:bold r:id="rId67"/>
    </p:embeddedFont>
    <p:embeddedFont>
      <p:font typeface="Noto Sans Symbols"/>
      <p:regular r:id="rId68"/>
      <p:bold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0" roundtripDataSignature="AMtx7miYZmdSA+IaeXnkFvSGnGsOsEHT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D421D2-CC1D-4CEE-A404-8327533B9DDC}">
  <a:tblStyle styleId="{7CD421D2-CC1D-4CEE-A404-8327533B9DD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5E3FB999-B846-4801-935E-1C417B70F01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CE7"/>
          </a:solidFill>
        </a:fill>
      </a:tcStyle>
    </a:wholeTbl>
    <a:band1H>
      <a:tcTxStyle/>
      <a:tcStyle>
        <a:fill>
          <a:solidFill>
            <a:srgbClr val="F8D6CC"/>
          </a:solidFill>
        </a:fill>
      </a:tcStyle>
    </a:band1H>
    <a:band2H>
      <a:tcTxStyle/>
    </a:band2H>
    <a:band1V>
      <a:tcTxStyle/>
      <a:tcStyle>
        <a:fill>
          <a:solidFill>
            <a:srgbClr val="F8D6CC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  <a:tblStyle styleId="{D29CFB54-2DDF-4FF7-8000-CF2DB2CFA120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fill>
          <a:solidFill>
            <a:srgbClr val="D4E2CE"/>
          </a:solidFill>
        </a:fill>
      </a:tcStyle>
    </a:band1H>
    <a:band2H>
      <a:tcTxStyle/>
    </a:band2H>
    <a:band1V>
      <a:tcTxStyle/>
      <a:tcStyle>
        <a:fill>
          <a:solidFill>
            <a:srgbClr val="D4E2CE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  <a:tblStyle styleId="{83C6DF6A-5C8F-4E86-8B1E-779FC2B2156A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customschemas.google.com/relationships/presentationmetadata" Target="meta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Tahoma-regular.fntdata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NotoSansSymbols-regular.fntdata"/><Relationship Id="rId23" Type="http://schemas.openxmlformats.org/officeDocument/2006/relationships/slide" Target="slides/slide18.xml"/><Relationship Id="rId67" Type="http://schemas.openxmlformats.org/officeDocument/2006/relationships/font" Target="fonts/Tahoma-bold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NotoSansSymbols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62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2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2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6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6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6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6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6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" name="Google Shape;30;p63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63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63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6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64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64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64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5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5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5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65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65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65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6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6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6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66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66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66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6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0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7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Rabin Karp Algorithm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5" name="Google Shape;105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106" name="Google Shape;106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7" name="Google Shape;107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Naïve String Matching Algorithm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Rabin Karp Algorithm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Hash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Rolling Hash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Spurious Hit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Modified Hash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Modulus of Hash Function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Time Complexity Analysis</a:t>
            </a:r>
            <a:endParaRPr/>
          </a:p>
        </p:txBody>
      </p:sp>
      <p:sp>
        <p:nvSpPr>
          <p:cNvPr id="113" name="Google Shape;113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114" name="Google Shape;114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5" name="Google Shape;115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122" name="Google Shape;122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23" name="Google Shape;123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125" name="Google Shape;125;p3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3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28" name="Google Shape;128;p3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134" name="Google Shape;134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35" name="Google Shape;135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137" name="Google Shape;137;p4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4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40" name="Google Shape;140;p4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1" name="Google Shape;141;p4"/>
          <p:cNvSpPr/>
          <p:nvPr/>
        </p:nvSpPr>
        <p:spPr>
          <a:xfrm>
            <a:off x="2209800" y="1384552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148" name="Google Shape;148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49" name="Google Shape;149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151" name="Google Shape;151;p5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" name="Google Shape;152;p5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54" name="Google Shape;154;p5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5" name="Google Shape;155;p5"/>
          <p:cNvSpPr/>
          <p:nvPr/>
        </p:nvSpPr>
        <p:spPr>
          <a:xfrm>
            <a:off x="2209800" y="1384552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496532" y="1343392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163" name="Google Shape;163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64" name="Google Shape;164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166" name="Google Shape;166;p6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" name="Google Shape;167;p6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69" name="Google Shape;169;p6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70" name="Google Shape;170;p6"/>
          <p:cNvSpPr/>
          <p:nvPr/>
        </p:nvSpPr>
        <p:spPr>
          <a:xfrm>
            <a:off x="3054314" y="1353836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177" name="Google Shape;177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78" name="Google Shape;178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180" name="Google Shape;180;p7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7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82" name="Google Shape;182;p7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83" name="Google Shape;183;p7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4" name="Google Shape;184;p7"/>
          <p:cNvSpPr/>
          <p:nvPr/>
        </p:nvSpPr>
        <p:spPr>
          <a:xfrm>
            <a:off x="3054314" y="1353836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252277" y="1364281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192" name="Google Shape;192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93" name="Google Shape;193;p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195" name="Google Shape;195;p8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8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98" name="Google Shape;198;p8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99" name="Google Shape;199;p8"/>
          <p:cNvSpPr/>
          <p:nvPr/>
        </p:nvSpPr>
        <p:spPr>
          <a:xfrm>
            <a:off x="3054314" y="1353836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206" name="Google Shape;206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07" name="Google Shape;207;p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209" name="Google Shape;209;p9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9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212" name="Google Shape;212;p9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13" name="Google Shape;213;p9"/>
          <p:cNvSpPr/>
          <p:nvPr/>
        </p:nvSpPr>
        <p:spPr>
          <a:xfrm>
            <a:off x="3840637" y="1314429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220" name="Google Shape;220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21" name="Google Shape;221;p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223" name="Google Shape;223;p10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" name="Google Shape;224;p10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226" name="Google Shape;226;p10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7" name="Google Shape;227;p10"/>
          <p:cNvSpPr/>
          <p:nvPr/>
        </p:nvSpPr>
        <p:spPr>
          <a:xfrm>
            <a:off x="3840637" y="1314429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098071" y="1343392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235" name="Google Shape;235;p1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36" name="Google Shape;236;p1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1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238" name="Google Shape;238;p11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9" name="Google Shape;239;p11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240" name="Google Shape;240;p11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241" name="Google Shape;241;p11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42" name="Google Shape;242;p11"/>
          <p:cNvSpPr/>
          <p:nvPr/>
        </p:nvSpPr>
        <p:spPr>
          <a:xfrm>
            <a:off x="3840637" y="1314429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2191747" y="2579801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098071" y="1343392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250" name="Google Shape;250;p1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51" name="Google Shape;251;p1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1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253" name="Google Shape;253;p12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4" name="Google Shape;254;p12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255" name="Google Shape;255;p12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256" name="Google Shape;256;p12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57" name="Google Shape;257;p12"/>
          <p:cNvSpPr/>
          <p:nvPr/>
        </p:nvSpPr>
        <p:spPr>
          <a:xfrm>
            <a:off x="3840637" y="1314429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3054314" y="2579801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4664989" y="1364281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265" name="Google Shape;265;p1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66" name="Google Shape;266;p1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1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268" name="Google Shape;268;p13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9" name="Google Shape;269;p13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270" name="Google Shape;270;p13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271" name="Google Shape;271;p13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72" name="Google Shape;272;p13"/>
          <p:cNvSpPr/>
          <p:nvPr/>
        </p:nvSpPr>
        <p:spPr>
          <a:xfrm>
            <a:off x="4616730" y="1343392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279" name="Google Shape;279;p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80" name="Google Shape;280;p1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1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282" name="Google Shape;282;p14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3" name="Google Shape;283;p14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284" name="Google Shape;284;p14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285" name="Google Shape;285;p14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86" name="Google Shape;286;p14"/>
          <p:cNvSpPr/>
          <p:nvPr/>
        </p:nvSpPr>
        <p:spPr>
          <a:xfrm>
            <a:off x="4616730" y="1343392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4931820" y="133157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294" name="Google Shape;294;p1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95" name="Google Shape;295;p1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6" name="Google Shape;296;p1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297" name="Google Shape;297;p15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8" name="Google Shape;298;p15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299" name="Google Shape;299;p15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300" name="Google Shape;300;p15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01" name="Google Shape;301;p15"/>
          <p:cNvSpPr/>
          <p:nvPr/>
        </p:nvSpPr>
        <p:spPr>
          <a:xfrm>
            <a:off x="5470442" y="133157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308" name="Google Shape;308;p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09" name="Google Shape;309;p1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1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311" name="Google Shape;311;p16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2" name="Google Shape;312;p16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313" name="Google Shape;313;p16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314" name="Google Shape;314;p16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15" name="Google Shape;315;p16"/>
          <p:cNvSpPr/>
          <p:nvPr/>
        </p:nvSpPr>
        <p:spPr>
          <a:xfrm>
            <a:off x="5470442" y="133157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5706142" y="1343392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323" name="Google Shape;323;p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24" name="Google Shape;324;p1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1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326" name="Google Shape;326;p17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7" name="Google Shape;327;p17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328" name="Google Shape;328;p17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329" name="Google Shape;329;p17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30" name="Google Shape;330;p17"/>
          <p:cNvSpPr/>
          <p:nvPr/>
        </p:nvSpPr>
        <p:spPr>
          <a:xfrm>
            <a:off x="6290574" y="131975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337" name="Google Shape;337;p1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38" name="Google Shape;338;p1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1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340" name="Google Shape;340;p18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1" name="Google Shape;341;p18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342" name="Google Shape;342;p18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343" name="Google Shape;343;p18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44" name="Google Shape;344;p18"/>
          <p:cNvSpPr/>
          <p:nvPr/>
        </p:nvSpPr>
        <p:spPr>
          <a:xfrm>
            <a:off x="6290574" y="131975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6590937" y="131975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352" name="Google Shape;352;p1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53" name="Google Shape;353;p1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1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355" name="Google Shape;355;p19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6" name="Google Shape;356;p19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357" name="Google Shape;357;p19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358" name="Google Shape;358;p19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59" name="Google Shape;359;p19"/>
          <p:cNvSpPr/>
          <p:nvPr/>
        </p:nvSpPr>
        <p:spPr>
          <a:xfrm>
            <a:off x="7054146" y="1343392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366" name="Google Shape;366;p2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67" name="Google Shape;367;p2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2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369" name="Google Shape;369;p20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0" name="Google Shape;370;p20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371" name="Google Shape;371;p20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372" name="Google Shape;372;p20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73" name="Google Shape;373;p20"/>
          <p:cNvSpPr/>
          <p:nvPr/>
        </p:nvSpPr>
        <p:spPr>
          <a:xfrm>
            <a:off x="7054146" y="1343392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2102207" y="258853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7354508" y="1343392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381" name="Google Shape;381;p2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82" name="Google Shape;382;p2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3" name="Google Shape;383;p2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384" name="Google Shape;384;p21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5" name="Google Shape;385;p21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386" name="Google Shape;386;p21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387" name="Google Shape;387;p21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88" name="Google Shape;388;p21"/>
          <p:cNvSpPr/>
          <p:nvPr/>
        </p:nvSpPr>
        <p:spPr>
          <a:xfrm>
            <a:off x="7054146" y="1343392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2972954" y="260650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7955437" y="1385592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396" name="Google Shape;396;p2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97" name="Google Shape;397;p2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" name="Google Shape;398;p2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399" name="Google Shape;399;p22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0" name="Google Shape;400;p22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401" name="Google Shape;401;p22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402" name="Google Shape;402;p22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03" name="Google Shape;403;p22"/>
          <p:cNvSpPr/>
          <p:nvPr/>
        </p:nvSpPr>
        <p:spPr>
          <a:xfrm>
            <a:off x="7054146" y="1343392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3840637" y="258853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8803849" y="1346591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3663211" y="4001013"/>
            <a:ext cx="514063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Matched!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412" name="Google Shape;412;p2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13" name="Google Shape;413;p2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" name="Google Shape;414;p2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415" name="Google Shape;415;p23"/>
          <p:cNvGraphicFramePr/>
          <p:nvPr/>
        </p:nvGraphicFramePr>
        <p:xfrm>
          <a:off x="2032000" y="1766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6" name="Google Shape;416;p23"/>
          <p:cNvSpPr txBox="1"/>
          <p:nvPr/>
        </p:nvSpPr>
        <p:spPr>
          <a:xfrm>
            <a:off x="1923068" y="119720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417" name="Google Shape;417;p23"/>
          <p:cNvSpPr txBox="1"/>
          <p:nvPr/>
        </p:nvSpPr>
        <p:spPr>
          <a:xfrm>
            <a:off x="1923068" y="240118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418" name="Google Shape;418;p23"/>
          <p:cNvGraphicFramePr/>
          <p:nvPr/>
        </p:nvGraphicFramePr>
        <p:xfrm>
          <a:off x="2010558" y="29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19" name="Google Shape;419;p23"/>
          <p:cNvSpPr/>
          <p:nvPr/>
        </p:nvSpPr>
        <p:spPr>
          <a:xfrm>
            <a:off x="7054146" y="1343392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/>
          <p:nvPr/>
        </p:nvSpPr>
        <p:spPr>
          <a:xfrm>
            <a:off x="3840637" y="2588533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8803849" y="1346591"/>
            <a:ext cx="395926" cy="44628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3663211" y="4001013"/>
            <a:ext cx="514063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Matched!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428" name="Google Shape;428;p2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429" name="Google Shape;429;p2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30" name="Google Shape;430;p2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1" name="Google Shape;431;p2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432" name="Google Shape;432;p24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3" name="Google Shape;433;p24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434" name="Google Shape;434;p24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435" name="Google Shape;435;p24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36" name="Google Shape;436;p24"/>
          <p:cNvSpPr/>
          <p:nvPr/>
        </p:nvSpPr>
        <p:spPr>
          <a:xfrm>
            <a:off x="2281286" y="2101614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2511717" y="2083324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2083323" y="3338913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444" name="Google Shape;444;p2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445" name="Google Shape;445;p2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46" name="Google Shape;446;p2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7" name="Google Shape;447;p2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448" name="Google Shape;448;p25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9" name="Google Shape;449;p25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450" name="Google Shape;450;p25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451" name="Google Shape;451;p25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52" name="Google Shape;452;p25"/>
          <p:cNvSpPr/>
          <p:nvPr/>
        </p:nvSpPr>
        <p:spPr>
          <a:xfrm>
            <a:off x="2281286" y="2101614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5"/>
          <p:cNvSpPr/>
          <p:nvPr/>
        </p:nvSpPr>
        <p:spPr>
          <a:xfrm>
            <a:off x="2972955" y="2177028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5"/>
          <p:cNvSpPr/>
          <p:nvPr/>
        </p:nvSpPr>
        <p:spPr>
          <a:xfrm>
            <a:off x="3054314" y="3342597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460" name="Google Shape;460;p2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461" name="Google Shape;461;p2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62" name="Google Shape;462;p2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2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464" name="Google Shape;464;p26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5" name="Google Shape;465;p26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466" name="Google Shape;466;p26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467" name="Google Shape;467;p26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68" name="Google Shape;468;p26"/>
          <p:cNvSpPr/>
          <p:nvPr/>
        </p:nvSpPr>
        <p:spPr>
          <a:xfrm>
            <a:off x="2281286" y="2101614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3941221" y="2127539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3840637" y="3331160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476" name="Google Shape;476;p2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477" name="Google Shape;477;p2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78" name="Google Shape;478;p2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9" name="Google Shape;479;p2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480" name="Google Shape;480;p27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1" name="Google Shape;481;p27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482" name="Google Shape;482;p27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483" name="Google Shape;483;p27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84" name="Google Shape;484;p27"/>
          <p:cNvSpPr/>
          <p:nvPr/>
        </p:nvSpPr>
        <p:spPr>
          <a:xfrm>
            <a:off x="3002862" y="204743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3204751" y="2020838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2294642" y="3410454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492" name="Google Shape;492;p2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493" name="Google Shape;493;p2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94" name="Google Shape;494;p2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5" name="Google Shape;495;p2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496" name="Google Shape;496;p28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7" name="Google Shape;497;p28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498" name="Google Shape;498;p28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499" name="Google Shape;499;p28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00" name="Google Shape;500;p28"/>
          <p:cNvSpPr/>
          <p:nvPr/>
        </p:nvSpPr>
        <p:spPr>
          <a:xfrm>
            <a:off x="3002862" y="204743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8"/>
          <p:cNvSpPr/>
          <p:nvPr/>
        </p:nvSpPr>
        <p:spPr>
          <a:xfrm>
            <a:off x="3797724" y="2142644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8"/>
          <p:cNvSpPr/>
          <p:nvPr/>
        </p:nvSpPr>
        <p:spPr>
          <a:xfrm>
            <a:off x="3054314" y="3317312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508" name="Google Shape;508;p2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509" name="Google Shape;509;p2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10" name="Google Shape;510;p2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1" name="Google Shape;511;p2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512" name="Google Shape;512;p29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3" name="Google Shape;513;p29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514" name="Google Shape;514;p29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515" name="Google Shape;515;p29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16" name="Google Shape;516;p29"/>
          <p:cNvSpPr/>
          <p:nvPr/>
        </p:nvSpPr>
        <p:spPr>
          <a:xfrm>
            <a:off x="3002862" y="204743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9"/>
          <p:cNvSpPr/>
          <p:nvPr/>
        </p:nvSpPr>
        <p:spPr>
          <a:xfrm>
            <a:off x="4803987" y="215029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9"/>
          <p:cNvSpPr/>
          <p:nvPr/>
        </p:nvSpPr>
        <p:spPr>
          <a:xfrm>
            <a:off x="3840637" y="3385787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524" name="Google Shape;524;p3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525" name="Google Shape;525;p3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26" name="Google Shape;526;p3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7" name="Google Shape;527;p3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528" name="Google Shape;528;p30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9" name="Google Shape;529;p30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530" name="Google Shape;530;p30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531" name="Google Shape;531;p30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32" name="Google Shape;532;p30"/>
          <p:cNvSpPr/>
          <p:nvPr/>
        </p:nvSpPr>
        <p:spPr>
          <a:xfrm>
            <a:off x="3886761" y="2083324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0"/>
          <p:cNvSpPr/>
          <p:nvPr/>
        </p:nvSpPr>
        <p:spPr>
          <a:xfrm>
            <a:off x="4137600" y="2115106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0"/>
          <p:cNvSpPr/>
          <p:nvPr/>
        </p:nvSpPr>
        <p:spPr>
          <a:xfrm>
            <a:off x="2212717" y="3410454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540" name="Google Shape;540;p3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541" name="Google Shape;541;p3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42" name="Google Shape;542;p3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3" name="Google Shape;543;p3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544" name="Google Shape;544;p31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5" name="Google Shape;545;p31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546" name="Google Shape;546;p31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547" name="Google Shape;547;p31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48" name="Google Shape;548;p31"/>
          <p:cNvSpPr/>
          <p:nvPr/>
        </p:nvSpPr>
        <p:spPr>
          <a:xfrm>
            <a:off x="3886761" y="2083324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1"/>
          <p:cNvSpPr/>
          <p:nvPr/>
        </p:nvSpPr>
        <p:spPr>
          <a:xfrm>
            <a:off x="4711114" y="2142845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1"/>
          <p:cNvSpPr/>
          <p:nvPr/>
        </p:nvSpPr>
        <p:spPr>
          <a:xfrm>
            <a:off x="3054314" y="3461499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556" name="Google Shape;556;p3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557" name="Google Shape;557;p3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58" name="Google Shape;558;p3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9" name="Google Shape;559;p3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560" name="Google Shape;560;p32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1" name="Google Shape;561;p32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562" name="Google Shape;562;p32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563" name="Google Shape;563;p32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64" name="Google Shape;564;p32"/>
          <p:cNvSpPr/>
          <p:nvPr/>
        </p:nvSpPr>
        <p:spPr>
          <a:xfrm>
            <a:off x="3886761" y="2083324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2"/>
          <p:cNvSpPr/>
          <p:nvPr/>
        </p:nvSpPr>
        <p:spPr>
          <a:xfrm>
            <a:off x="5476486" y="215029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2"/>
          <p:cNvSpPr/>
          <p:nvPr/>
        </p:nvSpPr>
        <p:spPr>
          <a:xfrm>
            <a:off x="3840637" y="3376069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572" name="Google Shape;572;p3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573" name="Google Shape;573;p3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74" name="Google Shape;574;p3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5" name="Google Shape;575;p3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576" name="Google Shape;576;p33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7" name="Google Shape;577;p33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578" name="Google Shape;578;p33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579" name="Google Shape;579;p33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80" name="Google Shape;580;p33"/>
          <p:cNvSpPr/>
          <p:nvPr/>
        </p:nvSpPr>
        <p:spPr>
          <a:xfrm>
            <a:off x="4681624" y="213277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3"/>
          <p:cNvSpPr/>
          <p:nvPr/>
        </p:nvSpPr>
        <p:spPr>
          <a:xfrm>
            <a:off x="4986292" y="215029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3"/>
          <p:cNvSpPr/>
          <p:nvPr/>
        </p:nvSpPr>
        <p:spPr>
          <a:xfrm>
            <a:off x="2191748" y="3402640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588" name="Google Shape;588;p3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589" name="Google Shape;589;p3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90" name="Google Shape;590;p3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1" name="Google Shape;591;p3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592" name="Google Shape;592;p34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3" name="Google Shape;593;p34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594" name="Google Shape;594;p34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595" name="Google Shape;595;p34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96" name="Google Shape;596;p34"/>
          <p:cNvSpPr/>
          <p:nvPr/>
        </p:nvSpPr>
        <p:spPr>
          <a:xfrm>
            <a:off x="4681624" y="213277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4"/>
          <p:cNvSpPr/>
          <p:nvPr/>
        </p:nvSpPr>
        <p:spPr>
          <a:xfrm>
            <a:off x="5458355" y="215029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4"/>
          <p:cNvSpPr/>
          <p:nvPr/>
        </p:nvSpPr>
        <p:spPr>
          <a:xfrm>
            <a:off x="3054314" y="3338913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604" name="Google Shape;604;p3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605" name="Google Shape;605;p3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06" name="Google Shape;606;p3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7" name="Google Shape;607;p3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608" name="Google Shape;608;p35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9" name="Google Shape;609;p35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610" name="Google Shape;610;p35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611" name="Google Shape;611;p35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12" name="Google Shape;612;p35"/>
          <p:cNvSpPr/>
          <p:nvPr/>
        </p:nvSpPr>
        <p:spPr>
          <a:xfrm>
            <a:off x="4681624" y="213277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5"/>
          <p:cNvSpPr/>
          <p:nvPr/>
        </p:nvSpPr>
        <p:spPr>
          <a:xfrm>
            <a:off x="6249236" y="2177028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5"/>
          <p:cNvSpPr/>
          <p:nvPr/>
        </p:nvSpPr>
        <p:spPr>
          <a:xfrm>
            <a:off x="3840637" y="345178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620" name="Google Shape;620;p3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621" name="Google Shape;621;p3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22" name="Google Shape;622;p3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3" name="Google Shape;623;p3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624" name="Google Shape;624;p36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5" name="Google Shape;625;p36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626" name="Google Shape;626;p36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627" name="Google Shape;627;p36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28" name="Google Shape;628;p36"/>
          <p:cNvSpPr/>
          <p:nvPr/>
        </p:nvSpPr>
        <p:spPr>
          <a:xfrm>
            <a:off x="5454374" y="2191840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6"/>
          <p:cNvSpPr/>
          <p:nvPr/>
        </p:nvSpPr>
        <p:spPr>
          <a:xfrm>
            <a:off x="5765327" y="2191840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6"/>
          <p:cNvSpPr/>
          <p:nvPr/>
        </p:nvSpPr>
        <p:spPr>
          <a:xfrm>
            <a:off x="2209800" y="334663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636" name="Google Shape;636;p3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637" name="Google Shape;637;p3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38" name="Google Shape;638;p3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9" name="Google Shape;639;p3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640" name="Google Shape;640;p37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1" name="Google Shape;641;p37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642" name="Google Shape;642;p37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643" name="Google Shape;643;p37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44" name="Google Shape;644;p37"/>
          <p:cNvSpPr/>
          <p:nvPr/>
        </p:nvSpPr>
        <p:spPr>
          <a:xfrm>
            <a:off x="5454374" y="2191840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7"/>
          <p:cNvSpPr/>
          <p:nvPr/>
        </p:nvSpPr>
        <p:spPr>
          <a:xfrm>
            <a:off x="6278727" y="2213923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7"/>
          <p:cNvSpPr/>
          <p:nvPr/>
        </p:nvSpPr>
        <p:spPr>
          <a:xfrm>
            <a:off x="3054314" y="3345014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652" name="Google Shape;652;p3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653" name="Google Shape;653;p3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54" name="Google Shape;654;p3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5" name="Google Shape;655;p3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656" name="Google Shape;656;p38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7" name="Google Shape;657;p38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658" name="Google Shape;658;p38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659" name="Google Shape;659;p38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60" name="Google Shape;660;p38"/>
          <p:cNvSpPr/>
          <p:nvPr/>
        </p:nvSpPr>
        <p:spPr>
          <a:xfrm>
            <a:off x="5454374" y="2191840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8"/>
          <p:cNvSpPr/>
          <p:nvPr/>
        </p:nvSpPr>
        <p:spPr>
          <a:xfrm>
            <a:off x="7105076" y="215029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8"/>
          <p:cNvSpPr/>
          <p:nvPr/>
        </p:nvSpPr>
        <p:spPr>
          <a:xfrm>
            <a:off x="3940433" y="331621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668" name="Google Shape;668;p3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669" name="Google Shape;669;p3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70" name="Google Shape;670;p3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1" name="Google Shape;671;p3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672" name="Google Shape;672;p39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3" name="Google Shape;673;p39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674" name="Google Shape;674;p39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675" name="Google Shape;675;p39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76" name="Google Shape;676;p39"/>
          <p:cNvSpPr/>
          <p:nvPr/>
        </p:nvSpPr>
        <p:spPr>
          <a:xfrm>
            <a:off x="6208519" y="223285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9"/>
          <p:cNvSpPr/>
          <p:nvPr/>
        </p:nvSpPr>
        <p:spPr>
          <a:xfrm>
            <a:off x="6604444" y="2248058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9"/>
          <p:cNvSpPr/>
          <p:nvPr/>
        </p:nvSpPr>
        <p:spPr>
          <a:xfrm>
            <a:off x="2143840" y="3424806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Worst Case Time Complexity Analysis</a:t>
            </a:r>
            <a:endParaRPr/>
          </a:p>
        </p:txBody>
      </p:sp>
      <p:sp>
        <p:nvSpPr>
          <p:cNvPr id="684" name="Google Shape;684;p4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685" name="Google Shape;685;p4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86" name="Google Shape;686;p4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7" name="Google Shape;687;p4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Naïve String Matching Algorithm</a:t>
            </a:r>
            <a:endParaRPr/>
          </a:p>
        </p:txBody>
      </p:sp>
      <p:graphicFrame>
        <p:nvGraphicFramePr>
          <p:cNvPr id="688" name="Google Shape;688;p40"/>
          <p:cNvGraphicFramePr/>
          <p:nvPr/>
        </p:nvGraphicFramePr>
        <p:xfrm>
          <a:off x="2032000" y="2652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89" name="Google Shape;689;p40"/>
          <p:cNvSpPr txBox="1"/>
          <p:nvPr/>
        </p:nvSpPr>
        <p:spPr>
          <a:xfrm>
            <a:off x="1923068" y="2083324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690" name="Google Shape;690;p40"/>
          <p:cNvSpPr txBox="1"/>
          <p:nvPr/>
        </p:nvSpPr>
        <p:spPr>
          <a:xfrm>
            <a:off x="1923068" y="3287305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691" name="Google Shape;691;p40"/>
          <p:cNvGraphicFramePr/>
          <p:nvPr/>
        </p:nvGraphicFramePr>
        <p:xfrm>
          <a:off x="2010558" y="38710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92" name="Google Shape;692;p40"/>
          <p:cNvSpPr/>
          <p:nvPr/>
        </p:nvSpPr>
        <p:spPr>
          <a:xfrm>
            <a:off x="6208519" y="2232851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0"/>
          <p:cNvSpPr/>
          <p:nvPr/>
        </p:nvSpPr>
        <p:spPr>
          <a:xfrm>
            <a:off x="6604444" y="2248058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0"/>
          <p:cNvSpPr/>
          <p:nvPr/>
        </p:nvSpPr>
        <p:spPr>
          <a:xfrm>
            <a:off x="2143840" y="3424806"/>
            <a:ext cx="395925" cy="60473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0"/>
          <p:cNvSpPr/>
          <p:nvPr/>
        </p:nvSpPr>
        <p:spPr>
          <a:xfrm>
            <a:off x="6162926" y="3871091"/>
            <a:ext cx="462344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this goes on…</a:t>
            </a:r>
            <a:endParaRPr/>
          </a:p>
        </p:txBody>
      </p:sp>
      <p:sp>
        <p:nvSpPr>
          <p:cNvPr id="696" name="Google Shape;696;p40"/>
          <p:cNvSpPr/>
          <p:nvPr/>
        </p:nvSpPr>
        <p:spPr>
          <a:xfrm>
            <a:off x="6450297" y="4877075"/>
            <a:ext cx="39148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0000C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lang="en-US" sz="5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((n-m+1)m)</a:t>
            </a:r>
            <a:endParaRPr b="0" sz="54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702" name="Google Shape;702;p4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03" name="Google Shape;703;p4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4" name="Google Shape;704;p4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705" name="Google Shape;705;p41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6" name="Google Shape;706;p41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07" name="Google Shape;707;p41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708" name="Google Shape;708;p41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714" name="Google Shape;714;p4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15" name="Google Shape;715;p4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6" name="Google Shape;716;p4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717" name="Google Shape;717;p42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8" name="Google Shape;718;p42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19" name="Google Shape;719;p42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720" name="Google Shape;720;p42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721" name="Google Shape;721;p42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{D29CFB54-2DDF-4FF7-8000-CF2DB2CFA120}</a:tableStyleId>
              </a:tblPr>
              <a:tblGrid>
                <a:gridCol w="1320800"/>
                <a:gridCol w="1320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727" name="Google Shape;727;p4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28" name="Google Shape;728;p4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9" name="Google Shape;729;p4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730" name="Google Shape;730;p43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1" name="Google Shape;731;p43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32" name="Google Shape;732;p43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733" name="Google Shape;733;p43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734" name="Google Shape;734;p43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{D29CFB54-2DDF-4FF7-8000-CF2DB2CFA120}</a:tableStyleId>
              </a:tblPr>
              <a:tblGrid>
                <a:gridCol w="1320800"/>
                <a:gridCol w="1320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35" name="Google Shape;735;p43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741" name="Google Shape;741;p4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42" name="Google Shape;742;p4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3" name="Google Shape;743;p4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744" name="Google Shape;744;p44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5" name="Google Shape;745;p44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46" name="Google Shape;746;p44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747" name="Google Shape;747;p44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748" name="Google Shape;748;p44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{D29CFB54-2DDF-4FF7-8000-CF2DB2CFA120}</a:tableStyleId>
              </a:tblPr>
              <a:tblGrid>
                <a:gridCol w="1320800"/>
                <a:gridCol w="1320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49" name="Google Shape;749;p44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750" name="Google Shape;750;p44"/>
          <p:cNvSpPr/>
          <p:nvPr/>
        </p:nvSpPr>
        <p:spPr>
          <a:xfrm>
            <a:off x="1755380" y="4260874"/>
            <a:ext cx="12682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1+1+2=4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756" name="Google Shape;756;p4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57" name="Google Shape;757;p4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8" name="Google Shape;758;p4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759" name="Google Shape;759;p45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60" name="Google Shape;760;p45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61" name="Google Shape;761;p45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762" name="Google Shape;762;p45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763" name="Google Shape;763;p45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{D29CFB54-2DDF-4FF7-8000-CF2DB2CFA120}</a:tableStyleId>
              </a:tblPr>
              <a:tblGrid>
                <a:gridCol w="1320800"/>
                <a:gridCol w="1320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4" name="Google Shape;764;p45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765" name="Google Shape;765;p45"/>
          <p:cNvSpPr/>
          <p:nvPr/>
        </p:nvSpPr>
        <p:spPr>
          <a:xfrm>
            <a:off x="1720916" y="4260874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 4</a:t>
            </a:r>
            <a:endParaRPr/>
          </a:p>
        </p:txBody>
      </p:sp>
      <p:sp>
        <p:nvSpPr>
          <p:cNvPr id="766" name="Google Shape;766;p45"/>
          <p:cNvSpPr/>
          <p:nvPr/>
        </p:nvSpPr>
        <p:spPr>
          <a:xfrm>
            <a:off x="1702768" y="2592348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1+1+1=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sz="2400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5"/>
          <p:cNvSpPr/>
          <p:nvPr/>
        </p:nvSpPr>
        <p:spPr>
          <a:xfrm>
            <a:off x="2122366" y="1520761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/>
          <p:cNvSpPr/>
          <p:nvPr/>
        </p:nvSpPr>
        <p:spPr>
          <a:xfrm>
            <a:off x="2523816" y="-1219352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5"/>
          <p:cNvSpPr/>
          <p:nvPr/>
        </p:nvSpPr>
        <p:spPr>
          <a:xfrm>
            <a:off x="2793765" y="1546239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5"/>
          <p:cNvSpPr/>
          <p:nvPr/>
        </p:nvSpPr>
        <p:spPr>
          <a:xfrm>
            <a:off x="3465164" y="1571717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776" name="Google Shape;776;p4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77" name="Google Shape;777;p4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8" name="Google Shape;778;p4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779" name="Google Shape;779;p46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80" name="Google Shape;780;p46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81" name="Google Shape;781;p46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782" name="Google Shape;782;p46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783" name="Google Shape;783;p46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{D29CFB54-2DDF-4FF7-8000-CF2DB2CFA120}</a:tableStyleId>
              </a:tblPr>
              <a:tblGrid>
                <a:gridCol w="1320800"/>
                <a:gridCol w="1320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4" name="Google Shape;784;p46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785" name="Google Shape;785;p46"/>
          <p:cNvSpPr/>
          <p:nvPr/>
        </p:nvSpPr>
        <p:spPr>
          <a:xfrm>
            <a:off x="1720916" y="4260874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 4</a:t>
            </a:r>
            <a:endParaRPr/>
          </a:p>
        </p:txBody>
      </p:sp>
      <p:sp>
        <p:nvSpPr>
          <p:cNvPr id="786" name="Google Shape;786;p46"/>
          <p:cNvSpPr/>
          <p:nvPr/>
        </p:nvSpPr>
        <p:spPr>
          <a:xfrm>
            <a:off x="1702768" y="2592348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1+1+1=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sz="2400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46"/>
          <p:cNvSpPr/>
          <p:nvPr/>
        </p:nvSpPr>
        <p:spPr>
          <a:xfrm>
            <a:off x="2958801" y="1554794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46"/>
          <p:cNvSpPr/>
          <p:nvPr/>
        </p:nvSpPr>
        <p:spPr>
          <a:xfrm>
            <a:off x="2523816" y="-1219352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46"/>
          <p:cNvSpPr/>
          <p:nvPr/>
        </p:nvSpPr>
        <p:spPr>
          <a:xfrm>
            <a:off x="3630200" y="1580272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6"/>
          <p:cNvSpPr/>
          <p:nvPr/>
        </p:nvSpPr>
        <p:spPr>
          <a:xfrm>
            <a:off x="4301599" y="1605750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796" name="Google Shape;796;p4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97" name="Google Shape;797;p4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8" name="Google Shape;798;p4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799" name="Google Shape;799;p47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00" name="Google Shape;800;p47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01" name="Google Shape;801;p47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802" name="Google Shape;802;p47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803" name="Google Shape;803;p47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{D29CFB54-2DDF-4FF7-8000-CF2DB2CFA120}</a:tableStyleId>
              </a:tblPr>
              <a:tblGrid>
                <a:gridCol w="1320800"/>
                <a:gridCol w="1320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4" name="Google Shape;804;p47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805" name="Google Shape;805;p47"/>
          <p:cNvSpPr/>
          <p:nvPr/>
        </p:nvSpPr>
        <p:spPr>
          <a:xfrm>
            <a:off x="1720916" y="4260874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 4</a:t>
            </a:r>
            <a:endParaRPr/>
          </a:p>
        </p:txBody>
      </p:sp>
      <p:sp>
        <p:nvSpPr>
          <p:cNvPr id="806" name="Google Shape;806;p47"/>
          <p:cNvSpPr/>
          <p:nvPr/>
        </p:nvSpPr>
        <p:spPr>
          <a:xfrm>
            <a:off x="1702768" y="2592348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1+1+1=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sz="2400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7"/>
          <p:cNvSpPr/>
          <p:nvPr/>
        </p:nvSpPr>
        <p:spPr>
          <a:xfrm>
            <a:off x="3827119" y="1527569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7"/>
          <p:cNvSpPr/>
          <p:nvPr/>
        </p:nvSpPr>
        <p:spPr>
          <a:xfrm>
            <a:off x="2523816" y="-1219352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7"/>
          <p:cNvSpPr/>
          <p:nvPr/>
        </p:nvSpPr>
        <p:spPr>
          <a:xfrm>
            <a:off x="4498518" y="1553047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47"/>
          <p:cNvSpPr/>
          <p:nvPr/>
        </p:nvSpPr>
        <p:spPr>
          <a:xfrm>
            <a:off x="5169917" y="1578525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816" name="Google Shape;816;p4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17" name="Google Shape;817;p4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8" name="Google Shape;818;p4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819" name="Google Shape;819;p48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0" name="Google Shape;820;p48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21" name="Google Shape;821;p48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822" name="Google Shape;822;p48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823" name="Google Shape;823;p48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{D29CFB54-2DDF-4FF7-8000-CF2DB2CFA120}</a:tableStyleId>
              </a:tblPr>
              <a:tblGrid>
                <a:gridCol w="1320800"/>
                <a:gridCol w="1320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4" name="Google Shape;824;p48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825" name="Google Shape;825;p48"/>
          <p:cNvSpPr/>
          <p:nvPr/>
        </p:nvSpPr>
        <p:spPr>
          <a:xfrm>
            <a:off x="1720916" y="4260874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 4</a:t>
            </a:r>
            <a:endParaRPr/>
          </a:p>
        </p:txBody>
      </p:sp>
      <p:sp>
        <p:nvSpPr>
          <p:cNvPr id="826" name="Google Shape;826;p48"/>
          <p:cNvSpPr/>
          <p:nvPr/>
        </p:nvSpPr>
        <p:spPr>
          <a:xfrm>
            <a:off x="1702768" y="2592348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1+1+1=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sz="2400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48"/>
          <p:cNvSpPr/>
          <p:nvPr/>
        </p:nvSpPr>
        <p:spPr>
          <a:xfrm>
            <a:off x="4753202" y="1493428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8"/>
          <p:cNvSpPr/>
          <p:nvPr/>
        </p:nvSpPr>
        <p:spPr>
          <a:xfrm>
            <a:off x="2523816" y="-1219352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8"/>
          <p:cNvSpPr/>
          <p:nvPr/>
        </p:nvSpPr>
        <p:spPr>
          <a:xfrm>
            <a:off x="5424601" y="1518906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8"/>
          <p:cNvSpPr/>
          <p:nvPr/>
        </p:nvSpPr>
        <p:spPr>
          <a:xfrm>
            <a:off x="6096000" y="1544384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836" name="Google Shape;836;p4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37" name="Google Shape;837;p4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8" name="Google Shape;838;p4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839" name="Google Shape;839;p49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0" name="Google Shape;840;p49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41" name="Google Shape;841;p49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842" name="Google Shape;842;p49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843" name="Google Shape;843;p49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{D29CFB54-2DDF-4FF7-8000-CF2DB2CFA120}</a:tableStyleId>
              </a:tblPr>
              <a:tblGrid>
                <a:gridCol w="1320800"/>
                <a:gridCol w="1320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4" name="Google Shape;844;p49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845" name="Google Shape;845;p49"/>
          <p:cNvSpPr/>
          <p:nvPr/>
        </p:nvSpPr>
        <p:spPr>
          <a:xfrm>
            <a:off x="1720916" y="4260874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 4</a:t>
            </a:r>
            <a:endParaRPr/>
          </a:p>
        </p:txBody>
      </p:sp>
      <p:sp>
        <p:nvSpPr>
          <p:cNvPr id="846" name="Google Shape;846;p49"/>
          <p:cNvSpPr/>
          <p:nvPr/>
        </p:nvSpPr>
        <p:spPr>
          <a:xfrm>
            <a:off x="1702768" y="2592348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1+1+1=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sz="2400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9"/>
          <p:cNvSpPr/>
          <p:nvPr/>
        </p:nvSpPr>
        <p:spPr>
          <a:xfrm>
            <a:off x="4753202" y="1493428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9"/>
          <p:cNvSpPr/>
          <p:nvPr/>
        </p:nvSpPr>
        <p:spPr>
          <a:xfrm>
            <a:off x="2523816" y="-1219352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9"/>
          <p:cNvSpPr/>
          <p:nvPr/>
        </p:nvSpPr>
        <p:spPr>
          <a:xfrm>
            <a:off x="1863286" y="3145286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855" name="Google Shape;855;p5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56" name="Google Shape;856;p5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7" name="Google Shape;857;p5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858" name="Google Shape;858;p50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9" name="Google Shape;859;p50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60" name="Google Shape;860;p50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861" name="Google Shape;861;p50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862" name="Google Shape;862;p50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{D29CFB54-2DDF-4FF7-8000-CF2DB2CFA120}</a:tableStyleId>
              </a:tblPr>
              <a:tblGrid>
                <a:gridCol w="1320800"/>
                <a:gridCol w="1320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3" name="Google Shape;863;p50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864" name="Google Shape;864;p50"/>
          <p:cNvSpPr/>
          <p:nvPr/>
        </p:nvSpPr>
        <p:spPr>
          <a:xfrm>
            <a:off x="1720916" y="4260874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 4</a:t>
            </a:r>
            <a:endParaRPr/>
          </a:p>
        </p:txBody>
      </p:sp>
      <p:sp>
        <p:nvSpPr>
          <p:cNvPr id="865" name="Google Shape;865;p50"/>
          <p:cNvSpPr/>
          <p:nvPr/>
        </p:nvSpPr>
        <p:spPr>
          <a:xfrm>
            <a:off x="1702768" y="2592348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1+1+1=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sz="2400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50"/>
          <p:cNvSpPr/>
          <p:nvPr/>
        </p:nvSpPr>
        <p:spPr>
          <a:xfrm>
            <a:off x="5454233" y="1477374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50"/>
          <p:cNvSpPr/>
          <p:nvPr/>
        </p:nvSpPr>
        <p:spPr>
          <a:xfrm>
            <a:off x="2523816" y="-1219352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50"/>
          <p:cNvSpPr/>
          <p:nvPr/>
        </p:nvSpPr>
        <p:spPr>
          <a:xfrm>
            <a:off x="2711628" y="3187899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874" name="Google Shape;874;p5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75" name="Google Shape;875;p5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6" name="Google Shape;876;p5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Rabin Karp String Matching Algorithm</a:t>
            </a:r>
            <a:endParaRPr/>
          </a:p>
        </p:txBody>
      </p:sp>
      <p:graphicFrame>
        <p:nvGraphicFramePr>
          <p:cNvPr id="877" name="Google Shape;877;p51"/>
          <p:cNvGraphicFramePr/>
          <p:nvPr/>
        </p:nvGraphicFramePr>
        <p:xfrm>
          <a:off x="1803400" y="19816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78" name="Google Shape;878;p51"/>
          <p:cNvGraphicFramePr/>
          <p:nvPr/>
        </p:nvGraphicFramePr>
        <p:xfrm>
          <a:off x="1758361" y="36548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79" name="Google Shape;879;p51"/>
          <p:cNvSpPr txBox="1"/>
          <p:nvPr/>
        </p:nvSpPr>
        <p:spPr>
          <a:xfrm>
            <a:off x="1694467" y="1568882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880" name="Google Shape;880;p51"/>
          <p:cNvSpPr txBox="1"/>
          <p:nvPr/>
        </p:nvSpPr>
        <p:spPr>
          <a:xfrm>
            <a:off x="1694467" y="3237408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881" name="Google Shape;881;p51"/>
          <p:cNvGraphicFramePr/>
          <p:nvPr/>
        </p:nvGraphicFramePr>
        <p:xfrm>
          <a:off x="8239760" y="17748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{D29CFB54-2DDF-4FF7-8000-CF2DB2CFA120}</a:tableStyleId>
              </a:tblPr>
              <a:tblGrid>
                <a:gridCol w="1320800"/>
                <a:gridCol w="1320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2" name="Google Shape;882;p51"/>
          <p:cNvSpPr/>
          <p:nvPr/>
        </p:nvSpPr>
        <p:spPr>
          <a:xfrm>
            <a:off x="838200" y="939669"/>
            <a:ext cx="25683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u="sng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sp>
        <p:nvSpPr>
          <p:cNvPr id="883" name="Google Shape;883;p51"/>
          <p:cNvSpPr/>
          <p:nvPr/>
        </p:nvSpPr>
        <p:spPr>
          <a:xfrm>
            <a:off x="1720916" y="4260874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1+1+2= 4</a:t>
            </a:r>
            <a:endParaRPr/>
          </a:p>
        </p:txBody>
      </p:sp>
      <p:sp>
        <p:nvSpPr>
          <p:cNvPr id="884" name="Google Shape;884;p51"/>
          <p:cNvSpPr/>
          <p:nvPr/>
        </p:nvSpPr>
        <p:spPr>
          <a:xfrm>
            <a:off x="1702768" y="2592348"/>
            <a:ext cx="13372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1+1+1= </a:t>
            </a:r>
            <a:r>
              <a:rPr lang="en-US" sz="24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sz="2400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51"/>
          <p:cNvSpPr/>
          <p:nvPr/>
        </p:nvSpPr>
        <p:spPr>
          <a:xfrm>
            <a:off x="6066412" y="1523128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51"/>
          <p:cNvSpPr/>
          <p:nvPr/>
        </p:nvSpPr>
        <p:spPr>
          <a:xfrm>
            <a:off x="2523816" y="-1219352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51"/>
          <p:cNvSpPr/>
          <p:nvPr/>
        </p:nvSpPr>
        <p:spPr>
          <a:xfrm>
            <a:off x="3560137" y="3189268"/>
            <a:ext cx="346514" cy="46084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51"/>
          <p:cNvSpPr/>
          <p:nvPr/>
        </p:nvSpPr>
        <p:spPr>
          <a:xfrm>
            <a:off x="2122366" y="5059522"/>
            <a:ext cx="514063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Matched!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894" name="Google Shape;894;p5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95" name="Google Shape;895;p5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6" name="Google Shape;896;p5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lang="en-US" sz="2800"/>
              <a:t>Rabin Karp String Matching Algorithm- Rolling Hash Function</a:t>
            </a:r>
            <a:endParaRPr/>
          </a:p>
        </p:txBody>
      </p:sp>
      <p:graphicFrame>
        <p:nvGraphicFramePr>
          <p:cNvPr id="897" name="Google Shape;897;p52"/>
          <p:cNvGraphicFramePr/>
          <p:nvPr/>
        </p:nvGraphicFramePr>
        <p:xfrm>
          <a:off x="838200" y="1384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98" name="Google Shape;898;p52"/>
          <p:cNvGraphicFramePr/>
          <p:nvPr/>
        </p:nvGraphicFramePr>
        <p:xfrm>
          <a:off x="8610600" y="1384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9" name="Google Shape;899;p52"/>
          <p:cNvSpPr txBox="1"/>
          <p:nvPr/>
        </p:nvSpPr>
        <p:spPr>
          <a:xfrm>
            <a:off x="729267" y="9721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900" name="Google Shape;900;p52"/>
          <p:cNvSpPr txBox="1"/>
          <p:nvPr/>
        </p:nvSpPr>
        <p:spPr>
          <a:xfrm>
            <a:off x="8546706" y="967447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sp>
        <p:nvSpPr>
          <p:cNvPr id="901" name="Google Shape;901;p52"/>
          <p:cNvSpPr txBox="1"/>
          <p:nvPr/>
        </p:nvSpPr>
        <p:spPr>
          <a:xfrm>
            <a:off x="8546706" y="2082800"/>
            <a:ext cx="15697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p= 2+3+5=10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5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907" name="Google Shape;907;p5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908" name="Google Shape;908;p5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9" name="Google Shape;909;p5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lang="en-US" sz="2800"/>
              <a:t>Rabin Karp String Matching Algorithm- Rolling Hash Function</a:t>
            </a:r>
            <a:endParaRPr/>
          </a:p>
        </p:txBody>
      </p:sp>
      <p:graphicFrame>
        <p:nvGraphicFramePr>
          <p:cNvPr id="910" name="Google Shape;910;p53"/>
          <p:cNvGraphicFramePr/>
          <p:nvPr/>
        </p:nvGraphicFramePr>
        <p:xfrm>
          <a:off x="838200" y="1384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1" name="Google Shape;911;p53"/>
          <p:cNvGraphicFramePr/>
          <p:nvPr/>
        </p:nvGraphicFramePr>
        <p:xfrm>
          <a:off x="8610600" y="1384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2" name="Google Shape;912;p53"/>
          <p:cNvSpPr txBox="1"/>
          <p:nvPr/>
        </p:nvSpPr>
        <p:spPr>
          <a:xfrm>
            <a:off x="729267" y="9721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913" name="Google Shape;913;p53"/>
          <p:cNvSpPr txBox="1"/>
          <p:nvPr/>
        </p:nvSpPr>
        <p:spPr>
          <a:xfrm>
            <a:off x="8546706" y="967447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sp>
        <p:nvSpPr>
          <p:cNvPr id="914" name="Google Shape;914;p53"/>
          <p:cNvSpPr txBox="1"/>
          <p:nvPr/>
        </p:nvSpPr>
        <p:spPr>
          <a:xfrm>
            <a:off x="8546706" y="2082800"/>
            <a:ext cx="15697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p= 2+3+5=10</a:t>
            </a:r>
            <a:endParaRPr/>
          </a:p>
        </p:txBody>
      </p:sp>
      <p:graphicFrame>
        <p:nvGraphicFramePr>
          <p:cNvPr id="915" name="Google Shape;915;p53"/>
          <p:cNvGraphicFramePr/>
          <p:nvPr/>
        </p:nvGraphicFramePr>
        <p:xfrm>
          <a:off x="687070" y="29888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{83C6DF6A-5C8F-4E86-8B1E-779FC2B2156A}</a:tableStyleId>
              </a:tblPr>
              <a:tblGrid>
                <a:gridCol w="1092200"/>
                <a:gridCol w="7035800"/>
              </a:tblGrid>
              <a:tr h="297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Hash value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 = t[i]+t[i+1]+t[i+2] = 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 = t[i]+t[i+1]+t[i+2] = 9 or </a:t>
                      </a:r>
                      <a:r>
                        <a:rPr b="1" lang="en-US" sz="1800"/>
                        <a:t>h=h-t[i-1]+t[i+2] = 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h=h-t[i-1]+t[i+2] = 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h=h-t[i-1]+t[i+2] = 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h=h-t[i-1]+t[i+2] = 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h=h-t[i-1]+t[i+2] = 10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16" name="Google Shape;916;p53"/>
          <p:cNvGraphicFramePr/>
          <p:nvPr/>
        </p:nvGraphicFramePr>
        <p:xfrm>
          <a:off x="10294226" y="21443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{D29CFB54-2DDF-4FF7-8000-CF2DB2CFA120}</a:tableStyleId>
              </a:tblPr>
              <a:tblGrid>
                <a:gridCol w="741675"/>
                <a:gridCol w="741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7" name="Google Shape;917;p53"/>
          <p:cNvSpPr/>
          <p:nvPr/>
        </p:nvSpPr>
        <p:spPr>
          <a:xfrm>
            <a:off x="1035732" y="1838519"/>
            <a:ext cx="358140" cy="47508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53"/>
          <p:cNvSpPr/>
          <p:nvPr/>
        </p:nvSpPr>
        <p:spPr>
          <a:xfrm>
            <a:off x="1043940" y="3429000"/>
            <a:ext cx="7414260" cy="24384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53"/>
          <p:cNvSpPr/>
          <p:nvPr/>
        </p:nvSpPr>
        <p:spPr>
          <a:xfrm>
            <a:off x="1571672" y="1838519"/>
            <a:ext cx="358140" cy="47508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53"/>
          <p:cNvSpPr/>
          <p:nvPr/>
        </p:nvSpPr>
        <p:spPr>
          <a:xfrm>
            <a:off x="1035732" y="3750802"/>
            <a:ext cx="7414260" cy="287798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53"/>
          <p:cNvSpPr/>
          <p:nvPr/>
        </p:nvSpPr>
        <p:spPr>
          <a:xfrm>
            <a:off x="1035732" y="4116562"/>
            <a:ext cx="7414260" cy="287798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53"/>
          <p:cNvSpPr/>
          <p:nvPr/>
        </p:nvSpPr>
        <p:spPr>
          <a:xfrm>
            <a:off x="1035732" y="4482322"/>
            <a:ext cx="7414260" cy="287798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53"/>
          <p:cNvSpPr/>
          <p:nvPr/>
        </p:nvSpPr>
        <p:spPr>
          <a:xfrm>
            <a:off x="1035732" y="4848082"/>
            <a:ext cx="7414260" cy="287798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53"/>
          <p:cNvSpPr/>
          <p:nvPr/>
        </p:nvSpPr>
        <p:spPr>
          <a:xfrm>
            <a:off x="1035732" y="5213842"/>
            <a:ext cx="7414260" cy="287798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53"/>
          <p:cNvSpPr/>
          <p:nvPr/>
        </p:nvSpPr>
        <p:spPr>
          <a:xfrm>
            <a:off x="2173652" y="1838519"/>
            <a:ext cx="358140" cy="47508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53"/>
          <p:cNvSpPr/>
          <p:nvPr/>
        </p:nvSpPr>
        <p:spPr>
          <a:xfrm>
            <a:off x="2830831" y="1838519"/>
            <a:ext cx="358140" cy="47508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53"/>
          <p:cNvSpPr/>
          <p:nvPr/>
        </p:nvSpPr>
        <p:spPr>
          <a:xfrm>
            <a:off x="3488010" y="1838519"/>
            <a:ext cx="358140" cy="47508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53"/>
          <p:cNvSpPr/>
          <p:nvPr/>
        </p:nvSpPr>
        <p:spPr>
          <a:xfrm>
            <a:off x="4145189" y="1838519"/>
            <a:ext cx="358140" cy="47508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53"/>
          <p:cNvSpPr/>
          <p:nvPr/>
        </p:nvSpPr>
        <p:spPr>
          <a:xfrm>
            <a:off x="129362" y="5473100"/>
            <a:ext cx="958736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Matched! O(n-m+1)=O(n)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Advantages of rolling hash function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Less calculation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More apparent for large patterns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Text = abbcabba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Pattern = abba</a:t>
            </a:r>
            <a:endParaRPr/>
          </a:p>
          <a:p>
            <a:pPr indent="-18669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/>
          </a:p>
          <a:p>
            <a:pPr indent="-18669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/>
          </a:p>
        </p:txBody>
      </p:sp>
      <p:sp>
        <p:nvSpPr>
          <p:cNvPr id="935" name="Google Shape;935;p5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936" name="Google Shape;936;p5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937" name="Google Shape;937;p5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8" name="Google Shape;938;p5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lang="en-US" sz="2800"/>
              <a:t>Rabin Karp String Matching Algorithm- Rolling Hash Function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944" name="Google Shape;944;p5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945" name="Google Shape;945;p5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6" name="Google Shape;946;p5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lang="en-US" sz="2800"/>
              <a:t>Rabin Karp String Matching Algorithm- Worst Case Example</a:t>
            </a:r>
            <a:endParaRPr/>
          </a:p>
        </p:txBody>
      </p:sp>
      <p:graphicFrame>
        <p:nvGraphicFramePr>
          <p:cNvPr id="947" name="Google Shape;947;p55"/>
          <p:cNvGraphicFramePr/>
          <p:nvPr/>
        </p:nvGraphicFramePr>
        <p:xfrm>
          <a:off x="838200" y="1384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8" name="Google Shape;948;p55"/>
          <p:cNvGraphicFramePr/>
          <p:nvPr/>
        </p:nvGraphicFramePr>
        <p:xfrm>
          <a:off x="8610600" y="1384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9" name="Google Shape;949;p55"/>
          <p:cNvSpPr txBox="1"/>
          <p:nvPr/>
        </p:nvSpPr>
        <p:spPr>
          <a:xfrm>
            <a:off x="729267" y="9721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950" name="Google Shape;950;p55"/>
          <p:cNvSpPr txBox="1"/>
          <p:nvPr/>
        </p:nvSpPr>
        <p:spPr>
          <a:xfrm>
            <a:off x="8546706" y="967447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951" name="Google Shape;951;p55"/>
          <p:cNvGraphicFramePr/>
          <p:nvPr/>
        </p:nvGraphicFramePr>
        <p:xfrm>
          <a:off x="838200" y="2370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{83C6DF6A-5C8F-4E86-8B1E-779FC2B2156A}</a:tableStyleId>
              </a:tblPr>
              <a:tblGrid>
                <a:gridCol w="618975"/>
                <a:gridCol w="3987375"/>
              </a:tblGrid>
              <a:tr h="297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Hash value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 = t[i]+t[i+1]+t[i+2] = 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h=h-t[i-1]+t[i+2] = 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h=h-t[i-1]+t[i+2] = 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h=h-t[i-1]+t[i+2] = 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h=h-t[i-1]+t[i+2] = 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h=h-t[i-1]+t[i+2] = 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i=7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h=h-t[i-1]+t[i+2] = 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h=h-t[i-1]+t[i+2] = 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h=h-t[i-1]+t[i+2] = 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52" name="Google Shape;952;p55"/>
          <p:cNvGraphicFramePr/>
          <p:nvPr/>
        </p:nvGraphicFramePr>
        <p:xfrm>
          <a:off x="10294226" y="21443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{D29CFB54-2DDF-4FF7-8000-CF2DB2CFA120}</a:tableStyleId>
              </a:tblPr>
              <a:tblGrid>
                <a:gridCol w="741675"/>
                <a:gridCol w="741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3" name="Google Shape;953;p55"/>
          <p:cNvSpPr/>
          <p:nvPr/>
        </p:nvSpPr>
        <p:spPr>
          <a:xfrm>
            <a:off x="995423" y="1799127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55"/>
          <p:cNvSpPr/>
          <p:nvPr/>
        </p:nvSpPr>
        <p:spPr>
          <a:xfrm rot="5400000">
            <a:off x="531246" y="2693207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55"/>
          <p:cNvSpPr/>
          <p:nvPr/>
        </p:nvSpPr>
        <p:spPr>
          <a:xfrm>
            <a:off x="1605023" y="1820082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55"/>
          <p:cNvSpPr/>
          <p:nvPr/>
        </p:nvSpPr>
        <p:spPr>
          <a:xfrm rot="5400000">
            <a:off x="531246" y="3074207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55"/>
          <p:cNvSpPr/>
          <p:nvPr/>
        </p:nvSpPr>
        <p:spPr>
          <a:xfrm>
            <a:off x="2058477" y="1779800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55"/>
          <p:cNvSpPr/>
          <p:nvPr/>
        </p:nvSpPr>
        <p:spPr>
          <a:xfrm rot="5400000">
            <a:off x="516006" y="3455207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55"/>
          <p:cNvSpPr/>
          <p:nvPr/>
        </p:nvSpPr>
        <p:spPr>
          <a:xfrm>
            <a:off x="2668077" y="1766213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55"/>
          <p:cNvSpPr/>
          <p:nvPr/>
        </p:nvSpPr>
        <p:spPr>
          <a:xfrm rot="5400000">
            <a:off x="516006" y="3859702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55"/>
          <p:cNvSpPr/>
          <p:nvPr/>
        </p:nvSpPr>
        <p:spPr>
          <a:xfrm>
            <a:off x="3232262" y="1822460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55"/>
          <p:cNvSpPr/>
          <p:nvPr/>
        </p:nvSpPr>
        <p:spPr>
          <a:xfrm rot="5400000">
            <a:off x="516006" y="4230321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55"/>
          <p:cNvSpPr/>
          <p:nvPr/>
        </p:nvSpPr>
        <p:spPr>
          <a:xfrm>
            <a:off x="3785982" y="1800204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55"/>
          <p:cNvSpPr/>
          <p:nvPr/>
        </p:nvSpPr>
        <p:spPr>
          <a:xfrm rot="5400000">
            <a:off x="516006" y="4600940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55"/>
          <p:cNvSpPr/>
          <p:nvPr/>
        </p:nvSpPr>
        <p:spPr>
          <a:xfrm>
            <a:off x="4406047" y="1790274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55"/>
          <p:cNvSpPr/>
          <p:nvPr/>
        </p:nvSpPr>
        <p:spPr>
          <a:xfrm rot="5400000">
            <a:off x="483273" y="4982333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55"/>
          <p:cNvSpPr/>
          <p:nvPr/>
        </p:nvSpPr>
        <p:spPr>
          <a:xfrm>
            <a:off x="4925427" y="1801188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55"/>
          <p:cNvSpPr/>
          <p:nvPr/>
        </p:nvSpPr>
        <p:spPr>
          <a:xfrm rot="5400000">
            <a:off x="486100" y="5338719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55"/>
          <p:cNvSpPr/>
          <p:nvPr/>
        </p:nvSpPr>
        <p:spPr>
          <a:xfrm>
            <a:off x="5444807" y="1815211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55"/>
          <p:cNvSpPr/>
          <p:nvPr/>
        </p:nvSpPr>
        <p:spPr>
          <a:xfrm rot="5400000">
            <a:off x="491180" y="5669733"/>
            <a:ext cx="243068" cy="3708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55"/>
          <p:cNvSpPr/>
          <p:nvPr/>
        </p:nvSpPr>
        <p:spPr>
          <a:xfrm>
            <a:off x="6029924" y="2059963"/>
            <a:ext cx="2891625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time we get hash = 7,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match the string to check which tales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O(m)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SPURIOUS HIT!</a:t>
            </a:r>
            <a:endParaRPr/>
          </a:p>
        </p:txBody>
      </p:sp>
      <p:sp>
        <p:nvSpPr>
          <p:cNvPr id="972" name="Google Shape;972;p55"/>
          <p:cNvSpPr txBox="1"/>
          <p:nvPr/>
        </p:nvSpPr>
        <p:spPr>
          <a:xfrm>
            <a:off x="8707120" y="2011680"/>
            <a:ext cx="11047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4+2+1 = 7</a:t>
            </a:r>
            <a:endParaRPr/>
          </a:p>
        </p:txBody>
      </p:sp>
      <p:sp>
        <p:nvSpPr>
          <p:cNvPr id="973" name="Google Shape;973;p55"/>
          <p:cNvSpPr txBox="1"/>
          <p:nvPr/>
        </p:nvSpPr>
        <p:spPr>
          <a:xfrm>
            <a:off x="6421675" y="5988923"/>
            <a:ext cx="23169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O((n-m+1)m)=O(nm)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5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979" name="Google Shape;979;p5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980" name="Google Shape;980;p5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1" name="Google Shape;981;p5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lang="en-US" sz="2800"/>
              <a:t>Rabin Karp String Matching Algorithm- Strong Hash</a:t>
            </a:r>
            <a:endParaRPr/>
          </a:p>
        </p:txBody>
      </p:sp>
      <p:graphicFrame>
        <p:nvGraphicFramePr>
          <p:cNvPr id="982" name="Google Shape;982;p56"/>
          <p:cNvGraphicFramePr/>
          <p:nvPr/>
        </p:nvGraphicFramePr>
        <p:xfrm>
          <a:off x="838200" y="1384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83" name="Google Shape;983;p56"/>
          <p:cNvGraphicFramePr/>
          <p:nvPr/>
        </p:nvGraphicFramePr>
        <p:xfrm>
          <a:off x="8610600" y="1384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4" name="Google Shape;984;p56"/>
          <p:cNvSpPr txBox="1"/>
          <p:nvPr/>
        </p:nvSpPr>
        <p:spPr>
          <a:xfrm>
            <a:off x="729267" y="9721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985" name="Google Shape;985;p56"/>
          <p:cNvSpPr txBox="1"/>
          <p:nvPr/>
        </p:nvSpPr>
        <p:spPr>
          <a:xfrm>
            <a:off x="8546706" y="967447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986" name="Google Shape;986;p56"/>
          <p:cNvGraphicFramePr/>
          <p:nvPr/>
        </p:nvGraphicFramePr>
        <p:xfrm>
          <a:off x="838200" y="2370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{83C6DF6A-5C8F-4E86-8B1E-779FC2B2156A}</a:tableStyleId>
              </a:tblPr>
              <a:tblGrid>
                <a:gridCol w="618975"/>
                <a:gridCol w="3987375"/>
              </a:tblGrid>
              <a:tr h="297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Hash value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i=7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87" name="Google Shape;987;p56"/>
          <p:cNvGraphicFramePr/>
          <p:nvPr/>
        </p:nvGraphicFramePr>
        <p:xfrm>
          <a:off x="9992518" y="2370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{D29CFB54-2DDF-4FF7-8000-CF2DB2CFA120}</a:tableStyleId>
              </a:tblPr>
              <a:tblGrid>
                <a:gridCol w="741675"/>
                <a:gridCol w="741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993" name="Google Shape;993;p5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994" name="Google Shape;994;p5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5" name="Google Shape;995;p5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lang="en-US" sz="2800"/>
              <a:t>Rabin Karp String Matching Algorithm- Strong Hash</a:t>
            </a:r>
            <a:endParaRPr/>
          </a:p>
        </p:txBody>
      </p:sp>
      <p:graphicFrame>
        <p:nvGraphicFramePr>
          <p:cNvPr id="996" name="Google Shape;996;p57"/>
          <p:cNvGraphicFramePr/>
          <p:nvPr/>
        </p:nvGraphicFramePr>
        <p:xfrm>
          <a:off x="838200" y="1384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97" name="Google Shape;997;p57"/>
          <p:cNvGraphicFramePr/>
          <p:nvPr/>
        </p:nvGraphicFramePr>
        <p:xfrm>
          <a:off x="8610600" y="1384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8" name="Google Shape;998;p57"/>
          <p:cNvSpPr txBox="1"/>
          <p:nvPr/>
        </p:nvSpPr>
        <p:spPr>
          <a:xfrm>
            <a:off x="729267" y="9721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999" name="Google Shape;999;p57"/>
          <p:cNvSpPr txBox="1"/>
          <p:nvPr/>
        </p:nvSpPr>
        <p:spPr>
          <a:xfrm>
            <a:off x="8546706" y="967447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000" name="Google Shape;1000;p57"/>
          <p:cNvGraphicFramePr/>
          <p:nvPr/>
        </p:nvGraphicFramePr>
        <p:xfrm>
          <a:off x="838200" y="2370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{83C6DF6A-5C8F-4E86-8B1E-779FC2B2156A}</a:tableStyleId>
              </a:tblPr>
              <a:tblGrid>
                <a:gridCol w="591825"/>
                <a:gridCol w="3812525"/>
              </a:tblGrid>
              <a:tr h="297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Hash value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h=t[i]*10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+ t[i+1]*10</a:t>
                      </a:r>
                      <a:r>
                        <a:rPr baseline="30000" lang="en-US" sz="1800"/>
                        <a:t>1</a:t>
                      </a:r>
                      <a:r>
                        <a:rPr lang="en-US" sz="1800"/>
                        <a:t>+ t[i+2]*10</a:t>
                      </a:r>
                      <a:r>
                        <a:rPr baseline="30000" lang="en-US" sz="1800"/>
                        <a:t>0</a:t>
                      </a:r>
                      <a:r>
                        <a:rPr lang="en-US" sz="1800"/>
                        <a:t>=331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313</a:t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133</a:t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331</a:t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311</a:t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115</a:t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i=7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154</a:t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542</a:t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421</a:t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01" name="Google Shape;1001;p57"/>
          <p:cNvGraphicFramePr/>
          <p:nvPr/>
        </p:nvGraphicFramePr>
        <p:xfrm>
          <a:off x="9992518" y="2370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{D29CFB54-2DDF-4FF7-8000-CF2DB2CFA120}</a:tableStyleId>
              </a:tblPr>
              <a:tblGrid>
                <a:gridCol w="741675"/>
                <a:gridCol w="741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2" name="Google Shape;1002;p57"/>
          <p:cNvSpPr txBox="1"/>
          <p:nvPr/>
        </p:nvSpPr>
        <p:spPr>
          <a:xfrm>
            <a:off x="8546706" y="1873084"/>
            <a:ext cx="26702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4*10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+ 2*10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+ 1*10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=421</a:t>
            </a:r>
            <a:endParaRPr/>
          </a:p>
        </p:txBody>
      </p:sp>
      <p:sp>
        <p:nvSpPr>
          <p:cNvPr id="1003" name="Google Shape;1003;p57"/>
          <p:cNvSpPr txBox="1"/>
          <p:nvPr/>
        </p:nvSpPr>
        <p:spPr>
          <a:xfrm>
            <a:off x="6370320" y="2967335"/>
            <a:ext cx="2997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Spurious hits!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– O(n-m+1) = O(n)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5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1009" name="Google Shape;1009;p5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10" name="Google Shape;1010;p5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1" name="Google Shape;1011;p5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lang="en-US" sz="2800"/>
              <a:t>Rabin Karp String Matching Algorithm- Strong Hash and Mod</a:t>
            </a:r>
            <a:endParaRPr/>
          </a:p>
        </p:txBody>
      </p:sp>
      <p:graphicFrame>
        <p:nvGraphicFramePr>
          <p:cNvPr id="1012" name="Google Shape;1012;p58"/>
          <p:cNvGraphicFramePr/>
          <p:nvPr/>
        </p:nvGraphicFramePr>
        <p:xfrm>
          <a:off x="838200" y="1384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3" name="Google Shape;1013;p58"/>
          <p:cNvGraphicFramePr/>
          <p:nvPr/>
        </p:nvGraphicFramePr>
        <p:xfrm>
          <a:off x="8610600" y="13849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827825"/>
                <a:gridCol w="827825"/>
                <a:gridCol w="827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4" name="Google Shape;1014;p58"/>
          <p:cNvSpPr txBox="1"/>
          <p:nvPr/>
        </p:nvSpPr>
        <p:spPr>
          <a:xfrm>
            <a:off x="729267" y="9721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015" name="Google Shape;1015;p58"/>
          <p:cNvSpPr txBox="1"/>
          <p:nvPr/>
        </p:nvSpPr>
        <p:spPr>
          <a:xfrm>
            <a:off x="8546706" y="967447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graphicFrame>
        <p:nvGraphicFramePr>
          <p:cNvPr id="1016" name="Google Shape;1016;p58"/>
          <p:cNvGraphicFramePr/>
          <p:nvPr/>
        </p:nvGraphicFramePr>
        <p:xfrm>
          <a:off x="378460" y="22424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{83C6DF6A-5C8F-4E86-8B1E-779FC2B2156A}</a:tableStyleId>
              </a:tblPr>
              <a:tblGrid>
                <a:gridCol w="964225"/>
                <a:gridCol w="4562975"/>
                <a:gridCol w="878675"/>
              </a:tblGrid>
              <a:tr h="297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Hash 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Mod 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h=t[i]*10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+ t[i+1]*10</a:t>
                      </a:r>
                      <a:r>
                        <a:rPr baseline="30000" lang="en-US" sz="1800"/>
                        <a:t>1</a:t>
                      </a:r>
                      <a:r>
                        <a:rPr lang="en-US" sz="1800"/>
                        <a:t>+ t[i+2]*10</a:t>
                      </a:r>
                      <a:r>
                        <a:rPr baseline="30000" lang="en-US" sz="1800"/>
                        <a:t>1</a:t>
                      </a:r>
                      <a:r>
                        <a:rPr lang="en-US" sz="1800"/>
                        <a:t>=331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313</a:t>
                      </a:r>
                      <a:endParaRPr b="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133</a:t>
                      </a:r>
                      <a:endParaRPr b="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331</a:t>
                      </a:r>
                      <a:endParaRPr b="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311</a:t>
                      </a:r>
                      <a:endParaRPr b="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115</a:t>
                      </a:r>
                      <a:endParaRPr b="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i=7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154</a:t>
                      </a:r>
                      <a:endParaRPr b="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542</a:t>
                      </a:r>
                      <a:endParaRPr b="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h= (h-t[i-1]*</a:t>
                      </a:r>
                      <a:r>
                        <a:rPr lang="en-US" sz="1800"/>
                        <a:t>10</a:t>
                      </a:r>
                      <a:r>
                        <a:rPr baseline="30000" lang="en-US" sz="1800"/>
                        <a:t>2</a:t>
                      </a:r>
                      <a:r>
                        <a:rPr lang="en-US" sz="1800"/>
                        <a:t>)*10+t[i+2] = 421</a:t>
                      </a:r>
                      <a:endParaRPr b="0"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17" name="Google Shape;1017;p58"/>
          <p:cNvGraphicFramePr/>
          <p:nvPr/>
        </p:nvGraphicFramePr>
        <p:xfrm>
          <a:off x="9992518" y="2370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{D29CFB54-2DDF-4FF7-8000-CF2DB2CFA120}</a:tableStyleId>
              </a:tblPr>
              <a:tblGrid>
                <a:gridCol w="741675"/>
                <a:gridCol w="741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Letter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8" name="Google Shape;1018;p58"/>
          <p:cNvSpPr txBox="1"/>
          <p:nvPr/>
        </p:nvSpPr>
        <p:spPr>
          <a:xfrm>
            <a:off x="7754226" y="1926760"/>
            <a:ext cx="41634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4*10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+ 2*10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+ 1*10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=421-&gt; 1(after mod)</a:t>
            </a:r>
            <a:endParaRPr/>
          </a:p>
        </p:txBody>
      </p:sp>
      <p:sp>
        <p:nvSpPr>
          <p:cNvPr id="1019" name="Google Shape;1019;p58"/>
          <p:cNvSpPr txBox="1"/>
          <p:nvPr/>
        </p:nvSpPr>
        <p:spPr>
          <a:xfrm>
            <a:off x="7112000" y="3105834"/>
            <a:ext cx="274320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 is used to keep the values small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 value depends on our memory size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Spurious hits are arising again now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 case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O((n-m+1)m)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5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1025" name="Google Shape;1025;p5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26" name="Google Shape;1026;p5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7" name="Google Shape;1027;p5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4000"/>
              <a:t>Practice Problem</a:t>
            </a:r>
            <a:endParaRPr/>
          </a:p>
        </p:txBody>
      </p:sp>
      <p:graphicFrame>
        <p:nvGraphicFramePr>
          <p:cNvPr id="1028" name="Google Shape;1028;p59"/>
          <p:cNvGraphicFramePr/>
          <p:nvPr/>
        </p:nvGraphicFramePr>
        <p:xfrm>
          <a:off x="1336040" y="2197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{7CD421D2-CC1D-4CEE-A404-8327533B9DDC}</a:tableStyleId>
              </a:tblPr>
              <a:tblGrid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  <a:gridCol w="5614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9" name="Google Shape;1029;p59"/>
          <p:cNvGraphicFramePr/>
          <p:nvPr/>
        </p:nvGraphicFramePr>
        <p:xfrm>
          <a:off x="1336040" y="34138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{5E3FB999-B846-4801-935E-1C417B70F01D}</a:tableStyleId>
              </a:tblPr>
              <a:tblGrid>
                <a:gridCol w="620850"/>
                <a:gridCol w="620850"/>
                <a:gridCol w="620850"/>
                <a:gridCol w="620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0" name="Google Shape;1030;p59"/>
          <p:cNvSpPr txBox="1"/>
          <p:nvPr/>
        </p:nvSpPr>
        <p:spPr>
          <a:xfrm>
            <a:off x="1227107" y="1784981"/>
            <a:ext cx="1329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String:</a:t>
            </a:r>
            <a:endParaRPr/>
          </a:p>
        </p:txBody>
      </p:sp>
      <p:sp>
        <p:nvSpPr>
          <p:cNvPr id="1031" name="Google Shape;1031;p59"/>
          <p:cNvSpPr txBox="1"/>
          <p:nvPr/>
        </p:nvSpPr>
        <p:spPr>
          <a:xfrm>
            <a:off x="1227107" y="2990900"/>
            <a:ext cx="2891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Pattern we are searching for:</a:t>
            </a:r>
            <a:endParaRPr/>
          </a:p>
        </p:txBody>
      </p:sp>
      <p:sp>
        <p:nvSpPr>
          <p:cNvPr id="1032" name="Google Shape;1032;p59"/>
          <p:cNvSpPr txBox="1"/>
          <p:nvPr/>
        </p:nvSpPr>
        <p:spPr>
          <a:xfrm>
            <a:off x="1336040" y="4399280"/>
            <a:ext cx="37914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base  26, instead of 10 like before.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mod 15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6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038" name="Google Shape;1038;p6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39" name="Google Shape;1039;p60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December 3, 2023</a:t>
            </a:r>
            <a:endParaRPr/>
          </a:p>
        </p:txBody>
      </p:sp>
      <p:sp>
        <p:nvSpPr>
          <p:cNvPr id="1040" name="Google Shape;1040;p60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41" name="Google Shape;1041;p60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