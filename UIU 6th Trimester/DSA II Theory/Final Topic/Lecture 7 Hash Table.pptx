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</p:sldIdLst>
  <p:sldSz cy="6858000" cx="12192000"/>
  <p:notesSz cx="6858000" cy="9144000"/>
  <p:embeddedFontLst>
    <p:embeddedFont>
      <p:font typeface="Tahoma"/>
      <p:regular r:id="rId70"/>
      <p:bold r:id="rId71"/>
    </p:embeddedFont>
    <p:embeddedFont>
      <p:font typeface="Noto Sans Symbols"/>
      <p:regular r:id="rId72"/>
      <p:bold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4" roundtripDataSignature="AMtx7mgpkA6DWzFOZU7Sh5MbGnGJfoss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5C461E-2222-4408-88BB-2BA341F0F4F0}">
  <a:tblStyle styleId="{FD5C461E-2222-4408-88BB-2BA341F0F4F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NotoSansSymbols-bold.fntdata"/><Relationship Id="rId72" Type="http://schemas.openxmlformats.org/officeDocument/2006/relationships/font" Target="fonts/NotoSansSymbols-regular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customschemas.google.com/relationships/presentationmetadata" Target="meta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Tahoma-bold.fntdata"/><Relationship Id="rId70" Type="http://schemas.openxmlformats.org/officeDocument/2006/relationships/font" Target="fonts/Tahoma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7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7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7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Hash Table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91" name="Google Shape;9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Introduction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Direct addressing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Hash Table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Collision Resolution by Chaining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Analysis of Hashing with Chaining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Hash Functions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Probing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1.Introduction</a:t>
            </a:r>
            <a:endParaRPr/>
          </a:p>
        </p:txBody>
      </p:sp>
      <p:sp>
        <p:nvSpPr>
          <p:cNvPr id="105" name="Google Shape;105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07" name="Google Shape;10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learn about hash table?</a:t>
            </a:r>
            <a:endParaRPr/>
          </a:p>
        </p:txBody>
      </p:sp>
      <p:sp>
        <p:nvSpPr>
          <p:cNvPr id="113" name="Google Shape;11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Linked List – O(n) time is required to retrieve an element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Hash Table – Expected time to retrieve an element is O(1)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    Array   ArrayLIst LinkedLIst    Hashtable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insert O(1)    O(1)            O(1)             O(1) Average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delete O(n)   O(n)             O(n)            O(1)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search  O(n)   O(n)            O(n)            O(1)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15" name="Google Shape;11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2.Direct Addressing</a:t>
            </a:r>
            <a:endParaRPr/>
          </a:p>
        </p:txBody>
      </p:sp>
      <p:sp>
        <p:nvSpPr>
          <p:cNvPr id="121" name="Google Shape;121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23" name="Google Shape;12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Direct Addressing</a:t>
            </a:r>
            <a:endParaRPr/>
          </a:p>
        </p:txBody>
      </p:sp>
      <p:pic>
        <p:nvPicPr>
          <p:cNvPr descr="https://lh3.googleusercontent.com/S2tAzcZz6XJVwFL5IobX0SNo08WKzv-kpk3p0t5oI8efLcY2PZxvC19jzLxMCF3iSfdR8XUgUUH_bqUW0Mm5cPxQqm7XZobWZhLW7NKoexImZV6zb9NFtVkeUOIJR9Lxf5KnIwhU0AtZjdALvB-zK_pMUgS6B4gkHKaEJrRANHxhvemlCZeMt10bywlPtw" id="129" name="Google Shape;129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2010066"/>
            <a:ext cx="6713370" cy="3201077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31" name="Google Shape;13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Direct Addressing</a:t>
            </a:r>
            <a:endParaRPr/>
          </a:p>
        </p:txBody>
      </p:sp>
      <p:pic>
        <p:nvPicPr>
          <p:cNvPr descr="https://lh3.googleusercontent.com/S2tAzcZz6XJVwFL5IobX0SNo08WKzv-kpk3p0t5oI8efLcY2PZxvC19jzLxMCF3iSfdR8XUgUUH_bqUW0Mm5cPxQqm7XZobWZhLW7NKoexImZV6zb9NFtVkeUOIJR9Lxf5KnIwhU0AtZjdALvB-zK_pMUgS6B4gkHKaEJrRANHxhvemlCZeMt10bywlPtw" id="137" name="Google Shape;13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31" y="1994024"/>
            <a:ext cx="7054515" cy="432656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 txBox="1"/>
          <p:nvPr/>
        </p:nvSpPr>
        <p:spPr>
          <a:xfrm>
            <a:off x="8069179" y="1994024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universe, the number of keys is finite (here only 10)</a:t>
            </a:r>
            <a:endParaRPr/>
          </a:p>
        </p:txBody>
      </p:sp>
      <p:sp>
        <p:nvSpPr>
          <p:cNvPr id="139" name="Google Shape;13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40" name="Google Shape;14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Direct Addressing</a:t>
            </a:r>
            <a:endParaRPr/>
          </a:p>
        </p:txBody>
      </p:sp>
      <p:pic>
        <p:nvPicPr>
          <p:cNvPr descr="https://lh3.googleusercontent.com/S2tAzcZz6XJVwFL5IobX0SNo08WKzv-kpk3p0t5oI8efLcY2PZxvC19jzLxMCF3iSfdR8XUgUUH_bqUW0Mm5cPxQqm7XZobWZhLW7NKoexImZV6zb9NFtVkeUOIJR9Lxf5KnIwhU0AtZjdALvB-zK_pMUgS6B4gkHKaEJrRANHxhvemlCZeMt10bywlPtw" id="146" name="Google Shape;146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31" y="1994024"/>
            <a:ext cx="7054515" cy="432656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 txBox="1"/>
          <p:nvPr/>
        </p:nvSpPr>
        <p:spPr>
          <a:xfrm>
            <a:off x="8069179" y="1994024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universe, the number of keys is finite (here only 10)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8069178" y="2943691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object is stored using a key in 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T</a:t>
            </a:r>
            <a:endParaRPr/>
          </a:p>
        </p:txBody>
      </p:sp>
      <p:sp>
        <p:nvSpPr>
          <p:cNvPr id="149" name="Google Shape;14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Direct Addressing</a:t>
            </a:r>
            <a:endParaRPr/>
          </a:p>
        </p:txBody>
      </p:sp>
      <p:pic>
        <p:nvPicPr>
          <p:cNvPr descr="https://lh3.googleusercontent.com/S2tAzcZz6XJVwFL5IobX0SNo08WKzv-kpk3p0t5oI8efLcY2PZxvC19jzLxMCF3iSfdR8XUgUUH_bqUW0Mm5cPxQqm7XZobWZhLW7NKoexImZV6zb9NFtVkeUOIJR9Lxf5KnIwhU0AtZjdALvB-zK_pMUgS6B4gkHKaEJrRANHxhvemlCZeMt10bywlPtw" id="156" name="Google Shape;156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31" y="1994024"/>
            <a:ext cx="7054515" cy="432656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8069179" y="1994024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universe, the number of keys is finite (here only 10)</a:t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8069178" y="2943691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object is stored using a key in 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T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8069177" y="3787975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for example, for the 10 keys,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10 predefined locations </a:t>
            </a:r>
            <a:endParaRPr/>
          </a:p>
        </p:txBody>
      </p:sp>
      <p:sp>
        <p:nvSpPr>
          <p:cNvPr id="160" name="Google Shape;16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61" name="Google Shape;16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Direct Addressing</a:t>
            </a:r>
            <a:endParaRPr/>
          </a:p>
        </p:txBody>
      </p:sp>
      <p:pic>
        <p:nvPicPr>
          <p:cNvPr descr="https://lh3.googleusercontent.com/S2tAzcZz6XJVwFL5IobX0SNo08WKzv-kpk3p0t5oI8efLcY2PZxvC19jzLxMCF3iSfdR8XUgUUH_bqUW0Mm5cPxQqm7XZobWZhLW7NKoexImZV6zb9NFtVkeUOIJR9Lxf5KnIwhU0AtZjdALvB-zK_pMUgS6B4gkHKaEJrRANHxhvemlCZeMt10bywlPtw" id="167" name="Google Shape;167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31" y="1994024"/>
            <a:ext cx="7054515" cy="432656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0"/>
          <p:cNvSpPr txBox="1"/>
          <p:nvPr/>
        </p:nvSpPr>
        <p:spPr>
          <a:xfrm>
            <a:off x="8069179" y="1994024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universe, the number of keys is finite (here only 10)</a:t>
            </a:r>
            <a:endParaRPr/>
          </a:p>
        </p:txBody>
      </p:sp>
      <p:sp>
        <p:nvSpPr>
          <p:cNvPr id="169" name="Google Shape;169;p10"/>
          <p:cNvSpPr txBox="1"/>
          <p:nvPr/>
        </p:nvSpPr>
        <p:spPr>
          <a:xfrm>
            <a:off x="8069178" y="2943691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object is stored using a key in 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T</a:t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8069177" y="3787975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for example, for the 10 keys,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10 predefined locations </a:t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8069177" y="4843025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address of the object is stored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array T</a:t>
            </a:r>
            <a:endParaRPr/>
          </a:p>
        </p:txBody>
      </p:sp>
      <p:sp>
        <p:nvSpPr>
          <p:cNvPr id="172" name="Google Shape;17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73" name="Google Shape;17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Direct Addressing</a:t>
            </a:r>
            <a:endParaRPr/>
          </a:p>
        </p:txBody>
      </p:sp>
      <p:pic>
        <p:nvPicPr>
          <p:cNvPr descr="https://lh3.googleusercontent.com/S2tAzcZz6XJVwFL5IobX0SNo08WKzv-kpk3p0t5oI8efLcY2PZxvC19jzLxMCF3iSfdR8XUgUUH_bqUW0Mm5cPxQqm7XZobWZhLW7NKoexImZV6zb9NFtVkeUOIJR9Lxf5KnIwhU0AtZjdALvB-zK_pMUgS6B4gkHKaEJrRANHxhvemlCZeMt10bywlPtw" id="179" name="Google Shape;179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31" y="1994024"/>
            <a:ext cx="7054515" cy="4326566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1"/>
          <p:cNvSpPr txBox="1"/>
          <p:nvPr/>
        </p:nvSpPr>
        <p:spPr>
          <a:xfrm>
            <a:off x="8069179" y="1994024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universe, the number of keys is finite (here only 10)</a:t>
            </a:r>
            <a:endParaRPr/>
          </a:p>
        </p:txBody>
      </p:sp>
      <p:sp>
        <p:nvSpPr>
          <p:cNvPr id="181" name="Google Shape;181;p11"/>
          <p:cNvSpPr txBox="1"/>
          <p:nvPr/>
        </p:nvSpPr>
        <p:spPr>
          <a:xfrm>
            <a:off x="8069178" y="2943691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object is stored using a key in 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T</a:t>
            </a:r>
            <a:endParaRPr/>
          </a:p>
        </p:txBody>
      </p:sp>
      <p:sp>
        <p:nvSpPr>
          <p:cNvPr id="182" name="Google Shape;182;p11"/>
          <p:cNvSpPr txBox="1"/>
          <p:nvPr/>
        </p:nvSpPr>
        <p:spPr>
          <a:xfrm>
            <a:off x="8069177" y="3787975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for example, for the 10 keys,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10 predefined locations 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8069177" y="4843025"/>
            <a:ext cx="35132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address of the object is stored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array T</a:t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5791426" y="37106"/>
            <a:ext cx="200503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 MyClass{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int key;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int data1;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int data2;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185" name="Google Shape;18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86" name="Google Shape;18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Limitations of direct addressing</a:t>
            </a:r>
            <a:endParaRPr/>
          </a:p>
        </p:txBody>
      </p:sp>
      <p:sp>
        <p:nvSpPr>
          <p:cNvPr id="192" name="Google Shape;192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reality, there can be infinite number of keys.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it is not possible to have infinite amount of memory space.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 we do not use all the keys in the universe.</a:t>
            </a:r>
            <a:endParaRPr/>
          </a:p>
        </p:txBody>
      </p:sp>
      <p:sp>
        <p:nvSpPr>
          <p:cNvPr id="193" name="Google Shape;19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94" name="Google Shape;19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3.Hash Table</a:t>
            </a:r>
            <a:endParaRPr/>
          </a:p>
        </p:txBody>
      </p:sp>
      <p:sp>
        <p:nvSpPr>
          <p:cNvPr id="200" name="Google Shape;200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01" name="Google Shape;20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202" name="Google Shape;20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Table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graphicFrame>
        <p:nvGraphicFramePr>
          <p:cNvPr id="208" name="Google Shape;208;p14"/>
          <p:cNvGraphicFramePr/>
          <p:nvPr/>
        </p:nvGraphicFramePr>
        <p:xfrm>
          <a:off x="7619999" y="1536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9" name="Google Shape;20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210" name="Google Shape;2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1023825" y="2047650"/>
            <a:ext cx="3461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Table</a:t>
            </a:r>
            <a:endParaRPr/>
          </a:p>
        </p:txBody>
      </p:sp>
      <p:graphicFrame>
        <p:nvGraphicFramePr>
          <p:cNvPr id="217" name="Google Shape;217;p15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8" name="Google Shape;218;p15"/>
          <p:cNvSpPr/>
          <p:nvPr/>
        </p:nvSpPr>
        <p:spPr>
          <a:xfrm>
            <a:off x="1572126" y="2213811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sp>
        <p:nvSpPr>
          <p:cNvPr id="219" name="Google Shape;21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220" name="Google Shape;22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Table</a:t>
            </a:r>
            <a:endParaRPr/>
          </a:p>
        </p:txBody>
      </p:sp>
      <p:graphicFrame>
        <p:nvGraphicFramePr>
          <p:cNvPr id="226" name="Google Shape;226;p16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7" name="Google Shape;227;p16"/>
          <p:cNvSpPr/>
          <p:nvPr/>
        </p:nvSpPr>
        <p:spPr>
          <a:xfrm>
            <a:off x="1572126" y="2213811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1572126" y="4283242"/>
            <a:ext cx="914400" cy="93044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(key)</a:t>
            </a:r>
            <a:endParaRPr/>
          </a:p>
        </p:txBody>
      </p:sp>
      <p:sp>
        <p:nvSpPr>
          <p:cNvPr id="229" name="Google Shape;22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230" name="Google Shape;23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Table</a:t>
            </a:r>
            <a:endParaRPr/>
          </a:p>
        </p:txBody>
      </p:sp>
      <p:graphicFrame>
        <p:nvGraphicFramePr>
          <p:cNvPr id="236" name="Google Shape;236;p17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37" name="Google Shape;237;p17"/>
          <p:cNvSpPr/>
          <p:nvPr/>
        </p:nvSpPr>
        <p:spPr>
          <a:xfrm>
            <a:off x="1572126" y="2213811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(key)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2594810" y="4203031"/>
            <a:ext cx="1668379" cy="109086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cxnSp>
        <p:nvCxnSpPr>
          <p:cNvPr id="240" name="Google Shape;240;p17"/>
          <p:cNvCxnSpPr>
            <a:stCxn id="238" idx="6"/>
            <a:endCxn id="239" idx="1"/>
          </p:cNvCxnSpPr>
          <p:nvPr/>
        </p:nvCxnSpPr>
        <p:spPr>
          <a:xfrm>
            <a:off x="1708485" y="4748463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41" name="Google Shape;241;p17"/>
          <p:cNvCxnSpPr>
            <a:stCxn id="239" idx="3"/>
          </p:cNvCxnSpPr>
          <p:nvPr/>
        </p:nvCxnSpPr>
        <p:spPr>
          <a:xfrm>
            <a:off x="4263189" y="4748463"/>
            <a:ext cx="1018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2" name="Google Shape;24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243" name="Google Shape;24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Table</a:t>
            </a:r>
            <a:endParaRPr/>
          </a:p>
        </p:txBody>
      </p:sp>
      <p:graphicFrame>
        <p:nvGraphicFramePr>
          <p:cNvPr id="249" name="Google Shape;249;p18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50" name="Google Shape;250;p18"/>
          <p:cNvSpPr/>
          <p:nvPr/>
        </p:nvSpPr>
        <p:spPr>
          <a:xfrm>
            <a:off x="1572126" y="2213811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(key)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2594810" y="4203031"/>
            <a:ext cx="1668379" cy="109086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cxnSp>
        <p:nvCxnSpPr>
          <p:cNvPr id="253" name="Google Shape;253;p18"/>
          <p:cNvCxnSpPr>
            <a:stCxn id="251" idx="6"/>
            <a:endCxn id="252" idx="1"/>
          </p:cNvCxnSpPr>
          <p:nvPr/>
        </p:nvCxnSpPr>
        <p:spPr>
          <a:xfrm>
            <a:off x="1708485" y="4748463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4" name="Google Shape;254;p18"/>
          <p:cNvCxnSpPr>
            <a:stCxn id="252" idx="3"/>
          </p:cNvCxnSpPr>
          <p:nvPr/>
        </p:nvCxnSpPr>
        <p:spPr>
          <a:xfrm>
            <a:off x="4263189" y="4748463"/>
            <a:ext cx="1018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55" name="Google Shape;255;p18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56" name="Google Shape;2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257" name="Google Shape;2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Table</a:t>
            </a:r>
            <a:endParaRPr/>
          </a:p>
        </p:txBody>
      </p:sp>
      <p:graphicFrame>
        <p:nvGraphicFramePr>
          <p:cNvPr id="263" name="Google Shape;263;p19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64" name="Google Shape;264;p19"/>
          <p:cNvSpPr/>
          <p:nvPr/>
        </p:nvSpPr>
        <p:spPr>
          <a:xfrm>
            <a:off x="1572126" y="2213811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sp>
        <p:nvSpPr>
          <p:cNvPr id="265" name="Google Shape;265;p19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(key)</a:t>
            </a:r>
            <a:endParaRPr/>
          </a:p>
        </p:txBody>
      </p:sp>
      <p:sp>
        <p:nvSpPr>
          <p:cNvPr id="266" name="Google Shape;266;p19"/>
          <p:cNvSpPr/>
          <p:nvPr/>
        </p:nvSpPr>
        <p:spPr>
          <a:xfrm>
            <a:off x="2594810" y="4203031"/>
            <a:ext cx="1668379" cy="109086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cxnSp>
        <p:nvCxnSpPr>
          <p:cNvPr id="267" name="Google Shape;267;p19"/>
          <p:cNvCxnSpPr>
            <a:stCxn id="265" idx="6"/>
            <a:endCxn id="266" idx="1"/>
          </p:cNvCxnSpPr>
          <p:nvPr/>
        </p:nvCxnSpPr>
        <p:spPr>
          <a:xfrm>
            <a:off x="1708485" y="4748463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68" name="Google Shape;268;p19"/>
          <p:cNvCxnSpPr>
            <a:stCxn id="266" idx="3"/>
          </p:cNvCxnSpPr>
          <p:nvPr/>
        </p:nvCxnSpPr>
        <p:spPr>
          <a:xfrm>
            <a:off x="4263189" y="4748463"/>
            <a:ext cx="1018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9" name="Google Shape;269;p19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270" name="Google Shape;270;p19"/>
          <p:cNvCxnSpPr/>
          <p:nvPr/>
        </p:nvCxnSpPr>
        <p:spPr>
          <a:xfrm flipH="1" rot="10800000">
            <a:off x="7912768" y="5213683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1" name="Google Shape;27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272" name="Google Shape;27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Hash Table</a:t>
            </a:r>
            <a:endParaRPr/>
          </a:p>
        </p:txBody>
      </p:sp>
      <p:graphicFrame>
        <p:nvGraphicFramePr>
          <p:cNvPr id="278" name="Google Shape;278;p20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79" name="Google Shape;279;p20"/>
          <p:cNvSpPr/>
          <p:nvPr/>
        </p:nvSpPr>
        <p:spPr>
          <a:xfrm>
            <a:off x="8931441" y="4756483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(key)</a:t>
            </a:r>
            <a:endParaRPr/>
          </a:p>
        </p:txBody>
      </p:sp>
      <p:sp>
        <p:nvSpPr>
          <p:cNvPr id="281" name="Google Shape;281;p20"/>
          <p:cNvSpPr/>
          <p:nvPr/>
        </p:nvSpPr>
        <p:spPr>
          <a:xfrm>
            <a:off x="2594810" y="4203031"/>
            <a:ext cx="1668379" cy="109086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cxnSp>
        <p:nvCxnSpPr>
          <p:cNvPr id="282" name="Google Shape;282;p20"/>
          <p:cNvCxnSpPr>
            <a:stCxn id="280" idx="6"/>
            <a:endCxn id="281" idx="1"/>
          </p:cNvCxnSpPr>
          <p:nvPr/>
        </p:nvCxnSpPr>
        <p:spPr>
          <a:xfrm>
            <a:off x="1708485" y="4748463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3" name="Google Shape;283;p20"/>
          <p:cNvCxnSpPr>
            <a:stCxn id="281" idx="3"/>
          </p:cNvCxnSpPr>
          <p:nvPr/>
        </p:nvCxnSpPr>
        <p:spPr>
          <a:xfrm>
            <a:off x="4263189" y="4748463"/>
            <a:ext cx="1018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4" name="Google Shape;284;p20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cxnSp>
        <p:nvCxnSpPr>
          <p:cNvPr id="285" name="Google Shape;285;p20"/>
          <p:cNvCxnSpPr/>
          <p:nvPr/>
        </p:nvCxnSpPr>
        <p:spPr>
          <a:xfrm flipH="1" rot="10800000">
            <a:off x="7912768" y="5213683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6" name="Google Shape;28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287" name="Google Shape;28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Retrieving from the hash tale</a:t>
            </a:r>
            <a:endParaRPr/>
          </a:p>
        </p:txBody>
      </p:sp>
      <p:graphicFrame>
        <p:nvGraphicFramePr>
          <p:cNvPr id="293" name="Google Shape;293;p21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4" name="Google Shape;294;p21"/>
          <p:cNvSpPr/>
          <p:nvPr/>
        </p:nvSpPr>
        <p:spPr>
          <a:xfrm>
            <a:off x="8931441" y="4756483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cxnSp>
        <p:nvCxnSpPr>
          <p:cNvPr id="295" name="Google Shape;295;p21"/>
          <p:cNvCxnSpPr/>
          <p:nvPr/>
        </p:nvCxnSpPr>
        <p:spPr>
          <a:xfrm flipH="1" rot="10800000">
            <a:off x="7912768" y="5213683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96" name="Google Shape;296;p21"/>
          <p:cNvSpPr txBox="1"/>
          <p:nvPr/>
        </p:nvSpPr>
        <p:spPr>
          <a:xfrm>
            <a:off x="1524000" y="3267519"/>
            <a:ext cx="30554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to remember the key</a:t>
            </a:r>
            <a:endParaRPr/>
          </a:p>
        </p:txBody>
      </p:sp>
      <p:sp>
        <p:nvSpPr>
          <p:cNvPr id="297" name="Google Shape;29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298" name="Google Shape;29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Retrieving from the hash tale</a:t>
            </a:r>
            <a:endParaRPr/>
          </a:p>
        </p:txBody>
      </p:sp>
      <p:graphicFrame>
        <p:nvGraphicFramePr>
          <p:cNvPr id="304" name="Google Shape;304;p22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05" name="Google Shape;305;p22"/>
          <p:cNvSpPr/>
          <p:nvPr/>
        </p:nvSpPr>
        <p:spPr>
          <a:xfrm>
            <a:off x="8931441" y="4756483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cxnSp>
        <p:nvCxnSpPr>
          <p:cNvPr id="306" name="Google Shape;306;p22"/>
          <p:cNvCxnSpPr/>
          <p:nvPr/>
        </p:nvCxnSpPr>
        <p:spPr>
          <a:xfrm flipH="1" rot="10800000">
            <a:off x="7912768" y="5213683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07" name="Google Shape;307;p22"/>
          <p:cNvSpPr txBox="1"/>
          <p:nvPr/>
        </p:nvSpPr>
        <p:spPr>
          <a:xfrm>
            <a:off x="1524000" y="3267519"/>
            <a:ext cx="36915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to remember the key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pass it through the hash function</a:t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(key)</a:t>
            </a:r>
            <a:endParaRPr/>
          </a:p>
        </p:txBody>
      </p:sp>
      <p:sp>
        <p:nvSpPr>
          <p:cNvPr id="309" name="Google Shape;309;p22"/>
          <p:cNvSpPr/>
          <p:nvPr/>
        </p:nvSpPr>
        <p:spPr>
          <a:xfrm>
            <a:off x="2594810" y="4203031"/>
            <a:ext cx="1668379" cy="109086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cxnSp>
        <p:nvCxnSpPr>
          <p:cNvPr id="310" name="Google Shape;310;p22"/>
          <p:cNvCxnSpPr>
            <a:stCxn id="308" idx="6"/>
            <a:endCxn id="309" idx="1"/>
          </p:cNvCxnSpPr>
          <p:nvPr/>
        </p:nvCxnSpPr>
        <p:spPr>
          <a:xfrm>
            <a:off x="1708485" y="4748463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1" name="Google Shape;311;p22"/>
          <p:cNvCxnSpPr>
            <a:stCxn id="309" idx="3"/>
          </p:cNvCxnSpPr>
          <p:nvPr/>
        </p:nvCxnSpPr>
        <p:spPr>
          <a:xfrm>
            <a:off x="4263189" y="4748463"/>
            <a:ext cx="1018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2" name="Google Shape;312;p22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13" name="Google Shape;31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314" name="Google Shape;31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Retrieving from the hash tale</a:t>
            </a:r>
            <a:endParaRPr/>
          </a:p>
        </p:txBody>
      </p:sp>
      <p:graphicFrame>
        <p:nvGraphicFramePr>
          <p:cNvPr id="320" name="Google Shape;320;p23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21" name="Google Shape;321;p23"/>
          <p:cNvSpPr/>
          <p:nvPr/>
        </p:nvSpPr>
        <p:spPr>
          <a:xfrm>
            <a:off x="8931441" y="4756483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cxnSp>
        <p:nvCxnSpPr>
          <p:cNvPr id="322" name="Google Shape;322;p23"/>
          <p:cNvCxnSpPr/>
          <p:nvPr/>
        </p:nvCxnSpPr>
        <p:spPr>
          <a:xfrm flipH="1" rot="10800000">
            <a:off x="7912768" y="5213683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3" name="Google Shape;323;p23"/>
          <p:cNvSpPr txBox="1"/>
          <p:nvPr/>
        </p:nvSpPr>
        <p:spPr>
          <a:xfrm>
            <a:off x="1524000" y="3267519"/>
            <a:ext cx="36915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to remember the key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pass it through the hash function</a:t>
            </a:r>
            <a:endParaRPr/>
          </a:p>
        </p:txBody>
      </p:sp>
      <p:sp>
        <p:nvSpPr>
          <p:cNvPr id="324" name="Google Shape;324;p23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(key)</a:t>
            </a:r>
            <a:endParaRPr/>
          </a:p>
        </p:txBody>
      </p:sp>
      <p:sp>
        <p:nvSpPr>
          <p:cNvPr id="325" name="Google Shape;325;p23"/>
          <p:cNvSpPr/>
          <p:nvPr/>
        </p:nvSpPr>
        <p:spPr>
          <a:xfrm>
            <a:off x="2594810" y="4203031"/>
            <a:ext cx="1668379" cy="109086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cxnSp>
        <p:nvCxnSpPr>
          <p:cNvPr id="326" name="Google Shape;326;p23"/>
          <p:cNvCxnSpPr>
            <a:stCxn id="324" idx="6"/>
            <a:endCxn id="325" idx="1"/>
          </p:cNvCxnSpPr>
          <p:nvPr/>
        </p:nvCxnSpPr>
        <p:spPr>
          <a:xfrm>
            <a:off x="1708485" y="4748463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7" name="Google Shape;327;p23"/>
          <p:cNvCxnSpPr>
            <a:stCxn id="325" idx="3"/>
          </p:cNvCxnSpPr>
          <p:nvPr/>
        </p:nvCxnSpPr>
        <p:spPr>
          <a:xfrm>
            <a:off x="4263189" y="4748463"/>
            <a:ext cx="1018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8" name="Google Shape;328;p23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1523999" y="5805340"/>
            <a:ext cx="39424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in this way we know , where in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T the objects reference was stored</a:t>
            </a:r>
            <a:endParaRPr/>
          </a:p>
        </p:txBody>
      </p:sp>
      <p:sp>
        <p:nvSpPr>
          <p:cNvPr id="330" name="Google Shape;33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331" name="Google Shape;33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Retrieving from the hash tale</a:t>
            </a:r>
            <a:endParaRPr/>
          </a:p>
        </p:txBody>
      </p:sp>
      <p:graphicFrame>
        <p:nvGraphicFramePr>
          <p:cNvPr id="337" name="Google Shape;337;p24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8" name="Google Shape;338;p24"/>
          <p:cNvSpPr/>
          <p:nvPr/>
        </p:nvSpPr>
        <p:spPr>
          <a:xfrm>
            <a:off x="8931441" y="4756483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cxnSp>
        <p:nvCxnSpPr>
          <p:cNvPr id="339" name="Google Shape;339;p24"/>
          <p:cNvCxnSpPr/>
          <p:nvPr/>
        </p:nvCxnSpPr>
        <p:spPr>
          <a:xfrm flipH="1" rot="10800000">
            <a:off x="7912768" y="5213683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0" name="Google Shape;340;p24"/>
          <p:cNvSpPr txBox="1"/>
          <p:nvPr/>
        </p:nvSpPr>
        <p:spPr>
          <a:xfrm>
            <a:off x="1524000" y="3267519"/>
            <a:ext cx="36915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to remember the key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pass it through the hash function</a:t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 (key)</a:t>
            </a:r>
            <a:endParaRPr/>
          </a:p>
        </p:txBody>
      </p:sp>
      <p:sp>
        <p:nvSpPr>
          <p:cNvPr id="342" name="Google Shape;342;p24"/>
          <p:cNvSpPr/>
          <p:nvPr/>
        </p:nvSpPr>
        <p:spPr>
          <a:xfrm>
            <a:off x="2594810" y="4203031"/>
            <a:ext cx="1668379" cy="109086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cxnSp>
        <p:nvCxnSpPr>
          <p:cNvPr id="343" name="Google Shape;343;p24"/>
          <p:cNvCxnSpPr>
            <a:stCxn id="341" idx="6"/>
            <a:endCxn id="342" idx="1"/>
          </p:cNvCxnSpPr>
          <p:nvPr/>
        </p:nvCxnSpPr>
        <p:spPr>
          <a:xfrm>
            <a:off x="1708485" y="4748463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" name="Google Shape;344;p24"/>
          <p:cNvCxnSpPr>
            <a:stCxn id="342" idx="3"/>
          </p:cNvCxnSpPr>
          <p:nvPr/>
        </p:nvCxnSpPr>
        <p:spPr>
          <a:xfrm>
            <a:off x="4263189" y="4748463"/>
            <a:ext cx="1018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45" name="Google Shape;345;p24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46" name="Google Shape;346;p24"/>
          <p:cNvSpPr txBox="1"/>
          <p:nvPr/>
        </p:nvSpPr>
        <p:spPr>
          <a:xfrm>
            <a:off x="1523999" y="5805340"/>
            <a:ext cx="39424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in this way we know , where in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T the objects reference was stored</a:t>
            </a:r>
            <a:endParaRPr/>
          </a:p>
        </p:txBody>
      </p:sp>
      <p:sp>
        <p:nvSpPr>
          <p:cNvPr id="347" name="Google Shape;34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348" name="Google Shape;34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in this approach</a:t>
            </a:r>
            <a:endParaRPr/>
          </a:p>
        </p:txBody>
      </p:sp>
      <p:sp>
        <p:nvSpPr>
          <p:cNvPr id="354" name="Google Shape;354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Collision!</a:t>
            </a:r>
            <a:endParaRPr/>
          </a:p>
        </p:txBody>
      </p:sp>
      <p:sp>
        <p:nvSpPr>
          <p:cNvPr id="355" name="Google Shape;35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356" name="Google Shape;35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 in this approach</a:t>
            </a:r>
            <a:endParaRPr/>
          </a:p>
        </p:txBody>
      </p:sp>
      <p:sp>
        <p:nvSpPr>
          <p:cNvPr id="362" name="Google Shape;362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Collision!</a:t>
            </a:r>
            <a:endParaRPr/>
          </a:p>
        </p:txBody>
      </p:sp>
      <p:graphicFrame>
        <p:nvGraphicFramePr>
          <p:cNvPr id="363" name="Google Shape;363;p26"/>
          <p:cNvGraphicFramePr/>
          <p:nvPr/>
        </p:nvGraphicFramePr>
        <p:xfrm>
          <a:off x="6817894" y="12641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64" name="Google Shape;364;p26"/>
          <p:cNvSpPr/>
          <p:nvPr/>
        </p:nvSpPr>
        <p:spPr>
          <a:xfrm>
            <a:off x="4369467" y="5460638"/>
            <a:ext cx="1443790" cy="9144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794085" y="4283242"/>
            <a:ext cx="914400" cy="930442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(key)</a:t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2594810" y="4203031"/>
            <a:ext cx="1668379" cy="1090863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cxnSp>
        <p:nvCxnSpPr>
          <p:cNvPr id="367" name="Google Shape;367;p26"/>
          <p:cNvCxnSpPr>
            <a:stCxn id="365" idx="6"/>
            <a:endCxn id="366" idx="1"/>
          </p:cNvCxnSpPr>
          <p:nvPr/>
        </p:nvCxnSpPr>
        <p:spPr>
          <a:xfrm>
            <a:off x="1708485" y="4748463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8" name="Google Shape;368;p26"/>
          <p:cNvCxnSpPr>
            <a:stCxn id="366" idx="3"/>
          </p:cNvCxnSpPr>
          <p:nvPr/>
        </p:nvCxnSpPr>
        <p:spPr>
          <a:xfrm>
            <a:off x="4263189" y="4748463"/>
            <a:ext cx="1018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9" name="Google Shape;369;p26"/>
          <p:cNvSpPr txBox="1"/>
          <p:nvPr/>
        </p:nvSpPr>
        <p:spPr>
          <a:xfrm>
            <a:off x="5359620" y="456379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794085" y="2603360"/>
            <a:ext cx="914400" cy="93044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1115 (key)</a:t>
            </a:r>
            <a:endParaRPr/>
          </a:p>
        </p:txBody>
      </p:sp>
      <p:sp>
        <p:nvSpPr>
          <p:cNvPr id="371" name="Google Shape;371;p26"/>
          <p:cNvSpPr/>
          <p:nvPr/>
        </p:nvSpPr>
        <p:spPr>
          <a:xfrm>
            <a:off x="2594810" y="2523149"/>
            <a:ext cx="1668379" cy="109086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Hash Function</a:t>
            </a:r>
            <a:endParaRPr/>
          </a:p>
        </p:txBody>
      </p:sp>
      <p:cxnSp>
        <p:nvCxnSpPr>
          <p:cNvPr id="372" name="Google Shape;372;p26"/>
          <p:cNvCxnSpPr>
            <a:stCxn id="370" idx="6"/>
            <a:endCxn id="371" idx="1"/>
          </p:cNvCxnSpPr>
          <p:nvPr/>
        </p:nvCxnSpPr>
        <p:spPr>
          <a:xfrm>
            <a:off x="1708485" y="3068581"/>
            <a:ext cx="886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73" name="Google Shape;373;p26"/>
          <p:cNvCxnSpPr>
            <a:stCxn id="371" idx="3"/>
          </p:cNvCxnSpPr>
          <p:nvPr/>
        </p:nvCxnSpPr>
        <p:spPr>
          <a:xfrm>
            <a:off x="4263189" y="3068581"/>
            <a:ext cx="1018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74" name="Google Shape;374;p26"/>
          <p:cNvSpPr txBox="1"/>
          <p:nvPr/>
        </p:nvSpPr>
        <p:spPr>
          <a:xfrm>
            <a:off x="5359620" y="288391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4263189" y="1490538"/>
            <a:ext cx="1443790" cy="9144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 we want to store</a:t>
            </a:r>
            <a:endParaRPr/>
          </a:p>
        </p:txBody>
      </p:sp>
      <p:sp>
        <p:nvSpPr>
          <p:cNvPr id="376" name="Google Shape;3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377" name="Google Shape;3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4.Collision Resolution By Chaining</a:t>
            </a:r>
            <a:endParaRPr/>
          </a:p>
        </p:txBody>
      </p:sp>
      <p:sp>
        <p:nvSpPr>
          <p:cNvPr id="383" name="Google Shape;383;p2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84" name="Google Shape;38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385" name="Google Shape;38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Collision Resolution by Chaining</a:t>
            </a:r>
            <a:endParaRPr/>
          </a:p>
        </p:txBody>
      </p:sp>
      <p:sp>
        <p:nvSpPr>
          <p:cNvPr id="391" name="Google Shape;391;p28"/>
          <p:cNvSpPr txBox="1"/>
          <p:nvPr>
            <p:ph idx="1" type="body"/>
          </p:nvPr>
        </p:nvSpPr>
        <p:spPr>
          <a:xfrm>
            <a:off x="7668126" y="1825625"/>
            <a:ext cx="368567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Though </a:t>
            </a:r>
            <a:r>
              <a:rPr b="1" lang="en-US"/>
              <a:t>not</a:t>
            </a:r>
            <a:r>
              <a:rPr lang="en-US"/>
              <a:t> </a:t>
            </a:r>
            <a:r>
              <a:rPr b="1" lang="en-US"/>
              <a:t>pictorially</a:t>
            </a:r>
            <a:r>
              <a:rPr lang="en-US"/>
              <a:t> depicted, each key is being used to store objects using a </a:t>
            </a:r>
            <a:r>
              <a:rPr b="1" lang="en-US"/>
              <a:t>hash</a:t>
            </a:r>
            <a:r>
              <a:rPr lang="en-US"/>
              <a:t> </a:t>
            </a:r>
            <a:r>
              <a:rPr b="1" lang="en-US"/>
              <a:t>function</a:t>
            </a:r>
            <a:r>
              <a:rPr lang="en-US"/>
              <a:t>.</a:t>
            </a:r>
            <a:endParaRPr/>
          </a:p>
        </p:txBody>
      </p:sp>
      <p:pic>
        <p:nvPicPr>
          <p:cNvPr descr="https://lh6.googleusercontent.com/AxKooMczB31QFvnxpGH9oRUtPpmNg25otxK4FWt6NKcNOg_DJYkDj-fvL6bpg67D3QyZ8EV53Fup6w9pagfekyXgFBk0QAthzB-i-ZoSdw2cBKwbA6_o2FAUn_gd-Heq3CHeIULizL45WzmO_pB7gBTCqFZ2BLanIgGqJWAfsTmlYUO4YhQf0jTuAkW8NQ" id="392" name="Google Shape;39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5485" y="2027611"/>
            <a:ext cx="6862533" cy="392400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394" name="Google Shape;39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Collision Resolution by Chaining</a:t>
            </a:r>
            <a:endParaRPr/>
          </a:p>
        </p:txBody>
      </p:sp>
      <p:sp>
        <p:nvSpPr>
          <p:cNvPr id="400" name="Google Shape;400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functions from your book</a:t>
            </a:r>
            <a:endParaRPr/>
          </a:p>
        </p:txBody>
      </p:sp>
      <p:pic>
        <p:nvPicPr>
          <p:cNvPr descr="https://lh3.googleusercontent.com/0-36qvmsUJYQGn36X8dwxQaQm_JddX_Os-5AX50i_RmYjJjzvVDL_zBxIVJ2odPjg5WHqZmASn5ZVgtYc-UX-3TJSeQpItXRapZEqnjsW39eQOhTb2aAxVcQQQBZYo4wAwWITrQEI9-V9TDe8CEFm7JDvrZ_Lqsb9-lKhw4a0uMv05FwzCWOrzNeXO0BlA" id="401" name="Google Shape;40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4506" y="2376318"/>
            <a:ext cx="6103788" cy="12973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4.googleusercontent.com/AwEfjkeEkStjQp41WkbFYYVTFf4TluuADbUnVF8KPLRUnmS7cxNsgUwSSetOQAFyamyazH_6qT1IsGnQMLr_Re-rmRo5obd98oAF1sN4Y_qiDZ2Ktg70ERbxSSaXNMomkDPG3CmY8vlsdDg_D0-dioG8vDuHdymFpcdVSUd8VAcGuiJ1e5hVhI6IoaeZLw" id="402" name="Google Shape;40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6658" y="3808578"/>
            <a:ext cx="6958425" cy="1225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3.googleusercontent.com/FgCu5PefQc8n3Yp7C6-2W7AK6zs2pIUgGZ0p0HYUpRFJV-f5dsDDH5qdCgvFU8kdvK3wwSFLafrsn41_8PWGKLB0O1CHPTSmYpPp1CvMZx4unINWd14dwIuHUEgggXMyuEHjTcjg1YtcYWEkE3ZzE6pPw2ag2CSr55EgFSW2ldyqcegi-xlzULyK5MU4ww" id="403" name="Google Shape;40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6658" y="5303753"/>
            <a:ext cx="5981636" cy="125554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9"/>
          <p:cNvSpPr txBox="1"/>
          <p:nvPr/>
        </p:nvSpPr>
        <p:spPr>
          <a:xfrm>
            <a:off x="9144000" y="3064042"/>
            <a:ext cx="200426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OBJECT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NOW HAVE A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pointer</a:t>
            </a:r>
            <a:endParaRPr/>
          </a:p>
        </p:txBody>
      </p:sp>
      <p:sp>
        <p:nvSpPr>
          <p:cNvPr id="405" name="Google Shape;40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406" name="Google Shape;40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Collision Resolution by Chaining</a:t>
            </a:r>
            <a:endParaRPr/>
          </a:p>
        </p:txBody>
      </p:sp>
      <p:sp>
        <p:nvSpPr>
          <p:cNvPr id="412" name="Google Shape;412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functions from your book</a:t>
            </a:r>
            <a:endParaRPr/>
          </a:p>
        </p:txBody>
      </p:sp>
      <p:pic>
        <p:nvPicPr>
          <p:cNvPr descr="https://lh3.googleusercontent.com/0-36qvmsUJYQGn36X8dwxQaQm_JddX_Os-5AX50i_RmYjJjzvVDL_zBxIVJ2odPjg5WHqZmASn5ZVgtYc-UX-3TJSeQpItXRapZEqnjsW39eQOhTb2aAxVcQQQBZYo4wAwWITrQEI9-V9TDe8CEFm7JDvrZ_Lqsb9-lKhw4a0uMv05FwzCWOrzNeXO0BlA" id="413" name="Google Shape;4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547" y="2376318"/>
            <a:ext cx="4989095" cy="12973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4" name="Google Shape;414;p30"/>
          <p:cNvGraphicFramePr/>
          <p:nvPr/>
        </p:nvGraphicFramePr>
        <p:xfrm>
          <a:off x="6721576" y="1536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15" name="Google Shape;415;p30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Object1</a:t>
            </a:r>
            <a:endParaRPr/>
          </a:p>
        </p:txBody>
      </p:sp>
      <p:cxnSp>
        <p:nvCxnSpPr>
          <p:cNvPr id="416" name="Google Shape;416;p30"/>
          <p:cNvCxnSpPr/>
          <p:nvPr/>
        </p:nvCxnSpPr>
        <p:spPr>
          <a:xfrm flipH="1" rot="10800000">
            <a:off x="7766384" y="1994067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17" name="Google Shape;417;p30"/>
          <p:cNvCxnSpPr>
            <a:stCxn id="415" idx="1"/>
          </p:cNvCxnSpPr>
          <p:nvPr/>
        </p:nvCxnSpPr>
        <p:spPr>
          <a:xfrm flipH="1">
            <a:off x="8502224" y="2013895"/>
            <a:ext cx="321000" cy="72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18" name="Google Shape;41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419" name="Google Shape;41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Collision Resolution by Chaining</a:t>
            </a:r>
            <a:endParaRPr/>
          </a:p>
        </p:txBody>
      </p:sp>
      <p:sp>
        <p:nvSpPr>
          <p:cNvPr id="425" name="Google Shape;425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functions from your book</a:t>
            </a:r>
            <a:endParaRPr/>
          </a:p>
        </p:txBody>
      </p:sp>
      <p:pic>
        <p:nvPicPr>
          <p:cNvPr descr="https://lh3.googleusercontent.com/0-36qvmsUJYQGn36X8dwxQaQm_JddX_Os-5AX50i_RmYjJjzvVDL_zBxIVJ2odPjg5WHqZmASn5ZVgtYc-UX-3TJSeQpItXRapZEqnjsW39eQOhTb2aAxVcQQQBZYo4wAwWITrQEI9-V9TDe8CEFm7JDvrZ_Lqsb9-lKhw4a0uMv05FwzCWOrzNeXO0BlA" id="426" name="Google Shape;42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547" y="2376318"/>
            <a:ext cx="4989095" cy="129732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7" name="Google Shape;427;p31"/>
          <p:cNvGraphicFramePr/>
          <p:nvPr/>
        </p:nvGraphicFramePr>
        <p:xfrm>
          <a:off x="6721576" y="1536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28" name="Google Shape;428;p31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Object2</a:t>
            </a:r>
            <a:endParaRPr/>
          </a:p>
        </p:txBody>
      </p:sp>
      <p:cxnSp>
        <p:nvCxnSpPr>
          <p:cNvPr id="429" name="Google Shape;429;p31"/>
          <p:cNvCxnSpPr/>
          <p:nvPr/>
        </p:nvCxnSpPr>
        <p:spPr>
          <a:xfrm flipH="1" rot="10800000">
            <a:off x="7766384" y="1994067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0" name="Google Shape;430;p31"/>
          <p:cNvSpPr/>
          <p:nvPr/>
        </p:nvSpPr>
        <p:spPr>
          <a:xfrm>
            <a:off x="10758172" y="1677135"/>
            <a:ext cx="1006641" cy="77662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Object1</a:t>
            </a:r>
            <a:endParaRPr/>
          </a:p>
        </p:txBody>
      </p:sp>
      <p:cxnSp>
        <p:nvCxnSpPr>
          <p:cNvPr id="431" name="Google Shape;431;p31"/>
          <p:cNvCxnSpPr>
            <a:stCxn id="428" idx="3"/>
          </p:cNvCxnSpPr>
          <p:nvPr/>
        </p:nvCxnSpPr>
        <p:spPr>
          <a:xfrm>
            <a:off x="9829865" y="2013895"/>
            <a:ext cx="890100" cy="3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2" name="Google Shape;432;p31"/>
          <p:cNvCxnSpPr/>
          <p:nvPr/>
        </p:nvCxnSpPr>
        <p:spPr>
          <a:xfrm rot="10800000">
            <a:off x="9829865" y="2263140"/>
            <a:ext cx="928307" cy="4572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3" name="Google Shape;433;p31"/>
          <p:cNvCxnSpPr>
            <a:stCxn id="428" idx="1"/>
          </p:cNvCxnSpPr>
          <p:nvPr/>
        </p:nvCxnSpPr>
        <p:spPr>
          <a:xfrm flipH="1">
            <a:off x="8389724" y="2013895"/>
            <a:ext cx="433500" cy="38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34" name="Google Shape;434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435" name="Google Shape;435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Collision Resolution by Chaining</a:t>
            </a:r>
            <a:endParaRPr/>
          </a:p>
        </p:txBody>
      </p:sp>
      <p:sp>
        <p:nvSpPr>
          <p:cNvPr id="441" name="Google Shape;44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functions from your book</a:t>
            </a:r>
            <a:endParaRPr/>
          </a:p>
        </p:txBody>
      </p:sp>
      <p:pic>
        <p:nvPicPr>
          <p:cNvPr descr="https://lh4.googleusercontent.com/AwEfjkeEkStjQp41WkbFYYVTFf4TluuADbUnVF8KPLRUnmS7cxNsgUwSSetOQAFyamyazH_6qT1IsGnQMLr_Re-rmRo5obd98oAF1sN4Y_qiDZ2Ktg70ERbxSSaXNMomkDPG3CmY8vlsdDg_D0-dioG8vDuHdymFpcdVSUd8VAcGuiJ1e5hVhI6IoaeZLw" id="442" name="Google Shape;4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918" y="2989998"/>
            <a:ext cx="5436262" cy="95732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3" name="Google Shape;443;p32"/>
          <p:cNvGraphicFramePr/>
          <p:nvPr/>
        </p:nvGraphicFramePr>
        <p:xfrm>
          <a:off x="6721576" y="1536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44" name="Google Shape;444;p32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Object2</a:t>
            </a:r>
            <a:endParaRPr/>
          </a:p>
        </p:txBody>
      </p:sp>
      <p:cxnSp>
        <p:nvCxnSpPr>
          <p:cNvPr id="445" name="Google Shape;445;p32"/>
          <p:cNvCxnSpPr/>
          <p:nvPr/>
        </p:nvCxnSpPr>
        <p:spPr>
          <a:xfrm flipH="1" rot="10800000">
            <a:off x="7766384" y="1994067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46" name="Google Shape;446;p32"/>
          <p:cNvSpPr/>
          <p:nvPr/>
        </p:nvSpPr>
        <p:spPr>
          <a:xfrm>
            <a:off x="10758172" y="1677135"/>
            <a:ext cx="1006641" cy="77662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Object1</a:t>
            </a:r>
            <a:endParaRPr/>
          </a:p>
        </p:txBody>
      </p:sp>
      <p:cxnSp>
        <p:nvCxnSpPr>
          <p:cNvPr id="447" name="Google Shape;447;p32"/>
          <p:cNvCxnSpPr>
            <a:stCxn id="444" idx="3"/>
          </p:cNvCxnSpPr>
          <p:nvPr/>
        </p:nvCxnSpPr>
        <p:spPr>
          <a:xfrm>
            <a:off x="9829865" y="2013895"/>
            <a:ext cx="890100" cy="3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8" name="Google Shape;448;p32"/>
          <p:cNvCxnSpPr/>
          <p:nvPr/>
        </p:nvCxnSpPr>
        <p:spPr>
          <a:xfrm rot="10800000">
            <a:off x="9829865" y="2263140"/>
            <a:ext cx="928307" cy="4572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9" name="Google Shape;449;p32"/>
          <p:cNvCxnSpPr>
            <a:stCxn id="444" idx="1"/>
          </p:cNvCxnSpPr>
          <p:nvPr/>
        </p:nvCxnSpPr>
        <p:spPr>
          <a:xfrm flipH="1">
            <a:off x="8389724" y="2013895"/>
            <a:ext cx="433500" cy="38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0" name="Google Shape;450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451" name="Google Shape;451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Collision Resolution by Chaining</a:t>
            </a:r>
            <a:endParaRPr/>
          </a:p>
        </p:txBody>
      </p:sp>
      <p:sp>
        <p:nvSpPr>
          <p:cNvPr id="457" name="Google Shape;457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functions from your book</a:t>
            </a:r>
            <a:endParaRPr/>
          </a:p>
        </p:txBody>
      </p:sp>
      <p:pic>
        <p:nvPicPr>
          <p:cNvPr descr="https://lh4.googleusercontent.com/AwEfjkeEkStjQp41WkbFYYVTFf4TluuADbUnVF8KPLRUnmS7cxNsgUwSSetOQAFyamyazH_6qT1IsGnQMLr_Re-rmRo5obd98oAF1sN4Y_qiDZ2Ktg70ERbxSSaXNMomkDPG3CmY8vlsdDg_D0-dioG8vDuHdymFpcdVSUd8VAcGuiJ1e5hVhI6IoaeZLw" id="458" name="Google Shape;45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599" y="2708986"/>
            <a:ext cx="5436262" cy="957329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3"/>
          <p:cNvSpPr/>
          <p:nvPr/>
        </p:nvSpPr>
        <p:spPr>
          <a:xfrm>
            <a:off x="621599" y="4549676"/>
            <a:ext cx="6096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 MyClass{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int key;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int data1;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int data2;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460" name="Google Shape;460;p33"/>
          <p:cNvSpPr txBox="1"/>
          <p:nvPr/>
        </p:nvSpPr>
        <p:spPr>
          <a:xfrm>
            <a:off x="621599" y="3974246"/>
            <a:ext cx="55419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object has contains the key using which we stored it</a:t>
            </a:r>
            <a:endParaRPr/>
          </a:p>
        </p:txBody>
      </p:sp>
      <p:graphicFrame>
        <p:nvGraphicFramePr>
          <p:cNvPr id="461" name="Google Shape;461;p33"/>
          <p:cNvGraphicFramePr/>
          <p:nvPr/>
        </p:nvGraphicFramePr>
        <p:xfrm>
          <a:off x="6721576" y="1536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62" name="Google Shape;462;p33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Object2</a:t>
            </a:r>
            <a:endParaRPr/>
          </a:p>
        </p:txBody>
      </p:sp>
      <p:cxnSp>
        <p:nvCxnSpPr>
          <p:cNvPr id="463" name="Google Shape;463;p33"/>
          <p:cNvCxnSpPr/>
          <p:nvPr/>
        </p:nvCxnSpPr>
        <p:spPr>
          <a:xfrm flipH="1" rot="10800000">
            <a:off x="7766384" y="1994067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4" name="Google Shape;464;p33"/>
          <p:cNvSpPr/>
          <p:nvPr/>
        </p:nvSpPr>
        <p:spPr>
          <a:xfrm>
            <a:off x="10758172" y="1677135"/>
            <a:ext cx="1006641" cy="77662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Object1</a:t>
            </a:r>
            <a:endParaRPr/>
          </a:p>
        </p:txBody>
      </p:sp>
      <p:cxnSp>
        <p:nvCxnSpPr>
          <p:cNvPr id="465" name="Google Shape;465;p33"/>
          <p:cNvCxnSpPr>
            <a:stCxn id="462" idx="3"/>
          </p:cNvCxnSpPr>
          <p:nvPr/>
        </p:nvCxnSpPr>
        <p:spPr>
          <a:xfrm>
            <a:off x="9829865" y="2013895"/>
            <a:ext cx="890100" cy="3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6" name="Google Shape;466;p33"/>
          <p:cNvCxnSpPr/>
          <p:nvPr/>
        </p:nvCxnSpPr>
        <p:spPr>
          <a:xfrm rot="10800000">
            <a:off x="9829865" y="2263140"/>
            <a:ext cx="928307" cy="4572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7" name="Google Shape;467;p33"/>
          <p:cNvCxnSpPr>
            <a:stCxn id="462" idx="1"/>
          </p:cNvCxnSpPr>
          <p:nvPr/>
        </p:nvCxnSpPr>
        <p:spPr>
          <a:xfrm flipH="1">
            <a:off x="8389724" y="2013895"/>
            <a:ext cx="433500" cy="38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68" name="Google Shape;46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469" name="Google Shape;46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Collision Resolution by Chaining</a:t>
            </a:r>
            <a:endParaRPr/>
          </a:p>
        </p:txBody>
      </p:sp>
      <p:sp>
        <p:nvSpPr>
          <p:cNvPr id="475" name="Google Shape;475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functions from your book</a:t>
            </a:r>
            <a:endParaRPr/>
          </a:p>
        </p:txBody>
      </p:sp>
      <p:pic>
        <p:nvPicPr>
          <p:cNvPr descr="https://lh4.googleusercontent.com/AwEfjkeEkStjQp41WkbFYYVTFf4TluuADbUnVF8KPLRUnmS7cxNsgUwSSetOQAFyamyazH_6qT1IsGnQMLr_Re-rmRo5obd98oAF1sN4Y_qiDZ2Ktg70ERbxSSaXNMomkDPG3CmY8vlsdDg_D0-dioG8vDuHdymFpcdVSUd8VAcGuiJ1e5hVhI6IoaeZLw" id="476" name="Google Shape;47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599" y="2708986"/>
            <a:ext cx="5436262" cy="95732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4"/>
          <p:cNvSpPr/>
          <p:nvPr/>
        </p:nvSpPr>
        <p:spPr>
          <a:xfrm>
            <a:off x="621599" y="4549676"/>
            <a:ext cx="60960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 MyClass{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int key;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int data1;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int data2;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	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</p:txBody>
      </p:sp>
      <p:sp>
        <p:nvSpPr>
          <p:cNvPr id="478" name="Google Shape;478;p34"/>
          <p:cNvSpPr txBox="1"/>
          <p:nvPr/>
        </p:nvSpPr>
        <p:spPr>
          <a:xfrm>
            <a:off x="621599" y="3974246"/>
            <a:ext cx="559736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object has contains the key using which we stored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search the list for the object with key k</a:t>
            </a:r>
            <a:endParaRPr/>
          </a:p>
        </p:txBody>
      </p:sp>
      <p:graphicFrame>
        <p:nvGraphicFramePr>
          <p:cNvPr id="479" name="Google Shape;479;p34"/>
          <p:cNvGraphicFramePr/>
          <p:nvPr/>
        </p:nvGraphicFramePr>
        <p:xfrm>
          <a:off x="6721576" y="1536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80" name="Google Shape;480;p34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Object2</a:t>
            </a:r>
            <a:endParaRPr/>
          </a:p>
        </p:txBody>
      </p:sp>
      <p:cxnSp>
        <p:nvCxnSpPr>
          <p:cNvPr id="481" name="Google Shape;481;p34"/>
          <p:cNvCxnSpPr/>
          <p:nvPr/>
        </p:nvCxnSpPr>
        <p:spPr>
          <a:xfrm flipH="1" rot="10800000">
            <a:off x="7766384" y="1994067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2" name="Google Shape;482;p34"/>
          <p:cNvSpPr/>
          <p:nvPr/>
        </p:nvSpPr>
        <p:spPr>
          <a:xfrm>
            <a:off x="10758172" y="1677135"/>
            <a:ext cx="1006641" cy="77662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Object1</a:t>
            </a:r>
            <a:endParaRPr/>
          </a:p>
        </p:txBody>
      </p:sp>
      <p:cxnSp>
        <p:nvCxnSpPr>
          <p:cNvPr id="483" name="Google Shape;483;p34"/>
          <p:cNvCxnSpPr>
            <a:stCxn id="480" idx="3"/>
          </p:cNvCxnSpPr>
          <p:nvPr/>
        </p:nvCxnSpPr>
        <p:spPr>
          <a:xfrm>
            <a:off x="9829865" y="2013895"/>
            <a:ext cx="890100" cy="3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84" name="Google Shape;484;p34"/>
          <p:cNvCxnSpPr/>
          <p:nvPr/>
        </p:nvCxnSpPr>
        <p:spPr>
          <a:xfrm rot="10800000">
            <a:off x="9829865" y="2263140"/>
            <a:ext cx="928307" cy="4572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85" name="Google Shape;485;p34"/>
          <p:cNvCxnSpPr>
            <a:stCxn id="480" idx="1"/>
          </p:cNvCxnSpPr>
          <p:nvPr/>
        </p:nvCxnSpPr>
        <p:spPr>
          <a:xfrm flipH="1">
            <a:off x="8389724" y="2013895"/>
            <a:ext cx="433500" cy="38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6" name="Google Shape;48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487" name="Google Shape;48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Collision Resolution by Chaining</a:t>
            </a:r>
            <a:endParaRPr/>
          </a:p>
        </p:txBody>
      </p:sp>
      <p:sp>
        <p:nvSpPr>
          <p:cNvPr id="493" name="Google Shape;493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functions from your book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https://lh3.googleusercontent.com/FgCu5PefQc8n3Yp7C6-2W7AK6zs2pIUgGZ0p0HYUpRFJV-f5dsDDH5qdCgvFU8kdvK3wwSFLafrsn41_8PWGKLB0O1CHPTSmYpPp1CvMZx4unINWd14dwIuHUEgggXMyuEHjTcjg1YtcYWEkE3ZzE6pPw2ag2CSr55EgFSW2ldyqcegi-xlzULyK5MU4ww" id="494" name="Google Shape;4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690" y="2384089"/>
            <a:ext cx="5981636" cy="1255541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496" name="Google Shape;49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Collision Resolution by Chaining</a:t>
            </a:r>
            <a:endParaRPr/>
          </a:p>
        </p:txBody>
      </p:sp>
      <p:sp>
        <p:nvSpPr>
          <p:cNvPr id="502" name="Google Shape;502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functions from your book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https://lh3.googleusercontent.com/FgCu5PefQc8n3Yp7C6-2W7AK6zs2pIUgGZ0p0HYUpRFJV-f5dsDDH5qdCgvFU8kdvK3wwSFLafrsn41_8PWGKLB0O1CHPTSmYpPp1CvMZx4unINWd14dwIuHUEgggXMyuEHjTcjg1YtcYWEkE3ZzE6pPw2ag2CSr55EgFSW2ldyqcegi-xlzULyK5MU4ww" id="503" name="Google Shape;50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857" y="2453756"/>
            <a:ext cx="5981636" cy="1255541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6"/>
          <p:cNvSpPr txBox="1"/>
          <p:nvPr/>
        </p:nvSpPr>
        <p:spPr>
          <a:xfrm>
            <a:off x="1299411" y="4764505"/>
            <a:ext cx="337861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delete an object once we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its reference using the search </a:t>
            </a:r>
            <a:endParaRPr/>
          </a:p>
        </p:txBody>
      </p:sp>
      <p:graphicFrame>
        <p:nvGraphicFramePr>
          <p:cNvPr id="505" name="Google Shape;505;p36"/>
          <p:cNvGraphicFramePr/>
          <p:nvPr/>
        </p:nvGraphicFramePr>
        <p:xfrm>
          <a:off x="6721576" y="15368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727900"/>
                <a:gridCol w="727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06" name="Google Shape;506;p36"/>
          <p:cNvSpPr/>
          <p:nvPr/>
        </p:nvSpPr>
        <p:spPr>
          <a:xfrm>
            <a:off x="8823224" y="1625584"/>
            <a:ext cx="1006641" cy="776621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Object2</a:t>
            </a:r>
            <a:endParaRPr/>
          </a:p>
        </p:txBody>
      </p:sp>
      <p:cxnSp>
        <p:nvCxnSpPr>
          <p:cNvPr id="507" name="Google Shape;507;p36"/>
          <p:cNvCxnSpPr/>
          <p:nvPr/>
        </p:nvCxnSpPr>
        <p:spPr>
          <a:xfrm flipH="1" rot="10800000">
            <a:off x="7766384" y="1994067"/>
            <a:ext cx="1018673" cy="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08" name="Google Shape;508;p36"/>
          <p:cNvSpPr/>
          <p:nvPr/>
        </p:nvSpPr>
        <p:spPr>
          <a:xfrm>
            <a:off x="10758172" y="1677135"/>
            <a:ext cx="1006641" cy="776621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Object1</a:t>
            </a:r>
            <a:endParaRPr/>
          </a:p>
        </p:txBody>
      </p:sp>
      <p:cxnSp>
        <p:nvCxnSpPr>
          <p:cNvPr id="509" name="Google Shape;509;p36"/>
          <p:cNvCxnSpPr>
            <a:stCxn id="506" idx="3"/>
          </p:cNvCxnSpPr>
          <p:nvPr/>
        </p:nvCxnSpPr>
        <p:spPr>
          <a:xfrm>
            <a:off x="9829865" y="2013895"/>
            <a:ext cx="890100" cy="31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0" name="Google Shape;510;p36"/>
          <p:cNvCxnSpPr/>
          <p:nvPr/>
        </p:nvCxnSpPr>
        <p:spPr>
          <a:xfrm rot="10800000">
            <a:off x="9829865" y="2263140"/>
            <a:ext cx="928307" cy="45721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1" name="Google Shape;511;p36"/>
          <p:cNvCxnSpPr>
            <a:stCxn id="506" idx="1"/>
          </p:cNvCxnSpPr>
          <p:nvPr/>
        </p:nvCxnSpPr>
        <p:spPr>
          <a:xfrm flipH="1">
            <a:off x="8389724" y="2013895"/>
            <a:ext cx="433500" cy="388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2" name="Google Shape;512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513" name="Google Shape;513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Time Complexities</a:t>
            </a:r>
            <a:endParaRPr/>
          </a:p>
        </p:txBody>
      </p:sp>
      <p:sp>
        <p:nvSpPr>
          <p:cNvPr id="519" name="Google Shape;519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Insertion takes O (1) time // we are inserting at the front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Search takes O(n)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Delete takes O(1) time // as the linked list is doubly linked</a:t>
            </a:r>
            <a:endParaRPr/>
          </a:p>
        </p:txBody>
      </p:sp>
      <p:sp>
        <p:nvSpPr>
          <p:cNvPr id="520" name="Google Shape;52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521" name="Google Shape;52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5.Analysis of Hashing with chaining</a:t>
            </a:r>
            <a:endParaRPr/>
          </a:p>
        </p:txBody>
      </p:sp>
      <p:sp>
        <p:nvSpPr>
          <p:cNvPr id="527" name="Google Shape;527;p3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28" name="Google Shape;528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529" name="Google Shape;529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Two times</a:t>
            </a:r>
            <a:endParaRPr/>
          </a:p>
        </p:txBody>
      </p:sp>
      <p:sp>
        <p:nvSpPr>
          <p:cNvPr id="535" name="Google Shape;535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time required for unsuccessful 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time required for successful search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/>
          </a:p>
        </p:txBody>
      </p:sp>
      <p:sp>
        <p:nvSpPr>
          <p:cNvPr id="536" name="Google Shape;53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537" name="Google Shape;53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new term      Uniform Hashing</a:t>
            </a:r>
            <a:endParaRPr/>
          </a:p>
        </p:txBody>
      </p:sp>
      <p:sp>
        <p:nvSpPr>
          <p:cNvPr id="543" name="Google Shape;543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Load factor: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Denoted by </a:t>
            </a:r>
            <a:r>
              <a:rPr b="1" lang="en-US"/>
              <a:t>α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α=n/m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n=total number of elements in the list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m=the number of slots in the array/table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544" name="Google Shape;54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545" name="Google Shape;54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new term</a:t>
            </a:r>
            <a:endParaRPr/>
          </a:p>
        </p:txBody>
      </p:sp>
      <p:sp>
        <p:nvSpPr>
          <p:cNvPr id="551" name="Google Shape;551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Load factor: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Denoted by </a:t>
            </a:r>
            <a:r>
              <a:rPr b="1" lang="en-US"/>
              <a:t>α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α=n/m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n=total number of elements in the list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m=the number of slots in the array/table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552" name="Google Shape;552;p41"/>
          <p:cNvGraphicFramePr/>
          <p:nvPr/>
        </p:nvGraphicFramePr>
        <p:xfrm>
          <a:off x="7828547" y="2067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532075"/>
                <a:gridCol w="53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553" name="Google Shape;553;p41"/>
          <p:cNvCxnSpPr>
            <a:endCxn id="554" idx="1"/>
          </p:cNvCxnSpPr>
          <p:nvPr/>
        </p:nvCxnSpPr>
        <p:spPr>
          <a:xfrm>
            <a:off x="8889000" y="2579370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4" name="Google Shape;554;p41"/>
          <p:cNvSpPr/>
          <p:nvPr/>
        </p:nvSpPr>
        <p:spPr>
          <a:xfrm>
            <a:off x="9410700" y="239268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5" name="Google Shape;555;p41"/>
          <p:cNvCxnSpPr>
            <a:stCxn id="554" idx="3"/>
            <a:endCxn id="556" idx="1"/>
          </p:cNvCxnSpPr>
          <p:nvPr/>
        </p:nvCxnSpPr>
        <p:spPr>
          <a:xfrm flipH="1" rot="10800000">
            <a:off x="9921240" y="256017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6" name="Google Shape;556;p41"/>
          <p:cNvSpPr/>
          <p:nvPr/>
        </p:nvSpPr>
        <p:spPr>
          <a:xfrm>
            <a:off x="10382249" y="237363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41"/>
          <p:cNvCxnSpPr>
            <a:endCxn id="558" idx="1"/>
          </p:cNvCxnSpPr>
          <p:nvPr/>
        </p:nvCxnSpPr>
        <p:spPr>
          <a:xfrm flipH="1" rot="10800000">
            <a:off x="10867935" y="256032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58" name="Google Shape;558;p41"/>
          <p:cNvSpPr/>
          <p:nvPr/>
        </p:nvSpPr>
        <p:spPr>
          <a:xfrm>
            <a:off x="11329035" y="237363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p41"/>
          <p:cNvCxnSpPr>
            <a:endCxn id="560" idx="1"/>
          </p:cNvCxnSpPr>
          <p:nvPr/>
        </p:nvCxnSpPr>
        <p:spPr>
          <a:xfrm>
            <a:off x="8889000" y="3038144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0" name="Google Shape;560;p41"/>
          <p:cNvSpPr/>
          <p:nvPr/>
        </p:nvSpPr>
        <p:spPr>
          <a:xfrm>
            <a:off x="9410700" y="285145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1" name="Google Shape;561;p41"/>
          <p:cNvCxnSpPr>
            <a:stCxn id="560" idx="3"/>
            <a:endCxn id="562" idx="1"/>
          </p:cNvCxnSpPr>
          <p:nvPr/>
        </p:nvCxnSpPr>
        <p:spPr>
          <a:xfrm flipH="1" rot="10800000">
            <a:off x="9921240" y="301894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2" name="Google Shape;562;p41"/>
          <p:cNvSpPr/>
          <p:nvPr/>
        </p:nvSpPr>
        <p:spPr>
          <a:xfrm>
            <a:off x="10382249" y="283240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3" name="Google Shape;563;p41"/>
          <p:cNvCxnSpPr>
            <a:endCxn id="564" idx="1"/>
          </p:cNvCxnSpPr>
          <p:nvPr/>
        </p:nvCxnSpPr>
        <p:spPr>
          <a:xfrm flipH="1" rot="10800000">
            <a:off x="10867935" y="301909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4" name="Google Shape;564;p41"/>
          <p:cNvSpPr/>
          <p:nvPr/>
        </p:nvSpPr>
        <p:spPr>
          <a:xfrm>
            <a:off x="11329035" y="283240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5" name="Google Shape;565;p41"/>
          <p:cNvCxnSpPr>
            <a:endCxn id="566" idx="1"/>
          </p:cNvCxnSpPr>
          <p:nvPr/>
        </p:nvCxnSpPr>
        <p:spPr>
          <a:xfrm>
            <a:off x="8889000" y="3496918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6" name="Google Shape;566;p41"/>
          <p:cNvSpPr/>
          <p:nvPr/>
        </p:nvSpPr>
        <p:spPr>
          <a:xfrm>
            <a:off x="9410700" y="331022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7" name="Google Shape;567;p41"/>
          <p:cNvCxnSpPr>
            <a:stCxn id="566" idx="3"/>
            <a:endCxn id="568" idx="1"/>
          </p:cNvCxnSpPr>
          <p:nvPr/>
        </p:nvCxnSpPr>
        <p:spPr>
          <a:xfrm flipH="1" rot="10800000">
            <a:off x="9921240" y="347771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68" name="Google Shape;568;p41"/>
          <p:cNvSpPr/>
          <p:nvPr/>
        </p:nvSpPr>
        <p:spPr>
          <a:xfrm>
            <a:off x="10382249" y="329117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41"/>
          <p:cNvCxnSpPr>
            <a:endCxn id="570" idx="1"/>
          </p:cNvCxnSpPr>
          <p:nvPr/>
        </p:nvCxnSpPr>
        <p:spPr>
          <a:xfrm flipH="1" rot="10800000">
            <a:off x="10867935" y="347786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0" name="Google Shape;570;p41"/>
          <p:cNvSpPr/>
          <p:nvPr/>
        </p:nvSpPr>
        <p:spPr>
          <a:xfrm>
            <a:off x="11329035" y="329117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1" name="Google Shape;571;p41"/>
          <p:cNvCxnSpPr>
            <a:endCxn id="572" idx="1"/>
          </p:cNvCxnSpPr>
          <p:nvPr/>
        </p:nvCxnSpPr>
        <p:spPr>
          <a:xfrm>
            <a:off x="8889000" y="3769092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2" name="Google Shape;572;p41"/>
          <p:cNvSpPr/>
          <p:nvPr/>
        </p:nvSpPr>
        <p:spPr>
          <a:xfrm>
            <a:off x="9410700" y="376900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3" name="Google Shape;573;p41"/>
          <p:cNvCxnSpPr>
            <a:stCxn id="572" idx="3"/>
            <a:endCxn id="574" idx="1"/>
          </p:cNvCxnSpPr>
          <p:nvPr/>
        </p:nvCxnSpPr>
        <p:spPr>
          <a:xfrm flipH="1" rot="10800000">
            <a:off x="9921240" y="393649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4" name="Google Shape;574;p41"/>
          <p:cNvSpPr/>
          <p:nvPr/>
        </p:nvSpPr>
        <p:spPr>
          <a:xfrm>
            <a:off x="10382249" y="374995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5" name="Google Shape;575;p41"/>
          <p:cNvCxnSpPr>
            <a:endCxn id="576" idx="1"/>
          </p:cNvCxnSpPr>
          <p:nvPr/>
        </p:nvCxnSpPr>
        <p:spPr>
          <a:xfrm flipH="1" rot="10800000">
            <a:off x="10867935" y="393664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6" name="Google Shape;576;p41"/>
          <p:cNvSpPr/>
          <p:nvPr/>
        </p:nvSpPr>
        <p:spPr>
          <a:xfrm>
            <a:off x="11329035" y="374995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" name="Google Shape;577;p41"/>
          <p:cNvCxnSpPr>
            <a:endCxn id="578" idx="1"/>
          </p:cNvCxnSpPr>
          <p:nvPr/>
        </p:nvCxnSpPr>
        <p:spPr>
          <a:xfrm>
            <a:off x="8889000" y="4224685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8" name="Google Shape;578;p41"/>
          <p:cNvSpPr/>
          <p:nvPr/>
        </p:nvSpPr>
        <p:spPr>
          <a:xfrm>
            <a:off x="9410700" y="4224595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9" name="Google Shape;579;p41"/>
          <p:cNvCxnSpPr>
            <a:stCxn id="578" idx="3"/>
            <a:endCxn id="580" idx="1"/>
          </p:cNvCxnSpPr>
          <p:nvPr/>
        </p:nvCxnSpPr>
        <p:spPr>
          <a:xfrm flipH="1" rot="10800000">
            <a:off x="9921240" y="4392085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0" name="Google Shape;580;p41"/>
          <p:cNvSpPr/>
          <p:nvPr/>
        </p:nvSpPr>
        <p:spPr>
          <a:xfrm>
            <a:off x="10382249" y="4205545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1" name="Google Shape;581;p41"/>
          <p:cNvCxnSpPr>
            <a:endCxn id="582" idx="1"/>
          </p:cNvCxnSpPr>
          <p:nvPr/>
        </p:nvCxnSpPr>
        <p:spPr>
          <a:xfrm flipH="1" rot="10800000">
            <a:off x="10867935" y="4392235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2" name="Google Shape;582;p41"/>
          <p:cNvSpPr/>
          <p:nvPr/>
        </p:nvSpPr>
        <p:spPr>
          <a:xfrm>
            <a:off x="11329035" y="4205545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3" name="Google Shape;583;p41"/>
          <p:cNvCxnSpPr>
            <a:endCxn id="584" idx="1"/>
          </p:cNvCxnSpPr>
          <p:nvPr/>
        </p:nvCxnSpPr>
        <p:spPr>
          <a:xfrm>
            <a:off x="8889000" y="4598078"/>
            <a:ext cx="521700" cy="2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4" name="Google Shape;584;p41"/>
          <p:cNvSpPr/>
          <p:nvPr/>
        </p:nvSpPr>
        <p:spPr>
          <a:xfrm>
            <a:off x="9410700" y="468018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5" name="Google Shape;585;p41"/>
          <p:cNvCxnSpPr>
            <a:stCxn id="584" idx="3"/>
            <a:endCxn id="586" idx="1"/>
          </p:cNvCxnSpPr>
          <p:nvPr/>
        </p:nvCxnSpPr>
        <p:spPr>
          <a:xfrm flipH="1" rot="10800000">
            <a:off x="9921240" y="484767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6" name="Google Shape;586;p41"/>
          <p:cNvSpPr/>
          <p:nvPr/>
        </p:nvSpPr>
        <p:spPr>
          <a:xfrm>
            <a:off x="10382249" y="466113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7" name="Google Shape;587;p41"/>
          <p:cNvCxnSpPr>
            <a:endCxn id="588" idx="1"/>
          </p:cNvCxnSpPr>
          <p:nvPr/>
        </p:nvCxnSpPr>
        <p:spPr>
          <a:xfrm flipH="1" rot="10800000">
            <a:off x="10867935" y="484782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88" name="Google Shape;588;p41"/>
          <p:cNvSpPr/>
          <p:nvPr/>
        </p:nvSpPr>
        <p:spPr>
          <a:xfrm>
            <a:off x="11329035" y="466113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590" name="Google Shape;590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new term</a:t>
            </a:r>
            <a:endParaRPr/>
          </a:p>
        </p:txBody>
      </p:sp>
      <p:sp>
        <p:nvSpPr>
          <p:cNvPr id="596" name="Google Shape;596;p4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Load factor: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Denoted by </a:t>
            </a:r>
            <a:r>
              <a:rPr b="1" lang="en-US"/>
              <a:t>α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α=n/m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n=total number of elements in the list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m=the number of slots in the array/table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Here load factor = 18/6=3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597" name="Google Shape;597;p42"/>
          <p:cNvGraphicFramePr/>
          <p:nvPr/>
        </p:nvGraphicFramePr>
        <p:xfrm>
          <a:off x="7828547" y="2067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532075"/>
                <a:gridCol w="53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598" name="Google Shape;598;p42"/>
          <p:cNvCxnSpPr>
            <a:endCxn id="599" idx="1"/>
          </p:cNvCxnSpPr>
          <p:nvPr/>
        </p:nvCxnSpPr>
        <p:spPr>
          <a:xfrm>
            <a:off x="8889000" y="2579370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99" name="Google Shape;599;p42"/>
          <p:cNvSpPr/>
          <p:nvPr/>
        </p:nvSpPr>
        <p:spPr>
          <a:xfrm>
            <a:off x="9410700" y="239268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0" name="Google Shape;600;p42"/>
          <p:cNvCxnSpPr>
            <a:stCxn id="599" idx="3"/>
            <a:endCxn id="601" idx="1"/>
          </p:cNvCxnSpPr>
          <p:nvPr/>
        </p:nvCxnSpPr>
        <p:spPr>
          <a:xfrm flipH="1" rot="10800000">
            <a:off x="9921240" y="256017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1" name="Google Shape;601;p42"/>
          <p:cNvSpPr/>
          <p:nvPr/>
        </p:nvSpPr>
        <p:spPr>
          <a:xfrm>
            <a:off x="10382249" y="237363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2" name="Google Shape;602;p42"/>
          <p:cNvCxnSpPr>
            <a:endCxn id="603" idx="1"/>
          </p:cNvCxnSpPr>
          <p:nvPr/>
        </p:nvCxnSpPr>
        <p:spPr>
          <a:xfrm flipH="1" rot="10800000">
            <a:off x="10867935" y="256032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3" name="Google Shape;603;p42"/>
          <p:cNvSpPr/>
          <p:nvPr/>
        </p:nvSpPr>
        <p:spPr>
          <a:xfrm>
            <a:off x="11329035" y="237363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4" name="Google Shape;604;p42"/>
          <p:cNvCxnSpPr>
            <a:endCxn id="605" idx="1"/>
          </p:cNvCxnSpPr>
          <p:nvPr/>
        </p:nvCxnSpPr>
        <p:spPr>
          <a:xfrm>
            <a:off x="8889000" y="3038144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5" name="Google Shape;605;p42"/>
          <p:cNvSpPr/>
          <p:nvPr/>
        </p:nvSpPr>
        <p:spPr>
          <a:xfrm>
            <a:off x="9410700" y="285145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6" name="Google Shape;606;p42"/>
          <p:cNvCxnSpPr>
            <a:stCxn id="605" idx="3"/>
            <a:endCxn id="607" idx="1"/>
          </p:cNvCxnSpPr>
          <p:nvPr/>
        </p:nvCxnSpPr>
        <p:spPr>
          <a:xfrm flipH="1" rot="10800000">
            <a:off x="9921240" y="301894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7" name="Google Shape;607;p42"/>
          <p:cNvSpPr/>
          <p:nvPr/>
        </p:nvSpPr>
        <p:spPr>
          <a:xfrm>
            <a:off x="10382249" y="283240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42"/>
          <p:cNvCxnSpPr>
            <a:endCxn id="609" idx="1"/>
          </p:cNvCxnSpPr>
          <p:nvPr/>
        </p:nvCxnSpPr>
        <p:spPr>
          <a:xfrm flipH="1" rot="10800000">
            <a:off x="10867935" y="301909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09" name="Google Shape;609;p42"/>
          <p:cNvSpPr/>
          <p:nvPr/>
        </p:nvSpPr>
        <p:spPr>
          <a:xfrm>
            <a:off x="11329035" y="283240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0" name="Google Shape;610;p42"/>
          <p:cNvCxnSpPr>
            <a:endCxn id="611" idx="1"/>
          </p:cNvCxnSpPr>
          <p:nvPr/>
        </p:nvCxnSpPr>
        <p:spPr>
          <a:xfrm>
            <a:off x="8889000" y="3496918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1" name="Google Shape;611;p42"/>
          <p:cNvSpPr/>
          <p:nvPr/>
        </p:nvSpPr>
        <p:spPr>
          <a:xfrm>
            <a:off x="9410700" y="331022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2" name="Google Shape;612;p42"/>
          <p:cNvCxnSpPr>
            <a:stCxn id="611" idx="3"/>
            <a:endCxn id="613" idx="1"/>
          </p:cNvCxnSpPr>
          <p:nvPr/>
        </p:nvCxnSpPr>
        <p:spPr>
          <a:xfrm flipH="1" rot="10800000">
            <a:off x="9921240" y="347771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3" name="Google Shape;613;p42"/>
          <p:cNvSpPr/>
          <p:nvPr/>
        </p:nvSpPr>
        <p:spPr>
          <a:xfrm>
            <a:off x="10382249" y="329117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4" name="Google Shape;614;p42"/>
          <p:cNvCxnSpPr>
            <a:endCxn id="615" idx="1"/>
          </p:cNvCxnSpPr>
          <p:nvPr/>
        </p:nvCxnSpPr>
        <p:spPr>
          <a:xfrm flipH="1" rot="10800000">
            <a:off x="10867935" y="347786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5" name="Google Shape;615;p42"/>
          <p:cNvSpPr/>
          <p:nvPr/>
        </p:nvSpPr>
        <p:spPr>
          <a:xfrm>
            <a:off x="11329035" y="329117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6" name="Google Shape;616;p42"/>
          <p:cNvCxnSpPr>
            <a:endCxn id="617" idx="1"/>
          </p:cNvCxnSpPr>
          <p:nvPr/>
        </p:nvCxnSpPr>
        <p:spPr>
          <a:xfrm>
            <a:off x="8889000" y="3769092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7" name="Google Shape;617;p42"/>
          <p:cNvSpPr/>
          <p:nvPr/>
        </p:nvSpPr>
        <p:spPr>
          <a:xfrm>
            <a:off x="9410700" y="376900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42"/>
          <p:cNvCxnSpPr>
            <a:stCxn id="617" idx="3"/>
            <a:endCxn id="619" idx="1"/>
          </p:cNvCxnSpPr>
          <p:nvPr/>
        </p:nvCxnSpPr>
        <p:spPr>
          <a:xfrm flipH="1" rot="10800000">
            <a:off x="9921240" y="393649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19" name="Google Shape;619;p42"/>
          <p:cNvSpPr/>
          <p:nvPr/>
        </p:nvSpPr>
        <p:spPr>
          <a:xfrm>
            <a:off x="10382249" y="374995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0" name="Google Shape;620;p42"/>
          <p:cNvCxnSpPr>
            <a:endCxn id="621" idx="1"/>
          </p:cNvCxnSpPr>
          <p:nvPr/>
        </p:nvCxnSpPr>
        <p:spPr>
          <a:xfrm flipH="1" rot="10800000">
            <a:off x="10867935" y="393664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1" name="Google Shape;621;p42"/>
          <p:cNvSpPr/>
          <p:nvPr/>
        </p:nvSpPr>
        <p:spPr>
          <a:xfrm>
            <a:off x="11329035" y="374995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42"/>
          <p:cNvCxnSpPr>
            <a:endCxn id="623" idx="1"/>
          </p:cNvCxnSpPr>
          <p:nvPr/>
        </p:nvCxnSpPr>
        <p:spPr>
          <a:xfrm>
            <a:off x="8889000" y="4224685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3" name="Google Shape;623;p42"/>
          <p:cNvSpPr/>
          <p:nvPr/>
        </p:nvSpPr>
        <p:spPr>
          <a:xfrm>
            <a:off x="9410700" y="4224595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4" name="Google Shape;624;p42"/>
          <p:cNvCxnSpPr>
            <a:stCxn id="623" idx="3"/>
            <a:endCxn id="625" idx="1"/>
          </p:cNvCxnSpPr>
          <p:nvPr/>
        </p:nvCxnSpPr>
        <p:spPr>
          <a:xfrm flipH="1" rot="10800000">
            <a:off x="9921240" y="4392085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5" name="Google Shape;625;p42"/>
          <p:cNvSpPr/>
          <p:nvPr/>
        </p:nvSpPr>
        <p:spPr>
          <a:xfrm>
            <a:off x="10382249" y="4205545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6" name="Google Shape;626;p42"/>
          <p:cNvCxnSpPr>
            <a:endCxn id="627" idx="1"/>
          </p:cNvCxnSpPr>
          <p:nvPr/>
        </p:nvCxnSpPr>
        <p:spPr>
          <a:xfrm flipH="1" rot="10800000">
            <a:off x="10867935" y="4392235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7" name="Google Shape;627;p42"/>
          <p:cNvSpPr/>
          <p:nvPr/>
        </p:nvSpPr>
        <p:spPr>
          <a:xfrm>
            <a:off x="11329035" y="4205545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42"/>
          <p:cNvCxnSpPr>
            <a:endCxn id="629" idx="1"/>
          </p:cNvCxnSpPr>
          <p:nvPr/>
        </p:nvCxnSpPr>
        <p:spPr>
          <a:xfrm>
            <a:off x="8889000" y="4598078"/>
            <a:ext cx="521700" cy="2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29" name="Google Shape;629;p42"/>
          <p:cNvSpPr/>
          <p:nvPr/>
        </p:nvSpPr>
        <p:spPr>
          <a:xfrm>
            <a:off x="9410700" y="468018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0" name="Google Shape;630;p42"/>
          <p:cNvCxnSpPr>
            <a:stCxn id="629" idx="3"/>
            <a:endCxn id="631" idx="1"/>
          </p:cNvCxnSpPr>
          <p:nvPr/>
        </p:nvCxnSpPr>
        <p:spPr>
          <a:xfrm flipH="1" rot="10800000">
            <a:off x="9921240" y="484767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1" name="Google Shape;631;p42"/>
          <p:cNvSpPr/>
          <p:nvPr/>
        </p:nvSpPr>
        <p:spPr>
          <a:xfrm>
            <a:off x="10382249" y="466113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2" name="Google Shape;632;p42"/>
          <p:cNvCxnSpPr>
            <a:endCxn id="633" idx="1"/>
          </p:cNvCxnSpPr>
          <p:nvPr/>
        </p:nvCxnSpPr>
        <p:spPr>
          <a:xfrm flipH="1" rot="10800000">
            <a:off x="10867935" y="484782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33" name="Google Shape;633;p42"/>
          <p:cNvSpPr/>
          <p:nvPr/>
        </p:nvSpPr>
        <p:spPr>
          <a:xfrm>
            <a:off x="11329035" y="466113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635" name="Google Shape;635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new term</a:t>
            </a:r>
            <a:endParaRPr/>
          </a:p>
        </p:txBody>
      </p:sp>
      <p:sp>
        <p:nvSpPr>
          <p:cNvPr id="641" name="Google Shape;641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Load factor: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Denoted by </a:t>
            </a:r>
            <a:r>
              <a:rPr b="1" lang="en-US"/>
              <a:t>α</a:t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α=n/m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n=total number of elements in the list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m=the number of slots in the array/table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Here load factor = 18/6=3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Observe that it denotes the </a:t>
            </a:r>
            <a:r>
              <a:rPr b="1" lang="en-US"/>
              <a:t>expected</a:t>
            </a:r>
            <a:r>
              <a:rPr lang="en-US"/>
              <a:t> </a:t>
            </a:r>
            <a:r>
              <a:rPr b="1" lang="en-US"/>
              <a:t>size</a:t>
            </a:r>
            <a:r>
              <a:rPr lang="en-US"/>
              <a:t> of a chained list based on average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642" name="Google Shape;642;p43"/>
          <p:cNvGraphicFramePr/>
          <p:nvPr/>
        </p:nvGraphicFramePr>
        <p:xfrm>
          <a:off x="7828547" y="20672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532075"/>
                <a:gridCol w="53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643" name="Google Shape;643;p43"/>
          <p:cNvCxnSpPr>
            <a:endCxn id="644" idx="1"/>
          </p:cNvCxnSpPr>
          <p:nvPr/>
        </p:nvCxnSpPr>
        <p:spPr>
          <a:xfrm>
            <a:off x="8889000" y="2579370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4" name="Google Shape;644;p43"/>
          <p:cNvSpPr/>
          <p:nvPr/>
        </p:nvSpPr>
        <p:spPr>
          <a:xfrm>
            <a:off x="9410700" y="239268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5" name="Google Shape;645;p43"/>
          <p:cNvCxnSpPr>
            <a:stCxn id="644" idx="3"/>
            <a:endCxn id="646" idx="1"/>
          </p:cNvCxnSpPr>
          <p:nvPr/>
        </p:nvCxnSpPr>
        <p:spPr>
          <a:xfrm flipH="1" rot="10800000">
            <a:off x="9921240" y="256017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6" name="Google Shape;646;p43"/>
          <p:cNvSpPr/>
          <p:nvPr/>
        </p:nvSpPr>
        <p:spPr>
          <a:xfrm>
            <a:off x="10382249" y="237363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7" name="Google Shape;647;p43"/>
          <p:cNvCxnSpPr>
            <a:endCxn id="648" idx="1"/>
          </p:cNvCxnSpPr>
          <p:nvPr/>
        </p:nvCxnSpPr>
        <p:spPr>
          <a:xfrm flipH="1" rot="10800000">
            <a:off x="10867935" y="256032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48" name="Google Shape;648;p43"/>
          <p:cNvSpPr/>
          <p:nvPr/>
        </p:nvSpPr>
        <p:spPr>
          <a:xfrm>
            <a:off x="11329035" y="237363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9" name="Google Shape;649;p43"/>
          <p:cNvCxnSpPr>
            <a:endCxn id="650" idx="1"/>
          </p:cNvCxnSpPr>
          <p:nvPr/>
        </p:nvCxnSpPr>
        <p:spPr>
          <a:xfrm>
            <a:off x="8889000" y="3038144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0" name="Google Shape;650;p43"/>
          <p:cNvSpPr/>
          <p:nvPr/>
        </p:nvSpPr>
        <p:spPr>
          <a:xfrm>
            <a:off x="9410700" y="285145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1" name="Google Shape;651;p43"/>
          <p:cNvCxnSpPr>
            <a:stCxn id="650" idx="3"/>
            <a:endCxn id="652" idx="1"/>
          </p:cNvCxnSpPr>
          <p:nvPr/>
        </p:nvCxnSpPr>
        <p:spPr>
          <a:xfrm flipH="1" rot="10800000">
            <a:off x="9921240" y="301894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2" name="Google Shape;652;p43"/>
          <p:cNvSpPr/>
          <p:nvPr/>
        </p:nvSpPr>
        <p:spPr>
          <a:xfrm>
            <a:off x="10382249" y="283240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3" name="Google Shape;653;p43"/>
          <p:cNvCxnSpPr>
            <a:endCxn id="654" idx="1"/>
          </p:cNvCxnSpPr>
          <p:nvPr/>
        </p:nvCxnSpPr>
        <p:spPr>
          <a:xfrm flipH="1" rot="10800000">
            <a:off x="10867935" y="301909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4" name="Google Shape;654;p43"/>
          <p:cNvSpPr/>
          <p:nvPr/>
        </p:nvSpPr>
        <p:spPr>
          <a:xfrm>
            <a:off x="11329035" y="283240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5" name="Google Shape;655;p43"/>
          <p:cNvCxnSpPr>
            <a:endCxn id="656" idx="1"/>
          </p:cNvCxnSpPr>
          <p:nvPr/>
        </p:nvCxnSpPr>
        <p:spPr>
          <a:xfrm>
            <a:off x="8889000" y="3496918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6" name="Google Shape;656;p43"/>
          <p:cNvSpPr/>
          <p:nvPr/>
        </p:nvSpPr>
        <p:spPr>
          <a:xfrm>
            <a:off x="9410700" y="331022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7" name="Google Shape;657;p43"/>
          <p:cNvCxnSpPr>
            <a:stCxn id="656" idx="3"/>
            <a:endCxn id="658" idx="1"/>
          </p:cNvCxnSpPr>
          <p:nvPr/>
        </p:nvCxnSpPr>
        <p:spPr>
          <a:xfrm flipH="1" rot="10800000">
            <a:off x="9921240" y="347771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58" name="Google Shape;658;p43"/>
          <p:cNvSpPr/>
          <p:nvPr/>
        </p:nvSpPr>
        <p:spPr>
          <a:xfrm>
            <a:off x="10382249" y="329117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9" name="Google Shape;659;p43"/>
          <p:cNvCxnSpPr>
            <a:endCxn id="660" idx="1"/>
          </p:cNvCxnSpPr>
          <p:nvPr/>
        </p:nvCxnSpPr>
        <p:spPr>
          <a:xfrm flipH="1" rot="10800000">
            <a:off x="10867935" y="347786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0" name="Google Shape;660;p43"/>
          <p:cNvSpPr/>
          <p:nvPr/>
        </p:nvSpPr>
        <p:spPr>
          <a:xfrm>
            <a:off x="11329035" y="329117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1" name="Google Shape;661;p43"/>
          <p:cNvCxnSpPr>
            <a:endCxn id="662" idx="1"/>
          </p:cNvCxnSpPr>
          <p:nvPr/>
        </p:nvCxnSpPr>
        <p:spPr>
          <a:xfrm>
            <a:off x="8889000" y="3769092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2" name="Google Shape;662;p43"/>
          <p:cNvSpPr/>
          <p:nvPr/>
        </p:nvSpPr>
        <p:spPr>
          <a:xfrm>
            <a:off x="9410700" y="376900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3" name="Google Shape;663;p43"/>
          <p:cNvCxnSpPr>
            <a:stCxn id="662" idx="3"/>
            <a:endCxn id="664" idx="1"/>
          </p:cNvCxnSpPr>
          <p:nvPr/>
        </p:nvCxnSpPr>
        <p:spPr>
          <a:xfrm flipH="1" rot="10800000">
            <a:off x="9921240" y="393649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4" name="Google Shape;664;p43"/>
          <p:cNvSpPr/>
          <p:nvPr/>
        </p:nvSpPr>
        <p:spPr>
          <a:xfrm>
            <a:off x="10382249" y="374995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5" name="Google Shape;665;p43"/>
          <p:cNvCxnSpPr>
            <a:endCxn id="666" idx="1"/>
          </p:cNvCxnSpPr>
          <p:nvPr/>
        </p:nvCxnSpPr>
        <p:spPr>
          <a:xfrm flipH="1" rot="10800000">
            <a:off x="10867935" y="393664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6" name="Google Shape;666;p43"/>
          <p:cNvSpPr/>
          <p:nvPr/>
        </p:nvSpPr>
        <p:spPr>
          <a:xfrm>
            <a:off x="11329035" y="374995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7" name="Google Shape;667;p43"/>
          <p:cNvCxnSpPr>
            <a:endCxn id="668" idx="1"/>
          </p:cNvCxnSpPr>
          <p:nvPr/>
        </p:nvCxnSpPr>
        <p:spPr>
          <a:xfrm>
            <a:off x="8889000" y="4224685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68" name="Google Shape;668;p43"/>
          <p:cNvSpPr/>
          <p:nvPr/>
        </p:nvSpPr>
        <p:spPr>
          <a:xfrm>
            <a:off x="9410700" y="4224595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9" name="Google Shape;669;p43"/>
          <p:cNvCxnSpPr>
            <a:stCxn id="668" idx="3"/>
            <a:endCxn id="670" idx="1"/>
          </p:cNvCxnSpPr>
          <p:nvPr/>
        </p:nvCxnSpPr>
        <p:spPr>
          <a:xfrm flipH="1" rot="10800000">
            <a:off x="9921240" y="4392085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0" name="Google Shape;670;p43"/>
          <p:cNvSpPr/>
          <p:nvPr/>
        </p:nvSpPr>
        <p:spPr>
          <a:xfrm>
            <a:off x="10382249" y="4205545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1" name="Google Shape;671;p43"/>
          <p:cNvCxnSpPr>
            <a:endCxn id="672" idx="1"/>
          </p:cNvCxnSpPr>
          <p:nvPr/>
        </p:nvCxnSpPr>
        <p:spPr>
          <a:xfrm flipH="1" rot="10800000">
            <a:off x="10867935" y="4392235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2" name="Google Shape;672;p43"/>
          <p:cNvSpPr/>
          <p:nvPr/>
        </p:nvSpPr>
        <p:spPr>
          <a:xfrm>
            <a:off x="11329035" y="4205545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3" name="Google Shape;673;p43"/>
          <p:cNvCxnSpPr>
            <a:endCxn id="674" idx="1"/>
          </p:cNvCxnSpPr>
          <p:nvPr/>
        </p:nvCxnSpPr>
        <p:spPr>
          <a:xfrm>
            <a:off x="8889000" y="4598078"/>
            <a:ext cx="521700" cy="2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4" name="Google Shape;674;p43"/>
          <p:cNvSpPr/>
          <p:nvPr/>
        </p:nvSpPr>
        <p:spPr>
          <a:xfrm>
            <a:off x="9410700" y="468018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5" name="Google Shape;675;p43"/>
          <p:cNvCxnSpPr>
            <a:stCxn id="674" idx="3"/>
            <a:endCxn id="676" idx="1"/>
          </p:cNvCxnSpPr>
          <p:nvPr/>
        </p:nvCxnSpPr>
        <p:spPr>
          <a:xfrm flipH="1" rot="10800000">
            <a:off x="9921240" y="484767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6" name="Google Shape;676;p43"/>
          <p:cNvSpPr/>
          <p:nvPr/>
        </p:nvSpPr>
        <p:spPr>
          <a:xfrm>
            <a:off x="10382249" y="466113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7" name="Google Shape;677;p43"/>
          <p:cNvCxnSpPr>
            <a:endCxn id="678" idx="1"/>
          </p:cNvCxnSpPr>
          <p:nvPr/>
        </p:nvCxnSpPr>
        <p:spPr>
          <a:xfrm flipH="1" rot="10800000">
            <a:off x="10867935" y="4847828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78" name="Google Shape;678;p43"/>
          <p:cNvSpPr/>
          <p:nvPr/>
        </p:nvSpPr>
        <p:spPr>
          <a:xfrm>
            <a:off x="11329035" y="4661138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680" name="Google Shape;680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4"/>
          <p:cNvSpPr txBox="1"/>
          <p:nvPr>
            <p:ph type="title"/>
          </p:nvPr>
        </p:nvSpPr>
        <p:spPr>
          <a:xfrm>
            <a:off x="838199" y="365125"/>
            <a:ext cx="111773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Time required for unsuccessful search</a:t>
            </a:r>
            <a:br>
              <a:rPr lang="en-US"/>
            </a:br>
            <a:endParaRPr/>
          </a:p>
        </p:txBody>
      </p:sp>
      <p:sp>
        <p:nvSpPr>
          <p:cNvPr id="686" name="Google Shape;686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object is not present in the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the object with key 2 was present in the hash table.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it was delete and hence no longer present.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use the key with the hash function and calculate the position in the hash table (1 unit time)</a:t>
            </a:r>
            <a:endParaRPr/>
          </a:p>
        </p:txBody>
      </p:sp>
      <p:graphicFrame>
        <p:nvGraphicFramePr>
          <p:cNvPr id="687" name="Google Shape;687;p44"/>
          <p:cNvGraphicFramePr/>
          <p:nvPr/>
        </p:nvGraphicFramePr>
        <p:xfrm>
          <a:off x="7620000" y="38716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532075"/>
                <a:gridCol w="53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688" name="Google Shape;688;p44"/>
          <p:cNvCxnSpPr>
            <a:endCxn id="689" idx="1"/>
          </p:cNvCxnSpPr>
          <p:nvPr/>
        </p:nvCxnSpPr>
        <p:spPr>
          <a:xfrm>
            <a:off x="8680453" y="4383802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89" name="Google Shape;689;p44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0" name="Google Shape;690;p44"/>
          <p:cNvCxnSpPr>
            <a:stCxn id="689" idx="3"/>
            <a:endCxn id="691" idx="1"/>
          </p:cNvCxnSpPr>
          <p:nvPr/>
        </p:nvCxnSpPr>
        <p:spPr>
          <a:xfrm flipH="1" rot="10800000">
            <a:off x="9712693" y="436460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1" name="Google Shape;691;p44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2" name="Google Shape;692;p44"/>
          <p:cNvCxnSpPr>
            <a:endCxn id="693" idx="1"/>
          </p:cNvCxnSpPr>
          <p:nvPr/>
        </p:nvCxnSpPr>
        <p:spPr>
          <a:xfrm flipH="1" rot="10800000">
            <a:off x="10659388" y="436475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3" name="Google Shape;693;p44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4" name="Google Shape;694;p44"/>
          <p:cNvCxnSpPr>
            <a:endCxn id="695" idx="1"/>
          </p:cNvCxnSpPr>
          <p:nvPr/>
        </p:nvCxnSpPr>
        <p:spPr>
          <a:xfrm>
            <a:off x="8680453" y="4842576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5" name="Google Shape;695;p44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6" name="Google Shape;696;p44"/>
          <p:cNvCxnSpPr>
            <a:stCxn id="695" idx="3"/>
            <a:endCxn id="697" idx="1"/>
          </p:cNvCxnSpPr>
          <p:nvPr/>
        </p:nvCxnSpPr>
        <p:spPr>
          <a:xfrm flipH="1" rot="10800000">
            <a:off x="9712693" y="482337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7" name="Google Shape;697;p44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8" name="Google Shape;698;p44"/>
          <p:cNvCxnSpPr>
            <a:endCxn id="699" idx="1"/>
          </p:cNvCxnSpPr>
          <p:nvPr/>
        </p:nvCxnSpPr>
        <p:spPr>
          <a:xfrm flipH="1" rot="10800000">
            <a:off x="10659388" y="482352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699" name="Google Shape;699;p44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0" name="Google Shape;700;p44"/>
          <p:cNvCxnSpPr>
            <a:endCxn id="701" idx="1"/>
          </p:cNvCxnSpPr>
          <p:nvPr/>
        </p:nvCxnSpPr>
        <p:spPr>
          <a:xfrm>
            <a:off x="8680453" y="5301350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1" name="Google Shape;701;p44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2" name="Google Shape;702;p44"/>
          <p:cNvCxnSpPr>
            <a:stCxn id="701" idx="3"/>
            <a:endCxn id="703" idx="1"/>
          </p:cNvCxnSpPr>
          <p:nvPr/>
        </p:nvCxnSpPr>
        <p:spPr>
          <a:xfrm flipH="1" rot="10800000">
            <a:off x="9712693" y="528215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3" name="Google Shape;703;p44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4" name="Google Shape;704;p44"/>
          <p:cNvCxnSpPr>
            <a:endCxn id="705" idx="1"/>
          </p:cNvCxnSpPr>
          <p:nvPr/>
        </p:nvCxnSpPr>
        <p:spPr>
          <a:xfrm flipH="1" rot="10800000">
            <a:off x="10659388" y="528230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5" name="Google Shape;705;p44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6" name="Google Shape;706;p44"/>
          <p:cNvCxnSpPr>
            <a:endCxn id="707" idx="1"/>
          </p:cNvCxnSpPr>
          <p:nvPr/>
        </p:nvCxnSpPr>
        <p:spPr>
          <a:xfrm>
            <a:off x="8680453" y="5573524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7" name="Google Shape;707;p44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8" name="Google Shape;708;p44"/>
          <p:cNvCxnSpPr>
            <a:stCxn id="707" idx="3"/>
            <a:endCxn id="709" idx="1"/>
          </p:cNvCxnSpPr>
          <p:nvPr/>
        </p:nvCxnSpPr>
        <p:spPr>
          <a:xfrm flipH="1" rot="10800000">
            <a:off x="9712693" y="574092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09" name="Google Shape;709;p44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0" name="Google Shape;710;p44"/>
          <p:cNvCxnSpPr>
            <a:endCxn id="711" idx="1"/>
          </p:cNvCxnSpPr>
          <p:nvPr/>
        </p:nvCxnSpPr>
        <p:spPr>
          <a:xfrm flipH="1" rot="10800000">
            <a:off x="10659388" y="574107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1" name="Google Shape;711;p44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2" name="Google Shape;712;p44"/>
          <p:cNvCxnSpPr>
            <a:endCxn id="713" idx="1"/>
          </p:cNvCxnSpPr>
          <p:nvPr/>
        </p:nvCxnSpPr>
        <p:spPr>
          <a:xfrm>
            <a:off x="8680453" y="6029117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3" name="Google Shape;713;p44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4" name="Google Shape;714;p44"/>
          <p:cNvCxnSpPr>
            <a:stCxn id="713" idx="3"/>
            <a:endCxn id="715" idx="1"/>
          </p:cNvCxnSpPr>
          <p:nvPr/>
        </p:nvCxnSpPr>
        <p:spPr>
          <a:xfrm flipH="1" rot="10800000">
            <a:off x="9712693" y="619651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5" name="Google Shape;715;p44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6" name="Google Shape;716;p44"/>
          <p:cNvCxnSpPr>
            <a:endCxn id="717" idx="1"/>
          </p:cNvCxnSpPr>
          <p:nvPr/>
        </p:nvCxnSpPr>
        <p:spPr>
          <a:xfrm flipH="1" rot="10800000">
            <a:off x="10659388" y="619666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7" name="Google Shape;717;p44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8" name="Google Shape;718;p44"/>
          <p:cNvCxnSpPr>
            <a:endCxn id="719" idx="1"/>
          </p:cNvCxnSpPr>
          <p:nvPr/>
        </p:nvCxnSpPr>
        <p:spPr>
          <a:xfrm>
            <a:off x="8680453" y="6402510"/>
            <a:ext cx="521700" cy="2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19" name="Google Shape;719;p44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0" name="Google Shape;720;p44"/>
          <p:cNvCxnSpPr>
            <a:stCxn id="719" idx="3"/>
            <a:endCxn id="721" idx="1"/>
          </p:cNvCxnSpPr>
          <p:nvPr/>
        </p:nvCxnSpPr>
        <p:spPr>
          <a:xfrm flipH="1" rot="10800000">
            <a:off x="9712693" y="665211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1" name="Google Shape;721;p44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2" name="Google Shape;722;p44"/>
          <p:cNvCxnSpPr>
            <a:endCxn id="723" idx="1"/>
          </p:cNvCxnSpPr>
          <p:nvPr/>
        </p:nvCxnSpPr>
        <p:spPr>
          <a:xfrm flipH="1" rot="10800000">
            <a:off x="10659388" y="665226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23" name="Google Shape;723;p44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725" name="Google Shape;725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5"/>
          <p:cNvSpPr txBox="1"/>
          <p:nvPr>
            <p:ph type="title"/>
          </p:nvPr>
        </p:nvSpPr>
        <p:spPr>
          <a:xfrm>
            <a:off x="838199" y="365125"/>
            <a:ext cx="111773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Time required for unsuccessful search</a:t>
            </a:r>
            <a:br>
              <a:rPr lang="en-US"/>
            </a:br>
            <a:endParaRPr/>
          </a:p>
        </p:txBody>
      </p:sp>
      <p:sp>
        <p:nvSpPr>
          <p:cNvPr id="731" name="Google Shape;731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object is not present in the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the object with key 2 was present in the hash table.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it was delete and hence no longer present.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use the key with the hash function and calculate the position in the hash table (1 unit time)</a:t>
            </a:r>
            <a:endParaRPr/>
          </a:p>
        </p:txBody>
      </p:sp>
      <p:graphicFrame>
        <p:nvGraphicFramePr>
          <p:cNvPr id="732" name="Google Shape;732;p45"/>
          <p:cNvGraphicFramePr/>
          <p:nvPr/>
        </p:nvGraphicFramePr>
        <p:xfrm>
          <a:off x="7620000" y="38716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532075"/>
                <a:gridCol w="53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733" name="Google Shape;733;p45"/>
          <p:cNvCxnSpPr>
            <a:endCxn id="734" idx="1"/>
          </p:cNvCxnSpPr>
          <p:nvPr/>
        </p:nvCxnSpPr>
        <p:spPr>
          <a:xfrm>
            <a:off x="8680453" y="4383802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4" name="Google Shape;734;p45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5" name="Google Shape;735;p45"/>
          <p:cNvCxnSpPr>
            <a:stCxn id="734" idx="3"/>
            <a:endCxn id="736" idx="1"/>
          </p:cNvCxnSpPr>
          <p:nvPr/>
        </p:nvCxnSpPr>
        <p:spPr>
          <a:xfrm flipH="1" rot="10800000">
            <a:off x="9712693" y="436460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6" name="Google Shape;736;p45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7" name="Google Shape;737;p45"/>
          <p:cNvCxnSpPr>
            <a:endCxn id="738" idx="1"/>
          </p:cNvCxnSpPr>
          <p:nvPr/>
        </p:nvCxnSpPr>
        <p:spPr>
          <a:xfrm flipH="1" rot="10800000">
            <a:off x="10659388" y="436475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8" name="Google Shape;738;p45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9" name="Google Shape;739;p45"/>
          <p:cNvCxnSpPr>
            <a:endCxn id="740" idx="1"/>
          </p:cNvCxnSpPr>
          <p:nvPr/>
        </p:nvCxnSpPr>
        <p:spPr>
          <a:xfrm>
            <a:off x="8680453" y="4842576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0" name="Google Shape;740;p45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1" name="Google Shape;741;p45"/>
          <p:cNvCxnSpPr>
            <a:stCxn id="740" idx="3"/>
            <a:endCxn id="742" idx="1"/>
          </p:cNvCxnSpPr>
          <p:nvPr/>
        </p:nvCxnSpPr>
        <p:spPr>
          <a:xfrm flipH="1" rot="10800000">
            <a:off x="9712693" y="482337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2" name="Google Shape;742;p45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3" name="Google Shape;743;p45"/>
          <p:cNvCxnSpPr>
            <a:endCxn id="744" idx="1"/>
          </p:cNvCxnSpPr>
          <p:nvPr/>
        </p:nvCxnSpPr>
        <p:spPr>
          <a:xfrm flipH="1" rot="10800000">
            <a:off x="10659388" y="482352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4" name="Google Shape;744;p45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5" name="Google Shape;745;p45"/>
          <p:cNvCxnSpPr>
            <a:endCxn id="746" idx="1"/>
          </p:cNvCxnSpPr>
          <p:nvPr/>
        </p:nvCxnSpPr>
        <p:spPr>
          <a:xfrm>
            <a:off x="8680453" y="5301350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6" name="Google Shape;746;p45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7" name="Google Shape;747;p45"/>
          <p:cNvCxnSpPr>
            <a:stCxn id="746" idx="3"/>
            <a:endCxn id="748" idx="1"/>
          </p:cNvCxnSpPr>
          <p:nvPr/>
        </p:nvCxnSpPr>
        <p:spPr>
          <a:xfrm flipH="1" rot="10800000">
            <a:off x="9712693" y="528215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48" name="Google Shape;748;p45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9" name="Google Shape;749;p45"/>
          <p:cNvCxnSpPr>
            <a:endCxn id="750" idx="1"/>
          </p:cNvCxnSpPr>
          <p:nvPr/>
        </p:nvCxnSpPr>
        <p:spPr>
          <a:xfrm flipH="1" rot="10800000">
            <a:off x="10659388" y="528230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0" name="Google Shape;750;p45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1" name="Google Shape;751;p45"/>
          <p:cNvCxnSpPr>
            <a:endCxn id="752" idx="1"/>
          </p:cNvCxnSpPr>
          <p:nvPr/>
        </p:nvCxnSpPr>
        <p:spPr>
          <a:xfrm>
            <a:off x="8680453" y="5573524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2" name="Google Shape;752;p45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3" name="Google Shape;753;p45"/>
          <p:cNvCxnSpPr>
            <a:stCxn id="752" idx="3"/>
            <a:endCxn id="754" idx="1"/>
          </p:cNvCxnSpPr>
          <p:nvPr/>
        </p:nvCxnSpPr>
        <p:spPr>
          <a:xfrm flipH="1" rot="10800000">
            <a:off x="9712693" y="574092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4" name="Google Shape;754;p45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5" name="Google Shape;755;p45"/>
          <p:cNvCxnSpPr>
            <a:endCxn id="756" idx="1"/>
          </p:cNvCxnSpPr>
          <p:nvPr/>
        </p:nvCxnSpPr>
        <p:spPr>
          <a:xfrm flipH="1" rot="10800000">
            <a:off x="10659388" y="574107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6" name="Google Shape;756;p45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7" name="Google Shape;757;p45"/>
          <p:cNvCxnSpPr>
            <a:endCxn id="758" idx="1"/>
          </p:cNvCxnSpPr>
          <p:nvPr/>
        </p:nvCxnSpPr>
        <p:spPr>
          <a:xfrm>
            <a:off x="8680453" y="6029117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58" name="Google Shape;758;p45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9" name="Google Shape;759;p45"/>
          <p:cNvCxnSpPr>
            <a:stCxn id="758" idx="3"/>
            <a:endCxn id="760" idx="1"/>
          </p:cNvCxnSpPr>
          <p:nvPr/>
        </p:nvCxnSpPr>
        <p:spPr>
          <a:xfrm flipH="1" rot="10800000">
            <a:off x="9712693" y="619651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0" name="Google Shape;760;p45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1" name="Google Shape;761;p45"/>
          <p:cNvCxnSpPr>
            <a:endCxn id="762" idx="1"/>
          </p:cNvCxnSpPr>
          <p:nvPr/>
        </p:nvCxnSpPr>
        <p:spPr>
          <a:xfrm flipH="1" rot="10800000">
            <a:off x="10659388" y="619666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2" name="Google Shape;762;p45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3" name="Google Shape;763;p45"/>
          <p:cNvCxnSpPr>
            <a:endCxn id="764" idx="1"/>
          </p:cNvCxnSpPr>
          <p:nvPr/>
        </p:nvCxnSpPr>
        <p:spPr>
          <a:xfrm>
            <a:off x="8680453" y="6402510"/>
            <a:ext cx="521700" cy="2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4" name="Google Shape;764;p45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5" name="Google Shape;765;p45"/>
          <p:cNvCxnSpPr>
            <a:stCxn id="764" idx="3"/>
            <a:endCxn id="766" idx="1"/>
          </p:cNvCxnSpPr>
          <p:nvPr/>
        </p:nvCxnSpPr>
        <p:spPr>
          <a:xfrm flipH="1" rot="10800000">
            <a:off x="9712693" y="665211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6" name="Google Shape;766;p45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7" name="Google Shape;767;p45"/>
          <p:cNvCxnSpPr>
            <a:endCxn id="768" idx="1"/>
          </p:cNvCxnSpPr>
          <p:nvPr/>
        </p:nvCxnSpPr>
        <p:spPr>
          <a:xfrm flipH="1" rot="10800000">
            <a:off x="10659388" y="665226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68" name="Google Shape;768;p45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5"/>
          <p:cNvSpPr/>
          <p:nvPr/>
        </p:nvSpPr>
        <p:spPr>
          <a:xfrm rot="-4481318">
            <a:off x="7125443" y="4441747"/>
            <a:ext cx="311182" cy="64546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771" name="Google Shape;771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6"/>
          <p:cNvSpPr txBox="1"/>
          <p:nvPr>
            <p:ph type="title"/>
          </p:nvPr>
        </p:nvSpPr>
        <p:spPr>
          <a:xfrm>
            <a:off x="838199" y="365125"/>
            <a:ext cx="111773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Time required for unsuccessful search</a:t>
            </a:r>
            <a:br>
              <a:rPr lang="en-US"/>
            </a:br>
            <a:endParaRPr/>
          </a:p>
        </p:txBody>
      </p:sp>
      <p:sp>
        <p:nvSpPr>
          <p:cNvPr id="777" name="Google Shape;777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object is not present in the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the object with key 2 was present in the hash table.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it was delete and hence no longer present.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use the key with the hash function and calculate the position in the hash table (1 unit time)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we traverse the entire list searching</a:t>
            </a:r>
            <a:endParaRPr/>
          </a:p>
        </p:txBody>
      </p:sp>
      <p:graphicFrame>
        <p:nvGraphicFramePr>
          <p:cNvPr id="778" name="Google Shape;778;p46"/>
          <p:cNvGraphicFramePr/>
          <p:nvPr/>
        </p:nvGraphicFramePr>
        <p:xfrm>
          <a:off x="7620000" y="38716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532075"/>
                <a:gridCol w="53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779" name="Google Shape;779;p46"/>
          <p:cNvCxnSpPr>
            <a:endCxn id="780" idx="1"/>
          </p:cNvCxnSpPr>
          <p:nvPr/>
        </p:nvCxnSpPr>
        <p:spPr>
          <a:xfrm>
            <a:off x="8680453" y="4383802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0" name="Google Shape;780;p46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1" name="Google Shape;781;p46"/>
          <p:cNvCxnSpPr>
            <a:stCxn id="780" idx="3"/>
            <a:endCxn id="782" idx="1"/>
          </p:cNvCxnSpPr>
          <p:nvPr/>
        </p:nvCxnSpPr>
        <p:spPr>
          <a:xfrm flipH="1" rot="10800000">
            <a:off x="9712693" y="436460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2" name="Google Shape;782;p46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3" name="Google Shape;783;p46"/>
          <p:cNvCxnSpPr>
            <a:endCxn id="784" idx="1"/>
          </p:cNvCxnSpPr>
          <p:nvPr/>
        </p:nvCxnSpPr>
        <p:spPr>
          <a:xfrm flipH="1" rot="10800000">
            <a:off x="10659388" y="436475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4" name="Google Shape;784;p46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5" name="Google Shape;785;p46"/>
          <p:cNvCxnSpPr>
            <a:endCxn id="786" idx="1"/>
          </p:cNvCxnSpPr>
          <p:nvPr/>
        </p:nvCxnSpPr>
        <p:spPr>
          <a:xfrm>
            <a:off x="8680453" y="4842576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6" name="Google Shape;786;p46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7" name="Google Shape;787;p46"/>
          <p:cNvCxnSpPr>
            <a:stCxn id="786" idx="3"/>
            <a:endCxn id="788" idx="1"/>
          </p:cNvCxnSpPr>
          <p:nvPr/>
        </p:nvCxnSpPr>
        <p:spPr>
          <a:xfrm flipH="1" rot="10800000">
            <a:off x="9712693" y="482337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88" name="Google Shape;788;p46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9" name="Google Shape;789;p46"/>
          <p:cNvCxnSpPr>
            <a:endCxn id="790" idx="1"/>
          </p:cNvCxnSpPr>
          <p:nvPr/>
        </p:nvCxnSpPr>
        <p:spPr>
          <a:xfrm flipH="1" rot="10800000">
            <a:off x="10659388" y="482352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0" name="Google Shape;790;p46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1" name="Google Shape;791;p46"/>
          <p:cNvCxnSpPr>
            <a:endCxn id="792" idx="1"/>
          </p:cNvCxnSpPr>
          <p:nvPr/>
        </p:nvCxnSpPr>
        <p:spPr>
          <a:xfrm>
            <a:off x="8680453" y="5301350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2" name="Google Shape;792;p46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3" name="Google Shape;793;p46"/>
          <p:cNvCxnSpPr>
            <a:stCxn id="792" idx="3"/>
            <a:endCxn id="794" idx="1"/>
          </p:cNvCxnSpPr>
          <p:nvPr/>
        </p:nvCxnSpPr>
        <p:spPr>
          <a:xfrm flipH="1" rot="10800000">
            <a:off x="9712693" y="528215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4" name="Google Shape;794;p46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5" name="Google Shape;795;p46"/>
          <p:cNvCxnSpPr>
            <a:endCxn id="796" idx="1"/>
          </p:cNvCxnSpPr>
          <p:nvPr/>
        </p:nvCxnSpPr>
        <p:spPr>
          <a:xfrm flipH="1" rot="10800000">
            <a:off x="10659388" y="528230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6" name="Google Shape;796;p46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7" name="Google Shape;797;p46"/>
          <p:cNvCxnSpPr>
            <a:endCxn id="798" idx="1"/>
          </p:cNvCxnSpPr>
          <p:nvPr/>
        </p:nvCxnSpPr>
        <p:spPr>
          <a:xfrm>
            <a:off x="8680453" y="5573524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98" name="Google Shape;798;p46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9" name="Google Shape;799;p46"/>
          <p:cNvCxnSpPr>
            <a:stCxn id="798" idx="3"/>
            <a:endCxn id="800" idx="1"/>
          </p:cNvCxnSpPr>
          <p:nvPr/>
        </p:nvCxnSpPr>
        <p:spPr>
          <a:xfrm flipH="1" rot="10800000">
            <a:off x="9712693" y="574092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0" name="Google Shape;800;p46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1" name="Google Shape;801;p46"/>
          <p:cNvCxnSpPr>
            <a:endCxn id="802" idx="1"/>
          </p:cNvCxnSpPr>
          <p:nvPr/>
        </p:nvCxnSpPr>
        <p:spPr>
          <a:xfrm flipH="1" rot="10800000">
            <a:off x="10659388" y="574107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2" name="Google Shape;802;p46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3" name="Google Shape;803;p46"/>
          <p:cNvCxnSpPr>
            <a:endCxn id="804" idx="1"/>
          </p:cNvCxnSpPr>
          <p:nvPr/>
        </p:nvCxnSpPr>
        <p:spPr>
          <a:xfrm>
            <a:off x="8680453" y="6029117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4" name="Google Shape;804;p46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5" name="Google Shape;805;p46"/>
          <p:cNvCxnSpPr>
            <a:stCxn id="804" idx="3"/>
            <a:endCxn id="806" idx="1"/>
          </p:cNvCxnSpPr>
          <p:nvPr/>
        </p:nvCxnSpPr>
        <p:spPr>
          <a:xfrm flipH="1" rot="10800000">
            <a:off x="9712693" y="619651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6" name="Google Shape;806;p46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7" name="Google Shape;807;p46"/>
          <p:cNvCxnSpPr>
            <a:endCxn id="808" idx="1"/>
          </p:cNvCxnSpPr>
          <p:nvPr/>
        </p:nvCxnSpPr>
        <p:spPr>
          <a:xfrm flipH="1" rot="10800000">
            <a:off x="10659388" y="619666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08" name="Google Shape;808;p46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9" name="Google Shape;809;p46"/>
          <p:cNvCxnSpPr>
            <a:endCxn id="810" idx="1"/>
          </p:cNvCxnSpPr>
          <p:nvPr/>
        </p:nvCxnSpPr>
        <p:spPr>
          <a:xfrm>
            <a:off x="8680453" y="6402510"/>
            <a:ext cx="521700" cy="2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10" name="Google Shape;810;p46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1" name="Google Shape;811;p46"/>
          <p:cNvCxnSpPr>
            <a:stCxn id="810" idx="3"/>
            <a:endCxn id="812" idx="1"/>
          </p:cNvCxnSpPr>
          <p:nvPr/>
        </p:nvCxnSpPr>
        <p:spPr>
          <a:xfrm flipH="1" rot="10800000">
            <a:off x="9712693" y="665211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12" name="Google Shape;812;p46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3" name="Google Shape;813;p46"/>
          <p:cNvCxnSpPr>
            <a:endCxn id="814" idx="1"/>
          </p:cNvCxnSpPr>
          <p:nvPr/>
        </p:nvCxnSpPr>
        <p:spPr>
          <a:xfrm flipH="1" rot="10800000">
            <a:off x="10659388" y="665226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14" name="Google Shape;814;p46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46"/>
          <p:cNvSpPr/>
          <p:nvPr/>
        </p:nvSpPr>
        <p:spPr>
          <a:xfrm rot="-4481318">
            <a:off x="7125443" y="4441747"/>
            <a:ext cx="311182" cy="64546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817" name="Google Shape;81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7"/>
          <p:cNvSpPr txBox="1"/>
          <p:nvPr>
            <p:ph type="title"/>
          </p:nvPr>
        </p:nvSpPr>
        <p:spPr>
          <a:xfrm>
            <a:off x="838199" y="365125"/>
            <a:ext cx="111773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Time required for unsuccessful search</a:t>
            </a:r>
            <a:br>
              <a:rPr lang="en-US"/>
            </a:br>
            <a:endParaRPr/>
          </a:p>
        </p:txBody>
      </p:sp>
      <p:sp>
        <p:nvSpPr>
          <p:cNvPr id="823" name="Google Shape;823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object is not present in the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the object with key 2 was present in the hash table.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it was delete and hence no longer present.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use the key with the hash function and calculate the position in the hash table (1 unit time)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we traverse the entire list searching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whole list will be traversed</a:t>
            </a:r>
            <a:endParaRPr/>
          </a:p>
        </p:txBody>
      </p:sp>
      <p:graphicFrame>
        <p:nvGraphicFramePr>
          <p:cNvPr id="824" name="Google Shape;824;p47"/>
          <p:cNvGraphicFramePr/>
          <p:nvPr/>
        </p:nvGraphicFramePr>
        <p:xfrm>
          <a:off x="7620000" y="38716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532075"/>
                <a:gridCol w="53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825" name="Google Shape;825;p47"/>
          <p:cNvCxnSpPr>
            <a:endCxn id="826" idx="1"/>
          </p:cNvCxnSpPr>
          <p:nvPr/>
        </p:nvCxnSpPr>
        <p:spPr>
          <a:xfrm>
            <a:off x="8680453" y="4383802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6" name="Google Shape;826;p47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7" name="Google Shape;827;p47"/>
          <p:cNvCxnSpPr>
            <a:stCxn id="826" idx="3"/>
            <a:endCxn id="828" idx="1"/>
          </p:cNvCxnSpPr>
          <p:nvPr/>
        </p:nvCxnSpPr>
        <p:spPr>
          <a:xfrm flipH="1" rot="10800000">
            <a:off x="9712693" y="436460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28" name="Google Shape;828;p47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9" name="Google Shape;829;p47"/>
          <p:cNvCxnSpPr>
            <a:endCxn id="830" idx="1"/>
          </p:cNvCxnSpPr>
          <p:nvPr/>
        </p:nvCxnSpPr>
        <p:spPr>
          <a:xfrm flipH="1" rot="10800000">
            <a:off x="10659388" y="436475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0" name="Google Shape;830;p47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1" name="Google Shape;831;p47"/>
          <p:cNvCxnSpPr>
            <a:endCxn id="832" idx="1"/>
          </p:cNvCxnSpPr>
          <p:nvPr/>
        </p:nvCxnSpPr>
        <p:spPr>
          <a:xfrm>
            <a:off x="8680453" y="4842576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2" name="Google Shape;832;p47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3" name="Google Shape;833;p47"/>
          <p:cNvCxnSpPr>
            <a:stCxn id="832" idx="3"/>
            <a:endCxn id="834" idx="1"/>
          </p:cNvCxnSpPr>
          <p:nvPr/>
        </p:nvCxnSpPr>
        <p:spPr>
          <a:xfrm flipH="1" rot="10800000">
            <a:off x="9712693" y="482337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4" name="Google Shape;834;p47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5" name="Google Shape;835;p47"/>
          <p:cNvCxnSpPr>
            <a:endCxn id="836" idx="1"/>
          </p:cNvCxnSpPr>
          <p:nvPr/>
        </p:nvCxnSpPr>
        <p:spPr>
          <a:xfrm flipH="1" rot="10800000">
            <a:off x="10659388" y="482352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6" name="Google Shape;836;p47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7" name="Google Shape;837;p47"/>
          <p:cNvCxnSpPr>
            <a:endCxn id="838" idx="1"/>
          </p:cNvCxnSpPr>
          <p:nvPr/>
        </p:nvCxnSpPr>
        <p:spPr>
          <a:xfrm>
            <a:off x="8680453" y="5301350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38" name="Google Shape;838;p47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9" name="Google Shape;839;p47"/>
          <p:cNvCxnSpPr>
            <a:stCxn id="838" idx="3"/>
            <a:endCxn id="840" idx="1"/>
          </p:cNvCxnSpPr>
          <p:nvPr/>
        </p:nvCxnSpPr>
        <p:spPr>
          <a:xfrm flipH="1" rot="10800000">
            <a:off x="9712693" y="528215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0" name="Google Shape;840;p47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1" name="Google Shape;841;p47"/>
          <p:cNvCxnSpPr>
            <a:endCxn id="842" idx="1"/>
          </p:cNvCxnSpPr>
          <p:nvPr/>
        </p:nvCxnSpPr>
        <p:spPr>
          <a:xfrm flipH="1" rot="10800000">
            <a:off x="10659388" y="528230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2" name="Google Shape;842;p47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3" name="Google Shape;843;p47"/>
          <p:cNvCxnSpPr>
            <a:endCxn id="844" idx="1"/>
          </p:cNvCxnSpPr>
          <p:nvPr/>
        </p:nvCxnSpPr>
        <p:spPr>
          <a:xfrm>
            <a:off x="8680453" y="5573524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4" name="Google Shape;844;p47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5" name="Google Shape;845;p47"/>
          <p:cNvCxnSpPr>
            <a:stCxn id="844" idx="3"/>
            <a:endCxn id="846" idx="1"/>
          </p:cNvCxnSpPr>
          <p:nvPr/>
        </p:nvCxnSpPr>
        <p:spPr>
          <a:xfrm flipH="1" rot="10800000">
            <a:off x="9712693" y="574092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6" name="Google Shape;846;p47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7" name="Google Shape;847;p47"/>
          <p:cNvCxnSpPr>
            <a:endCxn id="848" idx="1"/>
          </p:cNvCxnSpPr>
          <p:nvPr/>
        </p:nvCxnSpPr>
        <p:spPr>
          <a:xfrm flipH="1" rot="10800000">
            <a:off x="10659388" y="574107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8" name="Google Shape;848;p47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9" name="Google Shape;849;p47"/>
          <p:cNvCxnSpPr>
            <a:endCxn id="850" idx="1"/>
          </p:cNvCxnSpPr>
          <p:nvPr/>
        </p:nvCxnSpPr>
        <p:spPr>
          <a:xfrm>
            <a:off x="8680453" y="6029117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0" name="Google Shape;850;p47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1" name="Google Shape;851;p47"/>
          <p:cNvCxnSpPr>
            <a:stCxn id="850" idx="3"/>
            <a:endCxn id="852" idx="1"/>
          </p:cNvCxnSpPr>
          <p:nvPr/>
        </p:nvCxnSpPr>
        <p:spPr>
          <a:xfrm flipH="1" rot="10800000">
            <a:off x="9712693" y="619651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2" name="Google Shape;852;p47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3" name="Google Shape;853;p47"/>
          <p:cNvCxnSpPr>
            <a:endCxn id="854" idx="1"/>
          </p:cNvCxnSpPr>
          <p:nvPr/>
        </p:nvCxnSpPr>
        <p:spPr>
          <a:xfrm flipH="1" rot="10800000">
            <a:off x="10659388" y="619666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4" name="Google Shape;854;p47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5" name="Google Shape;855;p47"/>
          <p:cNvCxnSpPr>
            <a:endCxn id="856" idx="1"/>
          </p:cNvCxnSpPr>
          <p:nvPr/>
        </p:nvCxnSpPr>
        <p:spPr>
          <a:xfrm>
            <a:off x="8680453" y="6402510"/>
            <a:ext cx="521700" cy="2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6" name="Google Shape;856;p47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7" name="Google Shape;857;p47"/>
          <p:cNvCxnSpPr>
            <a:stCxn id="856" idx="3"/>
            <a:endCxn id="858" idx="1"/>
          </p:cNvCxnSpPr>
          <p:nvPr/>
        </p:nvCxnSpPr>
        <p:spPr>
          <a:xfrm flipH="1" rot="10800000">
            <a:off x="9712693" y="665211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8" name="Google Shape;858;p47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9" name="Google Shape;859;p47"/>
          <p:cNvCxnSpPr>
            <a:endCxn id="860" idx="1"/>
          </p:cNvCxnSpPr>
          <p:nvPr/>
        </p:nvCxnSpPr>
        <p:spPr>
          <a:xfrm flipH="1" rot="10800000">
            <a:off x="10659388" y="665226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0" name="Google Shape;860;p47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47"/>
          <p:cNvSpPr/>
          <p:nvPr/>
        </p:nvSpPr>
        <p:spPr>
          <a:xfrm rot="-4481318">
            <a:off x="7125443" y="4441747"/>
            <a:ext cx="311182" cy="64546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863" name="Google Shape;86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8"/>
          <p:cNvSpPr txBox="1"/>
          <p:nvPr>
            <p:ph type="title"/>
          </p:nvPr>
        </p:nvSpPr>
        <p:spPr>
          <a:xfrm>
            <a:off x="838199" y="365125"/>
            <a:ext cx="111773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Time required for unsuccessful search</a:t>
            </a:r>
            <a:br>
              <a:rPr lang="en-US"/>
            </a:br>
            <a:endParaRPr/>
          </a:p>
        </p:txBody>
      </p:sp>
      <p:sp>
        <p:nvSpPr>
          <p:cNvPr id="869" name="Google Shape;869;p4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object is not present in the list.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Suppose the object with key 2 was present in the hash table.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it was delete and hence no longer present.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use the key with the hash function and calculate the position in the hash table (1 unit time)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we traverse the entire list searching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whole list will be traversed.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 the item will not be found</a:t>
            </a:r>
            <a:endParaRPr/>
          </a:p>
        </p:txBody>
      </p:sp>
      <p:graphicFrame>
        <p:nvGraphicFramePr>
          <p:cNvPr id="870" name="Google Shape;870;p48"/>
          <p:cNvGraphicFramePr/>
          <p:nvPr/>
        </p:nvGraphicFramePr>
        <p:xfrm>
          <a:off x="7620000" y="38716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532075"/>
                <a:gridCol w="53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871" name="Google Shape;871;p48"/>
          <p:cNvCxnSpPr>
            <a:endCxn id="872" idx="1"/>
          </p:cNvCxnSpPr>
          <p:nvPr/>
        </p:nvCxnSpPr>
        <p:spPr>
          <a:xfrm>
            <a:off x="8680453" y="4383802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2" name="Google Shape;872;p48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3" name="Google Shape;873;p48"/>
          <p:cNvCxnSpPr>
            <a:stCxn id="872" idx="3"/>
            <a:endCxn id="874" idx="1"/>
          </p:cNvCxnSpPr>
          <p:nvPr/>
        </p:nvCxnSpPr>
        <p:spPr>
          <a:xfrm flipH="1" rot="10800000">
            <a:off x="9712693" y="436460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4" name="Google Shape;874;p48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5" name="Google Shape;875;p48"/>
          <p:cNvCxnSpPr>
            <a:endCxn id="876" idx="1"/>
          </p:cNvCxnSpPr>
          <p:nvPr/>
        </p:nvCxnSpPr>
        <p:spPr>
          <a:xfrm flipH="1" rot="10800000">
            <a:off x="10659388" y="436475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6" name="Google Shape;876;p48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7" name="Google Shape;877;p48"/>
          <p:cNvCxnSpPr>
            <a:endCxn id="878" idx="1"/>
          </p:cNvCxnSpPr>
          <p:nvPr/>
        </p:nvCxnSpPr>
        <p:spPr>
          <a:xfrm>
            <a:off x="8680453" y="4842576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78" name="Google Shape;878;p48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9" name="Google Shape;879;p48"/>
          <p:cNvCxnSpPr>
            <a:stCxn id="878" idx="3"/>
            <a:endCxn id="880" idx="1"/>
          </p:cNvCxnSpPr>
          <p:nvPr/>
        </p:nvCxnSpPr>
        <p:spPr>
          <a:xfrm flipH="1" rot="10800000">
            <a:off x="9712693" y="482337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0" name="Google Shape;880;p48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1" name="Google Shape;881;p48"/>
          <p:cNvCxnSpPr>
            <a:endCxn id="882" idx="1"/>
          </p:cNvCxnSpPr>
          <p:nvPr/>
        </p:nvCxnSpPr>
        <p:spPr>
          <a:xfrm flipH="1" rot="10800000">
            <a:off x="10659388" y="482352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2" name="Google Shape;882;p48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3" name="Google Shape;883;p48"/>
          <p:cNvCxnSpPr>
            <a:endCxn id="884" idx="1"/>
          </p:cNvCxnSpPr>
          <p:nvPr/>
        </p:nvCxnSpPr>
        <p:spPr>
          <a:xfrm>
            <a:off x="8680453" y="5301350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4" name="Google Shape;884;p48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5" name="Google Shape;885;p48"/>
          <p:cNvCxnSpPr>
            <a:stCxn id="884" idx="3"/>
            <a:endCxn id="886" idx="1"/>
          </p:cNvCxnSpPr>
          <p:nvPr/>
        </p:nvCxnSpPr>
        <p:spPr>
          <a:xfrm flipH="1" rot="10800000">
            <a:off x="9712693" y="528215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6" name="Google Shape;886;p48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7" name="Google Shape;887;p48"/>
          <p:cNvCxnSpPr>
            <a:endCxn id="888" idx="1"/>
          </p:cNvCxnSpPr>
          <p:nvPr/>
        </p:nvCxnSpPr>
        <p:spPr>
          <a:xfrm flipH="1" rot="10800000">
            <a:off x="10659388" y="528230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8" name="Google Shape;888;p48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9" name="Google Shape;889;p48"/>
          <p:cNvCxnSpPr>
            <a:endCxn id="890" idx="1"/>
          </p:cNvCxnSpPr>
          <p:nvPr/>
        </p:nvCxnSpPr>
        <p:spPr>
          <a:xfrm>
            <a:off x="8680453" y="5573524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0" name="Google Shape;890;p48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1" name="Google Shape;891;p48"/>
          <p:cNvCxnSpPr>
            <a:stCxn id="890" idx="3"/>
            <a:endCxn id="892" idx="1"/>
          </p:cNvCxnSpPr>
          <p:nvPr/>
        </p:nvCxnSpPr>
        <p:spPr>
          <a:xfrm flipH="1" rot="10800000">
            <a:off x="9712693" y="574092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2" name="Google Shape;892;p48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3" name="Google Shape;893;p48"/>
          <p:cNvCxnSpPr>
            <a:endCxn id="894" idx="1"/>
          </p:cNvCxnSpPr>
          <p:nvPr/>
        </p:nvCxnSpPr>
        <p:spPr>
          <a:xfrm flipH="1" rot="10800000">
            <a:off x="10659388" y="574107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4" name="Google Shape;894;p48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5" name="Google Shape;895;p48"/>
          <p:cNvCxnSpPr>
            <a:endCxn id="896" idx="1"/>
          </p:cNvCxnSpPr>
          <p:nvPr/>
        </p:nvCxnSpPr>
        <p:spPr>
          <a:xfrm>
            <a:off x="8680453" y="6029117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6" name="Google Shape;896;p48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7" name="Google Shape;897;p48"/>
          <p:cNvCxnSpPr>
            <a:stCxn id="896" idx="3"/>
            <a:endCxn id="898" idx="1"/>
          </p:cNvCxnSpPr>
          <p:nvPr/>
        </p:nvCxnSpPr>
        <p:spPr>
          <a:xfrm flipH="1" rot="10800000">
            <a:off x="9712693" y="619651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98" name="Google Shape;898;p48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9" name="Google Shape;899;p48"/>
          <p:cNvCxnSpPr>
            <a:endCxn id="900" idx="1"/>
          </p:cNvCxnSpPr>
          <p:nvPr/>
        </p:nvCxnSpPr>
        <p:spPr>
          <a:xfrm flipH="1" rot="10800000">
            <a:off x="10659388" y="619666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0" name="Google Shape;900;p48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1" name="Google Shape;901;p48"/>
          <p:cNvCxnSpPr>
            <a:endCxn id="902" idx="1"/>
          </p:cNvCxnSpPr>
          <p:nvPr/>
        </p:nvCxnSpPr>
        <p:spPr>
          <a:xfrm>
            <a:off x="8680453" y="6402510"/>
            <a:ext cx="521700" cy="2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2" name="Google Shape;902;p48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3" name="Google Shape;903;p48"/>
          <p:cNvCxnSpPr>
            <a:stCxn id="902" idx="3"/>
            <a:endCxn id="904" idx="1"/>
          </p:cNvCxnSpPr>
          <p:nvPr/>
        </p:nvCxnSpPr>
        <p:spPr>
          <a:xfrm flipH="1" rot="10800000">
            <a:off x="9712693" y="665211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4" name="Google Shape;904;p48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5" name="Google Shape;905;p48"/>
          <p:cNvCxnSpPr>
            <a:endCxn id="906" idx="1"/>
          </p:cNvCxnSpPr>
          <p:nvPr/>
        </p:nvCxnSpPr>
        <p:spPr>
          <a:xfrm flipH="1" rot="10800000">
            <a:off x="10659388" y="665226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6" name="Google Shape;906;p48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8"/>
          <p:cNvSpPr/>
          <p:nvPr/>
        </p:nvSpPr>
        <p:spPr>
          <a:xfrm rot="-4481318">
            <a:off x="7125443" y="4441747"/>
            <a:ext cx="311182" cy="64546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909" name="Google Shape;909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9"/>
          <p:cNvSpPr txBox="1"/>
          <p:nvPr>
            <p:ph type="title"/>
          </p:nvPr>
        </p:nvSpPr>
        <p:spPr>
          <a:xfrm>
            <a:off x="838199" y="365125"/>
            <a:ext cx="1117733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Time required for unsuccessful search</a:t>
            </a:r>
            <a:br>
              <a:rPr lang="en-US"/>
            </a:br>
            <a:endParaRPr/>
          </a:p>
        </p:txBody>
      </p:sp>
      <p:sp>
        <p:nvSpPr>
          <p:cNvPr id="915" name="Google Shape;915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1526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object is not present in the list.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Suppose the object with key 2 was present in the hash table.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But it was delete and hence no longer present.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use the key with the hash function and calculate the position in the hash table (1 unit time)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we traverse the entire list searching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whole list will be traversed.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As the item will not be found</a:t>
            </a:r>
            <a:endParaRPr/>
          </a:p>
          <a:p>
            <a:pPr indent="-21526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 expected number of items traversed: </a:t>
            </a:r>
            <a:r>
              <a:rPr b="1" lang="en-US"/>
              <a:t>α</a:t>
            </a:r>
            <a:endParaRPr b="1"/>
          </a:p>
          <a:p>
            <a:pPr indent="-156527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4285"/>
              <a:buChar char="•"/>
            </a:pPr>
            <a:r>
              <a:rPr b="1" lang="en-US"/>
              <a:t>O(1+alpha)</a:t>
            </a:r>
            <a:endParaRPr b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graphicFrame>
        <p:nvGraphicFramePr>
          <p:cNvPr id="916" name="Google Shape;916;p49"/>
          <p:cNvGraphicFramePr/>
          <p:nvPr/>
        </p:nvGraphicFramePr>
        <p:xfrm>
          <a:off x="7620000" y="38716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{FD5C461E-2222-4408-88BB-2BA341F0F4F0}</a:tableStyleId>
              </a:tblPr>
              <a:tblGrid>
                <a:gridCol w="532075"/>
                <a:gridCol w="532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917" name="Google Shape;917;p49"/>
          <p:cNvCxnSpPr>
            <a:endCxn id="918" idx="1"/>
          </p:cNvCxnSpPr>
          <p:nvPr/>
        </p:nvCxnSpPr>
        <p:spPr>
          <a:xfrm>
            <a:off x="8680453" y="4383802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18" name="Google Shape;918;p49"/>
          <p:cNvSpPr/>
          <p:nvPr/>
        </p:nvSpPr>
        <p:spPr>
          <a:xfrm>
            <a:off x="9202153" y="419711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9" name="Google Shape;919;p49"/>
          <p:cNvCxnSpPr>
            <a:stCxn id="918" idx="3"/>
            <a:endCxn id="920" idx="1"/>
          </p:cNvCxnSpPr>
          <p:nvPr/>
        </p:nvCxnSpPr>
        <p:spPr>
          <a:xfrm flipH="1" rot="10800000">
            <a:off x="9712693" y="436460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0" name="Google Shape;920;p49"/>
          <p:cNvSpPr/>
          <p:nvPr/>
        </p:nvSpPr>
        <p:spPr>
          <a:xfrm>
            <a:off x="10173702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1" name="Google Shape;921;p49"/>
          <p:cNvCxnSpPr>
            <a:endCxn id="922" idx="1"/>
          </p:cNvCxnSpPr>
          <p:nvPr/>
        </p:nvCxnSpPr>
        <p:spPr>
          <a:xfrm flipH="1" rot="10800000">
            <a:off x="10659388" y="4364752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2" name="Google Shape;922;p49"/>
          <p:cNvSpPr/>
          <p:nvPr/>
        </p:nvSpPr>
        <p:spPr>
          <a:xfrm>
            <a:off x="11120488" y="4178062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3" name="Google Shape;923;p49"/>
          <p:cNvCxnSpPr>
            <a:endCxn id="924" idx="1"/>
          </p:cNvCxnSpPr>
          <p:nvPr/>
        </p:nvCxnSpPr>
        <p:spPr>
          <a:xfrm>
            <a:off x="8680453" y="4842576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4" name="Google Shape;924;p49"/>
          <p:cNvSpPr/>
          <p:nvPr/>
        </p:nvSpPr>
        <p:spPr>
          <a:xfrm>
            <a:off x="9202153" y="465588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5" name="Google Shape;925;p49"/>
          <p:cNvCxnSpPr>
            <a:stCxn id="924" idx="3"/>
            <a:endCxn id="926" idx="1"/>
          </p:cNvCxnSpPr>
          <p:nvPr/>
        </p:nvCxnSpPr>
        <p:spPr>
          <a:xfrm flipH="1" rot="10800000">
            <a:off x="9712693" y="482337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6" name="Google Shape;926;p49"/>
          <p:cNvSpPr/>
          <p:nvPr/>
        </p:nvSpPr>
        <p:spPr>
          <a:xfrm>
            <a:off x="10173702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7" name="Google Shape;927;p49"/>
          <p:cNvCxnSpPr>
            <a:endCxn id="928" idx="1"/>
          </p:cNvCxnSpPr>
          <p:nvPr/>
        </p:nvCxnSpPr>
        <p:spPr>
          <a:xfrm flipH="1" rot="10800000">
            <a:off x="10659388" y="4823526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28" name="Google Shape;928;p49"/>
          <p:cNvSpPr/>
          <p:nvPr/>
        </p:nvSpPr>
        <p:spPr>
          <a:xfrm>
            <a:off x="11120488" y="4636836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9" name="Google Shape;929;p49"/>
          <p:cNvCxnSpPr>
            <a:endCxn id="930" idx="1"/>
          </p:cNvCxnSpPr>
          <p:nvPr/>
        </p:nvCxnSpPr>
        <p:spPr>
          <a:xfrm>
            <a:off x="8680453" y="5301350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0" name="Google Shape;930;p49"/>
          <p:cNvSpPr/>
          <p:nvPr/>
        </p:nvSpPr>
        <p:spPr>
          <a:xfrm>
            <a:off x="9202153" y="511466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1" name="Google Shape;931;p49"/>
          <p:cNvCxnSpPr>
            <a:stCxn id="930" idx="3"/>
            <a:endCxn id="932" idx="1"/>
          </p:cNvCxnSpPr>
          <p:nvPr/>
        </p:nvCxnSpPr>
        <p:spPr>
          <a:xfrm flipH="1" rot="10800000">
            <a:off x="9712693" y="528215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2" name="Google Shape;932;p49"/>
          <p:cNvSpPr/>
          <p:nvPr/>
        </p:nvSpPr>
        <p:spPr>
          <a:xfrm>
            <a:off x="10173702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3" name="Google Shape;933;p49"/>
          <p:cNvCxnSpPr>
            <a:endCxn id="934" idx="1"/>
          </p:cNvCxnSpPr>
          <p:nvPr/>
        </p:nvCxnSpPr>
        <p:spPr>
          <a:xfrm flipH="1" rot="10800000">
            <a:off x="10659388" y="528230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4" name="Google Shape;934;p49"/>
          <p:cNvSpPr/>
          <p:nvPr/>
        </p:nvSpPr>
        <p:spPr>
          <a:xfrm>
            <a:off x="11120488" y="509561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5" name="Google Shape;935;p49"/>
          <p:cNvCxnSpPr>
            <a:endCxn id="936" idx="1"/>
          </p:cNvCxnSpPr>
          <p:nvPr/>
        </p:nvCxnSpPr>
        <p:spPr>
          <a:xfrm>
            <a:off x="8680453" y="5573524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6" name="Google Shape;936;p49"/>
          <p:cNvSpPr/>
          <p:nvPr/>
        </p:nvSpPr>
        <p:spPr>
          <a:xfrm>
            <a:off x="9202153" y="557343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7" name="Google Shape;937;p49"/>
          <p:cNvCxnSpPr>
            <a:stCxn id="936" idx="3"/>
            <a:endCxn id="938" idx="1"/>
          </p:cNvCxnSpPr>
          <p:nvPr/>
        </p:nvCxnSpPr>
        <p:spPr>
          <a:xfrm flipH="1" rot="10800000">
            <a:off x="9712693" y="574092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8" name="Google Shape;938;p49"/>
          <p:cNvSpPr/>
          <p:nvPr/>
        </p:nvSpPr>
        <p:spPr>
          <a:xfrm>
            <a:off x="10173702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9" name="Google Shape;939;p49"/>
          <p:cNvCxnSpPr>
            <a:endCxn id="940" idx="1"/>
          </p:cNvCxnSpPr>
          <p:nvPr/>
        </p:nvCxnSpPr>
        <p:spPr>
          <a:xfrm flipH="1" rot="10800000">
            <a:off x="10659388" y="5741074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0" name="Google Shape;940;p49"/>
          <p:cNvSpPr/>
          <p:nvPr/>
        </p:nvSpPr>
        <p:spPr>
          <a:xfrm>
            <a:off x="11120488" y="5554384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1" name="Google Shape;941;p49"/>
          <p:cNvCxnSpPr>
            <a:endCxn id="942" idx="1"/>
          </p:cNvCxnSpPr>
          <p:nvPr/>
        </p:nvCxnSpPr>
        <p:spPr>
          <a:xfrm>
            <a:off x="8680453" y="6029117"/>
            <a:ext cx="521700" cy="186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2" name="Google Shape;942;p49"/>
          <p:cNvSpPr/>
          <p:nvPr/>
        </p:nvSpPr>
        <p:spPr>
          <a:xfrm>
            <a:off x="9202153" y="602902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3" name="Google Shape;943;p49"/>
          <p:cNvCxnSpPr>
            <a:stCxn id="942" idx="3"/>
            <a:endCxn id="944" idx="1"/>
          </p:cNvCxnSpPr>
          <p:nvPr/>
        </p:nvCxnSpPr>
        <p:spPr>
          <a:xfrm flipH="1" rot="10800000">
            <a:off x="9712693" y="619651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4" name="Google Shape;944;p49"/>
          <p:cNvSpPr/>
          <p:nvPr/>
        </p:nvSpPr>
        <p:spPr>
          <a:xfrm>
            <a:off x="10173702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5" name="Google Shape;945;p49"/>
          <p:cNvCxnSpPr>
            <a:endCxn id="946" idx="1"/>
          </p:cNvCxnSpPr>
          <p:nvPr/>
        </p:nvCxnSpPr>
        <p:spPr>
          <a:xfrm flipH="1" rot="10800000">
            <a:off x="10659388" y="6196667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6" name="Google Shape;946;p49"/>
          <p:cNvSpPr/>
          <p:nvPr/>
        </p:nvSpPr>
        <p:spPr>
          <a:xfrm>
            <a:off x="11120488" y="6009977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7" name="Google Shape;947;p49"/>
          <p:cNvCxnSpPr>
            <a:endCxn id="948" idx="1"/>
          </p:cNvCxnSpPr>
          <p:nvPr/>
        </p:nvCxnSpPr>
        <p:spPr>
          <a:xfrm>
            <a:off x="8680453" y="6402510"/>
            <a:ext cx="521700" cy="268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48" name="Google Shape;948;p49"/>
          <p:cNvSpPr/>
          <p:nvPr/>
        </p:nvSpPr>
        <p:spPr>
          <a:xfrm>
            <a:off x="9202153" y="648462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9" name="Google Shape;949;p49"/>
          <p:cNvCxnSpPr>
            <a:stCxn id="948" idx="3"/>
            <a:endCxn id="950" idx="1"/>
          </p:cNvCxnSpPr>
          <p:nvPr/>
        </p:nvCxnSpPr>
        <p:spPr>
          <a:xfrm flipH="1" rot="10800000">
            <a:off x="9712693" y="665211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0" name="Google Shape;950;p49"/>
          <p:cNvSpPr/>
          <p:nvPr/>
        </p:nvSpPr>
        <p:spPr>
          <a:xfrm>
            <a:off x="10173702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1" name="Google Shape;951;p49"/>
          <p:cNvCxnSpPr>
            <a:endCxn id="952" idx="1"/>
          </p:cNvCxnSpPr>
          <p:nvPr/>
        </p:nvCxnSpPr>
        <p:spPr>
          <a:xfrm flipH="1" rot="10800000">
            <a:off x="10659388" y="6652260"/>
            <a:ext cx="461100" cy="19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52" name="Google Shape;952;p49"/>
          <p:cNvSpPr/>
          <p:nvPr/>
        </p:nvSpPr>
        <p:spPr>
          <a:xfrm>
            <a:off x="11120488" y="6465570"/>
            <a:ext cx="510540" cy="37338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49"/>
          <p:cNvSpPr/>
          <p:nvPr/>
        </p:nvSpPr>
        <p:spPr>
          <a:xfrm rot="-4481318">
            <a:off x="7125443" y="4441747"/>
            <a:ext cx="311182" cy="645464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955" name="Google Shape;955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0"/>
          <p:cNvSpPr txBox="1"/>
          <p:nvPr>
            <p:ph type="title"/>
          </p:nvPr>
        </p:nvSpPr>
        <p:spPr>
          <a:xfrm>
            <a:off x="838200" y="365125"/>
            <a:ext cx="1100087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Time required for successful search</a:t>
            </a:r>
            <a:br>
              <a:rPr lang="en-US"/>
            </a:br>
            <a:endParaRPr/>
          </a:p>
        </p:txBody>
      </p:sp>
      <p:sp>
        <p:nvSpPr>
          <p:cNvPr id="961" name="Google Shape;961;p5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will take on average 1+</a:t>
            </a:r>
            <a:r>
              <a:rPr b="1" lang="en-US"/>
              <a:t> α/2</a:t>
            </a:r>
            <a:r>
              <a:rPr lang="en-US"/>
              <a:t> units of time for the search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Thus the expected time here is also: O(1+</a:t>
            </a:r>
            <a:r>
              <a:rPr b="1" lang="en-US"/>
              <a:t> α</a:t>
            </a:r>
            <a:r>
              <a:rPr lang="en-US"/>
              <a:t>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62" name="Google Shape;962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963" name="Google Shape;963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5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6.Hash Functions</a:t>
            </a:r>
            <a:endParaRPr/>
          </a:p>
        </p:txBody>
      </p:sp>
      <p:sp>
        <p:nvSpPr>
          <p:cNvPr id="969" name="Google Shape;969;p5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970" name="Google Shape;970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971" name="Google Shape;971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5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Some example hash functions</a:t>
            </a:r>
            <a:endParaRPr/>
          </a:p>
        </p:txBody>
      </p:sp>
      <p:sp>
        <p:nvSpPr>
          <p:cNvPr id="977" name="Google Shape;977;p5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1. h(k) = floor(km)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 the keys are fractional numbers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multiplication of fractional numbers with the table size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2. h(k)=k mod m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 the keys are integers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resulting index is limited within the table size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3. h(k)=floor(m* (kA mod 1) 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Keys are integers.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is a fraction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 is the table size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4. Using strings as keys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have all seen how we use strings to store values in maps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a key value pair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 the strings are converted into numbers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example: </a:t>
            </a:r>
            <a:r>
              <a:rPr b="1" lang="en-US"/>
              <a:t>pt</a:t>
            </a:r>
            <a:r>
              <a:rPr lang="en-US"/>
              <a:t> becomes : </a:t>
            </a:r>
            <a:r>
              <a:rPr b="1" lang="en-US"/>
              <a:t>112</a:t>
            </a:r>
            <a:r>
              <a:rPr lang="en-US"/>
              <a:t>.128+</a:t>
            </a:r>
            <a:r>
              <a:rPr b="1" lang="en-US"/>
              <a:t>116</a:t>
            </a:r>
            <a:r>
              <a:rPr lang="en-US"/>
              <a:t>=14452</a:t>
            </a:r>
            <a:endParaRPr/>
          </a:p>
        </p:txBody>
      </p:sp>
      <p:sp>
        <p:nvSpPr>
          <p:cNvPr id="978" name="Google Shape;978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979" name="Google Shape;979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5" name="Google Shape;985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1. h(k) = floor(km)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 the keys are fractional numbers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multiplication of fractional numbers with the table size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2. h(k)=k mod m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 the keys are integers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resulting index is limited within the table size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3. h(k)=floor(m* (kA mod 1) 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Keys are integers.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is a fraction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 is the table size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4. Using strings as keys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have all seen how we use strings to store values in maps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is a key value pair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 the strings are converted into numbers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example: </a:t>
            </a:r>
            <a:r>
              <a:rPr b="1" lang="en-US"/>
              <a:t>pt</a:t>
            </a:r>
            <a:r>
              <a:rPr lang="en-US"/>
              <a:t> becomes : </a:t>
            </a:r>
            <a:r>
              <a:rPr b="1" lang="en-US"/>
              <a:t>112</a:t>
            </a:r>
            <a:r>
              <a:rPr lang="en-US"/>
              <a:t>.128+</a:t>
            </a:r>
            <a:r>
              <a:rPr b="1" lang="en-US"/>
              <a:t>116</a:t>
            </a:r>
            <a:r>
              <a:rPr lang="en-US"/>
              <a:t>=14452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986" name="Google Shape;986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987" name="Google Shape;987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7.Probing</a:t>
            </a:r>
            <a:endParaRPr/>
          </a:p>
        </p:txBody>
      </p:sp>
      <p:sp>
        <p:nvSpPr>
          <p:cNvPr id="993" name="Google Shape;993;p5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And Open Addressing</a:t>
            </a:r>
            <a:endParaRPr/>
          </a:p>
        </p:txBody>
      </p:sp>
      <p:sp>
        <p:nvSpPr>
          <p:cNvPr id="994" name="Google Shape;994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995" name="Google Shape;995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 Addressing</a:t>
            </a:r>
            <a:endParaRPr/>
          </a:p>
        </p:txBody>
      </p:sp>
      <p:sp>
        <p:nvSpPr>
          <p:cNvPr id="1001" name="Google Shape;1001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Basic idea: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To insert: if slot is full, try another slot, …, until an open slot is found (</a:t>
            </a:r>
            <a:r>
              <a:rPr i="1" lang="en-US">
                <a:solidFill>
                  <a:schemeClr val="dk2"/>
                </a:solidFill>
              </a:rPr>
              <a:t>probing</a:t>
            </a:r>
            <a:r>
              <a:rPr lang="en-US"/>
              <a:t>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entire object is placed inside the table, rather than storing its pointer (</a:t>
            </a:r>
            <a:r>
              <a:rPr i="1" lang="en-US">
                <a:solidFill>
                  <a:schemeClr val="dk2"/>
                </a:solidFill>
              </a:rPr>
              <a:t>open addressing</a:t>
            </a:r>
            <a:r>
              <a:rPr lang="en-US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Three kinds of probing we will discuss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1. Linear Probing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2. Quadratic Probing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3.  Double Hashing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002" name="Google Shape;1002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003" name="Google Shape;1003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Linear Probing</a:t>
            </a:r>
            <a:endParaRPr/>
          </a:p>
        </p:txBody>
      </p:sp>
      <p:sp>
        <p:nvSpPr>
          <p:cNvPr id="1009" name="Google Shape;1009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hash function : </a:t>
            </a:r>
            <a:r>
              <a:rPr b="1" i="1" lang="en-US"/>
              <a:t>h'</a:t>
            </a:r>
            <a:r>
              <a:rPr lang="en-US"/>
              <a:t>(</a:t>
            </a:r>
            <a:r>
              <a:rPr b="1" i="1" lang="en-US"/>
              <a:t>k</a:t>
            </a:r>
            <a:r>
              <a:rPr lang="en-US"/>
              <a:t>)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="1" i="1" lang="en-US"/>
              <a:t> k </a:t>
            </a:r>
            <a:r>
              <a:rPr lang="en-US"/>
              <a:t>mod</a:t>
            </a:r>
            <a:r>
              <a:rPr b="1" i="1" lang="en-US"/>
              <a:t> </a:t>
            </a:r>
            <a:r>
              <a:rPr lang="en-US"/>
              <a:t>13 //m=13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Introducing the probe: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h</a:t>
            </a:r>
            <a:r>
              <a:rPr lang="en-US"/>
              <a:t>(</a:t>
            </a:r>
            <a:r>
              <a:rPr i="1" lang="en-US"/>
              <a:t>k</a:t>
            </a:r>
            <a:r>
              <a:rPr lang="en-US"/>
              <a:t>, </a:t>
            </a:r>
            <a:r>
              <a:rPr i="1" lang="en-US"/>
              <a:t>i</a:t>
            </a:r>
            <a:r>
              <a:rPr lang="en-US"/>
              <a:t>) = (</a:t>
            </a:r>
            <a:r>
              <a:rPr b="1" i="1" lang="en-US"/>
              <a:t>h'</a:t>
            </a:r>
            <a:r>
              <a:rPr lang="en-US"/>
              <a:t>(</a:t>
            </a:r>
            <a:r>
              <a:rPr b="1" i="1" lang="en-US"/>
              <a:t>k</a:t>
            </a:r>
            <a:r>
              <a:rPr lang="en-US"/>
              <a:t>) +</a:t>
            </a:r>
            <a:r>
              <a:rPr i="1" lang="en-US"/>
              <a:t> i</a:t>
            </a:r>
            <a:r>
              <a:rPr lang="en-US"/>
              <a:t>) mod 13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for insertion: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Insert keys 18, 41, 22, 44, 59, 32, 31, 73</a:t>
            </a:r>
            <a:endParaRPr/>
          </a:p>
        </p:txBody>
      </p:sp>
      <p:sp>
        <p:nvSpPr>
          <p:cNvPr id="1010" name="Google Shape;1010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011" name="Google Shape;1011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Linear Probing</a:t>
            </a:r>
            <a:endParaRPr/>
          </a:p>
        </p:txBody>
      </p:sp>
      <p:sp>
        <p:nvSpPr>
          <p:cNvPr id="1017" name="Google Shape;1017;p5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hash function : </a:t>
            </a:r>
            <a:r>
              <a:rPr b="1" i="1" lang="en-US"/>
              <a:t>h'</a:t>
            </a:r>
            <a:r>
              <a:rPr lang="en-US"/>
              <a:t>(</a:t>
            </a:r>
            <a:r>
              <a:rPr b="1" i="1" lang="en-US"/>
              <a:t>k</a:t>
            </a:r>
            <a:r>
              <a:rPr lang="en-US"/>
              <a:t>)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="1" i="1" lang="en-US"/>
              <a:t> k </a:t>
            </a:r>
            <a:r>
              <a:rPr lang="en-US"/>
              <a:t>mod</a:t>
            </a:r>
            <a:r>
              <a:rPr b="1" i="1" lang="en-US"/>
              <a:t> </a:t>
            </a:r>
            <a:r>
              <a:rPr lang="en-US"/>
              <a:t>13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Introducing the probe: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h</a:t>
            </a:r>
            <a:r>
              <a:rPr lang="en-US"/>
              <a:t>(</a:t>
            </a:r>
            <a:r>
              <a:rPr i="1" lang="en-US"/>
              <a:t>k</a:t>
            </a:r>
            <a:r>
              <a:rPr lang="en-US"/>
              <a:t>, </a:t>
            </a:r>
            <a:r>
              <a:rPr i="1" lang="en-US"/>
              <a:t>i</a:t>
            </a:r>
            <a:r>
              <a:rPr lang="en-US"/>
              <a:t>) = (</a:t>
            </a:r>
            <a:r>
              <a:rPr b="1" i="1" lang="en-US"/>
              <a:t>h'</a:t>
            </a:r>
            <a:r>
              <a:rPr lang="en-US"/>
              <a:t>(</a:t>
            </a:r>
            <a:r>
              <a:rPr b="1" i="1" lang="en-US"/>
              <a:t>k</a:t>
            </a:r>
            <a:r>
              <a:rPr lang="en-US"/>
              <a:t>) +</a:t>
            </a:r>
            <a:r>
              <a:rPr i="1" lang="en-US"/>
              <a:t> i</a:t>
            </a:r>
            <a:r>
              <a:rPr lang="en-US"/>
              <a:t>) mod 13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for insertion: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Insert keys 18, 41, 22, 44, 59, 32, 31, 73</a:t>
            </a:r>
            <a:endParaRPr/>
          </a:p>
        </p:txBody>
      </p:sp>
      <p:sp>
        <p:nvSpPr>
          <p:cNvPr id="1018" name="Google Shape;1018;p57"/>
          <p:cNvSpPr/>
          <p:nvPr/>
        </p:nvSpPr>
        <p:spPr>
          <a:xfrm>
            <a:off x="40666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19" name="Google Shape;1019;p57"/>
          <p:cNvSpPr/>
          <p:nvPr/>
        </p:nvSpPr>
        <p:spPr>
          <a:xfrm>
            <a:off x="43714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20" name="Google Shape;1020;p57"/>
          <p:cNvSpPr/>
          <p:nvPr/>
        </p:nvSpPr>
        <p:spPr>
          <a:xfrm>
            <a:off x="46762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21" name="Google Shape;1021;p57"/>
          <p:cNvSpPr/>
          <p:nvPr/>
        </p:nvSpPr>
        <p:spPr>
          <a:xfrm>
            <a:off x="49810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22" name="Google Shape;1022;p57"/>
          <p:cNvSpPr/>
          <p:nvPr/>
        </p:nvSpPr>
        <p:spPr>
          <a:xfrm>
            <a:off x="52858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23" name="Google Shape;1023;p57"/>
          <p:cNvSpPr/>
          <p:nvPr/>
        </p:nvSpPr>
        <p:spPr>
          <a:xfrm>
            <a:off x="55906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24" name="Google Shape;1024;p57"/>
          <p:cNvSpPr/>
          <p:nvPr/>
        </p:nvSpPr>
        <p:spPr>
          <a:xfrm>
            <a:off x="58954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25" name="Google Shape;1025;p57"/>
          <p:cNvSpPr/>
          <p:nvPr/>
        </p:nvSpPr>
        <p:spPr>
          <a:xfrm>
            <a:off x="62002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26" name="Google Shape;1026;p57"/>
          <p:cNvSpPr/>
          <p:nvPr/>
        </p:nvSpPr>
        <p:spPr>
          <a:xfrm>
            <a:off x="65050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  <p:sp>
        <p:nvSpPr>
          <p:cNvPr id="1027" name="Google Shape;1027;p57"/>
          <p:cNvSpPr/>
          <p:nvPr/>
        </p:nvSpPr>
        <p:spPr>
          <a:xfrm>
            <a:off x="68098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28" name="Google Shape;1028;p57"/>
          <p:cNvSpPr/>
          <p:nvPr/>
        </p:nvSpPr>
        <p:spPr>
          <a:xfrm>
            <a:off x="71146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29" name="Google Shape;1029;p57"/>
          <p:cNvSpPr/>
          <p:nvPr/>
        </p:nvSpPr>
        <p:spPr>
          <a:xfrm>
            <a:off x="74194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30" name="Google Shape;1030;p57"/>
          <p:cNvSpPr/>
          <p:nvPr/>
        </p:nvSpPr>
        <p:spPr>
          <a:xfrm>
            <a:off x="77242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31" name="Google Shape;1031;p57"/>
          <p:cNvSpPr txBox="1"/>
          <p:nvPr/>
        </p:nvSpPr>
        <p:spPr>
          <a:xfrm>
            <a:off x="406984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32" name="Google Shape;1032;p57"/>
          <p:cNvSpPr txBox="1"/>
          <p:nvPr/>
        </p:nvSpPr>
        <p:spPr>
          <a:xfrm>
            <a:off x="437147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33" name="Google Shape;1033;p57"/>
          <p:cNvSpPr txBox="1"/>
          <p:nvPr/>
        </p:nvSpPr>
        <p:spPr>
          <a:xfrm>
            <a:off x="467309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34" name="Google Shape;1034;p57"/>
          <p:cNvSpPr txBox="1"/>
          <p:nvPr/>
        </p:nvSpPr>
        <p:spPr>
          <a:xfrm>
            <a:off x="497472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35" name="Google Shape;1035;p57"/>
          <p:cNvSpPr txBox="1"/>
          <p:nvPr/>
        </p:nvSpPr>
        <p:spPr>
          <a:xfrm>
            <a:off x="527634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36" name="Google Shape;1036;p57"/>
          <p:cNvSpPr txBox="1"/>
          <p:nvPr/>
        </p:nvSpPr>
        <p:spPr>
          <a:xfrm>
            <a:off x="557797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37" name="Google Shape;1037;p57"/>
          <p:cNvSpPr txBox="1"/>
          <p:nvPr/>
        </p:nvSpPr>
        <p:spPr>
          <a:xfrm>
            <a:off x="587959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38" name="Google Shape;1038;p57"/>
          <p:cNvSpPr txBox="1"/>
          <p:nvPr/>
        </p:nvSpPr>
        <p:spPr>
          <a:xfrm>
            <a:off x="618122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039" name="Google Shape;1039;p57"/>
          <p:cNvSpPr txBox="1"/>
          <p:nvPr/>
        </p:nvSpPr>
        <p:spPr>
          <a:xfrm>
            <a:off x="648284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040" name="Google Shape;1040;p57"/>
          <p:cNvSpPr txBox="1"/>
          <p:nvPr/>
        </p:nvSpPr>
        <p:spPr>
          <a:xfrm>
            <a:off x="678447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041" name="Google Shape;1041;p57"/>
          <p:cNvSpPr txBox="1"/>
          <p:nvPr/>
        </p:nvSpPr>
        <p:spPr>
          <a:xfrm>
            <a:off x="7028949" y="49670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042" name="Google Shape;1042;p57"/>
          <p:cNvSpPr txBox="1"/>
          <p:nvPr/>
        </p:nvSpPr>
        <p:spPr>
          <a:xfrm>
            <a:off x="7330574" y="49670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043" name="Google Shape;1043;p57"/>
          <p:cNvSpPr txBox="1"/>
          <p:nvPr/>
        </p:nvSpPr>
        <p:spPr>
          <a:xfrm>
            <a:off x="7632199" y="49670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044" name="Google Shape;1044;p57"/>
          <p:cNvSpPr/>
          <p:nvPr/>
        </p:nvSpPr>
        <p:spPr>
          <a:xfrm>
            <a:off x="40666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45" name="Google Shape;1045;p57"/>
          <p:cNvSpPr/>
          <p:nvPr/>
        </p:nvSpPr>
        <p:spPr>
          <a:xfrm>
            <a:off x="43714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46" name="Google Shape;1046;p57"/>
          <p:cNvSpPr/>
          <p:nvPr/>
        </p:nvSpPr>
        <p:spPr>
          <a:xfrm>
            <a:off x="46762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</a:t>
            </a:r>
            <a:endParaRPr/>
          </a:p>
        </p:txBody>
      </p:sp>
      <p:sp>
        <p:nvSpPr>
          <p:cNvPr id="1047" name="Google Shape;1047;p57"/>
          <p:cNvSpPr/>
          <p:nvPr/>
        </p:nvSpPr>
        <p:spPr>
          <a:xfrm>
            <a:off x="49810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48" name="Google Shape;1048;p57"/>
          <p:cNvSpPr/>
          <p:nvPr/>
        </p:nvSpPr>
        <p:spPr>
          <a:xfrm>
            <a:off x="52858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49" name="Google Shape;1049;p57"/>
          <p:cNvSpPr/>
          <p:nvPr/>
        </p:nvSpPr>
        <p:spPr>
          <a:xfrm>
            <a:off x="55906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</p:txBody>
      </p:sp>
      <p:sp>
        <p:nvSpPr>
          <p:cNvPr id="1050" name="Google Shape;1050;p57"/>
          <p:cNvSpPr/>
          <p:nvPr/>
        </p:nvSpPr>
        <p:spPr>
          <a:xfrm>
            <a:off x="58954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44</a:t>
            </a:r>
            <a:endParaRPr/>
          </a:p>
        </p:txBody>
      </p:sp>
      <p:sp>
        <p:nvSpPr>
          <p:cNvPr id="1051" name="Google Shape;1051;p57"/>
          <p:cNvSpPr/>
          <p:nvPr/>
        </p:nvSpPr>
        <p:spPr>
          <a:xfrm>
            <a:off x="62002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</a:t>
            </a:r>
            <a:endParaRPr/>
          </a:p>
        </p:txBody>
      </p:sp>
      <p:sp>
        <p:nvSpPr>
          <p:cNvPr id="1052" name="Google Shape;1052;p57"/>
          <p:cNvSpPr/>
          <p:nvPr/>
        </p:nvSpPr>
        <p:spPr>
          <a:xfrm>
            <a:off x="65050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/>
          </a:p>
        </p:txBody>
      </p:sp>
      <p:sp>
        <p:nvSpPr>
          <p:cNvPr id="1053" name="Google Shape;1053;p57"/>
          <p:cNvSpPr/>
          <p:nvPr/>
        </p:nvSpPr>
        <p:spPr>
          <a:xfrm>
            <a:off x="68098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/>
          </a:p>
        </p:txBody>
      </p:sp>
      <p:sp>
        <p:nvSpPr>
          <p:cNvPr id="1054" name="Google Shape;1054;p57"/>
          <p:cNvSpPr/>
          <p:nvPr/>
        </p:nvSpPr>
        <p:spPr>
          <a:xfrm>
            <a:off x="71146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/>
          </a:p>
        </p:txBody>
      </p:sp>
      <p:sp>
        <p:nvSpPr>
          <p:cNvPr id="1055" name="Google Shape;1055;p57"/>
          <p:cNvSpPr/>
          <p:nvPr/>
        </p:nvSpPr>
        <p:spPr>
          <a:xfrm>
            <a:off x="74194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</a:t>
            </a:r>
            <a:endParaRPr/>
          </a:p>
        </p:txBody>
      </p:sp>
      <p:sp>
        <p:nvSpPr>
          <p:cNvPr id="1056" name="Google Shape;1056;p57"/>
          <p:cNvSpPr/>
          <p:nvPr/>
        </p:nvSpPr>
        <p:spPr>
          <a:xfrm>
            <a:off x="77242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057" name="Google Shape;1057;p57"/>
          <p:cNvSpPr txBox="1"/>
          <p:nvPr/>
        </p:nvSpPr>
        <p:spPr>
          <a:xfrm>
            <a:off x="406984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058" name="Google Shape;1058;p57"/>
          <p:cNvSpPr txBox="1"/>
          <p:nvPr/>
        </p:nvSpPr>
        <p:spPr>
          <a:xfrm>
            <a:off x="437147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059" name="Google Shape;1059;p57"/>
          <p:cNvSpPr txBox="1"/>
          <p:nvPr/>
        </p:nvSpPr>
        <p:spPr>
          <a:xfrm>
            <a:off x="467309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060" name="Google Shape;1060;p57"/>
          <p:cNvSpPr txBox="1"/>
          <p:nvPr/>
        </p:nvSpPr>
        <p:spPr>
          <a:xfrm>
            <a:off x="497472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061" name="Google Shape;1061;p57"/>
          <p:cNvSpPr txBox="1"/>
          <p:nvPr/>
        </p:nvSpPr>
        <p:spPr>
          <a:xfrm>
            <a:off x="527634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062" name="Google Shape;1062;p57"/>
          <p:cNvSpPr txBox="1"/>
          <p:nvPr/>
        </p:nvSpPr>
        <p:spPr>
          <a:xfrm>
            <a:off x="557797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063" name="Google Shape;1063;p57"/>
          <p:cNvSpPr txBox="1"/>
          <p:nvPr/>
        </p:nvSpPr>
        <p:spPr>
          <a:xfrm>
            <a:off x="587959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064" name="Google Shape;1064;p57"/>
          <p:cNvSpPr txBox="1"/>
          <p:nvPr/>
        </p:nvSpPr>
        <p:spPr>
          <a:xfrm>
            <a:off x="618122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065" name="Google Shape;1065;p57"/>
          <p:cNvSpPr txBox="1"/>
          <p:nvPr/>
        </p:nvSpPr>
        <p:spPr>
          <a:xfrm>
            <a:off x="648284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066" name="Google Shape;1066;p57"/>
          <p:cNvSpPr txBox="1"/>
          <p:nvPr/>
        </p:nvSpPr>
        <p:spPr>
          <a:xfrm>
            <a:off x="678447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1067" name="Google Shape;1067;p57"/>
          <p:cNvSpPr txBox="1"/>
          <p:nvPr/>
        </p:nvSpPr>
        <p:spPr>
          <a:xfrm>
            <a:off x="7028949" y="61862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1068" name="Google Shape;1068;p57"/>
          <p:cNvSpPr txBox="1"/>
          <p:nvPr/>
        </p:nvSpPr>
        <p:spPr>
          <a:xfrm>
            <a:off x="7330574" y="61862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1069" name="Google Shape;1069;p57"/>
          <p:cNvSpPr txBox="1"/>
          <p:nvPr/>
        </p:nvSpPr>
        <p:spPr>
          <a:xfrm>
            <a:off x="7632199" y="61862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1070" name="Google Shape;1070;p57"/>
          <p:cNvSpPr/>
          <p:nvPr/>
        </p:nvSpPr>
        <p:spPr>
          <a:xfrm>
            <a:off x="5895474" y="5386137"/>
            <a:ext cx="304800" cy="304800"/>
          </a:xfrm>
          <a:prstGeom prst="downArrow">
            <a:avLst>
              <a:gd fmla="val 50000" name="adj1"/>
              <a:gd fmla="val 25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1" name="Google Shape;1071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072" name="Google Shape;1072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Linear Probing</a:t>
            </a:r>
            <a:endParaRPr/>
          </a:p>
        </p:txBody>
      </p:sp>
      <p:sp>
        <p:nvSpPr>
          <p:cNvPr id="1078" name="Google Shape;1078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hash function : </a:t>
            </a:r>
            <a:r>
              <a:rPr b="1" i="1" lang="en-US"/>
              <a:t>h'</a:t>
            </a:r>
            <a:r>
              <a:rPr lang="en-US"/>
              <a:t>(</a:t>
            </a:r>
            <a:r>
              <a:rPr b="1" i="1" lang="en-US"/>
              <a:t>k</a:t>
            </a:r>
            <a:r>
              <a:rPr lang="en-US"/>
              <a:t>)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="1" i="1" lang="en-US"/>
              <a:t> k </a:t>
            </a:r>
            <a:r>
              <a:rPr lang="en-US"/>
              <a:t>mod</a:t>
            </a:r>
            <a:r>
              <a:rPr b="1" i="1" lang="en-US"/>
              <a:t> </a:t>
            </a:r>
            <a:r>
              <a:rPr lang="en-US"/>
              <a:t>13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Introducing the probe: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h</a:t>
            </a:r>
            <a:r>
              <a:rPr lang="en-US"/>
              <a:t>(</a:t>
            </a:r>
            <a:r>
              <a:rPr i="1" lang="en-US"/>
              <a:t>k</a:t>
            </a:r>
            <a:r>
              <a:rPr lang="en-US"/>
              <a:t>, </a:t>
            </a:r>
            <a:r>
              <a:rPr i="1" lang="en-US"/>
              <a:t>i</a:t>
            </a:r>
            <a:r>
              <a:rPr lang="en-US"/>
              <a:t>) = (</a:t>
            </a:r>
            <a:r>
              <a:rPr b="1" i="1" lang="en-US"/>
              <a:t>h'</a:t>
            </a:r>
            <a:r>
              <a:rPr lang="en-US"/>
              <a:t>(</a:t>
            </a:r>
            <a:r>
              <a:rPr b="1" i="1" lang="en-US"/>
              <a:t>k</a:t>
            </a:r>
            <a:r>
              <a:rPr lang="en-US"/>
              <a:t>) +</a:t>
            </a:r>
            <a:r>
              <a:rPr i="1" lang="en-US"/>
              <a:t> i</a:t>
            </a:r>
            <a:r>
              <a:rPr lang="en-US"/>
              <a:t>) mod 13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for insertion: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Insert keys 18, 41, 22, 44, 59, 32, 31, 73</a:t>
            </a:r>
            <a:endParaRPr/>
          </a:p>
        </p:txBody>
      </p:sp>
      <p:sp>
        <p:nvSpPr>
          <p:cNvPr id="1079" name="Google Shape;1079;p58"/>
          <p:cNvSpPr/>
          <p:nvPr/>
        </p:nvSpPr>
        <p:spPr>
          <a:xfrm>
            <a:off x="40666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80" name="Google Shape;1080;p58"/>
          <p:cNvSpPr/>
          <p:nvPr/>
        </p:nvSpPr>
        <p:spPr>
          <a:xfrm>
            <a:off x="43714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81" name="Google Shape;1081;p58"/>
          <p:cNvSpPr/>
          <p:nvPr/>
        </p:nvSpPr>
        <p:spPr>
          <a:xfrm>
            <a:off x="46762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82" name="Google Shape;1082;p58"/>
          <p:cNvSpPr/>
          <p:nvPr/>
        </p:nvSpPr>
        <p:spPr>
          <a:xfrm>
            <a:off x="49810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83" name="Google Shape;1083;p58"/>
          <p:cNvSpPr/>
          <p:nvPr/>
        </p:nvSpPr>
        <p:spPr>
          <a:xfrm>
            <a:off x="52858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84" name="Google Shape;1084;p58"/>
          <p:cNvSpPr/>
          <p:nvPr/>
        </p:nvSpPr>
        <p:spPr>
          <a:xfrm>
            <a:off x="55906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85" name="Google Shape;1085;p58"/>
          <p:cNvSpPr/>
          <p:nvPr/>
        </p:nvSpPr>
        <p:spPr>
          <a:xfrm>
            <a:off x="58954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86" name="Google Shape;1086;p58"/>
          <p:cNvSpPr/>
          <p:nvPr/>
        </p:nvSpPr>
        <p:spPr>
          <a:xfrm>
            <a:off x="62002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87" name="Google Shape;1087;p58"/>
          <p:cNvSpPr/>
          <p:nvPr/>
        </p:nvSpPr>
        <p:spPr>
          <a:xfrm>
            <a:off x="65050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  <p:sp>
        <p:nvSpPr>
          <p:cNvPr id="1088" name="Google Shape;1088;p58"/>
          <p:cNvSpPr/>
          <p:nvPr/>
        </p:nvSpPr>
        <p:spPr>
          <a:xfrm>
            <a:off x="68098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89" name="Google Shape;1089;p58"/>
          <p:cNvSpPr/>
          <p:nvPr/>
        </p:nvSpPr>
        <p:spPr>
          <a:xfrm>
            <a:off x="71146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90" name="Google Shape;1090;p58"/>
          <p:cNvSpPr/>
          <p:nvPr/>
        </p:nvSpPr>
        <p:spPr>
          <a:xfrm>
            <a:off x="74194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91" name="Google Shape;1091;p58"/>
          <p:cNvSpPr/>
          <p:nvPr/>
        </p:nvSpPr>
        <p:spPr>
          <a:xfrm>
            <a:off x="77242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092" name="Google Shape;1092;p58"/>
          <p:cNvSpPr txBox="1"/>
          <p:nvPr/>
        </p:nvSpPr>
        <p:spPr>
          <a:xfrm>
            <a:off x="406984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93" name="Google Shape;1093;p58"/>
          <p:cNvSpPr txBox="1"/>
          <p:nvPr/>
        </p:nvSpPr>
        <p:spPr>
          <a:xfrm>
            <a:off x="437147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94" name="Google Shape;1094;p58"/>
          <p:cNvSpPr txBox="1"/>
          <p:nvPr/>
        </p:nvSpPr>
        <p:spPr>
          <a:xfrm>
            <a:off x="467309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95" name="Google Shape;1095;p58"/>
          <p:cNvSpPr txBox="1"/>
          <p:nvPr/>
        </p:nvSpPr>
        <p:spPr>
          <a:xfrm>
            <a:off x="497472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96" name="Google Shape;1096;p58"/>
          <p:cNvSpPr txBox="1"/>
          <p:nvPr/>
        </p:nvSpPr>
        <p:spPr>
          <a:xfrm>
            <a:off x="527634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097" name="Google Shape;1097;p58"/>
          <p:cNvSpPr txBox="1"/>
          <p:nvPr/>
        </p:nvSpPr>
        <p:spPr>
          <a:xfrm>
            <a:off x="557797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098" name="Google Shape;1098;p58"/>
          <p:cNvSpPr txBox="1"/>
          <p:nvPr/>
        </p:nvSpPr>
        <p:spPr>
          <a:xfrm>
            <a:off x="587959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099" name="Google Shape;1099;p58"/>
          <p:cNvSpPr txBox="1"/>
          <p:nvPr/>
        </p:nvSpPr>
        <p:spPr>
          <a:xfrm>
            <a:off x="618122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00" name="Google Shape;1100;p58"/>
          <p:cNvSpPr txBox="1"/>
          <p:nvPr/>
        </p:nvSpPr>
        <p:spPr>
          <a:xfrm>
            <a:off x="648284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01" name="Google Shape;1101;p58"/>
          <p:cNvSpPr txBox="1"/>
          <p:nvPr/>
        </p:nvSpPr>
        <p:spPr>
          <a:xfrm>
            <a:off x="678447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02" name="Google Shape;1102;p58"/>
          <p:cNvSpPr txBox="1"/>
          <p:nvPr/>
        </p:nvSpPr>
        <p:spPr>
          <a:xfrm>
            <a:off x="7028949" y="49670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103" name="Google Shape;1103;p58"/>
          <p:cNvSpPr txBox="1"/>
          <p:nvPr/>
        </p:nvSpPr>
        <p:spPr>
          <a:xfrm>
            <a:off x="7330574" y="49670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104" name="Google Shape;1104;p58"/>
          <p:cNvSpPr txBox="1"/>
          <p:nvPr/>
        </p:nvSpPr>
        <p:spPr>
          <a:xfrm>
            <a:off x="7632199" y="49670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105" name="Google Shape;1105;p58"/>
          <p:cNvSpPr/>
          <p:nvPr/>
        </p:nvSpPr>
        <p:spPr>
          <a:xfrm>
            <a:off x="40666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06" name="Google Shape;1106;p58"/>
          <p:cNvSpPr/>
          <p:nvPr/>
        </p:nvSpPr>
        <p:spPr>
          <a:xfrm>
            <a:off x="43714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07" name="Google Shape;1107;p58"/>
          <p:cNvSpPr/>
          <p:nvPr/>
        </p:nvSpPr>
        <p:spPr>
          <a:xfrm>
            <a:off x="46762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</a:t>
            </a:r>
            <a:endParaRPr/>
          </a:p>
        </p:txBody>
      </p:sp>
      <p:sp>
        <p:nvSpPr>
          <p:cNvPr id="1108" name="Google Shape;1108;p58"/>
          <p:cNvSpPr/>
          <p:nvPr/>
        </p:nvSpPr>
        <p:spPr>
          <a:xfrm>
            <a:off x="49810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09" name="Google Shape;1109;p58"/>
          <p:cNvSpPr/>
          <p:nvPr/>
        </p:nvSpPr>
        <p:spPr>
          <a:xfrm>
            <a:off x="52858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10" name="Google Shape;1110;p58"/>
          <p:cNvSpPr/>
          <p:nvPr/>
        </p:nvSpPr>
        <p:spPr>
          <a:xfrm>
            <a:off x="55906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</p:txBody>
      </p:sp>
      <p:sp>
        <p:nvSpPr>
          <p:cNvPr id="1111" name="Google Shape;1111;p58"/>
          <p:cNvSpPr/>
          <p:nvPr/>
        </p:nvSpPr>
        <p:spPr>
          <a:xfrm>
            <a:off x="58954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44</a:t>
            </a:r>
            <a:endParaRPr/>
          </a:p>
        </p:txBody>
      </p:sp>
      <p:sp>
        <p:nvSpPr>
          <p:cNvPr id="1112" name="Google Shape;1112;p58"/>
          <p:cNvSpPr/>
          <p:nvPr/>
        </p:nvSpPr>
        <p:spPr>
          <a:xfrm>
            <a:off x="62002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</a:t>
            </a:r>
            <a:endParaRPr/>
          </a:p>
        </p:txBody>
      </p:sp>
      <p:sp>
        <p:nvSpPr>
          <p:cNvPr id="1113" name="Google Shape;1113;p58"/>
          <p:cNvSpPr/>
          <p:nvPr/>
        </p:nvSpPr>
        <p:spPr>
          <a:xfrm>
            <a:off x="65050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/>
          </a:p>
        </p:txBody>
      </p:sp>
      <p:sp>
        <p:nvSpPr>
          <p:cNvPr id="1114" name="Google Shape;1114;p58"/>
          <p:cNvSpPr/>
          <p:nvPr/>
        </p:nvSpPr>
        <p:spPr>
          <a:xfrm>
            <a:off x="68098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/>
          </a:p>
        </p:txBody>
      </p:sp>
      <p:sp>
        <p:nvSpPr>
          <p:cNvPr id="1115" name="Google Shape;1115;p58"/>
          <p:cNvSpPr/>
          <p:nvPr/>
        </p:nvSpPr>
        <p:spPr>
          <a:xfrm>
            <a:off x="71146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/>
          </a:p>
        </p:txBody>
      </p:sp>
      <p:sp>
        <p:nvSpPr>
          <p:cNvPr id="1116" name="Google Shape;1116;p58"/>
          <p:cNvSpPr/>
          <p:nvPr/>
        </p:nvSpPr>
        <p:spPr>
          <a:xfrm>
            <a:off x="74194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</a:t>
            </a:r>
            <a:endParaRPr/>
          </a:p>
        </p:txBody>
      </p:sp>
      <p:sp>
        <p:nvSpPr>
          <p:cNvPr id="1117" name="Google Shape;1117;p58"/>
          <p:cNvSpPr/>
          <p:nvPr/>
        </p:nvSpPr>
        <p:spPr>
          <a:xfrm>
            <a:off x="77242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18" name="Google Shape;1118;p58"/>
          <p:cNvSpPr txBox="1"/>
          <p:nvPr/>
        </p:nvSpPr>
        <p:spPr>
          <a:xfrm>
            <a:off x="406984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119" name="Google Shape;1119;p58"/>
          <p:cNvSpPr txBox="1"/>
          <p:nvPr/>
        </p:nvSpPr>
        <p:spPr>
          <a:xfrm>
            <a:off x="437147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20" name="Google Shape;1120;p58"/>
          <p:cNvSpPr txBox="1"/>
          <p:nvPr/>
        </p:nvSpPr>
        <p:spPr>
          <a:xfrm>
            <a:off x="467309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121" name="Google Shape;1121;p58"/>
          <p:cNvSpPr txBox="1"/>
          <p:nvPr/>
        </p:nvSpPr>
        <p:spPr>
          <a:xfrm>
            <a:off x="497472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122" name="Google Shape;1122;p58"/>
          <p:cNvSpPr txBox="1"/>
          <p:nvPr/>
        </p:nvSpPr>
        <p:spPr>
          <a:xfrm>
            <a:off x="527634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123" name="Google Shape;1123;p58"/>
          <p:cNvSpPr txBox="1"/>
          <p:nvPr/>
        </p:nvSpPr>
        <p:spPr>
          <a:xfrm>
            <a:off x="557797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124" name="Google Shape;1124;p58"/>
          <p:cNvSpPr txBox="1"/>
          <p:nvPr/>
        </p:nvSpPr>
        <p:spPr>
          <a:xfrm>
            <a:off x="587959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125" name="Google Shape;1125;p58"/>
          <p:cNvSpPr txBox="1"/>
          <p:nvPr/>
        </p:nvSpPr>
        <p:spPr>
          <a:xfrm>
            <a:off x="618122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126" name="Google Shape;1126;p58"/>
          <p:cNvSpPr txBox="1"/>
          <p:nvPr/>
        </p:nvSpPr>
        <p:spPr>
          <a:xfrm>
            <a:off x="648284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127" name="Google Shape;1127;p58"/>
          <p:cNvSpPr txBox="1"/>
          <p:nvPr/>
        </p:nvSpPr>
        <p:spPr>
          <a:xfrm>
            <a:off x="678447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1128" name="Google Shape;1128;p58"/>
          <p:cNvSpPr txBox="1"/>
          <p:nvPr/>
        </p:nvSpPr>
        <p:spPr>
          <a:xfrm>
            <a:off x="7028949" y="61862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1129" name="Google Shape;1129;p58"/>
          <p:cNvSpPr txBox="1"/>
          <p:nvPr/>
        </p:nvSpPr>
        <p:spPr>
          <a:xfrm>
            <a:off x="7330574" y="61862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1130" name="Google Shape;1130;p58"/>
          <p:cNvSpPr txBox="1"/>
          <p:nvPr/>
        </p:nvSpPr>
        <p:spPr>
          <a:xfrm>
            <a:off x="7632199" y="61862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1131" name="Google Shape;1131;p58"/>
          <p:cNvSpPr/>
          <p:nvPr/>
        </p:nvSpPr>
        <p:spPr>
          <a:xfrm>
            <a:off x="5895474" y="5386137"/>
            <a:ext cx="304800" cy="304800"/>
          </a:xfrm>
          <a:prstGeom prst="downArrow">
            <a:avLst>
              <a:gd fmla="val 50000" name="adj1"/>
              <a:gd fmla="val 25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2" name="Google Shape;1132;p58"/>
          <p:cNvSpPr txBox="1"/>
          <p:nvPr/>
        </p:nvSpPr>
        <p:spPr>
          <a:xfrm>
            <a:off x="8033084" y="819633"/>
            <a:ext cx="332071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Suffers from primary clustering: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runs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occupied sequences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up.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runs tend to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longer,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Hence,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search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 times increase.</a:t>
            </a:r>
            <a:endParaRPr/>
          </a:p>
        </p:txBody>
      </p:sp>
      <p:sp>
        <p:nvSpPr>
          <p:cNvPr id="1133" name="Google Shape;1133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134" name="Google Shape;1134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Linear Probing</a:t>
            </a:r>
            <a:endParaRPr/>
          </a:p>
        </p:txBody>
      </p:sp>
      <p:sp>
        <p:nvSpPr>
          <p:cNvPr id="1140" name="Google Shape;1140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hash function : </a:t>
            </a:r>
            <a:r>
              <a:rPr b="1" i="1" lang="en-US"/>
              <a:t>h'</a:t>
            </a:r>
            <a:r>
              <a:rPr lang="en-US"/>
              <a:t>(</a:t>
            </a:r>
            <a:r>
              <a:rPr b="1" i="1" lang="en-US"/>
              <a:t>k</a:t>
            </a:r>
            <a:r>
              <a:rPr lang="en-US"/>
              <a:t>) </a:t>
            </a:r>
            <a:r>
              <a:rPr lang="en-US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="1" i="1" lang="en-US"/>
              <a:t> k </a:t>
            </a:r>
            <a:r>
              <a:rPr lang="en-US"/>
              <a:t>mod</a:t>
            </a:r>
            <a:r>
              <a:rPr b="1" i="1" lang="en-US"/>
              <a:t> </a:t>
            </a:r>
            <a:r>
              <a:rPr lang="en-US"/>
              <a:t>13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Introducing the probe: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/>
              <a:t>h</a:t>
            </a:r>
            <a:r>
              <a:rPr lang="en-US"/>
              <a:t>(</a:t>
            </a:r>
            <a:r>
              <a:rPr i="1" lang="en-US"/>
              <a:t>k</a:t>
            </a:r>
            <a:r>
              <a:rPr lang="en-US"/>
              <a:t>, </a:t>
            </a:r>
            <a:r>
              <a:rPr i="1" lang="en-US"/>
              <a:t>i</a:t>
            </a:r>
            <a:r>
              <a:rPr lang="en-US"/>
              <a:t>) = (</a:t>
            </a:r>
            <a:r>
              <a:rPr b="1" i="1" lang="en-US"/>
              <a:t>h'</a:t>
            </a:r>
            <a:r>
              <a:rPr lang="en-US"/>
              <a:t>(</a:t>
            </a:r>
            <a:r>
              <a:rPr b="1" i="1" lang="en-US"/>
              <a:t>k</a:t>
            </a:r>
            <a:r>
              <a:rPr lang="en-US"/>
              <a:t>) +</a:t>
            </a:r>
            <a:r>
              <a:rPr i="1" lang="en-US"/>
              <a:t> i</a:t>
            </a:r>
            <a:r>
              <a:rPr lang="en-US"/>
              <a:t>) mod 13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for insertion: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Insert keys 18, 41, 22, 44, 59, 32, 31, 73</a:t>
            </a:r>
            <a:endParaRPr/>
          </a:p>
        </p:txBody>
      </p:sp>
      <p:sp>
        <p:nvSpPr>
          <p:cNvPr id="1141" name="Google Shape;1141;p59"/>
          <p:cNvSpPr/>
          <p:nvPr/>
        </p:nvSpPr>
        <p:spPr>
          <a:xfrm>
            <a:off x="40666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42" name="Google Shape;1142;p59"/>
          <p:cNvSpPr/>
          <p:nvPr/>
        </p:nvSpPr>
        <p:spPr>
          <a:xfrm>
            <a:off x="43714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43" name="Google Shape;1143;p59"/>
          <p:cNvSpPr/>
          <p:nvPr/>
        </p:nvSpPr>
        <p:spPr>
          <a:xfrm>
            <a:off x="46762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44" name="Google Shape;1144;p59"/>
          <p:cNvSpPr/>
          <p:nvPr/>
        </p:nvSpPr>
        <p:spPr>
          <a:xfrm>
            <a:off x="49810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45" name="Google Shape;1145;p59"/>
          <p:cNvSpPr/>
          <p:nvPr/>
        </p:nvSpPr>
        <p:spPr>
          <a:xfrm>
            <a:off x="52858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46" name="Google Shape;1146;p59"/>
          <p:cNvSpPr/>
          <p:nvPr/>
        </p:nvSpPr>
        <p:spPr>
          <a:xfrm>
            <a:off x="55906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47" name="Google Shape;1147;p59"/>
          <p:cNvSpPr/>
          <p:nvPr/>
        </p:nvSpPr>
        <p:spPr>
          <a:xfrm>
            <a:off x="58954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48" name="Google Shape;1148;p59"/>
          <p:cNvSpPr/>
          <p:nvPr/>
        </p:nvSpPr>
        <p:spPr>
          <a:xfrm>
            <a:off x="62002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49" name="Google Shape;1149;p59"/>
          <p:cNvSpPr/>
          <p:nvPr/>
        </p:nvSpPr>
        <p:spPr>
          <a:xfrm>
            <a:off x="65050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  <p:sp>
        <p:nvSpPr>
          <p:cNvPr id="1150" name="Google Shape;1150;p59"/>
          <p:cNvSpPr/>
          <p:nvPr/>
        </p:nvSpPr>
        <p:spPr>
          <a:xfrm>
            <a:off x="68098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51" name="Google Shape;1151;p59"/>
          <p:cNvSpPr/>
          <p:nvPr/>
        </p:nvSpPr>
        <p:spPr>
          <a:xfrm>
            <a:off x="71146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52" name="Google Shape;1152;p59"/>
          <p:cNvSpPr/>
          <p:nvPr/>
        </p:nvSpPr>
        <p:spPr>
          <a:xfrm>
            <a:off x="74194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53" name="Google Shape;1153;p59"/>
          <p:cNvSpPr/>
          <p:nvPr/>
        </p:nvSpPr>
        <p:spPr>
          <a:xfrm>
            <a:off x="7724274" y="47003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sp>
        <p:nvSpPr>
          <p:cNvPr id="1154" name="Google Shape;1154;p59"/>
          <p:cNvSpPr txBox="1"/>
          <p:nvPr/>
        </p:nvSpPr>
        <p:spPr>
          <a:xfrm>
            <a:off x="406984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155" name="Google Shape;1155;p59"/>
          <p:cNvSpPr txBox="1"/>
          <p:nvPr/>
        </p:nvSpPr>
        <p:spPr>
          <a:xfrm>
            <a:off x="437147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156" name="Google Shape;1156;p59"/>
          <p:cNvSpPr txBox="1"/>
          <p:nvPr/>
        </p:nvSpPr>
        <p:spPr>
          <a:xfrm>
            <a:off x="467309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57" name="Google Shape;1157;p59"/>
          <p:cNvSpPr txBox="1"/>
          <p:nvPr/>
        </p:nvSpPr>
        <p:spPr>
          <a:xfrm>
            <a:off x="497472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158" name="Google Shape;1158;p59"/>
          <p:cNvSpPr txBox="1"/>
          <p:nvPr/>
        </p:nvSpPr>
        <p:spPr>
          <a:xfrm>
            <a:off x="527634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159" name="Google Shape;1159;p59"/>
          <p:cNvSpPr txBox="1"/>
          <p:nvPr/>
        </p:nvSpPr>
        <p:spPr>
          <a:xfrm>
            <a:off x="557797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160" name="Google Shape;1160;p59"/>
          <p:cNvSpPr txBox="1"/>
          <p:nvPr/>
        </p:nvSpPr>
        <p:spPr>
          <a:xfrm>
            <a:off x="587959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161" name="Google Shape;1161;p59"/>
          <p:cNvSpPr txBox="1"/>
          <p:nvPr/>
        </p:nvSpPr>
        <p:spPr>
          <a:xfrm>
            <a:off x="618122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162" name="Google Shape;1162;p59"/>
          <p:cNvSpPr txBox="1"/>
          <p:nvPr/>
        </p:nvSpPr>
        <p:spPr>
          <a:xfrm>
            <a:off x="6482849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163" name="Google Shape;1163;p59"/>
          <p:cNvSpPr txBox="1"/>
          <p:nvPr/>
        </p:nvSpPr>
        <p:spPr>
          <a:xfrm>
            <a:off x="6784474" y="49670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164" name="Google Shape;1164;p59"/>
          <p:cNvSpPr txBox="1"/>
          <p:nvPr/>
        </p:nvSpPr>
        <p:spPr>
          <a:xfrm>
            <a:off x="7028949" y="49670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165" name="Google Shape;1165;p59"/>
          <p:cNvSpPr txBox="1"/>
          <p:nvPr/>
        </p:nvSpPr>
        <p:spPr>
          <a:xfrm>
            <a:off x="7330574" y="49670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1166" name="Google Shape;1166;p59"/>
          <p:cNvSpPr txBox="1"/>
          <p:nvPr/>
        </p:nvSpPr>
        <p:spPr>
          <a:xfrm>
            <a:off x="7632199" y="49670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167" name="Google Shape;1167;p59"/>
          <p:cNvSpPr/>
          <p:nvPr/>
        </p:nvSpPr>
        <p:spPr>
          <a:xfrm>
            <a:off x="40666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68" name="Google Shape;1168;p59"/>
          <p:cNvSpPr/>
          <p:nvPr/>
        </p:nvSpPr>
        <p:spPr>
          <a:xfrm>
            <a:off x="43714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69" name="Google Shape;1169;p59"/>
          <p:cNvSpPr/>
          <p:nvPr/>
        </p:nvSpPr>
        <p:spPr>
          <a:xfrm>
            <a:off x="46762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</a:t>
            </a:r>
            <a:endParaRPr/>
          </a:p>
        </p:txBody>
      </p:sp>
      <p:sp>
        <p:nvSpPr>
          <p:cNvPr id="1170" name="Google Shape;1170;p59"/>
          <p:cNvSpPr/>
          <p:nvPr/>
        </p:nvSpPr>
        <p:spPr>
          <a:xfrm>
            <a:off x="49810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71" name="Google Shape;1171;p59"/>
          <p:cNvSpPr/>
          <p:nvPr/>
        </p:nvSpPr>
        <p:spPr>
          <a:xfrm>
            <a:off x="52858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72" name="Google Shape;1172;p59"/>
          <p:cNvSpPr/>
          <p:nvPr/>
        </p:nvSpPr>
        <p:spPr>
          <a:xfrm>
            <a:off x="55906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</p:txBody>
      </p:sp>
      <p:sp>
        <p:nvSpPr>
          <p:cNvPr id="1173" name="Google Shape;1173;p59"/>
          <p:cNvSpPr/>
          <p:nvPr/>
        </p:nvSpPr>
        <p:spPr>
          <a:xfrm>
            <a:off x="58954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44</a:t>
            </a:r>
            <a:endParaRPr/>
          </a:p>
        </p:txBody>
      </p:sp>
      <p:sp>
        <p:nvSpPr>
          <p:cNvPr id="1174" name="Google Shape;1174;p59"/>
          <p:cNvSpPr/>
          <p:nvPr/>
        </p:nvSpPr>
        <p:spPr>
          <a:xfrm>
            <a:off x="62002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</a:t>
            </a:r>
            <a:endParaRPr/>
          </a:p>
        </p:txBody>
      </p:sp>
      <p:sp>
        <p:nvSpPr>
          <p:cNvPr id="1175" name="Google Shape;1175;p59"/>
          <p:cNvSpPr/>
          <p:nvPr/>
        </p:nvSpPr>
        <p:spPr>
          <a:xfrm>
            <a:off x="65050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</a:t>
            </a:r>
            <a:endParaRPr/>
          </a:p>
        </p:txBody>
      </p:sp>
      <p:sp>
        <p:nvSpPr>
          <p:cNvPr id="1176" name="Google Shape;1176;p59"/>
          <p:cNvSpPr/>
          <p:nvPr/>
        </p:nvSpPr>
        <p:spPr>
          <a:xfrm>
            <a:off x="68098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/>
          </a:p>
        </p:txBody>
      </p:sp>
      <p:sp>
        <p:nvSpPr>
          <p:cNvPr id="1177" name="Google Shape;1177;p59"/>
          <p:cNvSpPr/>
          <p:nvPr/>
        </p:nvSpPr>
        <p:spPr>
          <a:xfrm>
            <a:off x="71146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</a:t>
            </a:r>
            <a:endParaRPr/>
          </a:p>
        </p:txBody>
      </p:sp>
      <p:sp>
        <p:nvSpPr>
          <p:cNvPr id="1178" name="Google Shape;1178;p59"/>
          <p:cNvSpPr/>
          <p:nvPr/>
        </p:nvSpPr>
        <p:spPr>
          <a:xfrm>
            <a:off x="74194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</a:t>
            </a:r>
            <a:endParaRPr/>
          </a:p>
        </p:txBody>
      </p:sp>
      <p:sp>
        <p:nvSpPr>
          <p:cNvPr id="1179" name="Google Shape;1179;p59"/>
          <p:cNvSpPr/>
          <p:nvPr/>
        </p:nvSpPr>
        <p:spPr>
          <a:xfrm>
            <a:off x="7724274" y="5919537"/>
            <a:ext cx="304800" cy="304800"/>
          </a:xfrm>
          <a:prstGeom prst="rect">
            <a:avLst/>
          </a:prstGeom>
          <a:solidFill>
            <a:srgbClr val="8097F8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80" name="Google Shape;1180;p59"/>
          <p:cNvSpPr txBox="1"/>
          <p:nvPr/>
        </p:nvSpPr>
        <p:spPr>
          <a:xfrm>
            <a:off x="406984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181" name="Google Shape;1181;p59"/>
          <p:cNvSpPr txBox="1"/>
          <p:nvPr/>
        </p:nvSpPr>
        <p:spPr>
          <a:xfrm>
            <a:off x="437147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182" name="Google Shape;1182;p59"/>
          <p:cNvSpPr txBox="1"/>
          <p:nvPr/>
        </p:nvSpPr>
        <p:spPr>
          <a:xfrm>
            <a:off x="467309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183" name="Google Shape;1183;p59"/>
          <p:cNvSpPr txBox="1"/>
          <p:nvPr/>
        </p:nvSpPr>
        <p:spPr>
          <a:xfrm>
            <a:off x="497472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184" name="Google Shape;1184;p59"/>
          <p:cNvSpPr txBox="1"/>
          <p:nvPr/>
        </p:nvSpPr>
        <p:spPr>
          <a:xfrm>
            <a:off x="527634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1185" name="Google Shape;1185;p59"/>
          <p:cNvSpPr txBox="1"/>
          <p:nvPr/>
        </p:nvSpPr>
        <p:spPr>
          <a:xfrm>
            <a:off x="557797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1186" name="Google Shape;1186;p59"/>
          <p:cNvSpPr txBox="1"/>
          <p:nvPr/>
        </p:nvSpPr>
        <p:spPr>
          <a:xfrm>
            <a:off x="587959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1187" name="Google Shape;1187;p59"/>
          <p:cNvSpPr txBox="1"/>
          <p:nvPr/>
        </p:nvSpPr>
        <p:spPr>
          <a:xfrm>
            <a:off x="618122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1188" name="Google Shape;1188;p59"/>
          <p:cNvSpPr txBox="1"/>
          <p:nvPr/>
        </p:nvSpPr>
        <p:spPr>
          <a:xfrm>
            <a:off x="6482849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1189" name="Google Shape;1189;p59"/>
          <p:cNvSpPr txBox="1"/>
          <p:nvPr/>
        </p:nvSpPr>
        <p:spPr>
          <a:xfrm>
            <a:off x="6784474" y="6186237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1190" name="Google Shape;1190;p59"/>
          <p:cNvSpPr txBox="1"/>
          <p:nvPr/>
        </p:nvSpPr>
        <p:spPr>
          <a:xfrm>
            <a:off x="7028949" y="61862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1191" name="Google Shape;1191;p59"/>
          <p:cNvSpPr txBox="1"/>
          <p:nvPr/>
        </p:nvSpPr>
        <p:spPr>
          <a:xfrm>
            <a:off x="7330574" y="61862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1192" name="Google Shape;1192;p59"/>
          <p:cNvSpPr txBox="1"/>
          <p:nvPr/>
        </p:nvSpPr>
        <p:spPr>
          <a:xfrm>
            <a:off x="7632199" y="6186237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1193" name="Google Shape;1193;p59"/>
          <p:cNvSpPr/>
          <p:nvPr/>
        </p:nvSpPr>
        <p:spPr>
          <a:xfrm>
            <a:off x="5895474" y="5386137"/>
            <a:ext cx="304800" cy="304800"/>
          </a:xfrm>
          <a:prstGeom prst="downArrow">
            <a:avLst>
              <a:gd fmla="val 50000" name="adj1"/>
              <a:gd fmla="val 25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4" name="Google Shape;1194;p59"/>
          <p:cNvSpPr txBox="1"/>
          <p:nvPr/>
        </p:nvSpPr>
        <p:spPr>
          <a:xfrm>
            <a:off x="8033084" y="819633"/>
            <a:ext cx="332071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Suffers from primary clustering: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runs of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occupied sequences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up.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Long runs tend to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longer,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Hence,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search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 times increase.</a:t>
            </a:r>
            <a:endParaRPr/>
          </a:p>
        </p:txBody>
      </p:sp>
      <p:sp>
        <p:nvSpPr>
          <p:cNvPr id="1195" name="Google Shape;1195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196" name="Google Shape;1196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Linear Probing</a:t>
            </a:r>
            <a:endParaRPr/>
          </a:p>
        </p:txBody>
      </p:sp>
      <p:sp>
        <p:nvSpPr>
          <p:cNvPr id="1202" name="Google Shape;1202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Search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Search in a manner similar to insert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By increasing i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a NULL is found while probing that element is not there in the list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Delete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 order to not hamper search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Insert a special object called deleted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Search will treat it as an object occupying space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Insert will treat is an empty space.</a:t>
            </a:r>
            <a:endParaRPr/>
          </a:p>
        </p:txBody>
      </p:sp>
      <p:sp>
        <p:nvSpPr>
          <p:cNvPr id="1203" name="Google Shape;1203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204" name="Google Shape;1204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6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Quadratic Probing</a:t>
            </a:r>
            <a:endParaRPr/>
          </a:p>
        </p:txBody>
      </p:sp>
      <p:sp>
        <p:nvSpPr>
          <p:cNvPr id="1210" name="Google Shape;1210;p6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Char char="•"/>
            </a:pPr>
            <a:r>
              <a:rPr i="1" lang="en-US">
                <a:solidFill>
                  <a:srgbClr val="CC3300"/>
                </a:solidFill>
              </a:rPr>
              <a:t>h</a:t>
            </a:r>
            <a:r>
              <a:rPr lang="en-US">
                <a:solidFill>
                  <a:srgbClr val="CC3300"/>
                </a:solidFill>
              </a:rPr>
              <a:t>(</a:t>
            </a:r>
            <a:r>
              <a:rPr i="1" lang="en-US">
                <a:solidFill>
                  <a:srgbClr val="CC3300"/>
                </a:solidFill>
              </a:rPr>
              <a:t>k, i</a:t>
            </a:r>
            <a:r>
              <a:rPr lang="en-US">
                <a:solidFill>
                  <a:srgbClr val="CC3300"/>
                </a:solidFill>
              </a:rPr>
              <a:t>)</a:t>
            </a:r>
            <a:r>
              <a:rPr i="1" lang="en-US">
                <a:solidFill>
                  <a:srgbClr val="CC3300"/>
                </a:solidFill>
              </a:rPr>
              <a:t> = </a:t>
            </a:r>
            <a:r>
              <a:rPr lang="en-US">
                <a:solidFill>
                  <a:srgbClr val="CC3300"/>
                </a:solidFill>
              </a:rPr>
              <a:t>(</a:t>
            </a:r>
            <a:r>
              <a:rPr i="1" lang="en-US">
                <a:solidFill>
                  <a:srgbClr val="CC3300"/>
                </a:solidFill>
              </a:rPr>
              <a:t>h</a:t>
            </a:r>
            <a:r>
              <a:rPr lang="en-US">
                <a:solidFill>
                  <a:srgbClr val="CC3300"/>
                </a:solidFill>
              </a:rPr>
              <a:t>′(</a:t>
            </a:r>
            <a:r>
              <a:rPr i="1" lang="en-US">
                <a:solidFill>
                  <a:srgbClr val="CC3300"/>
                </a:solidFill>
              </a:rPr>
              <a:t>k</a:t>
            </a:r>
            <a:r>
              <a:rPr lang="en-US">
                <a:solidFill>
                  <a:srgbClr val="CC3300"/>
                </a:solidFill>
              </a:rPr>
              <a:t>)</a:t>
            </a:r>
            <a:r>
              <a:rPr i="1" lang="en-US">
                <a:solidFill>
                  <a:srgbClr val="CC3300"/>
                </a:solidFill>
              </a:rPr>
              <a:t> + c</a:t>
            </a:r>
            <a:r>
              <a:rPr baseline="-25000" lang="en-US">
                <a:solidFill>
                  <a:srgbClr val="CC3300"/>
                </a:solidFill>
              </a:rPr>
              <a:t>1</a:t>
            </a:r>
            <a:r>
              <a:rPr i="1" lang="en-US">
                <a:solidFill>
                  <a:srgbClr val="CC3300"/>
                </a:solidFill>
              </a:rPr>
              <a:t>i + c</a:t>
            </a:r>
            <a:r>
              <a:rPr baseline="-25000" lang="en-US">
                <a:solidFill>
                  <a:srgbClr val="CC3300"/>
                </a:solidFill>
              </a:rPr>
              <a:t>2</a:t>
            </a:r>
            <a:r>
              <a:rPr i="1" lang="en-US">
                <a:solidFill>
                  <a:srgbClr val="CC3300"/>
                </a:solidFill>
              </a:rPr>
              <a:t>i</a:t>
            </a:r>
            <a:r>
              <a:rPr baseline="30000" lang="en-US">
                <a:solidFill>
                  <a:srgbClr val="CC3300"/>
                </a:solidFill>
              </a:rPr>
              <a:t>2</a:t>
            </a:r>
            <a:r>
              <a:rPr lang="en-US">
                <a:solidFill>
                  <a:srgbClr val="CC3300"/>
                </a:solidFill>
              </a:rPr>
              <a:t>)</a:t>
            </a:r>
            <a:r>
              <a:rPr i="1" lang="en-US">
                <a:solidFill>
                  <a:srgbClr val="CC3300"/>
                </a:solidFill>
              </a:rPr>
              <a:t> </a:t>
            </a:r>
            <a:r>
              <a:rPr lang="en-US">
                <a:solidFill>
                  <a:srgbClr val="CC3300"/>
                </a:solidFill>
              </a:rPr>
              <a:t>mod</a:t>
            </a:r>
            <a:r>
              <a:rPr i="1" lang="en-US">
                <a:solidFill>
                  <a:srgbClr val="CC3300"/>
                </a:solidFill>
              </a:rPr>
              <a:t> m    </a:t>
            </a:r>
            <a:r>
              <a:rPr i="1" lang="en-US">
                <a:solidFill>
                  <a:schemeClr val="hlink"/>
                </a:solidFill>
              </a:rPr>
              <a:t>c</a:t>
            </a:r>
            <a:r>
              <a:rPr baseline="-25000" lang="en-US">
                <a:solidFill>
                  <a:schemeClr val="hlink"/>
                </a:solidFill>
              </a:rPr>
              <a:t>1</a:t>
            </a:r>
            <a:r>
              <a:rPr i="1" lang="en-US">
                <a:solidFill>
                  <a:schemeClr val="hlink"/>
                </a:solidFill>
                <a:latin typeface="SimSun"/>
                <a:ea typeface="SimSun"/>
                <a:cs typeface="SimSun"/>
                <a:sym typeface="SimSun"/>
              </a:rPr>
              <a:t>≠</a:t>
            </a:r>
            <a:r>
              <a:rPr i="1" lang="en-US">
                <a:solidFill>
                  <a:schemeClr val="hlink"/>
                </a:solidFill>
              </a:rPr>
              <a:t> c</a:t>
            </a:r>
            <a:r>
              <a:rPr baseline="-25000" lang="en-US">
                <a:solidFill>
                  <a:schemeClr val="hlink"/>
                </a:solidFill>
              </a:rPr>
              <a:t>2</a:t>
            </a:r>
            <a:endParaRPr i="1">
              <a:solidFill>
                <a:schemeClr val="hlink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Same concept , just difference in the type of equation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suffer from </a:t>
            </a:r>
            <a:r>
              <a:rPr b="1" i="1" lang="en-US">
                <a:solidFill>
                  <a:srgbClr val="CC3300"/>
                </a:solidFill>
              </a:rPr>
              <a:t>secondary clustering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two keys have the same initial probe position, then their probe sequences are the same.</a:t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11" name="Google Shape;1211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212" name="Google Shape;1212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Quadratic Probing</a:t>
            </a:r>
            <a:endParaRPr/>
          </a:p>
        </p:txBody>
      </p:sp>
      <p:sp>
        <p:nvSpPr>
          <p:cNvPr id="1218" name="Google Shape;1218;p6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Char char="•"/>
            </a:pPr>
            <a:r>
              <a:rPr i="1" lang="en-US">
                <a:solidFill>
                  <a:srgbClr val="CC3300"/>
                </a:solidFill>
              </a:rPr>
              <a:t>h</a:t>
            </a:r>
            <a:r>
              <a:rPr lang="en-US">
                <a:solidFill>
                  <a:srgbClr val="CC3300"/>
                </a:solidFill>
              </a:rPr>
              <a:t>(</a:t>
            </a:r>
            <a:r>
              <a:rPr i="1" lang="en-US">
                <a:solidFill>
                  <a:srgbClr val="CC3300"/>
                </a:solidFill>
              </a:rPr>
              <a:t>k, i</a:t>
            </a:r>
            <a:r>
              <a:rPr lang="en-US">
                <a:solidFill>
                  <a:srgbClr val="CC3300"/>
                </a:solidFill>
              </a:rPr>
              <a:t>)</a:t>
            </a:r>
            <a:r>
              <a:rPr i="1" lang="en-US">
                <a:solidFill>
                  <a:srgbClr val="CC3300"/>
                </a:solidFill>
              </a:rPr>
              <a:t> = </a:t>
            </a:r>
            <a:r>
              <a:rPr lang="en-US">
                <a:solidFill>
                  <a:srgbClr val="CC3300"/>
                </a:solidFill>
              </a:rPr>
              <a:t>(</a:t>
            </a:r>
            <a:r>
              <a:rPr i="1" lang="en-US">
                <a:solidFill>
                  <a:srgbClr val="CC3300"/>
                </a:solidFill>
              </a:rPr>
              <a:t>h</a:t>
            </a:r>
            <a:r>
              <a:rPr lang="en-US">
                <a:solidFill>
                  <a:srgbClr val="CC3300"/>
                </a:solidFill>
              </a:rPr>
              <a:t>′(</a:t>
            </a:r>
            <a:r>
              <a:rPr i="1" lang="en-US">
                <a:solidFill>
                  <a:srgbClr val="CC3300"/>
                </a:solidFill>
              </a:rPr>
              <a:t>k</a:t>
            </a:r>
            <a:r>
              <a:rPr lang="en-US">
                <a:solidFill>
                  <a:srgbClr val="CC3300"/>
                </a:solidFill>
              </a:rPr>
              <a:t>)</a:t>
            </a:r>
            <a:r>
              <a:rPr i="1" lang="en-US">
                <a:solidFill>
                  <a:srgbClr val="CC3300"/>
                </a:solidFill>
              </a:rPr>
              <a:t> + c</a:t>
            </a:r>
            <a:r>
              <a:rPr baseline="-25000" lang="en-US">
                <a:solidFill>
                  <a:srgbClr val="CC3300"/>
                </a:solidFill>
              </a:rPr>
              <a:t>1</a:t>
            </a:r>
            <a:r>
              <a:rPr i="1" lang="en-US">
                <a:solidFill>
                  <a:srgbClr val="CC3300"/>
                </a:solidFill>
              </a:rPr>
              <a:t>i + c</a:t>
            </a:r>
            <a:r>
              <a:rPr baseline="-25000" lang="en-US">
                <a:solidFill>
                  <a:srgbClr val="CC3300"/>
                </a:solidFill>
              </a:rPr>
              <a:t>2</a:t>
            </a:r>
            <a:r>
              <a:rPr i="1" lang="en-US">
                <a:solidFill>
                  <a:srgbClr val="CC3300"/>
                </a:solidFill>
              </a:rPr>
              <a:t>i</a:t>
            </a:r>
            <a:r>
              <a:rPr baseline="30000" lang="en-US">
                <a:solidFill>
                  <a:srgbClr val="CC3300"/>
                </a:solidFill>
              </a:rPr>
              <a:t>2</a:t>
            </a:r>
            <a:r>
              <a:rPr lang="en-US">
                <a:solidFill>
                  <a:srgbClr val="CC3300"/>
                </a:solidFill>
              </a:rPr>
              <a:t>)</a:t>
            </a:r>
            <a:r>
              <a:rPr i="1" lang="en-US">
                <a:solidFill>
                  <a:srgbClr val="CC3300"/>
                </a:solidFill>
              </a:rPr>
              <a:t> </a:t>
            </a:r>
            <a:r>
              <a:rPr lang="en-US">
                <a:solidFill>
                  <a:srgbClr val="CC3300"/>
                </a:solidFill>
              </a:rPr>
              <a:t>mod</a:t>
            </a:r>
            <a:r>
              <a:rPr i="1" lang="en-US">
                <a:solidFill>
                  <a:srgbClr val="CC3300"/>
                </a:solidFill>
              </a:rPr>
              <a:t> m    </a:t>
            </a:r>
            <a:r>
              <a:rPr i="1" lang="en-US">
                <a:solidFill>
                  <a:schemeClr val="hlink"/>
                </a:solidFill>
              </a:rPr>
              <a:t>c</a:t>
            </a:r>
            <a:r>
              <a:rPr baseline="-25000" lang="en-US">
                <a:solidFill>
                  <a:schemeClr val="hlink"/>
                </a:solidFill>
              </a:rPr>
              <a:t>1</a:t>
            </a:r>
            <a:r>
              <a:rPr i="1" lang="en-US">
                <a:solidFill>
                  <a:schemeClr val="hlink"/>
                </a:solidFill>
                <a:latin typeface="SimSun"/>
                <a:ea typeface="SimSun"/>
                <a:cs typeface="SimSun"/>
                <a:sym typeface="SimSun"/>
              </a:rPr>
              <a:t>≠</a:t>
            </a:r>
            <a:r>
              <a:rPr i="1" lang="en-US">
                <a:solidFill>
                  <a:schemeClr val="hlink"/>
                </a:solidFill>
              </a:rPr>
              <a:t> c</a:t>
            </a:r>
            <a:r>
              <a:rPr baseline="-25000" lang="en-US">
                <a:solidFill>
                  <a:schemeClr val="hlink"/>
                </a:solidFill>
              </a:rPr>
              <a:t>2</a:t>
            </a:r>
            <a:endParaRPr i="1">
              <a:solidFill>
                <a:schemeClr val="hlink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Same concept , just difference in the type of equation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suffer from </a:t>
            </a:r>
            <a:r>
              <a:rPr b="1" i="1" lang="en-US">
                <a:solidFill>
                  <a:srgbClr val="CC3300"/>
                </a:solidFill>
              </a:rPr>
              <a:t>secondary clustering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two keys have the same initial probe position, then their probe sequences are the same.</a:t>
            </a:r>
            <a:endParaRPr i="1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219" name="Google Shape;1219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220" name="Google Shape;1220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6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Double Hashing</a:t>
            </a:r>
            <a:endParaRPr/>
          </a:p>
        </p:txBody>
      </p:sp>
      <p:sp>
        <p:nvSpPr>
          <p:cNvPr id="1226" name="Google Shape;1226;p6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2800"/>
              <a:buChar char="•"/>
            </a:pPr>
            <a:r>
              <a:rPr i="1" lang="en-US">
                <a:solidFill>
                  <a:srgbClr val="CC3300"/>
                </a:solidFill>
              </a:rPr>
              <a:t>h</a:t>
            </a:r>
            <a:r>
              <a:rPr lang="en-US">
                <a:solidFill>
                  <a:srgbClr val="CC3300"/>
                </a:solidFill>
              </a:rPr>
              <a:t>(</a:t>
            </a:r>
            <a:r>
              <a:rPr i="1" lang="en-US">
                <a:solidFill>
                  <a:srgbClr val="CC3300"/>
                </a:solidFill>
              </a:rPr>
              <a:t>k,i</a:t>
            </a:r>
            <a:r>
              <a:rPr lang="en-US">
                <a:solidFill>
                  <a:srgbClr val="CC3300"/>
                </a:solidFill>
              </a:rPr>
              <a:t>)</a:t>
            </a:r>
            <a:r>
              <a:rPr i="1" lang="en-US">
                <a:solidFill>
                  <a:srgbClr val="CC3300"/>
                </a:solidFill>
              </a:rPr>
              <a:t> = </a:t>
            </a:r>
            <a:r>
              <a:rPr lang="en-US">
                <a:solidFill>
                  <a:srgbClr val="CC3300"/>
                </a:solidFill>
              </a:rPr>
              <a:t>(</a:t>
            </a:r>
            <a:r>
              <a:rPr i="1" lang="en-US">
                <a:solidFill>
                  <a:srgbClr val="CC3300"/>
                </a:solidFill>
              </a:rPr>
              <a:t>h</a:t>
            </a:r>
            <a:r>
              <a:rPr baseline="-25000" lang="en-US">
                <a:solidFill>
                  <a:srgbClr val="CC3300"/>
                </a:solidFill>
              </a:rPr>
              <a:t>1</a:t>
            </a:r>
            <a:r>
              <a:rPr lang="en-US">
                <a:solidFill>
                  <a:srgbClr val="CC3300"/>
                </a:solidFill>
              </a:rPr>
              <a:t>(</a:t>
            </a:r>
            <a:r>
              <a:rPr i="1" lang="en-US">
                <a:solidFill>
                  <a:srgbClr val="CC3300"/>
                </a:solidFill>
              </a:rPr>
              <a:t>k</a:t>
            </a:r>
            <a:r>
              <a:rPr lang="en-US">
                <a:solidFill>
                  <a:srgbClr val="CC3300"/>
                </a:solidFill>
              </a:rPr>
              <a:t>)</a:t>
            </a:r>
            <a:r>
              <a:rPr i="1" lang="en-US">
                <a:solidFill>
                  <a:srgbClr val="CC3300"/>
                </a:solidFill>
              </a:rPr>
              <a:t> + i h</a:t>
            </a:r>
            <a:r>
              <a:rPr baseline="-25000" lang="en-US">
                <a:solidFill>
                  <a:srgbClr val="CC3300"/>
                </a:solidFill>
              </a:rPr>
              <a:t>2</a:t>
            </a:r>
            <a:r>
              <a:rPr lang="en-US">
                <a:solidFill>
                  <a:srgbClr val="CC3300"/>
                </a:solidFill>
              </a:rPr>
              <a:t>(</a:t>
            </a:r>
            <a:r>
              <a:rPr i="1" lang="en-US">
                <a:solidFill>
                  <a:srgbClr val="CC3300"/>
                </a:solidFill>
              </a:rPr>
              <a:t>k</a:t>
            </a:r>
            <a:r>
              <a:rPr lang="en-US">
                <a:solidFill>
                  <a:srgbClr val="CC3300"/>
                </a:solidFill>
              </a:rPr>
              <a:t>))</a:t>
            </a:r>
            <a:r>
              <a:rPr i="1" lang="en-US">
                <a:solidFill>
                  <a:srgbClr val="CC3300"/>
                </a:solidFill>
              </a:rPr>
              <a:t> </a:t>
            </a:r>
            <a:r>
              <a:rPr lang="en-US">
                <a:solidFill>
                  <a:srgbClr val="CC3300"/>
                </a:solidFill>
              </a:rPr>
              <a:t>mod</a:t>
            </a:r>
            <a:r>
              <a:rPr i="1" lang="en-US">
                <a:solidFill>
                  <a:srgbClr val="CC3300"/>
                </a:solidFill>
              </a:rPr>
              <a:t> m 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i="1">
              <a:solidFill>
                <a:srgbClr val="CC33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can be used for dealing with the limitations of previous two hashings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users can induce new properties by defining their own h1 and h2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 that the value from h2 is helping in probing</a:t>
            </a:r>
            <a:endParaRPr/>
          </a:p>
        </p:txBody>
      </p:sp>
      <p:sp>
        <p:nvSpPr>
          <p:cNvPr id="1227" name="Google Shape;1227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228" name="Google Shape;1228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6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234" name="Google Shape;1234;p6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235" name="Google Shape;1235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Lec. Md Shadman Aadeeb</a:t>
            </a:r>
            <a:endParaRPr/>
          </a:p>
        </p:txBody>
      </p:sp>
      <p:sp>
        <p:nvSpPr>
          <p:cNvPr id="1236" name="Google Shape;1236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2022-12-05T02:41:16Z</dcterms:created>
  <dc:creator>lenovo</dc:creator>
</cp:coreProperties>
</file>