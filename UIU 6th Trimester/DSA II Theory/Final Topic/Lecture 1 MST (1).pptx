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6858000" cx="12192000"/>
  <p:notesSz cx="6858000" cy="9144000"/>
  <p:embeddedFontLst>
    <p:embeddedFont>
      <p:font typeface="Tahoma"/>
      <p:regular r:id="rId49"/>
      <p:bold r:id="rId50"/>
    </p:embeddedFont>
    <p:embeddedFont>
      <p:font typeface="Helvetica Neue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5" roundtripDataSignature="AMtx7mjgK7L8ubPdfWk9kI1iI08BO4W+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139962-26C1-479B-A70B-DD87E8E40E20}">
  <a:tblStyle styleId="{02139962-26C1-479B-A70B-DD87E8E40E20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7F6"/>
          </a:solidFill>
        </a:fill>
      </a:tcStyle>
    </a:wholeTbl>
    <a:band1H>
      <a:tcTxStyle/>
      <a:tcStyle>
        <a:fill>
          <a:solidFill>
            <a:srgbClr val="CACCEC"/>
          </a:solidFill>
        </a:fill>
      </a:tcStyle>
    </a:band1H>
    <a:band2H>
      <a:tcTxStyle/>
    </a:band2H>
    <a:band1V>
      <a:tcTxStyle/>
      <a:tcStyle>
        <a:fill>
          <a:solidFill>
            <a:srgbClr val="CACCEC"/>
          </a:solidFill>
        </a:fill>
      </a:tcStyle>
    </a:band1V>
    <a:band2V>
      <a:tcTxStyle/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HelveticaNeue-regular.fntdata"/><Relationship Id="rId50" Type="http://schemas.openxmlformats.org/officeDocument/2006/relationships/font" Target="fonts/Tahoma-bold.fntdata"/><Relationship Id="rId53" Type="http://schemas.openxmlformats.org/officeDocument/2006/relationships/font" Target="fonts/HelveticaNeue-italic.fntdata"/><Relationship Id="rId52" Type="http://schemas.openxmlformats.org/officeDocument/2006/relationships/font" Target="fonts/HelveticaNeue-bold.fntdata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HelveticaNeue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0f001374e_0_0:notes"/>
          <p:cNvSpPr txBox="1"/>
          <p:nvPr>
            <p:ph idx="1" type="body"/>
          </p:nvPr>
        </p:nvSpPr>
        <p:spPr>
          <a:xfrm>
            <a:off x="913805" y="4343703"/>
            <a:ext cx="5030400" cy="411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80f001374e_0_0:notes"/>
          <p:cNvSpPr/>
          <p:nvPr>
            <p:ph idx="2" type="sldImg"/>
          </p:nvPr>
        </p:nvSpPr>
        <p:spPr>
          <a:xfrm>
            <a:off x="430348" y="687917"/>
            <a:ext cx="59988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80f001374e_0_154:notes"/>
          <p:cNvSpPr txBox="1"/>
          <p:nvPr>
            <p:ph idx="1" type="body"/>
          </p:nvPr>
        </p:nvSpPr>
        <p:spPr>
          <a:xfrm>
            <a:off x="913805" y="4343703"/>
            <a:ext cx="5030400" cy="411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80f001374e_0_154:notes"/>
          <p:cNvSpPr/>
          <p:nvPr>
            <p:ph idx="2" type="sldImg"/>
          </p:nvPr>
        </p:nvSpPr>
        <p:spPr>
          <a:xfrm>
            <a:off x="430348" y="687917"/>
            <a:ext cx="59988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80f001374e_0_230:notes"/>
          <p:cNvSpPr txBox="1"/>
          <p:nvPr>
            <p:ph idx="1" type="body"/>
          </p:nvPr>
        </p:nvSpPr>
        <p:spPr>
          <a:xfrm>
            <a:off x="913805" y="4343703"/>
            <a:ext cx="5030400" cy="411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80f001374e_0_230:notes"/>
          <p:cNvSpPr/>
          <p:nvPr>
            <p:ph idx="2" type="sldImg"/>
          </p:nvPr>
        </p:nvSpPr>
        <p:spPr>
          <a:xfrm>
            <a:off x="430348" y="687917"/>
            <a:ext cx="59988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80f001374e_0_306:notes"/>
          <p:cNvSpPr txBox="1"/>
          <p:nvPr>
            <p:ph idx="1" type="body"/>
          </p:nvPr>
        </p:nvSpPr>
        <p:spPr>
          <a:xfrm>
            <a:off x="913805" y="4343703"/>
            <a:ext cx="5030400" cy="411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80f001374e_0_306:notes"/>
          <p:cNvSpPr/>
          <p:nvPr>
            <p:ph idx="2" type="sldImg"/>
          </p:nvPr>
        </p:nvSpPr>
        <p:spPr>
          <a:xfrm>
            <a:off x="430348" y="687917"/>
            <a:ext cx="59988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2" name="Google Shape;4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0" name="Google Shape;4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5" name="Google Shape;51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7" name="Google Shape;5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3" name="Google Shape;62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9" name="Google Shape;65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7" name="Google Shape;76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3" name="Google Shape;80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9" name="Google Shape;839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5" name="Google Shape;87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1" name="Google Shape;91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7" name="Google Shape;94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3" name="Google Shape;98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9" name="Google Shape;101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5" name="Google Shape;105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1" name="Google Shape;1091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7" name="Google Shape;112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3" name="Google Shape;116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9" name="Google Shape;119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5" name="Google Shape;1235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1" name="Google Shape;127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6" name="Google Shape;1306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4" name="Google Shape;1324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3" name="Google Shape;133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40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40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40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40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4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" name="Google Shape;30;p4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4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4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4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9" name="Google Shape;39;p4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4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4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3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4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43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43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43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43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4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Arial"/>
              <a:buChar char="●"/>
              <a:defRPr/>
            </a:lvl1pPr>
            <a:lvl2pPr indent="-344169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CC0000"/>
              </a:buClr>
              <a:buSzPts val="1820"/>
              <a:buFont typeface="Arial"/>
              <a:buChar char="●"/>
              <a:defRPr/>
            </a:lvl2pPr>
            <a:lvl3pPr indent="-32766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3pPr>
            <a:lvl4pPr indent="-327660" lvl="3" marL="18288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33CC"/>
              </a:buClr>
              <a:buSzPts val="1560"/>
              <a:buFont typeface="Arial"/>
              <a:buChar char="●"/>
              <a:defRPr/>
            </a:lvl4pPr>
            <a:lvl5pPr indent="-381000" lvl="4" marL="22860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4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44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4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4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4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4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8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0f001374e_0_75"/>
          <p:cNvSpPr txBox="1"/>
          <p:nvPr>
            <p:ph type="title"/>
          </p:nvPr>
        </p:nvSpPr>
        <p:spPr>
          <a:xfrm>
            <a:off x="609600" y="228600"/>
            <a:ext cx="109728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80f001374e_0_75"/>
          <p:cNvSpPr txBox="1"/>
          <p:nvPr>
            <p:ph idx="1" type="body"/>
          </p:nvPr>
        </p:nvSpPr>
        <p:spPr>
          <a:xfrm>
            <a:off x="609600" y="1052513"/>
            <a:ext cx="109728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•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•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•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•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0f001374e_0_194"/>
          <p:cNvSpPr txBox="1"/>
          <p:nvPr>
            <p:ph type="ctrTitle"/>
          </p:nvPr>
        </p:nvSpPr>
        <p:spPr>
          <a:xfrm>
            <a:off x="914400" y="2130425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80f001374e_0_194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ctr">
              <a:spcBef>
                <a:spcPts val="520"/>
              </a:spcBef>
              <a:spcAft>
                <a:spcPts val="0"/>
              </a:spcAft>
              <a:buSzPts val="1950"/>
              <a:buNone/>
              <a:defRPr/>
            </a:lvl1pPr>
            <a:lvl2pPr lvl="1" algn="ctr">
              <a:spcBef>
                <a:spcPts val="480"/>
              </a:spcBef>
              <a:spcAft>
                <a:spcPts val="0"/>
              </a:spcAft>
              <a:buSzPts val="1560"/>
              <a:buNone/>
              <a:defRPr/>
            </a:lvl2pPr>
            <a:lvl3pPr lvl="2" algn="ctr">
              <a:spcBef>
                <a:spcPts val="440"/>
              </a:spcBef>
              <a:spcAft>
                <a:spcPts val="0"/>
              </a:spcAft>
              <a:buSzPts val="143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13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0f001374e_0_197"/>
          <p:cNvSpPr txBox="1"/>
          <p:nvPr>
            <p:ph type="title"/>
          </p:nvPr>
        </p:nvSpPr>
        <p:spPr>
          <a:xfrm>
            <a:off x="609600" y="228600"/>
            <a:ext cx="109728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80f001374e_0_197"/>
          <p:cNvSpPr txBox="1"/>
          <p:nvPr>
            <p:ph idx="1" type="body"/>
          </p:nvPr>
        </p:nvSpPr>
        <p:spPr>
          <a:xfrm>
            <a:off x="609600" y="1052513"/>
            <a:ext cx="109728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0f001374e_0_200"/>
          <p:cNvSpPr txBox="1"/>
          <p:nvPr>
            <p:ph type="title"/>
          </p:nvPr>
        </p:nvSpPr>
        <p:spPr>
          <a:xfrm>
            <a:off x="963084" y="4406900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80f001374e_0_200"/>
          <p:cNvSpPr txBox="1"/>
          <p:nvPr>
            <p:ph idx="1" type="body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1400"/>
              <a:buFont typeface="Times New Roman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0f001374e_0_203"/>
          <p:cNvSpPr txBox="1"/>
          <p:nvPr>
            <p:ph type="title"/>
          </p:nvPr>
        </p:nvSpPr>
        <p:spPr>
          <a:xfrm>
            <a:off x="609600" y="228600"/>
            <a:ext cx="109728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g380f001374e_0_203"/>
          <p:cNvSpPr txBox="1"/>
          <p:nvPr>
            <p:ph idx="1" type="body"/>
          </p:nvPr>
        </p:nvSpPr>
        <p:spPr>
          <a:xfrm>
            <a:off x="609600" y="1052513"/>
            <a:ext cx="53847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●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9pPr>
          </a:lstStyle>
          <a:p/>
        </p:txBody>
      </p:sp>
      <p:sp>
        <p:nvSpPr>
          <p:cNvPr id="120" name="Google Shape;120;g380f001374e_0_203"/>
          <p:cNvSpPr txBox="1"/>
          <p:nvPr>
            <p:ph idx="2" type="body"/>
          </p:nvPr>
        </p:nvSpPr>
        <p:spPr>
          <a:xfrm>
            <a:off x="6197600" y="1052513"/>
            <a:ext cx="53847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61950" lvl="0" marL="457200" algn="l">
              <a:spcBef>
                <a:spcPts val="560"/>
              </a:spcBef>
              <a:spcAft>
                <a:spcPts val="0"/>
              </a:spcAft>
              <a:buSzPts val="2100"/>
              <a:buChar char="●"/>
              <a:defRPr sz="2800"/>
            </a:lvl1pPr>
            <a:lvl2pPr indent="-327660" lvl="1" marL="914400" algn="l">
              <a:spcBef>
                <a:spcPts val="480"/>
              </a:spcBef>
              <a:spcAft>
                <a:spcPts val="0"/>
              </a:spcAft>
              <a:buSzPts val="1560"/>
              <a:buChar char="●"/>
              <a:defRPr sz="2400"/>
            </a:lvl2pPr>
            <a:lvl3pPr indent="-311150" lvl="2" marL="13716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–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0f001374e_0_20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80f001374e_0_207"/>
          <p:cNvSpPr txBox="1"/>
          <p:nvPr>
            <p:ph idx="1" type="body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124" name="Google Shape;124;g380f001374e_0_207"/>
          <p:cNvSpPr txBox="1"/>
          <p:nvPr>
            <p:ph idx="2" type="body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9pPr>
          </a:lstStyle>
          <a:p/>
        </p:txBody>
      </p:sp>
      <p:sp>
        <p:nvSpPr>
          <p:cNvPr id="125" name="Google Shape;125;g380f001374e_0_207"/>
          <p:cNvSpPr txBox="1"/>
          <p:nvPr>
            <p:ph idx="3" type="body"/>
          </p:nvPr>
        </p:nvSpPr>
        <p:spPr>
          <a:xfrm>
            <a:off x="6193367" y="1535113"/>
            <a:ext cx="53892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8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b="1" sz="1600"/>
            </a:lvl9pPr>
          </a:lstStyle>
          <a:p/>
        </p:txBody>
      </p:sp>
      <p:sp>
        <p:nvSpPr>
          <p:cNvPr id="126" name="Google Shape;126;g380f001374e_0_207"/>
          <p:cNvSpPr txBox="1"/>
          <p:nvPr>
            <p:ph idx="4" type="body"/>
          </p:nvPr>
        </p:nvSpPr>
        <p:spPr>
          <a:xfrm>
            <a:off x="6193367" y="2174875"/>
            <a:ext cx="53892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42900" lvl="0" marL="457200" algn="l">
              <a:spcBef>
                <a:spcPts val="480"/>
              </a:spcBef>
              <a:spcAft>
                <a:spcPts val="0"/>
              </a:spcAft>
              <a:buSzPts val="1800"/>
              <a:buChar char="●"/>
              <a:defRPr sz="2400"/>
            </a:lvl1pPr>
            <a:lvl2pPr indent="-311150" lvl="1" marL="9144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●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–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0f001374e_0_213"/>
          <p:cNvSpPr txBox="1"/>
          <p:nvPr>
            <p:ph type="title"/>
          </p:nvPr>
        </p:nvSpPr>
        <p:spPr>
          <a:xfrm>
            <a:off x="609600" y="228600"/>
            <a:ext cx="109728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0f001374e_0_216"/>
          <p:cNvSpPr txBox="1"/>
          <p:nvPr>
            <p:ph type="title"/>
          </p:nvPr>
        </p:nvSpPr>
        <p:spPr>
          <a:xfrm>
            <a:off x="609600" y="273050"/>
            <a:ext cx="40113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80f001374e_0_216"/>
          <p:cNvSpPr txBox="1"/>
          <p:nvPr>
            <p:ph idx="1" type="body"/>
          </p:nvPr>
        </p:nvSpPr>
        <p:spPr>
          <a:xfrm>
            <a:off x="4766733" y="273050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81000" lvl="0" marL="457200" algn="l">
              <a:spcBef>
                <a:spcPts val="640"/>
              </a:spcBef>
              <a:spcAft>
                <a:spcPts val="0"/>
              </a:spcAft>
              <a:buSzPts val="2400"/>
              <a:buChar char="●"/>
              <a:defRPr sz="3200"/>
            </a:lvl1pPr>
            <a:lvl2pPr indent="-344169" lvl="1" marL="914400" algn="l">
              <a:spcBef>
                <a:spcPts val="560"/>
              </a:spcBef>
              <a:spcAft>
                <a:spcPts val="0"/>
              </a:spcAft>
              <a:buSzPts val="1820"/>
              <a:buChar char="●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●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●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SzPts val="2000"/>
              <a:buFont typeface="Times New Roman"/>
              <a:buChar char="–"/>
              <a:defRPr sz="2000"/>
            </a:lvl9pPr>
          </a:lstStyle>
          <a:p/>
        </p:txBody>
      </p:sp>
      <p:sp>
        <p:nvSpPr>
          <p:cNvPr id="133" name="Google Shape;133;g380f001374e_0_216"/>
          <p:cNvSpPr txBox="1"/>
          <p:nvPr>
            <p:ph idx="2" type="body"/>
          </p:nvPr>
        </p:nvSpPr>
        <p:spPr>
          <a:xfrm>
            <a:off x="609600" y="1435100"/>
            <a:ext cx="40113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0f001374e_0_220"/>
          <p:cNvSpPr txBox="1"/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80f001374e_0_22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g380f001374e_0_220"/>
          <p:cNvSpPr txBox="1"/>
          <p:nvPr>
            <p:ph idx="1" type="body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65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0f001374e_0_224"/>
          <p:cNvSpPr txBox="1"/>
          <p:nvPr>
            <p:ph type="title"/>
          </p:nvPr>
        </p:nvSpPr>
        <p:spPr>
          <a:xfrm>
            <a:off x="609600" y="228600"/>
            <a:ext cx="109728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g380f001374e_0_224"/>
          <p:cNvSpPr txBox="1"/>
          <p:nvPr>
            <p:ph idx="1" type="body"/>
          </p:nvPr>
        </p:nvSpPr>
        <p:spPr>
          <a:xfrm rot="5400000">
            <a:off x="3924300" y="-2262187"/>
            <a:ext cx="43434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80f001374e_0_227"/>
          <p:cNvSpPr txBox="1"/>
          <p:nvPr>
            <p:ph type="title"/>
          </p:nvPr>
        </p:nvSpPr>
        <p:spPr>
          <a:xfrm rot="5400000">
            <a:off x="7627200" y="1440600"/>
            <a:ext cx="5167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80f001374e_0_227"/>
          <p:cNvSpPr txBox="1"/>
          <p:nvPr>
            <p:ph idx="1" type="body"/>
          </p:nvPr>
        </p:nvSpPr>
        <p:spPr>
          <a:xfrm rot="5400000">
            <a:off x="2039150" y="-1201050"/>
            <a:ext cx="5167200" cy="80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14325" lvl="0" marL="457200" algn="l">
              <a:spcBef>
                <a:spcPts val="360"/>
              </a:spcBef>
              <a:spcAft>
                <a:spcPts val="0"/>
              </a:spcAft>
              <a:buSzPts val="1350"/>
              <a:buChar char="●"/>
              <a:defRPr/>
            </a:lvl1pPr>
            <a:lvl2pPr indent="-302894" lvl="1" marL="9144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0f001374e_0_188"/>
          <p:cNvSpPr txBox="1"/>
          <p:nvPr>
            <p:ph type="title"/>
          </p:nvPr>
        </p:nvSpPr>
        <p:spPr>
          <a:xfrm>
            <a:off x="609600" y="228600"/>
            <a:ext cx="109728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g380f001374e_0_188"/>
          <p:cNvSpPr txBox="1"/>
          <p:nvPr>
            <p:ph idx="1" type="body"/>
          </p:nvPr>
        </p:nvSpPr>
        <p:spPr>
          <a:xfrm>
            <a:off x="609600" y="1052513"/>
            <a:ext cx="109728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>
            <a:lvl1pPr indent="-352425" lvl="0" marL="457200" marR="0" algn="l"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Char char="●"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7660" lvl="1" marL="914400" marR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Arial"/>
              <a:buChar char="●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19405" lvl="2" marL="1371600" marR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Arial"/>
              <a:buChar char="●"/>
              <a:defRPr b="0" i="0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●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05" name="Google Shape;105;g380f001374e_0_188"/>
          <p:cNvSpPr/>
          <p:nvPr/>
        </p:nvSpPr>
        <p:spPr>
          <a:xfrm>
            <a:off x="0" y="836613"/>
            <a:ext cx="6096000" cy="76200"/>
          </a:xfrm>
          <a:prstGeom prst="rect">
            <a:avLst/>
          </a:prstGeom>
          <a:gradFill>
            <a:gsLst>
              <a:gs pos="0">
                <a:srgbClr val="FF8200"/>
              </a:gs>
              <a:gs pos="10000">
                <a:srgbClr val="FF0000"/>
              </a:gs>
              <a:gs pos="35000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" name="Google Shape;106;g380f001374e_0_188"/>
          <p:cNvSpPr/>
          <p:nvPr/>
        </p:nvSpPr>
        <p:spPr>
          <a:xfrm>
            <a:off x="6096000" y="836613"/>
            <a:ext cx="6096000" cy="76200"/>
          </a:xfrm>
          <a:prstGeom prst="rect">
            <a:avLst/>
          </a:prstGeom>
          <a:gradFill>
            <a:gsLst>
              <a:gs pos="0">
                <a:srgbClr val="00008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7" name="Google Shape;107;g380f001374e_0_188"/>
          <p:cNvSpPr/>
          <p:nvPr/>
        </p:nvSpPr>
        <p:spPr>
          <a:xfrm>
            <a:off x="3767667" y="6653213"/>
            <a:ext cx="56895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Dr. Md. Abul Kashem Mia, Professor, CSE Dept, BUET</a:t>
            </a: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CSE 2215: Data Structure and Algorithms-II</a:t>
            </a:r>
            <a:endParaRPr/>
          </a:p>
        </p:txBody>
      </p:sp>
      <p:sp>
        <p:nvSpPr>
          <p:cNvPr id="149" name="Google Shape;149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Minimum Spanning Tree</a:t>
            </a:r>
            <a:endParaRPr/>
          </a:p>
        </p:txBody>
      </p:sp>
      <p:sp>
        <p:nvSpPr>
          <p:cNvPr id="150" name="Google Shape;150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151" name="Google Shape;151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52" name="Google Shape;152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/>
              <a:t>What is a spanning tree?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/>
              <a:t>What is a minimum spanning tree (MST)?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/>
              <a:t>Optimal Substructure Property in the MST problem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/>
              <a:t>Prim’s Algorithm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Simulation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Algorithm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Cost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/>
              <a:t>Kruskal’s Algorithm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Simulation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Algorithm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Cost Analysis</a:t>
            </a:r>
            <a:endParaRPr/>
          </a:p>
        </p:txBody>
      </p:sp>
      <p:sp>
        <p:nvSpPr>
          <p:cNvPr id="158" name="Google Shape;158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159" name="Google Shape;159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60" name="Google Shape;160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Things You Will Learn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A </a:t>
            </a:r>
            <a:r>
              <a:rPr b="1" lang="en-US"/>
              <a:t>spanning tree </a:t>
            </a:r>
            <a:r>
              <a:rPr lang="en-US"/>
              <a:t>is a subset of Graph G, which has all the vertices covered with minimum possible number of edges. Hence, a spanning tree does not have cycles and it cannot be disconnected. By this definition, we can draw a conclusion that every connected and undirected Graph G has at least one spanning tree.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If there are </a:t>
            </a:r>
            <a:r>
              <a:rPr b="1" lang="en-US"/>
              <a:t>n vertices </a:t>
            </a:r>
            <a:r>
              <a:rPr lang="en-US"/>
              <a:t>in the graph, then each spanning tree has </a:t>
            </a:r>
            <a:r>
              <a:rPr b="1" lang="en-US"/>
              <a:t>n − 1 edges.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168" name="Google Shape;168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69" name="Google Shape;169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" name="Google Shape;170;p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Spanning Tree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176" name="Google Shape;176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77" name="Google Shape;177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8" name="Google Shape;178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Spanning Tree</a:t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3368040" y="2479825"/>
            <a:ext cx="533400" cy="533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6416040" y="2479825"/>
            <a:ext cx="533400" cy="533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9083040" y="2479825"/>
            <a:ext cx="533400" cy="533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3368040" y="4080025"/>
            <a:ext cx="533400" cy="533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6416040" y="4080025"/>
            <a:ext cx="533400" cy="533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9083040" y="4080025"/>
            <a:ext cx="533400" cy="533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4892040" y="4765825"/>
            <a:ext cx="533400" cy="533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4892040" y="1794025"/>
            <a:ext cx="533400" cy="5334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4"/>
          <p:cNvCxnSpPr>
            <a:stCxn id="186" idx="5"/>
            <a:endCxn id="180" idx="1"/>
          </p:cNvCxnSpPr>
          <p:nvPr/>
        </p:nvCxnSpPr>
        <p:spPr>
          <a:xfrm>
            <a:off x="5347325" y="2249310"/>
            <a:ext cx="1146900" cy="308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8" name="Google Shape;188;p4"/>
          <p:cNvCxnSpPr>
            <a:stCxn id="186" idx="3"/>
            <a:endCxn id="179" idx="7"/>
          </p:cNvCxnSpPr>
          <p:nvPr/>
        </p:nvCxnSpPr>
        <p:spPr>
          <a:xfrm flipH="1">
            <a:off x="3823255" y="2249310"/>
            <a:ext cx="1146900" cy="308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4"/>
          <p:cNvCxnSpPr>
            <a:stCxn id="179" idx="6"/>
            <a:endCxn id="180" idx="2"/>
          </p:cNvCxnSpPr>
          <p:nvPr/>
        </p:nvCxnSpPr>
        <p:spPr>
          <a:xfrm>
            <a:off x="3901440" y="2746525"/>
            <a:ext cx="2514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4"/>
          <p:cNvCxnSpPr>
            <a:stCxn id="182" idx="0"/>
            <a:endCxn id="179" idx="4"/>
          </p:cNvCxnSpPr>
          <p:nvPr/>
        </p:nvCxnSpPr>
        <p:spPr>
          <a:xfrm rot="10800000">
            <a:off x="3634740" y="3013225"/>
            <a:ext cx="0" cy="106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4"/>
          <p:cNvCxnSpPr>
            <a:stCxn id="182" idx="5"/>
            <a:endCxn id="185" idx="1"/>
          </p:cNvCxnSpPr>
          <p:nvPr/>
        </p:nvCxnSpPr>
        <p:spPr>
          <a:xfrm>
            <a:off x="3823325" y="4535310"/>
            <a:ext cx="1146900" cy="308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4"/>
          <p:cNvCxnSpPr>
            <a:stCxn id="185" idx="7"/>
            <a:endCxn id="183" idx="3"/>
          </p:cNvCxnSpPr>
          <p:nvPr/>
        </p:nvCxnSpPr>
        <p:spPr>
          <a:xfrm flipH="1" rot="10800000">
            <a:off x="5347325" y="4535240"/>
            <a:ext cx="1146900" cy="308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4"/>
          <p:cNvCxnSpPr>
            <a:stCxn id="183" idx="0"/>
            <a:endCxn id="180" idx="4"/>
          </p:cNvCxnSpPr>
          <p:nvPr/>
        </p:nvCxnSpPr>
        <p:spPr>
          <a:xfrm rot="10800000">
            <a:off x="6682740" y="3013225"/>
            <a:ext cx="0" cy="1066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4"/>
          <p:cNvCxnSpPr>
            <a:stCxn id="180" idx="6"/>
            <a:endCxn id="181" idx="2"/>
          </p:cNvCxnSpPr>
          <p:nvPr/>
        </p:nvCxnSpPr>
        <p:spPr>
          <a:xfrm>
            <a:off x="6949440" y="2746525"/>
            <a:ext cx="2133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4"/>
          <p:cNvCxnSpPr>
            <a:stCxn id="183" idx="6"/>
            <a:endCxn id="184" idx="2"/>
          </p:cNvCxnSpPr>
          <p:nvPr/>
        </p:nvCxnSpPr>
        <p:spPr>
          <a:xfrm>
            <a:off x="6949440" y="4346725"/>
            <a:ext cx="2133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4"/>
          <p:cNvCxnSpPr>
            <a:stCxn id="185" idx="0"/>
            <a:endCxn id="179" idx="5"/>
          </p:cNvCxnSpPr>
          <p:nvPr/>
        </p:nvCxnSpPr>
        <p:spPr>
          <a:xfrm flipH="1" rot="5400000">
            <a:off x="3575790" y="3182875"/>
            <a:ext cx="1830600" cy="1335300"/>
          </a:xfrm>
          <a:prstGeom prst="curvedConnector3">
            <a:avLst>
              <a:gd fmla="val 47869" name="adj1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4"/>
          <p:cNvSpPr txBox="1"/>
          <p:nvPr/>
        </p:nvSpPr>
        <p:spPr>
          <a:xfrm>
            <a:off x="3234690" y="3256113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4530090" y="3546625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4206240" y="4613425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4206240" y="2022625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5876290" y="2022625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4968240" y="239410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6714490" y="330215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7857490" y="2403625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7800340" y="3987950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5793740" y="4638825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838200" y="1112130"/>
            <a:ext cx="67446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us use this weighted graph as an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213" name="Google Shape;213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14" name="Google Shape;214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" name="Google Shape;215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Minimum Spanning Tree</a:t>
            </a:r>
            <a:endParaRPr/>
          </a:p>
        </p:txBody>
      </p:sp>
      <p:pic>
        <p:nvPicPr>
          <p:cNvPr id="216" name="Google Shape;2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2667" y="2155488"/>
            <a:ext cx="5031133" cy="277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3440" y="2155488"/>
            <a:ext cx="5031134" cy="2773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"/>
          <p:cNvSpPr txBox="1"/>
          <p:nvPr>
            <p:ph idx="1" type="body"/>
          </p:nvPr>
        </p:nvSpPr>
        <p:spPr>
          <a:xfrm>
            <a:off x="838200" y="1227909"/>
            <a:ext cx="10515600" cy="49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The problem of finding MSTs satisfies the optimal substructure property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/>
              <a:t>An optimal minimum spanning tree is composed of optimal minimum spanning subtrees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224" name="Google Shape;224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25" name="Google Shape;225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Optimal Substructure Property in MST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3803650" y="4157663"/>
            <a:ext cx="382588" cy="381000"/>
          </a:xfrm>
          <a:prstGeom prst="ellipse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5988050" y="4157663"/>
            <a:ext cx="381000" cy="381000"/>
          </a:xfrm>
          <a:prstGeom prst="ellipse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7897813" y="4157663"/>
            <a:ext cx="382587" cy="381000"/>
          </a:xfrm>
          <a:prstGeom prst="ellipse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803650" y="5303838"/>
            <a:ext cx="382588" cy="381000"/>
          </a:xfrm>
          <a:prstGeom prst="ellipse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5988050" y="5303838"/>
            <a:ext cx="381000" cy="381000"/>
          </a:xfrm>
          <a:prstGeom prst="ellipse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7897813" y="5303838"/>
            <a:ext cx="382587" cy="381000"/>
          </a:xfrm>
          <a:prstGeom prst="ellipse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4895850" y="5794375"/>
            <a:ext cx="382588" cy="382588"/>
          </a:xfrm>
          <a:prstGeom prst="ellipse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4895850" y="3665538"/>
            <a:ext cx="382588" cy="382587"/>
          </a:xfrm>
          <a:prstGeom prst="ellipse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35" name="Google Shape;235;p6"/>
          <p:cNvCxnSpPr>
            <a:stCxn id="234" idx="2"/>
            <a:endCxn id="227" idx="7"/>
          </p:cNvCxnSpPr>
          <p:nvPr/>
        </p:nvCxnSpPr>
        <p:spPr>
          <a:xfrm flipH="1">
            <a:off x="4130250" y="3856832"/>
            <a:ext cx="765600" cy="356700"/>
          </a:xfrm>
          <a:prstGeom prst="straightConnector1">
            <a:avLst/>
          </a:prstGeom>
          <a:noFill/>
          <a:ln cap="flat" cmpd="sng" w="381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6"/>
          <p:cNvCxnSpPr>
            <a:stCxn id="230" idx="0"/>
            <a:endCxn id="227" idx="4"/>
          </p:cNvCxnSpPr>
          <p:nvPr/>
        </p:nvCxnSpPr>
        <p:spPr>
          <a:xfrm rot="10800000">
            <a:off x="3994944" y="4538538"/>
            <a:ext cx="0" cy="765300"/>
          </a:xfrm>
          <a:prstGeom prst="straightConnector1">
            <a:avLst/>
          </a:prstGeom>
          <a:noFill/>
          <a:ln cap="flat" cmpd="sng" w="381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6"/>
          <p:cNvCxnSpPr>
            <a:stCxn id="233" idx="0"/>
            <a:endCxn id="227" idx="5"/>
          </p:cNvCxnSpPr>
          <p:nvPr/>
        </p:nvCxnSpPr>
        <p:spPr>
          <a:xfrm flipH="1" rot="5400000">
            <a:off x="3952844" y="4660075"/>
            <a:ext cx="1311600" cy="957000"/>
          </a:xfrm>
          <a:prstGeom prst="curvedConnector3">
            <a:avLst>
              <a:gd fmla="val 47801" name="adj1"/>
            </a:avLst>
          </a:prstGeom>
          <a:noFill/>
          <a:ln cap="flat" cmpd="sng" w="38100">
            <a:solidFill>
              <a:srgbClr val="0033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6"/>
          <p:cNvSpPr txBox="1"/>
          <p:nvPr/>
        </p:nvSpPr>
        <p:spPr>
          <a:xfrm>
            <a:off x="4587875" y="4884738"/>
            <a:ext cx="412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 txBox="1"/>
          <p:nvPr/>
        </p:nvSpPr>
        <p:spPr>
          <a:xfrm>
            <a:off x="4367213" y="570865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 txBox="1"/>
          <p:nvPr/>
        </p:nvSpPr>
        <p:spPr>
          <a:xfrm>
            <a:off x="4367213" y="374173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5564188" y="374173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/>
        </p:nvSpPr>
        <p:spPr>
          <a:xfrm>
            <a:off x="4913313" y="404653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"/>
          <p:cNvSpPr txBox="1"/>
          <p:nvPr/>
        </p:nvSpPr>
        <p:spPr>
          <a:xfrm>
            <a:off x="6164263" y="477043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6"/>
          <p:cNvSpPr txBox="1"/>
          <p:nvPr/>
        </p:nvSpPr>
        <p:spPr>
          <a:xfrm>
            <a:off x="6983413" y="3970338"/>
            <a:ext cx="2984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6"/>
          <p:cNvSpPr txBox="1"/>
          <p:nvPr/>
        </p:nvSpPr>
        <p:spPr>
          <a:xfrm>
            <a:off x="6929438" y="5105400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5503863" y="5727700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3581400" y="4738688"/>
            <a:ext cx="4127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6"/>
          <p:cNvCxnSpPr>
            <a:stCxn id="229" idx="2"/>
            <a:endCxn id="228" idx="6"/>
          </p:cNvCxnSpPr>
          <p:nvPr/>
        </p:nvCxnSpPr>
        <p:spPr>
          <a:xfrm rot="10800000">
            <a:off x="6369013" y="4348163"/>
            <a:ext cx="1528800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6"/>
          <p:cNvCxnSpPr>
            <a:stCxn id="232" idx="2"/>
            <a:endCxn id="231" idx="6"/>
          </p:cNvCxnSpPr>
          <p:nvPr/>
        </p:nvCxnSpPr>
        <p:spPr>
          <a:xfrm rot="10800000">
            <a:off x="6369013" y="5494338"/>
            <a:ext cx="1528800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6"/>
          <p:cNvCxnSpPr>
            <a:stCxn id="231" idx="3"/>
            <a:endCxn id="233" idx="7"/>
          </p:cNvCxnSpPr>
          <p:nvPr/>
        </p:nvCxnSpPr>
        <p:spPr>
          <a:xfrm flipH="1">
            <a:off x="5222446" y="5629042"/>
            <a:ext cx="821400" cy="22140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1" name="Google Shape;251;p6"/>
          <p:cNvCxnSpPr>
            <a:stCxn id="233" idx="1"/>
            <a:endCxn id="230" idx="5"/>
          </p:cNvCxnSpPr>
          <p:nvPr/>
        </p:nvCxnSpPr>
        <p:spPr>
          <a:xfrm rot="10800000">
            <a:off x="4130179" y="5629004"/>
            <a:ext cx="821700" cy="22140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2" name="Google Shape;252;p6"/>
          <p:cNvCxnSpPr>
            <a:stCxn id="228" idx="2"/>
            <a:endCxn id="227" idx="6"/>
          </p:cNvCxnSpPr>
          <p:nvPr/>
        </p:nvCxnSpPr>
        <p:spPr>
          <a:xfrm rot="10800000">
            <a:off x="4186250" y="4348163"/>
            <a:ext cx="1801800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6"/>
          <p:cNvCxnSpPr>
            <a:stCxn id="228" idx="1"/>
            <a:endCxn id="234" idx="6"/>
          </p:cNvCxnSpPr>
          <p:nvPr/>
        </p:nvCxnSpPr>
        <p:spPr>
          <a:xfrm rot="10800000">
            <a:off x="5278546" y="3856759"/>
            <a:ext cx="765300" cy="35670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6"/>
          <p:cNvCxnSpPr>
            <a:stCxn id="231" idx="0"/>
            <a:endCxn id="228" idx="4"/>
          </p:cNvCxnSpPr>
          <p:nvPr/>
        </p:nvCxnSpPr>
        <p:spPr>
          <a:xfrm rot="10800000">
            <a:off x="6178550" y="4538538"/>
            <a:ext cx="0" cy="76530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0f001374e_0_0"/>
          <p:cNvSpPr txBox="1"/>
          <p:nvPr>
            <p:ph type="title"/>
          </p:nvPr>
        </p:nvSpPr>
        <p:spPr>
          <a:xfrm>
            <a:off x="609600" y="228600"/>
            <a:ext cx="109728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Minimum Spanning Tree</a:t>
            </a:r>
            <a:endParaRPr/>
          </a:p>
        </p:txBody>
      </p:sp>
      <p:sp>
        <p:nvSpPr>
          <p:cNvPr id="260" name="Google Shape;260;g380f001374e_0_0"/>
          <p:cNvSpPr txBox="1"/>
          <p:nvPr>
            <p:ph idx="1" type="body"/>
          </p:nvPr>
        </p:nvSpPr>
        <p:spPr>
          <a:xfrm>
            <a:off x="609600" y="1052513"/>
            <a:ext cx="11201700" cy="3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50"/>
              <a:buChar char="•"/>
            </a:pPr>
            <a:r>
              <a:rPr lang="en-US" sz="2200"/>
              <a:t>MSTs satisfy the </a:t>
            </a:r>
            <a:r>
              <a:rPr i="1" lang="en-US" sz="2200">
                <a:solidFill>
                  <a:srgbClr val="FF0000"/>
                </a:solidFill>
              </a:rPr>
              <a:t>optimal substructure</a:t>
            </a:r>
            <a:r>
              <a:rPr lang="en-US" sz="2200">
                <a:solidFill>
                  <a:srgbClr val="FF0000"/>
                </a:solidFill>
              </a:rPr>
              <a:t> property</a:t>
            </a:r>
            <a:r>
              <a:rPr lang="en-US" sz="2200"/>
              <a:t>: </a:t>
            </a:r>
            <a:r>
              <a:rPr lang="en-US" sz="2200">
                <a:solidFill>
                  <a:srgbClr val="0000CC"/>
                </a:solidFill>
              </a:rPr>
              <a:t>an optimal minimum spanning tree is composed of optimal minimum spanning subtrees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300"/>
              <a:buChar char="•"/>
            </a:pPr>
            <a:r>
              <a:rPr lang="en-US" sz="2000"/>
              <a:t>Let T be an MST of G with an edge (</a:t>
            </a:r>
            <a:r>
              <a:rPr i="1" lang="en-US" sz="2000"/>
              <a:t>u, v</a:t>
            </a:r>
            <a:r>
              <a:rPr lang="en-US" sz="2000"/>
              <a:t>) in the middle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300"/>
              <a:buChar char="•"/>
            </a:pPr>
            <a:r>
              <a:rPr lang="en-US" sz="2000"/>
              <a:t>Removing (</a:t>
            </a:r>
            <a:r>
              <a:rPr i="1" lang="en-US" sz="2000"/>
              <a:t>u, v</a:t>
            </a:r>
            <a:r>
              <a:rPr lang="en-US" sz="2000"/>
              <a:t>) partitions T into two trees T</a:t>
            </a:r>
            <a:r>
              <a:rPr baseline="-25000" lang="en-US" sz="2000"/>
              <a:t>1</a:t>
            </a:r>
            <a:r>
              <a:rPr lang="en-US" sz="2000"/>
              <a:t> and T</a:t>
            </a:r>
            <a:r>
              <a:rPr baseline="-25000" lang="en-US" sz="2000"/>
              <a:t>2</a:t>
            </a:r>
            <a:endParaRPr sz="20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300"/>
              <a:buChar char="•"/>
            </a:pPr>
            <a:r>
              <a:rPr lang="en-US" sz="2000"/>
              <a:t>Claim: T</a:t>
            </a:r>
            <a:r>
              <a:rPr baseline="-25000" lang="en-US" sz="2000"/>
              <a:t>1</a:t>
            </a:r>
            <a:r>
              <a:rPr lang="en-US" sz="2000"/>
              <a:t> is an MST of G</a:t>
            </a:r>
            <a:r>
              <a:rPr baseline="-25000" lang="en-US" sz="2000"/>
              <a:t>1</a:t>
            </a:r>
            <a:r>
              <a:rPr lang="en-US" sz="2000"/>
              <a:t> = (V</a:t>
            </a:r>
            <a:r>
              <a:rPr baseline="-25000" lang="en-US" sz="2000"/>
              <a:t>1</a:t>
            </a:r>
            <a:r>
              <a:rPr lang="en-US" sz="2000"/>
              <a:t>,E</a:t>
            </a:r>
            <a:r>
              <a:rPr baseline="-25000" lang="en-US" sz="2000"/>
              <a:t>1</a:t>
            </a:r>
            <a:r>
              <a:rPr lang="en-US" sz="2000"/>
              <a:t>), and T</a:t>
            </a:r>
            <a:r>
              <a:rPr baseline="-25000" lang="en-US" sz="2000"/>
              <a:t>2</a:t>
            </a:r>
            <a:r>
              <a:rPr lang="en-US" sz="2000"/>
              <a:t> is an MST of G</a:t>
            </a:r>
            <a:r>
              <a:rPr baseline="-25000" lang="en-US" sz="2000"/>
              <a:t>2</a:t>
            </a:r>
            <a:r>
              <a:rPr lang="en-US" sz="2000"/>
              <a:t> = (V</a:t>
            </a:r>
            <a:r>
              <a:rPr baseline="-25000" lang="en-US" sz="2000"/>
              <a:t>2</a:t>
            </a:r>
            <a:r>
              <a:rPr lang="en-US" sz="2000"/>
              <a:t>,E</a:t>
            </a:r>
            <a:r>
              <a:rPr baseline="-25000" lang="en-US" sz="2000"/>
              <a:t>2</a:t>
            </a:r>
            <a:r>
              <a:rPr lang="en-US" sz="2000"/>
              <a:t>)     	      (</a:t>
            </a:r>
            <a:r>
              <a:rPr i="1" lang="en-US" sz="2000">
                <a:solidFill>
                  <a:schemeClr val="accent1"/>
                </a:solidFill>
              </a:rPr>
              <a:t>Do V</a:t>
            </a:r>
            <a:r>
              <a:rPr baseline="-25000" i="1" lang="en-US" sz="2000">
                <a:solidFill>
                  <a:schemeClr val="accent1"/>
                </a:solidFill>
              </a:rPr>
              <a:t>1</a:t>
            </a:r>
            <a:r>
              <a:rPr i="1" lang="en-US" sz="2000">
                <a:solidFill>
                  <a:schemeClr val="accent1"/>
                </a:solidFill>
              </a:rPr>
              <a:t> and V</a:t>
            </a:r>
            <a:r>
              <a:rPr baseline="-25000" i="1" lang="en-US" sz="2000">
                <a:solidFill>
                  <a:schemeClr val="accent1"/>
                </a:solidFill>
              </a:rPr>
              <a:t>2</a:t>
            </a:r>
            <a:r>
              <a:rPr i="1" lang="en-US" sz="2000">
                <a:solidFill>
                  <a:schemeClr val="accent1"/>
                </a:solidFill>
              </a:rPr>
              <a:t> share vertices?  Why?</a:t>
            </a:r>
            <a:r>
              <a:rPr lang="en-US" sz="2000"/>
              <a:t>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300"/>
              <a:buChar char="•"/>
            </a:pPr>
            <a:r>
              <a:rPr lang="en-US" sz="2000"/>
              <a:t>Proof: w(T) = w(</a:t>
            </a:r>
            <a:r>
              <a:rPr i="1" lang="en-US" sz="2000"/>
              <a:t>u,v</a:t>
            </a:r>
            <a:r>
              <a:rPr lang="en-US" sz="2000"/>
              <a:t>) + w(T</a:t>
            </a:r>
            <a:r>
              <a:rPr baseline="-25000" lang="en-US" sz="2000"/>
              <a:t>1</a:t>
            </a:r>
            <a:r>
              <a:rPr lang="en-US" sz="2000"/>
              <a:t>) + w(T</a:t>
            </a:r>
            <a:r>
              <a:rPr baseline="-25000" lang="en-US" sz="2000"/>
              <a:t>2</a:t>
            </a:r>
            <a:r>
              <a:rPr lang="en-US" sz="2000"/>
              <a:t>)</a:t>
            </a:r>
            <a:br>
              <a:rPr lang="en-US" sz="2000"/>
            </a:br>
            <a:r>
              <a:rPr lang="en-US" sz="2000"/>
              <a:t>(There can’t be a better tree than T</a:t>
            </a:r>
            <a:r>
              <a:rPr baseline="-25000" lang="en-US" sz="2000"/>
              <a:t>1</a:t>
            </a:r>
            <a:r>
              <a:rPr lang="en-US" sz="2000"/>
              <a:t> or T</a:t>
            </a:r>
            <a:r>
              <a:rPr baseline="-25000" lang="en-US" sz="2000"/>
              <a:t>2</a:t>
            </a:r>
            <a:r>
              <a:rPr lang="en-US" sz="2000"/>
              <a:t>. Then T would be suboptimal)</a:t>
            </a:r>
            <a:endParaRPr/>
          </a:p>
        </p:txBody>
      </p:sp>
      <p:sp>
        <p:nvSpPr>
          <p:cNvPr id="261" name="Google Shape;261;g380f001374e_0_0"/>
          <p:cNvSpPr/>
          <p:nvPr/>
        </p:nvSpPr>
        <p:spPr>
          <a:xfrm>
            <a:off x="3420533" y="4564063"/>
            <a:ext cx="510000" cy="381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2" name="Google Shape;262;g380f001374e_0_0"/>
          <p:cNvSpPr/>
          <p:nvPr/>
        </p:nvSpPr>
        <p:spPr>
          <a:xfrm>
            <a:off x="6333067" y="4564063"/>
            <a:ext cx="507900" cy="381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3" name="Google Shape;263;g380f001374e_0_0"/>
          <p:cNvSpPr/>
          <p:nvPr/>
        </p:nvSpPr>
        <p:spPr>
          <a:xfrm>
            <a:off x="8879417" y="4564063"/>
            <a:ext cx="510000" cy="381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4" name="Google Shape;264;g380f001374e_0_0"/>
          <p:cNvSpPr/>
          <p:nvPr/>
        </p:nvSpPr>
        <p:spPr>
          <a:xfrm>
            <a:off x="3420533" y="5710238"/>
            <a:ext cx="510000" cy="381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5" name="Google Shape;265;g380f001374e_0_0"/>
          <p:cNvSpPr/>
          <p:nvPr/>
        </p:nvSpPr>
        <p:spPr>
          <a:xfrm>
            <a:off x="6333067" y="5710238"/>
            <a:ext cx="507900" cy="381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6" name="Google Shape;266;g380f001374e_0_0"/>
          <p:cNvSpPr/>
          <p:nvPr/>
        </p:nvSpPr>
        <p:spPr>
          <a:xfrm>
            <a:off x="8879417" y="5710238"/>
            <a:ext cx="510000" cy="3810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7" name="Google Shape;267;g380f001374e_0_0"/>
          <p:cNvSpPr/>
          <p:nvPr/>
        </p:nvSpPr>
        <p:spPr>
          <a:xfrm>
            <a:off x="4876800" y="6200775"/>
            <a:ext cx="510000" cy="3825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" name="Google Shape;268;g380f001374e_0_0"/>
          <p:cNvSpPr/>
          <p:nvPr/>
        </p:nvSpPr>
        <p:spPr>
          <a:xfrm>
            <a:off x="4876800" y="4071938"/>
            <a:ext cx="510000" cy="3825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69" name="Google Shape;269;g380f001374e_0_0"/>
          <p:cNvCxnSpPr>
            <a:stCxn id="268" idx="5"/>
            <a:endCxn id="262" idx="1"/>
          </p:cNvCxnSpPr>
          <p:nvPr/>
        </p:nvCxnSpPr>
        <p:spPr>
          <a:xfrm>
            <a:off x="5312112" y="4398422"/>
            <a:ext cx="1095300" cy="22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g380f001374e_0_0"/>
          <p:cNvCxnSpPr>
            <a:stCxn id="268" idx="3"/>
            <a:endCxn id="261" idx="7"/>
          </p:cNvCxnSpPr>
          <p:nvPr/>
        </p:nvCxnSpPr>
        <p:spPr>
          <a:xfrm flipH="1">
            <a:off x="3855888" y="4398422"/>
            <a:ext cx="1095600" cy="221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g380f001374e_0_0"/>
          <p:cNvCxnSpPr>
            <a:stCxn id="261" idx="6"/>
            <a:endCxn id="262" idx="2"/>
          </p:cNvCxnSpPr>
          <p:nvPr/>
        </p:nvCxnSpPr>
        <p:spPr>
          <a:xfrm>
            <a:off x="3930533" y="4754563"/>
            <a:ext cx="24024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g380f001374e_0_0"/>
          <p:cNvCxnSpPr>
            <a:stCxn id="264" idx="0"/>
            <a:endCxn id="261" idx="4"/>
          </p:cNvCxnSpPr>
          <p:nvPr/>
        </p:nvCxnSpPr>
        <p:spPr>
          <a:xfrm rot="10800000">
            <a:off x="3675533" y="4944938"/>
            <a:ext cx="0" cy="7653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g380f001374e_0_0"/>
          <p:cNvCxnSpPr>
            <a:stCxn id="264" idx="5"/>
            <a:endCxn id="267" idx="1"/>
          </p:cNvCxnSpPr>
          <p:nvPr/>
        </p:nvCxnSpPr>
        <p:spPr>
          <a:xfrm>
            <a:off x="3855846" y="6035442"/>
            <a:ext cx="1095600" cy="22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4" name="Google Shape;274;g380f001374e_0_0"/>
          <p:cNvCxnSpPr>
            <a:stCxn id="267" idx="7"/>
            <a:endCxn id="265" idx="3"/>
          </p:cNvCxnSpPr>
          <p:nvPr/>
        </p:nvCxnSpPr>
        <p:spPr>
          <a:xfrm flipH="1" rot="10800000">
            <a:off x="5312112" y="6035391"/>
            <a:ext cx="1095300" cy="221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5" name="Google Shape;275;g380f001374e_0_0"/>
          <p:cNvCxnSpPr>
            <a:stCxn id="265" idx="0"/>
            <a:endCxn id="262" idx="4"/>
          </p:cNvCxnSpPr>
          <p:nvPr/>
        </p:nvCxnSpPr>
        <p:spPr>
          <a:xfrm rot="10800000">
            <a:off x="6587017" y="4944938"/>
            <a:ext cx="0" cy="765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6" name="Google Shape;276;g380f001374e_0_0"/>
          <p:cNvCxnSpPr>
            <a:stCxn id="262" idx="6"/>
            <a:endCxn id="263" idx="2"/>
          </p:cNvCxnSpPr>
          <p:nvPr/>
        </p:nvCxnSpPr>
        <p:spPr>
          <a:xfrm>
            <a:off x="6840967" y="4754563"/>
            <a:ext cx="2038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7" name="Google Shape;277;g380f001374e_0_0"/>
          <p:cNvCxnSpPr>
            <a:stCxn id="265" idx="6"/>
            <a:endCxn id="266" idx="2"/>
          </p:cNvCxnSpPr>
          <p:nvPr/>
        </p:nvCxnSpPr>
        <p:spPr>
          <a:xfrm>
            <a:off x="6840967" y="5900738"/>
            <a:ext cx="2038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78" name="Google Shape;278;g380f001374e_0_0"/>
          <p:cNvCxnSpPr>
            <a:stCxn id="267" idx="0"/>
            <a:endCxn id="261" idx="5"/>
          </p:cNvCxnSpPr>
          <p:nvPr/>
        </p:nvCxnSpPr>
        <p:spPr>
          <a:xfrm flipH="1" rot="5400000">
            <a:off x="3838050" y="4907025"/>
            <a:ext cx="1311600" cy="1275900"/>
          </a:xfrm>
          <a:prstGeom prst="curvedConnector3">
            <a:avLst>
              <a:gd fmla="val 47801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" name="Google Shape;279;g380f001374e_0_0"/>
          <p:cNvSpPr txBox="1"/>
          <p:nvPr/>
        </p:nvSpPr>
        <p:spPr>
          <a:xfrm>
            <a:off x="4466167" y="5291138"/>
            <a:ext cx="55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280" name="Google Shape;280;g380f001374e_0_0"/>
          <p:cNvSpPr txBox="1"/>
          <p:nvPr/>
        </p:nvSpPr>
        <p:spPr>
          <a:xfrm>
            <a:off x="4171951" y="6115050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281" name="Google Shape;281;g380f001374e_0_0"/>
          <p:cNvSpPr txBox="1"/>
          <p:nvPr/>
        </p:nvSpPr>
        <p:spPr>
          <a:xfrm>
            <a:off x="4171951" y="4148138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282" name="Google Shape;282;g380f001374e_0_0"/>
          <p:cNvSpPr txBox="1"/>
          <p:nvPr/>
        </p:nvSpPr>
        <p:spPr>
          <a:xfrm>
            <a:off x="5767917" y="4148138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283" name="Google Shape;283;g380f001374e_0_0"/>
          <p:cNvSpPr txBox="1"/>
          <p:nvPr/>
        </p:nvSpPr>
        <p:spPr>
          <a:xfrm>
            <a:off x="4900084" y="4452938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284" name="Google Shape;284;g380f001374e_0_0"/>
          <p:cNvSpPr txBox="1"/>
          <p:nvPr/>
        </p:nvSpPr>
        <p:spPr>
          <a:xfrm>
            <a:off x="6568017" y="5176838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285" name="Google Shape;285;g380f001374e_0_0"/>
          <p:cNvSpPr txBox="1"/>
          <p:nvPr/>
        </p:nvSpPr>
        <p:spPr>
          <a:xfrm>
            <a:off x="7660217" y="4376738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286" name="Google Shape;286;g380f001374e_0_0"/>
          <p:cNvSpPr txBox="1"/>
          <p:nvPr/>
        </p:nvSpPr>
        <p:spPr>
          <a:xfrm>
            <a:off x="7588251" y="5511800"/>
            <a:ext cx="55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/>
          </a:p>
        </p:txBody>
      </p:sp>
      <p:sp>
        <p:nvSpPr>
          <p:cNvPr id="287" name="Google Shape;287;g380f001374e_0_0"/>
          <p:cNvSpPr txBox="1"/>
          <p:nvPr/>
        </p:nvSpPr>
        <p:spPr>
          <a:xfrm>
            <a:off x="5687484" y="6134100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288" name="Google Shape;288;g380f001374e_0_0"/>
          <p:cNvSpPr txBox="1"/>
          <p:nvPr/>
        </p:nvSpPr>
        <p:spPr>
          <a:xfrm>
            <a:off x="3124200" y="5145088"/>
            <a:ext cx="55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>
                <a:solidFill>
                  <a:schemeClr val="accent6"/>
                </a:solidFill>
              </a:rPr>
              <a:t>What is a spanning tree?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>
                <a:solidFill>
                  <a:schemeClr val="accent6"/>
                </a:solidFill>
              </a:rPr>
              <a:t>What is a minimum spanning tree (MST)?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>
                <a:solidFill>
                  <a:schemeClr val="accent6"/>
                </a:solidFill>
              </a:rPr>
              <a:t>Optimal Substructure Property in the MST problem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/>
              <a:t>Prim’s Algorithm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Simulation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Algorithm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Cost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/>
              <a:t>Kruskal’s Algorithm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Simulation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Algorithm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Cost Analysis</a:t>
            </a:r>
            <a:endParaRPr/>
          </a:p>
        </p:txBody>
      </p:sp>
      <p:sp>
        <p:nvSpPr>
          <p:cNvPr id="294" name="Google Shape;294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295" name="Google Shape;295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96" name="Google Shape;296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7" name="Google Shape;297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Things You Will Learn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304" name="Google Shape;304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05" name="Google Shape;305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6" name="Google Shape;306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Prim’s Algorithm – Simulation and Psuedocode</a:t>
            </a:r>
            <a:endParaRPr/>
          </a:p>
        </p:txBody>
      </p:sp>
      <p:pic>
        <p:nvPicPr>
          <p:cNvPr id="307" name="Google Shape;3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2651" y="1315098"/>
            <a:ext cx="5966698" cy="477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314" name="Google Shape;314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15" name="Google Shape;315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Prim’s Algorithm – Simulation and Psuedocode</a:t>
            </a:r>
            <a:endParaRPr/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5955" y="1068688"/>
            <a:ext cx="4999653" cy="5283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80f001374e_0_154"/>
          <p:cNvSpPr txBox="1"/>
          <p:nvPr>
            <p:ph type="title"/>
          </p:nvPr>
        </p:nvSpPr>
        <p:spPr>
          <a:xfrm>
            <a:off x="609600" y="228600"/>
            <a:ext cx="109728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Prim’s Algorithm</a:t>
            </a:r>
            <a:endParaRPr/>
          </a:p>
        </p:txBody>
      </p:sp>
      <p:sp>
        <p:nvSpPr>
          <p:cNvPr id="323" name="Google Shape;323;g380f001374e_0_154"/>
          <p:cNvSpPr txBox="1"/>
          <p:nvPr>
            <p:ph idx="1" type="body"/>
          </p:nvPr>
        </p:nvSpPr>
        <p:spPr>
          <a:xfrm>
            <a:off x="609600" y="1052513"/>
            <a:ext cx="109728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MST-Prim(G, w, r)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Q = V[G];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for each </a:t>
            </a:r>
            <a:r>
              <a:rPr b="1" i="1" lang="en-US" sz="1700"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∈ Q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    key[u] = ∞;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key[r] = 0;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p[r] = NULL;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while (Q not empty)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    u = ExtractMin(Q);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    for each </a:t>
            </a:r>
            <a:r>
              <a:rPr b="1" i="1" lang="en-US" sz="1700"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∈ Adj[</a:t>
            </a:r>
            <a:r>
              <a:rPr b="1" i="1" lang="en-US" sz="1700"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        if (v ∈ Q and w(</a:t>
            </a:r>
            <a:r>
              <a:rPr b="1" i="1" lang="en-US" sz="1700">
                <a:latin typeface="Courier New"/>
                <a:ea typeface="Courier New"/>
                <a:cs typeface="Courier New"/>
                <a:sym typeface="Courier New"/>
              </a:rPr>
              <a:t>u,v</a:t>
            </a: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) &lt; key[</a:t>
            </a:r>
            <a:r>
              <a:rPr b="1" i="1" lang="en-US" sz="1700"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            p[v] = u;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            key[v] = w(u,v);</a:t>
            </a:r>
            <a:endParaRPr/>
          </a:p>
        </p:txBody>
      </p:sp>
      <p:sp>
        <p:nvSpPr>
          <p:cNvPr id="324" name="Google Shape;324;g380f001374e_0_154"/>
          <p:cNvSpPr/>
          <p:nvPr/>
        </p:nvSpPr>
        <p:spPr>
          <a:xfrm>
            <a:off x="5594351" y="1544638"/>
            <a:ext cx="510000" cy="381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5" name="Google Shape;325;g380f001374e_0_154"/>
          <p:cNvSpPr/>
          <p:nvPr/>
        </p:nvSpPr>
        <p:spPr>
          <a:xfrm>
            <a:off x="8506884" y="1544638"/>
            <a:ext cx="507900" cy="381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6" name="Google Shape;326;g380f001374e_0_154"/>
          <p:cNvSpPr/>
          <p:nvPr/>
        </p:nvSpPr>
        <p:spPr>
          <a:xfrm>
            <a:off x="11053233" y="1544638"/>
            <a:ext cx="510000" cy="381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7" name="Google Shape;327;g380f001374e_0_154"/>
          <p:cNvSpPr/>
          <p:nvPr/>
        </p:nvSpPr>
        <p:spPr>
          <a:xfrm>
            <a:off x="5594351" y="2690813"/>
            <a:ext cx="510000" cy="381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8" name="Google Shape;328;g380f001374e_0_154"/>
          <p:cNvSpPr/>
          <p:nvPr/>
        </p:nvSpPr>
        <p:spPr>
          <a:xfrm>
            <a:off x="8506884" y="2690813"/>
            <a:ext cx="507900" cy="381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9" name="Google Shape;329;g380f001374e_0_154"/>
          <p:cNvSpPr/>
          <p:nvPr/>
        </p:nvSpPr>
        <p:spPr>
          <a:xfrm>
            <a:off x="11053233" y="2690813"/>
            <a:ext cx="510000" cy="381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0" name="Google Shape;330;g380f001374e_0_154"/>
          <p:cNvSpPr/>
          <p:nvPr/>
        </p:nvSpPr>
        <p:spPr>
          <a:xfrm>
            <a:off x="7050617" y="3181350"/>
            <a:ext cx="510000" cy="3825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1" name="Google Shape;331;g380f001374e_0_154"/>
          <p:cNvSpPr/>
          <p:nvPr/>
        </p:nvSpPr>
        <p:spPr>
          <a:xfrm>
            <a:off x="7050617" y="1052513"/>
            <a:ext cx="510000" cy="3825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332" name="Google Shape;332;g380f001374e_0_154"/>
          <p:cNvCxnSpPr>
            <a:stCxn id="331" idx="5"/>
            <a:endCxn id="325" idx="1"/>
          </p:cNvCxnSpPr>
          <p:nvPr/>
        </p:nvCxnSpPr>
        <p:spPr>
          <a:xfrm>
            <a:off x="7485930" y="1378997"/>
            <a:ext cx="1095300" cy="221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g380f001374e_0_154"/>
          <p:cNvCxnSpPr>
            <a:stCxn id="331" idx="3"/>
            <a:endCxn id="324" idx="7"/>
          </p:cNvCxnSpPr>
          <p:nvPr/>
        </p:nvCxnSpPr>
        <p:spPr>
          <a:xfrm flipH="1">
            <a:off x="6029705" y="1378997"/>
            <a:ext cx="1095600" cy="221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g380f001374e_0_154"/>
          <p:cNvCxnSpPr>
            <a:stCxn id="324" idx="6"/>
            <a:endCxn id="325" idx="2"/>
          </p:cNvCxnSpPr>
          <p:nvPr/>
        </p:nvCxnSpPr>
        <p:spPr>
          <a:xfrm>
            <a:off x="6104351" y="1735138"/>
            <a:ext cx="24024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g380f001374e_0_154"/>
          <p:cNvCxnSpPr>
            <a:stCxn id="327" idx="0"/>
            <a:endCxn id="324" idx="4"/>
          </p:cNvCxnSpPr>
          <p:nvPr/>
        </p:nvCxnSpPr>
        <p:spPr>
          <a:xfrm rot="10800000">
            <a:off x="5849351" y="1925513"/>
            <a:ext cx="0" cy="7653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" name="Google Shape;336;g380f001374e_0_154"/>
          <p:cNvCxnSpPr>
            <a:stCxn id="327" idx="5"/>
            <a:endCxn id="330" idx="1"/>
          </p:cNvCxnSpPr>
          <p:nvPr/>
        </p:nvCxnSpPr>
        <p:spPr>
          <a:xfrm>
            <a:off x="6029663" y="3016017"/>
            <a:ext cx="1095600" cy="221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g380f001374e_0_154"/>
          <p:cNvCxnSpPr>
            <a:stCxn id="330" idx="7"/>
            <a:endCxn id="328" idx="3"/>
          </p:cNvCxnSpPr>
          <p:nvPr/>
        </p:nvCxnSpPr>
        <p:spPr>
          <a:xfrm flipH="1" rot="10800000">
            <a:off x="7485930" y="3015966"/>
            <a:ext cx="1095300" cy="221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" name="Google Shape;338;g380f001374e_0_154"/>
          <p:cNvCxnSpPr>
            <a:stCxn id="328" idx="0"/>
            <a:endCxn id="325" idx="4"/>
          </p:cNvCxnSpPr>
          <p:nvPr/>
        </p:nvCxnSpPr>
        <p:spPr>
          <a:xfrm rot="10800000">
            <a:off x="8760834" y="1925513"/>
            <a:ext cx="0" cy="7653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" name="Google Shape;339;g380f001374e_0_154"/>
          <p:cNvCxnSpPr>
            <a:stCxn id="325" idx="6"/>
            <a:endCxn id="326" idx="2"/>
          </p:cNvCxnSpPr>
          <p:nvPr/>
        </p:nvCxnSpPr>
        <p:spPr>
          <a:xfrm>
            <a:off x="9014784" y="1735138"/>
            <a:ext cx="20385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" name="Google Shape;340;g380f001374e_0_154"/>
          <p:cNvCxnSpPr>
            <a:stCxn id="328" idx="6"/>
            <a:endCxn id="329" idx="2"/>
          </p:cNvCxnSpPr>
          <p:nvPr/>
        </p:nvCxnSpPr>
        <p:spPr>
          <a:xfrm>
            <a:off x="9014784" y="2881313"/>
            <a:ext cx="20385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" name="Google Shape;341;g380f001374e_0_154"/>
          <p:cNvCxnSpPr>
            <a:stCxn id="330" idx="0"/>
            <a:endCxn id="324" idx="5"/>
          </p:cNvCxnSpPr>
          <p:nvPr/>
        </p:nvCxnSpPr>
        <p:spPr>
          <a:xfrm flipH="1" rot="5400000">
            <a:off x="6011867" y="1887600"/>
            <a:ext cx="1311600" cy="1275900"/>
          </a:xfrm>
          <a:prstGeom prst="curvedConnector3">
            <a:avLst>
              <a:gd fmla="val 47801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2" name="Google Shape;342;g380f001374e_0_154"/>
          <p:cNvSpPr txBox="1"/>
          <p:nvPr/>
        </p:nvSpPr>
        <p:spPr>
          <a:xfrm>
            <a:off x="5283200" y="2124075"/>
            <a:ext cx="55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/>
          </a:p>
        </p:txBody>
      </p:sp>
      <p:sp>
        <p:nvSpPr>
          <p:cNvPr id="343" name="Google Shape;343;g380f001374e_0_154"/>
          <p:cNvSpPr txBox="1"/>
          <p:nvPr/>
        </p:nvSpPr>
        <p:spPr>
          <a:xfrm>
            <a:off x="6639984" y="2271713"/>
            <a:ext cx="55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344" name="Google Shape;344;g380f001374e_0_154"/>
          <p:cNvSpPr txBox="1"/>
          <p:nvPr/>
        </p:nvSpPr>
        <p:spPr>
          <a:xfrm>
            <a:off x="6345767" y="3095625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45" name="Google Shape;345;g380f001374e_0_154"/>
          <p:cNvSpPr txBox="1"/>
          <p:nvPr/>
        </p:nvSpPr>
        <p:spPr>
          <a:xfrm>
            <a:off x="6345767" y="1128713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346" name="Google Shape;346;g380f001374e_0_154"/>
          <p:cNvSpPr txBox="1"/>
          <p:nvPr/>
        </p:nvSpPr>
        <p:spPr>
          <a:xfrm>
            <a:off x="7941733" y="1128713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47" name="Google Shape;347;g380f001374e_0_154"/>
          <p:cNvSpPr txBox="1"/>
          <p:nvPr/>
        </p:nvSpPr>
        <p:spPr>
          <a:xfrm>
            <a:off x="7073900" y="1433513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48" name="Google Shape;348;g380f001374e_0_154"/>
          <p:cNvSpPr txBox="1"/>
          <p:nvPr/>
        </p:nvSpPr>
        <p:spPr>
          <a:xfrm>
            <a:off x="8741833" y="2157413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49" name="Google Shape;349;g380f001374e_0_154"/>
          <p:cNvSpPr txBox="1"/>
          <p:nvPr/>
        </p:nvSpPr>
        <p:spPr>
          <a:xfrm>
            <a:off x="9834033" y="1357313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350" name="Google Shape;350;g380f001374e_0_154"/>
          <p:cNvSpPr txBox="1"/>
          <p:nvPr/>
        </p:nvSpPr>
        <p:spPr>
          <a:xfrm>
            <a:off x="9762067" y="2492375"/>
            <a:ext cx="55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/>
          </a:p>
        </p:txBody>
      </p:sp>
      <p:sp>
        <p:nvSpPr>
          <p:cNvPr id="351" name="Google Shape;351;g380f001374e_0_154"/>
          <p:cNvSpPr txBox="1"/>
          <p:nvPr/>
        </p:nvSpPr>
        <p:spPr>
          <a:xfrm>
            <a:off x="7861300" y="3114675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352" name="Google Shape;352;g380f001374e_0_154"/>
          <p:cNvSpPr txBox="1"/>
          <p:nvPr/>
        </p:nvSpPr>
        <p:spPr>
          <a:xfrm>
            <a:off x="6716184" y="3581400"/>
            <a:ext cx="34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on example graph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80f001374e_0_230"/>
          <p:cNvSpPr txBox="1"/>
          <p:nvPr>
            <p:ph type="title"/>
          </p:nvPr>
        </p:nvSpPr>
        <p:spPr>
          <a:xfrm>
            <a:off x="812800" y="228600"/>
            <a:ext cx="146304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Prim’s Algorithm</a:t>
            </a:r>
            <a:endParaRPr/>
          </a:p>
        </p:txBody>
      </p:sp>
      <p:sp>
        <p:nvSpPr>
          <p:cNvPr id="358" name="Google Shape;358;g380f001374e_0_230"/>
          <p:cNvSpPr txBox="1"/>
          <p:nvPr>
            <p:ph idx="1" type="body"/>
          </p:nvPr>
        </p:nvSpPr>
        <p:spPr>
          <a:xfrm>
            <a:off x="812800" y="1052513"/>
            <a:ext cx="146304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MST-Prim(G, w, r)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Q = V[G];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for each </a:t>
            </a:r>
            <a:r>
              <a:rPr b="1" i="1" lang="en-US" sz="1700"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∈ Q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    key[u] = ∞;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key[r] = 0;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p[r] = NULL;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while (Q not empty)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    u = ExtractMin(Q);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    for each </a:t>
            </a:r>
            <a:r>
              <a:rPr b="1" i="1" lang="en-US" sz="1700"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∈ Adj[</a:t>
            </a:r>
            <a:r>
              <a:rPr b="1" i="1" lang="en-US" sz="1700"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        if (v ∈ Q and w(</a:t>
            </a:r>
            <a:r>
              <a:rPr b="1" i="1" lang="en-US" sz="1700">
                <a:latin typeface="Courier New"/>
                <a:ea typeface="Courier New"/>
                <a:cs typeface="Courier New"/>
                <a:sym typeface="Courier New"/>
              </a:rPr>
              <a:t>u,v</a:t>
            </a: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) &lt; key[</a:t>
            </a:r>
            <a:r>
              <a:rPr b="1" i="1" lang="en-US" sz="1700"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            p[v] = u;</a:t>
            </a:r>
            <a:endParaRPr/>
          </a:p>
          <a:p>
            <a:pPr indent="-342900" lvl="0" marL="342900" rtl="0" algn="l">
              <a:spcBef>
                <a:spcPts val="340"/>
              </a:spcBef>
              <a:spcAft>
                <a:spcPts val="0"/>
              </a:spcAft>
              <a:buSzPts val="1275"/>
              <a:buFont typeface="Arial"/>
              <a:buNone/>
            </a:pPr>
            <a:r>
              <a:rPr b="1" lang="en-US" sz="1700">
                <a:latin typeface="Courier New"/>
                <a:ea typeface="Courier New"/>
                <a:cs typeface="Courier New"/>
                <a:sym typeface="Courier New"/>
              </a:rPr>
              <a:t>                key[v] = w(u,v);</a:t>
            </a:r>
            <a:endParaRPr/>
          </a:p>
        </p:txBody>
      </p:sp>
      <p:sp>
        <p:nvSpPr>
          <p:cNvPr id="359" name="Google Shape;359;g380f001374e_0_230"/>
          <p:cNvSpPr/>
          <p:nvPr/>
        </p:nvSpPr>
        <p:spPr>
          <a:xfrm>
            <a:off x="5594351" y="1544638"/>
            <a:ext cx="510000" cy="381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∞</a:t>
            </a:r>
            <a:endParaRPr/>
          </a:p>
        </p:txBody>
      </p:sp>
      <p:sp>
        <p:nvSpPr>
          <p:cNvPr id="360" name="Google Shape;360;g380f001374e_0_230"/>
          <p:cNvSpPr/>
          <p:nvPr/>
        </p:nvSpPr>
        <p:spPr>
          <a:xfrm>
            <a:off x="8506884" y="1544638"/>
            <a:ext cx="507900" cy="381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∞</a:t>
            </a:r>
            <a:endParaRPr/>
          </a:p>
        </p:txBody>
      </p:sp>
      <p:sp>
        <p:nvSpPr>
          <p:cNvPr id="361" name="Google Shape;361;g380f001374e_0_230"/>
          <p:cNvSpPr/>
          <p:nvPr/>
        </p:nvSpPr>
        <p:spPr>
          <a:xfrm>
            <a:off x="11053233" y="1544638"/>
            <a:ext cx="510000" cy="381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∞</a:t>
            </a:r>
            <a:endParaRPr/>
          </a:p>
        </p:txBody>
      </p:sp>
      <p:sp>
        <p:nvSpPr>
          <p:cNvPr id="362" name="Google Shape;362;g380f001374e_0_230"/>
          <p:cNvSpPr/>
          <p:nvPr/>
        </p:nvSpPr>
        <p:spPr>
          <a:xfrm>
            <a:off x="5594351" y="2690813"/>
            <a:ext cx="510000" cy="381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∞</a:t>
            </a:r>
            <a:endParaRPr/>
          </a:p>
        </p:txBody>
      </p:sp>
      <p:sp>
        <p:nvSpPr>
          <p:cNvPr id="363" name="Google Shape;363;g380f001374e_0_230"/>
          <p:cNvSpPr/>
          <p:nvPr/>
        </p:nvSpPr>
        <p:spPr>
          <a:xfrm>
            <a:off x="8506884" y="2690813"/>
            <a:ext cx="507900" cy="381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∞</a:t>
            </a:r>
            <a:endParaRPr/>
          </a:p>
        </p:txBody>
      </p:sp>
      <p:sp>
        <p:nvSpPr>
          <p:cNvPr id="364" name="Google Shape;364;g380f001374e_0_230"/>
          <p:cNvSpPr/>
          <p:nvPr/>
        </p:nvSpPr>
        <p:spPr>
          <a:xfrm>
            <a:off x="11053233" y="2690813"/>
            <a:ext cx="510000" cy="3810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∞</a:t>
            </a:r>
            <a:endParaRPr/>
          </a:p>
        </p:txBody>
      </p:sp>
      <p:sp>
        <p:nvSpPr>
          <p:cNvPr id="365" name="Google Shape;365;g380f001374e_0_230"/>
          <p:cNvSpPr/>
          <p:nvPr/>
        </p:nvSpPr>
        <p:spPr>
          <a:xfrm>
            <a:off x="7050617" y="3181350"/>
            <a:ext cx="510000" cy="3825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∞</a:t>
            </a:r>
            <a:endParaRPr/>
          </a:p>
        </p:txBody>
      </p:sp>
      <p:sp>
        <p:nvSpPr>
          <p:cNvPr id="366" name="Google Shape;366;g380f001374e_0_230"/>
          <p:cNvSpPr/>
          <p:nvPr/>
        </p:nvSpPr>
        <p:spPr>
          <a:xfrm>
            <a:off x="7050617" y="1052513"/>
            <a:ext cx="510000" cy="3825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∞</a:t>
            </a:r>
            <a:endParaRPr/>
          </a:p>
        </p:txBody>
      </p:sp>
      <p:cxnSp>
        <p:nvCxnSpPr>
          <p:cNvPr id="367" name="Google Shape;367;g380f001374e_0_230"/>
          <p:cNvCxnSpPr>
            <a:stCxn id="366" idx="5"/>
            <a:endCxn id="360" idx="1"/>
          </p:cNvCxnSpPr>
          <p:nvPr/>
        </p:nvCxnSpPr>
        <p:spPr>
          <a:xfrm>
            <a:off x="7485930" y="1378997"/>
            <a:ext cx="1095300" cy="221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g380f001374e_0_230"/>
          <p:cNvCxnSpPr>
            <a:stCxn id="366" idx="3"/>
            <a:endCxn id="359" idx="7"/>
          </p:cNvCxnSpPr>
          <p:nvPr/>
        </p:nvCxnSpPr>
        <p:spPr>
          <a:xfrm flipH="1">
            <a:off x="6029705" y="1378997"/>
            <a:ext cx="1095600" cy="221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g380f001374e_0_230"/>
          <p:cNvCxnSpPr>
            <a:stCxn id="359" idx="6"/>
            <a:endCxn id="360" idx="2"/>
          </p:cNvCxnSpPr>
          <p:nvPr/>
        </p:nvCxnSpPr>
        <p:spPr>
          <a:xfrm>
            <a:off x="6104351" y="1735138"/>
            <a:ext cx="24024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g380f001374e_0_230"/>
          <p:cNvCxnSpPr>
            <a:stCxn id="362" idx="0"/>
            <a:endCxn id="359" idx="4"/>
          </p:cNvCxnSpPr>
          <p:nvPr/>
        </p:nvCxnSpPr>
        <p:spPr>
          <a:xfrm rot="10800000">
            <a:off x="5849351" y="1925513"/>
            <a:ext cx="0" cy="7653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g380f001374e_0_230"/>
          <p:cNvCxnSpPr>
            <a:stCxn id="362" idx="5"/>
            <a:endCxn id="365" idx="1"/>
          </p:cNvCxnSpPr>
          <p:nvPr/>
        </p:nvCxnSpPr>
        <p:spPr>
          <a:xfrm>
            <a:off x="6029663" y="3016017"/>
            <a:ext cx="1095600" cy="221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2" name="Google Shape;372;g380f001374e_0_230"/>
          <p:cNvCxnSpPr>
            <a:stCxn id="365" idx="7"/>
            <a:endCxn id="363" idx="3"/>
          </p:cNvCxnSpPr>
          <p:nvPr/>
        </p:nvCxnSpPr>
        <p:spPr>
          <a:xfrm flipH="1" rot="10800000">
            <a:off x="7485930" y="3015966"/>
            <a:ext cx="1095300" cy="221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g380f001374e_0_230"/>
          <p:cNvCxnSpPr>
            <a:stCxn id="363" idx="0"/>
            <a:endCxn id="360" idx="4"/>
          </p:cNvCxnSpPr>
          <p:nvPr/>
        </p:nvCxnSpPr>
        <p:spPr>
          <a:xfrm rot="10800000">
            <a:off x="8760834" y="1925513"/>
            <a:ext cx="0" cy="7653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4" name="Google Shape;374;g380f001374e_0_230"/>
          <p:cNvCxnSpPr>
            <a:stCxn id="360" idx="6"/>
            <a:endCxn id="361" idx="2"/>
          </p:cNvCxnSpPr>
          <p:nvPr/>
        </p:nvCxnSpPr>
        <p:spPr>
          <a:xfrm>
            <a:off x="9014784" y="1735138"/>
            <a:ext cx="20385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" name="Google Shape;375;g380f001374e_0_230"/>
          <p:cNvCxnSpPr>
            <a:stCxn id="363" idx="6"/>
            <a:endCxn id="364" idx="2"/>
          </p:cNvCxnSpPr>
          <p:nvPr/>
        </p:nvCxnSpPr>
        <p:spPr>
          <a:xfrm>
            <a:off x="9014784" y="2881313"/>
            <a:ext cx="2038500" cy="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6" name="Google Shape;376;g380f001374e_0_230"/>
          <p:cNvCxnSpPr>
            <a:stCxn id="365" idx="0"/>
            <a:endCxn id="359" idx="5"/>
          </p:cNvCxnSpPr>
          <p:nvPr/>
        </p:nvCxnSpPr>
        <p:spPr>
          <a:xfrm flipH="1" rot="5400000">
            <a:off x="6011867" y="1887600"/>
            <a:ext cx="1311600" cy="1275900"/>
          </a:xfrm>
          <a:prstGeom prst="curvedConnector3">
            <a:avLst>
              <a:gd fmla="val 47801" name="adj1"/>
            </a:avLst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g380f001374e_0_230"/>
          <p:cNvSpPr txBox="1"/>
          <p:nvPr/>
        </p:nvSpPr>
        <p:spPr>
          <a:xfrm>
            <a:off x="5283200" y="2124075"/>
            <a:ext cx="55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/>
          </a:p>
        </p:txBody>
      </p:sp>
      <p:sp>
        <p:nvSpPr>
          <p:cNvPr id="378" name="Google Shape;378;g380f001374e_0_230"/>
          <p:cNvSpPr txBox="1"/>
          <p:nvPr/>
        </p:nvSpPr>
        <p:spPr>
          <a:xfrm>
            <a:off x="6639984" y="2271713"/>
            <a:ext cx="55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379" name="Google Shape;379;g380f001374e_0_230"/>
          <p:cNvSpPr txBox="1"/>
          <p:nvPr/>
        </p:nvSpPr>
        <p:spPr>
          <a:xfrm>
            <a:off x="6345767" y="3095625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80" name="Google Shape;380;g380f001374e_0_230"/>
          <p:cNvSpPr txBox="1"/>
          <p:nvPr/>
        </p:nvSpPr>
        <p:spPr>
          <a:xfrm>
            <a:off x="6345767" y="1128713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381" name="Google Shape;381;g380f001374e_0_230"/>
          <p:cNvSpPr txBox="1"/>
          <p:nvPr/>
        </p:nvSpPr>
        <p:spPr>
          <a:xfrm>
            <a:off x="7941733" y="1128713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82" name="Google Shape;382;g380f001374e_0_230"/>
          <p:cNvSpPr txBox="1"/>
          <p:nvPr/>
        </p:nvSpPr>
        <p:spPr>
          <a:xfrm>
            <a:off x="7073900" y="1433513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83" name="Google Shape;383;g380f001374e_0_230"/>
          <p:cNvSpPr txBox="1"/>
          <p:nvPr/>
        </p:nvSpPr>
        <p:spPr>
          <a:xfrm>
            <a:off x="8741833" y="2157413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84" name="Google Shape;384;g380f001374e_0_230"/>
          <p:cNvSpPr txBox="1"/>
          <p:nvPr/>
        </p:nvSpPr>
        <p:spPr>
          <a:xfrm>
            <a:off x="9834033" y="1357313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385" name="Google Shape;385;g380f001374e_0_230"/>
          <p:cNvSpPr txBox="1"/>
          <p:nvPr/>
        </p:nvSpPr>
        <p:spPr>
          <a:xfrm>
            <a:off x="9762067" y="2492375"/>
            <a:ext cx="55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/>
          </a:p>
        </p:txBody>
      </p:sp>
      <p:sp>
        <p:nvSpPr>
          <p:cNvPr id="386" name="Google Shape;386;g380f001374e_0_230"/>
          <p:cNvSpPr txBox="1"/>
          <p:nvPr/>
        </p:nvSpPr>
        <p:spPr>
          <a:xfrm>
            <a:off x="7861300" y="3114675"/>
            <a:ext cx="39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387" name="Google Shape;387;g380f001374e_0_230"/>
          <p:cNvSpPr txBox="1"/>
          <p:nvPr/>
        </p:nvSpPr>
        <p:spPr>
          <a:xfrm>
            <a:off x="6716184" y="3581400"/>
            <a:ext cx="34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on example graph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80f001374e_0_306"/>
          <p:cNvSpPr txBox="1"/>
          <p:nvPr>
            <p:ph type="title"/>
          </p:nvPr>
        </p:nvSpPr>
        <p:spPr>
          <a:xfrm>
            <a:off x="812800" y="228600"/>
            <a:ext cx="146304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Prim’s Algorithm</a:t>
            </a:r>
            <a:endParaRPr/>
          </a:p>
        </p:txBody>
      </p:sp>
      <p:graphicFrame>
        <p:nvGraphicFramePr>
          <p:cNvPr id="393" name="Google Shape;393;g380f001374e_0_306"/>
          <p:cNvGraphicFramePr/>
          <p:nvPr/>
        </p:nvGraphicFramePr>
        <p:xfrm>
          <a:off x="18356" y="318572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{02139962-26C1-479B-A70B-DD87E8E40E20}</a:tableStyleId>
              </a:tblPr>
              <a:tblGrid>
                <a:gridCol w="1277100"/>
                <a:gridCol w="533675"/>
                <a:gridCol w="905400"/>
                <a:gridCol w="905400"/>
                <a:gridCol w="905400"/>
                <a:gridCol w="905400"/>
                <a:gridCol w="905400"/>
                <a:gridCol w="905400"/>
                <a:gridCol w="905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3,r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14,r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a(3,r)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8,a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10,a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b(8,a)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15,b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2,b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inf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10,a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d(2,b)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15,b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9,d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4,d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5,d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f(4,d)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15,b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9,d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5,d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g(5,d)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15,b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9,d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e(9,d)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15,b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c(15,b)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T="45725" marB="45725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394" name="Google Shape;394;g380f001374e_0_306"/>
          <p:cNvGrpSpPr/>
          <p:nvPr/>
        </p:nvGrpSpPr>
        <p:grpSpPr>
          <a:xfrm>
            <a:off x="5421244" y="576981"/>
            <a:ext cx="6043070" cy="2535151"/>
            <a:chOff x="3505200" y="836316"/>
            <a:chExt cx="5167225" cy="3156707"/>
          </a:xfrm>
        </p:grpSpPr>
        <p:sp>
          <p:nvSpPr>
            <p:cNvPr id="395" name="Google Shape;395;g380f001374e_0_306"/>
            <p:cNvSpPr/>
            <p:nvPr/>
          </p:nvSpPr>
          <p:spPr>
            <a:xfrm>
              <a:off x="4195763" y="1544638"/>
              <a:ext cx="382500" cy="3810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5</a:t>
              </a:r>
              <a:endParaRPr/>
            </a:p>
          </p:txBody>
        </p:sp>
        <p:sp>
          <p:nvSpPr>
            <p:cNvPr id="396" name="Google Shape;396;g380f001374e_0_306"/>
            <p:cNvSpPr/>
            <p:nvPr/>
          </p:nvSpPr>
          <p:spPr>
            <a:xfrm>
              <a:off x="6387111" y="1517006"/>
              <a:ext cx="381000" cy="3810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2</a:t>
              </a:r>
              <a:endParaRPr/>
            </a:p>
          </p:txBody>
        </p:sp>
        <p:sp>
          <p:nvSpPr>
            <p:cNvPr id="397" name="Google Shape;397;g380f001374e_0_306"/>
            <p:cNvSpPr/>
            <p:nvPr/>
          </p:nvSpPr>
          <p:spPr>
            <a:xfrm>
              <a:off x="8289925" y="1544638"/>
              <a:ext cx="382500" cy="3810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9</a:t>
              </a:r>
              <a:endParaRPr/>
            </a:p>
          </p:txBody>
        </p:sp>
        <p:sp>
          <p:nvSpPr>
            <p:cNvPr id="398" name="Google Shape;398;g380f001374e_0_306"/>
            <p:cNvSpPr/>
            <p:nvPr/>
          </p:nvSpPr>
          <p:spPr>
            <a:xfrm>
              <a:off x="4195763" y="2690813"/>
              <a:ext cx="382500" cy="3810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0</a:t>
              </a:r>
              <a:endParaRPr/>
            </a:p>
          </p:txBody>
        </p:sp>
        <p:sp>
          <p:nvSpPr>
            <p:cNvPr id="399" name="Google Shape;399;g380f001374e_0_306"/>
            <p:cNvSpPr/>
            <p:nvPr/>
          </p:nvSpPr>
          <p:spPr>
            <a:xfrm>
              <a:off x="6380163" y="2690813"/>
              <a:ext cx="381000" cy="3810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8</a:t>
              </a:r>
              <a:endParaRPr/>
            </a:p>
          </p:txBody>
        </p:sp>
        <p:sp>
          <p:nvSpPr>
            <p:cNvPr id="400" name="Google Shape;400;g380f001374e_0_306"/>
            <p:cNvSpPr/>
            <p:nvPr/>
          </p:nvSpPr>
          <p:spPr>
            <a:xfrm>
              <a:off x="8289925" y="2690813"/>
              <a:ext cx="382500" cy="3810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15</a:t>
              </a:r>
              <a:endParaRPr/>
            </a:p>
          </p:txBody>
        </p:sp>
        <p:sp>
          <p:nvSpPr>
            <p:cNvPr id="401" name="Google Shape;401;g380f001374e_0_306"/>
            <p:cNvSpPr/>
            <p:nvPr/>
          </p:nvSpPr>
          <p:spPr>
            <a:xfrm>
              <a:off x="5287963" y="3181350"/>
              <a:ext cx="382500" cy="3825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3</a:t>
              </a:r>
              <a:endParaRPr/>
            </a:p>
          </p:txBody>
        </p:sp>
        <p:sp>
          <p:nvSpPr>
            <p:cNvPr id="402" name="Google Shape;402;g380f001374e_0_306"/>
            <p:cNvSpPr/>
            <p:nvPr/>
          </p:nvSpPr>
          <p:spPr>
            <a:xfrm>
              <a:off x="5287963" y="1052513"/>
              <a:ext cx="382500" cy="382500"/>
            </a:xfrm>
            <a:prstGeom prst="ellipse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4</a:t>
              </a:r>
              <a:endParaRPr/>
            </a:p>
          </p:txBody>
        </p:sp>
        <p:cxnSp>
          <p:nvCxnSpPr>
            <p:cNvPr id="403" name="Google Shape;403;g380f001374e_0_306"/>
            <p:cNvCxnSpPr>
              <a:stCxn id="402" idx="5"/>
              <a:endCxn id="396" idx="1"/>
            </p:cNvCxnSpPr>
            <p:nvPr/>
          </p:nvCxnSpPr>
          <p:spPr>
            <a:xfrm>
              <a:off x="5614447" y="1378997"/>
              <a:ext cx="828600" cy="1938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4" name="Google Shape;404;g380f001374e_0_306"/>
            <p:cNvCxnSpPr>
              <a:stCxn id="402" idx="3"/>
              <a:endCxn id="395" idx="7"/>
            </p:cNvCxnSpPr>
            <p:nvPr/>
          </p:nvCxnSpPr>
          <p:spPr>
            <a:xfrm flipH="1">
              <a:off x="4522279" y="1378997"/>
              <a:ext cx="821700" cy="2214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g380f001374e_0_306"/>
            <p:cNvCxnSpPr>
              <a:stCxn id="395" idx="6"/>
              <a:endCxn id="396" idx="2"/>
            </p:cNvCxnSpPr>
            <p:nvPr/>
          </p:nvCxnSpPr>
          <p:spPr>
            <a:xfrm flipH="1" rot="10800000">
              <a:off x="4578263" y="1707538"/>
              <a:ext cx="1808700" cy="27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6" name="Google Shape;406;g380f001374e_0_306"/>
            <p:cNvCxnSpPr>
              <a:stCxn id="398" idx="0"/>
              <a:endCxn id="395" idx="4"/>
            </p:cNvCxnSpPr>
            <p:nvPr/>
          </p:nvCxnSpPr>
          <p:spPr>
            <a:xfrm rot="10800000">
              <a:off x="4387013" y="1925513"/>
              <a:ext cx="0" cy="765300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7" name="Google Shape;407;g380f001374e_0_306"/>
            <p:cNvCxnSpPr>
              <a:stCxn id="398" idx="5"/>
              <a:endCxn id="401" idx="1"/>
            </p:cNvCxnSpPr>
            <p:nvPr/>
          </p:nvCxnSpPr>
          <p:spPr>
            <a:xfrm>
              <a:off x="4522247" y="3016017"/>
              <a:ext cx="821700" cy="2214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8" name="Google Shape;408;g380f001374e_0_306"/>
            <p:cNvCxnSpPr>
              <a:stCxn id="401" idx="7"/>
              <a:endCxn id="399" idx="3"/>
            </p:cNvCxnSpPr>
            <p:nvPr/>
          </p:nvCxnSpPr>
          <p:spPr>
            <a:xfrm flipH="1" rot="10800000">
              <a:off x="5614447" y="3015966"/>
              <a:ext cx="821400" cy="2214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9" name="Google Shape;409;g380f001374e_0_306"/>
            <p:cNvCxnSpPr>
              <a:stCxn id="399" idx="0"/>
              <a:endCxn id="396" idx="4"/>
            </p:cNvCxnSpPr>
            <p:nvPr/>
          </p:nvCxnSpPr>
          <p:spPr>
            <a:xfrm flipH="1" rot="10800000">
              <a:off x="6570663" y="1897913"/>
              <a:ext cx="6900" cy="7929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0" name="Google Shape;410;g380f001374e_0_306"/>
            <p:cNvCxnSpPr>
              <a:stCxn id="396" idx="6"/>
              <a:endCxn id="397" idx="2"/>
            </p:cNvCxnSpPr>
            <p:nvPr/>
          </p:nvCxnSpPr>
          <p:spPr>
            <a:xfrm>
              <a:off x="6768111" y="1707506"/>
              <a:ext cx="1521900" cy="276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g380f001374e_0_306"/>
            <p:cNvCxnSpPr>
              <a:stCxn id="399" idx="6"/>
              <a:endCxn id="400" idx="2"/>
            </p:cNvCxnSpPr>
            <p:nvPr/>
          </p:nvCxnSpPr>
          <p:spPr>
            <a:xfrm>
              <a:off x="6761163" y="2881313"/>
              <a:ext cx="1528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2" name="Google Shape;412;g380f001374e_0_306"/>
            <p:cNvCxnSpPr>
              <a:stCxn id="401" idx="0"/>
              <a:endCxn id="395" idx="5"/>
            </p:cNvCxnSpPr>
            <p:nvPr/>
          </p:nvCxnSpPr>
          <p:spPr>
            <a:xfrm flipH="1" rot="5400000">
              <a:off x="4344913" y="2047050"/>
              <a:ext cx="1311600" cy="957000"/>
            </a:xfrm>
            <a:prstGeom prst="curvedConnector3">
              <a:avLst>
                <a:gd fmla="val -10112" name="adj1"/>
              </a:avLst>
            </a:prstGeom>
            <a:noFill/>
            <a:ln cap="flat" cmpd="sng" w="3810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3" name="Google Shape;413;g380f001374e_0_306"/>
            <p:cNvSpPr txBox="1"/>
            <p:nvPr/>
          </p:nvSpPr>
          <p:spPr>
            <a:xfrm>
              <a:off x="3962400" y="2124075"/>
              <a:ext cx="4128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14</a:t>
              </a:r>
              <a:endParaRPr/>
            </a:p>
          </p:txBody>
        </p:sp>
        <p:sp>
          <p:nvSpPr>
            <p:cNvPr id="414" name="Google Shape;414;g380f001374e_0_306"/>
            <p:cNvSpPr txBox="1"/>
            <p:nvPr/>
          </p:nvSpPr>
          <p:spPr>
            <a:xfrm>
              <a:off x="4979988" y="2271713"/>
              <a:ext cx="4128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endParaRPr/>
            </a:p>
          </p:txBody>
        </p:sp>
        <p:sp>
          <p:nvSpPr>
            <p:cNvPr id="415" name="Google Shape;415;g380f001374e_0_306"/>
            <p:cNvSpPr txBox="1"/>
            <p:nvPr/>
          </p:nvSpPr>
          <p:spPr>
            <a:xfrm>
              <a:off x="4759325" y="3095625"/>
              <a:ext cx="2985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416" name="Google Shape;416;g380f001374e_0_306"/>
            <p:cNvSpPr txBox="1"/>
            <p:nvPr/>
          </p:nvSpPr>
          <p:spPr>
            <a:xfrm>
              <a:off x="4759325" y="1128713"/>
              <a:ext cx="2985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</a:t>
              </a:r>
              <a:endParaRPr/>
            </a:p>
          </p:txBody>
        </p:sp>
        <p:sp>
          <p:nvSpPr>
            <p:cNvPr id="417" name="Google Shape;417;g380f001374e_0_306"/>
            <p:cNvSpPr txBox="1"/>
            <p:nvPr/>
          </p:nvSpPr>
          <p:spPr>
            <a:xfrm>
              <a:off x="5956300" y="1128713"/>
              <a:ext cx="2985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sp>
          <p:nvSpPr>
            <p:cNvPr id="418" name="Google Shape;418;g380f001374e_0_306"/>
            <p:cNvSpPr txBox="1"/>
            <p:nvPr/>
          </p:nvSpPr>
          <p:spPr>
            <a:xfrm>
              <a:off x="5305425" y="1433513"/>
              <a:ext cx="2985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/>
            </a:p>
          </p:txBody>
        </p:sp>
        <p:sp>
          <p:nvSpPr>
            <p:cNvPr id="419" name="Google Shape;419;g380f001374e_0_306"/>
            <p:cNvSpPr txBox="1"/>
            <p:nvPr/>
          </p:nvSpPr>
          <p:spPr>
            <a:xfrm>
              <a:off x="6556375" y="2157413"/>
              <a:ext cx="2985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420" name="Google Shape;420;g380f001374e_0_306"/>
            <p:cNvSpPr txBox="1"/>
            <p:nvPr/>
          </p:nvSpPr>
          <p:spPr>
            <a:xfrm>
              <a:off x="7375525" y="1357313"/>
              <a:ext cx="2985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9</a:t>
              </a:r>
              <a:endParaRPr/>
            </a:p>
          </p:txBody>
        </p:sp>
        <p:sp>
          <p:nvSpPr>
            <p:cNvPr id="421" name="Google Shape;421;g380f001374e_0_306"/>
            <p:cNvSpPr txBox="1"/>
            <p:nvPr/>
          </p:nvSpPr>
          <p:spPr>
            <a:xfrm>
              <a:off x="7321550" y="2492375"/>
              <a:ext cx="4128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</a:t>
              </a:r>
              <a:endParaRPr/>
            </a:p>
          </p:txBody>
        </p:sp>
        <p:sp>
          <p:nvSpPr>
            <p:cNvPr id="422" name="Google Shape;422;g380f001374e_0_306"/>
            <p:cNvSpPr txBox="1"/>
            <p:nvPr/>
          </p:nvSpPr>
          <p:spPr>
            <a:xfrm>
              <a:off x="5895975" y="3114675"/>
              <a:ext cx="2985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 u="none" cap="none" strike="noStrike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endParaRPr/>
            </a:p>
          </p:txBody>
        </p:sp>
        <p:sp>
          <p:nvSpPr>
            <p:cNvPr id="423" name="Google Shape;423;g380f001374e_0_306"/>
            <p:cNvSpPr txBox="1"/>
            <p:nvPr/>
          </p:nvSpPr>
          <p:spPr>
            <a:xfrm>
              <a:off x="3505200" y="2687638"/>
              <a:ext cx="336600" cy="4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 u="none" cap="none" strike="noStrike">
                  <a:solidFill>
                    <a:schemeClr val="accen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</a:t>
              </a:r>
              <a:endParaRPr/>
            </a:p>
          </p:txBody>
        </p:sp>
        <p:cxnSp>
          <p:nvCxnSpPr>
            <p:cNvPr id="424" name="Google Shape;424;g380f001374e_0_306"/>
            <p:cNvCxnSpPr>
              <a:stCxn id="423" idx="3"/>
              <a:endCxn id="398" idx="2"/>
            </p:cNvCxnSpPr>
            <p:nvPr/>
          </p:nvCxnSpPr>
          <p:spPr>
            <a:xfrm flipH="1" rot="10800000">
              <a:off x="3841800" y="2881288"/>
              <a:ext cx="354000" cy="555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25" name="Google Shape;425;g380f001374e_0_306"/>
            <p:cNvSpPr txBox="1"/>
            <p:nvPr/>
          </p:nvSpPr>
          <p:spPr>
            <a:xfrm>
              <a:off x="4522788" y="2479792"/>
              <a:ext cx="2952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r</a:t>
              </a:r>
              <a:endParaRPr/>
            </a:p>
          </p:txBody>
        </p:sp>
        <p:sp>
          <p:nvSpPr>
            <p:cNvPr id="426" name="Google Shape;426;g380f001374e_0_306"/>
            <p:cNvSpPr txBox="1"/>
            <p:nvPr/>
          </p:nvSpPr>
          <p:spPr>
            <a:xfrm>
              <a:off x="6556375" y="3143856"/>
              <a:ext cx="3546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b</a:t>
              </a:r>
              <a:endParaRPr/>
            </a:p>
          </p:txBody>
        </p:sp>
        <p:sp>
          <p:nvSpPr>
            <p:cNvPr id="427" name="Google Shape;427;g380f001374e_0_306"/>
            <p:cNvSpPr txBox="1"/>
            <p:nvPr/>
          </p:nvSpPr>
          <p:spPr>
            <a:xfrm>
              <a:off x="8299041" y="2997074"/>
              <a:ext cx="327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c</a:t>
              </a:r>
              <a:endParaRPr/>
            </a:p>
          </p:txBody>
        </p:sp>
        <p:sp>
          <p:nvSpPr>
            <p:cNvPr id="428" name="Google Shape;428;g380f001374e_0_306"/>
            <p:cNvSpPr txBox="1"/>
            <p:nvPr/>
          </p:nvSpPr>
          <p:spPr>
            <a:xfrm>
              <a:off x="6180800" y="1812598"/>
              <a:ext cx="3546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d</a:t>
              </a:r>
              <a:endParaRPr/>
            </a:p>
          </p:txBody>
        </p:sp>
        <p:sp>
          <p:nvSpPr>
            <p:cNvPr id="429" name="Google Shape;429;g380f001374e_0_306"/>
            <p:cNvSpPr txBox="1"/>
            <p:nvPr/>
          </p:nvSpPr>
          <p:spPr>
            <a:xfrm>
              <a:off x="8037258" y="1765896"/>
              <a:ext cx="3546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e</a:t>
              </a:r>
              <a:endParaRPr/>
            </a:p>
          </p:txBody>
        </p:sp>
        <p:sp>
          <p:nvSpPr>
            <p:cNvPr id="430" name="Google Shape;430;g380f001374e_0_306"/>
            <p:cNvSpPr txBox="1"/>
            <p:nvPr/>
          </p:nvSpPr>
          <p:spPr>
            <a:xfrm>
              <a:off x="5725381" y="836316"/>
              <a:ext cx="2823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f</a:t>
              </a:r>
              <a:endParaRPr/>
            </a:p>
          </p:txBody>
        </p:sp>
        <p:sp>
          <p:nvSpPr>
            <p:cNvPr id="431" name="Google Shape;431;g380f001374e_0_306"/>
            <p:cNvSpPr txBox="1"/>
            <p:nvPr/>
          </p:nvSpPr>
          <p:spPr>
            <a:xfrm>
              <a:off x="4190715" y="1079004"/>
              <a:ext cx="3546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g</a:t>
              </a:r>
              <a:endParaRPr/>
            </a:p>
          </p:txBody>
        </p:sp>
        <p:sp>
          <p:nvSpPr>
            <p:cNvPr id="432" name="Google Shape;432;g380f001374e_0_306"/>
            <p:cNvSpPr txBox="1"/>
            <p:nvPr/>
          </p:nvSpPr>
          <p:spPr>
            <a:xfrm>
              <a:off x="5458182" y="3418223"/>
              <a:ext cx="395100" cy="57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rPr>
                <a:t>a</a:t>
              </a:r>
              <a:endParaRPr/>
            </a:p>
          </p:txBody>
        </p:sp>
      </p:grpSp>
      <p:sp>
        <p:nvSpPr>
          <p:cNvPr id="433" name="Google Shape;433;g380f001374e_0_306"/>
          <p:cNvSpPr txBox="1"/>
          <p:nvPr/>
        </p:nvSpPr>
        <p:spPr>
          <a:xfrm>
            <a:off x="8702425" y="6106784"/>
            <a:ext cx="313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5+4+2+9+3+8+15=46</a:t>
            </a:r>
            <a:endParaRPr/>
          </a:p>
        </p:txBody>
      </p:sp>
      <p:sp>
        <p:nvSpPr>
          <p:cNvPr id="434" name="Google Shape;434;g380f001374e_0_306"/>
          <p:cNvSpPr txBox="1"/>
          <p:nvPr/>
        </p:nvSpPr>
        <p:spPr>
          <a:xfrm>
            <a:off x="34411" y="870103"/>
            <a:ext cx="6121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MST-Prim(G, w, 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Q = V[G];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for each </a:t>
            </a:r>
            <a:r>
              <a:rPr b="1" i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∈ Q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key[u] = ∞;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key[r]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p[r] = NULL;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while (Q not empty)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u = ExtractMin(Q);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for each </a:t>
            </a:r>
            <a:r>
              <a:rPr b="1" i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∈ Adj[</a:t>
            </a:r>
            <a:r>
              <a:rPr b="1" i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</a:t>
            </a: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if (v ∈ Q and w(</a:t>
            </a:r>
            <a:r>
              <a:rPr b="1" i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u,v</a:t>
            </a: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&lt; key[</a:t>
            </a:r>
            <a:r>
              <a:rPr b="1" i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p[v] = u;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key[v] = w(u,v);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440" name="Google Shape;440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41" name="Google Shape;441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2" name="Google Shape;442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Prim’s Algorithm – Time Complexity</a:t>
            </a:r>
            <a:endParaRPr/>
          </a:p>
        </p:txBody>
      </p:sp>
      <p:pic>
        <p:nvPicPr>
          <p:cNvPr id="443" name="Google Shape;44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8383" y="1235487"/>
            <a:ext cx="5966698" cy="477467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10"/>
          <p:cNvSpPr/>
          <p:nvPr/>
        </p:nvSpPr>
        <p:spPr>
          <a:xfrm>
            <a:off x="6334812" y="1875934"/>
            <a:ext cx="169683" cy="961534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 txBox="1"/>
          <p:nvPr/>
        </p:nvSpPr>
        <p:spPr>
          <a:xfrm>
            <a:off x="6777872" y="2095091"/>
            <a:ext cx="8627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" name="Google Shape;446;p10"/>
          <p:cNvCxnSpPr/>
          <p:nvPr/>
        </p:nvCxnSpPr>
        <p:spPr>
          <a:xfrm>
            <a:off x="5177790" y="3051810"/>
            <a:ext cx="1600082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7" name="Google Shape;447;p10"/>
          <p:cNvSpPr txBox="1"/>
          <p:nvPr/>
        </p:nvSpPr>
        <p:spPr>
          <a:xfrm>
            <a:off x="6777871" y="2750411"/>
            <a:ext cx="8338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8" name="Google Shape;448;p10"/>
          <p:cNvCxnSpPr/>
          <p:nvPr/>
        </p:nvCxnSpPr>
        <p:spPr>
          <a:xfrm>
            <a:off x="5177788" y="3429000"/>
            <a:ext cx="1600082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9" name="Google Shape;449;p10"/>
          <p:cNvSpPr txBox="1"/>
          <p:nvPr/>
        </p:nvSpPr>
        <p:spPr>
          <a:xfrm>
            <a:off x="6777869" y="3127601"/>
            <a:ext cx="8627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10"/>
          <p:cNvCxnSpPr/>
          <p:nvPr/>
        </p:nvCxnSpPr>
        <p:spPr>
          <a:xfrm>
            <a:off x="5534771" y="3812970"/>
            <a:ext cx="1243098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1" name="Google Shape;451;p10"/>
          <p:cNvSpPr txBox="1"/>
          <p:nvPr/>
        </p:nvSpPr>
        <p:spPr>
          <a:xfrm>
            <a:off x="6777869" y="3521311"/>
            <a:ext cx="8627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10"/>
          <p:cNvCxnSpPr/>
          <p:nvPr/>
        </p:nvCxnSpPr>
        <p:spPr>
          <a:xfrm>
            <a:off x="7640606" y="4270170"/>
            <a:ext cx="1243098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3" name="Google Shape;453;p10"/>
          <p:cNvSpPr txBox="1"/>
          <p:nvPr/>
        </p:nvSpPr>
        <p:spPr>
          <a:xfrm>
            <a:off x="8883704" y="3978511"/>
            <a:ext cx="8627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0"/>
          <p:cNvSpPr txBox="1"/>
          <p:nvPr/>
        </p:nvSpPr>
        <p:spPr>
          <a:xfrm>
            <a:off x="9630464" y="3978511"/>
            <a:ext cx="13590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O(logV)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0"/>
          <p:cNvSpPr/>
          <p:nvPr/>
        </p:nvSpPr>
        <p:spPr>
          <a:xfrm>
            <a:off x="8815398" y="4495810"/>
            <a:ext cx="169683" cy="1097906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0"/>
          <p:cNvSpPr txBox="1"/>
          <p:nvPr/>
        </p:nvSpPr>
        <p:spPr>
          <a:xfrm>
            <a:off x="9194895" y="4877671"/>
            <a:ext cx="8627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7" name="Google Shape;457;p10"/>
          <p:cNvCxnSpPr/>
          <p:nvPr/>
        </p:nvCxnSpPr>
        <p:spPr>
          <a:xfrm>
            <a:off x="7741983" y="5763690"/>
            <a:ext cx="1243098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8" name="Google Shape;458;p10"/>
          <p:cNvSpPr txBox="1"/>
          <p:nvPr/>
        </p:nvSpPr>
        <p:spPr>
          <a:xfrm>
            <a:off x="9626263" y="5486943"/>
            <a:ext cx="13590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O(logV)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0"/>
          <p:cNvSpPr txBox="1"/>
          <p:nvPr/>
        </p:nvSpPr>
        <p:spPr>
          <a:xfrm>
            <a:off x="8934393" y="5486943"/>
            <a:ext cx="8627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O(E)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>
                <a:solidFill>
                  <a:schemeClr val="accent6"/>
                </a:solidFill>
              </a:rPr>
              <a:t>What is a spanning tree?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>
                <a:solidFill>
                  <a:schemeClr val="accent6"/>
                </a:solidFill>
              </a:rPr>
              <a:t>What is a minimum spanning tree (MST)?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>
                <a:solidFill>
                  <a:schemeClr val="accent6"/>
                </a:solidFill>
              </a:rPr>
              <a:t>Optimal Substructure Property in the MST problem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>
                <a:solidFill>
                  <a:schemeClr val="accent6"/>
                </a:solidFill>
              </a:rPr>
              <a:t>Prim’s Algorithm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>
                <a:solidFill>
                  <a:schemeClr val="accent6"/>
                </a:solidFill>
              </a:rPr>
              <a:t>Simulation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>
                <a:solidFill>
                  <a:schemeClr val="accent6"/>
                </a:solidFill>
              </a:rPr>
              <a:t>Algorithm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>
                <a:solidFill>
                  <a:schemeClr val="accent6"/>
                </a:solidFill>
              </a:rPr>
              <a:t>Cost Analysis</a:t>
            </a:r>
            <a:endParaRPr/>
          </a:p>
          <a:p>
            <a:pPr indent="-457200" lvl="0" marL="45720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Font typeface="Arial"/>
              <a:buChar char="•"/>
            </a:pPr>
            <a:r>
              <a:rPr lang="en-US"/>
              <a:t>Kruskal’s Algorithm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Simulation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Algorithm</a:t>
            </a:r>
            <a:endParaRPr/>
          </a:p>
          <a:p>
            <a:pPr indent="-457200" lvl="1" marL="12001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Font typeface="Arial"/>
              <a:buChar char="•"/>
            </a:pPr>
            <a:r>
              <a:rPr lang="en-US"/>
              <a:t>Cost Analysis</a:t>
            </a:r>
            <a:endParaRPr/>
          </a:p>
        </p:txBody>
      </p:sp>
      <p:sp>
        <p:nvSpPr>
          <p:cNvPr id="465" name="Google Shape;465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466" name="Google Shape;466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67" name="Google Shape;467;p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8" name="Google Shape;468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Things You Will Learn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474" name="Google Shape;474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75" name="Google Shape;475;p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6" name="Google Shape;476;p1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Times New Roman"/>
              <a:buNone/>
            </a:pPr>
            <a:r>
              <a:rPr lang="en-US" sz="3600"/>
              <a:t>Kruskal’s Algorithm- Simulation and Pseudocode</a:t>
            </a:r>
            <a:endParaRPr/>
          </a:p>
        </p:txBody>
      </p:sp>
      <p:pic>
        <p:nvPicPr>
          <p:cNvPr id="477" name="Google Shape;4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0999" y="1275194"/>
            <a:ext cx="9098525" cy="4531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483" name="Google Shape;483;p13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490" name="Google Shape;490;p13"/>
          <p:cNvCxnSpPr>
            <a:stCxn id="483" idx="6"/>
            <a:endCxn id="484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1" name="Google Shape;491;p13"/>
          <p:cNvCxnSpPr>
            <a:stCxn id="484" idx="6"/>
            <a:endCxn id="485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13"/>
          <p:cNvCxnSpPr>
            <a:stCxn id="485" idx="3"/>
            <a:endCxn id="488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13"/>
          <p:cNvCxnSpPr>
            <a:stCxn id="488" idx="2"/>
            <a:endCxn id="489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13"/>
          <p:cNvCxnSpPr>
            <a:stCxn id="489" idx="0"/>
            <a:endCxn id="483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5" name="Google Shape;495;p13"/>
          <p:cNvCxnSpPr>
            <a:stCxn id="483" idx="5"/>
            <a:endCxn id="488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6" name="Google Shape;496;p13"/>
          <p:cNvCxnSpPr>
            <a:stCxn id="488" idx="0"/>
            <a:endCxn id="484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7" name="Google Shape;497;p13"/>
          <p:cNvCxnSpPr>
            <a:stCxn id="488" idx="6"/>
            <a:endCxn id="486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8" name="Google Shape;498;p13"/>
          <p:cNvCxnSpPr>
            <a:stCxn id="486" idx="0"/>
            <a:endCxn id="485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13"/>
          <p:cNvCxnSpPr>
            <a:stCxn id="485" idx="5"/>
            <a:endCxn id="487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13"/>
          <p:cNvCxnSpPr>
            <a:stCxn id="486" idx="7"/>
            <a:endCxn id="487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1" name="Google Shape;501;p13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3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3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3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3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3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3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3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3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3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3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3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518" name="Google Shape;518;p14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19" name="Google Shape;519;p14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gradFill>
            <a:gsLst>
              <a:gs pos="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4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rgbClr val="A2A2A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rgbClr val="2F3B4A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A6582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34587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5" name="Google Shape;525;p14"/>
          <p:cNvCxnSpPr>
            <a:stCxn id="518" idx="6"/>
            <a:endCxn id="519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6" name="Google Shape;526;p14"/>
          <p:cNvCxnSpPr>
            <a:stCxn id="519" idx="6"/>
            <a:endCxn id="520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7" name="Google Shape;527;p14"/>
          <p:cNvCxnSpPr>
            <a:stCxn id="520" idx="3"/>
            <a:endCxn id="523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8" name="Google Shape;528;p14"/>
          <p:cNvCxnSpPr>
            <a:stCxn id="523" idx="2"/>
            <a:endCxn id="524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9" name="Google Shape;529;p14"/>
          <p:cNvCxnSpPr>
            <a:stCxn id="524" idx="0"/>
            <a:endCxn id="518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0" name="Google Shape;530;p14"/>
          <p:cNvCxnSpPr>
            <a:stCxn id="518" idx="5"/>
            <a:endCxn id="523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1" name="Google Shape;531;p14"/>
          <p:cNvCxnSpPr>
            <a:stCxn id="523" idx="0"/>
            <a:endCxn id="519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2" name="Google Shape;532;p14"/>
          <p:cNvCxnSpPr>
            <a:stCxn id="523" idx="6"/>
            <a:endCxn id="521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3" name="Google Shape;533;p14"/>
          <p:cNvCxnSpPr>
            <a:stCxn id="521" idx="0"/>
            <a:endCxn id="520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14"/>
          <p:cNvCxnSpPr>
            <a:stCxn id="520" idx="5"/>
            <a:endCxn id="522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14"/>
          <p:cNvCxnSpPr>
            <a:stCxn id="521" idx="7"/>
            <a:endCxn id="522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6" name="Google Shape;536;p14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4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4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4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4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4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4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4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4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4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4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2512242" y="3085037"/>
            <a:ext cx="155543" cy="1025050"/>
          </a:xfrm>
          <a:prstGeom prst="leftBrace">
            <a:avLst>
              <a:gd fmla="val 45833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48" name="Google Shape;548;p14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gradFill>
            <a:gsLst>
              <a:gs pos="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rgbClr val="A2A2A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5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rgbClr val="2F3B4A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5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A6582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5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34587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1" name="Google Shape;561;p15"/>
          <p:cNvCxnSpPr>
            <a:stCxn id="554" idx="6"/>
            <a:endCxn id="555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2" name="Google Shape;562;p15"/>
          <p:cNvCxnSpPr>
            <a:stCxn id="555" idx="6"/>
            <a:endCxn id="556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p15"/>
          <p:cNvCxnSpPr>
            <a:stCxn id="556" idx="3"/>
            <a:endCxn id="559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p15"/>
          <p:cNvCxnSpPr>
            <a:stCxn id="559" idx="2"/>
            <a:endCxn id="560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p15"/>
          <p:cNvCxnSpPr>
            <a:stCxn id="560" idx="0"/>
            <a:endCxn id="554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p15"/>
          <p:cNvCxnSpPr>
            <a:stCxn id="554" idx="5"/>
            <a:endCxn id="559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15"/>
          <p:cNvCxnSpPr>
            <a:stCxn id="559" idx="0"/>
            <a:endCxn id="555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15"/>
          <p:cNvCxnSpPr>
            <a:stCxn id="559" idx="6"/>
            <a:endCxn id="557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p15"/>
          <p:cNvCxnSpPr>
            <a:stCxn id="557" idx="0"/>
            <a:endCxn id="556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p15"/>
          <p:cNvCxnSpPr>
            <a:stCxn id="556" idx="5"/>
            <a:endCxn id="558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15"/>
          <p:cNvCxnSpPr>
            <a:stCxn id="557" idx="7"/>
            <a:endCxn id="558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2" name="Google Shape;572;p15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5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5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5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5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5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5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5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5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5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5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5"/>
          <p:cNvSpPr/>
          <p:nvPr/>
        </p:nvSpPr>
        <p:spPr>
          <a:xfrm>
            <a:off x="2606512" y="4075113"/>
            <a:ext cx="152400" cy="381000"/>
          </a:xfrm>
          <a:prstGeom prst="leftBrace">
            <a:avLst>
              <a:gd fmla="val 20833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4" name="Google Shape;584;p15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590" name="Google Shape;590;p16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91" name="Google Shape;591;p16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gradFill>
            <a:gsLst>
              <a:gs pos="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6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rgbClr val="A2A2A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6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6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rgbClr val="2F3B4A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6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A6582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6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34587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7" name="Google Shape;597;p16"/>
          <p:cNvCxnSpPr>
            <a:stCxn id="590" idx="6"/>
            <a:endCxn id="591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p16"/>
          <p:cNvCxnSpPr>
            <a:stCxn id="591" idx="6"/>
            <a:endCxn id="592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16"/>
          <p:cNvCxnSpPr>
            <a:stCxn id="592" idx="3"/>
            <a:endCxn id="595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16"/>
          <p:cNvCxnSpPr>
            <a:stCxn id="595" idx="2"/>
            <a:endCxn id="596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16"/>
          <p:cNvCxnSpPr>
            <a:stCxn id="596" idx="0"/>
            <a:endCxn id="590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2" name="Google Shape;602;p16"/>
          <p:cNvCxnSpPr>
            <a:stCxn id="590" idx="5"/>
            <a:endCxn id="595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3" name="Google Shape;603;p16"/>
          <p:cNvCxnSpPr>
            <a:stCxn id="595" idx="0"/>
            <a:endCxn id="591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4" name="Google Shape;604;p16"/>
          <p:cNvCxnSpPr>
            <a:stCxn id="595" idx="6"/>
            <a:endCxn id="593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16"/>
          <p:cNvCxnSpPr>
            <a:stCxn id="593" idx="0"/>
            <a:endCxn id="592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16"/>
          <p:cNvCxnSpPr>
            <a:stCxn id="592" idx="5"/>
            <a:endCxn id="594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16"/>
          <p:cNvCxnSpPr>
            <a:stCxn id="593" idx="7"/>
            <a:endCxn id="594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8" name="Google Shape;608;p16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6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6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6"/>
          <p:cNvSpPr txBox="1"/>
          <p:nvPr/>
        </p:nvSpPr>
        <p:spPr>
          <a:xfrm>
            <a:off x="9386888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6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6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6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6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6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6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6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6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0" name="Google Shape;620;p16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626" name="Google Shape;626;p17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7" name="Google Shape;627;p17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gradFill>
            <a:gsLst>
              <a:gs pos="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rgbClr val="A2A2A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17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7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7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A6582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7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34587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3" name="Google Shape;633;p17"/>
          <p:cNvCxnSpPr>
            <a:stCxn id="626" idx="6"/>
            <a:endCxn id="627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4" name="Google Shape;634;p17"/>
          <p:cNvCxnSpPr>
            <a:stCxn id="627" idx="6"/>
            <a:endCxn id="628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5" name="Google Shape;635;p17"/>
          <p:cNvCxnSpPr>
            <a:stCxn id="628" idx="3"/>
            <a:endCxn id="631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6" name="Google Shape;636;p17"/>
          <p:cNvCxnSpPr>
            <a:stCxn id="631" idx="2"/>
            <a:endCxn id="632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7" name="Google Shape;637;p17"/>
          <p:cNvCxnSpPr>
            <a:stCxn id="632" idx="0"/>
            <a:endCxn id="626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17"/>
          <p:cNvCxnSpPr>
            <a:stCxn id="626" idx="5"/>
            <a:endCxn id="631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p17"/>
          <p:cNvCxnSpPr>
            <a:stCxn id="631" idx="0"/>
            <a:endCxn id="627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17"/>
          <p:cNvCxnSpPr>
            <a:stCxn id="631" idx="6"/>
            <a:endCxn id="629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17"/>
          <p:cNvCxnSpPr>
            <a:stCxn id="629" idx="0"/>
            <a:endCxn id="628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17"/>
          <p:cNvCxnSpPr>
            <a:stCxn id="628" idx="5"/>
            <a:endCxn id="630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17"/>
          <p:cNvCxnSpPr>
            <a:stCxn id="629" idx="7"/>
            <a:endCxn id="630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4" name="Google Shape;644;p17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7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7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7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7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7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7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7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7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7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7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7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6" name="Google Shape;656;p17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662" name="Google Shape;662;p18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3" name="Google Shape;663;p18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gradFill>
            <a:gsLst>
              <a:gs pos="0">
                <a:schemeClr val="dk1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8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rgbClr val="A2A2A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8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8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8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A6582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8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34587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9" name="Google Shape;669;p18"/>
          <p:cNvCxnSpPr>
            <a:stCxn id="662" idx="6"/>
            <a:endCxn id="663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0" name="Google Shape;670;p18"/>
          <p:cNvCxnSpPr>
            <a:stCxn id="663" idx="6"/>
            <a:endCxn id="664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1" name="Google Shape;671;p18"/>
          <p:cNvCxnSpPr>
            <a:stCxn id="664" idx="3"/>
            <a:endCxn id="667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2" name="Google Shape;672;p18"/>
          <p:cNvCxnSpPr>
            <a:stCxn id="667" idx="2"/>
            <a:endCxn id="668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p18"/>
          <p:cNvCxnSpPr>
            <a:stCxn id="668" idx="0"/>
            <a:endCxn id="662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4" name="Google Shape;674;p18"/>
          <p:cNvCxnSpPr>
            <a:stCxn id="662" idx="5"/>
            <a:endCxn id="667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5" name="Google Shape;675;p18"/>
          <p:cNvCxnSpPr>
            <a:stCxn id="667" idx="0"/>
            <a:endCxn id="663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6" name="Google Shape;676;p18"/>
          <p:cNvCxnSpPr>
            <a:stCxn id="667" idx="6"/>
            <a:endCxn id="665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7" name="Google Shape;677;p18"/>
          <p:cNvCxnSpPr>
            <a:stCxn id="665" idx="0"/>
            <a:endCxn id="664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8" name="Google Shape;678;p18"/>
          <p:cNvCxnSpPr>
            <a:stCxn id="664" idx="5"/>
            <a:endCxn id="666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9" name="Google Shape;679;p18"/>
          <p:cNvCxnSpPr>
            <a:stCxn id="665" idx="7"/>
            <a:endCxn id="666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0" name="Google Shape;680;p18"/>
          <p:cNvSpPr txBox="1"/>
          <p:nvPr/>
        </p:nvSpPr>
        <p:spPr>
          <a:xfrm>
            <a:off x="6186488" y="8890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18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8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18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8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8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8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8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8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8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8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8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2" name="Google Shape;692;p18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698" name="Google Shape;698;p19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9" name="Google Shape;699;p19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00" name="Google Shape;700;p19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rgbClr val="A2A2A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9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9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9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A6582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9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34587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5" name="Google Shape;705;p19"/>
          <p:cNvCxnSpPr>
            <a:stCxn id="698" idx="6"/>
            <a:endCxn id="699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19"/>
          <p:cNvCxnSpPr>
            <a:stCxn id="699" idx="6"/>
            <a:endCxn id="700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7" name="Google Shape;707;p19"/>
          <p:cNvCxnSpPr>
            <a:stCxn id="700" idx="3"/>
            <a:endCxn id="703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8" name="Google Shape;708;p19"/>
          <p:cNvCxnSpPr>
            <a:stCxn id="703" idx="2"/>
            <a:endCxn id="704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p19"/>
          <p:cNvCxnSpPr>
            <a:stCxn id="704" idx="0"/>
            <a:endCxn id="698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19"/>
          <p:cNvCxnSpPr>
            <a:stCxn id="698" idx="5"/>
            <a:endCxn id="703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19"/>
          <p:cNvCxnSpPr>
            <a:stCxn id="703" idx="0"/>
            <a:endCxn id="699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2" name="Google Shape;712;p19"/>
          <p:cNvCxnSpPr>
            <a:stCxn id="703" idx="6"/>
            <a:endCxn id="701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3" name="Google Shape;713;p19"/>
          <p:cNvCxnSpPr>
            <a:stCxn id="701" idx="0"/>
            <a:endCxn id="700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4" name="Google Shape;714;p19"/>
          <p:cNvCxnSpPr>
            <a:stCxn id="700" idx="5"/>
            <a:endCxn id="702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5" name="Google Shape;715;p19"/>
          <p:cNvCxnSpPr>
            <a:stCxn id="701" idx="7"/>
            <a:endCxn id="702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6" name="Google Shape;716;p19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9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9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9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9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9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9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9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9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9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9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9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28" name="Google Shape;728;p19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734" name="Google Shape;734;p20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5" name="Google Shape;735;p20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36" name="Google Shape;736;p20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rgbClr val="A2A2A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0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0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0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A6582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0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34587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1" name="Google Shape;741;p20"/>
          <p:cNvCxnSpPr>
            <a:stCxn id="734" idx="6"/>
            <a:endCxn id="735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2" name="Google Shape;742;p20"/>
          <p:cNvCxnSpPr>
            <a:stCxn id="735" idx="6"/>
            <a:endCxn id="736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3" name="Google Shape;743;p20"/>
          <p:cNvCxnSpPr>
            <a:stCxn id="736" idx="3"/>
            <a:endCxn id="739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4" name="Google Shape;744;p20"/>
          <p:cNvCxnSpPr>
            <a:stCxn id="739" idx="2"/>
            <a:endCxn id="740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5" name="Google Shape;745;p20"/>
          <p:cNvCxnSpPr>
            <a:stCxn id="740" idx="0"/>
            <a:endCxn id="734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6" name="Google Shape;746;p20"/>
          <p:cNvCxnSpPr>
            <a:stCxn id="734" idx="5"/>
            <a:endCxn id="739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p20"/>
          <p:cNvCxnSpPr>
            <a:stCxn id="739" idx="0"/>
            <a:endCxn id="735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20"/>
          <p:cNvCxnSpPr>
            <a:stCxn id="739" idx="6"/>
            <a:endCxn id="737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p20"/>
          <p:cNvCxnSpPr>
            <a:stCxn id="737" idx="0"/>
            <a:endCxn id="736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20"/>
          <p:cNvCxnSpPr>
            <a:stCxn id="736" idx="5"/>
            <a:endCxn id="738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20"/>
          <p:cNvCxnSpPr>
            <a:stCxn id="737" idx="7"/>
            <a:endCxn id="738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2" name="Google Shape;752;p20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0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0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0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0"/>
          <p:cNvSpPr txBox="1"/>
          <p:nvPr/>
        </p:nvSpPr>
        <p:spPr>
          <a:xfrm>
            <a:off x="8967788" y="18542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0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0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0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0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0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0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0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4" name="Google Shape;764;p20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770" name="Google Shape;770;p21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1" name="Google Shape;771;p21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72" name="Google Shape;772;p21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1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1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1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A6582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1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34587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7" name="Google Shape;777;p21"/>
          <p:cNvCxnSpPr>
            <a:stCxn id="770" idx="6"/>
            <a:endCxn id="771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" name="Google Shape;778;p21"/>
          <p:cNvCxnSpPr>
            <a:stCxn id="771" idx="6"/>
            <a:endCxn id="772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9" name="Google Shape;779;p21"/>
          <p:cNvCxnSpPr>
            <a:stCxn id="772" idx="3"/>
            <a:endCxn id="775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21"/>
          <p:cNvCxnSpPr>
            <a:stCxn id="775" idx="2"/>
            <a:endCxn id="776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p21"/>
          <p:cNvCxnSpPr>
            <a:stCxn id="776" idx="0"/>
            <a:endCxn id="770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21"/>
          <p:cNvCxnSpPr>
            <a:stCxn id="770" idx="5"/>
            <a:endCxn id="775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21"/>
          <p:cNvCxnSpPr>
            <a:stCxn id="775" idx="0"/>
            <a:endCxn id="771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21"/>
          <p:cNvCxnSpPr>
            <a:stCxn id="775" idx="6"/>
            <a:endCxn id="773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21"/>
          <p:cNvCxnSpPr>
            <a:stCxn id="773" idx="0"/>
            <a:endCxn id="772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p21"/>
          <p:cNvCxnSpPr>
            <a:stCxn id="772" idx="5"/>
            <a:endCxn id="774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p21"/>
          <p:cNvCxnSpPr>
            <a:stCxn id="773" idx="7"/>
            <a:endCxn id="774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8" name="Google Shape;788;p21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1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1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1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1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1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1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1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1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1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1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1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0" name="Google Shape;800;p21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806" name="Google Shape;806;p22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7" name="Google Shape;807;p22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gradFill>
            <a:gsLst>
              <a:gs pos="0">
                <a:srgbClr val="FFFF00"/>
              </a:gs>
              <a:gs pos="100000">
                <a:srgbClr val="767600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08" name="Google Shape;808;p22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2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2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406D96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2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A65822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2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gradFill>
            <a:gsLst>
              <a:gs pos="0">
                <a:schemeClr val="hlink"/>
              </a:gs>
              <a:gs pos="100000">
                <a:srgbClr val="034587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3" name="Google Shape;813;p22"/>
          <p:cNvCxnSpPr>
            <a:stCxn id="806" idx="6"/>
            <a:endCxn id="807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4" name="Google Shape;814;p22"/>
          <p:cNvCxnSpPr>
            <a:stCxn id="807" idx="6"/>
            <a:endCxn id="808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5" name="Google Shape;815;p22"/>
          <p:cNvCxnSpPr>
            <a:stCxn id="808" idx="3"/>
            <a:endCxn id="811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p22"/>
          <p:cNvCxnSpPr>
            <a:stCxn id="811" idx="2"/>
            <a:endCxn id="812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7" name="Google Shape;817;p22"/>
          <p:cNvCxnSpPr>
            <a:stCxn id="812" idx="0"/>
            <a:endCxn id="806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p22"/>
          <p:cNvCxnSpPr>
            <a:stCxn id="806" idx="5"/>
            <a:endCxn id="811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9" name="Google Shape;819;p22"/>
          <p:cNvCxnSpPr>
            <a:stCxn id="811" idx="0"/>
            <a:endCxn id="807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0" name="Google Shape;820;p22"/>
          <p:cNvCxnSpPr>
            <a:stCxn id="811" idx="6"/>
            <a:endCxn id="809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1" name="Google Shape;821;p22"/>
          <p:cNvCxnSpPr>
            <a:stCxn id="809" idx="0"/>
            <a:endCxn id="808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2" name="Google Shape;822;p22"/>
          <p:cNvCxnSpPr>
            <a:stCxn id="808" idx="5"/>
            <a:endCxn id="810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3" name="Google Shape;823;p22"/>
          <p:cNvCxnSpPr>
            <a:stCxn id="809" idx="7"/>
            <a:endCxn id="810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4" name="Google Shape;824;p22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22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22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2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2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22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22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2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22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22"/>
          <p:cNvSpPr txBox="1"/>
          <p:nvPr/>
        </p:nvSpPr>
        <p:spPr>
          <a:xfrm>
            <a:off x="5194300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p22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22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36" name="Google Shape;836;p22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2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842" name="Google Shape;842;p23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3" name="Google Shape;843;p23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4" name="Google Shape;844;p23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5" name="Google Shape;845;p23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6" name="Google Shape;846;p23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7" name="Google Shape;847;p23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48" name="Google Shape;848;p23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849" name="Google Shape;849;p23"/>
          <p:cNvCxnSpPr>
            <a:stCxn id="842" idx="6"/>
            <a:endCxn id="843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0" name="Google Shape;850;p23"/>
          <p:cNvCxnSpPr>
            <a:stCxn id="843" idx="6"/>
            <a:endCxn id="844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1" name="Google Shape;851;p23"/>
          <p:cNvCxnSpPr>
            <a:stCxn id="844" idx="3"/>
            <a:endCxn id="847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2" name="Google Shape;852;p23"/>
          <p:cNvCxnSpPr>
            <a:stCxn id="847" idx="2"/>
            <a:endCxn id="848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3" name="Google Shape;853;p23"/>
          <p:cNvCxnSpPr>
            <a:stCxn id="848" idx="0"/>
            <a:endCxn id="842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4" name="Google Shape;854;p23"/>
          <p:cNvCxnSpPr>
            <a:stCxn id="842" idx="5"/>
            <a:endCxn id="847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5" name="Google Shape;855;p23"/>
          <p:cNvCxnSpPr>
            <a:stCxn id="847" idx="0"/>
            <a:endCxn id="843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p23"/>
          <p:cNvCxnSpPr>
            <a:stCxn id="847" idx="6"/>
            <a:endCxn id="845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p23"/>
          <p:cNvCxnSpPr>
            <a:stCxn id="845" idx="0"/>
            <a:endCxn id="844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p23"/>
          <p:cNvCxnSpPr>
            <a:stCxn id="844" idx="5"/>
            <a:endCxn id="846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9" name="Google Shape;859;p23"/>
          <p:cNvCxnSpPr>
            <a:stCxn id="845" idx="7"/>
            <a:endCxn id="846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0" name="Google Shape;860;p23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3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3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3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23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23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23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23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3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3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3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3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2" name="Google Shape;872;p23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878" name="Google Shape;878;p24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79" name="Google Shape;879;p24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0" name="Google Shape;880;p24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1" name="Google Shape;881;p24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2" name="Google Shape;882;p24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3" name="Google Shape;883;p24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84" name="Google Shape;884;p24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885" name="Google Shape;885;p24"/>
          <p:cNvCxnSpPr>
            <a:stCxn id="878" idx="6"/>
            <a:endCxn id="879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6" name="Google Shape;886;p24"/>
          <p:cNvCxnSpPr>
            <a:stCxn id="879" idx="6"/>
            <a:endCxn id="880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7" name="Google Shape;887;p24"/>
          <p:cNvCxnSpPr>
            <a:stCxn id="880" idx="3"/>
            <a:endCxn id="883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8" name="Google Shape;888;p24"/>
          <p:cNvCxnSpPr>
            <a:stCxn id="883" idx="2"/>
            <a:endCxn id="884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p24"/>
          <p:cNvCxnSpPr>
            <a:stCxn id="884" idx="0"/>
            <a:endCxn id="878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0" name="Google Shape;890;p24"/>
          <p:cNvCxnSpPr>
            <a:stCxn id="878" idx="5"/>
            <a:endCxn id="883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1" name="Google Shape;891;p24"/>
          <p:cNvCxnSpPr>
            <a:stCxn id="883" idx="0"/>
            <a:endCxn id="879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2" name="Google Shape;892;p24"/>
          <p:cNvCxnSpPr>
            <a:stCxn id="883" idx="6"/>
            <a:endCxn id="881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3" name="Google Shape;893;p24"/>
          <p:cNvCxnSpPr>
            <a:stCxn id="881" idx="0"/>
            <a:endCxn id="880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4" name="Google Shape;894;p24"/>
          <p:cNvCxnSpPr>
            <a:stCxn id="880" idx="5"/>
            <a:endCxn id="882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24"/>
          <p:cNvCxnSpPr>
            <a:stCxn id="881" idx="7"/>
            <a:endCxn id="882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6" name="Google Shape;896;p24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24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24"/>
          <p:cNvSpPr txBox="1"/>
          <p:nvPr/>
        </p:nvSpPr>
        <p:spPr>
          <a:xfrm>
            <a:off x="9385300" y="1279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24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24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24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24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24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24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24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24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24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08" name="Google Shape;908;p24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2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914" name="Google Shape;914;p25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5" name="Google Shape;915;p25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6" name="Google Shape;916;p25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7" name="Google Shape;917;p25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8" name="Google Shape;918;p25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9" name="Google Shape;919;p25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20" name="Google Shape;920;p25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921" name="Google Shape;921;p25"/>
          <p:cNvCxnSpPr>
            <a:stCxn id="914" idx="6"/>
            <a:endCxn id="915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2" name="Google Shape;922;p25"/>
          <p:cNvCxnSpPr>
            <a:stCxn id="915" idx="6"/>
            <a:endCxn id="916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3" name="Google Shape;923;p25"/>
          <p:cNvCxnSpPr>
            <a:stCxn id="916" idx="3"/>
            <a:endCxn id="919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4" name="Google Shape;924;p25"/>
          <p:cNvCxnSpPr>
            <a:stCxn id="919" idx="2"/>
            <a:endCxn id="920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5" name="Google Shape;925;p25"/>
          <p:cNvCxnSpPr>
            <a:stCxn id="920" idx="0"/>
            <a:endCxn id="914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6" name="Google Shape;926;p25"/>
          <p:cNvCxnSpPr>
            <a:stCxn id="914" idx="5"/>
            <a:endCxn id="919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7" name="Google Shape;927;p25"/>
          <p:cNvCxnSpPr>
            <a:stCxn id="919" idx="0"/>
            <a:endCxn id="915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8" name="Google Shape;928;p25"/>
          <p:cNvCxnSpPr>
            <a:stCxn id="919" idx="6"/>
            <a:endCxn id="917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9" name="Google Shape;929;p25"/>
          <p:cNvCxnSpPr>
            <a:stCxn id="917" idx="0"/>
            <a:endCxn id="916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0" name="Google Shape;930;p25"/>
          <p:cNvCxnSpPr>
            <a:stCxn id="916" idx="5"/>
            <a:endCxn id="918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1" name="Google Shape;931;p25"/>
          <p:cNvCxnSpPr>
            <a:stCxn id="917" idx="7"/>
            <a:endCxn id="918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2" name="Google Shape;932;p25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25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25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25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25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25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25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25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25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25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25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25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44" name="Google Shape;944;p25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2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950" name="Google Shape;950;p26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1" name="Google Shape;951;p26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2" name="Google Shape;952;p26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3" name="Google Shape;953;p26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4" name="Google Shape;954;p26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5" name="Google Shape;955;p26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6" name="Google Shape;956;p26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957" name="Google Shape;957;p26"/>
          <p:cNvCxnSpPr>
            <a:stCxn id="950" idx="6"/>
            <a:endCxn id="951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8" name="Google Shape;958;p26"/>
          <p:cNvCxnSpPr>
            <a:stCxn id="951" idx="6"/>
            <a:endCxn id="952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9" name="Google Shape;959;p26"/>
          <p:cNvCxnSpPr>
            <a:stCxn id="952" idx="3"/>
            <a:endCxn id="955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0" name="Google Shape;960;p26"/>
          <p:cNvCxnSpPr>
            <a:stCxn id="955" idx="2"/>
            <a:endCxn id="956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1" name="Google Shape;961;p26"/>
          <p:cNvCxnSpPr>
            <a:stCxn id="956" idx="0"/>
            <a:endCxn id="950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2" name="Google Shape;962;p26"/>
          <p:cNvCxnSpPr>
            <a:stCxn id="950" idx="5"/>
            <a:endCxn id="955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3" name="Google Shape;963;p26"/>
          <p:cNvCxnSpPr>
            <a:stCxn id="955" idx="0"/>
            <a:endCxn id="951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4" name="Google Shape;964;p26"/>
          <p:cNvCxnSpPr>
            <a:stCxn id="955" idx="6"/>
            <a:endCxn id="953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5" name="Google Shape;965;p26"/>
          <p:cNvCxnSpPr>
            <a:stCxn id="953" idx="0"/>
            <a:endCxn id="952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6" name="Google Shape;966;p26"/>
          <p:cNvCxnSpPr>
            <a:stCxn id="952" idx="5"/>
            <a:endCxn id="954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7" name="Google Shape;967;p26"/>
          <p:cNvCxnSpPr>
            <a:stCxn id="953" idx="7"/>
            <a:endCxn id="954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8" name="Google Shape;968;p26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26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0" name="Google Shape;970;p26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1" name="Google Shape;971;p26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26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26"/>
          <p:cNvSpPr txBox="1"/>
          <p:nvPr/>
        </p:nvSpPr>
        <p:spPr>
          <a:xfrm>
            <a:off x="8016875" y="2346326"/>
            <a:ext cx="6413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26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26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26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26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26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26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0" name="Google Shape;980;p26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2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986" name="Google Shape;986;p27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7" name="Google Shape;987;p27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8" name="Google Shape;988;p27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89" name="Google Shape;989;p27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90" name="Google Shape;990;p27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91" name="Google Shape;991;p27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92" name="Google Shape;992;p27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993" name="Google Shape;993;p27"/>
          <p:cNvCxnSpPr>
            <a:stCxn id="986" idx="6"/>
            <a:endCxn id="987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" name="Google Shape;994;p27"/>
          <p:cNvCxnSpPr>
            <a:stCxn id="987" idx="6"/>
            <a:endCxn id="988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" name="Google Shape;995;p27"/>
          <p:cNvCxnSpPr>
            <a:stCxn id="988" idx="3"/>
            <a:endCxn id="991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6" name="Google Shape;996;p27"/>
          <p:cNvCxnSpPr>
            <a:stCxn id="991" idx="2"/>
            <a:endCxn id="992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7" name="Google Shape;997;p27"/>
          <p:cNvCxnSpPr>
            <a:stCxn id="992" idx="0"/>
            <a:endCxn id="986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8" name="Google Shape;998;p27"/>
          <p:cNvCxnSpPr>
            <a:stCxn id="986" idx="5"/>
            <a:endCxn id="991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9" name="Google Shape;999;p27"/>
          <p:cNvCxnSpPr>
            <a:stCxn id="991" idx="0"/>
            <a:endCxn id="987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0" name="Google Shape;1000;p27"/>
          <p:cNvCxnSpPr>
            <a:stCxn id="991" idx="6"/>
            <a:endCxn id="989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1" name="Google Shape;1001;p27"/>
          <p:cNvCxnSpPr>
            <a:stCxn id="989" idx="0"/>
            <a:endCxn id="988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2" name="Google Shape;1002;p27"/>
          <p:cNvCxnSpPr>
            <a:stCxn id="988" idx="5"/>
            <a:endCxn id="990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3" name="Google Shape;1003;p27"/>
          <p:cNvCxnSpPr>
            <a:stCxn id="989" idx="7"/>
            <a:endCxn id="990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4" name="Google Shape;1004;p27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27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27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27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27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27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27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27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27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27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27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27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16" name="Google Shape;1016;p27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2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1022" name="Google Shape;1022;p28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23" name="Google Shape;1023;p28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24" name="Google Shape;1024;p28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25" name="Google Shape;1025;p28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26" name="Google Shape;1026;p28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27" name="Google Shape;1027;p28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28" name="Google Shape;1028;p28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rgbClr val="FFFF00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029" name="Google Shape;1029;p28"/>
          <p:cNvCxnSpPr>
            <a:stCxn id="1022" idx="6"/>
            <a:endCxn id="1023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0" name="Google Shape;1030;p28"/>
          <p:cNvCxnSpPr>
            <a:stCxn id="1023" idx="6"/>
            <a:endCxn id="1024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1" name="Google Shape;1031;p28"/>
          <p:cNvCxnSpPr>
            <a:stCxn id="1024" idx="3"/>
            <a:endCxn id="1027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2" name="Google Shape;1032;p28"/>
          <p:cNvCxnSpPr>
            <a:stCxn id="1027" idx="2"/>
            <a:endCxn id="1028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3" name="Google Shape;1033;p28"/>
          <p:cNvCxnSpPr>
            <a:stCxn id="1028" idx="0"/>
            <a:endCxn id="1022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4" name="Google Shape;1034;p28"/>
          <p:cNvCxnSpPr>
            <a:stCxn id="1022" idx="5"/>
            <a:endCxn id="1027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5" name="Google Shape;1035;p28"/>
          <p:cNvCxnSpPr>
            <a:stCxn id="1027" idx="0"/>
            <a:endCxn id="1023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6" name="Google Shape;1036;p28"/>
          <p:cNvCxnSpPr>
            <a:stCxn id="1027" idx="6"/>
            <a:endCxn id="1025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7" name="Google Shape;1037;p28"/>
          <p:cNvCxnSpPr>
            <a:stCxn id="1025" idx="0"/>
            <a:endCxn id="1024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8" name="Google Shape;1038;p28"/>
          <p:cNvCxnSpPr>
            <a:stCxn id="1024" idx="5"/>
            <a:endCxn id="1026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9" name="Google Shape;1039;p28"/>
          <p:cNvCxnSpPr>
            <a:stCxn id="1025" idx="7"/>
            <a:endCxn id="1026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0" name="Google Shape;1040;p28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28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28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28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28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28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28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28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28"/>
          <p:cNvSpPr txBox="1"/>
          <p:nvPr/>
        </p:nvSpPr>
        <p:spPr>
          <a:xfrm>
            <a:off x="6096000" y="1447801"/>
            <a:ext cx="6413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28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28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28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52" name="Google Shape;1052;p28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1058" name="Google Shape;1058;p29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59" name="Google Shape;1059;p29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0" name="Google Shape;1060;p29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1" name="Google Shape;1061;p29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2" name="Google Shape;1062;p29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3" name="Google Shape;1063;p29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64" name="Google Shape;1064;p29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065" name="Google Shape;1065;p29"/>
          <p:cNvCxnSpPr>
            <a:stCxn id="1058" idx="6"/>
            <a:endCxn id="1059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p29"/>
          <p:cNvCxnSpPr>
            <a:stCxn id="1059" idx="6"/>
            <a:endCxn id="1060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7" name="Google Shape;1067;p29"/>
          <p:cNvCxnSpPr>
            <a:stCxn id="1060" idx="3"/>
            <a:endCxn id="1063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8" name="Google Shape;1068;p29"/>
          <p:cNvCxnSpPr>
            <a:stCxn id="1063" idx="2"/>
            <a:endCxn id="1064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9" name="Google Shape;1069;p29"/>
          <p:cNvCxnSpPr>
            <a:stCxn id="1064" idx="0"/>
            <a:endCxn id="1058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0" name="Google Shape;1070;p29"/>
          <p:cNvCxnSpPr>
            <a:stCxn id="1058" idx="5"/>
            <a:endCxn id="1063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1" name="Google Shape;1071;p29"/>
          <p:cNvCxnSpPr>
            <a:stCxn id="1063" idx="0"/>
            <a:endCxn id="1059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2" name="Google Shape;1072;p29"/>
          <p:cNvCxnSpPr>
            <a:stCxn id="1063" idx="6"/>
            <a:endCxn id="1061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3" name="Google Shape;1073;p29"/>
          <p:cNvCxnSpPr>
            <a:stCxn id="1061" idx="0"/>
            <a:endCxn id="1060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4" name="Google Shape;1074;p29"/>
          <p:cNvCxnSpPr>
            <a:stCxn id="1060" idx="5"/>
            <a:endCxn id="1062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5" name="Google Shape;1075;p29"/>
          <p:cNvCxnSpPr>
            <a:stCxn id="1061" idx="7"/>
            <a:endCxn id="1062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6" name="Google Shape;1076;p29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29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29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29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29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29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29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29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29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29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29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29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88" name="Google Shape;1088;p29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3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1094" name="Google Shape;1094;p30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5" name="Google Shape;1095;p30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6" name="Google Shape;1096;p30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7" name="Google Shape;1097;p30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8" name="Google Shape;1098;p30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099" name="Google Shape;1099;p30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00" name="Google Shape;1100;p30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101" name="Google Shape;1101;p30"/>
          <p:cNvCxnSpPr>
            <a:stCxn id="1094" idx="6"/>
            <a:endCxn id="1095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2" name="Google Shape;1102;p30"/>
          <p:cNvCxnSpPr>
            <a:stCxn id="1095" idx="6"/>
            <a:endCxn id="1096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3" name="Google Shape;1103;p30"/>
          <p:cNvCxnSpPr>
            <a:stCxn id="1096" idx="3"/>
            <a:endCxn id="1099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4" name="Google Shape;1104;p30"/>
          <p:cNvCxnSpPr>
            <a:stCxn id="1099" idx="2"/>
            <a:endCxn id="1100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5" name="Google Shape;1105;p30"/>
          <p:cNvCxnSpPr>
            <a:stCxn id="1100" idx="0"/>
            <a:endCxn id="1094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6" name="Google Shape;1106;p30"/>
          <p:cNvCxnSpPr>
            <a:stCxn id="1094" idx="5"/>
            <a:endCxn id="1099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7" name="Google Shape;1107;p30"/>
          <p:cNvCxnSpPr>
            <a:stCxn id="1099" idx="0"/>
            <a:endCxn id="1095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8" name="Google Shape;1108;p30"/>
          <p:cNvCxnSpPr>
            <a:stCxn id="1099" idx="6"/>
            <a:endCxn id="1097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9" name="Google Shape;1109;p30"/>
          <p:cNvCxnSpPr>
            <a:stCxn id="1097" idx="0"/>
            <a:endCxn id="1096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0" name="Google Shape;1110;p30"/>
          <p:cNvCxnSpPr>
            <a:stCxn id="1096" idx="5"/>
            <a:endCxn id="1098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1" name="Google Shape;1111;p30"/>
          <p:cNvCxnSpPr>
            <a:stCxn id="1097" idx="7"/>
            <a:endCxn id="1098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2" name="Google Shape;1112;p30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30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30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5" name="Google Shape;1115;p30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30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30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0"/>
          <p:cNvSpPr txBox="1"/>
          <p:nvPr/>
        </p:nvSpPr>
        <p:spPr>
          <a:xfrm>
            <a:off x="7893050" y="1447801"/>
            <a:ext cx="6413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30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30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30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30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30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24" name="Google Shape;1124;p30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3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1130" name="Google Shape;1130;p31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31" name="Google Shape;1131;p31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32" name="Google Shape;1132;p31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33" name="Google Shape;1133;p31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34" name="Google Shape;1134;p31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35" name="Google Shape;1135;p31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36" name="Google Shape;1136;p31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137" name="Google Shape;1137;p31"/>
          <p:cNvCxnSpPr>
            <a:stCxn id="1130" idx="6"/>
            <a:endCxn id="1131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8" name="Google Shape;1138;p31"/>
          <p:cNvCxnSpPr>
            <a:stCxn id="1131" idx="6"/>
            <a:endCxn id="1132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9" name="Google Shape;1139;p31"/>
          <p:cNvCxnSpPr>
            <a:stCxn id="1132" idx="3"/>
            <a:endCxn id="1135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0" name="Google Shape;1140;p31"/>
          <p:cNvCxnSpPr>
            <a:stCxn id="1135" idx="2"/>
            <a:endCxn id="1136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1" name="Google Shape;1141;p31"/>
          <p:cNvCxnSpPr>
            <a:stCxn id="1136" idx="0"/>
            <a:endCxn id="1130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2" name="Google Shape;1142;p31"/>
          <p:cNvCxnSpPr>
            <a:stCxn id="1130" idx="5"/>
            <a:endCxn id="1135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3" name="Google Shape;1143;p31"/>
          <p:cNvCxnSpPr>
            <a:stCxn id="1135" idx="0"/>
            <a:endCxn id="1131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4" name="Google Shape;1144;p31"/>
          <p:cNvCxnSpPr>
            <a:stCxn id="1135" idx="6"/>
            <a:endCxn id="1133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5" name="Google Shape;1145;p31"/>
          <p:cNvCxnSpPr>
            <a:stCxn id="1133" idx="0"/>
            <a:endCxn id="1132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6" name="Google Shape;1146;p31"/>
          <p:cNvCxnSpPr>
            <a:stCxn id="1132" idx="5"/>
            <a:endCxn id="1134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7" name="Google Shape;1147;p31"/>
          <p:cNvCxnSpPr>
            <a:stCxn id="1133" idx="7"/>
            <a:endCxn id="1134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8" name="Google Shape;1148;p31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31"/>
          <p:cNvSpPr txBox="1"/>
          <p:nvPr/>
        </p:nvSpPr>
        <p:spPr>
          <a:xfrm>
            <a:off x="7802563" y="898526"/>
            <a:ext cx="6413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31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31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31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31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31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1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1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1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31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31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60" name="Google Shape;1160;p31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3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1166" name="Google Shape;1166;p32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67" name="Google Shape;1167;p32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68" name="Google Shape;1168;p32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69" name="Google Shape;1169;p32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0" name="Google Shape;1170;p32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1" name="Google Shape;1171;p32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72" name="Google Shape;1172;p32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173" name="Google Shape;1173;p32"/>
          <p:cNvCxnSpPr>
            <a:stCxn id="1166" idx="6"/>
            <a:endCxn id="1167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4" name="Google Shape;1174;p32"/>
          <p:cNvCxnSpPr>
            <a:stCxn id="1167" idx="6"/>
            <a:endCxn id="1168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5" name="Google Shape;1175;p32"/>
          <p:cNvCxnSpPr>
            <a:stCxn id="1168" idx="3"/>
            <a:endCxn id="1171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6" name="Google Shape;1176;p32"/>
          <p:cNvCxnSpPr>
            <a:stCxn id="1171" idx="2"/>
            <a:endCxn id="1172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7" name="Google Shape;1177;p32"/>
          <p:cNvCxnSpPr>
            <a:stCxn id="1172" idx="0"/>
            <a:endCxn id="1166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8" name="Google Shape;1178;p32"/>
          <p:cNvCxnSpPr>
            <a:stCxn id="1166" idx="5"/>
            <a:endCxn id="1171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9" name="Google Shape;1179;p32"/>
          <p:cNvCxnSpPr>
            <a:stCxn id="1171" idx="0"/>
            <a:endCxn id="1167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0" name="Google Shape;1180;p32"/>
          <p:cNvCxnSpPr>
            <a:stCxn id="1171" idx="6"/>
            <a:endCxn id="1169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1" name="Google Shape;1181;p32"/>
          <p:cNvCxnSpPr>
            <a:stCxn id="1169" idx="0"/>
            <a:endCxn id="1168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2" name="Google Shape;1182;p32"/>
          <p:cNvCxnSpPr>
            <a:stCxn id="1168" idx="5"/>
            <a:endCxn id="1170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3" name="Google Shape;1183;p32"/>
          <p:cNvCxnSpPr>
            <a:stCxn id="1169" idx="7"/>
            <a:endCxn id="1170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4" name="Google Shape;1184;p32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5" name="Google Shape;1185;p32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32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32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32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9" name="Google Shape;1189;p32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32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32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32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3" name="Google Shape;1193;p32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32"/>
          <p:cNvSpPr txBox="1"/>
          <p:nvPr/>
        </p:nvSpPr>
        <p:spPr>
          <a:xfrm>
            <a:off x="5959475" y="2346326"/>
            <a:ext cx="6413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32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96" name="Google Shape;1196;p32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3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1202" name="Google Shape;1202;p33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03" name="Google Shape;1203;p33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04" name="Google Shape;1204;p33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05" name="Google Shape;1205;p33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06" name="Google Shape;1206;p33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07" name="Google Shape;1207;p33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08" name="Google Shape;1208;p33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209" name="Google Shape;1209;p33"/>
          <p:cNvCxnSpPr>
            <a:stCxn id="1202" idx="6"/>
            <a:endCxn id="1203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0" name="Google Shape;1210;p33"/>
          <p:cNvCxnSpPr>
            <a:stCxn id="1203" idx="6"/>
            <a:endCxn id="1204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1" name="Google Shape;1211;p33"/>
          <p:cNvCxnSpPr>
            <a:stCxn id="1204" idx="3"/>
            <a:endCxn id="1207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2" name="Google Shape;1212;p33"/>
          <p:cNvCxnSpPr>
            <a:stCxn id="1207" idx="2"/>
            <a:endCxn id="1208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3" name="Google Shape;1213;p33"/>
          <p:cNvCxnSpPr>
            <a:stCxn id="1208" idx="0"/>
            <a:endCxn id="1202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4" name="Google Shape;1214;p33"/>
          <p:cNvCxnSpPr>
            <a:stCxn id="1202" idx="5"/>
            <a:endCxn id="1207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5" name="Google Shape;1215;p33"/>
          <p:cNvCxnSpPr>
            <a:stCxn id="1207" idx="0"/>
            <a:endCxn id="1203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6" name="Google Shape;1216;p33"/>
          <p:cNvCxnSpPr>
            <a:stCxn id="1207" idx="6"/>
            <a:endCxn id="1205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7" name="Google Shape;1217;p33"/>
          <p:cNvCxnSpPr>
            <a:stCxn id="1205" idx="0"/>
            <a:endCxn id="1204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8" name="Google Shape;1218;p33"/>
          <p:cNvCxnSpPr>
            <a:stCxn id="1204" idx="5"/>
            <a:endCxn id="1206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9" name="Google Shape;1219;p33"/>
          <p:cNvCxnSpPr>
            <a:stCxn id="1205" idx="7"/>
            <a:endCxn id="1206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0" name="Google Shape;1220;p33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33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33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33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33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5" name="Google Shape;1225;p33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6" name="Google Shape;1226;p33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7" name="Google Shape;1227;p33"/>
          <p:cNvSpPr txBox="1"/>
          <p:nvPr/>
        </p:nvSpPr>
        <p:spPr>
          <a:xfrm>
            <a:off x="7269163" y="1660526"/>
            <a:ext cx="6413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33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33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33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33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2" name="Google Shape;1232;p33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3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1238" name="Google Shape;1238;p34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39" name="Google Shape;1239;p34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0" name="Google Shape;1240;p34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1" name="Google Shape;1241;p34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2" name="Google Shape;1242;p34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3" name="Google Shape;1243;p34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4" name="Google Shape;1244;p34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245" name="Google Shape;1245;p34"/>
          <p:cNvCxnSpPr>
            <a:stCxn id="1238" idx="6"/>
            <a:endCxn id="1239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6" name="Google Shape;1246;p34"/>
          <p:cNvCxnSpPr>
            <a:stCxn id="1239" idx="6"/>
            <a:endCxn id="1240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7" name="Google Shape;1247;p34"/>
          <p:cNvCxnSpPr>
            <a:stCxn id="1240" idx="3"/>
            <a:endCxn id="1243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8" name="Google Shape;1248;p34"/>
          <p:cNvCxnSpPr>
            <a:stCxn id="1243" idx="2"/>
            <a:endCxn id="1244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9" name="Google Shape;1249;p34"/>
          <p:cNvCxnSpPr>
            <a:stCxn id="1244" idx="0"/>
            <a:endCxn id="1238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0" name="Google Shape;1250;p34"/>
          <p:cNvCxnSpPr>
            <a:stCxn id="1238" idx="5"/>
            <a:endCxn id="1243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1" name="Google Shape;1251;p34"/>
          <p:cNvCxnSpPr>
            <a:stCxn id="1243" idx="0"/>
            <a:endCxn id="1239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2" name="Google Shape;1252;p34"/>
          <p:cNvCxnSpPr>
            <a:stCxn id="1243" idx="6"/>
            <a:endCxn id="1241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3" name="Google Shape;1253;p34"/>
          <p:cNvCxnSpPr>
            <a:stCxn id="1241" idx="0"/>
            <a:endCxn id="1240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4" name="Google Shape;1254;p34"/>
          <p:cNvCxnSpPr>
            <a:stCxn id="1240" idx="5"/>
            <a:endCxn id="1242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5" name="Google Shape;1255;p34"/>
          <p:cNvCxnSpPr>
            <a:stCxn id="1241" idx="7"/>
            <a:endCxn id="1242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6" name="Google Shape;1256;p34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34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34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34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34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34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34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34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34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34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34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34"/>
          <p:cNvSpPr/>
          <p:nvPr/>
        </p:nvSpPr>
        <p:spPr>
          <a:xfrm>
            <a:off x="2073275" y="4456113"/>
            <a:ext cx="152400" cy="1676400"/>
          </a:xfrm>
          <a:prstGeom prst="leftBrace">
            <a:avLst>
              <a:gd fmla="val 91667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68" name="Google Shape;1268;p34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3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</a:t>
            </a:r>
            <a:endParaRPr/>
          </a:p>
        </p:txBody>
      </p:sp>
      <p:sp>
        <p:nvSpPr>
          <p:cNvPr id="1274" name="Google Shape;1274;p35"/>
          <p:cNvSpPr/>
          <p:nvPr/>
        </p:nvSpPr>
        <p:spPr>
          <a:xfrm>
            <a:off x="5410200" y="10064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5" name="Google Shape;1275;p35"/>
          <p:cNvSpPr/>
          <p:nvPr/>
        </p:nvSpPr>
        <p:spPr>
          <a:xfrm>
            <a:off x="7086600" y="10064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6" name="Google Shape;1276;p35"/>
          <p:cNvSpPr/>
          <p:nvPr/>
        </p:nvSpPr>
        <p:spPr>
          <a:xfrm>
            <a:off x="8763000" y="10064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7" name="Google Shape;1277;p35"/>
          <p:cNvSpPr/>
          <p:nvPr/>
        </p:nvSpPr>
        <p:spPr>
          <a:xfrm>
            <a:off x="8763000" y="24542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8" name="Google Shape;1278;p35"/>
          <p:cNvSpPr/>
          <p:nvPr/>
        </p:nvSpPr>
        <p:spPr>
          <a:xfrm>
            <a:off x="9753600" y="17684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79" name="Google Shape;1279;p35"/>
          <p:cNvSpPr/>
          <p:nvPr/>
        </p:nvSpPr>
        <p:spPr>
          <a:xfrm>
            <a:off x="7086600" y="24542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80" name="Google Shape;1280;p35"/>
          <p:cNvSpPr/>
          <p:nvPr/>
        </p:nvSpPr>
        <p:spPr>
          <a:xfrm>
            <a:off x="5410200" y="2454275"/>
            <a:ext cx="457200" cy="4572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1281" name="Google Shape;1281;p35"/>
          <p:cNvCxnSpPr>
            <a:stCxn id="1274" idx="6"/>
            <a:endCxn id="1275" idx="2"/>
          </p:cNvCxnSpPr>
          <p:nvPr/>
        </p:nvCxnSpPr>
        <p:spPr>
          <a:xfrm>
            <a:off x="5867400" y="12350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2" name="Google Shape;1282;p35"/>
          <p:cNvCxnSpPr>
            <a:stCxn id="1275" idx="6"/>
            <a:endCxn id="1276" idx="2"/>
          </p:cNvCxnSpPr>
          <p:nvPr/>
        </p:nvCxnSpPr>
        <p:spPr>
          <a:xfrm>
            <a:off x="7543800" y="1235075"/>
            <a:ext cx="1219200" cy="0"/>
          </a:xfrm>
          <a:prstGeom prst="straightConnector1">
            <a:avLst/>
          </a:prstGeom>
          <a:noFill/>
          <a:ln cap="flat" cmpd="sng" w="28575">
            <a:solidFill>
              <a:srgbClr val="DDEA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3" name="Google Shape;1283;p35"/>
          <p:cNvCxnSpPr>
            <a:stCxn id="1276" idx="3"/>
            <a:endCxn id="1279" idx="7"/>
          </p:cNvCxnSpPr>
          <p:nvPr/>
        </p:nvCxnSpPr>
        <p:spPr>
          <a:xfrm flipH="1">
            <a:off x="7476955" y="1396720"/>
            <a:ext cx="1353000" cy="1124400"/>
          </a:xfrm>
          <a:prstGeom prst="straightConnector1">
            <a:avLst/>
          </a:prstGeom>
          <a:noFill/>
          <a:ln cap="flat" cmpd="sng" w="28575">
            <a:solidFill>
              <a:srgbClr val="DDEA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4" name="Google Shape;1284;p35"/>
          <p:cNvCxnSpPr>
            <a:stCxn id="1279" idx="2"/>
            <a:endCxn id="1280" idx="6"/>
          </p:cNvCxnSpPr>
          <p:nvPr/>
        </p:nvCxnSpPr>
        <p:spPr>
          <a:xfrm rot="10800000">
            <a:off x="5867400" y="2682875"/>
            <a:ext cx="1219200" cy="0"/>
          </a:xfrm>
          <a:prstGeom prst="straightConnector1">
            <a:avLst/>
          </a:prstGeom>
          <a:noFill/>
          <a:ln cap="flat" cmpd="sng" w="28575">
            <a:solidFill>
              <a:srgbClr val="DDEA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5" name="Google Shape;1285;p35"/>
          <p:cNvCxnSpPr>
            <a:stCxn id="1280" idx="0"/>
            <a:endCxn id="1274" idx="4"/>
          </p:cNvCxnSpPr>
          <p:nvPr/>
        </p:nvCxnSpPr>
        <p:spPr>
          <a:xfrm rot="10800000">
            <a:off x="56388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6" name="Google Shape;1286;p35"/>
          <p:cNvCxnSpPr>
            <a:stCxn id="1274" idx="5"/>
            <a:endCxn id="1279" idx="1"/>
          </p:cNvCxnSpPr>
          <p:nvPr/>
        </p:nvCxnSpPr>
        <p:spPr>
          <a:xfrm>
            <a:off x="5800445" y="1396720"/>
            <a:ext cx="1353000" cy="1124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7" name="Google Shape;1287;p35"/>
          <p:cNvCxnSpPr>
            <a:stCxn id="1279" idx="0"/>
            <a:endCxn id="1275" idx="4"/>
          </p:cNvCxnSpPr>
          <p:nvPr/>
        </p:nvCxnSpPr>
        <p:spPr>
          <a:xfrm rot="10800000">
            <a:off x="7315200" y="1463675"/>
            <a:ext cx="0" cy="990600"/>
          </a:xfrm>
          <a:prstGeom prst="straightConnector1">
            <a:avLst/>
          </a:prstGeom>
          <a:noFill/>
          <a:ln cap="flat" cmpd="sng" w="28575">
            <a:solidFill>
              <a:srgbClr val="DDEA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35"/>
          <p:cNvCxnSpPr>
            <a:stCxn id="1279" idx="6"/>
            <a:endCxn id="1277" idx="2"/>
          </p:cNvCxnSpPr>
          <p:nvPr/>
        </p:nvCxnSpPr>
        <p:spPr>
          <a:xfrm>
            <a:off x="7543800" y="2682875"/>
            <a:ext cx="12192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9" name="Google Shape;1289;p35"/>
          <p:cNvCxnSpPr>
            <a:stCxn id="1277" idx="0"/>
            <a:endCxn id="1276" idx="4"/>
          </p:cNvCxnSpPr>
          <p:nvPr/>
        </p:nvCxnSpPr>
        <p:spPr>
          <a:xfrm rot="10800000">
            <a:off x="8991600" y="1463675"/>
            <a:ext cx="0" cy="9906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0" name="Google Shape;1290;p35"/>
          <p:cNvCxnSpPr>
            <a:stCxn id="1276" idx="5"/>
            <a:endCxn id="1278" idx="1"/>
          </p:cNvCxnSpPr>
          <p:nvPr/>
        </p:nvCxnSpPr>
        <p:spPr>
          <a:xfrm>
            <a:off x="9153245" y="1396720"/>
            <a:ext cx="667200" cy="438600"/>
          </a:xfrm>
          <a:prstGeom prst="straightConnector1">
            <a:avLst/>
          </a:prstGeom>
          <a:noFill/>
          <a:ln cap="flat" cmpd="sng" w="28575">
            <a:solidFill>
              <a:srgbClr val="DDEA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1" name="Google Shape;1291;p35"/>
          <p:cNvCxnSpPr>
            <a:stCxn id="1277" idx="7"/>
            <a:endCxn id="1278" idx="3"/>
          </p:cNvCxnSpPr>
          <p:nvPr/>
        </p:nvCxnSpPr>
        <p:spPr>
          <a:xfrm flipH="1" rot="10800000">
            <a:off x="9153245" y="2158830"/>
            <a:ext cx="667200" cy="3624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2" name="Google Shape;1292;p35"/>
          <p:cNvSpPr txBox="1"/>
          <p:nvPr/>
        </p:nvSpPr>
        <p:spPr>
          <a:xfrm>
            <a:off x="6262688" y="8890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35"/>
          <p:cNvSpPr txBox="1"/>
          <p:nvPr/>
        </p:nvSpPr>
        <p:spPr>
          <a:xfrm>
            <a:off x="7878763" y="898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35"/>
          <p:cNvSpPr txBox="1"/>
          <p:nvPr/>
        </p:nvSpPr>
        <p:spPr>
          <a:xfrm>
            <a:off x="9461500" y="1279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35"/>
          <p:cNvSpPr txBox="1"/>
          <p:nvPr/>
        </p:nvSpPr>
        <p:spPr>
          <a:xfrm>
            <a:off x="9463088" y="23463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6" name="Google Shape;1296;p35"/>
          <p:cNvSpPr txBox="1"/>
          <p:nvPr/>
        </p:nvSpPr>
        <p:spPr>
          <a:xfrm>
            <a:off x="8967788" y="1854201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7" name="Google Shape;1297;p35"/>
          <p:cNvSpPr txBox="1"/>
          <p:nvPr/>
        </p:nvSpPr>
        <p:spPr>
          <a:xfrm>
            <a:off x="80930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35"/>
          <p:cNvSpPr txBox="1"/>
          <p:nvPr/>
        </p:nvSpPr>
        <p:spPr>
          <a:xfrm>
            <a:off x="804545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35"/>
          <p:cNvSpPr txBox="1"/>
          <p:nvPr/>
        </p:nvSpPr>
        <p:spPr>
          <a:xfrm>
            <a:off x="7269163" y="16605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35"/>
          <p:cNvSpPr txBox="1"/>
          <p:nvPr/>
        </p:nvSpPr>
        <p:spPr>
          <a:xfrm>
            <a:off x="6096000" y="1447801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1" name="Google Shape;1301;p35"/>
          <p:cNvSpPr txBox="1"/>
          <p:nvPr/>
        </p:nvSpPr>
        <p:spPr>
          <a:xfrm>
            <a:off x="5270500" y="1660526"/>
            <a:ext cx="3365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35"/>
          <p:cNvSpPr txBox="1"/>
          <p:nvPr/>
        </p:nvSpPr>
        <p:spPr>
          <a:xfrm>
            <a:off x="6035675" y="2346326"/>
            <a:ext cx="4889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35"/>
          <p:cNvSpPr txBox="1"/>
          <p:nvPr/>
        </p:nvSpPr>
        <p:spPr>
          <a:xfrm>
            <a:off x="2225675" y="2284413"/>
            <a:ext cx="82296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Kruskal()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T = ∅;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v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∈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MakeSet(v);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sort E into nondecreasing order by weight 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for each (u,v) ∈ E (in sorted order)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if FindSet(u) ≠ FindSet(v)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T = T </a:t>
            </a:r>
            <a:r>
              <a:rPr b="1" i="0" lang="en-US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</a:t>
            </a: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{{u,v}};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Union(u,v);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8" name="Google Shape;1308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432" y="1617800"/>
            <a:ext cx="9861135" cy="4168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9" name="Google Shape;1309;p3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1310" name="Google Shape;1310;p3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11" name="Google Shape;1311;p3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2" name="Google Shape;1312;p3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Algorithm-Time Complexity</a:t>
            </a:r>
            <a:endParaRPr/>
          </a:p>
        </p:txBody>
      </p:sp>
      <p:sp>
        <p:nvSpPr>
          <p:cNvPr id="1313" name="Google Shape;1313;p36"/>
          <p:cNvSpPr txBox="1"/>
          <p:nvPr/>
        </p:nvSpPr>
        <p:spPr>
          <a:xfrm>
            <a:off x="2880360" y="2090240"/>
            <a:ext cx="8338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36"/>
          <p:cNvSpPr txBox="1"/>
          <p:nvPr/>
        </p:nvSpPr>
        <p:spPr>
          <a:xfrm>
            <a:off x="5262116" y="2501720"/>
            <a:ext cx="8627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O(V)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36"/>
          <p:cNvSpPr txBox="1"/>
          <p:nvPr/>
        </p:nvSpPr>
        <p:spPr>
          <a:xfrm>
            <a:off x="4399379" y="2905780"/>
            <a:ext cx="86273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36"/>
          <p:cNvSpPr txBox="1"/>
          <p:nvPr/>
        </p:nvSpPr>
        <p:spPr>
          <a:xfrm>
            <a:off x="5122373" y="2905780"/>
            <a:ext cx="32303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*Time for MakeSet()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7" name="Google Shape;1317;p36"/>
          <p:cNvSpPr txBox="1"/>
          <p:nvPr/>
        </p:nvSpPr>
        <p:spPr>
          <a:xfrm>
            <a:off x="9867496" y="3248205"/>
            <a:ext cx="14510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O(ElogE)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36"/>
          <p:cNvSpPr txBox="1"/>
          <p:nvPr/>
        </p:nvSpPr>
        <p:spPr>
          <a:xfrm>
            <a:off x="10903816" y="3702050"/>
            <a:ext cx="8258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O(E)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9" name="Google Shape;1319;p36"/>
          <p:cNvSpPr txBox="1"/>
          <p:nvPr/>
        </p:nvSpPr>
        <p:spPr>
          <a:xfrm>
            <a:off x="6865216" y="4058890"/>
            <a:ext cx="35302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O(E)*</a:t>
            </a:r>
            <a:r>
              <a:rPr b="1" i="0" lang="en-US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Time for Find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0" name="Google Shape;1320;p36"/>
          <p:cNvSpPr txBox="1"/>
          <p:nvPr/>
        </p:nvSpPr>
        <p:spPr>
          <a:xfrm>
            <a:off x="5459060" y="4495750"/>
            <a:ext cx="8258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</a:rPr>
              <a:t>O(E)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36"/>
          <p:cNvSpPr txBox="1"/>
          <p:nvPr/>
        </p:nvSpPr>
        <p:spPr>
          <a:xfrm>
            <a:off x="4830747" y="4879415"/>
            <a:ext cx="339964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O(E) * </a:t>
            </a:r>
            <a:r>
              <a:rPr b="1" i="0" lang="en-US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Time for Union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3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5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To summarize: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157283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Sort edges: O(E lg E) 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O(V) MakeSet()’s - </a:t>
            </a:r>
            <a:r>
              <a:rPr b="0" i="1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O(E) FindSet()’s - </a:t>
            </a:r>
            <a:r>
              <a:rPr b="0" i="1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α</a:t>
            </a:r>
            <a:r>
              <a:rPr b="0" i="0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)) – </a:t>
            </a:r>
            <a:r>
              <a:rPr b="0" i="1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α – </a:t>
            </a:r>
            <a:r>
              <a:rPr b="0" i="1" lang="en-US" sz="1900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Ackerman’s function – almost a constant value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650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O(V) Union()’s  - </a:t>
            </a:r>
            <a:r>
              <a:rPr b="0" i="1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0" i="0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α</a:t>
            </a:r>
            <a:r>
              <a:rPr b="0" i="0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)) </a:t>
            </a:r>
            <a:r>
              <a:rPr b="0" i="0" lang="en-US" sz="3200" u="none" cap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0" i="1" lang="en-US" sz="3200" u="none" cap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α – </a:t>
            </a:r>
            <a:r>
              <a:rPr b="0" i="1" lang="en-US" sz="1900" u="none" cap="none" strike="noStrike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Ackerman’s function – almost a constant value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SzPct val="750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Upshot: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It is dominated by the sorting as </a:t>
            </a:r>
            <a:r>
              <a:rPr b="0" i="1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α</a:t>
            </a:r>
            <a:r>
              <a:rPr b="0" i="0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0" i="1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b="0" i="0" lang="en-US">
                <a:solidFill>
                  <a:srgbClr val="0F0F0F"/>
                </a:solidFill>
                <a:latin typeface="Arial"/>
                <a:ea typeface="Arial"/>
                <a:cs typeface="Arial"/>
                <a:sym typeface="Arial"/>
              </a:rPr>
              <a:t>) almost stays a constant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SzPct val="65000"/>
              <a:buChar char="●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Thus overall time is O(E lg E) = O(E lg V), since |E| can be near to |V|</a:t>
            </a:r>
            <a:r>
              <a:rPr baseline="30000" lang="en-US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in a complete graph</a:t>
            </a:r>
            <a:r>
              <a:rPr baseline="30000" lang="en-US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92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327" name="Google Shape;1327;p3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1328" name="Google Shape;1328;p3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29" name="Google Shape;1329;p3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0" name="Google Shape;1330;p3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Kruskal’s Algorithm-Time Complexity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3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336" name="Google Shape;1336;p3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37" name="Google Shape;1337;p38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Wednesday, November 15, 2023</a:t>
            </a:r>
            <a:endParaRPr/>
          </a:p>
        </p:txBody>
      </p:sp>
      <p:sp>
        <p:nvSpPr>
          <p:cNvPr id="1338" name="Google Shape;1338;p38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39" name="Google Shape;1339;p38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