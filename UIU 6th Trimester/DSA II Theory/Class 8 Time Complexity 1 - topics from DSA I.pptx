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Tahom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+V/GCb52RkL9ww+UWGQPdC8rR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B93868-75F8-4124-A595-F7C35FBE2C55}">
  <a:tblStyle styleId="{F3B93868-75F8-4124-A595-F7C35FBE2C5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ahoma-bold.fntdata"/><Relationship Id="rId12" Type="http://schemas.openxmlformats.org/officeDocument/2006/relationships/slide" Target="slides/slide7.xml"/><Relationship Id="rId34" Type="http://schemas.openxmlformats.org/officeDocument/2006/relationships/font" Target="fonts/Tahom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3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3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3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3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3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3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3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3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3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3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34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3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3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3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8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More on Time Complexity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Determine the time complexity</a:t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Three Examples with Nested Loops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4</a:t>
            </a:r>
            <a:endParaRPr/>
          </a:p>
        </p:txBody>
      </p:sp>
      <p:sp>
        <p:nvSpPr>
          <p:cNvPr id="122" name="Google Shape;122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23" name="Google Shape;123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6409" y="2266472"/>
            <a:ext cx="5920099" cy="232505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7909089" y="2469823"/>
            <a:ext cx="18509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takes the values: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n, n-1, n-2, …, 0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7909089" y="3379270"/>
            <a:ext cx="236096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runs n+1 times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= 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5</a:t>
            </a:r>
            <a:endParaRPr/>
          </a:p>
        </p:txBody>
      </p:sp>
      <p:sp>
        <p:nvSpPr>
          <p:cNvPr id="134" name="Google Shape;134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35" name="Google Shape;135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508" y="2357984"/>
            <a:ext cx="6338920" cy="2142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8361576" y="2262433"/>
            <a:ext cx="18509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takes the values: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 3, 5, …, n+sth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8361576" y="3171880"/>
            <a:ext cx="387176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runs for half of the values from 1 to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= n/2 =O(n)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6</a:t>
            </a:r>
            <a:endParaRPr/>
          </a:p>
        </p:txBody>
      </p:sp>
      <p:sp>
        <p:nvSpPr>
          <p:cNvPr id="146" name="Google Shape;146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47" name="Google Shape;147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0171" y="2386247"/>
            <a:ext cx="6025920" cy="170606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8031638" y="2273970"/>
            <a:ext cx="189410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takes the values: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 21, 42, …, n+sth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8031638" y="3157868"/>
            <a:ext cx="420839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runs for 1/20 th of the values from 1 to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(which is 5 in this case)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= n/20 =O(n)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7</a:t>
            </a:r>
            <a:endParaRPr/>
          </a:p>
        </p:txBody>
      </p:sp>
      <p:sp>
        <p:nvSpPr>
          <p:cNvPr id="158" name="Google Shape;158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59" name="Google Shape;159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0" name="Google Shape;160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281237"/>
            <a:ext cx="7000842" cy="2770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7</a:t>
            </a:r>
            <a:endParaRPr/>
          </a:p>
        </p:txBody>
      </p:sp>
      <p:sp>
        <p:nvSpPr>
          <p:cNvPr id="168" name="Google Shape;168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69" name="Google Shape;169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70" name="Google Shape;170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281237"/>
            <a:ext cx="7000842" cy="27704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7"/>
          <p:cNvGraphicFramePr/>
          <p:nvPr/>
        </p:nvGraphicFramePr>
        <p:xfrm>
          <a:off x="7424514" y="1068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{F3B93868-75F8-4124-A595-F7C35FBE2C55}</a:tableStyleId>
              </a:tblPr>
              <a:tblGrid>
                <a:gridCol w="1447950"/>
                <a:gridCol w="1447950"/>
                <a:gridCol w="1447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stmt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1(X)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7085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2(X)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3(x)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0…</a:t>
                      </a:r>
                      <a:r>
                        <a:rPr lang="en-US" sz="1800"/>
                        <a:t>n(X)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7"/>
          <p:cNvSpPr/>
          <p:nvPr/>
        </p:nvSpPr>
        <p:spPr>
          <a:xfrm>
            <a:off x="7424513" y="1447330"/>
            <a:ext cx="4343813" cy="358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424513" y="1790256"/>
            <a:ext cx="4343813" cy="7549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424512" y="2545237"/>
            <a:ext cx="4343813" cy="11217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424511" y="3649541"/>
            <a:ext cx="4343813" cy="14786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424510" y="5128181"/>
            <a:ext cx="4343813" cy="3986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424605" y="5526808"/>
            <a:ext cx="4343700" cy="39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7</a:t>
            </a:r>
            <a:endParaRPr/>
          </a:p>
        </p:txBody>
      </p:sp>
      <p:sp>
        <p:nvSpPr>
          <p:cNvPr id="185" name="Google Shape;185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86" name="Google Shape;186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7" name="Google Shape;187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281237"/>
            <a:ext cx="7000842" cy="27704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8"/>
          <p:cNvGraphicFramePr/>
          <p:nvPr/>
        </p:nvGraphicFramePr>
        <p:xfrm>
          <a:off x="7424514" y="1068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{F3B93868-75F8-4124-A595-F7C35FBE2C55}</a:tableStyleId>
              </a:tblPr>
              <a:tblGrid>
                <a:gridCol w="1447950"/>
                <a:gridCol w="1447950"/>
                <a:gridCol w="1447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stmt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1(X)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7085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2(X)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3(x)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0…</a:t>
                      </a:r>
                      <a:r>
                        <a:rPr lang="en-US" sz="1800"/>
                        <a:t>n(x)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1" name="Google Shape;1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2534" y="5076777"/>
            <a:ext cx="1932132" cy="1032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8</a:t>
            </a:r>
            <a:endParaRPr/>
          </a:p>
        </p:txBody>
      </p:sp>
      <p:sp>
        <p:nvSpPr>
          <p:cNvPr id="197" name="Google Shape;197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198" name="Google Shape;198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99" name="Google Shape;199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456" y="1808944"/>
            <a:ext cx="5272484" cy="424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7749915" y="2293495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907280" y="2286000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0064644" y="2293496"/>
            <a:ext cx="1289155" cy="4047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n=100</a:t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7749915" y="3102964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8907279" y="3102965"/>
            <a:ext cx="1157365" cy="32603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0+1=1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7792621" y="3728751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8924259" y="3748827"/>
            <a:ext cx="1140385" cy="358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1+2=3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7792621" y="4354538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8889905" y="4348857"/>
            <a:ext cx="1174739" cy="35834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3+3=6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831111" y="4961639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8889904" y="4995279"/>
            <a:ext cx="1174739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6+4=10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7821352" y="5894618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8948615" y="5894618"/>
            <a:ext cx="2405184" cy="3651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1+2+3+…+k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8</a:t>
            </a:r>
            <a:endParaRPr/>
          </a:p>
        </p:txBody>
      </p:sp>
      <p:sp>
        <p:nvSpPr>
          <p:cNvPr id="220" name="Google Shape;220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221" name="Google Shape;221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22" name="Google Shape;222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456" y="1808944"/>
            <a:ext cx="5272484" cy="424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7665074" y="1025541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822439" y="1018046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9979803" y="1025542"/>
            <a:ext cx="1289155" cy="4047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n=100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7665074" y="1835010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8822438" y="1835011"/>
            <a:ext cx="1157365" cy="32603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0+1=1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7707780" y="2460797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8839418" y="2480873"/>
            <a:ext cx="1140385" cy="358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1+2=3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7707780" y="3086584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8805064" y="3080903"/>
            <a:ext cx="1174739" cy="35834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3+3=6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7746270" y="3693685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8805063" y="3727325"/>
            <a:ext cx="1174739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6+4=10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736511" y="4626664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8863774" y="4626664"/>
            <a:ext cx="2405184" cy="3651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1+2+3+…+k</a:t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8228278" y="5494828"/>
            <a:ext cx="130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K(k+1)/2 &gt;n</a:t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8228278" y="5830520"/>
            <a:ext cx="11580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O(root(n))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3910764" y="6170905"/>
            <a:ext cx="4242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k is the number of times the loop ran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8246068" y="5156671"/>
            <a:ext cx="5998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&gt;n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9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248" name="Google Shape;248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49" name="Google Shape;249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6837" y="2367747"/>
            <a:ext cx="53435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9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258" name="Google Shape;258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59" name="Google Shape;259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261" name="Google Shape;261;p12"/>
          <p:cNvSpPr txBox="1"/>
          <p:nvPr/>
        </p:nvSpPr>
        <p:spPr>
          <a:xfrm>
            <a:off x="7626285" y="1602557"/>
            <a:ext cx="39937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times will the statement run?</a:t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7887040" y="2333735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9623146" y="2302185"/>
            <a:ext cx="1368508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Printf()</a:t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7917291" y="3050584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9683648" y="3050584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7917291" y="3676168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9683648" y="3676168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7917291" y="4223799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9683648" y="4223799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917291" y="4771430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9683648" y="4771430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7938524" y="5245510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9704881" y="5245510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274" name="Google Shape;2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987" y="2618754"/>
            <a:ext cx="53435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9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281" name="Google Shape;281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2" name="Google Shape;282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284" name="Google Shape;284;p13"/>
          <p:cNvSpPr txBox="1"/>
          <p:nvPr/>
        </p:nvSpPr>
        <p:spPr>
          <a:xfrm>
            <a:off x="7626285" y="1602557"/>
            <a:ext cx="39937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times will the statement run?</a:t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7887040" y="2333735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9623146" y="2302185"/>
            <a:ext cx="1368508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Printf()</a:t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7917291" y="3050584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9683648" y="3050584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7917291" y="3676168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9683648" y="3676168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7917291" y="4223799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9683648" y="4223799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7917291" y="4771430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9683648" y="4771430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7938524" y="5245510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9704881" y="5245510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3276669" y="4960637"/>
            <a:ext cx="6094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&gt;n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3276669" y="5329969"/>
            <a:ext cx="8883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k&gt;log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3996943" y="6057960"/>
            <a:ext cx="4242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k is the number of times the loop ran</a:t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3276669" y="5672591"/>
            <a:ext cx="9621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368" y="2252124"/>
            <a:ext cx="53435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10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308" name="Google Shape;308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9" name="Google Shape;309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311" name="Google Shape;311;p14"/>
          <p:cNvSpPr txBox="1"/>
          <p:nvPr/>
        </p:nvSpPr>
        <p:spPr>
          <a:xfrm>
            <a:off x="7626285" y="1602557"/>
            <a:ext cx="39937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times will the statement run?</a:t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7887040" y="2333735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9623146" y="2302185"/>
            <a:ext cx="1368508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Printf()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7917291" y="3050584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9683648" y="3050584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7917291" y="3676168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n/2</a:t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9683648" y="3676168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7917291" y="4223799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n/2</a:t>
            </a:r>
            <a:r>
              <a:rPr b="0" baseline="3000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9683648" y="4223799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7917291" y="4771430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9683648" y="4771430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7938524" y="5245510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n/2</a:t>
            </a:r>
            <a:r>
              <a:rPr baseline="3000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baseline="3000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9704881" y="5245510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4" name="Google Shape;324;p14"/>
          <p:cNvSpPr txBox="1"/>
          <p:nvPr/>
        </p:nvSpPr>
        <p:spPr>
          <a:xfrm>
            <a:off x="3996943" y="6057960"/>
            <a:ext cx="4242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k is the number of times the loop ran</a:t>
            </a:r>
            <a:endParaRPr/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456" y="2498415"/>
            <a:ext cx="5467350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4"/>
          <p:cNvSpPr txBox="1"/>
          <p:nvPr/>
        </p:nvSpPr>
        <p:spPr>
          <a:xfrm>
            <a:off x="3291354" y="4938290"/>
            <a:ext cx="6094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&gt;n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3291354" y="5307622"/>
            <a:ext cx="8883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k&gt;log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3291354" y="5650244"/>
            <a:ext cx="9621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3291354" y="4604465"/>
            <a:ext cx="816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n/2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11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336" name="Google Shape;336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37" name="Google Shape;337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339" name="Google Shape;3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2319337"/>
            <a:ext cx="565785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11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346" name="Google Shape;346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47" name="Google Shape;347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349" name="Google Shape;3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2319337"/>
            <a:ext cx="565785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6"/>
          <p:cNvSpPr txBox="1"/>
          <p:nvPr/>
        </p:nvSpPr>
        <p:spPr>
          <a:xfrm>
            <a:off x="7629993" y="2653259"/>
            <a:ext cx="345601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times will the loop run?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i&lt;root(n)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O(root(n))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12</a:t>
            </a:r>
            <a:endParaRPr/>
          </a:p>
        </p:txBody>
      </p:sp>
      <p:sp>
        <p:nvSpPr>
          <p:cNvPr id="356" name="Google Shape;356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357" name="Google Shape;357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8" name="Google Shape;358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360" name="Google Shape;3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2134553"/>
            <a:ext cx="485775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12</a:t>
            </a:r>
            <a:endParaRPr/>
          </a:p>
        </p:txBody>
      </p:sp>
      <p:sp>
        <p:nvSpPr>
          <p:cNvPr id="366" name="Google Shape;366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367" name="Google Shape;367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68" name="Google Shape;368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" name="Google Shape;369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370" name="Google Shape;3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2134553"/>
            <a:ext cx="4857750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8"/>
          <p:cNvSpPr txBox="1"/>
          <p:nvPr/>
        </p:nvSpPr>
        <p:spPr>
          <a:xfrm>
            <a:off x="8435340" y="3429000"/>
            <a:ext cx="17347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O(2n) = O(n)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13 (determine the time complexity for the 2</a:t>
            </a:r>
            <a:r>
              <a:rPr baseline="30000" lang="en-US"/>
              <a:t>nd</a:t>
            </a:r>
            <a:r>
              <a:rPr lang="en-US"/>
              <a:t> loop only)</a:t>
            </a:r>
            <a:endParaRPr/>
          </a:p>
        </p:txBody>
      </p:sp>
      <p:sp>
        <p:nvSpPr>
          <p:cNvPr id="377" name="Google Shape;377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378" name="Google Shape;378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79" name="Google Shape;379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381" name="Google Shape;3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757506"/>
            <a:ext cx="50863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9"/>
          <p:cNvSpPr txBox="1"/>
          <p:nvPr/>
        </p:nvSpPr>
        <p:spPr>
          <a:xfrm>
            <a:off x="6267452" y="2272034"/>
            <a:ext cx="29578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loop will run log(n) times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2829379" y="2855739"/>
            <a:ext cx="3570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 the value of p will be log(n) </a:t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5620334" y="4018965"/>
            <a:ext cx="29578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loop will run log(p) times</a:t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7506124" y="5053840"/>
            <a:ext cx="152958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time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O(logp)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O(loglog(n))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O(loglogn)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14 (do it yourself)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1" name="Google Shape;391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392" name="Google Shape;392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93" name="Google Shape;393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395" name="Google Shape;3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2392748"/>
            <a:ext cx="651510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14 (do it yourself)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1" name="Google Shape;401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402" name="Google Shape;402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03" name="Google Shape;403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405" name="Google Shape;4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2392748"/>
            <a:ext cx="65151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1"/>
          <p:cNvSpPr txBox="1"/>
          <p:nvPr/>
        </p:nvSpPr>
        <p:spPr>
          <a:xfrm>
            <a:off x="9265920" y="3244334"/>
            <a:ext cx="1019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O(nlogn)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15</a:t>
            </a:r>
            <a:endParaRPr/>
          </a:p>
        </p:txBody>
      </p:sp>
      <p:sp>
        <p:nvSpPr>
          <p:cNvPr id="412" name="Google Shape;412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413" name="Google Shape;413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14" name="Google Shape;414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5" name="Google Shape;415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416" name="Google Shape;4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8265" y="2368936"/>
            <a:ext cx="49339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4617720" y="2499360"/>
            <a:ext cx="367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18" name="Google Shape;418;p22"/>
          <p:cNvCxnSpPr/>
          <p:nvPr/>
        </p:nvCxnSpPr>
        <p:spPr>
          <a:xfrm rot="10800000">
            <a:off x="3048000" y="2758440"/>
            <a:ext cx="153924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9" name="Google Shape;419;p22"/>
          <p:cNvSpPr txBox="1"/>
          <p:nvPr/>
        </p:nvSpPr>
        <p:spPr>
          <a:xfrm>
            <a:off x="5303520" y="3291840"/>
            <a:ext cx="7360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endParaRPr/>
          </a:p>
        </p:txBody>
      </p:sp>
      <p:cxnSp>
        <p:nvCxnSpPr>
          <p:cNvPr id="420" name="Google Shape;420;p22"/>
          <p:cNvCxnSpPr/>
          <p:nvPr/>
        </p:nvCxnSpPr>
        <p:spPr>
          <a:xfrm rot="10800000">
            <a:off x="3733800" y="3550920"/>
            <a:ext cx="153924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1" name="Google Shape;421;p22"/>
          <p:cNvSpPr txBox="1"/>
          <p:nvPr/>
        </p:nvSpPr>
        <p:spPr>
          <a:xfrm>
            <a:off x="7718859" y="3566160"/>
            <a:ext cx="3738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cxnSp>
        <p:nvCxnSpPr>
          <p:cNvPr id="422" name="Google Shape;422;p22"/>
          <p:cNvCxnSpPr/>
          <p:nvPr/>
        </p:nvCxnSpPr>
        <p:spPr>
          <a:xfrm rot="10800000">
            <a:off x="6149139" y="3825240"/>
            <a:ext cx="153924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3" name="Google Shape;423;p22"/>
          <p:cNvSpPr txBox="1"/>
          <p:nvPr/>
        </p:nvSpPr>
        <p:spPr>
          <a:xfrm>
            <a:off x="4798218" y="4079261"/>
            <a:ext cx="3738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cxnSp>
        <p:nvCxnSpPr>
          <p:cNvPr id="424" name="Google Shape;424;p22"/>
          <p:cNvCxnSpPr/>
          <p:nvPr/>
        </p:nvCxnSpPr>
        <p:spPr>
          <a:xfrm rot="10800000">
            <a:off x="3228498" y="4338341"/>
            <a:ext cx="153924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5" name="Google Shape;425;p22"/>
          <p:cNvSpPr txBox="1"/>
          <p:nvPr/>
        </p:nvSpPr>
        <p:spPr>
          <a:xfrm>
            <a:off x="7718859" y="5022464"/>
            <a:ext cx="8290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16</a:t>
            </a:r>
            <a:endParaRPr/>
          </a:p>
        </p:txBody>
      </p:sp>
      <p:sp>
        <p:nvSpPr>
          <p:cNvPr id="431" name="Google Shape;431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432" name="Google Shape;432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33" name="Google Shape;433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" name="Google Shape;434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435" name="Google Shape;435;p23"/>
          <p:cNvSpPr txBox="1"/>
          <p:nvPr/>
        </p:nvSpPr>
        <p:spPr>
          <a:xfrm>
            <a:off x="7626285" y="1602557"/>
            <a:ext cx="39937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times will the statement run?</a:t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7887040" y="2333735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9623146" y="2302185"/>
            <a:ext cx="1368508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Printf()</a:t>
            </a: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7917291" y="3050584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9683648" y="3050584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7917291" y="3676168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41" name="Google Shape;441;p23"/>
          <p:cNvSpPr/>
          <p:nvPr/>
        </p:nvSpPr>
        <p:spPr>
          <a:xfrm>
            <a:off x="9683648" y="3676168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2" name="Google Shape;442;p23"/>
          <p:cNvSpPr/>
          <p:nvPr/>
        </p:nvSpPr>
        <p:spPr>
          <a:xfrm>
            <a:off x="7917291" y="4223799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9683648" y="4223799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" name="Google Shape;444;p23"/>
          <p:cNvSpPr/>
          <p:nvPr/>
        </p:nvSpPr>
        <p:spPr>
          <a:xfrm>
            <a:off x="7917291" y="4771430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9683648" y="4771430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46" name="Google Shape;446;p23"/>
          <p:cNvSpPr/>
          <p:nvPr/>
        </p:nvSpPr>
        <p:spPr>
          <a:xfrm>
            <a:off x="7938524" y="5245510"/>
            <a:ext cx="644577" cy="3784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9704881" y="5245510"/>
            <a:ext cx="1157365" cy="404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448" name="Google Shape;4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1760" y="2536102"/>
            <a:ext cx="514350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17</a:t>
            </a:r>
            <a:endParaRPr/>
          </a:p>
        </p:txBody>
      </p:sp>
      <p:sp>
        <p:nvSpPr>
          <p:cNvPr id="454" name="Google Shape;454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455" name="Google Shape;455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56" name="Google Shape;456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458" name="Google Shape;4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91678"/>
            <a:ext cx="440055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17</a:t>
            </a:r>
            <a:endParaRPr/>
          </a:p>
        </p:txBody>
      </p:sp>
      <p:sp>
        <p:nvSpPr>
          <p:cNvPr id="464" name="Google Shape;464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465" name="Google Shape;465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6" name="Google Shape;466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468" name="Google Shape;4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91678"/>
            <a:ext cx="440055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5"/>
          <p:cNvSpPr txBox="1"/>
          <p:nvPr/>
        </p:nvSpPr>
        <p:spPr>
          <a:xfrm>
            <a:off x="6495858" y="1402080"/>
            <a:ext cx="33950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is increasing k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is used to terminate the loop</a:t>
            </a:r>
            <a:endParaRPr/>
          </a:p>
        </p:txBody>
      </p:sp>
      <p:sp>
        <p:nvSpPr>
          <p:cNvPr id="470" name="Google Shape;470;p25"/>
          <p:cNvSpPr/>
          <p:nvPr/>
        </p:nvSpPr>
        <p:spPr>
          <a:xfrm>
            <a:off x="6931648" y="2415166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8089013" y="2407671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472" name="Google Shape;472;p25"/>
          <p:cNvSpPr/>
          <p:nvPr/>
        </p:nvSpPr>
        <p:spPr>
          <a:xfrm>
            <a:off x="9246377" y="2415167"/>
            <a:ext cx="1289155" cy="4047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n=100</a:t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6931648" y="3224635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8089012" y="3224636"/>
            <a:ext cx="1157365" cy="32603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0+1=1</a:t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6974354" y="3850422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8105992" y="3870498"/>
            <a:ext cx="1140385" cy="358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1+2=3</a:t>
            </a: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6974354" y="4476209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8071638" y="4470528"/>
            <a:ext cx="1174739" cy="35834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3+3=6</a:t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7012844" y="5083310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8071637" y="5116950"/>
            <a:ext cx="1174739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6+4=10</a:t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7003085" y="6016289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8130348" y="6016289"/>
            <a:ext cx="2405184" cy="3651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1+2+3+…+m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17</a:t>
            </a:r>
            <a:endParaRPr/>
          </a:p>
        </p:txBody>
      </p:sp>
      <p:sp>
        <p:nvSpPr>
          <p:cNvPr id="488" name="Google Shape;488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489" name="Google Shape;489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90" name="Google Shape;490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1" name="Google Shape;491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492" name="Google Shape;4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91678"/>
            <a:ext cx="440055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6"/>
          <p:cNvSpPr txBox="1"/>
          <p:nvPr/>
        </p:nvSpPr>
        <p:spPr>
          <a:xfrm>
            <a:off x="6495858" y="1402080"/>
            <a:ext cx="33950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is increasing k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is used to terminate the loop</a:t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>
            <a:off x="6931648" y="2415166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8089013" y="2407671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496" name="Google Shape;496;p26"/>
          <p:cNvSpPr/>
          <p:nvPr/>
        </p:nvSpPr>
        <p:spPr>
          <a:xfrm>
            <a:off x="9246377" y="2415167"/>
            <a:ext cx="1289155" cy="4047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n=100</a:t>
            </a:r>
            <a:endParaRPr/>
          </a:p>
        </p:txBody>
      </p:sp>
      <p:sp>
        <p:nvSpPr>
          <p:cNvPr id="497" name="Google Shape;497;p26"/>
          <p:cNvSpPr/>
          <p:nvPr/>
        </p:nvSpPr>
        <p:spPr>
          <a:xfrm>
            <a:off x="6931648" y="3224635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8" name="Google Shape;498;p26"/>
          <p:cNvSpPr/>
          <p:nvPr/>
        </p:nvSpPr>
        <p:spPr>
          <a:xfrm>
            <a:off x="8089012" y="3224636"/>
            <a:ext cx="1157365" cy="32603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0+1=1</a:t>
            </a:r>
            <a:endParaRPr/>
          </a:p>
        </p:txBody>
      </p:sp>
      <p:sp>
        <p:nvSpPr>
          <p:cNvPr id="499" name="Google Shape;499;p26"/>
          <p:cNvSpPr/>
          <p:nvPr/>
        </p:nvSpPr>
        <p:spPr>
          <a:xfrm>
            <a:off x="6974354" y="3850422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00" name="Google Shape;500;p26"/>
          <p:cNvSpPr/>
          <p:nvPr/>
        </p:nvSpPr>
        <p:spPr>
          <a:xfrm>
            <a:off x="8105992" y="3870498"/>
            <a:ext cx="1140385" cy="358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1+2=3</a:t>
            </a:r>
            <a:endParaRPr/>
          </a:p>
        </p:txBody>
      </p:sp>
      <p:sp>
        <p:nvSpPr>
          <p:cNvPr id="501" name="Google Shape;501;p26"/>
          <p:cNvSpPr/>
          <p:nvPr/>
        </p:nvSpPr>
        <p:spPr>
          <a:xfrm>
            <a:off x="6974354" y="4476209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8071638" y="4470528"/>
            <a:ext cx="1174739" cy="35834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3+3=6</a:t>
            </a: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7012844" y="5083310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8071637" y="5116950"/>
            <a:ext cx="1174739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6+4=10</a:t>
            </a:r>
            <a:endParaRPr/>
          </a:p>
        </p:txBody>
      </p:sp>
      <p:sp>
        <p:nvSpPr>
          <p:cNvPr id="505" name="Google Shape;505;p26"/>
          <p:cNvSpPr/>
          <p:nvPr/>
        </p:nvSpPr>
        <p:spPr>
          <a:xfrm>
            <a:off x="7003085" y="6016289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506" name="Google Shape;506;p26"/>
          <p:cNvSpPr/>
          <p:nvPr/>
        </p:nvSpPr>
        <p:spPr>
          <a:xfrm>
            <a:off x="8130348" y="6016289"/>
            <a:ext cx="2405184" cy="3651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1+2+3+…+m</a:t>
            </a:r>
            <a:endParaRPr/>
          </a:p>
        </p:txBody>
      </p:sp>
      <p:sp>
        <p:nvSpPr>
          <p:cNvPr id="507" name="Google Shape;507;p26"/>
          <p:cNvSpPr txBox="1"/>
          <p:nvPr/>
        </p:nvSpPr>
        <p:spPr>
          <a:xfrm>
            <a:off x="10535532" y="3853434"/>
            <a:ext cx="6415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k&gt;=n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Example 17</a:t>
            </a:r>
            <a:endParaRPr/>
          </a:p>
        </p:txBody>
      </p:sp>
      <p:sp>
        <p:nvSpPr>
          <p:cNvPr id="513" name="Google Shape;513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514" name="Google Shape;514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More Examples</a:t>
            </a:r>
            <a:endParaRPr/>
          </a:p>
        </p:txBody>
      </p:sp>
      <p:pic>
        <p:nvPicPr>
          <p:cNvPr id="517" name="Google Shape;5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91678"/>
            <a:ext cx="440055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7"/>
          <p:cNvSpPr txBox="1"/>
          <p:nvPr/>
        </p:nvSpPr>
        <p:spPr>
          <a:xfrm>
            <a:off x="6495858" y="1402080"/>
            <a:ext cx="33950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is increasing k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is used to terminate the loop</a:t>
            </a: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6931648" y="2415166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8089013" y="2407671"/>
            <a:ext cx="644577" cy="404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9246377" y="2415167"/>
            <a:ext cx="1289155" cy="40473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n=100</a:t>
            </a: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6931648" y="3224635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8089012" y="3224636"/>
            <a:ext cx="1157365" cy="32603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0+1=1</a:t>
            </a: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6974354" y="3850422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8105992" y="3870498"/>
            <a:ext cx="1140385" cy="358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1+2=3</a:t>
            </a: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6974354" y="4476209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8071638" y="4470528"/>
            <a:ext cx="1174739" cy="35834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3+3=6</a:t>
            </a: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7012844" y="5083310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8071637" y="5116950"/>
            <a:ext cx="1174739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6+4=10</a:t>
            </a: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7003085" y="6016289"/>
            <a:ext cx="644577" cy="404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8130348" y="6016289"/>
            <a:ext cx="2405184" cy="3651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1+2+3+…+m</a:t>
            </a:r>
            <a:endParaRPr/>
          </a:p>
        </p:txBody>
      </p:sp>
      <p:sp>
        <p:nvSpPr>
          <p:cNvPr id="532" name="Google Shape;532;p27"/>
          <p:cNvSpPr txBox="1"/>
          <p:nvPr/>
        </p:nvSpPr>
        <p:spPr>
          <a:xfrm>
            <a:off x="10535532" y="3853434"/>
            <a:ext cx="6415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k&gt;=n</a:t>
            </a:r>
            <a:endParaRPr/>
          </a:p>
        </p:txBody>
      </p:sp>
      <p:sp>
        <p:nvSpPr>
          <p:cNvPr id="533" name="Google Shape;533;p27"/>
          <p:cNvSpPr txBox="1"/>
          <p:nvPr/>
        </p:nvSpPr>
        <p:spPr>
          <a:xfrm>
            <a:off x="10526426" y="4255157"/>
            <a:ext cx="1137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O(root(n))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39" name="Google Shape;539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0" name="Google Shape;540;p28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July 7, 2023</a:t>
            </a:r>
            <a:endParaRPr/>
          </a:p>
        </p:txBody>
      </p:sp>
      <p:sp>
        <p:nvSpPr>
          <p:cNvPr id="541" name="Google Shape;541;p28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42" name="Google Shape;542;p28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