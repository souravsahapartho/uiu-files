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6858000" cx="12192000"/>
  <p:notesSz cx="6858000" cy="9144000"/>
  <p:embeddedFontLst>
    <p:embeddedFont>
      <p:font typeface="Tahoma"/>
      <p:regular r:id="rId57"/>
      <p:bold r:id="rId58"/>
    </p:embeddedFont>
    <p:embeddedFont>
      <p:font typeface="Candara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jels4WPE6ZksU0MO8AJ1oadtOh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A6DA43-D3E8-454F-BD3C-A02ECF028E96}">
  <a:tblStyle styleId="{3CA6DA43-D3E8-454F-BD3C-A02ECF028E9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fill>
          <a:solidFill>
            <a:srgbClr val="E0E0E0"/>
          </a:solidFill>
        </a:fill>
      </a:tcStyle>
    </a:band1H>
    <a:band2H>
      <a:tcTxStyle/>
    </a:band2H>
    <a:band1V>
      <a:tcTxStyle/>
      <a:tcStyle>
        <a:fill>
          <a:solidFill>
            <a:srgbClr val="E0E0E0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3"/>
          </a:solidFill>
        </a:fill>
      </a:tcStyle>
    </a:firstRow>
    <a:neCell>
      <a:tcTxStyle/>
    </a:neCell>
    <a:nwCell>
      <a:tcTxStyle/>
    </a:nwCell>
  </a:tblStyle>
  <a:tblStyle styleId="{8DEE7AC1-399C-4376-8548-5C3429A4A10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868FC11F-FE77-4ACE-B6F6-A7261129B311}" styleName="Table_2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Candara-boldItalic.fntdata"/><Relationship Id="rId61" Type="http://schemas.openxmlformats.org/officeDocument/2006/relationships/font" Target="fonts/Candara-italic.fntdata"/><Relationship Id="rId20" Type="http://schemas.openxmlformats.org/officeDocument/2006/relationships/slide" Target="slides/slide15.xml"/><Relationship Id="rId63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Candara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Tahoma-regular.fntdata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Candara-regular.fntdata"/><Relationship Id="rId14" Type="http://schemas.openxmlformats.org/officeDocument/2006/relationships/slide" Target="slides/slide9.xml"/><Relationship Id="rId58" Type="http://schemas.openxmlformats.org/officeDocument/2006/relationships/font" Target="fonts/Tahoma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3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3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3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53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53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53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5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5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" name="Google Shape;30;p54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54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54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5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55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55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55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6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6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5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56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" name="Google Shape;49;p56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56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56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5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5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5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5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57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57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57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57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6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1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6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CSE 2215: Data Structure and Algorithms-I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lang="en-US"/>
              <a:t>Introduction, Divide and Conquer</a:t>
            </a:r>
            <a:endParaRPr/>
          </a:p>
        </p:txBody>
      </p:sp>
      <p:sp>
        <p:nvSpPr>
          <p:cNvPr id="105" name="Google Shape;105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106" name="Google Shape;106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07" name="Google Shape;107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Text Books</a:t>
            </a:r>
            <a:endParaRPr/>
          </a:p>
          <a:p>
            <a:pPr indent="-15240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Introduction to Algorithms (Third edition)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Cormen, Leiserson, Rivest, and Stein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 excellent reference </a:t>
            </a: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you should own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240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 Structures and Algorithms in C++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Font typeface="Noto Sans Symbols"/>
              <a:buChar char="▪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Goodrich, Tamassia, and Mount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13" name="Google Shape;113;p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114" name="Google Shape;114;p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5" name="Google Shape;115;p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Course</a:t>
            </a:r>
            <a:endParaRPr/>
          </a:p>
        </p:txBody>
      </p:sp>
      <p:pic>
        <p:nvPicPr>
          <p:cNvPr id="117" name="Google Shape;1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1136" y="1463590"/>
            <a:ext cx="1762125" cy="2079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ata Structures and Algorithms in C++, 2nd Edition | Wiley" id="118" name="Google Shape;11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01136" y="4018348"/>
            <a:ext cx="1762125" cy="207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Char char="•"/>
            </a:pPr>
            <a:r>
              <a:rPr lang="en-US" sz="2200">
                <a:solidFill>
                  <a:schemeClr val="dk2"/>
                </a:solidFill>
              </a:rPr>
              <a:t>Divide-and-Conquer</a:t>
            </a:r>
            <a:r>
              <a:rPr lang="en-US" sz="2200"/>
              <a:t> is a general algorithm design paradigm: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 sz="2200">
                <a:solidFill>
                  <a:schemeClr val="dk2"/>
                </a:solidFill>
              </a:rPr>
              <a:t>Divide</a:t>
            </a:r>
            <a:r>
              <a:rPr lang="en-US" sz="2200"/>
              <a:t> the problem into a number of subproblems that are smaller instances of the same problem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 sz="2200">
                <a:solidFill>
                  <a:schemeClr val="dk2"/>
                </a:solidFill>
              </a:rPr>
              <a:t>Conquer</a:t>
            </a:r>
            <a:r>
              <a:rPr lang="en-US" sz="2200"/>
              <a:t> the subproblems by solving them recursively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 sz="2200">
                <a:solidFill>
                  <a:schemeClr val="dk2"/>
                </a:solidFill>
              </a:rPr>
              <a:t>Combine</a:t>
            </a:r>
            <a:r>
              <a:rPr lang="en-US" sz="2200"/>
              <a:t> the solutions to the subproblems into the solution for the original problem</a:t>
            </a:r>
            <a:endParaRPr b="1" i="1" sz="2200"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650"/>
              <a:buFont typeface="Arial"/>
              <a:buChar char="•"/>
            </a:pPr>
            <a:r>
              <a:rPr lang="en-US" sz="2200"/>
              <a:t>The base case for the recursion are subproblems of constant size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650"/>
              <a:buFont typeface="Arial"/>
              <a:buChar char="•"/>
            </a:pPr>
            <a:r>
              <a:rPr lang="en-US" sz="2200"/>
              <a:t>Analysis can be done using </a:t>
            </a:r>
            <a:r>
              <a:rPr b="1" lang="en-US" sz="2200">
                <a:solidFill>
                  <a:schemeClr val="dk2"/>
                </a:solidFill>
              </a:rPr>
              <a:t>recurrence equations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125" name="Google Shape;125;p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26" name="Google Shape;126;p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Divide and Conquer</a:t>
            </a:r>
            <a:endParaRPr/>
          </a:p>
        </p:txBody>
      </p:sp>
      <p:grpSp>
        <p:nvGrpSpPr>
          <p:cNvPr id="128" name="Google Shape;128;p3"/>
          <p:cNvGrpSpPr/>
          <p:nvPr/>
        </p:nvGrpSpPr>
        <p:grpSpPr>
          <a:xfrm>
            <a:off x="4501292" y="4099810"/>
            <a:ext cx="3429000" cy="1676400"/>
            <a:chOff x="3342" y="1584"/>
            <a:chExt cx="1698" cy="816"/>
          </a:xfrm>
        </p:grpSpPr>
        <p:sp>
          <p:nvSpPr>
            <p:cNvPr id="129" name="Google Shape;129;p3"/>
            <p:cNvSpPr/>
            <p:nvPr/>
          </p:nvSpPr>
          <p:spPr>
            <a:xfrm>
              <a:off x="4098" y="1584"/>
              <a:ext cx="213" cy="213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0" name="Google Shape;130;p3"/>
            <p:cNvCxnSpPr>
              <a:stCxn id="131" idx="7"/>
              <a:endCxn id="129" idx="3"/>
            </p:cNvCxnSpPr>
            <p:nvPr/>
          </p:nvCxnSpPr>
          <p:spPr>
            <a:xfrm flipH="1" rot="10800000">
              <a:off x="3688" y="166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3"/>
            <p:cNvCxnSpPr>
              <a:stCxn id="133" idx="0"/>
              <a:endCxn id="129" idx="4"/>
            </p:cNvCxnSpPr>
            <p:nvPr/>
          </p:nvCxnSpPr>
          <p:spPr>
            <a:xfrm>
              <a:off x="4198" y="1931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3"/>
            <p:cNvCxnSpPr>
              <a:stCxn id="135" idx="0"/>
              <a:endCxn id="131" idx="4"/>
            </p:cNvCxnSpPr>
            <p:nvPr/>
          </p:nvCxnSpPr>
          <p:spPr>
            <a:xfrm>
              <a:off x="3610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" name="Google Shape;136;p3"/>
            <p:cNvCxnSpPr>
              <a:stCxn id="137" idx="0"/>
              <a:endCxn id="131" idx="3"/>
            </p:cNvCxnSpPr>
            <p:nvPr/>
          </p:nvCxnSpPr>
          <p:spPr>
            <a:xfrm>
              <a:off x="3419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" name="Google Shape;131;p3"/>
            <p:cNvSpPr/>
            <p:nvPr/>
          </p:nvSpPr>
          <p:spPr>
            <a:xfrm>
              <a:off x="3506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3534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3342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3726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9" name="Google Shape;139;p3"/>
            <p:cNvCxnSpPr>
              <a:stCxn id="138" idx="0"/>
              <a:endCxn id="131" idx="5"/>
            </p:cNvCxnSpPr>
            <p:nvPr/>
          </p:nvCxnSpPr>
          <p:spPr>
            <a:xfrm>
              <a:off x="3803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3"/>
            <p:cNvCxnSpPr>
              <a:stCxn id="141" idx="0"/>
              <a:endCxn id="133" idx="4"/>
            </p:cNvCxnSpPr>
            <p:nvPr/>
          </p:nvCxnSpPr>
          <p:spPr>
            <a:xfrm>
              <a:off x="4196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3"/>
            <p:cNvCxnSpPr>
              <a:stCxn id="143" idx="0"/>
              <a:endCxn id="133" idx="3"/>
            </p:cNvCxnSpPr>
            <p:nvPr/>
          </p:nvCxnSpPr>
          <p:spPr>
            <a:xfrm>
              <a:off x="4004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3" name="Google Shape;133;p3"/>
            <p:cNvSpPr/>
            <p:nvPr/>
          </p:nvSpPr>
          <p:spPr>
            <a:xfrm>
              <a:off x="4091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4119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3927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4311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5" name="Google Shape;145;p3"/>
            <p:cNvCxnSpPr>
              <a:stCxn id="144" idx="0"/>
              <a:endCxn id="133" idx="5"/>
            </p:cNvCxnSpPr>
            <p:nvPr/>
          </p:nvCxnSpPr>
          <p:spPr>
            <a:xfrm>
              <a:off x="4388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3"/>
            <p:cNvCxnSpPr>
              <a:stCxn id="147" idx="0"/>
              <a:endCxn id="148" idx="4"/>
            </p:cNvCxnSpPr>
            <p:nvPr/>
          </p:nvCxnSpPr>
          <p:spPr>
            <a:xfrm>
              <a:off x="4772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3"/>
            <p:cNvCxnSpPr>
              <a:stCxn id="150" idx="0"/>
              <a:endCxn id="148" idx="3"/>
            </p:cNvCxnSpPr>
            <p:nvPr/>
          </p:nvCxnSpPr>
          <p:spPr>
            <a:xfrm>
              <a:off x="4580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8" name="Google Shape;148;p3"/>
            <p:cNvSpPr/>
            <p:nvPr/>
          </p:nvSpPr>
          <p:spPr>
            <a:xfrm>
              <a:off x="4667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1" anchor="ctr" bIns="4570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4695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4503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4887" y="2247"/>
              <a:ext cx="153" cy="153"/>
            </a:xfrm>
            <a:prstGeom prst="rect">
              <a:avLst/>
            </a:prstGeom>
            <a:solidFill>
              <a:schemeClr val="folHlink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2" name="Google Shape;152;p3"/>
            <p:cNvCxnSpPr>
              <a:stCxn id="151" idx="0"/>
              <a:endCxn id="148" idx="5"/>
            </p:cNvCxnSpPr>
            <p:nvPr/>
          </p:nvCxnSpPr>
          <p:spPr>
            <a:xfrm>
              <a:off x="4964" y="224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3"/>
            <p:cNvCxnSpPr>
              <a:stCxn id="129" idx="5"/>
              <a:endCxn id="148" idx="1"/>
            </p:cNvCxnSpPr>
            <p:nvPr/>
          </p:nvCxnSpPr>
          <p:spPr>
            <a:xfrm>
              <a:off x="4280" y="176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159" name="Google Shape;159;p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60" name="Google Shape;160;p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Divide-and-Conquer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7241498" y="2182318"/>
            <a:ext cx="2286000" cy="838200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subproblem 2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of size </a:t>
            </a:r>
            <a:r>
              <a:rPr b="1" i="1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0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/2</a:t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2898098" y="2182318"/>
            <a:ext cx="2286000" cy="838200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subproblem 1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of size </a:t>
            </a:r>
            <a:r>
              <a:rPr b="1" i="1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0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/2</a:t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2898098" y="3477718"/>
            <a:ext cx="2286000" cy="685800"/>
          </a:xfrm>
          <a:prstGeom prst="rect">
            <a:avLst/>
          </a:prstGeom>
          <a:solidFill>
            <a:srgbClr val="4F81BD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a solution to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subproblem 1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5107898" y="5230318"/>
            <a:ext cx="2514600" cy="685800"/>
          </a:xfrm>
          <a:prstGeom prst="rect">
            <a:avLst/>
          </a:prstGeom>
          <a:solidFill>
            <a:srgbClr val="4F81BD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a solution to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the original problem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7241498" y="3477718"/>
            <a:ext cx="2286000" cy="685800"/>
          </a:xfrm>
          <a:prstGeom prst="rect">
            <a:avLst/>
          </a:prstGeom>
          <a:solidFill>
            <a:srgbClr val="4F81BD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a solution to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subproblem 2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4"/>
          <p:cNvCxnSpPr/>
          <p:nvPr/>
        </p:nvCxnSpPr>
        <p:spPr>
          <a:xfrm flipH="1">
            <a:off x="4345898" y="1877518"/>
            <a:ext cx="1447800" cy="3048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lg" w="lg" type="stealth"/>
          </a:ln>
        </p:spPr>
      </p:cxnSp>
      <p:cxnSp>
        <p:nvCxnSpPr>
          <p:cNvPr id="168" name="Google Shape;168;p4"/>
          <p:cNvCxnSpPr/>
          <p:nvPr/>
        </p:nvCxnSpPr>
        <p:spPr>
          <a:xfrm>
            <a:off x="6631898" y="1877518"/>
            <a:ext cx="1524000" cy="3048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lg" w="lg" type="stealth"/>
          </a:ln>
        </p:spPr>
      </p:cxnSp>
      <p:sp>
        <p:nvSpPr>
          <p:cNvPr id="169" name="Google Shape;169;p4"/>
          <p:cNvSpPr/>
          <p:nvPr/>
        </p:nvSpPr>
        <p:spPr>
          <a:xfrm>
            <a:off x="5107898" y="1115518"/>
            <a:ext cx="2286000" cy="838200"/>
          </a:xfrm>
          <a:prstGeom prst="ellipse">
            <a:avLst/>
          </a:prstGeom>
          <a:solidFill>
            <a:srgbClr val="4F81BD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ECE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a problem of size </a:t>
            </a:r>
            <a:r>
              <a:rPr b="1" i="1" lang="en-US" sz="1800" u="none" cap="none" strike="noStrike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1" i="0" sz="1800" u="none" cap="none" strike="noStrike">
              <a:solidFill>
                <a:srgbClr val="EEECE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4"/>
          <p:cNvCxnSpPr/>
          <p:nvPr/>
        </p:nvCxnSpPr>
        <p:spPr>
          <a:xfrm>
            <a:off x="3964898" y="3020518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lg" w="lg" type="stealth"/>
          </a:ln>
        </p:spPr>
      </p:cxnSp>
      <p:cxnSp>
        <p:nvCxnSpPr>
          <p:cNvPr id="171" name="Google Shape;171;p4"/>
          <p:cNvCxnSpPr/>
          <p:nvPr/>
        </p:nvCxnSpPr>
        <p:spPr>
          <a:xfrm>
            <a:off x="8384498" y="3020518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lg" w="lg" type="stealth"/>
          </a:ln>
        </p:spPr>
      </p:cxnSp>
      <p:cxnSp>
        <p:nvCxnSpPr>
          <p:cNvPr id="172" name="Google Shape;172;p4"/>
          <p:cNvCxnSpPr/>
          <p:nvPr/>
        </p:nvCxnSpPr>
        <p:spPr>
          <a:xfrm>
            <a:off x="3964898" y="4163518"/>
            <a:ext cx="0" cy="5334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lg" w="lg" type="stealth"/>
          </a:ln>
        </p:spPr>
      </p:cxnSp>
      <p:cxnSp>
        <p:nvCxnSpPr>
          <p:cNvPr id="173" name="Google Shape;173;p4"/>
          <p:cNvCxnSpPr/>
          <p:nvPr/>
        </p:nvCxnSpPr>
        <p:spPr>
          <a:xfrm>
            <a:off x="8384498" y="4163518"/>
            <a:ext cx="0" cy="5334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lg" w="lg" type="stealth"/>
          </a:ln>
        </p:spPr>
      </p:cxnSp>
      <p:cxnSp>
        <p:nvCxnSpPr>
          <p:cNvPr id="174" name="Google Shape;174;p4"/>
          <p:cNvCxnSpPr/>
          <p:nvPr/>
        </p:nvCxnSpPr>
        <p:spPr>
          <a:xfrm>
            <a:off x="3964898" y="4696918"/>
            <a:ext cx="4419600" cy="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4"/>
          <p:cNvCxnSpPr/>
          <p:nvPr/>
        </p:nvCxnSpPr>
        <p:spPr>
          <a:xfrm>
            <a:off x="6250898" y="4696918"/>
            <a:ext cx="0" cy="5334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lg" w="lg" type="stealth"/>
          </a:ln>
        </p:spPr>
      </p:cxnSp>
      <p:grpSp>
        <p:nvGrpSpPr>
          <p:cNvPr id="176" name="Google Shape;176;p4"/>
          <p:cNvGrpSpPr/>
          <p:nvPr/>
        </p:nvGrpSpPr>
        <p:grpSpPr>
          <a:xfrm>
            <a:off x="5260298" y="2029918"/>
            <a:ext cx="1905000" cy="990600"/>
            <a:chOff x="3581401" y="2209800"/>
            <a:chExt cx="1904999" cy="990600"/>
          </a:xfrm>
        </p:grpSpPr>
        <p:sp>
          <p:nvSpPr>
            <p:cNvPr id="177" name="Google Shape;177;p4"/>
            <p:cNvSpPr/>
            <p:nvPr/>
          </p:nvSpPr>
          <p:spPr>
            <a:xfrm>
              <a:off x="3962401" y="2667000"/>
              <a:ext cx="1219199" cy="533400"/>
            </a:xfrm>
            <a:prstGeom prst="roundRect">
              <a:avLst>
                <a:gd fmla="val 16667" name="adj"/>
              </a:avLst>
            </a:prstGeom>
            <a:solidFill>
              <a:srgbClr val="4F81BD"/>
            </a:solidFill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Divide</a:t>
              </a:r>
              <a:endParaRPr/>
            </a:p>
          </p:txBody>
        </p:sp>
        <p:cxnSp>
          <p:nvCxnSpPr>
            <p:cNvPr id="178" name="Google Shape;178;p4"/>
            <p:cNvCxnSpPr/>
            <p:nvPr/>
          </p:nvCxnSpPr>
          <p:spPr>
            <a:xfrm rot="10800000">
              <a:off x="3581401" y="2209800"/>
              <a:ext cx="533400" cy="457200"/>
            </a:xfrm>
            <a:prstGeom prst="straightConnector1">
              <a:avLst/>
            </a:prstGeom>
            <a:noFill/>
            <a:ln cap="flat" cmpd="sng" w="25400">
              <a:solidFill>
                <a:srgbClr val="4A7DBA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79" name="Google Shape;179;p4"/>
            <p:cNvCxnSpPr/>
            <p:nvPr/>
          </p:nvCxnSpPr>
          <p:spPr>
            <a:xfrm flipH="1" rot="10800000">
              <a:off x="4724400" y="2209800"/>
              <a:ext cx="762000" cy="457200"/>
            </a:xfrm>
            <a:prstGeom prst="straightConnector1">
              <a:avLst/>
            </a:prstGeom>
            <a:noFill/>
            <a:ln cap="flat" cmpd="sng" w="25400">
              <a:solidFill>
                <a:srgbClr val="4A7DBA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Note that the divide and conquer problems you will be solving are mostly </a:t>
            </a:r>
            <a:r>
              <a:rPr b="1" lang="en-US"/>
              <a:t>based on arrays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However, </a:t>
            </a:r>
            <a:r>
              <a:rPr b="1" lang="en-US"/>
              <a:t>not all divide and conquer </a:t>
            </a:r>
            <a:r>
              <a:rPr lang="en-US"/>
              <a:t>problems are based on arrays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Example : </a:t>
            </a:r>
            <a:r>
              <a:rPr b="1" lang="en-US"/>
              <a:t>Strassen’s algorithm for matrix multiplication (Not in syllabus)</a:t>
            </a:r>
            <a:endParaRPr b="1"/>
          </a:p>
        </p:txBody>
      </p:sp>
      <p:sp>
        <p:nvSpPr>
          <p:cNvPr id="185" name="Google Shape;185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186" name="Google Shape;186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87" name="Google Shape;187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Divide and Conquer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" name="Google Shape;193;p6"/>
          <p:cNvGraphicFramePr/>
          <p:nvPr/>
        </p:nvGraphicFramePr>
        <p:xfrm>
          <a:off x="1908534" y="18797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{3CA6DA43-D3E8-454F-BD3C-A02ECF028E96}</a:tableStyleId>
              </a:tblPr>
              <a:tblGrid>
                <a:gridCol w="622550"/>
                <a:gridCol w="622550"/>
                <a:gridCol w="622550"/>
                <a:gridCol w="622550"/>
                <a:gridCol w="622550"/>
                <a:gridCol w="622550"/>
                <a:gridCol w="622550"/>
                <a:gridCol w="622550"/>
                <a:gridCol w="622550"/>
                <a:gridCol w="622550"/>
              </a:tblGrid>
              <a:tr h="25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94" name="Google Shape;194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195" name="Google Shape;195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96" name="Google Shape;196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None/>
            </a:pPr>
            <a:r>
              <a:rPr lang="en-US" sz="3200"/>
              <a:t>Divide and Conquer </a:t>
            </a:r>
            <a:br>
              <a:rPr lang="en-US" sz="3200"/>
            </a:br>
            <a:r>
              <a:rPr lang="en-US" sz="3200"/>
              <a:t>(Basic structure For array based problems)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3946688" y="1244270"/>
            <a:ext cx="2149312" cy="53732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Solve (A,start,end)</a:t>
            </a:r>
            <a:endParaRPr/>
          </a:p>
        </p:txBody>
      </p:sp>
      <p:cxnSp>
        <p:nvCxnSpPr>
          <p:cNvPr id="199" name="Google Shape;199;p6"/>
          <p:cNvCxnSpPr>
            <a:endCxn id="200" idx="0"/>
          </p:cNvCxnSpPr>
          <p:nvPr/>
        </p:nvCxnSpPr>
        <p:spPr>
          <a:xfrm flipH="1">
            <a:off x="2628594" y="2245554"/>
            <a:ext cx="2392800" cy="781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1" name="Google Shape;201;p6"/>
          <p:cNvCxnSpPr>
            <a:endCxn id="202" idx="0"/>
          </p:cNvCxnSpPr>
          <p:nvPr/>
        </p:nvCxnSpPr>
        <p:spPr>
          <a:xfrm>
            <a:off x="5021265" y="2245499"/>
            <a:ext cx="559800" cy="764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aphicFrame>
        <p:nvGraphicFramePr>
          <p:cNvPr id="203" name="Google Shape;203;p6"/>
          <p:cNvGraphicFramePr/>
          <p:nvPr/>
        </p:nvGraphicFramePr>
        <p:xfrm>
          <a:off x="1553938" y="37081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22550"/>
                <a:gridCol w="622550"/>
                <a:gridCol w="622550"/>
              </a:tblGrid>
              <a:tr h="254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00" name="Google Shape;200;p6"/>
          <p:cNvSpPr/>
          <p:nvPr/>
        </p:nvSpPr>
        <p:spPr>
          <a:xfrm>
            <a:off x="1553938" y="3027054"/>
            <a:ext cx="2149312" cy="53732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Solve (A,start,i)</a:t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4506409" y="3009899"/>
            <a:ext cx="2149312" cy="53732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Solve (A,i+1,end)</a:t>
            </a:r>
            <a:endParaRPr/>
          </a:p>
        </p:txBody>
      </p:sp>
      <p:graphicFrame>
        <p:nvGraphicFramePr>
          <p:cNvPr id="204" name="Google Shape;204;p6"/>
          <p:cNvGraphicFramePr/>
          <p:nvPr/>
        </p:nvGraphicFramePr>
        <p:xfrm>
          <a:off x="4209924" y="36917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22550"/>
                <a:gridCol w="622550"/>
                <a:gridCol w="622550"/>
                <a:gridCol w="622550"/>
                <a:gridCol w="622550"/>
                <a:gridCol w="622550"/>
                <a:gridCol w="622550"/>
              </a:tblGrid>
              <a:tr h="3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05" name="Google Shape;205;p6"/>
          <p:cNvCxnSpPr>
            <a:endCxn id="206" idx="0"/>
          </p:cNvCxnSpPr>
          <p:nvPr/>
        </p:nvCxnSpPr>
        <p:spPr>
          <a:xfrm>
            <a:off x="5021457" y="2245473"/>
            <a:ext cx="5337000" cy="678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6" name="Google Shape;206;p6"/>
          <p:cNvSpPr/>
          <p:nvPr/>
        </p:nvSpPr>
        <p:spPr>
          <a:xfrm>
            <a:off x="8811989" y="2924373"/>
            <a:ext cx="3092936" cy="53732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 Function (A,start,end)</a:t>
            </a:r>
            <a:endParaRPr/>
          </a:p>
        </p:txBody>
      </p:sp>
      <p:cxnSp>
        <p:nvCxnSpPr>
          <p:cNvPr id="207" name="Google Shape;207;p6"/>
          <p:cNvCxnSpPr>
            <a:endCxn id="208" idx="0"/>
          </p:cNvCxnSpPr>
          <p:nvPr/>
        </p:nvCxnSpPr>
        <p:spPr>
          <a:xfrm flipH="1">
            <a:off x="3431753" y="4069881"/>
            <a:ext cx="2957100" cy="965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9" name="Google Shape;209;p6"/>
          <p:cNvCxnSpPr>
            <a:endCxn id="210" idx="0"/>
          </p:cNvCxnSpPr>
          <p:nvPr/>
        </p:nvCxnSpPr>
        <p:spPr>
          <a:xfrm flipH="1">
            <a:off x="6096000" y="4069953"/>
            <a:ext cx="292800" cy="90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1" name="Google Shape;211;p6"/>
          <p:cNvCxnSpPr/>
          <p:nvPr/>
        </p:nvCxnSpPr>
        <p:spPr>
          <a:xfrm>
            <a:off x="6388891" y="4069853"/>
            <a:ext cx="4249200" cy="81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8" name="Google Shape;208;p6"/>
          <p:cNvSpPr/>
          <p:nvPr/>
        </p:nvSpPr>
        <p:spPr>
          <a:xfrm>
            <a:off x="2357097" y="5034981"/>
            <a:ext cx="2149312" cy="53732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Solve (A,start,i)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5021344" y="4974753"/>
            <a:ext cx="2149312" cy="53732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Solve (A,i+1,end)</a:t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8274967" y="5032726"/>
            <a:ext cx="3092936" cy="53732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Other Function (A,start,end)</a:t>
            </a:r>
            <a:endParaRPr/>
          </a:p>
        </p:txBody>
      </p:sp>
      <p:graphicFrame>
        <p:nvGraphicFramePr>
          <p:cNvPr id="213" name="Google Shape;213;p6"/>
          <p:cNvGraphicFramePr/>
          <p:nvPr/>
        </p:nvGraphicFramePr>
        <p:xfrm>
          <a:off x="1045149" y="57139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22550"/>
                <a:gridCol w="622550"/>
                <a:gridCol w="622550"/>
                <a:gridCol w="622550"/>
                <a:gridCol w="622550"/>
              </a:tblGrid>
              <a:tr h="25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14" name="Google Shape;214;p6"/>
          <p:cNvGraphicFramePr/>
          <p:nvPr/>
        </p:nvGraphicFramePr>
        <p:xfrm>
          <a:off x="5579448" y="58134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22550"/>
                <a:gridCol w="622550"/>
              </a:tblGrid>
              <a:tr h="259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MIN MAX PROBLEM</a:t>
            </a:r>
            <a:endParaRPr/>
          </a:p>
        </p:txBody>
      </p:sp>
      <p:sp>
        <p:nvSpPr>
          <p:cNvPr id="220" name="Google Shape;220;p4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21" name="Google Shape;221;p4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222" name="Google Shape;222;p4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23" name="Google Shape;223;p4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229" name="Google Shape;229;p4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30" name="Google Shape;230;p4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4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Finding Maximum and Minimum</a:t>
            </a:r>
            <a:endParaRPr/>
          </a:p>
        </p:txBody>
      </p:sp>
      <p:graphicFrame>
        <p:nvGraphicFramePr>
          <p:cNvPr id="232" name="Google Shape;232;p44"/>
          <p:cNvGraphicFramePr/>
          <p:nvPr/>
        </p:nvGraphicFramePr>
        <p:xfrm>
          <a:off x="1805651" y="12354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835425"/>
                <a:gridCol w="835425"/>
                <a:gridCol w="835425"/>
                <a:gridCol w="835425"/>
                <a:gridCol w="835425"/>
                <a:gridCol w="835425"/>
                <a:gridCol w="835425"/>
                <a:gridCol w="835425"/>
                <a:gridCol w="835425"/>
                <a:gridCol w="8354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Index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Array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3" name="Google Shape;233;p44"/>
          <p:cNvSpPr/>
          <p:nvPr/>
        </p:nvSpPr>
        <p:spPr>
          <a:xfrm>
            <a:off x="5198799" y="2090278"/>
            <a:ext cx="1794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MaxMin(1,9)</a:t>
            </a:r>
            <a:endParaRPr/>
          </a:p>
        </p:txBody>
      </p:sp>
      <p:cxnSp>
        <p:nvCxnSpPr>
          <p:cNvPr id="234" name="Google Shape;234;p44"/>
          <p:cNvCxnSpPr>
            <a:stCxn id="233" idx="2"/>
            <a:endCxn id="235" idx="0"/>
          </p:cNvCxnSpPr>
          <p:nvPr/>
        </p:nvCxnSpPr>
        <p:spPr>
          <a:xfrm flipH="1">
            <a:off x="4478700" y="2551943"/>
            <a:ext cx="1617300" cy="24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6" name="Google Shape;236;p44"/>
          <p:cNvCxnSpPr>
            <a:stCxn id="233" idx="2"/>
            <a:endCxn id="237" idx="0"/>
          </p:cNvCxnSpPr>
          <p:nvPr/>
        </p:nvCxnSpPr>
        <p:spPr>
          <a:xfrm>
            <a:off x="6096000" y="2551943"/>
            <a:ext cx="4175700" cy="500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5" name="Google Shape;235;p44"/>
          <p:cNvSpPr/>
          <p:nvPr/>
        </p:nvSpPr>
        <p:spPr>
          <a:xfrm>
            <a:off x="3581401" y="2793020"/>
            <a:ext cx="1794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MaxMin(1,5)</a:t>
            </a:r>
            <a:endParaRPr/>
          </a:p>
        </p:txBody>
      </p:sp>
      <p:sp>
        <p:nvSpPr>
          <p:cNvPr id="237" name="Google Shape;237;p44"/>
          <p:cNvSpPr/>
          <p:nvPr/>
        </p:nvSpPr>
        <p:spPr>
          <a:xfrm>
            <a:off x="9374559" y="3052354"/>
            <a:ext cx="1794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MaxMin(6,9)</a:t>
            </a:r>
            <a:endParaRPr/>
          </a:p>
        </p:txBody>
      </p:sp>
      <p:cxnSp>
        <p:nvCxnSpPr>
          <p:cNvPr id="238" name="Google Shape;238;p44"/>
          <p:cNvCxnSpPr>
            <a:stCxn id="235" idx="2"/>
            <a:endCxn id="239" idx="0"/>
          </p:cNvCxnSpPr>
          <p:nvPr/>
        </p:nvCxnSpPr>
        <p:spPr>
          <a:xfrm flipH="1">
            <a:off x="2702902" y="3254685"/>
            <a:ext cx="1775700" cy="518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0" name="Google Shape;240;p44"/>
          <p:cNvCxnSpPr>
            <a:stCxn id="235" idx="2"/>
            <a:endCxn id="241" idx="0"/>
          </p:cNvCxnSpPr>
          <p:nvPr/>
        </p:nvCxnSpPr>
        <p:spPr>
          <a:xfrm>
            <a:off x="4478602" y="3254685"/>
            <a:ext cx="1705800" cy="62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9" name="Google Shape;239;p44"/>
          <p:cNvSpPr/>
          <p:nvPr/>
        </p:nvSpPr>
        <p:spPr>
          <a:xfrm>
            <a:off x="1805651" y="3773353"/>
            <a:ext cx="1794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MaxMin(1,3)</a:t>
            </a:r>
            <a:endParaRPr/>
          </a:p>
        </p:txBody>
      </p:sp>
      <p:sp>
        <p:nvSpPr>
          <p:cNvPr id="241" name="Google Shape;241;p44"/>
          <p:cNvSpPr/>
          <p:nvPr/>
        </p:nvSpPr>
        <p:spPr>
          <a:xfrm>
            <a:off x="5287301" y="3878657"/>
            <a:ext cx="1794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MaxMin(4,5)</a:t>
            </a:r>
            <a:endParaRPr/>
          </a:p>
        </p:txBody>
      </p:sp>
      <p:sp>
        <p:nvSpPr>
          <p:cNvPr id="242" name="Google Shape;242;p44"/>
          <p:cNvSpPr/>
          <p:nvPr/>
        </p:nvSpPr>
        <p:spPr>
          <a:xfrm>
            <a:off x="273267" y="4806824"/>
            <a:ext cx="1794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MaxMin(1,2)</a:t>
            </a:r>
            <a:endParaRPr/>
          </a:p>
        </p:txBody>
      </p:sp>
      <p:sp>
        <p:nvSpPr>
          <p:cNvPr id="243" name="Google Shape;243;p44"/>
          <p:cNvSpPr/>
          <p:nvPr/>
        </p:nvSpPr>
        <p:spPr>
          <a:xfrm>
            <a:off x="2472798" y="4868675"/>
            <a:ext cx="1794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MaxMin(3,3)</a:t>
            </a:r>
            <a:endParaRPr/>
          </a:p>
        </p:txBody>
      </p:sp>
      <p:cxnSp>
        <p:nvCxnSpPr>
          <p:cNvPr id="244" name="Google Shape;244;p44"/>
          <p:cNvCxnSpPr>
            <a:stCxn id="239" idx="2"/>
            <a:endCxn id="242" idx="0"/>
          </p:cNvCxnSpPr>
          <p:nvPr/>
        </p:nvCxnSpPr>
        <p:spPr>
          <a:xfrm flipH="1">
            <a:off x="1170452" y="4235018"/>
            <a:ext cx="1532400" cy="57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5" name="Google Shape;245;p44"/>
          <p:cNvCxnSpPr>
            <a:stCxn id="239" idx="2"/>
            <a:endCxn id="243" idx="0"/>
          </p:cNvCxnSpPr>
          <p:nvPr/>
        </p:nvCxnSpPr>
        <p:spPr>
          <a:xfrm>
            <a:off x="2702852" y="4235018"/>
            <a:ext cx="667200" cy="633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6" name="Google Shape;246;p44"/>
          <p:cNvCxnSpPr>
            <a:stCxn id="241" idx="2"/>
            <a:endCxn id="247" idx="0"/>
          </p:cNvCxnSpPr>
          <p:nvPr/>
        </p:nvCxnSpPr>
        <p:spPr>
          <a:xfrm flipH="1">
            <a:off x="5297702" y="4340322"/>
            <a:ext cx="886800" cy="99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8" name="Google Shape;248;p44"/>
          <p:cNvCxnSpPr>
            <a:stCxn id="241" idx="2"/>
          </p:cNvCxnSpPr>
          <p:nvPr/>
        </p:nvCxnSpPr>
        <p:spPr>
          <a:xfrm>
            <a:off x="6184502" y="4340322"/>
            <a:ext cx="1185900" cy="1095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7" name="Google Shape;247;p44"/>
          <p:cNvSpPr/>
          <p:nvPr/>
        </p:nvSpPr>
        <p:spPr>
          <a:xfrm>
            <a:off x="4400443" y="5330340"/>
            <a:ext cx="1794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MaxMin(4,4)</a:t>
            </a:r>
            <a:endParaRPr/>
          </a:p>
        </p:txBody>
      </p:sp>
      <p:sp>
        <p:nvSpPr>
          <p:cNvPr id="249" name="Google Shape;249;p44"/>
          <p:cNvSpPr/>
          <p:nvPr/>
        </p:nvSpPr>
        <p:spPr>
          <a:xfrm>
            <a:off x="6473083" y="5330340"/>
            <a:ext cx="1794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MaxMin(5,5)</a:t>
            </a:r>
            <a:endParaRPr/>
          </a:p>
        </p:txBody>
      </p:sp>
      <p:sp>
        <p:nvSpPr>
          <p:cNvPr id="250" name="Google Shape;250;p44"/>
          <p:cNvSpPr/>
          <p:nvPr/>
        </p:nvSpPr>
        <p:spPr>
          <a:xfrm>
            <a:off x="147788" y="5956963"/>
            <a:ext cx="1794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MaxMin(1,1)</a:t>
            </a:r>
            <a:endParaRPr/>
          </a:p>
        </p:txBody>
      </p:sp>
      <p:sp>
        <p:nvSpPr>
          <p:cNvPr id="251" name="Google Shape;251;p44"/>
          <p:cNvSpPr/>
          <p:nvPr/>
        </p:nvSpPr>
        <p:spPr>
          <a:xfrm>
            <a:off x="2347319" y="6018814"/>
            <a:ext cx="17944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MaxMin(2,2)</a:t>
            </a:r>
            <a:endParaRPr/>
          </a:p>
        </p:txBody>
      </p:sp>
      <p:cxnSp>
        <p:nvCxnSpPr>
          <p:cNvPr id="252" name="Google Shape;252;p44"/>
          <p:cNvCxnSpPr>
            <a:stCxn id="242" idx="2"/>
            <a:endCxn id="250" idx="0"/>
          </p:cNvCxnSpPr>
          <p:nvPr/>
        </p:nvCxnSpPr>
        <p:spPr>
          <a:xfrm flipH="1">
            <a:off x="1045068" y="5268489"/>
            <a:ext cx="125400" cy="688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3" name="Google Shape;253;p44"/>
          <p:cNvCxnSpPr>
            <a:stCxn id="242" idx="2"/>
            <a:endCxn id="251" idx="0"/>
          </p:cNvCxnSpPr>
          <p:nvPr/>
        </p:nvCxnSpPr>
        <p:spPr>
          <a:xfrm>
            <a:off x="1170468" y="5268489"/>
            <a:ext cx="2074200" cy="750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4" name="Google Shape;254;p44"/>
          <p:cNvSpPr txBox="1"/>
          <p:nvPr/>
        </p:nvSpPr>
        <p:spPr>
          <a:xfrm>
            <a:off x="235998" y="5561172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22,22</a:t>
            </a:r>
            <a:endParaRPr/>
          </a:p>
        </p:txBody>
      </p:sp>
      <p:sp>
        <p:nvSpPr>
          <p:cNvPr id="255" name="Google Shape;255;p44"/>
          <p:cNvSpPr txBox="1"/>
          <p:nvPr/>
        </p:nvSpPr>
        <p:spPr>
          <a:xfrm>
            <a:off x="2812307" y="5529270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13,13</a:t>
            </a:r>
            <a:endParaRPr/>
          </a:p>
        </p:txBody>
      </p:sp>
      <p:sp>
        <p:nvSpPr>
          <p:cNvPr id="256" name="Google Shape;256;p44"/>
          <p:cNvSpPr txBox="1"/>
          <p:nvPr/>
        </p:nvSpPr>
        <p:spPr>
          <a:xfrm>
            <a:off x="597346" y="4437492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22,13</a:t>
            </a:r>
            <a:endParaRPr/>
          </a:p>
        </p:txBody>
      </p:sp>
      <p:sp>
        <p:nvSpPr>
          <p:cNvPr id="257" name="Google Shape;257;p44"/>
          <p:cNvSpPr txBox="1"/>
          <p:nvPr/>
        </p:nvSpPr>
        <p:spPr>
          <a:xfrm>
            <a:off x="3328149" y="4561194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-5,-5</a:t>
            </a:r>
            <a:endParaRPr/>
          </a:p>
        </p:txBody>
      </p:sp>
      <p:sp>
        <p:nvSpPr>
          <p:cNvPr id="258" name="Google Shape;258;p44"/>
          <p:cNvSpPr txBox="1"/>
          <p:nvPr/>
        </p:nvSpPr>
        <p:spPr>
          <a:xfrm>
            <a:off x="2219610" y="3465872"/>
            <a:ext cx="663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22,-5</a:t>
            </a:r>
            <a:endParaRPr/>
          </a:p>
        </p:txBody>
      </p:sp>
      <p:sp>
        <p:nvSpPr>
          <p:cNvPr id="259" name="Google Shape;259;p44"/>
          <p:cNvSpPr txBox="1"/>
          <p:nvPr/>
        </p:nvSpPr>
        <p:spPr>
          <a:xfrm>
            <a:off x="4758326" y="5055908"/>
            <a:ext cx="6174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-8,-8</a:t>
            </a:r>
            <a:endParaRPr/>
          </a:p>
        </p:txBody>
      </p:sp>
      <p:sp>
        <p:nvSpPr>
          <p:cNvPr id="260" name="Google Shape;260;p44"/>
          <p:cNvSpPr txBox="1"/>
          <p:nvPr/>
        </p:nvSpPr>
        <p:spPr>
          <a:xfrm>
            <a:off x="7258110" y="5083823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15,15</a:t>
            </a:r>
            <a:endParaRPr/>
          </a:p>
        </p:txBody>
      </p:sp>
      <p:sp>
        <p:nvSpPr>
          <p:cNvPr id="261" name="Google Shape;261;p44"/>
          <p:cNvSpPr txBox="1"/>
          <p:nvPr/>
        </p:nvSpPr>
        <p:spPr>
          <a:xfrm>
            <a:off x="6098711" y="3614629"/>
            <a:ext cx="663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15,-8</a:t>
            </a:r>
            <a:endParaRPr/>
          </a:p>
        </p:txBody>
      </p:sp>
      <p:sp>
        <p:nvSpPr>
          <p:cNvPr id="262" name="Google Shape;262;p44"/>
          <p:cNvSpPr txBox="1"/>
          <p:nvPr/>
        </p:nvSpPr>
        <p:spPr>
          <a:xfrm>
            <a:off x="3726136" y="2347458"/>
            <a:ext cx="663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22,-8</a:t>
            </a:r>
            <a:endParaRPr/>
          </a:p>
        </p:txBody>
      </p:sp>
      <p:sp>
        <p:nvSpPr>
          <p:cNvPr id="263" name="Google Shape;263;p44"/>
          <p:cNvSpPr txBox="1"/>
          <p:nvPr/>
        </p:nvSpPr>
        <p:spPr>
          <a:xfrm>
            <a:off x="9709903" y="3614288"/>
            <a:ext cx="17255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Similar recursive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calls</a:t>
            </a:r>
            <a:endParaRPr/>
          </a:p>
        </p:txBody>
      </p:sp>
      <p:sp>
        <p:nvSpPr>
          <p:cNvPr id="264" name="Google Shape;264;p44"/>
          <p:cNvSpPr txBox="1"/>
          <p:nvPr/>
        </p:nvSpPr>
        <p:spPr>
          <a:xfrm>
            <a:off x="9494590" y="2586482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60,17</a:t>
            </a:r>
            <a:endParaRPr/>
          </a:p>
        </p:txBody>
      </p:sp>
      <p:sp>
        <p:nvSpPr>
          <p:cNvPr id="265" name="Google Shape;265;p44"/>
          <p:cNvSpPr txBox="1"/>
          <p:nvPr/>
        </p:nvSpPr>
        <p:spPr>
          <a:xfrm>
            <a:off x="5627600" y="1927716"/>
            <a:ext cx="6639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60,-8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Times New Roman"/>
              <a:buNone/>
            </a:pPr>
            <a:r>
              <a:rPr b="0" i="1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Divide-and-Conquer algorithm:</a:t>
            </a:r>
            <a:r>
              <a:rPr b="0" i="0" lang="en-US" sz="2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100000"/>
              <a:buFont typeface="Candara"/>
              <a:buNone/>
            </a:pPr>
            <a:r>
              <a:rPr lang="en-US" sz="2200">
                <a:solidFill>
                  <a:srgbClr val="7030A0"/>
                </a:solidFill>
                <a:latin typeface="Candara"/>
                <a:ea typeface="Candara"/>
                <a:cs typeface="Candara"/>
                <a:sym typeface="Candara"/>
              </a:rPr>
              <a:t>Find_</a:t>
            </a:r>
            <a:r>
              <a:rPr b="0" i="0" lang="en-US" sz="2200" u="none" cap="none" strike="noStrike">
                <a:solidFill>
                  <a:srgbClr val="7030A0"/>
                </a:solidFill>
                <a:latin typeface="Candara"/>
                <a:ea typeface="Candara"/>
                <a:cs typeface="Candara"/>
                <a:sym typeface="Candara"/>
              </a:rPr>
              <a:t>maxmin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 (A,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, </a:t>
            </a:r>
            <a:r>
              <a:rPr b="0" i="1" lang="en-US" sz="2200" u="none" cap="none" strike="noStrik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j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)       </a:t>
            </a:r>
            <a:r>
              <a:rPr lang="en-US" sz="2400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// i, j are start and end index </a:t>
            </a:r>
            <a:endParaRPr/>
          </a:p>
          <a:p>
            <a:pPr indent="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b="1" lang="en-US" sz="24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if</a:t>
            </a:r>
            <a:r>
              <a:rPr lang="en-US" sz="24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 i = j: </a:t>
            </a:r>
            <a:endParaRPr/>
          </a:p>
          <a:p>
            <a:pPr indent="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999"/>
              <a:buFont typeface="Candara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	</a:t>
            </a:r>
            <a:r>
              <a:rPr b="0" i="0" lang="en-US" u="none" cap="none" strike="noStrik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return A[i], A[i]  </a:t>
            </a:r>
            <a:r>
              <a:rPr b="0" i="0" lang="en-US" u="none" cap="none" strike="noStrike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// base case</a:t>
            </a:r>
            <a:endParaRPr/>
          </a:p>
          <a:p>
            <a:pPr indent="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b="1" lang="en-US" sz="24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else if </a:t>
            </a:r>
            <a:r>
              <a:rPr lang="en-US" sz="2400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 &lt; j:</a:t>
            </a:r>
            <a:endParaRPr/>
          </a:p>
          <a:p>
            <a:pPr indent="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	mid = (i+j)/2; </a:t>
            </a:r>
            <a:r>
              <a:rPr b="0" i="0" lang="en-US" u="none" cap="none" strike="noStrike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// divide</a:t>
            </a:r>
            <a:endParaRPr/>
          </a:p>
          <a:p>
            <a:pPr indent="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	mx1, min1 = Find_maxmin(A, i, mid) </a:t>
            </a:r>
            <a:r>
              <a:rPr lang="en-US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// conquer</a:t>
            </a:r>
            <a:endParaRPr/>
          </a:p>
          <a:p>
            <a:pPr indent="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	mx2, min2 = Find_maxmin(A, mid+1, j) </a:t>
            </a:r>
            <a:r>
              <a:rPr lang="en-US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// conquer</a:t>
            </a:r>
            <a:endParaRPr/>
          </a:p>
          <a:p>
            <a:pPr indent="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	</a:t>
            </a:r>
            <a:r>
              <a:rPr lang="en-US">
                <a:solidFill>
                  <a:schemeClr val="accent1"/>
                </a:solidFill>
                <a:latin typeface="Candara"/>
                <a:ea typeface="Candara"/>
                <a:cs typeface="Candara"/>
                <a:sym typeface="Candara"/>
              </a:rPr>
              <a:t>// combine</a:t>
            </a:r>
            <a:endParaRPr/>
          </a:p>
          <a:p>
            <a:pPr indent="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	fmax, fmin = -1, -1 </a:t>
            </a:r>
            <a:endParaRPr/>
          </a:p>
          <a:p>
            <a:pPr indent="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	</a:t>
            </a:r>
            <a:r>
              <a:rPr b="1"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if</a:t>
            </a:r>
            <a:r>
              <a:rPr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 mx1 &gt; mx2: fmax = mx1</a:t>
            </a:r>
            <a:endParaRPr/>
          </a:p>
          <a:p>
            <a:pPr indent="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	</a:t>
            </a:r>
            <a:r>
              <a:rPr b="1"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else</a:t>
            </a:r>
            <a:r>
              <a:rPr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 fmax = mx2</a:t>
            </a:r>
            <a:endParaRPr/>
          </a:p>
          <a:p>
            <a:pPr indent="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	</a:t>
            </a:r>
            <a:r>
              <a:rPr b="1"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if</a:t>
            </a:r>
            <a:r>
              <a:rPr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 min1 &lt; min2: fmin = min1</a:t>
            </a:r>
            <a:endParaRPr/>
          </a:p>
          <a:p>
            <a:pPr indent="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	</a:t>
            </a:r>
            <a:r>
              <a:rPr b="1"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else</a:t>
            </a:r>
            <a:r>
              <a:rPr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 fmin = min2</a:t>
            </a:r>
            <a:endParaRPr/>
          </a:p>
          <a:p>
            <a:pPr indent="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5000"/>
              <a:buFont typeface="Candara"/>
              <a:buNone/>
            </a:pPr>
            <a:r>
              <a:rPr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	</a:t>
            </a:r>
            <a:r>
              <a:rPr b="1"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return</a:t>
            </a:r>
            <a:r>
              <a:rPr lang="en-US">
                <a:solidFill>
                  <a:srgbClr val="000000"/>
                </a:solidFill>
                <a:latin typeface="Candara"/>
                <a:ea typeface="Candara"/>
                <a:cs typeface="Candara"/>
                <a:sym typeface="Candara"/>
              </a:rPr>
              <a:t> fmax, fmin</a:t>
            </a:r>
            <a:endParaRPr>
              <a:solidFill>
                <a:srgbClr val="000000"/>
              </a:solidFill>
              <a:latin typeface="Candara"/>
              <a:ea typeface="Candara"/>
              <a:cs typeface="Candara"/>
              <a:sym typeface="Canda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71" name="Google Shape;271;p4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272" name="Google Shape;272;p4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73" name="Google Shape;273;p4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4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Pseudocode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) =    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          if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     2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/2) +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   if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&gt;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By solving the recurrence, we get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None/>
            </a:pPr>
            <a:r>
              <a:rPr i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</a:t>
            </a: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</a:t>
            </a:r>
            <a:r>
              <a:rPr i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80" name="Google Shape;280;p4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281" name="Google Shape;281;p4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82" name="Google Shape;282;p4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" name="Google Shape;283;p4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b="1" lang="en-US"/>
              <a:t>Problems we will cover: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Finding the Maximum Sub Array Problem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Finding the Maximum and Minimum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Merge Sort (Covered in DSA 1 - Revision)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Quick Sort (Covered in DSA 1 - Revision)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/>
              <a:t>Others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b="1" lang="en-US"/>
              <a:t>We will also analyze the divide and conquer problems</a:t>
            </a:r>
            <a:endParaRPr/>
          </a:p>
        </p:txBody>
      </p:sp>
      <p:sp>
        <p:nvSpPr>
          <p:cNvPr id="289" name="Google Shape;289;p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290" name="Google Shape;290;p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91" name="Google Shape;291;p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Divide and Conquer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MAXIMUM SUB ARRAY PROBLEM</a:t>
            </a:r>
            <a:endParaRPr/>
          </a:p>
        </p:txBody>
      </p:sp>
      <p:sp>
        <p:nvSpPr>
          <p:cNvPr id="298" name="Google Shape;298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300" name="Google Shape;300;p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01" name="Google Shape;301;p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t/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/>
              <a:t>This is the </a:t>
            </a:r>
            <a:r>
              <a:rPr b="1" lang="en-US"/>
              <a:t>prediction</a:t>
            </a:r>
            <a:r>
              <a:rPr lang="en-US"/>
              <a:t> of prices of share of a company.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/>
              <a:t>You want to buy the share on the day when the price is the lowest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/>
              <a:t>You want to sell the share on the day when the price is the highest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/>
              <a:t>Identify these two days</a:t>
            </a:r>
            <a:endParaRPr/>
          </a:p>
        </p:txBody>
      </p:sp>
      <p:sp>
        <p:nvSpPr>
          <p:cNvPr id="307" name="Google Shape;307;p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308" name="Google Shape;308;p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09" name="Google Shape;309;p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p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Maximum Sub Array Problem</a:t>
            </a:r>
            <a:endParaRPr/>
          </a:p>
        </p:txBody>
      </p:sp>
      <p:pic>
        <p:nvPicPr>
          <p:cNvPr id="311" name="Google Shape;31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4512" y="911997"/>
            <a:ext cx="5976088" cy="2634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317" name="Google Shape;317;p1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18" name="Google Shape;318;p1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" name="Google Shape;319;p1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Maximum Sub Array Problem</a:t>
            </a:r>
            <a:endParaRPr/>
          </a:p>
        </p:txBody>
      </p:sp>
      <p:pic>
        <p:nvPicPr>
          <p:cNvPr id="320" name="Google Shape;32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2050" y="1379357"/>
            <a:ext cx="8187899" cy="3609203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0"/>
          <p:cNvSpPr/>
          <p:nvPr/>
        </p:nvSpPr>
        <p:spPr>
          <a:xfrm rot="5400000">
            <a:off x="6772661" y="4214744"/>
            <a:ext cx="587238" cy="194056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5476240" y="5615141"/>
            <a:ext cx="416678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Buy on the 7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day and sell on the 11</a:t>
            </a:r>
            <a:r>
              <a:rPr baseline="30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profit= 106-63=43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Total profit = 18+20-7+12=43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Arial"/>
              <a:buNone/>
            </a:pP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possible contiguous subarrays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A[1..1], A[1..2], A[1..3], ..., A[1..(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-1)], A[1..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A[2..2], A[2..3], ..., A[2..(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-1)], A[2..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A[(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-1)..(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-1)], A[(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-1)..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A[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Arial"/>
              <a:buNone/>
            </a:pP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many of them in total?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Arial"/>
              <a:buNone/>
            </a:pPr>
            <a:r>
              <a:rPr b="0" i="0" lang="en-US" sz="26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Algorithm:</a:t>
            </a: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For each subarray, compute the sum.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Find the subarray that has the maximum sum.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329" name="Google Shape;329;p1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30" name="Google Shape;330;p1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1" name="Google Shape;331;p1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Brute Force Approach</a:t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6003681" y="3976360"/>
            <a:ext cx="2606919" cy="1006475"/>
          </a:xfrm>
          <a:prstGeom prst="cloudCallout">
            <a:avLst>
              <a:gd fmla="val -82425" name="adj1"/>
              <a:gd fmla="val -13584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O(n</a:t>
            </a:r>
            <a:r>
              <a:rPr b="1" baseline="30000" lang="en-US" sz="18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1" lang="en-US" sz="1800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b="1" sz="1800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338" name="Google Shape;338;p1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39" name="Google Shape;339;p1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0" name="Google Shape;340;p1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Brute Force Approach</a:t>
            </a:r>
            <a:endParaRPr/>
          </a:p>
        </p:txBody>
      </p:sp>
      <p:sp>
        <p:nvSpPr>
          <p:cNvPr id="341" name="Google Shape;341;p12"/>
          <p:cNvSpPr txBox="1"/>
          <p:nvPr/>
        </p:nvSpPr>
        <p:spPr>
          <a:xfrm>
            <a:off x="838200" y="1101062"/>
            <a:ext cx="6093500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max = -</a:t>
            </a:r>
            <a:r>
              <a:rPr b="1" i="0" lang="en-US" sz="2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 i = 1 to n 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0" lang="en-US" sz="2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sum =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for j = i to n 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begin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sum = sum + A[j]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if sum &gt; max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then max = sum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end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3CC"/>
              </a:buClr>
              <a:buSzPts val="1950"/>
              <a:buFont typeface="Noto Sans Symbols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7169342" y="1628523"/>
            <a:ext cx="3240087" cy="1655762"/>
          </a:xfrm>
          <a:prstGeom prst="cloudCallout">
            <a:avLst>
              <a:gd fmla="val -65010" name="adj1"/>
              <a:gd fmla="val 884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Time complexity?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O(n</a:t>
            </a:r>
            <a:r>
              <a:rPr b="1" baseline="30000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"/>
          <p:cNvSpPr txBox="1"/>
          <p:nvPr>
            <p:ph idx="1" type="body"/>
          </p:nvPr>
        </p:nvSpPr>
        <p:spPr>
          <a:xfrm>
            <a:off x="838200" y="1227909"/>
            <a:ext cx="10515600" cy="2574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Possible locations of a maximum subarray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 of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], where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= ⎣(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)/2⎦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entirely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 		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≤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≤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≤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entirely in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+1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..high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 	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&lt;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≤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≤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crossing the midpoint 		(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≤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≤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mid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&lt;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≤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349" name="Google Shape;349;p1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50" name="Google Shape;350;p1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1" name="Google Shape;351;p1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None/>
            </a:pPr>
            <a:r>
              <a:rPr lang="en-US" sz="3200"/>
              <a:t>The Divide and Conquer Approach for Max Sub Array</a:t>
            </a:r>
            <a:endParaRPr/>
          </a:p>
        </p:txBody>
      </p:sp>
      <p:graphicFrame>
        <p:nvGraphicFramePr>
          <p:cNvPr id="352" name="Google Shape;352;p13"/>
          <p:cNvGraphicFramePr/>
          <p:nvPr/>
        </p:nvGraphicFramePr>
        <p:xfrm>
          <a:off x="3072606" y="46790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{868FC11F-FE77-4ACE-B6F6-A7261129B311}</a:tableStyleId>
              </a:tblPr>
              <a:tblGrid>
                <a:gridCol w="434975"/>
                <a:gridCol w="436575"/>
                <a:gridCol w="434975"/>
                <a:gridCol w="434975"/>
                <a:gridCol w="434975"/>
                <a:gridCol w="436550"/>
                <a:gridCol w="434975"/>
                <a:gridCol w="434975"/>
                <a:gridCol w="436575"/>
                <a:gridCol w="434975"/>
                <a:gridCol w="434975"/>
                <a:gridCol w="434975"/>
                <a:gridCol w="436550"/>
                <a:gridCol w="434975"/>
              </a:tblGrid>
              <a:tr h="371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cxnSp>
        <p:nvCxnSpPr>
          <p:cNvPr id="353" name="Google Shape;353;p13"/>
          <p:cNvCxnSpPr/>
          <p:nvPr/>
        </p:nvCxnSpPr>
        <p:spPr>
          <a:xfrm rot="5400000">
            <a:off x="5917406" y="4858431"/>
            <a:ext cx="358775" cy="0"/>
          </a:xfrm>
          <a:prstGeom prst="straightConnector1">
            <a:avLst/>
          </a:pr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4" name="Google Shape;354;p13"/>
          <p:cNvSpPr txBox="1"/>
          <p:nvPr/>
        </p:nvSpPr>
        <p:spPr>
          <a:xfrm>
            <a:off x="2999581" y="4390118"/>
            <a:ext cx="6284913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                                              mid                                                     high</a:t>
            </a:r>
            <a:endParaRPr b="0" i="1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13"/>
          <p:cNvSpPr txBox="1"/>
          <p:nvPr/>
        </p:nvSpPr>
        <p:spPr>
          <a:xfrm>
            <a:off x="5952207" y="4965785"/>
            <a:ext cx="1081087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13"/>
          <p:cNvSpPr txBox="1"/>
          <p:nvPr/>
        </p:nvSpPr>
        <p:spPr>
          <a:xfrm>
            <a:off x="3359919" y="5471206"/>
            <a:ext cx="2274888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entirely in 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13"/>
          <p:cNvSpPr txBox="1"/>
          <p:nvPr/>
        </p:nvSpPr>
        <p:spPr>
          <a:xfrm>
            <a:off x="6384255" y="5541056"/>
            <a:ext cx="26225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entirely in 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mid+1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</a:t>
            </a:r>
            <a:r>
              <a:rPr b="0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13"/>
          <p:cNvSpPr txBox="1"/>
          <p:nvPr/>
        </p:nvSpPr>
        <p:spPr>
          <a:xfrm>
            <a:off x="4944269" y="3659794"/>
            <a:ext cx="23034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crossing the midpoint</a:t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13"/>
          <p:cNvSpPr/>
          <p:nvPr/>
        </p:nvSpPr>
        <p:spPr>
          <a:xfrm rot="5400000">
            <a:off x="5915819" y="2842306"/>
            <a:ext cx="287337" cy="2808287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 rot="-5400000">
            <a:off x="4440560" y="4028962"/>
            <a:ext cx="287337" cy="2447925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 rot="-5400000">
            <a:off x="7524303" y="4041661"/>
            <a:ext cx="288926" cy="2713037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 txBox="1"/>
          <p:nvPr/>
        </p:nvSpPr>
        <p:spPr>
          <a:xfrm>
            <a:off x="3215481" y="5974443"/>
            <a:ext cx="583247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Possible locations of subarrays of A[low..high]</a:t>
            </a:r>
            <a:endParaRPr b="0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" name="Google Shape;367;p14"/>
          <p:cNvGraphicFramePr/>
          <p:nvPr/>
        </p:nvGraphicFramePr>
        <p:xfrm>
          <a:off x="3074807" y="9827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863200"/>
                <a:gridCol w="863200"/>
                <a:gridCol w="863200"/>
                <a:gridCol w="863200"/>
                <a:gridCol w="863200"/>
                <a:gridCol w="863200"/>
                <a:gridCol w="863200"/>
              </a:tblGrid>
              <a:tr h="302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02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68" name="Google Shape;368;p1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369" name="Google Shape;369;p1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70" name="Google Shape;370;p1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" name="Google Shape;371;p1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3200"/>
              <a:buFont typeface="Times New Roman"/>
              <a:buNone/>
            </a:pPr>
            <a:r>
              <a:rPr lang="en-US" sz="3200">
                <a:solidFill>
                  <a:srgbClr val="ED7D31"/>
                </a:solidFill>
              </a:rPr>
              <a:t>The Divide and Conquer Approach for Max Sub Array</a:t>
            </a:r>
            <a:endParaRPr sz="3600"/>
          </a:p>
        </p:txBody>
      </p:sp>
      <p:sp>
        <p:nvSpPr>
          <p:cNvPr id="372" name="Google Shape;372;p14"/>
          <p:cNvSpPr/>
          <p:nvPr/>
        </p:nvSpPr>
        <p:spPr>
          <a:xfrm>
            <a:off x="5148658" y="1744235"/>
            <a:ext cx="13102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msa(A,1,7)</a:t>
            </a:r>
            <a:endParaRPr b="0" sz="1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2686117" y="2526931"/>
            <a:ext cx="13102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msa(A,1,4)</a:t>
            </a:r>
            <a:endParaRPr b="0" sz="1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7812153" y="2526931"/>
            <a:ext cx="13102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msa(A,5,7)</a:t>
            </a:r>
            <a:endParaRPr b="0" sz="1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899569" y="3628192"/>
            <a:ext cx="13102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msa(A,1,2)</a:t>
            </a:r>
            <a:endParaRPr b="0" sz="1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3996348" y="3628192"/>
            <a:ext cx="13102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msa(A,3,4)</a:t>
            </a:r>
            <a:endParaRPr b="0" sz="1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7157037" y="3573723"/>
            <a:ext cx="13102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msa(A,5,6)</a:t>
            </a:r>
            <a:endParaRPr b="0" sz="1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10178991" y="3645191"/>
            <a:ext cx="13102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msa(A,7,7)</a:t>
            </a:r>
            <a:endParaRPr b="0" sz="1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183084" y="4660423"/>
            <a:ext cx="13102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msa(A,1,1)</a:t>
            </a:r>
            <a:endParaRPr b="0" sz="1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1660882" y="4660423"/>
            <a:ext cx="13102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msa(A,2,2)</a:t>
            </a:r>
            <a:endParaRPr b="0" sz="1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3138680" y="4660423"/>
            <a:ext cx="13102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msa(A,3,3)</a:t>
            </a:r>
            <a:endParaRPr b="0" sz="1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4616478" y="4660423"/>
            <a:ext cx="13102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msa(A,4,4)</a:t>
            </a:r>
            <a:endParaRPr b="0" sz="1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6501921" y="4620515"/>
            <a:ext cx="13102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msa(A,5,5)</a:t>
            </a:r>
            <a:endParaRPr b="0" sz="1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7979719" y="4633189"/>
            <a:ext cx="13102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msa(A,6,6)</a:t>
            </a:r>
            <a:endParaRPr b="0" sz="18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" name="Google Shape;385;p14"/>
          <p:cNvCxnSpPr>
            <a:stCxn id="372" idx="2"/>
            <a:endCxn id="373" idx="0"/>
          </p:cNvCxnSpPr>
          <p:nvPr/>
        </p:nvCxnSpPr>
        <p:spPr>
          <a:xfrm flipH="1">
            <a:off x="3341374" y="2144345"/>
            <a:ext cx="2462400" cy="382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6" name="Google Shape;386;p14"/>
          <p:cNvCxnSpPr>
            <a:stCxn id="372" idx="2"/>
            <a:endCxn id="374" idx="0"/>
          </p:cNvCxnSpPr>
          <p:nvPr/>
        </p:nvCxnSpPr>
        <p:spPr>
          <a:xfrm>
            <a:off x="5803774" y="2144345"/>
            <a:ext cx="2663400" cy="382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7" name="Google Shape;387;p14"/>
          <p:cNvCxnSpPr>
            <a:stCxn id="373" idx="2"/>
            <a:endCxn id="375" idx="0"/>
          </p:cNvCxnSpPr>
          <p:nvPr/>
        </p:nvCxnSpPr>
        <p:spPr>
          <a:xfrm flipH="1">
            <a:off x="1554732" y="2927041"/>
            <a:ext cx="1786500" cy="701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8" name="Google Shape;388;p14"/>
          <p:cNvCxnSpPr>
            <a:stCxn id="373" idx="2"/>
            <a:endCxn id="376" idx="0"/>
          </p:cNvCxnSpPr>
          <p:nvPr/>
        </p:nvCxnSpPr>
        <p:spPr>
          <a:xfrm>
            <a:off x="3341232" y="2927041"/>
            <a:ext cx="1310100" cy="701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89" name="Google Shape;389;p14"/>
          <p:cNvCxnSpPr>
            <a:stCxn id="374" idx="2"/>
            <a:endCxn id="377" idx="0"/>
          </p:cNvCxnSpPr>
          <p:nvPr/>
        </p:nvCxnSpPr>
        <p:spPr>
          <a:xfrm flipH="1">
            <a:off x="7812069" y="2927041"/>
            <a:ext cx="655200" cy="6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0" name="Google Shape;390;p14"/>
          <p:cNvCxnSpPr>
            <a:stCxn id="374" idx="2"/>
            <a:endCxn id="378" idx="0"/>
          </p:cNvCxnSpPr>
          <p:nvPr/>
        </p:nvCxnSpPr>
        <p:spPr>
          <a:xfrm>
            <a:off x="8467269" y="2927041"/>
            <a:ext cx="2366700" cy="71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1" name="Google Shape;391;p14"/>
          <p:cNvCxnSpPr/>
          <p:nvPr/>
        </p:nvCxnSpPr>
        <p:spPr>
          <a:xfrm flipH="1">
            <a:off x="866978" y="4049186"/>
            <a:ext cx="716485" cy="63212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2" name="Google Shape;392;p14"/>
          <p:cNvCxnSpPr>
            <a:stCxn id="375" idx="2"/>
            <a:endCxn id="380" idx="0"/>
          </p:cNvCxnSpPr>
          <p:nvPr/>
        </p:nvCxnSpPr>
        <p:spPr>
          <a:xfrm>
            <a:off x="1554685" y="4028302"/>
            <a:ext cx="761400" cy="63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3" name="Google Shape;393;p14"/>
          <p:cNvCxnSpPr>
            <a:stCxn id="376" idx="2"/>
            <a:endCxn id="381" idx="0"/>
          </p:cNvCxnSpPr>
          <p:nvPr/>
        </p:nvCxnSpPr>
        <p:spPr>
          <a:xfrm flipH="1">
            <a:off x="3793764" y="4028302"/>
            <a:ext cx="857700" cy="63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4" name="Google Shape;394;p14"/>
          <p:cNvCxnSpPr>
            <a:stCxn id="376" idx="2"/>
            <a:endCxn id="382" idx="0"/>
          </p:cNvCxnSpPr>
          <p:nvPr/>
        </p:nvCxnSpPr>
        <p:spPr>
          <a:xfrm>
            <a:off x="4651464" y="4028302"/>
            <a:ext cx="620100" cy="63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5" name="Google Shape;395;p14"/>
          <p:cNvCxnSpPr>
            <a:stCxn id="377" idx="2"/>
            <a:endCxn id="383" idx="0"/>
          </p:cNvCxnSpPr>
          <p:nvPr/>
        </p:nvCxnSpPr>
        <p:spPr>
          <a:xfrm flipH="1">
            <a:off x="7156952" y="3973833"/>
            <a:ext cx="655200" cy="64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96" name="Google Shape;396;p14"/>
          <p:cNvCxnSpPr>
            <a:stCxn id="377" idx="2"/>
            <a:endCxn id="384" idx="0"/>
          </p:cNvCxnSpPr>
          <p:nvPr/>
        </p:nvCxnSpPr>
        <p:spPr>
          <a:xfrm>
            <a:off x="7812153" y="3973833"/>
            <a:ext cx="822600" cy="6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97" name="Google Shape;397;p14"/>
          <p:cNvSpPr txBox="1"/>
          <p:nvPr/>
        </p:nvSpPr>
        <p:spPr>
          <a:xfrm>
            <a:off x="26702" y="4463912"/>
            <a:ext cx="9220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-16(1,1)</a:t>
            </a:r>
            <a:endParaRPr/>
          </a:p>
        </p:txBody>
      </p:sp>
      <p:sp>
        <p:nvSpPr>
          <p:cNvPr id="398" name="Google Shape;398;p14"/>
          <p:cNvSpPr txBox="1"/>
          <p:nvPr/>
        </p:nvSpPr>
        <p:spPr>
          <a:xfrm>
            <a:off x="2252789" y="4414229"/>
            <a:ext cx="9220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-23(2,2)</a:t>
            </a:r>
            <a:endParaRPr/>
          </a:p>
        </p:txBody>
      </p:sp>
      <p:sp>
        <p:nvSpPr>
          <p:cNvPr id="399" name="Google Shape;399;p14"/>
          <p:cNvSpPr txBox="1"/>
          <p:nvPr/>
        </p:nvSpPr>
        <p:spPr>
          <a:xfrm>
            <a:off x="1763552" y="3928851"/>
            <a:ext cx="9220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-39(1,2)</a:t>
            </a:r>
            <a:endParaRPr/>
          </a:p>
        </p:txBody>
      </p:sp>
      <p:sp>
        <p:nvSpPr>
          <p:cNvPr id="400" name="Google Shape;400;p14"/>
          <p:cNvSpPr txBox="1"/>
          <p:nvPr/>
        </p:nvSpPr>
        <p:spPr>
          <a:xfrm>
            <a:off x="3254606" y="4331864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18(3,3)</a:t>
            </a:r>
            <a:endParaRPr/>
          </a:p>
        </p:txBody>
      </p:sp>
      <p:sp>
        <p:nvSpPr>
          <p:cNvPr id="401" name="Google Shape;401;p14"/>
          <p:cNvSpPr txBox="1"/>
          <p:nvPr/>
        </p:nvSpPr>
        <p:spPr>
          <a:xfrm>
            <a:off x="5083374" y="4325237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20(4,4)</a:t>
            </a:r>
            <a:endParaRPr/>
          </a:p>
        </p:txBody>
      </p:sp>
      <p:sp>
        <p:nvSpPr>
          <p:cNvPr id="402" name="Google Shape;402;p14"/>
          <p:cNvSpPr txBox="1"/>
          <p:nvPr/>
        </p:nvSpPr>
        <p:spPr>
          <a:xfrm>
            <a:off x="4276266" y="3234387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38(3,4)</a:t>
            </a:r>
            <a:endParaRPr/>
          </a:p>
        </p:txBody>
      </p:sp>
      <p:sp>
        <p:nvSpPr>
          <p:cNvPr id="403" name="Google Shape;403;p14"/>
          <p:cNvSpPr txBox="1"/>
          <p:nvPr/>
        </p:nvSpPr>
        <p:spPr>
          <a:xfrm>
            <a:off x="4188078" y="4029959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38(3,4)</a:t>
            </a:r>
            <a:endParaRPr/>
          </a:p>
        </p:txBody>
      </p:sp>
      <p:sp>
        <p:nvSpPr>
          <p:cNvPr id="404" name="Google Shape;404;p14"/>
          <p:cNvSpPr txBox="1"/>
          <p:nvPr/>
        </p:nvSpPr>
        <p:spPr>
          <a:xfrm>
            <a:off x="961667" y="3320429"/>
            <a:ext cx="9220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-16(1,1)</a:t>
            </a:r>
            <a:endParaRPr/>
          </a:p>
        </p:txBody>
      </p:sp>
      <p:sp>
        <p:nvSpPr>
          <p:cNvPr id="405" name="Google Shape;405;p14"/>
          <p:cNvSpPr txBox="1"/>
          <p:nvPr/>
        </p:nvSpPr>
        <p:spPr>
          <a:xfrm>
            <a:off x="2801980" y="2962651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15(2,4)</a:t>
            </a:r>
            <a:endParaRPr/>
          </a:p>
        </p:txBody>
      </p:sp>
      <p:sp>
        <p:nvSpPr>
          <p:cNvPr id="406" name="Google Shape;406;p14"/>
          <p:cNvSpPr txBox="1"/>
          <p:nvPr/>
        </p:nvSpPr>
        <p:spPr>
          <a:xfrm>
            <a:off x="3254605" y="2103572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38(3,4)</a:t>
            </a:r>
            <a:endParaRPr/>
          </a:p>
        </p:txBody>
      </p:sp>
      <p:sp>
        <p:nvSpPr>
          <p:cNvPr id="407" name="Google Shape;407;p14"/>
          <p:cNvSpPr txBox="1"/>
          <p:nvPr/>
        </p:nvSpPr>
        <p:spPr>
          <a:xfrm>
            <a:off x="8041510" y="2072352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12(6,6)</a:t>
            </a:r>
            <a:endParaRPr/>
          </a:p>
        </p:txBody>
      </p:sp>
      <p:sp>
        <p:nvSpPr>
          <p:cNvPr id="408" name="Google Shape;408;p14"/>
          <p:cNvSpPr txBox="1"/>
          <p:nvPr/>
        </p:nvSpPr>
        <p:spPr>
          <a:xfrm>
            <a:off x="6989470" y="3275859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12(6,6)</a:t>
            </a:r>
            <a:endParaRPr/>
          </a:p>
        </p:txBody>
      </p:sp>
      <p:sp>
        <p:nvSpPr>
          <p:cNvPr id="409" name="Google Shape;409;p14"/>
          <p:cNvSpPr txBox="1"/>
          <p:nvPr/>
        </p:nvSpPr>
        <p:spPr>
          <a:xfrm>
            <a:off x="8521559" y="4286363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12(6,6)</a:t>
            </a:r>
            <a:endParaRPr/>
          </a:p>
        </p:txBody>
      </p:sp>
      <p:sp>
        <p:nvSpPr>
          <p:cNvPr id="410" name="Google Shape;410;p14"/>
          <p:cNvSpPr txBox="1"/>
          <p:nvPr/>
        </p:nvSpPr>
        <p:spPr>
          <a:xfrm>
            <a:off x="6393605" y="4294150"/>
            <a:ext cx="8050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-7(5,5)</a:t>
            </a:r>
            <a:endParaRPr/>
          </a:p>
        </p:txBody>
      </p:sp>
      <p:sp>
        <p:nvSpPr>
          <p:cNvPr id="411" name="Google Shape;411;p14"/>
          <p:cNvSpPr txBox="1"/>
          <p:nvPr/>
        </p:nvSpPr>
        <p:spPr>
          <a:xfrm>
            <a:off x="8172762" y="2843346"/>
            <a:ext cx="734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7(6,7)</a:t>
            </a:r>
            <a:endParaRPr/>
          </a:p>
        </p:txBody>
      </p:sp>
      <p:sp>
        <p:nvSpPr>
          <p:cNvPr id="412" name="Google Shape;412;p14"/>
          <p:cNvSpPr txBox="1"/>
          <p:nvPr/>
        </p:nvSpPr>
        <p:spPr>
          <a:xfrm>
            <a:off x="10417144" y="3222820"/>
            <a:ext cx="734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5(7,7)</a:t>
            </a:r>
            <a:endParaRPr/>
          </a:p>
        </p:txBody>
      </p:sp>
      <p:sp>
        <p:nvSpPr>
          <p:cNvPr id="413" name="Google Shape;413;p14"/>
          <p:cNvSpPr txBox="1"/>
          <p:nvPr/>
        </p:nvSpPr>
        <p:spPr>
          <a:xfrm>
            <a:off x="5279816" y="2059448"/>
            <a:ext cx="8515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43(3,6)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420" name="Google Shape;420;p1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21" name="Google Shape;421;p1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2" name="Google Shape;422;p1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28" name="Google Shape;428;p1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429" name="Google Shape;429;p1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30" name="Google Shape;430;p1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1" name="Google Shape;431;p1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432" name="Google Shape;4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1254" y="1431407"/>
            <a:ext cx="8018162" cy="4903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38" name="Google Shape;438;p1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439" name="Google Shape;439;p1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40" name="Google Shape;440;p1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1" name="Google Shape;441;p1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442" name="Google Shape;4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6321" y="1068688"/>
            <a:ext cx="6059358" cy="5191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48" name="Google Shape;448;p1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449" name="Google Shape;449;p1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50" name="Google Shape;450;p1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1" name="Google Shape;451;p1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452" name="Google Shape;4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53" name="Google Shape;453;p18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59" name="Google Shape;459;p1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460" name="Google Shape;460;p1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61" name="Google Shape;461;p1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2" name="Google Shape;462;p1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463" name="Google Shape;4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4" name="Google Shape;464;p19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65" name="Google Shape;465;p19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leftSum=-inf</a:t>
            </a:r>
            <a:endParaRPr/>
          </a:p>
        </p:txBody>
      </p:sp>
      <p:sp>
        <p:nvSpPr>
          <p:cNvPr id="466" name="Google Shape;466;p19"/>
          <p:cNvSpPr/>
          <p:nvPr/>
        </p:nvSpPr>
        <p:spPr>
          <a:xfrm>
            <a:off x="2587683" y="1489435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72" name="Google Shape;472;p2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473" name="Google Shape;473;p2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74" name="Google Shape;474;p2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5" name="Google Shape;475;p2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476" name="Google Shape;4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77" name="Google Shape;477;p20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78" name="Google Shape;478;p20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leftSum=-inf</a:t>
            </a:r>
            <a:endParaRPr/>
          </a:p>
        </p:txBody>
      </p:sp>
      <p:sp>
        <p:nvSpPr>
          <p:cNvPr id="479" name="Google Shape;479;p20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=0</a:t>
            </a:r>
            <a:endParaRPr/>
          </a:p>
        </p:txBody>
      </p:sp>
      <p:sp>
        <p:nvSpPr>
          <p:cNvPr id="480" name="Google Shape;480;p20"/>
          <p:cNvSpPr/>
          <p:nvPr/>
        </p:nvSpPr>
        <p:spPr>
          <a:xfrm>
            <a:off x="1912856" y="1825980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86" name="Google Shape;486;p2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487" name="Google Shape;487;p2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88" name="Google Shape;488;p2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9" name="Google Shape;489;p2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490" name="Google Shape;4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91" name="Google Shape;491;p21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92" name="Google Shape;492;p21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leftSum=-inf</a:t>
            </a:r>
            <a:endParaRPr/>
          </a:p>
        </p:txBody>
      </p:sp>
      <p:sp>
        <p:nvSpPr>
          <p:cNvPr id="493" name="Google Shape;493;p21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=0</a:t>
            </a:r>
            <a:endParaRPr/>
          </a:p>
        </p:txBody>
      </p:sp>
      <p:sp>
        <p:nvSpPr>
          <p:cNvPr id="494" name="Google Shape;494;p21"/>
          <p:cNvSpPr/>
          <p:nvPr/>
        </p:nvSpPr>
        <p:spPr>
          <a:xfrm>
            <a:off x="3581400" y="2127637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00" name="Google Shape;500;p2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501" name="Google Shape;501;p2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02" name="Google Shape;502;p2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3" name="Google Shape;503;p2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504" name="Google Shape;50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5" name="Google Shape;505;p22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06" name="Google Shape;506;p22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leftSum=-inf</a:t>
            </a:r>
            <a:endParaRPr/>
          </a:p>
        </p:txBody>
      </p:sp>
      <p:sp>
        <p:nvSpPr>
          <p:cNvPr id="507" name="Google Shape;507;p22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=0</a:t>
            </a:r>
            <a:endParaRPr/>
          </a:p>
        </p:txBody>
      </p:sp>
      <p:sp>
        <p:nvSpPr>
          <p:cNvPr id="508" name="Google Shape;508;p22"/>
          <p:cNvSpPr/>
          <p:nvPr/>
        </p:nvSpPr>
        <p:spPr>
          <a:xfrm>
            <a:off x="3581400" y="2127637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8465270" y="3261674"/>
            <a:ext cx="414779" cy="59056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15" name="Google Shape;515;p2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516" name="Google Shape;516;p2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17" name="Google Shape;517;p2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8" name="Google Shape;518;p2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519" name="Google Shape;5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20" name="Google Shape;520;p23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21" name="Google Shape;521;p23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leftSum=-inf</a:t>
            </a:r>
            <a:endParaRPr/>
          </a:p>
        </p:txBody>
      </p:sp>
      <p:sp>
        <p:nvSpPr>
          <p:cNvPr id="522" name="Google Shape;522;p23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=20</a:t>
            </a:r>
            <a:endParaRPr/>
          </a:p>
        </p:txBody>
      </p:sp>
      <p:sp>
        <p:nvSpPr>
          <p:cNvPr id="523" name="Google Shape;523;p23"/>
          <p:cNvSpPr/>
          <p:nvPr/>
        </p:nvSpPr>
        <p:spPr>
          <a:xfrm>
            <a:off x="3581400" y="2450699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3"/>
          <p:cNvSpPr/>
          <p:nvPr/>
        </p:nvSpPr>
        <p:spPr>
          <a:xfrm>
            <a:off x="8465270" y="3261674"/>
            <a:ext cx="414779" cy="59056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30" name="Google Shape;530;p2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531" name="Google Shape;531;p2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32" name="Google Shape;532;p2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3" name="Google Shape;533;p2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534" name="Google Shape;5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5" name="Google Shape;535;p24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36" name="Google Shape;536;p24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leftSum=-inf</a:t>
            </a:r>
            <a:endParaRPr/>
          </a:p>
        </p:txBody>
      </p:sp>
      <p:sp>
        <p:nvSpPr>
          <p:cNvPr id="537" name="Google Shape;537;p24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=20</a:t>
            </a:r>
            <a:endParaRPr/>
          </a:p>
        </p:txBody>
      </p:sp>
      <p:sp>
        <p:nvSpPr>
          <p:cNvPr id="538" name="Google Shape;538;p24"/>
          <p:cNvSpPr/>
          <p:nvPr/>
        </p:nvSpPr>
        <p:spPr>
          <a:xfrm>
            <a:off x="3284456" y="2854937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4"/>
          <p:cNvSpPr/>
          <p:nvPr/>
        </p:nvSpPr>
        <p:spPr>
          <a:xfrm>
            <a:off x="8465270" y="3261674"/>
            <a:ext cx="414779" cy="59056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45" name="Google Shape;545;p2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546" name="Google Shape;546;p2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47" name="Google Shape;547;p2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8" name="Google Shape;548;p2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549" name="Google Shape;54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0" name="Google Shape;550;p25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51" name="Google Shape;551;p25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leftSum=20</a:t>
            </a:r>
            <a:endParaRPr/>
          </a:p>
        </p:txBody>
      </p:sp>
      <p:sp>
        <p:nvSpPr>
          <p:cNvPr id="552" name="Google Shape;552;p25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=20</a:t>
            </a:r>
            <a:endParaRPr/>
          </a:p>
        </p:txBody>
      </p:sp>
      <p:sp>
        <p:nvSpPr>
          <p:cNvPr id="553" name="Google Shape;553;p25"/>
          <p:cNvSpPr/>
          <p:nvPr/>
        </p:nvSpPr>
        <p:spPr>
          <a:xfrm>
            <a:off x="3543546" y="3005766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5"/>
          <p:cNvSpPr/>
          <p:nvPr/>
        </p:nvSpPr>
        <p:spPr>
          <a:xfrm>
            <a:off x="8465270" y="3261674"/>
            <a:ext cx="414779" cy="59056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60" name="Google Shape;560;p2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561" name="Google Shape;561;p2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62" name="Google Shape;562;p2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3" name="Google Shape;563;p2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564" name="Google Shape;5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6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66" name="Google Shape;566;p26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leftSum=20</a:t>
            </a:r>
            <a:endParaRPr/>
          </a:p>
        </p:txBody>
      </p:sp>
      <p:sp>
        <p:nvSpPr>
          <p:cNvPr id="567" name="Google Shape;567;p26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=20</a:t>
            </a:r>
            <a:endParaRPr/>
          </a:p>
        </p:txBody>
      </p:sp>
      <p:sp>
        <p:nvSpPr>
          <p:cNvPr id="568" name="Google Shape;568;p26"/>
          <p:cNvSpPr/>
          <p:nvPr/>
        </p:nvSpPr>
        <p:spPr>
          <a:xfrm>
            <a:off x="3213608" y="3400777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6"/>
          <p:cNvSpPr/>
          <p:nvPr/>
        </p:nvSpPr>
        <p:spPr>
          <a:xfrm>
            <a:off x="8465270" y="3261674"/>
            <a:ext cx="414779" cy="59056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6"/>
          <p:cNvSpPr/>
          <p:nvPr/>
        </p:nvSpPr>
        <p:spPr>
          <a:xfrm>
            <a:off x="8262422" y="1008684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maxLeft=4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76" name="Google Shape;576;p2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577" name="Google Shape;577;p2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78" name="Google Shape;578;p2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9" name="Google Shape;579;p2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580" name="Google Shape;5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81" name="Google Shape;581;p27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82" name="Google Shape;582;p27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leftSum=20</a:t>
            </a:r>
            <a:endParaRPr/>
          </a:p>
        </p:txBody>
      </p:sp>
      <p:sp>
        <p:nvSpPr>
          <p:cNvPr id="583" name="Google Shape;583;p27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=20</a:t>
            </a:r>
            <a:endParaRPr/>
          </a:p>
        </p:txBody>
      </p:sp>
      <p:sp>
        <p:nvSpPr>
          <p:cNvPr id="584" name="Google Shape;584;p27"/>
          <p:cNvSpPr/>
          <p:nvPr/>
        </p:nvSpPr>
        <p:spPr>
          <a:xfrm>
            <a:off x="3581400" y="2197290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7"/>
          <p:cNvSpPr/>
          <p:nvPr/>
        </p:nvSpPr>
        <p:spPr>
          <a:xfrm>
            <a:off x="7729193" y="3163634"/>
            <a:ext cx="414779" cy="59056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7"/>
          <p:cNvSpPr/>
          <p:nvPr/>
        </p:nvSpPr>
        <p:spPr>
          <a:xfrm>
            <a:off x="8262422" y="1008684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maxLeft=4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592" name="Google Shape;592;p2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593" name="Google Shape;593;p2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94" name="Google Shape;594;p2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5" name="Google Shape;595;p2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596" name="Google Shape;59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97" name="Google Shape;597;p28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98" name="Google Shape;598;p28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leftSum=20</a:t>
            </a:r>
            <a:endParaRPr/>
          </a:p>
        </p:txBody>
      </p:sp>
      <p:sp>
        <p:nvSpPr>
          <p:cNvPr id="599" name="Google Shape;599;p28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=38</a:t>
            </a:r>
            <a:endParaRPr/>
          </a:p>
        </p:txBody>
      </p:sp>
      <p:sp>
        <p:nvSpPr>
          <p:cNvPr id="600" name="Google Shape;600;p28"/>
          <p:cNvSpPr/>
          <p:nvPr/>
        </p:nvSpPr>
        <p:spPr>
          <a:xfrm>
            <a:off x="3444712" y="2450699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8"/>
          <p:cNvSpPr/>
          <p:nvPr/>
        </p:nvSpPr>
        <p:spPr>
          <a:xfrm>
            <a:off x="7729193" y="3163634"/>
            <a:ext cx="414779" cy="59056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8"/>
          <p:cNvSpPr/>
          <p:nvPr/>
        </p:nvSpPr>
        <p:spPr>
          <a:xfrm>
            <a:off x="8262422" y="1008684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maxLeft=4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608" name="Google Shape;608;p2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609" name="Google Shape;609;p2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10" name="Google Shape;610;p2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1" name="Google Shape;611;p2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612" name="Google Shape;61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3" name="Google Shape;613;p29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14" name="Google Shape;614;p29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leftSum=20</a:t>
            </a:r>
            <a:endParaRPr/>
          </a:p>
        </p:txBody>
      </p:sp>
      <p:sp>
        <p:nvSpPr>
          <p:cNvPr id="615" name="Google Shape;615;p29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=38</a:t>
            </a:r>
            <a:endParaRPr/>
          </a:p>
        </p:txBody>
      </p:sp>
      <p:sp>
        <p:nvSpPr>
          <p:cNvPr id="616" name="Google Shape;616;p29"/>
          <p:cNvSpPr/>
          <p:nvPr/>
        </p:nvSpPr>
        <p:spPr>
          <a:xfrm>
            <a:off x="3284456" y="2771210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9"/>
          <p:cNvSpPr/>
          <p:nvPr/>
        </p:nvSpPr>
        <p:spPr>
          <a:xfrm>
            <a:off x="7729193" y="3163634"/>
            <a:ext cx="414779" cy="59056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9"/>
          <p:cNvSpPr/>
          <p:nvPr/>
        </p:nvSpPr>
        <p:spPr>
          <a:xfrm>
            <a:off x="8262422" y="1008684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maxLeft=4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624" name="Google Shape;624;p3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625" name="Google Shape;625;p3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26" name="Google Shape;626;p3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7" name="Google Shape;627;p3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628" name="Google Shape;62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29" name="Google Shape;629;p30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30" name="Google Shape;630;p30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leftSum=38</a:t>
            </a:r>
            <a:endParaRPr/>
          </a:p>
        </p:txBody>
      </p:sp>
      <p:sp>
        <p:nvSpPr>
          <p:cNvPr id="631" name="Google Shape;631;p30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=38</a:t>
            </a:r>
            <a:endParaRPr/>
          </a:p>
        </p:txBody>
      </p:sp>
      <p:sp>
        <p:nvSpPr>
          <p:cNvPr id="632" name="Google Shape;632;p30"/>
          <p:cNvSpPr/>
          <p:nvPr/>
        </p:nvSpPr>
        <p:spPr>
          <a:xfrm>
            <a:off x="3661528" y="3127342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0"/>
          <p:cNvSpPr/>
          <p:nvPr/>
        </p:nvSpPr>
        <p:spPr>
          <a:xfrm>
            <a:off x="7729193" y="3163634"/>
            <a:ext cx="414779" cy="59056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0"/>
          <p:cNvSpPr/>
          <p:nvPr/>
        </p:nvSpPr>
        <p:spPr>
          <a:xfrm>
            <a:off x="8262422" y="1008684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maxLeft=4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640" name="Google Shape;640;p3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641" name="Google Shape;641;p3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42" name="Google Shape;642;p3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3" name="Google Shape;643;p3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644" name="Google Shape;64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5" name="Google Shape;645;p31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46" name="Google Shape;646;p31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leftSum=38</a:t>
            </a:r>
            <a:endParaRPr/>
          </a:p>
        </p:txBody>
      </p:sp>
      <p:sp>
        <p:nvSpPr>
          <p:cNvPr id="647" name="Google Shape;647;p31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=38</a:t>
            </a:r>
            <a:endParaRPr/>
          </a:p>
        </p:txBody>
      </p:sp>
      <p:sp>
        <p:nvSpPr>
          <p:cNvPr id="648" name="Google Shape;648;p31"/>
          <p:cNvSpPr/>
          <p:nvPr/>
        </p:nvSpPr>
        <p:spPr>
          <a:xfrm>
            <a:off x="3180761" y="3400777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1"/>
          <p:cNvSpPr/>
          <p:nvPr/>
        </p:nvSpPr>
        <p:spPr>
          <a:xfrm>
            <a:off x="7729193" y="3163634"/>
            <a:ext cx="414779" cy="59056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1"/>
          <p:cNvSpPr/>
          <p:nvPr/>
        </p:nvSpPr>
        <p:spPr>
          <a:xfrm>
            <a:off x="8262422" y="1008684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maxLeft=3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656" name="Google Shape;656;p3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657" name="Google Shape;657;p3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58" name="Google Shape;658;p3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9" name="Google Shape;659;p3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660" name="Google Shape;66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61" name="Google Shape;661;p32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62" name="Google Shape;662;p32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leftSum=38</a:t>
            </a:r>
            <a:endParaRPr/>
          </a:p>
        </p:txBody>
      </p:sp>
      <p:sp>
        <p:nvSpPr>
          <p:cNvPr id="663" name="Google Shape;663;p32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=38</a:t>
            </a:r>
            <a:endParaRPr/>
          </a:p>
        </p:txBody>
      </p:sp>
      <p:sp>
        <p:nvSpPr>
          <p:cNvPr id="664" name="Google Shape;664;p32"/>
          <p:cNvSpPr/>
          <p:nvPr/>
        </p:nvSpPr>
        <p:spPr>
          <a:xfrm>
            <a:off x="3444712" y="2197290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2"/>
          <p:cNvSpPr/>
          <p:nvPr/>
        </p:nvSpPr>
        <p:spPr>
          <a:xfrm>
            <a:off x="7033624" y="3175418"/>
            <a:ext cx="414779" cy="59056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2"/>
          <p:cNvSpPr/>
          <p:nvPr/>
        </p:nvSpPr>
        <p:spPr>
          <a:xfrm>
            <a:off x="8262422" y="1008684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maxLeft=3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672" name="Google Shape;672;p3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673" name="Google Shape;673;p3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74" name="Google Shape;674;p3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5" name="Google Shape;675;p3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676" name="Google Shape;67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77" name="Google Shape;677;p33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78" name="Google Shape;678;p33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leftSum=38</a:t>
            </a:r>
            <a:endParaRPr/>
          </a:p>
        </p:txBody>
      </p:sp>
      <p:sp>
        <p:nvSpPr>
          <p:cNvPr id="679" name="Google Shape;679;p33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=15</a:t>
            </a:r>
            <a:endParaRPr/>
          </a:p>
        </p:txBody>
      </p:sp>
      <p:sp>
        <p:nvSpPr>
          <p:cNvPr id="680" name="Google Shape;680;p33"/>
          <p:cNvSpPr/>
          <p:nvPr/>
        </p:nvSpPr>
        <p:spPr>
          <a:xfrm>
            <a:off x="3581400" y="2450699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3"/>
          <p:cNvSpPr/>
          <p:nvPr/>
        </p:nvSpPr>
        <p:spPr>
          <a:xfrm>
            <a:off x="7033624" y="3175418"/>
            <a:ext cx="414779" cy="59056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3"/>
          <p:cNvSpPr/>
          <p:nvPr/>
        </p:nvSpPr>
        <p:spPr>
          <a:xfrm>
            <a:off x="8262422" y="1008684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maxLeft=3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688" name="Google Shape;688;p3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689" name="Google Shape;689;p3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90" name="Google Shape;690;p3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1" name="Google Shape;691;p3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692" name="Google Shape;69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93" name="Google Shape;693;p34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94" name="Google Shape;694;p34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leftSum=38</a:t>
            </a:r>
            <a:endParaRPr/>
          </a:p>
        </p:txBody>
      </p:sp>
      <p:sp>
        <p:nvSpPr>
          <p:cNvPr id="695" name="Google Shape;695;p34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=15</a:t>
            </a:r>
            <a:endParaRPr/>
          </a:p>
        </p:txBody>
      </p:sp>
      <p:sp>
        <p:nvSpPr>
          <p:cNvPr id="696" name="Google Shape;696;p34"/>
          <p:cNvSpPr/>
          <p:nvPr/>
        </p:nvSpPr>
        <p:spPr>
          <a:xfrm>
            <a:off x="3204328" y="2780637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4"/>
          <p:cNvSpPr/>
          <p:nvPr/>
        </p:nvSpPr>
        <p:spPr>
          <a:xfrm>
            <a:off x="7033624" y="3175418"/>
            <a:ext cx="414779" cy="59056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4"/>
          <p:cNvSpPr/>
          <p:nvPr/>
        </p:nvSpPr>
        <p:spPr>
          <a:xfrm>
            <a:off x="8262422" y="1008684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maxLeft=3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704" name="Google Shape;704;p3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705" name="Google Shape;705;p3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06" name="Google Shape;706;p3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7" name="Google Shape;707;p3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708" name="Google Shape;70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09" name="Google Shape;709;p35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10" name="Google Shape;710;p35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leftSum=38</a:t>
            </a:r>
            <a:endParaRPr/>
          </a:p>
        </p:txBody>
      </p:sp>
      <p:sp>
        <p:nvSpPr>
          <p:cNvPr id="711" name="Google Shape;711;p35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=15</a:t>
            </a:r>
            <a:endParaRPr/>
          </a:p>
        </p:txBody>
      </p:sp>
      <p:sp>
        <p:nvSpPr>
          <p:cNvPr id="712" name="Google Shape;712;p35"/>
          <p:cNvSpPr/>
          <p:nvPr/>
        </p:nvSpPr>
        <p:spPr>
          <a:xfrm>
            <a:off x="3581400" y="2197290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5"/>
          <p:cNvSpPr/>
          <p:nvPr/>
        </p:nvSpPr>
        <p:spPr>
          <a:xfrm>
            <a:off x="6314241" y="3200284"/>
            <a:ext cx="414779" cy="59056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8262422" y="1008684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maxLeft=3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720" name="Google Shape;720;p3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721" name="Google Shape;721;p3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22" name="Google Shape;722;p3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3" name="Google Shape;723;p3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724" name="Google Shape;72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5" name="Google Shape;725;p36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26" name="Google Shape;726;p36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leftSum=38</a:t>
            </a:r>
            <a:endParaRPr/>
          </a:p>
        </p:txBody>
      </p:sp>
      <p:sp>
        <p:nvSpPr>
          <p:cNvPr id="727" name="Google Shape;727;p36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=9</a:t>
            </a:r>
            <a:endParaRPr/>
          </a:p>
        </p:txBody>
      </p:sp>
      <p:sp>
        <p:nvSpPr>
          <p:cNvPr id="728" name="Google Shape;728;p36"/>
          <p:cNvSpPr/>
          <p:nvPr/>
        </p:nvSpPr>
        <p:spPr>
          <a:xfrm>
            <a:off x="3444712" y="2517802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6"/>
          <p:cNvSpPr/>
          <p:nvPr/>
        </p:nvSpPr>
        <p:spPr>
          <a:xfrm>
            <a:off x="6314241" y="3200284"/>
            <a:ext cx="414779" cy="59056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6"/>
          <p:cNvSpPr/>
          <p:nvPr/>
        </p:nvSpPr>
        <p:spPr>
          <a:xfrm>
            <a:off x="8262422" y="1008684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maxLeft=3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736" name="Google Shape;736;p3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737" name="Google Shape;737;p3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38" name="Google Shape;738;p3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9" name="Google Shape;739;p3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740" name="Google Shape;74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41" name="Google Shape;741;p37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42" name="Google Shape;742;p37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leftSum=38</a:t>
            </a:r>
            <a:endParaRPr/>
          </a:p>
        </p:txBody>
      </p:sp>
      <p:sp>
        <p:nvSpPr>
          <p:cNvPr id="743" name="Google Shape;743;p37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=9</a:t>
            </a:r>
            <a:endParaRPr/>
          </a:p>
        </p:txBody>
      </p:sp>
      <p:sp>
        <p:nvSpPr>
          <p:cNvPr id="744" name="Google Shape;744;p37"/>
          <p:cNvSpPr/>
          <p:nvPr/>
        </p:nvSpPr>
        <p:spPr>
          <a:xfrm>
            <a:off x="3581400" y="2197290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7"/>
          <p:cNvSpPr/>
          <p:nvPr/>
        </p:nvSpPr>
        <p:spPr>
          <a:xfrm>
            <a:off x="5785457" y="3133719"/>
            <a:ext cx="414779" cy="59056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7"/>
          <p:cNvSpPr/>
          <p:nvPr/>
        </p:nvSpPr>
        <p:spPr>
          <a:xfrm>
            <a:off x="8262422" y="1008684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maxLeft=3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752" name="Google Shape;752;p3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753" name="Google Shape;753;p3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54" name="Google Shape;754;p3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5" name="Google Shape;755;p3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The Pseudocode</a:t>
            </a:r>
            <a:endParaRPr/>
          </a:p>
        </p:txBody>
      </p:sp>
      <p:pic>
        <p:nvPicPr>
          <p:cNvPr id="756" name="Google Shape;75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883" y="1106514"/>
            <a:ext cx="6059358" cy="51918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7" name="Google Shape;757;p38"/>
          <p:cNvGraphicFramePr/>
          <p:nvPr/>
        </p:nvGraphicFramePr>
        <p:xfrm>
          <a:off x="6314241" y="21972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664125"/>
                <a:gridCol w="664125"/>
                <a:gridCol w="664125"/>
                <a:gridCol w="664125"/>
                <a:gridCol w="664125"/>
                <a:gridCol w="664125"/>
                <a:gridCol w="664125"/>
              </a:tblGrid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-5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4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58" name="Google Shape;758;p38"/>
          <p:cNvSpPr/>
          <p:nvPr/>
        </p:nvSpPr>
        <p:spPr>
          <a:xfrm>
            <a:off x="6479185" y="1018740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leftSum=38</a:t>
            </a:r>
            <a:endParaRPr/>
          </a:p>
        </p:txBody>
      </p:sp>
      <p:sp>
        <p:nvSpPr>
          <p:cNvPr id="759" name="Google Shape;759;p38"/>
          <p:cNvSpPr/>
          <p:nvPr/>
        </p:nvSpPr>
        <p:spPr>
          <a:xfrm>
            <a:off x="6501010" y="1558472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Sum =9</a:t>
            </a:r>
            <a:endParaRPr/>
          </a:p>
        </p:txBody>
      </p:sp>
      <p:sp>
        <p:nvSpPr>
          <p:cNvPr id="760" name="Google Shape;760;p38"/>
          <p:cNvSpPr/>
          <p:nvPr/>
        </p:nvSpPr>
        <p:spPr>
          <a:xfrm>
            <a:off x="3581400" y="2197290"/>
            <a:ext cx="593888" cy="3016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8"/>
          <p:cNvSpPr/>
          <p:nvPr/>
        </p:nvSpPr>
        <p:spPr>
          <a:xfrm>
            <a:off x="5785457" y="3133719"/>
            <a:ext cx="414779" cy="59056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8"/>
          <p:cNvSpPr/>
          <p:nvPr/>
        </p:nvSpPr>
        <p:spPr>
          <a:xfrm>
            <a:off x="8262422" y="1008684"/>
            <a:ext cx="1480009" cy="418337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maxLeft=3</a:t>
            </a:r>
            <a:endParaRPr/>
          </a:p>
        </p:txBody>
      </p:sp>
      <p:sp>
        <p:nvSpPr>
          <p:cNvPr id="763" name="Google Shape;763;p38"/>
          <p:cNvSpPr/>
          <p:nvPr/>
        </p:nvSpPr>
        <p:spPr>
          <a:xfrm>
            <a:off x="4725492" y="4588410"/>
            <a:ext cx="707386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Similarly th</a:t>
            </a:r>
            <a:r>
              <a:rPr lang="en-US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 right sum is determined</a:t>
            </a:r>
            <a:endParaRPr b="0" sz="360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FIND-MAX-CROSSING-SUBARRAY : Θ(</a:t>
            </a: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FIND-MAXIMUM-SUBARRAY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2</a:t>
            </a: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/2) + Θ(</a:t>
            </a: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	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=  Θ(</a:t>
            </a: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1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lg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	(</a:t>
            </a:r>
            <a:r>
              <a:rPr b="0" i="0" lang="en-US" u="none" cap="none" strike="noStrike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similar to merge-sort</a:t>
            </a: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769" name="Google Shape;769;p3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770" name="Google Shape;770;p3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71" name="Google Shape;771;p3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2" name="Google Shape;772;p3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</a:t>
            </a:r>
            <a:endParaRPr/>
          </a:p>
        </p:txBody>
      </p:sp>
      <p:pic>
        <p:nvPicPr>
          <p:cNvPr id="773" name="Google Shape;77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960" y="2805499"/>
            <a:ext cx="6692287" cy="1479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We can determine the time complexity using: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/>
              <a:t>The Iterative Approach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1" lang="en-US"/>
              <a:t>Recursive Tree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Master Theorem</a:t>
            </a:r>
            <a:endParaRPr/>
          </a:p>
        </p:txBody>
      </p:sp>
      <p:sp>
        <p:nvSpPr>
          <p:cNvPr id="779" name="Google Shape;779;p4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780" name="Google Shape;780;p4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81" name="Google Shape;781;p4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2" name="Google Shape;782;p4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788" name="Google Shape;788;p4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89" name="Google Shape;789;p4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0" name="Google Shape;790;p4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(Recursive Tree)</a:t>
            </a:r>
            <a:endParaRPr/>
          </a:p>
        </p:txBody>
      </p:sp>
      <p:sp>
        <p:nvSpPr>
          <p:cNvPr descr="Rectangle: Click to edit Master text styles&#10;Second level&#10;Third level&#10;Fourth level&#10;Fifth level" id="791" name="Google Shape;791;p41"/>
          <p:cNvSpPr/>
          <p:nvPr/>
        </p:nvSpPr>
        <p:spPr>
          <a:xfrm>
            <a:off x="762000" y="1196975"/>
            <a:ext cx="79248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Draw the </a:t>
            </a:r>
            <a:r>
              <a:rPr b="1"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recursion tree </a:t>
            </a: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 the recurrence relation and look for a pattern: </a:t>
            </a:r>
            <a:endParaRPr/>
          </a:p>
        </p:txBody>
      </p:sp>
      <p:pic>
        <p:nvPicPr>
          <p:cNvPr id="792" name="Google Shape;79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5763" y="1806575"/>
            <a:ext cx="3140075" cy="720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3" name="Google Shape;793;p41"/>
          <p:cNvGrpSpPr/>
          <p:nvPr/>
        </p:nvGrpSpPr>
        <p:grpSpPr>
          <a:xfrm>
            <a:off x="4038600" y="3163887"/>
            <a:ext cx="4191000" cy="1785938"/>
            <a:chOff x="384" y="1632"/>
            <a:chExt cx="5184" cy="2208"/>
          </a:xfrm>
        </p:grpSpPr>
        <p:cxnSp>
          <p:nvCxnSpPr>
            <p:cNvPr id="794" name="Google Shape;794;p41"/>
            <p:cNvCxnSpPr>
              <a:stCxn id="795" idx="0"/>
              <a:endCxn id="796" idx="2"/>
            </p:cNvCxnSpPr>
            <p:nvPr/>
          </p:nvCxnSpPr>
          <p:spPr>
            <a:xfrm flipH="1" rot="10800000">
              <a:off x="905" y="2625"/>
              <a:ext cx="6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7" name="Google Shape;797;p41"/>
            <p:cNvCxnSpPr>
              <a:stCxn id="798" idx="0"/>
              <a:endCxn id="796" idx="2"/>
            </p:cNvCxnSpPr>
            <p:nvPr/>
          </p:nvCxnSpPr>
          <p:spPr>
            <a:xfrm rot="10800000">
              <a:off x="1650" y="2625"/>
              <a:ext cx="6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9" name="Google Shape;799;p41"/>
            <p:cNvCxnSpPr>
              <a:stCxn id="800" idx="0"/>
              <a:endCxn id="795" idx="2"/>
            </p:cNvCxnSpPr>
            <p:nvPr/>
          </p:nvCxnSpPr>
          <p:spPr>
            <a:xfrm flipH="1" rot="10800000">
              <a:off x="611" y="3271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1" name="Google Shape;801;p41"/>
            <p:cNvCxnSpPr>
              <a:stCxn id="802" idx="0"/>
              <a:endCxn id="798" idx="2"/>
            </p:cNvCxnSpPr>
            <p:nvPr/>
          </p:nvCxnSpPr>
          <p:spPr>
            <a:xfrm flipH="1" rot="10800000">
              <a:off x="1948" y="3271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3" name="Google Shape;803;p41"/>
            <p:cNvCxnSpPr>
              <a:stCxn id="795" idx="2"/>
              <a:endCxn id="804" idx="0"/>
            </p:cNvCxnSpPr>
            <p:nvPr/>
          </p:nvCxnSpPr>
          <p:spPr>
            <a:xfrm>
              <a:off x="905" y="3194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5" name="Google Shape;805;p41"/>
            <p:cNvCxnSpPr>
              <a:stCxn id="798" idx="2"/>
              <a:endCxn id="806" idx="0"/>
            </p:cNvCxnSpPr>
            <p:nvPr/>
          </p:nvCxnSpPr>
          <p:spPr>
            <a:xfrm>
              <a:off x="2250" y="3194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96" name="Google Shape;796;p41"/>
            <p:cNvSpPr/>
            <p:nvPr/>
          </p:nvSpPr>
          <p:spPr>
            <a:xfrm>
              <a:off x="771" y="2279"/>
              <a:ext cx="1614" cy="269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07" name="Google Shape;807;p41"/>
            <p:cNvSpPr/>
            <p:nvPr/>
          </p:nvSpPr>
          <p:spPr>
            <a:xfrm>
              <a:off x="3555" y="2279"/>
              <a:ext cx="1614" cy="269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808" name="Google Shape;808;p41"/>
            <p:cNvGrpSpPr/>
            <p:nvPr/>
          </p:nvGrpSpPr>
          <p:grpSpPr>
            <a:xfrm>
              <a:off x="468" y="2925"/>
              <a:ext cx="5037" cy="269"/>
              <a:chOff x="468" y="3168"/>
              <a:chExt cx="5037" cy="269"/>
            </a:xfrm>
          </p:grpSpPr>
          <p:sp>
            <p:nvSpPr>
              <p:cNvPr id="795" name="Google Shape;795;p41"/>
              <p:cNvSpPr/>
              <p:nvPr/>
            </p:nvSpPr>
            <p:spPr>
              <a:xfrm>
                <a:off x="468" y="3168"/>
                <a:ext cx="874" cy="269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accent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798" name="Google Shape;798;p41"/>
              <p:cNvSpPr/>
              <p:nvPr/>
            </p:nvSpPr>
            <p:spPr>
              <a:xfrm>
                <a:off x="1779" y="3168"/>
                <a:ext cx="942" cy="269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accent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09" name="Google Shape;809;p41"/>
              <p:cNvSpPr/>
              <p:nvPr/>
            </p:nvSpPr>
            <p:spPr>
              <a:xfrm>
                <a:off x="3252" y="3168"/>
                <a:ext cx="874" cy="269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accent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10" name="Google Shape;810;p41"/>
              <p:cNvSpPr/>
              <p:nvPr/>
            </p:nvSpPr>
            <p:spPr>
              <a:xfrm>
                <a:off x="4563" y="3168"/>
                <a:ext cx="942" cy="269"/>
              </a:xfrm>
              <a:prstGeom prst="roundRect">
                <a:avLst>
                  <a:gd fmla="val 16667" name="adj"/>
                </a:avLst>
              </a:prstGeom>
              <a:solidFill>
                <a:schemeClr val="accen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accent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811" name="Google Shape;811;p41"/>
            <p:cNvGrpSpPr/>
            <p:nvPr/>
          </p:nvGrpSpPr>
          <p:grpSpPr>
            <a:xfrm>
              <a:off x="384" y="3571"/>
              <a:ext cx="5184" cy="269"/>
              <a:chOff x="384" y="3571"/>
              <a:chExt cx="5184" cy="269"/>
            </a:xfrm>
          </p:grpSpPr>
          <p:sp>
            <p:nvSpPr>
              <p:cNvPr id="800" name="Google Shape;800;p41"/>
              <p:cNvSpPr/>
              <p:nvPr/>
            </p:nvSpPr>
            <p:spPr>
              <a:xfrm>
                <a:off x="384" y="3571"/>
                <a:ext cx="454" cy="269"/>
              </a:xfrm>
              <a:prstGeom prst="roundRect">
                <a:avLst>
                  <a:gd fmla="val 16667" name="adj"/>
                </a:avLst>
              </a:prstGeom>
              <a:solidFill>
                <a:schemeClr val="fol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folHlink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04" name="Google Shape;804;p41"/>
              <p:cNvSpPr/>
              <p:nvPr/>
            </p:nvSpPr>
            <p:spPr>
              <a:xfrm>
                <a:off x="1006" y="3571"/>
                <a:ext cx="437" cy="269"/>
              </a:xfrm>
              <a:prstGeom prst="roundRect">
                <a:avLst>
                  <a:gd fmla="val 16667" name="adj"/>
                </a:avLst>
              </a:prstGeom>
              <a:solidFill>
                <a:schemeClr val="fol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folHlink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02" name="Google Shape;802;p41"/>
              <p:cNvSpPr/>
              <p:nvPr/>
            </p:nvSpPr>
            <p:spPr>
              <a:xfrm>
                <a:off x="1725" y="3571"/>
                <a:ext cx="445" cy="269"/>
              </a:xfrm>
              <a:prstGeom prst="roundRect">
                <a:avLst>
                  <a:gd fmla="val 16667" name="adj"/>
                </a:avLst>
              </a:prstGeom>
              <a:solidFill>
                <a:schemeClr val="fol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folHlink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06" name="Google Shape;806;p41"/>
              <p:cNvSpPr/>
              <p:nvPr/>
            </p:nvSpPr>
            <p:spPr>
              <a:xfrm>
                <a:off x="2351" y="3571"/>
                <a:ext cx="433" cy="269"/>
              </a:xfrm>
              <a:prstGeom prst="roundRect">
                <a:avLst>
                  <a:gd fmla="val 16667" name="adj"/>
                </a:avLst>
              </a:prstGeom>
              <a:solidFill>
                <a:schemeClr val="fol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folHlink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12" name="Google Shape;812;p41"/>
              <p:cNvSpPr/>
              <p:nvPr/>
            </p:nvSpPr>
            <p:spPr>
              <a:xfrm>
                <a:off x="3168" y="3571"/>
                <a:ext cx="454" cy="269"/>
              </a:xfrm>
              <a:prstGeom prst="roundRect">
                <a:avLst>
                  <a:gd fmla="val 16667" name="adj"/>
                </a:avLst>
              </a:prstGeom>
              <a:solidFill>
                <a:schemeClr val="fol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folHlink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13" name="Google Shape;813;p41"/>
              <p:cNvSpPr/>
              <p:nvPr/>
            </p:nvSpPr>
            <p:spPr>
              <a:xfrm>
                <a:off x="3790" y="3571"/>
                <a:ext cx="437" cy="269"/>
              </a:xfrm>
              <a:prstGeom prst="roundRect">
                <a:avLst>
                  <a:gd fmla="val 16667" name="adj"/>
                </a:avLst>
              </a:prstGeom>
              <a:solidFill>
                <a:schemeClr val="fol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folHlink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14" name="Google Shape;814;p41"/>
              <p:cNvSpPr/>
              <p:nvPr/>
            </p:nvSpPr>
            <p:spPr>
              <a:xfrm>
                <a:off x="4509" y="3571"/>
                <a:ext cx="445" cy="269"/>
              </a:xfrm>
              <a:prstGeom prst="roundRect">
                <a:avLst>
                  <a:gd fmla="val 16667" name="adj"/>
                </a:avLst>
              </a:prstGeom>
              <a:solidFill>
                <a:schemeClr val="fol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folHlink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15" name="Google Shape;815;p41"/>
              <p:cNvSpPr/>
              <p:nvPr/>
            </p:nvSpPr>
            <p:spPr>
              <a:xfrm>
                <a:off x="5135" y="3571"/>
                <a:ext cx="433" cy="269"/>
              </a:xfrm>
              <a:prstGeom prst="roundRect">
                <a:avLst>
                  <a:gd fmla="val 16667" name="adj"/>
                </a:avLst>
              </a:prstGeom>
              <a:solidFill>
                <a:schemeClr val="fol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folHlink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cxnSp>
          <p:nvCxnSpPr>
            <p:cNvPr id="816" name="Google Shape;816;p41"/>
            <p:cNvCxnSpPr>
              <a:stCxn id="809" idx="0"/>
              <a:endCxn id="807" idx="2"/>
            </p:cNvCxnSpPr>
            <p:nvPr/>
          </p:nvCxnSpPr>
          <p:spPr>
            <a:xfrm flipH="1" rot="10800000">
              <a:off x="3689" y="2625"/>
              <a:ext cx="6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7" name="Google Shape;817;p41"/>
            <p:cNvCxnSpPr>
              <a:stCxn id="810" idx="0"/>
              <a:endCxn id="807" idx="2"/>
            </p:cNvCxnSpPr>
            <p:nvPr/>
          </p:nvCxnSpPr>
          <p:spPr>
            <a:xfrm rot="10800000">
              <a:off x="4434" y="2625"/>
              <a:ext cx="6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8" name="Google Shape;818;p41"/>
            <p:cNvCxnSpPr>
              <a:stCxn id="812" idx="0"/>
              <a:endCxn id="809" idx="2"/>
            </p:cNvCxnSpPr>
            <p:nvPr/>
          </p:nvCxnSpPr>
          <p:spPr>
            <a:xfrm flipH="1" rot="10800000">
              <a:off x="3395" y="3271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19" name="Google Shape;819;p41"/>
            <p:cNvCxnSpPr>
              <a:stCxn id="814" idx="0"/>
              <a:endCxn id="810" idx="2"/>
            </p:cNvCxnSpPr>
            <p:nvPr/>
          </p:nvCxnSpPr>
          <p:spPr>
            <a:xfrm flipH="1" rot="10800000">
              <a:off x="4732" y="3271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0" name="Google Shape;820;p41"/>
            <p:cNvCxnSpPr>
              <a:stCxn id="809" idx="2"/>
              <a:endCxn id="813" idx="0"/>
            </p:cNvCxnSpPr>
            <p:nvPr/>
          </p:nvCxnSpPr>
          <p:spPr>
            <a:xfrm>
              <a:off x="3689" y="3194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1" name="Google Shape;821;p41"/>
            <p:cNvCxnSpPr>
              <a:stCxn id="810" idx="2"/>
              <a:endCxn id="815" idx="0"/>
            </p:cNvCxnSpPr>
            <p:nvPr/>
          </p:nvCxnSpPr>
          <p:spPr>
            <a:xfrm>
              <a:off x="5034" y="3194"/>
              <a:ext cx="3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2" name="Google Shape;822;p41"/>
            <p:cNvSpPr/>
            <p:nvPr/>
          </p:nvSpPr>
          <p:spPr>
            <a:xfrm>
              <a:off x="1440" y="1632"/>
              <a:ext cx="3072" cy="271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823" name="Google Shape;823;p41"/>
            <p:cNvCxnSpPr>
              <a:stCxn id="796" idx="0"/>
              <a:endCxn id="822" idx="2"/>
            </p:cNvCxnSpPr>
            <p:nvPr/>
          </p:nvCxnSpPr>
          <p:spPr>
            <a:xfrm flipH="1" rot="10800000">
              <a:off x="1578" y="1979"/>
              <a:ext cx="15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24" name="Google Shape;824;p41"/>
            <p:cNvCxnSpPr>
              <a:stCxn id="807" idx="0"/>
              <a:endCxn id="822" idx="2"/>
            </p:cNvCxnSpPr>
            <p:nvPr/>
          </p:nvCxnSpPr>
          <p:spPr>
            <a:xfrm rot="10800000">
              <a:off x="2862" y="1979"/>
              <a:ext cx="1500" cy="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825" name="Google Shape;825;p41"/>
          <p:cNvGraphicFramePr/>
          <p:nvPr/>
        </p:nvGraphicFramePr>
        <p:xfrm>
          <a:off x="8035874" y="26813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{868FC11F-FE77-4ACE-B6F6-A7261129B311}</a:tableStyleId>
              </a:tblPr>
              <a:tblGrid>
                <a:gridCol w="382795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Time for max crossing sub array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bn:(bn/2+bn/2)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bn:(bn/4+bn/4+bn/4+bn/4)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…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6" name="Google Shape;826;p41"/>
          <p:cNvGraphicFramePr/>
          <p:nvPr/>
        </p:nvGraphicFramePr>
        <p:xfrm>
          <a:off x="1494233" y="23622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{868FC11F-FE77-4ACE-B6F6-A7261129B311}</a:tableStyleId>
              </a:tblPr>
              <a:tblGrid>
                <a:gridCol w="757575"/>
                <a:gridCol w="757575"/>
                <a:gridCol w="757575"/>
              </a:tblGrid>
              <a:tr h="343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depth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T’s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size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8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3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/</a:t>
                      </a: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b="1" baseline="30000" i="1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…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…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…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0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r>
                        <a:rPr b="1" baseline="30000" i="1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 b="0" baseline="30000" i="0" sz="18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1350"/>
                        <a:buFont typeface="Arial"/>
                        <a:buNone/>
                      </a:pPr>
                      <a:r>
                        <a:rPr b="1" i="1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/</a:t>
                      </a: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r>
                        <a:rPr b="1" baseline="30000" i="1" lang="en-US" sz="18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7" name="Google Shape;827;p41"/>
          <p:cNvSpPr txBox="1"/>
          <p:nvPr/>
        </p:nvSpPr>
        <p:spPr>
          <a:xfrm>
            <a:off x="1585468" y="5717058"/>
            <a:ext cx="26972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Total time = </a:t>
            </a:r>
            <a:r>
              <a:rPr i="1"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 * </a:t>
            </a: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bn</a:t>
            </a:r>
            <a:endParaRPr/>
          </a:p>
        </p:txBody>
      </p:sp>
      <p:sp>
        <p:nvSpPr>
          <p:cNvPr id="828" name="Google Shape;828;p41"/>
          <p:cNvSpPr txBox="1"/>
          <p:nvPr/>
        </p:nvSpPr>
        <p:spPr>
          <a:xfrm>
            <a:off x="8229600" y="5648641"/>
            <a:ext cx="26972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T(n) = bnlog n +bn </a:t>
            </a:r>
            <a:endParaRPr/>
          </a:p>
        </p:txBody>
      </p:sp>
      <p:sp>
        <p:nvSpPr>
          <p:cNvPr id="829" name="Google Shape;829;p41"/>
          <p:cNvSpPr txBox="1"/>
          <p:nvPr/>
        </p:nvSpPr>
        <p:spPr>
          <a:xfrm>
            <a:off x="5509066" y="5648642"/>
            <a:ext cx="17217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= log n.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4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835" name="Google Shape;835;p4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36" name="Google Shape;836;p4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7" name="Google Shape;837;p4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(Iterative Approach)</a:t>
            </a:r>
            <a:endParaRPr/>
          </a:p>
        </p:txBody>
      </p:sp>
      <p:pic>
        <p:nvPicPr>
          <p:cNvPr id="838" name="Google Shape;83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300" y="1079500"/>
            <a:ext cx="3908425" cy="2976563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42"/>
          <p:cNvSpPr/>
          <p:nvPr/>
        </p:nvSpPr>
        <p:spPr>
          <a:xfrm>
            <a:off x="1170574" y="4648200"/>
            <a:ext cx="6697662" cy="2027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6764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</a:pPr>
            <a:r>
              <a:rPr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 that base, </a:t>
            </a:r>
            <a:r>
              <a:rPr i="1"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i="1"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=b</a:t>
            </a:r>
            <a:r>
              <a:rPr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case occurs when 2</a:t>
            </a:r>
            <a:r>
              <a:rPr baseline="30000" i="1"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i="1"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rPr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That is, </a:t>
            </a:r>
            <a:r>
              <a:rPr i="1"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log </a:t>
            </a:r>
            <a:r>
              <a:rPr i="1"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-16764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</a:pPr>
            <a:r>
              <a:rPr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None/>
            </a:pPr>
            <a:r>
              <a:t/>
            </a:r>
            <a:endParaRPr sz="2400">
              <a:solidFill>
                <a:srgbClr val="40458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764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640"/>
              <a:buFont typeface="Noto Sans Symbols"/>
              <a:buChar char="•"/>
            </a:pPr>
            <a:r>
              <a:rPr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Thus, </a:t>
            </a:r>
            <a:r>
              <a:rPr i="1"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is </a:t>
            </a:r>
            <a:r>
              <a:rPr i="1"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 </a:t>
            </a:r>
            <a:r>
              <a:rPr i="1"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00">
                <a:solidFill>
                  <a:srgbClr val="40458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/>
          </a:p>
        </p:txBody>
      </p:sp>
      <p:pic>
        <p:nvPicPr>
          <p:cNvPr id="840" name="Google Shape;84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7967" y="5450680"/>
            <a:ext cx="2611438" cy="4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COUNT EVEN NUMBERS</a:t>
            </a:r>
            <a:endParaRPr/>
          </a:p>
        </p:txBody>
      </p:sp>
      <p:sp>
        <p:nvSpPr>
          <p:cNvPr id="846" name="Google Shape;846;p4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847" name="Google Shape;847;p4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848" name="Google Shape;848;p4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49" name="Google Shape;849;p4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Try the simulation yourself first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rPr lang="en-US"/>
              <a:t>Determine time complexity</a:t>
            </a:r>
            <a:endParaRPr/>
          </a:p>
        </p:txBody>
      </p:sp>
      <p:sp>
        <p:nvSpPr>
          <p:cNvPr id="855" name="Google Shape;855;p4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856" name="Google Shape;856;p4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57" name="Google Shape;857;p4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8" name="Google Shape;858;p4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Count Even Numbers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4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00"/>
              <a:buAutoNum type="arabicPeriod"/>
            </a:pPr>
            <a:r>
              <a:rPr lang="en-US"/>
              <a:t>You are given an array P [1..100], where an index is marked as 1 if it is a prime number or 0 if it is not a prime number (see the array below for reference).  Determine the total number of prime numbers in a given array using a divide and conquer algorithm. Draw the recursive tree and write the pseudocode.</a:t>
            </a:r>
            <a:endParaRPr/>
          </a:p>
          <a:p>
            <a:pPr indent="-373380" lvl="0" marL="51435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/>
          </a:p>
          <a:p>
            <a:pPr indent="-373380" lvl="0" marL="51435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AutoNum type="arabicPeriod"/>
            </a:pPr>
            <a:r>
              <a:rPr b="1" lang="en-US"/>
              <a:t>MergeSort</a:t>
            </a:r>
            <a:r>
              <a:rPr lang="en-US"/>
              <a:t> (Done in DSA I – materials will be given in lms for revision)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AutoNum type="arabicPeriod"/>
            </a:pPr>
            <a:r>
              <a:rPr b="1" lang="en-US"/>
              <a:t>QuickSort</a:t>
            </a:r>
            <a:r>
              <a:rPr lang="en-US"/>
              <a:t> (Done in DSA I) (Done in DSA I – materials will be given in lms for revision)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864" name="Google Shape;864;p4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865" name="Google Shape;865;p4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66" name="Google Shape;866;p4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7" name="Google Shape;867;p4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Similar Problems</a:t>
            </a:r>
            <a:endParaRPr/>
          </a:p>
        </p:txBody>
      </p:sp>
      <p:graphicFrame>
        <p:nvGraphicFramePr>
          <p:cNvPr id="868" name="Google Shape;868;p49"/>
          <p:cNvGraphicFramePr/>
          <p:nvPr/>
        </p:nvGraphicFramePr>
        <p:xfrm>
          <a:off x="2032000" y="3200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{8DEE7AC1-399C-4376-8548-5C3429A4A108}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  <a:gridCol w="812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.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0513" lvl="0" marL="2905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3200"/>
              <a:t>This </a:t>
            </a:r>
            <a:r>
              <a:rPr lang="en-US" sz="3200">
                <a:solidFill>
                  <a:srgbClr val="000000"/>
                </a:solidFill>
              </a:rPr>
              <a:t>Divide and conquer </a:t>
            </a:r>
            <a:r>
              <a:rPr lang="en-US" sz="3200"/>
              <a:t>algorithm is clearly substantially </a:t>
            </a:r>
            <a:r>
              <a:rPr b="1" lang="en-US" sz="3200"/>
              <a:t>faster</a:t>
            </a:r>
            <a:r>
              <a:rPr lang="en-US" sz="3200"/>
              <a:t> than any of </a:t>
            </a:r>
            <a:r>
              <a:rPr b="1" lang="en-US" sz="3200"/>
              <a:t>the brute-force methods</a:t>
            </a:r>
            <a:r>
              <a:rPr lang="en-US" sz="3200"/>
              <a:t>.  It required some cleverness, and the programming is a little more complicated – but the payoff is large.</a:t>
            </a:r>
            <a:endParaRPr/>
          </a:p>
          <a:p>
            <a:pPr indent="-87313" lvl="0" marL="290513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</a:endParaRPr>
          </a:p>
          <a:p>
            <a:pPr indent="-290513" lvl="0" marL="290513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</a:rPr>
              <a:t>Divide and conquer is just </a:t>
            </a:r>
            <a:r>
              <a:rPr b="1" i="0" lang="en-US" sz="3200" u="none" cap="none" strike="noStrike">
                <a:solidFill>
                  <a:schemeClr val="dk1"/>
                </a:solidFill>
              </a:rPr>
              <a:t>one of several powerful </a:t>
            </a:r>
            <a:r>
              <a:rPr b="0" i="0" lang="en-US" sz="3200" u="none" cap="none" strike="noStrike">
                <a:solidFill>
                  <a:schemeClr val="dk1"/>
                </a:solidFill>
              </a:rPr>
              <a:t>techniques for algorithm design</a:t>
            </a:r>
            <a:endParaRPr/>
          </a:p>
          <a:p>
            <a:pPr indent="-290513" lvl="0" marL="290513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</a:rPr>
              <a:t>Divide-and-conquer algorithms can be </a:t>
            </a:r>
            <a:r>
              <a:rPr b="1" i="0" lang="en-US" sz="3200" u="none" cap="none" strike="noStrike">
                <a:solidFill>
                  <a:schemeClr val="dk1"/>
                </a:solidFill>
              </a:rPr>
              <a:t>analyzed</a:t>
            </a:r>
            <a:r>
              <a:rPr b="0" i="0" lang="en-US" sz="3200" u="none" cap="none" strike="noStrike">
                <a:solidFill>
                  <a:schemeClr val="dk1"/>
                </a:solidFill>
              </a:rPr>
              <a:t> </a:t>
            </a:r>
            <a:r>
              <a:rPr b="1" i="0" lang="en-US" sz="3200" u="none" cap="none" strike="noStrike">
                <a:solidFill>
                  <a:schemeClr val="dk1"/>
                </a:solidFill>
              </a:rPr>
              <a:t>using</a:t>
            </a:r>
            <a:r>
              <a:rPr b="0" i="0" lang="en-US" sz="3200" u="none" cap="none" strike="noStrike">
                <a:solidFill>
                  <a:schemeClr val="dk1"/>
                </a:solidFill>
              </a:rPr>
              <a:t> recurrences</a:t>
            </a:r>
            <a:endParaRPr/>
          </a:p>
          <a:p>
            <a:pPr indent="-20320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</a:rPr>
              <a:t>  </a:t>
            </a:r>
            <a:r>
              <a:rPr b="0" i="0" lang="en-US" sz="3200" u="none" cap="none" strike="noStrike">
                <a:solidFill>
                  <a:schemeClr val="dk1"/>
                </a:solidFill>
              </a:rPr>
              <a:t>Can lead to </a:t>
            </a:r>
            <a:r>
              <a:rPr b="1" i="0" lang="en-US" sz="3200" u="none" cap="none" strike="noStrike">
                <a:solidFill>
                  <a:schemeClr val="dk1"/>
                </a:solidFill>
              </a:rPr>
              <a:t>more efficient algorithms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874" name="Google Shape;874;p5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875" name="Google Shape;875;p5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76" name="Google Shape;876;p5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7" name="Google Shape;877;p5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Conclusion: Divide-and-Conquer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5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883" name="Google Shape;883;p5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84" name="Google Shape;884;p5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September 26, 2023</a:t>
            </a:r>
            <a:endParaRPr/>
          </a:p>
        </p:txBody>
      </p:sp>
      <p:sp>
        <p:nvSpPr>
          <p:cNvPr id="885" name="Google Shape;885;p5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86" name="Google Shape;886;p5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