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9144000"/>
  <p:embeddedFontLs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g/Q6m94s8U8CgEZRAjLpqcdqrf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10E1CD-4BC4-4C36-955B-15577B7721FE}">
  <a:tblStyle styleId="{6410E1CD-4BC4-4C36-955B-15577B7721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Tahoma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0" name="Google Shape;4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52" name="Google Shape;5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09" name="Google Shape;70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38" name="Google Shape;73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66" name="Google Shape;7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97" name="Google Shape;7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03" name="Google Shape;80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31" name="Google Shape;83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37" name="Google Shape;83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43" name="Google Shape;84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89" name="Google Shape;88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7" name="Google Shape;91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8" name="Google Shape;94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1" name="Google Shape;97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8" name="Google Shape;97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3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3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3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3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3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" name="Google Shape;45;p3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6" name="Google Shape;46;p3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3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39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5" name="Google Shape;55;p3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6" name="Google Shape;56;p3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" name="Google Shape;57;p3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40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7" name="Google Shape;67;p4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8" name="Google Shape;68;p4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4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4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5.jpg"/><Relationship Id="rId6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5.jpg"/><Relationship Id="rId6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The Greedy Algorithmic Strategy</a:t>
            </a:r>
            <a:endParaRPr/>
          </a:p>
        </p:txBody>
      </p:sp>
      <p:sp>
        <p:nvSpPr>
          <p:cNvPr id="111" name="Google Shape;111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112" name="Google Shape;112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3" name="Google Shape;113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We have seen that optimization problems are solved in several steps</a:t>
            </a:r>
            <a:endParaRPr/>
          </a:p>
          <a:p>
            <a:pPr indent="-27940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There are different ways in which we can solve optimization problems: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Dynamic Programming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Greedy Method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Branch and Bound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120" name="Google Shape;120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1" name="Google Shape;121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We have been solving optimization problems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128" name="Google Shape;128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Recall the 0/1 Knapsack Problem</a:t>
            </a:r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5873612" y="917963"/>
            <a:ext cx="6208501" cy="1456348"/>
            <a:chOff x="6041448" y="52725"/>
            <a:chExt cx="6205874" cy="1628918"/>
          </a:xfrm>
        </p:grpSpPr>
        <p:pic>
          <p:nvPicPr>
            <p:cNvPr descr="Buy Fake Gold Bar Bullion Door Stop/Paperweight for Home Office Decoration  Online at desertcart Bangladesh" id="132" name="Google Shape;13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04845" y="219278"/>
              <a:ext cx="658019" cy="5831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133" name="Google Shape;13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91478" y="219278"/>
              <a:ext cx="991348" cy="6062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134" name="Google Shape;13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41448" y="52725"/>
              <a:ext cx="797749" cy="8201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135" name="Google Shape;135;p3"/>
            <p:cNvPicPr preferRelativeResize="0"/>
            <p:nvPr/>
          </p:nvPicPr>
          <p:blipFill rotWithShape="1">
            <a:blip r:embed="rId6">
              <a:alphaModFix/>
            </a:blip>
            <a:srcRect b="0" l="0" r="0" t="7012"/>
            <a:stretch/>
          </p:blipFill>
          <p:spPr>
            <a:xfrm>
              <a:off x="9141990" y="112742"/>
              <a:ext cx="1686332" cy="8447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3"/>
            <p:cNvSpPr txBox="1"/>
            <p:nvPr/>
          </p:nvSpPr>
          <p:spPr>
            <a:xfrm>
              <a:off x="6087292" y="908531"/>
              <a:ext cx="5245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7614641" y="646030"/>
              <a:ext cx="587020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9387681" y="649411"/>
              <a:ext cx="554960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11660302" y="613194"/>
              <a:ext cx="587020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6087292" y="1343089"/>
              <a:ext cx="5389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7614641" y="1343089"/>
              <a:ext cx="5389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9407136" y="1343089"/>
              <a:ext cx="5389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11587039" y="1343089"/>
              <a:ext cx="6602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3"/>
          <p:cNvSpPr/>
          <p:nvPr/>
        </p:nvSpPr>
        <p:spPr>
          <a:xfrm>
            <a:off x="4127807" y="1717005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k(5,4)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2945998" y="270746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6734221" y="292105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k(0,3)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3"/>
          <p:cNvCxnSpPr>
            <a:stCxn id="144" idx="2"/>
            <a:endCxn id="145" idx="0"/>
          </p:cNvCxnSpPr>
          <p:nvPr/>
        </p:nvCxnSpPr>
        <p:spPr>
          <a:xfrm flipH="1">
            <a:off x="3451625" y="2160350"/>
            <a:ext cx="1181700" cy="54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" name="Google Shape;148;p3"/>
          <p:cNvCxnSpPr>
            <a:stCxn id="144" idx="2"/>
            <a:endCxn id="146" idx="0"/>
          </p:cNvCxnSpPr>
          <p:nvPr/>
        </p:nvCxnSpPr>
        <p:spPr>
          <a:xfrm>
            <a:off x="4633325" y="2160350"/>
            <a:ext cx="2606400" cy="76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9" name="Google Shape;149;p3"/>
          <p:cNvSpPr txBox="1"/>
          <p:nvPr/>
        </p:nvSpPr>
        <p:spPr>
          <a:xfrm>
            <a:off x="6672974" y="237460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4633325" y="236923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2080538" y="3641053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3"/>
          <p:cNvCxnSpPr>
            <a:stCxn id="145" idx="2"/>
            <a:endCxn id="151" idx="0"/>
          </p:cNvCxnSpPr>
          <p:nvPr/>
        </p:nvCxnSpPr>
        <p:spPr>
          <a:xfrm flipH="1">
            <a:off x="2586016" y="3150806"/>
            <a:ext cx="865500" cy="490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3" name="Google Shape;153;p3"/>
          <p:cNvSpPr txBox="1"/>
          <p:nvPr/>
        </p:nvSpPr>
        <p:spPr>
          <a:xfrm>
            <a:off x="3495609" y="3456387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114293" y="3685825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3"/>
          <p:cNvCxnSpPr>
            <a:stCxn id="145" idx="2"/>
            <a:endCxn id="154" idx="0"/>
          </p:cNvCxnSpPr>
          <p:nvPr/>
        </p:nvCxnSpPr>
        <p:spPr>
          <a:xfrm>
            <a:off x="3451516" y="3150806"/>
            <a:ext cx="3168300" cy="534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" name="Google Shape;156;p3"/>
          <p:cNvSpPr txBox="1"/>
          <p:nvPr/>
        </p:nvSpPr>
        <p:spPr>
          <a:xfrm>
            <a:off x="5620433" y="322092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5784495" y="468531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3"/>
          <p:cNvCxnSpPr>
            <a:stCxn id="154" idx="2"/>
            <a:endCxn id="157" idx="0"/>
          </p:cNvCxnSpPr>
          <p:nvPr/>
        </p:nvCxnSpPr>
        <p:spPr>
          <a:xfrm flipH="1">
            <a:off x="6290111" y="4129170"/>
            <a:ext cx="329700" cy="55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9" name="Google Shape;159;p3"/>
          <p:cNvSpPr txBox="1"/>
          <p:nvPr/>
        </p:nvSpPr>
        <p:spPr>
          <a:xfrm>
            <a:off x="6069782" y="425152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3"/>
          <p:cNvCxnSpPr>
            <a:stCxn id="154" idx="2"/>
            <a:endCxn id="161" idx="0"/>
          </p:cNvCxnSpPr>
          <p:nvPr/>
        </p:nvCxnSpPr>
        <p:spPr>
          <a:xfrm>
            <a:off x="6619811" y="4129170"/>
            <a:ext cx="1899000" cy="1538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2" name="Google Shape;162;p3"/>
          <p:cNvSpPr txBox="1"/>
          <p:nvPr/>
        </p:nvSpPr>
        <p:spPr>
          <a:xfrm>
            <a:off x="7630080" y="4685317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8013260" y="566789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k(1-3,1)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864965" y="470138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3"/>
          <p:cNvCxnSpPr>
            <a:stCxn id="151" idx="2"/>
            <a:endCxn id="165" idx="0"/>
          </p:cNvCxnSpPr>
          <p:nvPr/>
        </p:nvCxnSpPr>
        <p:spPr>
          <a:xfrm>
            <a:off x="2586056" y="4084398"/>
            <a:ext cx="1133400" cy="57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5" name="Google Shape;165;p3"/>
          <p:cNvSpPr/>
          <p:nvPr/>
        </p:nvSpPr>
        <p:spPr>
          <a:xfrm>
            <a:off x="3213934" y="4664374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k(2,1)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3"/>
          <p:cNvCxnSpPr>
            <a:stCxn id="151" idx="2"/>
            <a:endCxn id="163" idx="0"/>
          </p:cNvCxnSpPr>
          <p:nvPr/>
        </p:nvCxnSpPr>
        <p:spPr>
          <a:xfrm flipH="1">
            <a:off x="1370456" y="4084398"/>
            <a:ext cx="1215600" cy="617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7" name="Google Shape;167;p3"/>
          <p:cNvSpPr txBox="1"/>
          <p:nvPr/>
        </p:nvSpPr>
        <p:spPr>
          <a:xfrm>
            <a:off x="1602290" y="418963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76727" y="567521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1544044" y="568678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k(3,0)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3"/>
          <p:cNvCxnSpPr>
            <a:stCxn id="163" idx="2"/>
            <a:endCxn id="168" idx="0"/>
          </p:cNvCxnSpPr>
          <p:nvPr/>
        </p:nvCxnSpPr>
        <p:spPr>
          <a:xfrm flipH="1">
            <a:off x="582383" y="5144726"/>
            <a:ext cx="788100" cy="530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1" name="Google Shape;171;p3"/>
          <p:cNvCxnSpPr>
            <a:stCxn id="163" idx="2"/>
            <a:endCxn id="169" idx="0"/>
          </p:cNvCxnSpPr>
          <p:nvPr/>
        </p:nvCxnSpPr>
        <p:spPr>
          <a:xfrm>
            <a:off x="1370483" y="5144726"/>
            <a:ext cx="679200" cy="54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2" name="Google Shape;172;p3"/>
          <p:cNvSpPr txBox="1"/>
          <p:nvPr/>
        </p:nvSpPr>
        <p:spPr>
          <a:xfrm>
            <a:off x="483109" y="514472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1738352" y="5183254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790593" y="5675215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k(2,0)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4015580" y="5668373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k(0,0)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3"/>
          <p:cNvCxnSpPr>
            <a:stCxn id="165" idx="2"/>
            <a:endCxn id="174" idx="0"/>
          </p:cNvCxnSpPr>
          <p:nvPr/>
        </p:nvCxnSpPr>
        <p:spPr>
          <a:xfrm flipH="1">
            <a:off x="3296152" y="5107719"/>
            <a:ext cx="423300" cy="56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" name="Google Shape;177;p3"/>
          <p:cNvCxnSpPr>
            <a:stCxn id="165" idx="2"/>
            <a:endCxn id="175" idx="0"/>
          </p:cNvCxnSpPr>
          <p:nvPr/>
        </p:nvCxnSpPr>
        <p:spPr>
          <a:xfrm>
            <a:off x="3719452" y="5107719"/>
            <a:ext cx="801600" cy="56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8" name="Google Shape;178;p3"/>
          <p:cNvSpPr txBox="1"/>
          <p:nvPr/>
        </p:nvSpPr>
        <p:spPr>
          <a:xfrm>
            <a:off x="3171763" y="522530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4015363" y="518932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387633" y="613318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1780383" y="613318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3296111" y="4167034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3091574" y="616213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4309241" y="618291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5368163" y="566160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640645" y="567176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k(1-2,0)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3"/>
          <p:cNvCxnSpPr>
            <a:stCxn id="157" idx="2"/>
            <a:endCxn id="185" idx="0"/>
          </p:cNvCxnSpPr>
          <p:nvPr/>
        </p:nvCxnSpPr>
        <p:spPr>
          <a:xfrm flipH="1">
            <a:off x="5873613" y="5128662"/>
            <a:ext cx="416400" cy="53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8" name="Google Shape;188;p3"/>
          <p:cNvSpPr txBox="1"/>
          <p:nvPr/>
        </p:nvSpPr>
        <p:spPr>
          <a:xfrm>
            <a:off x="5726616" y="519671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3"/>
          <p:cNvCxnSpPr>
            <a:stCxn id="157" idx="2"/>
            <a:endCxn id="186" idx="0"/>
          </p:cNvCxnSpPr>
          <p:nvPr/>
        </p:nvCxnSpPr>
        <p:spPr>
          <a:xfrm>
            <a:off x="6290013" y="5128662"/>
            <a:ext cx="856200" cy="54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0" name="Google Shape;190;p3"/>
          <p:cNvSpPr txBox="1"/>
          <p:nvPr/>
        </p:nvSpPr>
        <p:spPr>
          <a:xfrm>
            <a:off x="6691736" y="522530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5705868" y="6227307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7546734" y="4375916"/>
            <a:ext cx="1607127" cy="2087418"/>
          </a:xfrm>
          <a:custGeom>
            <a:rect b="b" l="l" r="r" t="t"/>
            <a:pathLst>
              <a:path extrusionOk="0" h="2087418" w="1607127">
                <a:moveTo>
                  <a:pt x="193964" y="0"/>
                </a:moveTo>
                <a:cubicBezTo>
                  <a:pt x="178570" y="12315"/>
                  <a:pt x="160764" y="22109"/>
                  <a:pt x="147782" y="36945"/>
                </a:cubicBezTo>
                <a:cubicBezTo>
                  <a:pt x="138715" y="47307"/>
                  <a:pt x="136140" y="61936"/>
                  <a:pt x="129309" y="73891"/>
                </a:cubicBezTo>
                <a:cubicBezTo>
                  <a:pt x="123801" y="83529"/>
                  <a:pt x="116994" y="92364"/>
                  <a:pt x="110836" y="101600"/>
                </a:cubicBezTo>
                <a:cubicBezTo>
                  <a:pt x="88854" y="167549"/>
                  <a:pt x="103165" y="140817"/>
                  <a:pt x="73891" y="184727"/>
                </a:cubicBezTo>
                <a:cubicBezTo>
                  <a:pt x="70812" y="193963"/>
                  <a:pt x="67330" y="203075"/>
                  <a:pt x="64655" y="212436"/>
                </a:cubicBezTo>
                <a:cubicBezTo>
                  <a:pt x="60711" y="226240"/>
                  <a:pt x="53562" y="262332"/>
                  <a:pt x="46182" y="277091"/>
                </a:cubicBezTo>
                <a:cubicBezTo>
                  <a:pt x="41218" y="287020"/>
                  <a:pt x="33867" y="295564"/>
                  <a:pt x="27709" y="304800"/>
                </a:cubicBezTo>
                <a:lnTo>
                  <a:pt x="9236" y="397164"/>
                </a:lnTo>
                <a:lnTo>
                  <a:pt x="0" y="443345"/>
                </a:lnTo>
                <a:cubicBezTo>
                  <a:pt x="3079" y="569575"/>
                  <a:pt x="3502" y="695898"/>
                  <a:pt x="9236" y="822036"/>
                </a:cubicBezTo>
                <a:cubicBezTo>
                  <a:pt x="9678" y="831762"/>
                  <a:pt x="16993" y="840122"/>
                  <a:pt x="18473" y="849745"/>
                </a:cubicBezTo>
                <a:cubicBezTo>
                  <a:pt x="23178" y="880327"/>
                  <a:pt x="23620" y="911439"/>
                  <a:pt x="27709" y="942109"/>
                </a:cubicBezTo>
                <a:cubicBezTo>
                  <a:pt x="33511" y="985627"/>
                  <a:pt x="40976" y="1000384"/>
                  <a:pt x="55418" y="1043709"/>
                </a:cubicBezTo>
                <a:lnTo>
                  <a:pt x="73891" y="1099127"/>
                </a:lnTo>
                <a:cubicBezTo>
                  <a:pt x="76970" y="1108363"/>
                  <a:pt x="77726" y="1118735"/>
                  <a:pt x="83127" y="1126836"/>
                </a:cubicBezTo>
                <a:lnTo>
                  <a:pt x="101600" y="1154545"/>
                </a:lnTo>
                <a:cubicBezTo>
                  <a:pt x="118103" y="1204057"/>
                  <a:pt x="105213" y="1161566"/>
                  <a:pt x="120073" y="1228436"/>
                </a:cubicBezTo>
                <a:cubicBezTo>
                  <a:pt x="122827" y="1240828"/>
                  <a:pt x="126649" y="1252969"/>
                  <a:pt x="129309" y="1265382"/>
                </a:cubicBezTo>
                <a:cubicBezTo>
                  <a:pt x="152132" y="1371889"/>
                  <a:pt x="129597" y="1330469"/>
                  <a:pt x="166255" y="1385454"/>
                </a:cubicBezTo>
                <a:cubicBezTo>
                  <a:pt x="188237" y="1451404"/>
                  <a:pt x="173926" y="1424671"/>
                  <a:pt x="203200" y="1468582"/>
                </a:cubicBezTo>
                <a:cubicBezTo>
                  <a:pt x="206279" y="1477818"/>
                  <a:pt x="207708" y="1487780"/>
                  <a:pt x="212436" y="1496291"/>
                </a:cubicBezTo>
                <a:cubicBezTo>
                  <a:pt x="223218" y="1515699"/>
                  <a:pt x="249382" y="1551709"/>
                  <a:pt x="249382" y="1551709"/>
                </a:cubicBezTo>
                <a:cubicBezTo>
                  <a:pt x="252461" y="1560945"/>
                  <a:pt x="252536" y="1571815"/>
                  <a:pt x="258618" y="1579418"/>
                </a:cubicBezTo>
                <a:cubicBezTo>
                  <a:pt x="265553" y="1588086"/>
                  <a:pt x="277799" y="1590784"/>
                  <a:pt x="286327" y="1597891"/>
                </a:cubicBezTo>
                <a:cubicBezTo>
                  <a:pt x="296362" y="1606253"/>
                  <a:pt x="305535" y="1615682"/>
                  <a:pt x="314036" y="1625600"/>
                </a:cubicBezTo>
                <a:cubicBezTo>
                  <a:pt x="347736" y="1664916"/>
                  <a:pt x="332427" y="1658515"/>
                  <a:pt x="369455" y="1690254"/>
                </a:cubicBezTo>
                <a:cubicBezTo>
                  <a:pt x="413610" y="1728102"/>
                  <a:pt x="396034" y="1709401"/>
                  <a:pt x="443345" y="1736436"/>
                </a:cubicBezTo>
                <a:cubicBezTo>
                  <a:pt x="485755" y="1760670"/>
                  <a:pt x="462878" y="1753178"/>
                  <a:pt x="508000" y="1791854"/>
                </a:cubicBezTo>
                <a:cubicBezTo>
                  <a:pt x="535381" y="1815323"/>
                  <a:pt x="540398" y="1808639"/>
                  <a:pt x="572655" y="1828800"/>
                </a:cubicBezTo>
                <a:cubicBezTo>
                  <a:pt x="585709" y="1836959"/>
                  <a:pt x="596546" y="1848350"/>
                  <a:pt x="609600" y="1856509"/>
                </a:cubicBezTo>
                <a:cubicBezTo>
                  <a:pt x="621276" y="1863806"/>
                  <a:pt x="634869" y="1867685"/>
                  <a:pt x="646545" y="1874982"/>
                </a:cubicBezTo>
                <a:cubicBezTo>
                  <a:pt x="659599" y="1883141"/>
                  <a:pt x="670125" y="1895054"/>
                  <a:pt x="683491" y="1902691"/>
                </a:cubicBezTo>
                <a:cubicBezTo>
                  <a:pt x="691944" y="1907521"/>
                  <a:pt x="702628" y="1907311"/>
                  <a:pt x="711200" y="1911927"/>
                </a:cubicBezTo>
                <a:cubicBezTo>
                  <a:pt x="756629" y="1936389"/>
                  <a:pt x="793976" y="1965875"/>
                  <a:pt x="840509" y="1985818"/>
                </a:cubicBezTo>
                <a:cubicBezTo>
                  <a:pt x="849458" y="1989653"/>
                  <a:pt x="858982" y="1991975"/>
                  <a:pt x="868218" y="1995054"/>
                </a:cubicBezTo>
                <a:cubicBezTo>
                  <a:pt x="877454" y="2001212"/>
                  <a:pt x="885783" y="2009018"/>
                  <a:pt x="895927" y="2013527"/>
                </a:cubicBezTo>
                <a:cubicBezTo>
                  <a:pt x="913721" y="2021435"/>
                  <a:pt x="932872" y="2025842"/>
                  <a:pt x="951345" y="2032000"/>
                </a:cubicBezTo>
                <a:lnTo>
                  <a:pt x="1034473" y="2059709"/>
                </a:lnTo>
                <a:cubicBezTo>
                  <a:pt x="1043709" y="2062788"/>
                  <a:pt x="1052737" y="2066584"/>
                  <a:pt x="1062182" y="2068945"/>
                </a:cubicBezTo>
                <a:lnTo>
                  <a:pt x="1136073" y="2087418"/>
                </a:lnTo>
                <a:cubicBezTo>
                  <a:pt x="1191491" y="2084339"/>
                  <a:pt x="1247074" y="2083444"/>
                  <a:pt x="1302327" y="2078182"/>
                </a:cubicBezTo>
                <a:cubicBezTo>
                  <a:pt x="1330774" y="2075473"/>
                  <a:pt x="1368281" y="2043449"/>
                  <a:pt x="1385455" y="2032000"/>
                </a:cubicBezTo>
                <a:lnTo>
                  <a:pt x="1413164" y="2013527"/>
                </a:lnTo>
                <a:cubicBezTo>
                  <a:pt x="1422400" y="2007369"/>
                  <a:pt x="1430342" y="1998564"/>
                  <a:pt x="1440873" y="1995054"/>
                </a:cubicBezTo>
                <a:lnTo>
                  <a:pt x="1468582" y="1985818"/>
                </a:lnTo>
                <a:cubicBezTo>
                  <a:pt x="1487055" y="1967345"/>
                  <a:pt x="1515739" y="1955184"/>
                  <a:pt x="1524000" y="1930400"/>
                </a:cubicBezTo>
                <a:cubicBezTo>
                  <a:pt x="1536746" y="1892160"/>
                  <a:pt x="1527835" y="1910792"/>
                  <a:pt x="1551709" y="1874982"/>
                </a:cubicBezTo>
                <a:cubicBezTo>
                  <a:pt x="1573854" y="1808546"/>
                  <a:pt x="1546986" y="1891511"/>
                  <a:pt x="1570182" y="1810327"/>
                </a:cubicBezTo>
                <a:cubicBezTo>
                  <a:pt x="1572857" y="1800966"/>
                  <a:pt x="1576339" y="1791854"/>
                  <a:pt x="1579418" y="1782618"/>
                </a:cubicBezTo>
                <a:cubicBezTo>
                  <a:pt x="1582497" y="1745673"/>
                  <a:pt x="1582560" y="1708351"/>
                  <a:pt x="1588655" y="1671782"/>
                </a:cubicBezTo>
                <a:cubicBezTo>
                  <a:pt x="1591856" y="1652575"/>
                  <a:pt x="1607127" y="1616364"/>
                  <a:pt x="1607127" y="1616364"/>
                </a:cubicBezTo>
                <a:cubicBezTo>
                  <a:pt x="1604048" y="1536315"/>
                  <a:pt x="1603219" y="1456148"/>
                  <a:pt x="1597891" y="1376218"/>
                </a:cubicBezTo>
                <a:cubicBezTo>
                  <a:pt x="1596728" y="1358768"/>
                  <a:pt x="1573042" y="1292432"/>
                  <a:pt x="1570182" y="1283854"/>
                </a:cubicBezTo>
                <a:cubicBezTo>
                  <a:pt x="1567103" y="1274618"/>
                  <a:pt x="1566345" y="1264246"/>
                  <a:pt x="1560945" y="1256145"/>
                </a:cubicBezTo>
                <a:lnTo>
                  <a:pt x="1542473" y="1228436"/>
                </a:lnTo>
                <a:cubicBezTo>
                  <a:pt x="1533654" y="1193163"/>
                  <a:pt x="1532152" y="1180085"/>
                  <a:pt x="1514764" y="1145309"/>
                </a:cubicBezTo>
                <a:cubicBezTo>
                  <a:pt x="1509800" y="1135380"/>
                  <a:pt x="1501799" y="1127238"/>
                  <a:pt x="1496291" y="1117600"/>
                </a:cubicBezTo>
                <a:cubicBezTo>
                  <a:pt x="1455718" y="1046599"/>
                  <a:pt x="1503090" y="1114350"/>
                  <a:pt x="1450109" y="1043709"/>
                </a:cubicBezTo>
                <a:cubicBezTo>
                  <a:pt x="1432165" y="989874"/>
                  <a:pt x="1445228" y="1024711"/>
                  <a:pt x="1403927" y="942109"/>
                </a:cubicBezTo>
                <a:cubicBezTo>
                  <a:pt x="1397770" y="929794"/>
                  <a:pt x="1393092" y="916620"/>
                  <a:pt x="1385455" y="905164"/>
                </a:cubicBezTo>
                <a:lnTo>
                  <a:pt x="1348509" y="849745"/>
                </a:lnTo>
                <a:cubicBezTo>
                  <a:pt x="1332252" y="800973"/>
                  <a:pt x="1344674" y="830139"/>
                  <a:pt x="1302327" y="766618"/>
                </a:cubicBezTo>
                <a:cubicBezTo>
                  <a:pt x="1296170" y="757382"/>
                  <a:pt x="1287366" y="749440"/>
                  <a:pt x="1283855" y="738909"/>
                </a:cubicBezTo>
                <a:cubicBezTo>
                  <a:pt x="1272240" y="704066"/>
                  <a:pt x="1269431" y="687540"/>
                  <a:pt x="1237673" y="655782"/>
                </a:cubicBezTo>
                <a:cubicBezTo>
                  <a:pt x="1228437" y="646546"/>
                  <a:pt x="1218465" y="637991"/>
                  <a:pt x="1209964" y="628073"/>
                </a:cubicBezTo>
                <a:cubicBezTo>
                  <a:pt x="1199946" y="616385"/>
                  <a:pt x="1192553" y="602569"/>
                  <a:pt x="1182255" y="591127"/>
                </a:cubicBezTo>
                <a:cubicBezTo>
                  <a:pt x="1164779" y="571709"/>
                  <a:pt x="1141327" y="557446"/>
                  <a:pt x="1126836" y="535709"/>
                </a:cubicBezTo>
                <a:cubicBezTo>
                  <a:pt x="1045754" y="414084"/>
                  <a:pt x="1127295" y="528548"/>
                  <a:pt x="1062182" y="452582"/>
                </a:cubicBezTo>
                <a:cubicBezTo>
                  <a:pt x="1052164" y="440894"/>
                  <a:pt x="1045358" y="426521"/>
                  <a:pt x="1034473" y="415636"/>
                </a:cubicBezTo>
                <a:cubicBezTo>
                  <a:pt x="1026624" y="407787"/>
                  <a:pt x="1015741" y="403693"/>
                  <a:pt x="1006764" y="397164"/>
                </a:cubicBezTo>
                <a:cubicBezTo>
                  <a:pt x="981865" y="379055"/>
                  <a:pt x="954643" y="363515"/>
                  <a:pt x="932873" y="341745"/>
                </a:cubicBezTo>
                <a:cubicBezTo>
                  <a:pt x="923637" y="332509"/>
                  <a:pt x="915475" y="322055"/>
                  <a:pt x="905164" y="314036"/>
                </a:cubicBezTo>
                <a:cubicBezTo>
                  <a:pt x="887639" y="300406"/>
                  <a:pt x="865444" y="292790"/>
                  <a:pt x="849745" y="277091"/>
                </a:cubicBezTo>
                <a:cubicBezTo>
                  <a:pt x="816178" y="243524"/>
                  <a:pt x="826562" y="251295"/>
                  <a:pt x="785091" y="221673"/>
                </a:cubicBezTo>
                <a:cubicBezTo>
                  <a:pt x="776058" y="215221"/>
                  <a:pt x="767311" y="208164"/>
                  <a:pt x="757382" y="203200"/>
                </a:cubicBezTo>
                <a:cubicBezTo>
                  <a:pt x="748674" y="198846"/>
                  <a:pt x="738909" y="197043"/>
                  <a:pt x="729673" y="193964"/>
                </a:cubicBezTo>
                <a:cubicBezTo>
                  <a:pt x="650277" y="141032"/>
                  <a:pt x="750723" y="204487"/>
                  <a:pt x="674255" y="166254"/>
                </a:cubicBezTo>
                <a:cubicBezTo>
                  <a:pt x="664326" y="161290"/>
                  <a:pt x="656689" y="152290"/>
                  <a:pt x="646545" y="147782"/>
                </a:cubicBezTo>
                <a:cubicBezTo>
                  <a:pt x="646530" y="147775"/>
                  <a:pt x="577280" y="124694"/>
                  <a:pt x="563418" y="120073"/>
                </a:cubicBezTo>
                <a:cubicBezTo>
                  <a:pt x="554182" y="116994"/>
                  <a:pt x="543810" y="116236"/>
                  <a:pt x="535709" y="110836"/>
                </a:cubicBezTo>
                <a:cubicBezTo>
                  <a:pt x="526473" y="104679"/>
                  <a:pt x="518144" y="96872"/>
                  <a:pt x="508000" y="92364"/>
                </a:cubicBezTo>
                <a:cubicBezTo>
                  <a:pt x="490206" y="84456"/>
                  <a:pt x="471055" y="80049"/>
                  <a:pt x="452582" y="73891"/>
                </a:cubicBezTo>
                <a:cubicBezTo>
                  <a:pt x="423495" y="64195"/>
                  <a:pt x="420413" y="62379"/>
                  <a:pt x="387927" y="55418"/>
                </a:cubicBezTo>
                <a:cubicBezTo>
                  <a:pt x="357227" y="48839"/>
                  <a:pt x="326352" y="43103"/>
                  <a:pt x="295564" y="36945"/>
                </a:cubicBezTo>
                <a:cubicBezTo>
                  <a:pt x="280170" y="33866"/>
                  <a:pt x="265081" y="27709"/>
                  <a:pt x="249382" y="27709"/>
                </a:cubicBezTo>
                <a:lnTo>
                  <a:pt x="193964" y="0"/>
                </a:lnTo>
                <a:close/>
              </a:path>
            </a:pathLst>
          </a:custGeom>
          <a:noFill/>
          <a:ln cap="flat" cmpd="sng" w="381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6406251" y="5241463"/>
            <a:ext cx="1569832" cy="1221871"/>
          </a:xfrm>
          <a:custGeom>
            <a:rect b="b" l="l" r="r" t="t"/>
            <a:pathLst>
              <a:path extrusionOk="0" h="2087418" w="1607127">
                <a:moveTo>
                  <a:pt x="193964" y="0"/>
                </a:moveTo>
                <a:cubicBezTo>
                  <a:pt x="178570" y="12315"/>
                  <a:pt x="160764" y="22109"/>
                  <a:pt x="147782" y="36945"/>
                </a:cubicBezTo>
                <a:cubicBezTo>
                  <a:pt x="138715" y="47307"/>
                  <a:pt x="136140" y="61936"/>
                  <a:pt x="129309" y="73891"/>
                </a:cubicBezTo>
                <a:cubicBezTo>
                  <a:pt x="123801" y="83529"/>
                  <a:pt x="116994" y="92364"/>
                  <a:pt x="110836" y="101600"/>
                </a:cubicBezTo>
                <a:cubicBezTo>
                  <a:pt x="88854" y="167549"/>
                  <a:pt x="103165" y="140817"/>
                  <a:pt x="73891" y="184727"/>
                </a:cubicBezTo>
                <a:cubicBezTo>
                  <a:pt x="70812" y="193963"/>
                  <a:pt x="67330" y="203075"/>
                  <a:pt x="64655" y="212436"/>
                </a:cubicBezTo>
                <a:cubicBezTo>
                  <a:pt x="60711" y="226240"/>
                  <a:pt x="53562" y="262332"/>
                  <a:pt x="46182" y="277091"/>
                </a:cubicBezTo>
                <a:cubicBezTo>
                  <a:pt x="41218" y="287020"/>
                  <a:pt x="33867" y="295564"/>
                  <a:pt x="27709" y="304800"/>
                </a:cubicBezTo>
                <a:lnTo>
                  <a:pt x="9236" y="397164"/>
                </a:lnTo>
                <a:lnTo>
                  <a:pt x="0" y="443345"/>
                </a:lnTo>
                <a:cubicBezTo>
                  <a:pt x="3079" y="569575"/>
                  <a:pt x="3502" y="695898"/>
                  <a:pt x="9236" y="822036"/>
                </a:cubicBezTo>
                <a:cubicBezTo>
                  <a:pt x="9678" y="831762"/>
                  <a:pt x="16993" y="840122"/>
                  <a:pt x="18473" y="849745"/>
                </a:cubicBezTo>
                <a:cubicBezTo>
                  <a:pt x="23178" y="880327"/>
                  <a:pt x="23620" y="911439"/>
                  <a:pt x="27709" y="942109"/>
                </a:cubicBezTo>
                <a:cubicBezTo>
                  <a:pt x="33511" y="985627"/>
                  <a:pt x="40976" y="1000384"/>
                  <a:pt x="55418" y="1043709"/>
                </a:cubicBezTo>
                <a:lnTo>
                  <a:pt x="73891" y="1099127"/>
                </a:lnTo>
                <a:cubicBezTo>
                  <a:pt x="76970" y="1108363"/>
                  <a:pt x="77726" y="1118735"/>
                  <a:pt x="83127" y="1126836"/>
                </a:cubicBezTo>
                <a:lnTo>
                  <a:pt x="101600" y="1154545"/>
                </a:lnTo>
                <a:cubicBezTo>
                  <a:pt x="118103" y="1204057"/>
                  <a:pt x="105213" y="1161566"/>
                  <a:pt x="120073" y="1228436"/>
                </a:cubicBezTo>
                <a:cubicBezTo>
                  <a:pt x="122827" y="1240828"/>
                  <a:pt x="126649" y="1252969"/>
                  <a:pt x="129309" y="1265382"/>
                </a:cubicBezTo>
                <a:cubicBezTo>
                  <a:pt x="152132" y="1371889"/>
                  <a:pt x="129597" y="1330469"/>
                  <a:pt x="166255" y="1385454"/>
                </a:cubicBezTo>
                <a:cubicBezTo>
                  <a:pt x="188237" y="1451404"/>
                  <a:pt x="173926" y="1424671"/>
                  <a:pt x="203200" y="1468582"/>
                </a:cubicBezTo>
                <a:cubicBezTo>
                  <a:pt x="206279" y="1477818"/>
                  <a:pt x="207708" y="1487780"/>
                  <a:pt x="212436" y="1496291"/>
                </a:cubicBezTo>
                <a:cubicBezTo>
                  <a:pt x="223218" y="1515699"/>
                  <a:pt x="249382" y="1551709"/>
                  <a:pt x="249382" y="1551709"/>
                </a:cubicBezTo>
                <a:cubicBezTo>
                  <a:pt x="252461" y="1560945"/>
                  <a:pt x="252536" y="1571815"/>
                  <a:pt x="258618" y="1579418"/>
                </a:cubicBezTo>
                <a:cubicBezTo>
                  <a:pt x="265553" y="1588086"/>
                  <a:pt x="277799" y="1590784"/>
                  <a:pt x="286327" y="1597891"/>
                </a:cubicBezTo>
                <a:cubicBezTo>
                  <a:pt x="296362" y="1606253"/>
                  <a:pt x="305535" y="1615682"/>
                  <a:pt x="314036" y="1625600"/>
                </a:cubicBezTo>
                <a:cubicBezTo>
                  <a:pt x="347736" y="1664916"/>
                  <a:pt x="332427" y="1658515"/>
                  <a:pt x="369455" y="1690254"/>
                </a:cubicBezTo>
                <a:cubicBezTo>
                  <a:pt x="413610" y="1728102"/>
                  <a:pt x="396034" y="1709401"/>
                  <a:pt x="443345" y="1736436"/>
                </a:cubicBezTo>
                <a:cubicBezTo>
                  <a:pt x="485755" y="1760670"/>
                  <a:pt x="462878" y="1753178"/>
                  <a:pt x="508000" y="1791854"/>
                </a:cubicBezTo>
                <a:cubicBezTo>
                  <a:pt x="535381" y="1815323"/>
                  <a:pt x="540398" y="1808639"/>
                  <a:pt x="572655" y="1828800"/>
                </a:cubicBezTo>
                <a:cubicBezTo>
                  <a:pt x="585709" y="1836959"/>
                  <a:pt x="596546" y="1848350"/>
                  <a:pt x="609600" y="1856509"/>
                </a:cubicBezTo>
                <a:cubicBezTo>
                  <a:pt x="621276" y="1863806"/>
                  <a:pt x="634869" y="1867685"/>
                  <a:pt x="646545" y="1874982"/>
                </a:cubicBezTo>
                <a:cubicBezTo>
                  <a:pt x="659599" y="1883141"/>
                  <a:pt x="670125" y="1895054"/>
                  <a:pt x="683491" y="1902691"/>
                </a:cubicBezTo>
                <a:cubicBezTo>
                  <a:pt x="691944" y="1907521"/>
                  <a:pt x="702628" y="1907311"/>
                  <a:pt x="711200" y="1911927"/>
                </a:cubicBezTo>
                <a:cubicBezTo>
                  <a:pt x="756629" y="1936389"/>
                  <a:pt x="793976" y="1965875"/>
                  <a:pt x="840509" y="1985818"/>
                </a:cubicBezTo>
                <a:cubicBezTo>
                  <a:pt x="849458" y="1989653"/>
                  <a:pt x="858982" y="1991975"/>
                  <a:pt x="868218" y="1995054"/>
                </a:cubicBezTo>
                <a:cubicBezTo>
                  <a:pt x="877454" y="2001212"/>
                  <a:pt x="885783" y="2009018"/>
                  <a:pt x="895927" y="2013527"/>
                </a:cubicBezTo>
                <a:cubicBezTo>
                  <a:pt x="913721" y="2021435"/>
                  <a:pt x="932872" y="2025842"/>
                  <a:pt x="951345" y="2032000"/>
                </a:cubicBezTo>
                <a:lnTo>
                  <a:pt x="1034473" y="2059709"/>
                </a:lnTo>
                <a:cubicBezTo>
                  <a:pt x="1043709" y="2062788"/>
                  <a:pt x="1052737" y="2066584"/>
                  <a:pt x="1062182" y="2068945"/>
                </a:cubicBezTo>
                <a:lnTo>
                  <a:pt x="1136073" y="2087418"/>
                </a:lnTo>
                <a:cubicBezTo>
                  <a:pt x="1191491" y="2084339"/>
                  <a:pt x="1247074" y="2083444"/>
                  <a:pt x="1302327" y="2078182"/>
                </a:cubicBezTo>
                <a:cubicBezTo>
                  <a:pt x="1330774" y="2075473"/>
                  <a:pt x="1368281" y="2043449"/>
                  <a:pt x="1385455" y="2032000"/>
                </a:cubicBezTo>
                <a:lnTo>
                  <a:pt x="1413164" y="2013527"/>
                </a:lnTo>
                <a:cubicBezTo>
                  <a:pt x="1422400" y="2007369"/>
                  <a:pt x="1430342" y="1998564"/>
                  <a:pt x="1440873" y="1995054"/>
                </a:cubicBezTo>
                <a:lnTo>
                  <a:pt x="1468582" y="1985818"/>
                </a:lnTo>
                <a:cubicBezTo>
                  <a:pt x="1487055" y="1967345"/>
                  <a:pt x="1515739" y="1955184"/>
                  <a:pt x="1524000" y="1930400"/>
                </a:cubicBezTo>
                <a:cubicBezTo>
                  <a:pt x="1536746" y="1892160"/>
                  <a:pt x="1527835" y="1910792"/>
                  <a:pt x="1551709" y="1874982"/>
                </a:cubicBezTo>
                <a:cubicBezTo>
                  <a:pt x="1573854" y="1808546"/>
                  <a:pt x="1546986" y="1891511"/>
                  <a:pt x="1570182" y="1810327"/>
                </a:cubicBezTo>
                <a:cubicBezTo>
                  <a:pt x="1572857" y="1800966"/>
                  <a:pt x="1576339" y="1791854"/>
                  <a:pt x="1579418" y="1782618"/>
                </a:cubicBezTo>
                <a:cubicBezTo>
                  <a:pt x="1582497" y="1745673"/>
                  <a:pt x="1582560" y="1708351"/>
                  <a:pt x="1588655" y="1671782"/>
                </a:cubicBezTo>
                <a:cubicBezTo>
                  <a:pt x="1591856" y="1652575"/>
                  <a:pt x="1607127" y="1616364"/>
                  <a:pt x="1607127" y="1616364"/>
                </a:cubicBezTo>
                <a:cubicBezTo>
                  <a:pt x="1604048" y="1536315"/>
                  <a:pt x="1603219" y="1456148"/>
                  <a:pt x="1597891" y="1376218"/>
                </a:cubicBezTo>
                <a:cubicBezTo>
                  <a:pt x="1596728" y="1358768"/>
                  <a:pt x="1573042" y="1292432"/>
                  <a:pt x="1570182" y="1283854"/>
                </a:cubicBezTo>
                <a:cubicBezTo>
                  <a:pt x="1567103" y="1274618"/>
                  <a:pt x="1566345" y="1264246"/>
                  <a:pt x="1560945" y="1256145"/>
                </a:cubicBezTo>
                <a:lnTo>
                  <a:pt x="1542473" y="1228436"/>
                </a:lnTo>
                <a:cubicBezTo>
                  <a:pt x="1533654" y="1193163"/>
                  <a:pt x="1532152" y="1180085"/>
                  <a:pt x="1514764" y="1145309"/>
                </a:cubicBezTo>
                <a:cubicBezTo>
                  <a:pt x="1509800" y="1135380"/>
                  <a:pt x="1501799" y="1127238"/>
                  <a:pt x="1496291" y="1117600"/>
                </a:cubicBezTo>
                <a:cubicBezTo>
                  <a:pt x="1455718" y="1046599"/>
                  <a:pt x="1503090" y="1114350"/>
                  <a:pt x="1450109" y="1043709"/>
                </a:cubicBezTo>
                <a:cubicBezTo>
                  <a:pt x="1432165" y="989874"/>
                  <a:pt x="1445228" y="1024711"/>
                  <a:pt x="1403927" y="942109"/>
                </a:cubicBezTo>
                <a:cubicBezTo>
                  <a:pt x="1397770" y="929794"/>
                  <a:pt x="1393092" y="916620"/>
                  <a:pt x="1385455" y="905164"/>
                </a:cubicBezTo>
                <a:lnTo>
                  <a:pt x="1348509" y="849745"/>
                </a:lnTo>
                <a:cubicBezTo>
                  <a:pt x="1332252" y="800973"/>
                  <a:pt x="1344674" y="830139"/>
                  <a:pt x="1302327" y="766618"/>
                </a:cubicBezTo>
                <a:cubicBezTo>
                  <a:pt x="1296170" y="757382"/>
                  <a:pt x="1287366" y="749440"/>
                  <a:pt x="1283855" y="738909"/>
                </a:cubicBezTo>
                <a:cubicBezTo>
                  <a:pt x="1272240" y="704066"/>
                  <a:pt x="1269431" y="687540"/>
                  <a:pt x="1237673" y="655782"/>
                </a:cubicBezTo>
                <a:cubicBezTo>
                  <a:pt x="1228437" y="646546"/>
                  <a:pt x="1218465" y="637991"/>
                  <a:pt x="1209964" y="628073"/>
                </a:cubicBezTo>
                <a:cubicBezTo>
                  <a:pt x="1199946" y="616385"/>
                  <a:pt x="1192553" y="602569"/>
                  <a:pt x="1182255" y="591127"/>
                </a:cubicBezTo>
                <a:cubicBezTo>
                  <a:pt x="1164779" y="571709"/>
                  <a:pt x="1141327" y="557446"/>
                  <a:pt x="1126836" y="535709"/>
                </a:cubicBezTo>
                <a:cubicBezTo>
                  <a:pt x="1045754" y="414084"/>
                  <a:pt x="1127295" y="528548"/>
                  <a:pt x="1062182" y="452582"/>
                </a:cubicBezTo>
                <a:cubicBezTo>
                  <a:pt x="1052164" y="440894"/>
                  <a:pt x="1045358" y="426521"/>
                  <a:pt x="1034473" y="415636"/>
                </a:cubicBezTo>
                <a:cubicBezTo>
                  <a:pt x="1026624" y="407787"/>
                  <a:pt x="1015741" y="403693"/>
                  <a:pt x="1006764" y="397164"/>
                </a:cubicBezTo>
                <a:cubicBezTo>
                  <a:pt x="981865" y="379055"/>
                  <a:pt x="954643" y="363515"/>
                  <a:pt x="932873" y="341745"/>
                </a:cubicBezTo>
                <a:cubicBezTo>
                  <a:pt x="923637" y="332509"/>
                  <a:pt x="915475" y="322055"/>
                  <a:pt x="905164" y="314036"/>
                </a:cubicBezTo>
                <a:cubicBezTo>
                  <a:pt x="887639" y="300406"/>
                  <a:pt x="865444" y="292790"/>
                  <a:pt x="849745" y="277091"/>
                </a:cubicBezTo>
                <a:cubicBezTo>
                  <a:pt x="816178" y="243524"/>
                  <a:pt x="826562" y="251295"/>
                  <a:pt x="785091" y="221673"/>
                </a:cubicBezTo>
                <a:cubicBezTo>
                  <a:pt x="776058" y="215221"/>
                  <a:pt x="767311" y="208164"/>
                  <a:pt x="757382" y="203200"/>
                </a:cubicBezTo>
                <a:cubicBezTo>
                  <a:pt x="748674" y="198846"/>
                  <a:pt x="738909" y="197043"/>
                  <a:pt x="729673" y="193964"/>
                </a:cubicBezTo>
                <a:cubicBezTo>
                  <a:pt x="650277" y="141032"/>
                  <a:pt x="750723" y="204487"/>
                  <a:pt x="674255" y="166254"/>
                </a:cubicBezTo>
                <a:cubicBezTo>
                  <a:pt x="664326" y="161290"/>
                  <a:pt x="656689" y="152290"/>
                  <a:pt x="646545" y="147782"/>
                </a:cubicBezTo>
                <a:cubicBezTo>
                  <a:pt x="646530" y="147775"/>
                  <a:pt x="577280" y="124694"/>
                  <a:pt x="563418" y="120073"/>
                </a:cubicBezTo>
                <a:cubicBezTo>
                  <a:pt x="554182" y="116994"/>
                  <a:pt x="543810" y="116236"/>
                  <a:pt x="535709" y="110836"/>
                </a:cubicBezTo>
                <a:cubicBezTo>
                  <a:pt x="526473" y="104679"/>
                  <a:pt x="518144" y="96872"/>
                  <a:pt x="508000" y="92364"/>
                </a:cubicBezTo>
                <a:cubicBezTo>
                  <a:pt x="490206" y="84456"/>
                  <a:pt x="471055" y="80049"/>
                  <a:pt x="452582" y="73891"/>
                </a:cubicBezTo>
                <a:cubicBezTo>
                  <a:pt x="423495" y="64195"/>
                  <a:pt x="420413" y="62379"/>
                  <a:pt x="387927" y="55418"/>
                </a:cubicBezTo>
                <a:cubicBezTo>
                  <a:pt x="357227" y="48839"/>
                  <a:pt x="326352" y="43103"/>
                  <a:pt x="295564" y="36945"/>
                </a:cubicBezTo>
                <a:cubicBezTo>
                  <a:pt x="280170" y="33866"/>
                  <a:pt x="265081" y="27709"/>
                  <a:pt x="249382" y="27709"/>
                </a:cubicBezTo>
                <a:lnTo>
                  <a:pt x="193964" y="0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199" name="Google Shape;199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0" name="Google Shape;200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Recall the 0/1 Knapsack Problem</a:t>
            </a:r>
            <a:endParaRPr/>
          </a:p>
        </p:txBody>
      </p:sp>
      <p:grpSp>
        <p:nvGrpSpPr>
          <p:cNvPr id="202" name="Google Shape;202;p4"/>
          <p:cNvGrpSpPr/>
          <p:nvPr/>
        </p:nvGrpSpPr>
        <p:grpSpPr>
          <a:xfrm>
            <a:off x="5873612" y="917963"/>
            <a:ext cx="6208501" cy="1456348"/>
            <a:chOff x="6041448" y="52725"/>
            <a:chExt cx="6205874" cy="1628918"/>
          </a:xfrm>
        </p:grpSpPr>
        <p:pic>
          <p:nvPicPr>
            <p:cNvPr descr="Buy Fake Gold Bar Bullion Door Stop/Paperweight for Home Office Decoration  Online at desertcart Bangladesh" id="203" name="Google Shape;20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04845" y="219278"/>
              <a:ext cx="658019" cy="5831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orazado Pericia Identificar lcd tv display césped Personalmente estaño" id="204" name="Google Shape;20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91478" y="219278"/>
              <a:ext cx="991348" cy="6062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ns Watches: Nice, Classic Fashion Wrist Watches For Men - Fossil" id="205" name="Google Shape;20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41448" y="52725"/>
              <a:ext cx="797749" cy="8201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iaomi 12: A small smartphone with high-end equipment - NotebookCheck.net  News" id="206" name="Google Shape;206;p4"/>
            <p:cNvPicPr preferRelativeResize="0"/>
            <p:nvPr/>
          </p:nvPicPr>
          <p:blipFill rotWithShape="1">
            <a:blip r:embed="rId6">
              <a:alphaModFix/>
            </a:blip>
            <a:srcRect b="0" l="0" r="0" t="7012"/>
            <a:stretch/>
          </p:blipFill>
          <p:spPr>
            <a:xfrm>
              <a:off x="9141990" y="112742"/>
              <a:ext cx="1686332" cy="8447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4"/>
            <p:cNvSpPr txBox="1"/>
            <p:nvPr/>
          </p:nvSpPr>
          <p:spPr>
            <a:xfrm>
              <a:off x="6087292" y="908531"/>
              <a:ext cx="5245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$ 3 </a:t>
              </a:r>
              <a:endParaRPr b="0" i="0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7614641" y="646030"/>
              <a:ext cx="587020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$ 4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4"/>
            <p:cNvSpPr txBox="1"/>
            <p:nvPr/>
          </p:nvSpPr>
          <p:spPr>
            <a:xfrm>
              <a:off x="9387681" y="649411"/>
              <a:ext cx="554960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$ 5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11660302" y="613194"/>
              <a:ext cx="587020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$ 6</a:t>
              </a:r>
              <a:r>
                <a:rPr b="0" i="0" lang="en-US" sz="4000" u="none" cap="none" strike="noStrike">
                  <a:solidFill>
                    <a:srgbClr val="38562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40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087292" y="1343089"/>
              <a:ext cx="5389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7614641" y="1343089"/>
              <a:ext cx="5389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9407136" y="1343089"/>
              <a:ext cx="5389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 Kg</a:t>
              </a:r>
              <a:endParaRPr b="0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11587039" y="1343089"/>
              <a:ext cx="6602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 Kg</a:t>
              </a:r>
              <a:endParaRPr b="0" i="0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4"/>
          <p:cNvSpPr/>
          <p:nvPr/>
        </p:nvSpPr>
        <p:spPr>
          <a:xfrm>
            <a:off x="4127807" y="1717005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k(5,4)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2945998" y="270746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6734221" y="292105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k(0,3)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4"/>
          <p:cNvCxnSpPr>
            <a:stCxn id="215" idx="2"/>
            <a:endCxn id="216" idx="0"/>
          </p:cNvCxnSpPr>
          <p:nvPr/>
        </p:nvCxnSpPr>
        <p:spPr>
          <a:xfrm flipH="1">
            <a:off x="3451625" y="2160350"/>
            <a:ext cx="1181700" cy="54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" name="Google Shape;219;p4"/>
          <p:cNvCxnSpPr>
            <a:stCxn id="215" idx="2"/>
            <a:endCxn id="217" idx="0"/>
          </p:cNvCxnSpPr>
          <p:nvPr/>
        </p:nvCxnSpPr>
        <p:spPr>
          <a:xfrm>
            <a:off x="4633325" y="2160350"/>
            <a:ext cx="2606400" cy="76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0" name="Google Shape;220;p4"/>
          <p:cNvSpPr txBox="1"/>
          <p:nvPr/>
        </p:nvSpPr>
        <p:spPr>
          <a:xfrm>
            <a:off x="6672974" y="2374608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4633325" y="236923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2080538" y="3641053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4"/>
          <p:cNvCxnSpPr>
            <a:stCxn id="216" idx="2"/>
            <a:endCxn id="222" idx="0"/>
          </p:cNvCxnSpPr>
          <p:nvPr/>
        </p:nvCxnSpPr>
        <p:spPr>
          <a:xfrm flipH="1">
            <a:off x="2586016" y="3150806"/>
            <a:ext cx="865500" cy="490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4" name="Google Shape;224;p4"/>
          <p:cNvSpPr txBox="1"/>
          <p:nvPr/>
        </p:nvSpPr>
        <p:spPr>
          <a:xfrm>
            <a:off x="3495609" y="3456387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114293" y="3685825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k(1,2)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4"/>
          <p:cNvCxnSpPr>
            <a:stCxn id="216" idx="2"/>
            <a:endCxn id="225" idx="0"/>
          </p:cNvCxnSpPr>
          <p:nvPr/>
        </p:nvCxnSpPr>
        <p:spPr>
          <a:xfrm>
            <a:off x="3451516" y="3150806"/>
            <a:ext cx="3168300" cy="534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7" name="Google Shape;227;p4"/>
          <p:cNvSpPr txBox="1"/>
          <p:nvPr/>
        </p:nvSpPr>
        <p:spPr>
          <a:xfrm>
            <a:off x="5620433" y="3220929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5784495" y="468531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4"/>
          <p:cNvCxnSpPr>
            <a:stCxn id="225" idx="2"/>
            <a:endCxn id="228" idx="0"/>
          </p:cNvCxnSpPr>
          <p:nvPr/>
        </p:nvCxnSpPr>
        <p:spPr>
          <a:xfrm flipH="1">
            <a:off x="6290111" y="4129170"/>
            <a:ext cx="329700" cy="55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0" name="Google Shape;230;p4"/>
          <p:cNvSpPr txBox="1"/>
          <p:nvPr/>
        </p:nvSpPr>
        <p:spPr>
          <a:xfrm>
            <a:off x="6069782" y="425152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4"/>
          <p:cNvCxnSpPr>
            <a:stCxn id="225" idx="2"/>
            <a:endCxn id="232" idx="0"/>
          </p:cNvCxnSpPr>
          <p:nvPr/>
        </p:nvCxnSpPr>
        <p:spPr>
          <a:xfrm>
            <a:off x="6619811" y="4129170"/>
            <a:ext cx="1899000" cy="1538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3" name="Google Shape;233;p4"/>
          <p:cNvSpPr txBox="1"/>
          <p:nvPr/>
        </p:nvSpPr>
        <p:spPr>
          <a:xfrm>
            <a:off x="7630080" y="4685317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8013260" y="566789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k(1-3,1)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864965" y="4701381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4"/>
          <p:cNvCxnSpPr>
            <a:stCxn id="222" idx="2"/>
            <a:endCxn id="236" idx="0"/>
          </p:cNvCxnSpPr>
          <p:nvPr/>
        </p:nvCxnSpPr>
        <p:spPr>
          <a:xfrm>
            <a:off x="2586056" y="4084398"/>
            <a:ext cx="1133400" cy="57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6" name="Google Shape;236;p4"/>
          <p:cNvSpPr/>
          <p:nvPr/>
        </p:nvSpPr>
        <p:spPr>
          <a:xfrm>
            <a:off x="3213934" y="4664374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k(2,1)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4"/>
          <p:cNvCxnSpPr>
            <a:stCxn id="222" idx="2"/>
            <a:endCxn id="234" idx="0"/>
          </p:cNvCxnSpPr>
          <p:nvPr/>
        </p:nvCxnSpPr>
        <p:spPr>
          <a:xfrm flipH="1">
            <a:off x="1370456" y="4084398"/>
            <a:ext cx="1215600" cy="617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8" name="Google Shape;238;p4"/>
          <p:cNvSpPr txBox="1"/>
          <p:nvPr/>
        </p:nvSpPr>
        <p:spPr>
          <a:xfrm>
            <a:off x="1602290" y="418963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76727" y="5675216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k(5,0)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1544044" y="568678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k(3,0)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4"/>
          <p:cNvCxnSpPr>
            <a:stCxn id="234" idx="2"/>
            <a:endCxn id="239" idx="0"/>
          </p:cNvCxnSpPr>
          <p:nvPr/>
        </p:nvCxnSpPr>
        <p:spPr>
          <a:xfrm flipH="1">
            <a:off x="582383" y="5144726"/>
            <a:ext cx="788100" cy="530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2" name="Google Shape;242;p4"/>
          <p:cNvCxnSpPr>
            <a:stCxn id="234" idx="2"/>
            <a:endCxn id="240" idx="0"/>
          </p:cNvCxnSpPr>
          <p:nvPr/>
        </p:nvCxnSpPr>
        <p:spPr>
          <a:xfrm>
            <a:off x="1370483" y="5144726"/>
            <a:ext cx="679200" cy="54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3" name="Google Shape;243;p4"/>
          <p:cNvSpPr txBox="1"/>
          <p:nvPr/>
        </p:nvSpPr>
        <p:spPr>
          <a:xfrm>
            <a:off x="483109" y="514472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1738352" y="5183254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2790593" y="5675215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k(2,0)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4015580" y="5668373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k(0,0)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4"/>
          <p:cNvCxnSpPr>
            <a:stCxn id="236" idx="2"/>
            <a:endCxn id="245" idx="0"/>
          </p:cNvCxnSpPr>
          <p:nvPr/>
        </p:nvCxnSpPr>
        <p:spPr>
          <a:xfrm flipH="1">
            <a:off x="3296152" y="5107719"/>
            <a:ext cx="423300" cy="56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8" name="Google Shape;248;p4"/>
          <p:cNvCxnSpPr>
            <a:stCxn id="236" idx="2"/>
            <a:endCxn id="246" idx="0"/>
          </p:cNvCxnSpPr>
          <p:nvPr/>
        </p:nvCxnSpPr>
        <p:spPr>
          <a:xfrm>
            <a:off x="3719452" y="5107719"/>
            <a:ext cx="801600" cy="56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9" name="Google Shape;249;p4"/>
          <p:cNvSpPr txBox="1"/>
          <p:nvPr/>
        </p:nvSpPr>
        <p:spPr>
          <a:xfrm>
            <a:off x="3171763" y="522530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4015363" y="518932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387633" y="613318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"/>
          <p:cNvSpPr txBox="1"/>
          <p:nvPr/>
        </p:nvSpPr>
        <p:spPr>
          <a:xfrm>
            <a:off x="1780383" y="6133186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 txBox="1"/>
          <p:nvPr/>
        </p:nvSpPr>
        <p:spPr>
          <a:xfrm>
            <a:off x="3296111" y="4167034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 txBox="1"/>
          <p:nvPr/>
        </p:nvSpPr>
        <p:spPr>
          <a:xfrm>
            <a:off x="3091574" y="616213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4309241" y="6182913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5368163" y="5661607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6640645" y="5671762"/>
            <a:ext cx="1011036" cy="4433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k(1-2,0)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4"/>
          <p:cNvCxnSpPr>
            <a:stCxn id="228" idx="2"/>
            <a:endCxn id="256" idx="0"/>
          </p:cNvCxnSpPr>
          <p:nvPr/>
        </p:nvCxnSpPr>
        <p:spPr>
          <a:xfrm flipH="1">
            <a:off x="5873613" y="5128662"/>
            <a:ext cx="416400" cy="53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9" name="Google Shape;259;p4"/>
          <p:cNvSpPr txBox="1"/>
          <p:nvPr/>
        </p:nvSpPr>
        <p:spPr>
          <a:xfrm>
            <a:off x="5726616" y="5196711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4"/>
          <p:cNvCxnSpPr>
            <a:stCxn id="228" idx="2"/>
            <a:endCxn id="257" idx="0"/>
          </p:cNvCxnSpPr>
          <p:nvPr/>
        </p:nvCxnSpPr>
        <p:spPr>
          <a:xfrm>
            <a:off x="6290013" y="5128662"/>
            <a:ext cx="856200" cy="54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1" name="Google Shape;261;p4"/>
          <p:cNvSpPr txBox="1"/>
          <p:nvPr/>
        </p:nvSpPr>
        <p:spPr>
          <a:xfrm>
            <a:off x="6691736" y="5225305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"/>
          <p:cNvSpPr txBox="1"/>
          <p:nvPr/>
        </p:nvSpPr>
        <p:spPr>
          <a:xfrm>
            <a:off x="5705868" y="6227307"/>
            <a:ext cx="375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7546734" y="4375916"/>
            <a:ext cx="1607127" cy="2087418"/>
          </a:xfrm>
          <a:custGeom>
            <a:rect b="b" l="l" r="r" t="t"/>
            <a:pathLst>
              <a:path extrusionOk="0" h="2087418" w="1607127">
                <a:moveTo>
                  <a:pt x="193964" y="0"/>
                </a:moveTo>
                <a:cubicBezTo>
                  <a:pt x="178570" y="12315"/>
                  <a:pt x="160764" y="22109"/>
                  <a:pt x="147782" y="36945"/>
                </a:cubicBezTo>
                <a:cubicBezTo>
                  <a:pt x="138715" y="47307"/>
                  <a:pt x="136140" y="61936"/>
                  <a:pt x="129309" y="73891"/>
                </a:cubicBezTo>
                <a:cubicBezTo>
                  <a:pt x="123801" y="83529"/>
                  <a:pt x="116994" y="92364"/>
                  <a:pt x="110836" y="101600"/>
                </a:cubicBezTo>
                <a:cubicBezTo>
                  <a:pt x="88854" y="167549"/>
                  <a:pt x="103165" y="140817"/>
                  <a:pt x="73891" y="184727"/>
                </a:cubicBezTo>
                <a:cubicBezTo>
                  <a:pt x="70812" y="193963"/>
                  <a:pt x="67330" y="203075"/>
                  <a:pt x="64655" y="212436"/>
                </a:cubicBezTo>
                <a:cubicBezTo>
                  <a:pt x="60711" y="226240"/>
                  <a:pt x="53562" y="262332"/>
                  <a:pt x="46182" y="277091"/>
                </a:cubicBezTo>
                <a:cubicBezTo>
                  <a:pt x="41218" y="287020"/>
                  <a:pt x="33867" y="295564"/>
                  <a:pt x="27709" y="304800"/>
                </a:cubicBezTo>
                <a:lnTo>
                  <a:pt x="9236" y="397164"/>
                </a:lnTo>
                <a:lnTo>
                  <a:pt x="0" y="443345"/>
                </a:lnTo>
                <a:cubicBezTo>
                  <a:pt x="3079" y="569575"/>
                  <a:pt x="3502" y="695898"/>
                  <a:pt x="9236" y="822036"/>
                </a:cubicBezTo>
                <a:cubicBezTo>
                  <a:pt x="9678" y="831762"/>
                  <a:pt x="16993" y="840122"/>
                  <a:pt x="18473" y="849745"/>
                </a:cubicBezTo>
                <a:cubicBezTo>
                  <a:pt x="23178" y="880327"/>
                  <a:pt x="23620" y="911439"/>
                  <a:pt x="27709" y="942109"/>
                </a:cubicBezTo>
                <a:cubicBezTo>
                  <a:pt x="33511" y="985627"/>
                  <a:pt x="40976" y="1000384"/>
                  <a:pt x="55418" y="1043709"/>
                </a:cubicBezTo>
                <a:lnTo>
                  <a:pt x="73891" y="1099127"/>
                </a:lnTo>
                <a:cubicBezTo>
                  <a:pt x="76970" y="1108363"/>
                  <a:pt x="77726" y="1118735"/>
                  <a:pt x="83127" y="1126836"/>
                </a:cubicBezTo>
                <a:lnTo>
                  <a:pt x="101600" y="1154545"/>
                </a:lnTo>
                <a:cubicBezTo>
                  <a:pt x="118103" y="1204057"/>
                  <a:pt x="105213" y="1161566"/>
                  <a:pt x="120073" y="1228436"/>
                </a:cubicBezTo>
                <a:cubicBezTo>
                  <a:pt x="122827" y="1240828"/>
                  <a:pt x="126649" y="1252969"/>
                  <a:pt x="129309" y="1265382"/>
                </a:cubicBezTo>
                <a:cubicBezTo>
                  <a:pt x="152132" y="1371889"/>
                  <a:pt x="129597" y="1330469"/>
                  <a:pt x="166255" y="1385454"/>
                </a:cubicBezTo>
                <a:cubicBezTo>
                  <a:pt x="188237" y="1451404"/>
                  <a:pt x="173926" y="1424671"/>
                  <a:pt x="203200" y="1468582"/>
                </a:cubicBezTo>
                <a:cubicBezTo>
                  <a:pt x="206279" y="1477818"/>
                  <a:pt x="207708" y="1487780"/>
                  <a:pt x="212436" y="1496291"/>
                </a:cubicBezTo>
                <a:cubicBezTo>
                  <a:pt x="223218" y="1515699"/>
                  <a:pt x="249382" y="1551709"/>
                  <a:pt x="249382" y="1551709"/>
                </a:cubicBezTo>
                <a:cubicBezTo>
                  <a:pt x="252461" y="1560945"/>
                  <a:pt x="252536" y="1571815"/>
                  <a:pt x="258618" y="1579418"/>
                </a:cubicBezTo>
                <a:cubicBezTo>
                  <a:pt x="265553" y="1588086"/>
                  <a:pt x="277799" y="1590784"/>
                  <a:pt x="286327" y="1597891"/>
                </a:cubicBezTo>
                <a:cubicBezTo>
                  <a:pt x="296362" y="1606253"/>
                  <a:pt x="305535" y="1615682"/>
                  <a:pt x="314036" y="1625600"/>
                </a:cubicBezTo>
                <a:cubicBezTo>
                  <a:pt x="347736" y="1664916"/>
                  <a:pt x="332427" y="1658515"/>
                  <a:pt x="369455" y="1690254"/>
                </a:cubicBezTo>
                <a:cubicBezTo>
                  <a:pt x="413610" y="1728102"/>
                  <a:pt x="396034" y="1709401"/>
                  <a:pt x="443345" y="1736436"/>
                </a:cubicBezTo>
                <a:cubicBezTo>
                  <a:pt x="485755" y="1760670"/>
                  <a:pt x="462878" y="1753178"/>
                  <a:pt x="508000" y="1791854"/>
                </a:cubicBezTo>
                <a:cubicBezTo>
                  <a:pt x="535381" y="1815323"/>
                  <a:pt x="540398" y="1808639"/>
                  <a:pt x="572655" y="1828800"/>
                </a:cubicBezTo>
                <a:cubicBezTo>
                  <a:pt x="585709" y="1836959"/>
                  <a:pt x="596546" y="1848350"/>
                  <a:pt x="609600" y="1856509"/>
                </a:cubicBezTo>
                <a:cubicBezTo>
                  <a:pt x="621276" y="1863806"/>
                  <a:pt x="634869" y="1867685"/>
                  <a:pt x="646545" y="1874982"/>
                </a:cubicBezTo>
                <a:cubicBezTo>
                  <a:pt x="659599" y="1883141"/>
                  <a:pt x="670125" y="1895054"/>
                  <a:pt x="683491" y="1902691"/>
                </a:cubicBezTo>
                <a:cubicBezTo>
                  <a:pt x="691944" y="1907521"/>
                  <a:pt x="702628" y="1907311"/>
                  <a:pt x="711200" y="1911927"/>
                </a:cubicBezTo>
                <a:cubicBezTo>
                  <a:pt x="756629" y="1936389"/>
                  <a:pt x="793976" y="1965875"/>
                  <a:pt x="840509" y="1985818"/>
                </a:cubicBezTo>
                <a:cubicBezTo>
                  <a:pt x="849458" y="1989653"/>
                  <a:pt x="858982" y="1991975"/>
                  <a:pt x="868218" y="1995054"/>
                </a:cubicBezTo>
                <a:cubicBezTo>
                  <a:pt x="877454" y="2001212"/>
                  <a:pt x="885783" y="2009018"/>
                  <a:pt x="895927" y="2013527"/>
                </a:cubicBezTo>
                <a:cubicBezTo>
                  <a:pt x="913721" y="2021435"/>
                  <a:pt x="932872" y="2025842"/>
                  <a:pt x="951345" y="2032000"/>
                </a:cubicBezTo>
                <a:lnTo>
                  <a:pt x="1034473" y="2059709"/>
                </a:lnTo>
                <a:cubicBezTo>
                  <a:pt x="1043709" y="2062788"/>
                  <a:pt x="1052737" y="2066584"/>
                  <a:pt x="1062182" y="2068945"/>
                </a:cubicBezTo>
                <a:lnTo>
                  <a:pt x="1136073" y="2087418"/>
                </a:lnTo>
                <a:cubicBezTo>
                  <a:pt x="1191491" y="2084339"/>
                  <a:pt x="1247074" y="2083444"/>
                  <a:pt x="1302327" y="2078182"/>
                </a:cubicBezTo>
                <a:cubicBezTo>
                  <a:pt x="1330774" y="2075473"/>
                  <a:pt x="1368281" y="2043449"/>
                  <a:pt x="1385455" y="2032000"/>
                </a:cubicBezTo>
                <a:lnTo>
                  <a:pt x="1413164" y="2013527"/>
                </a:lnTo>
                <a:cubicBezTo>
                  <a:pt x="1422400" y="2007369"/>
                  <a:pt x="1430342" y="1998564"/>
                  <a:pt x="1440873" y="1995054"/>
                </a:cubicBezTo>
                <a:lnTo>
                  <a:pt x="1468582" y="1985818"/>
                </a:lnTo>
                <a:cubicBezTo>
                  <a:pt x="1487055" y="1967345"/>
                  <a:pt x="1515739" y="1955184"/>
                  <a:pt x="1524000" y="1930400"/>
                </a:cubicBezTo>
                <a:cubicBezTo>
                  <a:pt x="1536746" y="1892160"/>
                  <a:pt x="1527835" y="1910792"/>
                  <a:pt x="1551709" y="1874982"/>
                </a:cubicBezTo>
                <a:cubicBezTo>
                  <a:pt x="1573854" y="1808546"/>
                  <a:pt x="1546986" y="1891511"/>
                  <a:pt x="1570182" y="1810327"/>
                </a:cubicBezTo>
                <a:cubicBezTo>
                  <a:pt x="1572857" y="1800966"/>
                  <a:pt x="1576339" y="1791854"/>
                  <a:pt x="1579418" y="1782618"/>
                </a:cubicBezTo>
                <a:cubicBezTo>
                  <a:pt x="1582497" y="1745673"/>
                  <a:pt x="1582560" y="1708351"/>
                  <a:pt x="1588655" y="1671782"/>
                </a:cubicBezTo>
                <a:cubicBezTo>
                  <a:pt x="1591856" y="1652575"/>
                  <a:pt x="1607127" y="1616364"/>
                  <a:pt x="1607127" y="1616364"/>
                </a:cubicBezTo>
                <a:cubicBezTo>
                  <a:pt x="1604048" y="1536315"/>
                  <a:pt x="1603219" y="1456148"/>
                  <a:pt x="1597891" y="1376218"/>
                </a:cubicBezTo>
                <a:cubicBezTo>
                  <a:pt x="1596728" y="1358768"/>
                  <a:pt x="1573042" y="1292432"/>
                  <a:pt x="1570182" y="1283854"/>
                </a:cubicBezTo>
                <a:cubicBezTo>
                  <a:pt x="1567103" y="1274618"/>
                  <a:pt x="1566345" y="1264246"/>
                  <a:pt x="1560945" y="1256145"/>
                </a:cubicBezTo>
                <a:lnTo>
                  <a:pt x="1542473" y="1228436"/>
                </a:lnTo>
                <a:cubicBezTo>
                  <a:pt x="1533654" y="1193163"/>
                  <a:pt x="1532152" y="1180085"/>
                  <a:pt x="1514764" y="1145309"/>
                </a:cubicBezTo>
                <a:cubicBezTo>
                  <a:pt x="1509800" y="1135380"/>
                  <a:pt x="1501799" y="1127238"/>
                  <a:pt x="1496291" y="1117600"/>
                </a:cubicBezTo>
                <a:cubicBezTo>
                  <a:pt x="1455718" y="1046599"/>
                  <a:pt x="1503090" y="1114350"/>
                  <a:pt x="1450109" y="1043709"/>
                </a:cubicBezTo>
                <a:cubicBezTo>
                  <a:pt x="1432165" y="989874"/>
                  <a:pt x="1445228" y="1024711"/>
                  <a:pt x="1403927" y="942109"/>
                </a:cubicBezTo>
                <a:cubicBezTo>
                  <a:pt x="1397770" y="929794"/>
                  <a:pt x="1393092" y="916620"/>
                  <a:pt x="1385455" y="905164"/>
                </a:cubicBezTo>
                <a:lnTo>
                  <a:pt x="1348509" y="849745"/>
                </a:lnTo>
                <a:cubicBezTo>
                  <a:pt x="1332252" y="800973"/>
                  <a:pt x="1344674" y="830139"/>
                  <a:pt x="1302327" y="766618"/>
                </a:cubicBezTo>
                <a:cubicBezTo>
                  <a:pt x="1296170" y="757382"/>
                  <a:pt x="1287366" y="749440"/>
                  <a:pt x="1283855" y="738909"/>
                </a:cubicBezTo>
                <a:cubicBezTo>
                  <a:pt x="1272240" y="704066"/>
                  <a:pt x="1269431" y="687540"/>
                  <a:pt x="1237673" y="655782"/>
                </a:cubicBezTo>
                <a:cubicBezTo>
                  <a:pt x="1228437" y="646546"/>
                  <a:pt x="1218465" y="637991"/>
                  <a:pt x="1209964" y="628073"/>
                </a:cubicBezTo>
                <a:cubicBezTo>
                  <a:pt x="1199946" y="616385"/>
                  <a:pt x="1192553" y="602569"/>
                  <a:pt x="1182255" y="591127"/>
                </a:cubicBezTo>
                <a:cubicBezTo>
                  <a:pt x="1164779" y="571709"/>
                  <a:pt x="1141327" y="557446"/>
                  <a:pt x="1126836" y="535709"/>
                </a:cubicBezTo>
                <a:cubicBezTo>
                  <a:pt x="1045754" y="414084"/>
                  <a:pt x="1127295" y="528548"/>
                  <a:pt x="1062182" y="452582"/>
                </a:cubicBezTo>
                <a:cubicBezTo>
                  <a:pt x="1052164" y="440894"/>
                  <a:pt x="1045358" y="426521"/>
                  <a:pt x="1034473" y="415636"/>
                </a:cubicBezTo>
                <a:cubicBezTo>
                  <a:pt x="1026624" y="407787"/>
                  <a:pt x="1015741" y="403693"/>
                  <a:pt x="1006764" y="397164"/>
                </a:cubicBezTo>
                <a:cubicBezTo>
                  <a:pt x="981865" y="379055"/>
                  <a:pt x="954643" y="363515"/>
                  <a:pt x="932873" y="341745"/>
                </a:cubicBezTo>
                <a:cubicBezTo>
                  <a:pt x="923637" y="332509"/>
                  <a:pt x="915475" y="322055"/>
                  <a:pt x="905164" y="314036"/>
                </a:cubicBezTo>
                <a:cubicBezTo>
                  <a:pt x="887639" y="300406"/>
                  <a:pt x="865444" y="292790"/>
                  <a:pt x="849745" y="277091"/>
                </a:cubicBezTo>
                <a:cubicBezTo>
                  <a:pt x="816178" y="243524"/>
                  <a:pt x="826562" y="251295"/>
                  <a:pt x="785091" y="221673"/>
                </a:cubicBezTo>
                <a:cubicBezTo>
                  <a:pt x="776058" y="215221"/>
                  <a:pt x="767311" y="208164"/>
                  <a:pt x="757382" y="203200"/>
                </a:cubicBezTo>
                <a:cubicBezTo>
                  <a:pt x="748674" y="198846"/>
                  <a:pt x="738909" y="197043"/>
                  <a:pt x="729673" y="193964"/>
                </a:cubicBezTo>
                <a:cubicBezTo>
                  <a:pt x="650277" y="141032"/>
                  <a:pt x="750723" y="204487"/>
                  <a:pt x="674255" y="166254"/>
                </a:cubicBezTo>
                <a:cubicBezTo>
                  <a:pt x="664326" y="161290"/>
                  <a:pt x="656689" y="152290"/>
                  <a:pt x="646545" y="147782"/>
                </a:cubicBezTo>
                <a:cubicBezTo>
                  <a:pt x="646530" y="147775"/>
                  <a:pt x="577280" y="124694"/>
                  <a:pt x="563418" y="120073"/>
                </a:cubicBezTo>
                <a:cubicBezTo>
                  <a:pt x="554182" y="116994"/>
                  <a:pt x="543810" y="116236"/>
                  <a:pt x="535709" y="110836"/>
                </a:cubicBezTo>
                <a:cubicBezTo>
                  <a:pt x="526473" y="104679"/>
                  <a:pt x="518144" y="96872"/>
                  <a:pt x="508000" y="92364"/>
                </a:cubicBezTo>
                <a:cubicBezTo>
                  <a:pt x="490206" y="84456"/>
                  <a:pt x="471055" y="80049"/>
                  <a:pt x="452582" y="73891"/>
                </a:cubicBezTo>
                <a:cubicBezTo>
                  <a:pt x="423495" y="64195"/>
                  <a:pt x="420413" y="62379"/>
                  <a:pt x="387927" y="55418"/>
                </a:cubicBezTo>
                <a:cubicBezTo>
                  <a:pt x="357227" y="48839"/>
                  <a:pt x="326352" y="43103"/>
                  <a:pt x="295564" y="36945"/>
                </a:cubicBezTo>
                <a:cubicBezTo>
                  <a:pt x="280170" y="33866"/>
                  <a:pt x="265081" y="27709"/>
                  <a:pt x="249382" y="27709"/>
                </a:cubicBezTo>
                <a:lnTo>
                  <a:pt x="193964" y="0"/>
                </a:lnTo>
                <a:close/>
              </a:path>
            </a:pathLst>
          </a:custGeom>
          <a:noFill/>
          <a:ln cap="flat" cmpd="sng" w="381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6406251" y="5241463"/>
            <a:ext cx="1569832" cy="1221871"/>
          </a:xfrm>
          <a:custGeom>
            <a:rect b="b" l="l" r="r" t="t"/>
            <a:pathLst>
              <a:path extrusionOk="0" h="2087418" w="1607127">
                <a:moveTo>
                  <a:pt x="193964" y="0"/>
                </a:moveTo>
                <a:cubicBezTo>
                  <a:pt x="178570" y="12315"/>
                  <a:pt x="160764" y="22109"/>
                  <a:pt x="147782" y="36945"/>
                </a:cubicBezTo>
                <a:cubicBezTo>
                  <a:pt x="138715" y="47307"/>
                  <a:pt x="136140" y="61936"/>
                  <a:pt x="129309" y="73891"/>
                </a:cubicBezTo>
                <a:cubicBezTo>
                  <a:pt x="123801" y="83529"/>
                  <a:pt x="116994" y="92364"/>
                  <a:pt x="110836" y="101600"/>
                </a:cubicBezTo>
                <a:cubicBezTo>
                  <a:pt x="88854" y="167549"/>
                  <a:pt x="103165" y="140817"/>
                  <a:pt x="73891" y="184727"/>
                </a:cubicBezTo>
                <a:cubicBezTo>
                  <a:pt x="70812" y="193963"/>
                  <a:pt x="67330" y="203075"/>
                  <a:pt x="64655" y="212436"/>
                </a:cubicBezTo>
                <a:cubicBezTo>
                  <a:pt x="60711" y="226240"/>
                  <a:pt x="53562" y="262332"/>
                  <a:pt x="46182" y="277091"/>
                </a:cubicBezTo>
                <a:cubicBezTo>
                  <a:pt x="41218" y="287020"/>
                  <a:pt x="33867" y="295564"/>
                  <a:pt x="27709" y="304800"/>
                </a:cubicBezTo>
                <a:lnTo>
                  <a:pt x="9236" y="397164"/>
                </a:lnTo>
                <a:lnTo>
                  <a:pt x="0" y="443345"/>
                </a:lnTo>
                <a:cubicBezTo>
                  <a:pt x="3079" y="569575"/>
                  <a:pt x="3502" y="695898"/>
                  <a:pt x="9236" y="822036"/>
                </a:cubicBezTo>
                <a:cubicBezTo>
                  <a:pt x="9678" y="831762"/>
                  <a:pt x="16993" y="840122"/>
                  <a:pt x="18473" y="849745"/>
                </a:cubicBezTo>
                <a:cubicBezTo>
                  <a:pt x="23178" y="880327"/>
                  <a:pt x="23620" y="911439"/>
                  <a:pt x="27709" y="942109"/>
                </a:cubicBezTo>
                <a:cubicBezTo>
                  <a:pt x="33511" y="985627"/>
                  <a:pt x="40976" y="1000384"/>
                  <a:pt x="55418" y="1043709"/>
                </a:cubicBezTo>
                <a:lnTo>
                  <a:pt x="73891" y="1099127"/>
                </a:lnTo>
                <a:cubicBezTo>
                  <a:pt x="76970" y="1108363"/>
                  <a:pt x="77726" y="1118735"/>
                  <a:pt x="83127" y="1126836"/>
                </a:cubicBezTo>
                <a:lnTo>
                  <a:pt x="101600" y="1154545"/>
                </a:lnTo>
                <a:cubicBezTo>
                  <a:pt x="118103" y="1204057"/>
                  <a:pt x="105213" y="1161566"/>
                  <a:pt x="120073" y="1228436"/>
                </a:cubicBezTo>
                <a:cubicBezTo>
                  <a:pt x="122827" y="1240828"/>
                  <a:pt x="126649" y="1252969"/>
                  <a:pt x="129309" y="1265382"/>
                </a:cubicBezTo>
                <a:cubicBezTo>
                  <a:pt x="152132" y="1371889"/>
                  <a:pt x="129597" y="1330469"/>
                  <a:pt x="166255" y="1385454"/>
                </a:cubicBezTo>
                <a:cubicBezTo>
                  <a:pt x="188237" y="1451404"/>
                  <a:pt x="173926" y="1424671"/>
                  <a:pt x="203200" y="1468582"/>
                </a:cubicBezTo>
                <a:cubicBezTo>
                  <a:pt x="206279" y="1477818"/>
                  <a:pt x="207708" y="1487780"/>
                  <a:pt x="212436" y="1496291"/>
                </a:cubicBezTo>
                <a:cubicBezTo>
                  <a:pt x="223218" y="1515699"/>
                  <a:pt x="249382" y="1551709"/>
                  <a:pt x="249382" y="1551709"/>
                </a:cubicBezTo>
                <a:cubicBezTo>
                  <a:pt x="252461" y="1560945"/>
                  <a:pt x="252536" y="1571815"/>
                  <a:pt x="258618" y="1579418"/>
                </a:cubicBezTo>
                <a:cubicBezTo>
                  <a:pt x="265553" y="1588086"/>
                  <a:pt x="277799" y="1590784"/>
                  <a:pt x="286327" y="1597891"/>
                </a:cubicBezTo>
                <a:cubicBezTo>
                  <a:pt x="296362" y="1606253"/>
                  <a:pt x="305535" y="1615682"/>
                  <a:pt x="314036" y="1625600"/>
                </a:cubicBezTo>
                <a:cubicBezTo>
                  <a:pt x="347736" y="1664916"/>
                  <a:pt x="332427" y="1658515"/>
                  <a:pt x="369455" y="1690254"/>
                </a:cubicBezTo>
                <a:cubicBezTo>
                  <a:pt x="413610" y="1728102"/>
                  <a:pt x="396034" y="1709401"/>
                  <a:pt x="443345" y="1736436"/>
                </a:cubicBezTo>
                <a:cubicBezTo>
                  <a:pt x="485755" y="1760670"/>
                  <a:pt x="462878" y="1753178"/>
                  <a:pt x="508000" y="1791854"/>
                </a:cubicBezTo>
                <a:cubicBezTo>
                  <a:pt x="535381" y="1815323"/>
                  <a:pt x="540398" y="1808639"/>
                  <a:pt x="572655" y="1828800"/>
                </a:cubicBezTo>
                <a:cubicBezTo>
                  <a:pt x="585709" y="1836959"/>
                  <a:pt x="596546" y="1848350"/>
                  <a:pt x="609600" y="1856509"/>
                </a:cubicBezTo>
                <a:cubicBezTo>
                  <a:pt x="621276" y="1863806"/>
                  <a:pt x="634869" y="1867685"/>
                  <a:pt x="646545" y="1874982"/>
                </a:cubicBezTo>
                <a:cubicBezTo>
                  <a:pt x="659599" y="1883141"/>
                  <a:pt x="670125" y="1895054"/>
                  <a:pt x="683491" y="1902691"/>
                </a:cubicBezTo>
                <a:cubicBezTo>
                  <a:pt x="691944" y="1907521"/>
                  <a:pt x="702628" y="1907311"/>
                  <a:pt x="711200" y="1911927"/>
                </a:cubicBezTo>
                <a:cubicBezTo>
                  <a:pt x="756629" y="1936389"/>
                  <a:pt x="793976" y="1965875"/>
                  <a:pt x="840509" y="1985818"/>
                </a:cubicBezTo>
                <a:cubicBezTo>
                  <a:pt x="849458" y="1989653"/>
                  <a:pt x="858982" y="1991975"/>
                  <a:pt x="868218" y="1995054"/>
                </a:cubicBezTo>
                <a:cubicBezTo>
                  <a:pt x="877454" y="2001212"/>
                  <a:pt x="885783" y="2009018"/>
                  <a:pt x="895927" y="2013527"/>
                </a:cubicBezTo>
                <a:cubicBezTo>
                  <a:pt x="913721" y="2021435"/>
                  <a:pt x="932872" y="2025842"/>
                  <a:pt x="951345" y="2032000"/>
                </a:cubicBezTo>
                <a:lnTo>
                  <a:pt x="1034473" y="2059709"/>
                </a:lnTo>
                <a:cubicBezTo>
                  <a:pt x="1043709" y="2062788"/>
                  <a:pt x="1052737" y="2066584"/>
                  <a:pt x="1062182" y="2068945"/>
                </a:cubicBezTo>
                <a:lnTo>
                  <a:pt x="1136073" y="2087418"/>
                </a:lnTo>
                <a:cubicBezTo>
                  <a:pt x="1191491" y="2084339"/>
                  <a:pt x="1247074" y="2083444"/>
                  <a:pt x="1302327" y="2078182"/>
                </a:cubicBezTo>
                <a:cubicBezTo>
                  <a:pt x="1330774" y="2075473"/>
                  <a:pt x="1368281" y="2043449"/>
                  <a:pt x="1385455" y="2032000"/>
                </a:cubicBezTo>
                <a:lnTo>
                  <a:pt x="1413164" y="2013527"/>
                </a:lnTo>
                <a:cubicBezTo>
                  <a:pt x="1422400" y="2007369"/>
                  <a:pt x="1430342" y="1998564"/>
                  <a:pt x="1440873" y="1995054"/>
                </a:cubicBezTo>
                <a:lnTo>
                  <a:pt x="1468582" y="1985818"/>
                </a:lnTo>
                <a:cubicBezTo>
                  <a:pt x="1487055" y="1967345"/>
                  <a:pt x="1515739" y="1955184"/>
                  <a:pt x="1524000" y="1930400"/>
                </a:cubicBezTo>
                <a:cubicBezTo>
                  <a:pt x="1536746" y="1892160"/>
                  <a:pt x="1527835" y="1910792"/>
                  <a:pt x="1551709" y="1874982"/>
                </a:cubicBezTo>
                <a:cubicBezTo>
                  <a:pt x="1573854" y="1808546"/>
                  <a:pt x="1546986" y="1891511"/>
                  <a:pt x="1570182" y="1810327"/>
                </a:cubicBezTo>
                <a:cubicBezTo>
                  <a:pt x="1572857" y="1800966"/>
                  <a:pt x="1576339" y="1791854"/>
                  <a:pt x="1579418" y="1782618"/>
                </a:cubicBezTo>
                <a:cubicBezTo>
                  <a:pt x="1582497" y="1745673"/>
                  <a:pt x="1582560" y="1708351"/>
                  <a:pt x="1588655" y="1671782"/>
                </a:cubicBezTo>
                <a:cubicBezTo>
                  <a:pt x="1591856" y="1652575"/>
                  <a:pt x="1607127" y="1616364"/>
                  <a:pt x="1607127" y="1616364"/>
                </a:cubicBezTo>
                <a:cubicBezTo>
                  <a:pt x="1604048" y="1536315"/>
                  <a:pt x="1603219" y="1456148"/>
                  <a:pt x="1597891" y="1376218"/>
                </a:cubicBezTo>
                <a:cubicBezTo>
                  <a:pt x="1596728" y="1358768"/>
                  <a:pt x="1573042" y="1292432"/>
                  <a:pt x="1570182" y="1283854"/>
                </a:cubicBezTo>
                <a:cubicBezTo>
                  <a:pt x="1567103" y="1274618"/>
                  <a:pt x="1566345" y="1264246"/>
                  <a:pt x="1560945" y="1256145"/>
                </a:cubicBezTo>
                <a:lnTo>
                  <a:pt x="1542473" y="1228436"/>
                </a:lnTo>
                <a:cubicBezTo>
                  <a:pt x="1533654" y="1193163"/>
                  <a:pt x="1532152" y="1180085"/>
                  <a:pt x="1514764" y="1145309"/>
                </a:cubicBezTo>
                <a:cubicBezTo>
                  <a:pt x="1509800" y="1135380"/>
                  <a:pt x="1501799" y="1127238"/>
                  <a:pt x="1496291" y="1117600"/>
                </a:cubicBezTo>
                <a:cubicBezTo>
                  <a:pt x="1455718" y="1046599"/>
                  <a:pt x="1503090" y="1114350"/>
                  <a:pt x="1450109" y="1043709"/>
                </a:cubicBezTo>
                <a:cubicBezTo>
                  <a:pt x="1432165" y="989874"/>
                  <a:pt x="1445228" y="1024711"/>
                  <a:pt x="1403927" y="942109"/>
                </a:cubicBezTo>
                <a:cubicBezTo>
                  <a:pt x="1397770" y="929794"/>
                  <a:pt x="1393092" y="916620"/>
                  <a:pt x="1385455" y="905164"/>
                </a:cubicBezTo>
                <a:lnTo>
                  <a:pt x="1348509" y="849745"/>
                </a:lnTo>
                <a:cubicBezTo>
                  <a:pt x="1332252" y="800973"/>
                  <a:pt x="1344674" y="830139"/>
                  <a:pt x="1302327" y="766618"/>
                </a:cubicBezTo>
                <a:cubicBezTo>
                  <a:pt x="1296170" y="757382"/>
                  <a:pt x="1287366" y="749440"/>
                  <a:pt x="1283855" y="738909"/>
                </a:cubicBezTo>
                <a:cubicBezTo>
                  <a:pt x="1272240" y="704066"/>
                  <a:pt x="1269431" y="687540"/>
                  <a:pt x="1237673" y="655782"/>
                </a:cubicBezTo>
                <a:cubicBezTo>
                  <a:pt x="1228437" y="646546"/>
                  <a:pt x="1218465" y="637991"/>
                  <a:pt x="1209964" y="628073"/>
                </a:cubicBezTo>
                <a:cubicBezTo>
                  <a:pt x="1199946" y="616385"/>
                  <a:pt x="1192553" y="602569"/>
                  <a:pt x="1182255" y="591127"/>
                </a:cubicBezTo>
                <a:cubicBezTo>
                  <a:pt x="1164779" y="571709"/>
                  <a:pt x="1141327" y="557446"/>
                  <a:pt x="1126836" y="535709"/>
                </a:cubicBezTo>
                <a:cubicBezTo>
                  <a:pt x="1045754" y="414084"/>
                  <a:pt x="1127295" y="528548"/>
                  <a:pt x="1062182" y="452582"/>
                </a:cubicBezTo>
                <a:cubicBezTo>
                  <a:pt x="1052164" y="440894"/>
                  <a:pt x="1045358" y="426521"/>
                  <a:pt x="1034473" y="415636"/>
                </a:cubicBezTo>
                <a:cubicBezTo>
                  <a:pt x="1026624" y="407787"/>
                  <a:pt x="1015741" y="403693"/>
                  <a:pt x="1006764" y="397164"/>
                </a:cubicBezTo>
                <a:cubicBezTo>
                  <a:pt x="981865" y="379055"/>
                  <a:pt x="954643" y="363515"/>
                  <a:pt x="932873" y="341745"/>
                </a:cubicBezTo>
                <a:cubicBezTo>
                  <a:pt x="923637" y="332509"/>
                  <a:pt x="915475" y="322055"/>
                  <a:pt x="905164" y="314036"/>
                </a:cubicBezTo>
                <a:cubicBezTo>
                  <a:pt x="887639" y="300406"/>
                  <a:pt x="865444" y="292790"/>
                  <a:pt x="849745" y="277091"/>
                </a:cubicBezTo>
                <a:cubicBezTo>
                  <a:pt x="816178" y="243524"/>
                  <a:pt x="826562" y="251295"/>
                  <a:pt x="785091" y="221673"/>
                </a:cubicBezTo>
                <a:cubicBezTo>
                  <a:pt x="776058" y="215221"/>
                  <a:pt x="767311" y="208164"/>
                  <a:pt x="757382" y="203200"/>
                </a:cubicBezTo>
                <a:cubicBezTo>
                  <a:pt x="748674" y="198846"/>
                  <a:pt x="738909" y="197043"/>
                  <a:pt x="729673" y="193964"/>
                </a:cubicBezTo>
                <a:cubicBezTo>
                  <a:pt x="650277" y="141032"/>
                  <a:pt x="750723" y="204487"/>
                  <a:pt x="674255" y="166254"/>
                </a:cubicBezTo>
                <a:cubicBezTo>
                  <a:pt x="664326" y="161290"/>
                  <a:pt x="656689" y="152290"/>
                  <a:pt x="646545" y="147782"/>
                </a:cubicBezTo>
                <a:cubicBezTo>
                  <a:pt x="646530" y="147775"/>
                  <a:pt x="577280" y="124694"/>
                  <a:pt x="563418" y="120073"/>
                </a:cubicBezTo>
                <a:cubicBezTo>
                  <a:pt x="554182" y="116994"/>
                  <a:pt x="543810" y="116236"/>
                  <a:pt x="535709" y="110836"/>
                </a:cubicBezTo>
                <a:cubicBezTo>
                  <a:pt x="526473" y="104679"/>
                  <a:pt x="518144" y="96872"/>
                  <a:pt x="508000" y="92364"/>
                </a:cubicBezTo>
                <a:cubicBezTo>
                  <a:pt x="490206" y="84456"/>
                  <a:pt x="471055" y="80049"/>
                  <a:pt x="452582" y="73891"/>
                </a:cubicBezTo>
                <a:cubicBezTo>
                  <a:pt x="423495" y="64195"/>
                  <a:pt x="420413" y="62379"/>
                  <a:pt x="387927" y="55418"/>
                </a:cubicBezTo>
                <a:cubicBezTo>
                  <a:pt x="357227" y="48839"/>
                  <a:pt x="326352" y="43103"/>
                  <a:pt x="295564" y="36945"/>
                </a:cubicBezTo>
                <a:cubicBezTo>
                  <a:pt x="280170" y="33866"/>
                  <a:pt x="265081" y="27709"/>
                  <a:pt x="249382" y="27709"/>
                </a:cubicBezTo>
                <a:lnTo>
                  <a:pt x="193964" y="0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 txBox="1"/>
          <p:nvPr/>
        </p:nvSpPr>
        <p:spPr>
          <a:xfrm>
            <a:off x="8514528" y="2897763"/>
            <a:ext cx="3503062" cy="17543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K(5,3)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was not being greedy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immediate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choices were made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Rather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values from the subproblems </a:t>
            </a: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2300140" y="2433950"/>
            <a:ext cx="2090084" cy="930447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272" name="Google Shape;272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73" name="Google Shape;273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An elementary difference between DP and Greedy</a:t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2382187" y="1784766"/>
            <a:ext cx="1459346" cy="4895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1427377" y="3077855"/>
            <a:ext cx="813957" cy="48952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3943133" y="3077854"/>
            <a:ext cx="951346" cy="48952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5"/>
          <p:cNvCxnSpPr>
            <a:stCxn id="275" idx="2"/>
            <a:endCxn id="277" idx="0"/>
          </p:cNvCxnSpPr>
          <p:nvPr/>
        </p:nvCxnSpPr>
        <p:spPr>
          <a:xfrm>
            <a:off x="3111860" y="2274293"/>
            <a:ext cx="1306800" cy="80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9" name="Google Shape;279;p5"/>
          <p:cNvCxnSpPr>
            <a:stCxn id="275" idx="2"/>
            <a:endCxn id="276" idx="0"/>
          </p:cNvCxnSpPr>
          <p:nvPr/>
        </p:nvCxnSpPr>
        <p:spPr>
          <a:xfrm flipH="1">
            <a:off x="1834460" y="2274293"/>
            <a:ext cx="1277400" cy="80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0" name="Google Shape;280;p5"/>
          <p:cNvSpPr txBox="1"/>
          <p:nvPr/>
        </p:nvSpPr>
        <p:spPr>
          <a:xfrm>
            <a:off x="3841533" y="256062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 txBox="1"/>
          <p:nvPr/>
        </p:nvSpPr>
        <p:spPr>
          <a:xfrm flipH="1">
            <a:off x="1427377" y="2491408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838200" y="4539598"/>
            <a:ext cx="495482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2452472" y="4524995"/>
            <a:ext cx="436272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3943133" y="4524995"/>
            <a:ext cx="564177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5443147" y="4524995"/>
            <a:ext cx="581999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5"/>
          <p:cNvCxnSpPr>
            <a:stCxn id="276" idx="2"/>
            <a:endCxn id="283" idx="0"/>
          </p:cNvCxnSpPr>
          <p:nvPr/>
        </p:nvCxnSpPr>
        <p:spPr>
          <a:xfrm>
            <a:off x="1834356" y="3567382"/>
            <a:ext cx="836400" cy="9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7" name="Google Shape;287;p5"/>
          <p:cNvCxnSpPr>
            <a:stCxn id="276" idx="2"/>
            <a:endCxn id="282" idx="0"/>
          </p:cNvCxnSpPr>
          <p:nvPr/>
        </p:nvCxnSpPr>
        <p:spPr>
          <a:xfrm flipH="1">
            <a:off x="1085856" y="3567382"/>
            <a:ext cx="748500" cy="97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8" name="Google Shape;288;p5"/>
          <p:cNvCxnSpPr>
            <a:stCxn id="277" idx="2"/>
            <a:endCxn id="285" idx="0"/>
          </p:cNvCxnSpPr>
          <p:nvPr/>
        </p:nvCxnSpPr>
        <p:spPr>
          <a:xfrm>
            <a:off x="4418806" y="3567381"/>
            <a:ext cx="1315200" cy="9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9" name="Google Shape;289;p5"/>
          <p:cNvCxnSpPr>
            <a:stCxn id="277" idx="2"/>
            <a:endCxn id="284" idx="0"/>
          </p:cNvCxnSpPr>
          <p:nvPr/>
        </p:nvCxnSpPr>
        <p:spPr>
          <a:xfrm flipH="1">
            <a:off x="4225306" y="3567381"/>
            <a:ext cx="193500" cy="9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0" name="Google Shape;290;p5"/>
          <p:cNvSpPr txBox="1"/>
          <p:nvPr/>
        </p:nvSpPr>
        <p:spPr>
          <a:xfrm flipH="1">
            <a:off x="944778" y="3832956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 txBox="1"/>
          <p:nvPr/>
        </p:nvSpPr>
        <p:spPr>
          <a:xfrm flipH="1">
            <a:off x="2328103" y="3756847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 txBox="1"/>
          <p:nvPr/>
        </p:nvSpPr>
        <p:spPr>
          <a:xfrm flipH="1">
            <a:off x="924176" y="5029125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 txBox="1"/>
          <p:nvPr/>
        </p:nvSpPr>
        <p:spPr>
          <a:xfrm flipH="1">
            <a:off x="2491870" y="5049934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 txBox="1"/>
          <p:nvPr/>
        </p:nvSpPr>
        <p:spPr>
          <a:xfrm flipH="1">
            <a:off x="4059564" y="5070743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 txBox="1"/>
          <p:nvPr/>
        </p:nvSpPr>
        <p:spPr>
          <a:xfrm flipH="1">
            <a:off x="5627258" y="5091552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 txBox="1"/>
          <p:nvPr/>
        </p:nvSpPr>
        <p:spPr>
          <a:xfrm>
            <a:off x="3742998" y="377765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 txBox="1"/>
          <p:nvPr/>
        </p:nvSpPr>
        <p:spPr>
          <a:xfrm>
            <a:off x="5287041" y="37312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 txBox="1"/>
          <p:nvPr/>
        </p:nvSpPr>
        <p:spPr>
          <a:xfrm>
            <a:off x="6761698" y="2560620"/>
            <a:ext cx="50681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that, no immediate choice is made.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waiting for the values from the subproblems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6673348" y="1172246"/>
            <a:ext cx="50434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DP Approach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305" name="Google Shape;305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6" name="Google Shape;306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An elementary difference between DP and Greedy</a:t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2382187" y="1784766"/>
            <a:ext cx="1459346" cy="4895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1427377" y="3077855"/>
            <a:ext cx="813957" cy="48952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3943133" y="3077854"/>
            <a:ext cx="951346" cy="48952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6"/>
          <p:cNvCxnSpPr>
            <a:stCxn id="308" idx="2"/>
            <a:endCxn id="310" idx="0"/>
          </p:cNvCxnSpPr>
          <p:nvPr/>
        </p:nvCxnSpPr>
        <p:spPr>
          <a:xfrm>
            <a:off x="3111860" y="2274293"/>
            <a:ext cx="1306800" cy="80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2" name="Google Shape;312;p6"/>
          <p:cNvCxnSpPr>
            <a:stCxn id="308" idx="2"/>
            <a:endCxn id="309" idx="0"/>
          </p:cNvCxnSpPr>
          <p:nvPr/>
        </p:nvCxnSpPr>
        <p:spPr>
          <a:xfrm flipH="1">
            <a:off x="1834460" y="2274293"/>
            <a:ext cx="1277400" cy="80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3" name="Google Shape;313;p6"/>
          <p:cNvSpPr txBox="1"/>
          <p:nvPr/>
        </p:nvSpPr>
        <p:spPr>
          <a:xfrm>
            <a:off x="3841533" y="256062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 txBox="1"/>
          <p:nvPr/>
        </p:nvSpPr>
        <p:spPr>
          <a:xfrm flipH="1">
            <a:off x="1427377" y="2491408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838200" y="4539598"/>
            <a:ext cx="495482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2452472" y="4524995"/>
            <a:ext cx="436272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3943133" y="4524995"/>
            <a:ext cx="564177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5443147" y="4524995"/>
            <a:ext cx="581999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6"/>
          <p:cNvCxnSpPr>
            <a:stCxn id="309" idx="2"/>
            <a:endCxn id="316" idx="0"/>
          </p:cNvCxnSpPr>
          <p:nvPr/>
        </p:nvCxnSpPr>
        <p:spPr>
          <a:xfrm>
            <a:off x="1834356" y="3567382"/>
            <a:ext cx="836400" cy="9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0" name="Google Shape;320;p6"/>
          <p:cNvCxnSpPr>
            <a:stCxn id="309" idx="2"/>
            <a:endCxn id="315" idx="0"/>
          </p:cNvCxnSpPr>
          <p:nvPr/>
        </p:nvCxnSpPr>
        <p:spPr>
          <a:xfrm flipH="1">
            <a:off x="1085856" y="3567382"/>
            <a:ext cx="748500" cy="97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" name="Google Shape;321;p6"/>
          <p:cNvCxnSpPr>
            <a:stCxn id="310" idx="2"/>
            <a:endCxn id="318" idx="0"/>
          </p:cNvCxnSpPr>
          <p:nvPr/>
        </p:nvCxnSpPr>
        <p:spPr>
          <a:xfrm>
            <a:off x="4418806" y="3567381"/>
            <a:ext cx="1315200" cy="9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2" name="Google Shape;322;p6"/>
          <p:cNvCxnSpPr>
            <a:stCxn id="310" idx="2"/>
            <a:endCxn id="317" idx="0"/>
          </p:cNvCxnSpPr>
          <p:nvPr/>
        </p:nvCxnSpPr>
        <p:spPr>
          <a:xfrm flipH="1">
            <a:off x="4225306" y="3567381"/>
            <a:ext cx="193500" cy="9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3" name="Google Shape;323;p6"/>
          <p:cNvSpPr txBox="1"/>
          <p:nvPr/>
        </p:nvSpPr>
        <p:spPr>
          <a:xfrm flipH="1">
            <a:off x="944778" y="3832956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 txBox="1"/>
          <p:nvPr/>
        </p:nvSpPr>
        <p:spPr>
          <a:xfrm flipH="1">
            <a:off x="2328103" y="3756847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 txBox="1"/>
          <p:nvPr/>
        </p:nvSpPr>
        <p:spPr>
          <a:xfrm flipH="1">
            <a:off x="924176" y="5029125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 txBox="1"/>
          <p:nvPr/>
        </p:nvSpPr>
        <p:spPr>
          <a:xfrm flipH="1">
            <a:off x="2491870" y="5049934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 txBox="1"/>
          <p:nvPr/>
        </p:nvSpPr>
        <p:spPr>
          <a:xfrm flipH="1">
            <a:off x="4059564" y="5070743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 txBox="1"/>
          <p:nvPr/>
        </p:nvSpPr>
        <p:spPr>
          <a:xfrm flipH="1">
            <a:off x="5627258" y="5091552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 txBox="1"/>
          <p:nvPr/>
        </p:nvSpPr>
        <p:spPr>
          <a:xfrm>
            <a:off x="3742998" y="377765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 txBox="1"/>
          <p:nvPr/>
        </p:nvSpPr>
        <p:spPr>
          <a:xfrm>
            <a:off x="5287041" y="37312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 txBox="1"/>
          <p:nvPr/>
        </p:nvSpPr>
        <p:spPr>
          <a:xfrm>
            <a:off x="6761698" y="2560620"/>
            <a:ext cx="50681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that, no immediate choice is made.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waiting for the values from the subproblems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 txBox="1"/>
          <p:nvPr/>
        </p:nvSpPr>
        <p:spPr>
          <a:xfrm flipH="1">
            <a:off x="682354" y="3832956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 txBox="1"/>
          <p:nvPr/>
        </p:nvSpPr>
        <p:spPr>
          <a:xfrm flipH="1">
            <a:off x="2362388" y="4015128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 txBox="1"/>
          <p:nvPr/>
        </p:nvSpPr>
        <p:spPr>
          <a:xfrm flipH="1">
            <a:off x="3531546" y="3767829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 txBox="1"/>
          <p:nvPr/>
        </p:nvSpPr>
        <p:spPr>
          <a:xfrm flipH="1">
            <a:off x="5275478" y="3442260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 txBox="1"/>
          <p:nvPr/>
        </p:nvSpPr>
        <p:spPr>
          <a:xfrm flipH="1">
            <a:off x="1101537" y="2454219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 txBox="1"/>
          <p:nvPr/>
        </p:nvSpPr>
        <p:spPr>
          <a:xfrm flipH="1">
            <a:off x="4260237" y="2508074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 txBox="1"/>
          <p:nvPr/>
        </p:nvSpPr>
        <p:spPr>
          <a:xfrm flipH="1">
            <a:off x="2942144" y="1368157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6673348" y="1172246"/>
            <a:ext cx="504343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DP Approach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345" name="Google Shape;345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46" name="Google Shape;346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An elementary difference between DP and Greedy</a:t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2122054" y="1834342"/>
            <a:ext cx="1459346" cy="4895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1167244" y="3127431"/>
            <a:ext cx="813957" cy="48952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3683000" y="3127430"/>
            <a:ext cx="951346" cy="48952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7"/>
          <p:cNvCxnSpPr>
            <a:stCxn id="348" idx="2"/>
            <a:endCxn id="350" idx="0"/>
          </p:cNvCxnSpPr>
          <p:nvPr/>
        </p:nvCxnSpPr>
        <p:spPr>
          <a:xfrm>
            <a:off x="2851727" y="2323869"/>
            <a:ext cx="1306800" cy="80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2" name="Google Shape;352;p7"/>
          <p:cNvCxnSpPr>
            <a:stCxn id="348" idx="2"/>
            <a:endCxn id="349" idx="0"/>
          </p:cNvCxnSpPr>
          <p:nvPr/>
        </p:nvCxnSpPr>
        <p:spPr>
          <a:xfrm flipH="1">
            <a:off x="1574327" y="2323869"/>
            <a:ext cx="1277400" cy="80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3" name="Google Shape;353;p7"/>
          <p:cNvSpPr txBox="1"/>
          <p:nvPr/>
        </p:nvSpPr>
        <p:spPr>
          <a:xfrm>
            <a:off x="3581400" y="2610196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 txBox="1"/>
          <p:nvPr/>
        </p:nvSpPr>
        <p:spPr>
          <a:xfrm flipH="1">
            <a:off x="1530927" y="2540984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508479" y="4586402"/>
            <a:ext cx="465820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2292421" y="4578755"/>
            <a:ext cx="652680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7"/>
          <p:cNvCxnSpPr>
            <a:stCxn id="349" idx="2"/>
            <a:endCxn id="356" idx="0"/>
          </p:cNvCxnSpPr>
          <p:nvPr/>
        </p:nvCxnSpPr>
        <p:spPr>
          <a:xfrm>
            <a:off x="1574222" y="3616958"/>
            <a:ext cx="1044600" cy="96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8" name="Google Shape;358;p7"/>
          <p:cNvCxnSpPr>
            <a:stCxn id="349" idx="2"/>
            <a:endCxn id="355" idx="0"/>
          </p:cNvCxnSpPr>
          <p:nvPr/>
        </p:nvCxnSpPr>
        <p:spPr>
          <a:xfrm flipH="1">
            <a:off x="741423" y="3616958"/>
            <a:ext cx="832800" cy="96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9" name="Google Shape;359;p7"/>
          <p:cNvSpPr txBox="1"/>
          <p:nvPr/>
        </p:nvSpPr>
        <p:spPr>
          <a:xfrm flipH="1">
            <a:off x="684645" y="3882532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 flipH="1">
            <a:off x="2067970" y="3806423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 txBox="1"/>
          <p:nvPr/>
        </p:nvSpPr>
        <p:spPr>
          <a:xfrm flipH="1">
            <a:off x="664043" y="5078701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3426294" y="2342213"/>
            <a:ext cx="1607127" cy="2087418"/>
          </a:xfrm>
          <a:custGeom>
            <a:rect b="b" l="l" r="r" t="t"/>
            <a:pathLst>
              <a:path extrusionOk="0" h="2087418" w="1607127">
                <a:moveTo>
                  <a:pt x="193964" y="0"/>
                </a:moveTo>
                <a:cubicBezTo>
                  <a:pt x="178570" y="12315"/>
                  <a:pt x="160764" y="22109"/>
                  <a:pt x="147782" y="36945"/>
                </a:cubicBezTo>
                <a:cubicBezTo>
                  <a:pt x="138715" y="47307"/>
                  <a:pt x="136140" y="61936"/>
                  <a:pt x="129309" y="73891"/>
                </a:cubicBezTo>
                <a:cubicBezTo>
                  <a:pt x="123801" y="83529"/>
                  <a:pt x="116994" y="92364"/>
                  <a:pt x="110836" y="101600"/>
                </a:cubicBezTo>
                <a:cubicBezTo>
                  <a:pt x="88854" y="167549"/>
                  <a:pt x="103165" y="140817"/>
                  <a:pt x="73891" y="184727"/>
                </a:cubicBezTo>
                <a:cubicBezTo>
                  <a:pt x="70812" y="193963"/>
                  <a:pt x="67330" y="203075"/>
                  <a:pt x="64655" y="212436"/>
                </a:cubicBezTo>
                <a:cubicBezTo>
                  <a:pt x="60711" y="226240"/>
                  <a:pt x="53562" y="262332"/>
                  <a:pt x="46182" y="277091"/>
                </a:cubicBezTo>
                <a:cubicBezTo>
                  <a:pt x="41218" y="287020"/>
                  <a:pt x="33867" y="295564"/>
                  <a:pt x="27709" y="304800"/>
                </a:cubicBezTo>
                <a:lnTo>
                  <a:pt x="9236" y="397164"/>
                </a:lnTo>
                <a:lnTo>
                  <a:pt x="0" y="443345"/>
                </a:lnTo>
                <a:cubicBezTo>
                  <a:pt x="3079" y="569575"/>
                  <a:pt x="3502" y="695898"/>
                  <a:pt x="9236" y="822036"/>
                </a:cubicBezTo>
                <a:cubicBezTo>
                  <a:pt x="9678" y="831762"/>
                  <a:pt x="16993" y="840122"/>
                  <a:pt x="18473" y="849745"/>
                </a:cubicBezTo>
                <a:cubicBezTo>
                  <a:pt x="23178" y="880327"/>
                  <a:pt x="23620" y="911439"/>
                  <a:pt x="27709" y="942109"/>
                </a:cubicBezTo>
                <a:cubicBezTo>
                  <a:pt x="33511" y="985627"/>
                  <a:pt x="40976" y="1000384"/>
                  <a:pt x="55418" y="1043709"/>
                </a:cubicBezTo>
                <a:lnTo>
                  <a:pt x="73891" y="1099127"/>
                </a:lnTo>
                <a:cubicBezTo>
                  <a:pt x="76970" y="1108363"/>
                  <a:pt x="77726" y="1118735"/>
                  <a:pt x="83127" y="1126836"/>
                </a:cubicBezTo>
                <a:lnTo>
                  <a:pt x="101600" y="1154545"/>
                </a:lnTo>
                <a:cubicBezTo>
                  <a:pt x="118103" y="1204057"/>
                  <a:pt x="105213" y="1161566"/>
                  <a:pt x="120073" y="1228436"/>
                </a:cubicBezTo>
                <a:cubicBezTo>
                  <a:pt x="122827" y="1240828"/>
                  <a:pt x="126649" y="1252969"/>
                  <a:pt x="129309" y="1265382"/>
                </a:cubicBezTo>
                <a:cubicBezTo>
                  <a:pt x="152132" y="1371889"/>
                  <a:pt x="129597" y="1330469"/>
                  <a:pt x="166255" y="1385454"/>
                </a:cubicBezTo>
                <a:cubicBezTo>
                  <a:pt x="188237" y="1451404"/>
                  <a:pt x="173926" y="1424671"/>
                  <a:pt x="203200" y="1468582"/>
                </a:cubicBezTo>
                <a:cubicBezTo>
                  <a:pt x="206279" y="1477818"/>
                  <a:pt x="207708" y="1487780"/>
                  <a:pt x="212436" y="1496291"/>
                </a:cubicBezTo>
                <a:cubicBezTo>
                  <a:pt x="223218" y="1515699"/>
                  <a:pt x="249382" y="1551709"/>
                  <a:pt x="249382" y="1551709"/>
                </a:cubicBezTo>
                <a:cubicBezTo>
                  <a:pt x="252461" y="1560945"/>
                  <a:pt x="252536" y="1571815"/>
                  <a:pt x="258618" y="1579418"/>
                </a:cubicBezTo>
                <a:cubicBezTo>
                  <a:pt x="265553" y="1588086"/>
                  <a:pt x="277799" y="1590784"/>
                  <a:pt x="286327" y="1597891"/>
                </a:cubicBezTo>
                <a:cubicBezTo>
                  <a:pt x="296362" y="1606253"/>
                  <a:pt x="305535" y="1615682"/>
                  <a:pt x="314036" y="1625600"/>
                </a:cubicBezTo>
                <a:cubicBezTo>
                  <a:pt x="347736" y="1664916"/>
                  <a:pt x="332427" y="1658515"/>
                  <a:pt x="369455" y="1690254"/>
                </a:cubicBezTo>
                <a:cubicBezTo>
                  <a:pt x="413610" y="1728102"/>
                  <a:pt x="396034" y="1709401"/>
                  <a:pt x="443345" y="1736436"/>
                </a:cubicBezTo>
                <a:cubicBezTo>
                  <a:pt x="485755" y="1760670"/>
                  <a:pt x="462878" y="1753178"/>
                  <a:pt x="508000" y="1791854"/>
                </a:cubicBezTo>
                <a:cubicBezTo>
                  <a:pt x="535381" y="1815323"/>
                  <a:pt x="540398" y="1808639"/>
                  <a:pt x="572655" y="1828800"/>
                </a:cubicBezTo>
                <a:cubicBezTo>
                  <a:pt x="585709" y="1836959"/>
                  <a:pt x="596546" y="1848350"/>
                  <a:pt x="609600" y="1856509"/>
                </a:cubicBezTo>
                <a:cubicBezTo>
                  <a:pt x="621276" y="1863806"/>
                  <a:pt x="634869" y="1867685"/>
                  <a:pt x="646545" y="1874982"/>
                </a:cubicBezTo>
                <a:cubicBezTo>
                  <a:pt x="659599" y="1883141"/>
                  <a:pt x="670125" y="1895054"/>
                  <a:pt x="683491" y="1902691"/>
                </a:cubicBezTo>
                <a:cubicBezTo>
                  <a:pt x="691944" y="1907521"/>
                  <a:pt x="702628" y="1907311"/>
                  <a:pt x="711200" y="1911927"/>
                </a:cubicBezTo>
                <a:cubicBezTo>
                  <a:pt x="756629" y="1936389"/>
                  <a:pt x="793976" y="1965875"/>
                  <a:pt x="840509" y="1985818"/>
                </a:cubicBezTo>
                <a:cubicBezTo>
                  <a:pt x="849458" y="1989653"/>
                  <a:pt x="858982" y="1991975"/>
                  <a:pt x="868218" y="1995054"/>
                </a:cubicBezTo>
                <a:cubicBezTo>
                  <a:pt x="877454" y="2001212"/>
                  <a:pt x="885783" y="2009018"/>
                  <a:pt x="895927" y="2013527"/>
                </a:cubicBezTo>
                <a:cubicBezTo>
                  <a:pt x="913721" y="2021435"/>
                  <a:pt x="932872" y="2025842"/>
                  <a:pt x="951345" y="2032000"/>
                </a:cubicBezTo>
                <a:lnTo>
                  <a:pt x="1034473" y="2059709"/>
                </a:lnTo>
                <a:cubicBezTo>
                  <a:pt x="1043709" y="2062788"/>
                  <a:pt x="1052737" y="2066584"/>
                  <a:pt x="1062182" y="2068945"/>
                </a:cubicBezTo>
                <a:lnTo>
                  <a:pt x="1136073" y="2087418"/>
                </a:lnTo>
                <a:cubicBezTo>
                  <a:pt x="1191491" y="2084339"/>
                  <a:pt x="1247074" y="2083444"/>
                  <a:pt x="1302327" y="2078182"/>
                </a:cubicBezTo>
                <a:cubicBezTo>
                  <a:pt x="1330774" y="2075473"/>
                  <a:pt x="1368281" y="2043449"/>
                  <a:pt x="1385455" y="2032000"/>
                </a:cubicBezTo>
                <a:lnTo>
                  <a:pt x="1413164" y="2013527"/>
                </a:lnTo>
                <a:cubicBezTo>
                  <a:pt x="1422400" y="2007369"/>
                  <a:pt x="1430342" y="1998564"/>
                  <a:pt x="1440873" y="1995054"/>
                </a:cubicBezTo>
                <a:lnTo>
                  <a:pt x="1468582" y="1985818"/>
                </a:lnTo>
                <a:cubicBezTo>
                  <a:pt x="1487055" y="1967345"/>
                  <a:pt x="1515739" y="1955184"/>
                  <a:pt x="1524000" y="1930400"/>
                </a:cubicBezTo>
                <a:cubicBezTo>
                  <a:pt x="1536746" y="1892160"/>
                  <a:pt x="1527835" y="1910792"/>
                  <a:pt x="1551709" y="1874982"/>
                </a:cubicBezTo>
                <a:cubicBezTo>
                  <a:pt x="1573854" y="1808546"/>
                  <a:pt x="1546986" y="1891511"/>
                  <a:pt x="1570182" y="1810327"/>
                </a:cubicBezTo>
                <a:cubicBezTo>
                  <a:pt x="1572857" y="1800966"/>
                  <a:pt x="1576339" y="1791854"/>
                  <a:pt x="1579418" y="1782618"/>
                </a:cubicBezTo>
                <a:cubicBezTo>
                  <a:pt x="1582497" y="1745673"/>
                  <a:pt x="1582560" y="1708351"/>
                  <a:pt x="1588655" y="1671782"/>
                </a:cubicBezTo>
                <a:cubicBezTo>
                  <a:pt x="1591856" y="1652575"/>
                  <a:pt x="1607127" y="1616364"/>
                  <a:pt x="1607127" y="1616364"/>
                </a:cubicBezTo>
                <a:cubicBezTo>
                  <a:pt x="1604048" y="1536315"/>
                  <a:pt x="1603219" y="1456148"/>
                  <a:pt x="1597891" y="1376218"/>
                </a:cubicBezTo>
                <a:cubicBezTo>
                  <a:pt x="1596728" y="1358768"/>
                  <a:pt x="1573042" y="1292432"/>
                  <a:pt x="1570182" y="1283854"/>
                </a:cubicBezTo>
                <a:cubicBezTo>
                  <a:pt x="1567103" y="1274618"/>
                  <a:pt x="1566345" y="1264246"/>
                  <a:pt x="1560945" y="1256145"/>
                </a:cubicBezTo>
                <a:lnTo>
                  <a:pt x="1542473" y="1228436"/>
                </a:lnTo>
                <a:cubicBezTo>
                  <a:pt x="1533654" y="1193163"/>
                  <a:pt x="1532152" y="1180085"/>
                  <a:pt x="1514764" y="1145309"/>
                </a:cubicBezTo>
                <a:cubicBezTo>
                  <a:pt x="1509800" y="1135380"/>
                  <a:pt x="1501799" y="1127238"/>
                  <a:pt x="1496291" y="1117600"/>
                </a:cubicBezTo>
                <a:cubicBezTo>
                  <a:pt x="1455718" y="1046599"/>
                  <a:pt x="1503090" y="1114350"/>
                  <a:pt x="1450109" y="1043709"/>
                </a:cubicBezTo>
                <a:cubicBezTo>
                  <a:pt x="1432165" y="989874"/>
                  <a:pt x="1445228" y="1024711"/>
                  <a:pt x="1403927" y="942109"/>
                </a:cubicBezTo>
                <a:cubicBezTo>
                  <a:pt x="1397770" y="929794"/>
                  <a:pt x="1393092" y="916620"/>
                  <a:pt x="1385455" y="905164"/>
                </a:cubicBezTo>
                <a:lnTo>
                  <a:pt x="1348509" y="849745"/>
                </a:lnTo>
                <a:cubicBezTo>
                  <a:pt x="1332252" y="800973"/>
                  <a:pt x="1344674" y="830139"/>
                  <a:pt x="1302327" y="766618"/>
                </a:cubicBezTo>
                <a:cubicBezTo>
                  <a:pt x="1296170" y="757382"/>
                  <a:pt x="1287366" y="749440"/>
                  <a:pt x="1283855" y="738909"/>
                </a:cubicBezTo>
                <a:cubicBezTo>
                  <a:pt x="1272240" y="704066"/>
                  <a:pt x="1269431" y="687540"/>
                  <a:pt x="1237673" y="655782"/>
                </a:cubicBezTo>
                <a:cubicBezTo>
                  <a:pt x="1228437" y="646546"/>
                  <a:pt x="1218465" y="637991"/>
                  <a:pt x="1209964" y="628073"/>
                </a:cubicBezTo>
                <a:cubicBezTo>
                  <a:pt x="1199946" y="616385"/>
                  <a:pt x="1192553" y="602569"/>
                  <a:pt x="1182255" y="591127"/>
                </a:cubicBezTo>
                <a:cubicBezTo>
                  <a:pt x="1164779" y="571709"/>
                  <a:pt x="1141327" y="557446"/>
                  <a:pt x="1126836" y="535709"/>
                </a:cubicBezTo>
                <a:cubicBezTo>
                  <a:pt x="1045754" y="414084"/>
                  <a:pt x="1127295" y="528548"/>
                  <a:pt x="1062182" y="452582"/>
                </a:cubicBezTo>
                <a:cubicBezTo>
                  <a:pt x="1052164" y="440894"/>
                  <a:pt x="1045358" y="426521"/>
                  <a:pt x="1034473" y="415636"/>
                </a:cubicBezTo>
                <a:cubicBezTo>
                  <a:pt x="1026624" y="407787"/>
                  <a:pt x="1015741" y="403693"/>
                  <a:pt x="1006764" y="397164"/>
                </a:cubicBezTo>
                <a:cubicBezTo>
                  <a:pt x="981865" y="379055"/>
                  <a:pt x="954643" y="363515"/>
                  <a:pt x="932873" y="341745"/>
                </a:cubicBezTo>
                <a:cubicBezTo>
                  <a:pt x="923637" y="332509"/>
                  <a:pt x="915475" y="322055"/>
                  <a:pt x="905164" y="314036"/>
                </a:cubicBezTo>
                <a:cubicBezTo>
                  <a:pt x="887639" y="300406"/>
                  <a:pt x="865444" y="292790"/>
                  <a:pt x="849745" y="277091"/>
                </a:cubicBezTo>
                <a:cubicBezTo>
                  <a:pt x="816178" y="243524"/>
                  <a:pt x="826562" y="251295"/>
                  <a:pt x="785091" y="221673"/>
                </a:cubicBezTo>
                <a:cubicBezTo>
                  <a:pt x="776058" y="215221"/>
                  <a:pt x="767311" y="208164"/>
                  <a:pt x="757382" y="203200"/>
                </a:cubicBezTo>
                <a:cubicBezTo>
                  <a:pt x="748674" y="198846"/>
                  <a:pt x="738909" y="197043"/>
                  <a:pt x="729673" y="193964"/>
                </a:cubicBezTo>
                <a:cubicBezTo>
                  <a:pt x="650277" y="141032"/>
                  <a:pt x="750723" y="204487"/>
                  <a:pt x="674255" y="166254"/>
                </a:cubicBezTo>
                <a:cubicBezTo>
                  <a:pt x="664326" y="161290"/>
                  <a:pt x="656689" y="152290"/>
                  <a:pt x="646545" y="147782"/>
                </a:cubicBezTo>
                <a:cubicBezTo>
                  <a:pt x="646530" y="147775"/>
                  <a:pt x="577280" y="124694"/>
                  <a:pt x="563418" y="120073"/>
                </a:cubicBezTo>
                <a:cubicBezTo>
                  <a:pt x="554182" y="116994"/>
                  <a:pt x="543810" y="116236"/>
                  <a:pt x="535709" y="110836"/>
                </a:cubicBezTo>
                <a:cubicBezTo>
                  <a:pt x="526473" y="104679"/>
                  <a:pt x="518144" y="96872"/>
                  <a:pt x="508000" y="92364"/>
                </a:cubicBezTo>
                <a:cubicBezTo>
                  <a:pt x="490206" y="84456"/>
                  <a:pt x="471055" y="80049"/>
                  <a:pt x="452582" y="73891"/>
                </a:cubicBezTo>
                <a:cubicBezTo>
                  <a:pt x="423495" y="64195"/>
                  <a:pt x="420413" y="62379"/>
                  <a:pt x="387927" y="55418"/>
                </a:cubicBezTo>
                <a:cubicBezTo>
                  <a:pt x="357227" y="48839"/>
                  <a:pt x="326352" y="43103"/>
                  <a:pt x="295564" y="36945"/>
                </a:cubicBezTo>
                <a:cubicBezTo>
                  <a:pt x="280170" y="33866"/>
                  <a:pt x="265081" y="27709"/>
                  <a:pt x="249382" y="27709"/>
                </a:cubicBezTo>
                <a:lnTo>
                  <a:pt x="193964" y="0"/>
                </a:lnTo>
                <a:close/>
              </a:path>
            </a:pathLst>
          </a:custGeom>
          <a:noFill/>
          <a:ln cap="flat" cmpd="sng" w="381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1819961" y="3787457"/>
            <a:ext cx="1607127" cy="2087418"/>
          </a:xfrm>
          <a:custGeom>
            <a:rect b="b" l="l" r="r" t="t"/>
            <a:pathLst>
              <a:path extrusionOk="0" h="2087418" w="1607127">
                <a:moveTo>
                  <a:pt x="193964" y="0"/>
                </a:moveTo>
                <a:cubicBezTo>
                  <a:pt x="178570" y="12315"/>
                  <a:pt x="160764" y="22109"/>
                  <a:pt x="147782" y="36945"/>
                </a:cubicBezTo>
                <a:cubicBezTo>
                  <a:pt x="138715" y="47307"/>
                  <a:pt x="136140" y="61936"/>
                  <a:pt x="129309" y="73891"/>
                </a:cubicBezTo>
                <a:cubicBezTo>
                  <a:pt x="123801" y="83529"/>
                  <a:pt x="116994" y="92364"/>
                  <a:pt x="110836" y="101600"/>
                </a:cubicBezTo>
                <a:cubicBezTo>
                  <a:pt x="88854" y="167549"/>
                  <a:pt x="103165" y="140817"/>
                  <a:pt x="73891" y="184727"/>
                </a:cubicBezTo>
                <a:cubicBezTo>
                  <a:pt x="70812" y="193963"/>
                  <a:pt x="67330" y="203075"/>
                  <a:pt x="64655" y="212436"/>
                </a:cubicBezTo>
                <a:cubicBezTo>
                  <a:pt x="60711" y="226240"/>
                  <a:pt x="53562" y="262332"/>
                  <a:pt x="46182" y="277091"/>
                </a:cubicBezTo>
                <a:cubicBezTo>
                  <a:pt x="41218" y="287020"/>
                  <a:pt x="33867" y="295564"/>
                  <a:pt x="27709" y="304800"/>
                </a:cubicBezTo>
                <a:lnTo>
                  <a:pt x="9236" y="397164"/>
                </a:lnTo>
                <a:lnTo>
                  <a:pt x="0" y="443345"/>
                </a:lnTo>
                <a:cubicBezTo>
                  <a:pt x="3079" y="569575"/>
                  <a:pt x="3502" y="695898"/>
                  <a:pt x="9236" y="822036"/>
                </a:cubicBezTo>
                <a:cubicBezTo>
                  <a:pt x="9678" y="831762"/>
                  <a:pt x="16993" y="840122"/>
                  <a:pt x="18473" y="849745"/>
                </a:cubicBezTo>
                <a:cubicBezTo>
                  <a:pt x="23178" y="880327"/>
                  <a:pt x="23620" y="911439"/>
                  <a:pt x="27709" y="942109"/>
                </a:cubicBezTo>
                <a:cubicBezTo>
                  <a:pt x="33511" y="985627"/>
                  <a:pt x="40976" y="1000384"/>
                  <a:pt x="55418" y="1043709"/>
                </a:cubicBezTo>
                <a:lnTo>
                  <a:pt x="73891" y="1099127"/>
                </a:lnTo>
                <a:cubicBezTo>
                  <a:pt x="76970" y="1108363"/>
                  <a:pt x="77726" y="1118735"/>
                  <a:pt x="83127" y="1126836"/>
                </a:cubicBezTo>
                <a:lnTo>
                  <a:pt x="101600" y="1154545"/>
                </a:lnTo>
                <a:cubicBezTo>
                  <a:pt x="118103" y="1204057"/>
                  <a:pt x="105213" y="1161566"/>
                  <a:pt x="120073" y="1228436"/>
                </a:cubicBezTo>
                <a:cubicBezTo>
                  <a:pt x="122827" y="1240828"/>
                  <a:pt x="126649" y="1252969"/>
                  <a:pt x="129309" y="1265382"/>
                </a:cubicBezTo>
                <a:cubicBezTo>
                  <a:pt x="152132" y="1371889"/>
                  <a:pt x="129597" y="1330469"/>
                  <a:pt x="166255" y="1385454"/>
                </a:cubicBezTo>
                <a:cubicBezTo>
                  <a:pt x="188237" y="1451404"/>
                  <a:pt x="173926" y="1424671"/>
                  <a:pt x="203200" y="1468582"/>
                </a:cubicBezTo>
                <a:cubicBezTo>
                  <a:pt x="206279" y="1477818"/>
                  <a:pt x="207708" y="1487780"/>
                  <a:pt x="212436" y="1496291"/>
                </a:cubicBezTo>
                <a:cubicBezTo>
                  <a:pt x="223218" y="1515699"/>
                  <a:pt x="249382" y="1551709"/>
                  <a:pt x="249382" y="1551709"/>
                </a:cubicBezTo>
                <a:cubicBezTo>
                  <a:pt x="252461" y="1560945"/>
                  <a:pt x="252536" y="1571815"/>
                  <a:pt x="258618" y="1579418"/>
                </a:cubicBezTo>
                <a:cubicBezTo>
                  <a:pt x="265553" y="1588086"/>
                  <a:pt x="277799" y="1590784"/>
                  <a:pt x="286327" y="1597891"/>
                </a:cubicBezTo>
                <a:cubicBezTo>
                  <a:pt x="296362" y="1606253"/>
                  <a:pt x="305535" y="1615682"/>
                  <a:pt x="314036" y="1625600"/>
                </a:cubicBezTo>
                <a:cubicBezTo>
                  <a:pt x="347736" y="1664916"/>
                  <a:pt x="332427" y="1658515"/>
                  <a:pt x="369455" y="1690254"/>
                </a:cubicBezTo>
                <a:cubicBezTo>
                  <a:pt x="413610" y="1728102"/>
                  <a:pt x="396034" y="1709401"/>
                  <a:pt x="443345" y="1736436"/>
                </a:cubicBezTo>
                <a:cubicBezTo>
                  <a:pt x="485755" y="1760670"/>
                  <a:pt x="462878" y="1753178"/>
                  <a:pt x="508000" y="1791854"/>
                </a:cubicBezTo>
                <a:cubicBezTo>
                  <a:pt x="535381" y="1815323"/>
                  <a:pt x="540398" y="1808639"/>
                  <a:pt x="572655" y="1828800"/>
                </a:cubicBezTo>
                <a:cubicBezTo>
                  <a:pt x="585709" y="1836959"/>
                  <a:pt x="596546" y="1848350"/>
                  <a:pt x="609600" y="1856509"/>
                </a:cubicBezTo>
                <a:cubicBezTo>
                  <a:pt x="621276" y="1863806"/>
                  <a:pt x="634869" y="1867685"/>
                  <a:pt x="646545" y="1874982"/>
                </a:cubicBezTo>
                <a:cubicBezTo>
                  <a:pt x="659599" y="1883141"/>
                  <a:pt x="670125" y="1895054"/>
                  <a:pt x="683491" y="1902691"/>
                </a:cubicBezTo>
                <a:cubicBezTo>
                  <a:pt x="691944" y="1907521"/>
                  <a:pt x="702628" y="1907311"/>
                  <a:pt x="711200" y="1911927"/>
                </a:cubicBezTo>
                <a:cubicBezTo>
                  <a:pt x="756629" y="1936389"/>
                  <a:pt x="793976" y="1965875"/>
                  <a:pt x="840509" y="1985818"/>
                </a:cubicBezTo>
                <a:cubicBezTo>
                  <a:pt x="849458" y="1989653"/>
                  <a:pt x="858982" y="1991975"/>
                  <a:pt x="868218" y="1995054"/>
                </a:cubicBezTo>
                <a:cubicBezTo>
                  <a:pt x="877454" y="2001212"/>
                  <a:pt x="885783" y="2009018"/>
                  <a:pt x="895927" y="2013527"/>
                </a:cubicBezTo>
                <a:cubicBezTo>
                  <a:pt x="913721" y="2021435"/>
                  <a:pt x="932872" y="2025842"/>
                  <a:pt x="951345" y="2032000"/>
                </a:cubicBezTo>
                <a:lnTo>
                  <a:pt x="1034473" y="2059709"/>
                </a:lnTo>
                <a:cubicBezTo>
                  <a:pt x="1043709" y="2062788"/>
                  <a:pt x="1052737" y="2066584"/>
                  <a:pt x="1062182" y="2068945"/>
                </a:cubicBezTo>
                <a:lnTo>
                  <a:pt x="1136073" y="2087418"/>
                </a:lnTo>
                <a:cubicBezTo>
                  <a:pt x="1191491" y="2084339"/>
                  <a:pt x="1247074" y="2083444"/>
                  <a:pt x="1302327" y="2078182"/>
                </a:cubicBezTo>
                <a:cubicBezTo>
                  <a:pt x="1330774" y="2075473"/>
                  <a:pt x="1368281" y="2043449"/>
                  <a:pt x="1385455" y="2032000"/>
                </a:cubicBezTo>
                <a:lnTo>
                  <a:pt x="1413164" y="2013527"/>
                </a:lnTo>
                <a:cubicBezTo>
                  <a:pt x="1422400" y="2007369"/>
                  <a:pt x="1430342" y="1998564"/>
                  <a:pt x="1440873" y="1995054"/>
                </a:cubicBezTo>
                <a:lnTo>
                  <a:pt x="1468582" y="1985818"/>
                </a:lnTo>
                <a:cubicBezTo>
                  <a:pt x="1487055" y="1967345"/>
                  <a:pt x="1515739" y="1955184"/>
                  <a:pt x="1524000" y="1930400"/>
                </a:cubicBezTo>
                <a:cubicBezTo>
                  <a:pt x="1536746" y="1892160"/>
                  <a:pt x="1527835" y="1910792"/>
                  <a:pt x="1551709" y="1874982"/>
                </a:cubicBezTo>
                <a:cubicBezTo>
                  <a:pt x="1573854" y="1808546"/>
                  <a:pt x="1546986" y="1891511"/>
                  <a:pt x="1570182" y="1810327"/>
                </a:cubicBezTo>
                <a:cubicBezTo>
                  <a:pt x="1572857" y="1800966"/>
                  <a:pt x="1576339" y="1791854"/>
                  <a:pt x="1579418" y="1782618"/>
                </a:cubicBezTo>
                <a:cubicBezTo>
                  <a:pt x="1582497" y="1745673"/>
                  <a:pt x="1582560" y="1708351"/>
                  <a:pt x="1588655" y="1671782"/>
                </a:cubicBezTo>
                <a:cubicBezTo>
                  <a:pt x="1591856" y="1652575"/>
                  <a:pt x="1607127" y="1616364"/>
                  <a:pt x="1607127" y="1616364"/>
                </a:cubicBezTo>
                <a:cubicBezTo>
                  <a:pt x="1604048" y="1536315"/>
                  <a:pt x="1603219" y="1456148"/>
                  <a:pt x="1597891" y="1376218"/>
                </a:cubicBezTo>
                <a:cubicBezTo>
                  <a:pt x="1596728" y="1358768"/>
                  <a:pt x="1573042" y="1292432"/>
                  <a:pt x="1570182" y="1283854"/>
                </a:cubicBezTo>
                <a:cubicBezTo>
                  <a:pt x="1567103" y="1274618"/>
                  <a:pt x="1566345" y="1264246"/>
                  <a:pt x="1560945" y="1256145"/>
                </a:cubicBezTo>
                <a:lnTo>
                  <a:pt x="1542473" y="1228436"/>
                </a:lnTo>
                <a:cubicBezTo>
                  <a:pt x="1533654" y="1193163"/>
                  <a:pt x="1532152" y="1180085"/>
                  <a:pt x="1514764" y="1145309"/>
                </a:cubicBezTo>
                <a:cubicBezTo>
                  <a:pt x="1509800" y="1135380"/>
                  <a:pt x="1501799" y="1127238"/>
                  <a:pt x="1496291" y="1117600"/>
                </a:cubicBezTo>
                <a:cubicBezTo>
                  <a:pt x="1455718" y="1046599"/>
                  <a:pt x="1503090" y="1114350"/>
                  <a:pt x="1450109" y="1043709"/>
                </a:cubicBezTo>
                <a:cubicBezTo>
                  <a:pt x="1432165" y="989874"/>
                  <a:pt x="1445228" y="1024711"/>
                  <a:pt x="1403927" y="942109"/>
                </a:cubicBezTo>
                <a:cubicBezTo>
                  <a:pt x="1397770" y="929794"/>
                  <a:pt x="1393092" y="916620"/>
                  <a:pt x="1385455" y="905164"/>
                </a:cubicBezTo>
                <a:lnTo>
                  <a:pt x="1348509" y="849745"/>
                </a:lnTo>
                <a:cubicBezTo>
                  <a:pt x="1332252" y="800973"/>
                  <a:pt x="1344674" y="830139"/>
                  <a:pt x="1302327" y="766618"/>
                </a:cubicBezTo>
                <a:cubicBezTo>
                  <a:pt x="1296170" y="757382"/>
                  <a:pt x="1287366" y="749440"/>
                  <a:pt x="1283855" y="738909"/>
                </a:cubicBezTo>
                <a:cubicBezTo>
                  <a:pt x="1272240" y="704066"/>
                  <a:pt x="1269431" y="687540"/>
                  <a:pt x="1237673" y="655782"/>
                </a:cubicBezTo>
                <a:cubicBezTo>
                  <a:pt x="1228437" y="646546"/>
                  <a:pt x="1218465" y="637991"/>
                  <a:pt x="1209964" y="628073"/>
                </a:cubicBezTo>
                <a:cubicBezTo>
                  <a:pt x="1199946" y="616385"/>
                  <a:pt x="1192553" y="602569"/>
                  <a:pt x="1182255" y="591127"/>
                </a:cubicBezTo>
                <a:cubicBezTo>
                  <a:pt x="1164779" y="571709"/>
                  <a:pt x="1141327" y="557446"/>
                  <a:pt x="1126836" y="535709"/>
                </a:cubicBezTo>
                <a:cubicBezTo>
                  <a:pt x="1045754" y="414084"/>
                  <a:pt x="1127295" y="528548"/>
                  <a:pt x="1062182" y="452582"/>
                </a:cubicBezTo>
                <a:cubicBezTo>
                  <a:pt x="1052164" y="440894"/>
                  <a:pt x="1045358" y="426521"/>
                  <a:pt x="1034473" y="415636"/>
                </a:cubicBezTo>
                <a:cubicBezTo>
                  <a:pt x="1026624" y="407787"/>
                  <a:pt x="1015741" y="403693"/>
                  <a:pt x="1006764" y="397164"/>
                </a:cubicBezTo>
                <a:cubicBezTo>
                  <a:pt x="981865" y="379055"/>
                  <a:pt x="954643" y="363515"/>
                  <a:pt x="932873" y="341745"/>
                </a:cubicBezTo>
                <a:cubicBezTo>
                  <a:pt x="923637" y="332509"/>
                  <a:pt x="915475" y="322055"/>
                  <a:pt x="905164" y="314036"/>
                </a:cubicBezTo>
                <a:cubicBezTo>
                  <a:pt x="887639" y="300406"/>
                  <a:pt x="865444" y="292790"/>
                  <a:pt x="849745" y="277091"/>
                </a:cubicBezTo>
                <a:cubicBezTo>
                  <a:pt x="816178" y="243524"/>
                  <a:pt x="826562" y="251295"/>
                  <a:pt x="785091" y="221673"/>
                </a:cubicBezTo>
                <a:cubicBezTo>
                  <a:pt x="776058" y="215221"/>
                  <a:pt x="767311" y="208164"/>
                  <a:pt x="757382" y="203200"/>
                </a:cubicBezTo>
                <a:cubicBezTo>
                  <a:pt x="748674" y="198846"/>
                  <a:pt x="738909" y="197043"/>
                  <a:pt x="729673" y="193964"/>
                </a:cubicBezTo>
                <a:cubicBezTo>
                  <a:pt x="650277" y="141032"/>
                  <a:pt x="750723" y="204487"/>
                  <a:pt x="674255" y="166254"/>
                </a:cubicBezTo>
                <a:cubicBezTo>
                  <a:pt x="664326" y="161290"/>
                  <a:pt x="656689" y="152290"/>
                  <a:pt x="646545" y="147782"/>
                </a:cubicBezTo>
                <a:cubicBezTo>
                  <a:pt x="646530" y="147775"/>
                  <a:pt x="577280" y="124694"/>
                  <a:pt x="563418" y="120073"/>
                </a:cubicBezTo>
                <a:cubicBezTo>
                  <a:pt x="554182" y="116994"/>
                  <a:pt x="543810" y="116236"/>
                  <a:pt x="535709" y="110836"/>
                </a:cubicBezTo>
                <a:cubicBezTo>
                  <a:pt x="526473" y="104679"/>
                  <a:pt x="518144" y="96872"/>
                  <a:pt x="508000" y="92364"/>
                </a:cubicBezTo>
                <a:cubicBezTo>
                  <a:pt x="490206" y="84456"/>
                  <a:pt x="471055" y="80049"/>
                  <a:pt x="452582" y="73891"/>
                </a:cubicBezTo>
                <a:cubicBezTo>
                  <a:pt x="423495" y="64195"/>
                  <a:pt x="420413" y="62379"/>
                  <a:pt x="387927" y="55418"/>
                </a:cubicBezTo>
                <a:cubicBezTo>
                  <a:pt x="357227" y="48839"/>
                  <a:pt x="326352" y="43103"/>
                  <a:pt x="295564" y="36945"/>
                </a:cubicBezTo>
                <a:cubicBezTo>
                  <a:pt x="280170" y="33866"/>
                  <a:pt x="265081" y="27709"/>
                  <a:pt x="249382" y="27709"/>
                </a:cubicBezTo>
                <a:lnTo>
                  <a:pt x="193964" y="0"/>
                </a:lnTo>
                <a:close/>
              </a:path>
            </a:pathLst>
          </a:custGeom>
          <a:noFill/>
          <a:ln cap="flat" cmpd="sng" w="381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6478514" y="2975467"/>
            <a:ext cx="5208285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each stage, the best action is determined based 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info available.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only that best action is explored.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5461853" y="1609974"/>
            <a:ext cx="629749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Greedy Approach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371" name="Google Shape;371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72" name="Google Shape;372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An elementary difference between DP and Greedy</a:t>
            </a:r>
            <a:endParaRPr/>
          </a:p>
        </p:txBody>
      </p:sp>
      <p:sp>
        <p:nvSpPr>
          <p:cNvPr id="374" name="Google Shape;374;p8"/>
          <p:cNvSpPr txBox="1"/>
          <p:nvPr/>
        </p:nvSpPr>
        <p:spPr>
          <a:xfrm>
            <a:off x="6478514" y="2975467"/>
            <a:ext cx="5208285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each stage, the best action is determined based 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info available.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only that best action is explored.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5461853" y="1609974"/>
            <a:ext cx="629749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Greedy Approach</a:t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2122054" y="2043777"/>
            <a:ext cx="1459346" cy="4895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1167244" y="3336866"/>
            <a:ext cx="813957" cy="48952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8"/>
          <p:cNvCxnSpPr>
            <a:stCxn id="376" idx="2"/>
            <a:endCxn id="377" idx="0"/>
          </p:cNvCxnSpPr>
          <p:nvPr/>
        </p:nvCxnSpPr>
        <p:spPr>
          <a:xfrm flipH="1">
            <a:off x="1574327" y="2533304"/>
            <a:ext cx="1277400" cy="80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9" name="Google Shape;379;p8"/>
          <p:cNvSpPr txBox="1"/>
          <p:nvPr/>
        </p:nvSpPr>
        <p:spPr>
          <a:xfrm flipH="1">
            <a:off x="1530927" y="2750419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747748" y="4629954"/>
            <a:ext cx="548411" cy="48952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" name="Google Shape;381;p8"/>
          <p:cNvCxnSpPr>
            <a:stCxn id="377" idx="2"/>
            <a:endCxn id="380" idx="0"/>
          </p:cNvCxnSpPr>
          <p:nvPr/>
        </p:nvCxnSpPr>
        <p:spPr>
          <a:xfrm flipH="1">
            <a:off x="1021923" y="3826393"/>
            <a:ext cx="552300" cy="80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2" name="Google Shape;382;p8"/>
          <p:cNvSpPr txBox="1"/>
          <p:nvPr/>
        </p:nvSpPr>
        <p:spPr>
          <a:xfrm flipH="1">
            <a:off x="684645" y="4091967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 txBox="1"/>
          <p:nvPr/>
        </p:nvSpPr>
        <p:spPr>
          <a:xfrm flipH="1">
            <a:off x="664043" y="5288136"/>
            <a:ext cx="450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 txBox="1"/>
          <p:nvPr/>
        </p:nvSpPr>
        <p:spPr>
          <a:xfrm flipH="1">
            <a:off x="336639" y="4022407"/>
            <a:ext cx="4502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 txBox="1"/>
          <p:nvPr/>
        </p:nvSpPr>
        <p:spPr>
          <a:xfrm flipH="1">
            <a:off x="747748" y="3040476"/>
            <a:ext cx="4502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 txBox="1"/>
          <p:nvPr/>
        </p:nvSpPr>
        <p:spPr>
          <a:xfrm flipH="1">
            <a:off x="2824775" y="1536210"/>
            <a:ext cx="6238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will see some problems where Greedy works better than Dynamic Programming.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Activity Selection Problem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Fractional Knapsack problem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Huffman Coding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will also see some cases where Greedy DOES NOT work.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0/1 Knapsack problem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Coin change problem</a:t>
            </a:r>
            <a:endParaRPr/>
          </a:p>
        </p:txBody>
      </p:sp>
      <p:sp>
        <p:nvSpPr>
          <p:cNvPr id="392" name="Google Shape;392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393" name="Google Shape;393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94" name="Google Shape;394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Application of Greedy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401" name="Google Shape;401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02" name="Google Shape;402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The First problem: The Activity Selection Problem</a:t>
            </a:r>
            <a:endParaRPr/>
          </a:p>
        </p:txBody>
      </p:sp>
      <p:pic>
        <p:nvPicPr>
          <p:cNvPr descr="https://lh4.googleusercontent.com/LBEND2MgUS8u5MwwZi7S0qeL0y0QyF5vv-5ltIeePmjMXzdFemxtpJM-baILEnyymnN28HbDhsWkkEb_rvF_8AqM3reXmFfHtWUpXDsZ20tJ-XR9BCZ0vET64f_BCvWS2sTF81kutOT6zrx-JDmbmGuNVGRvafcdp1O78KTZb6255g6N5txSHavDZA" id="404" name="Google Shape;4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718346"/>
            <a:ext cx="8489101" cy="86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3.googleusercontent.com/VfV-U2sE4lnJGibxyugIOouSiB-Y7V0HkeXun08liplz1SUsmM4M7lFRNI5GAb9w-7s5k-MjvvryIx994lSOKHpw6ZTDkkkXSWnl59bZUCE5_DDz-xYJK2D_bs4OFILmyUECsEZYGu-r3hM0lDb1kQrwdZHY6whfC_Wl1kGp_x3dg4JXKSBeDLg-4A" id="405" name="Google Shape;40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634" y="2815920"/>
            <a:ext cx="10647808" cy="2077621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0"/>
          <p:cNvSpPr txBox="1"/>
          <p:nvPr/>
        </p:nvSpPr>
        <p:spPr>
          <a:xfrm>
            <a:off x="1382780" y="4888769"/>
            <a:ext cx="931612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Activities (with start time and finish time) are given sorted by the finish time. We need to select the maximum number of activities.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imagine each activity as the start and end time of movies at Cineplex.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"/>
          <p:cNvSpPr txBox="1"/>
          <p:nvPr>
            <p:ph type="title"/>
          </p:nvPr>
        </p:nvSpPr>
        <p:spPr>
          <a:xfrm>
            <a:off x="2346384" y="2330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Timeline</a:t>
            </a:r>
            <a:endParaRPr/>
          </a:p>
        </p:txBody>
      </p:sp>
      <p:pic>
        <p:nvPicPr>
          <p:cNvPr id="412" name="Google Shape;412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165" l="0" r="25901" t="0"/>
          <a:stretch/>
        </p:blipFill>
        <p:spPr>
          <a:xfrm>
            <a:off x="1067024" y="233045"/>
            <a:ext cx="8836200" cy="58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1"/>
          <p:cNvSpPr/>
          <p:nvPr/>
        </p:nvSpPr>
        <p:spPr>
          <a:xfrm>
            <a:off x="2234048" y="4996101"/>
            <a:ext cx="490194" cy="90497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1-4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2867216" y="4706619"/>
            <a:ext cx="490194" cy="6477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3-5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3500384" y="4430494"/>
            <a:ext cx="490194" cy="168739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0-6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133552" y="4150359"/>
            <a:ext cx="490194" cy="6477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5-7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809338" y="3582671"/>
            <a:ext cx="490194" cy="17716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3-9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5485124" y="3544669"/>
            <a:ext cx="490194" cy="11619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5-9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160910" y="3296921"/>
            <a:ext cx="490194" cy="113357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6-10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6836696" y="2981961"/>
            <a:ext cx="490194" cy="8534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8-11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7558202" y="2809240"/>
            <a:ext cx="490194" cy="10261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8-12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8192377" y="2128520"/>
            <a:ext cx="490194" cy="341502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2-14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8782482" y="1676401"/>
            <a:ext cx="490194" cy="11328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12-16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11"/>
          <p:cNvCxnSpPr/>
          <p:nvPr/>
        </p:nvCxnSpPr>
        <p:spPr>
          <a:xfrm>
            <a:off x="1681273" y="4995329"/>
            <a:ext cx="8349673" cy="0"/>
          </a:xfrm>
          <a:prstGeom prst="straightConnector1">
            <a:avLst/>
          </a:prstGeom>
          <a:noFill/>
          <a:ln cap="flat" cmpd="sng" w="38100">
            <a:solidFill>
              <a:srgbClr val="17161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425" name="Google Shape;425;p11"/>
          <p:cNvSpPr txBox="1"/>
          <p:nvPr/>
        </p:nvSpPr>
        <p:spPr>
          <a:xfrm>
            <a:off x="2269332" y="4521953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2906167" y="4296976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 txBox="1"/>
          <p:nvPr/>
        </p:nvSpPr>
        <p:spPr>
          <a:xfrm>
            <a:off x="3543002" y="407199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 txBox="1"/>
          <p:nvPr/>
        </p:nvSpPr>
        <p:spPr>
          <a:xfrm>
            <a:off x="4179837" y="3847022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 txBox="1"/>
          <p:nvPr/>
        </p:nvSpPr>
        <p:spPr>
          <a:xfrm>
            <a:off x="4854187" y="3251701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5517306" y="3067035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 txBox="1"/>
          <p:nvPr/>
        </p:nvSpPr>
        <p:spPr>
          <a:xfrm>
            <a:off x="6193092" y="2867137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a7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 txBox="1"/>
          <p:nvPr/>
        </p:nvSpPr>
        <p:spPr>
          <a:xfrm>
            <a:off x="6868878" y="266723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 txBox="1"/>
          <p:nvPr/>
        </p:nvSpPr>
        <p:spPr>
          <a:xfrm>
            <a:off x="7544664" y="2467341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a9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 txBox="1"/>
          <p:nvPr/>
        </p:nvSpPr>
        <p:spPr>
          <a:xfrm>
            <a:off x="8172818" y="1814592"/>
            <a:ext cx="529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a10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 txBox="1"/>
          <p:nvPr/>
        </p:nvSpPr>
        <p:spPr>
          <a:xfrm>
            <a:off x="8743364" y="1278719"/>
            <a:ext cx="529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a11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441" name="Google Shape;441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2" name="Google Shape;442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The First problem: The Activity Selection Problem</a:t>
            </a:r>
            <a:endParaRPr/>
          </a:p>
        </p:txBody>
      </p:sp>
      <p:pic>
        <p:nvPicPr>
          <p:cNvPr descr="https://lh4.googleusercontent.com/LBEND2MgUS8u5MwwZi7S0qeL0y0QyF5vv-5ltIeePmjMXzdFemxtpJM-baILEnyymnN28HbDhsWkkEb_rvF_8AqM3reXmFfHtWUpXDsZ20tJ-XR9BCZ0vET64f_BCvWS2sTF81kutOT6zrx-JDmbmGuNVGRvafcdp1O78KTZb6255g6N5txSHavDZA" id="444" name="Google Shape;4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732" y="1389711"/>
            <a:ext cx="8489101" cy="86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3.googleusercontent.com/VfV-U2sE4lnJGibxyugIOouSiB-Y7V0HkeXun08liplz1SUsmM4M7lFRNI5GAb9w-7s5k-MjvvryIx994lSOKHpw6ZTDkkkXSWnl59bZUCE5_DDz-xYJK2D_bs4OFILmyUECsEZYGu-r3hM0lDb1kQrwdZHY6whfC_Wl1kGp_x3dg4JXKSBeDLg-4A" id="445" name="Google Shape;44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883213"/>
            <a:ext cx="10647808" cy="207762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2"/>
          <p:cNvSpPr txBox="1"/>
          <p:nvPr/>
        </p:nvSpPr>
        <p:spPr>
          <a:xfrm>
            <a:off x="1092611" y="5332719"/>
            <a:ext cx="10006778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-US" sz="28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non -overlapping activities 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a3, a9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a11</a:t>
            </a:r>
            <a:endParaRPr b="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452" name="Google Shape;452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53" name="Google Shape;453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The First problem: The Activity Selection Problem</a:t>
            </a:r>
            <a:endParaRPr/>
          </a:p>
        </p:txBody>
      </p:sp>
      <p:pic>
        <p:nvPicPr>
          <p:cNvPr descr="https://lh4.googleusercontent.com/LBEND2MgUS8u5MwwZi7S0qeL0y0QyF5vv-5ltIeePmjMXzdFemxtpJM-baILEnyymnN28HbDhsWkkEb_rvF_8AqM3reXmFfHtWUpXDsZ20tJ-XR9BCZ0vET64f_BCvWS2sTF81kutOT6zrx-JDmbmGuNVGRvafcdp1O78KTZb6255g6N5txSHavDZA" id="455" name="Google Shape;4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732" y="1389711"/>
            <a:ext cx="8489101" cy="86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3.googleusercontent.com/VfV-U2sE4lnJGibxyugIOouSiB-Y7V0HkeXun08liplz1SUsmM4M7lFRNI5GAb9w-7s5k-MjvvryIx994lSOKHpw6ZTDkkkXSWnl59bZUCE5_DDz-xYJK2D_bs4OFILmyUECsEZYGu-r3hM0lDb1kQrwdZHY6whfC_Wl1kGp_x3dg4JXKSBeDLg-4A" id="456" name="Google Shape;4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883213"/>
            <a:ext cx="10647808" cy="207762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3"/>
          <p:cNvSpPr txBox="1"/>
          <p:nvPr/>
        </p:nvSpPr>
        <p:spPr>
          <a:xfrm>
            <a:off x="1092611" y="5332719"/>
            <a:ext cx="10006778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8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max number </a:t>
            </a: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non-overlapping activities</a:t>
            </a:r>
            <a:endParaRPr b="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a1, a4, a8, a11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4"/>
          <p:cNvGrpSpPr/>
          <p:nvPr/>
        </p:nvGrpSpPr>
        <p:grpSpPr>
          <a:xfrm>
            <a:off x="261733" y="208549"/>
            <a:ext cx="3487307" cy="1224012"/>
            <a:chOff x="261732" y="208549"/>
            <a:chExt cx="4446625" cy="1473236"/>
          </a:xfrm>
        </p:grpSpPr>
        <p:sp>
          <p:nvSpPr>
            <p:cNvPr id="463" name="Google Shape;463;p14"/>
            <p:cNvSpPr/>
            <p:nvPr/>
          </p:nvSpPr>
          <p:spPr>
            <a:xfrm>
              <a:off x="856323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1522037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2187750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2853463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3519177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4184890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856323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1522037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2187750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2853463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3519177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4184890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261732" y="208549"/>
              <a:ext cx="523467" cy="44247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S: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261732" y="768704"/>
              <a:ext cx="523467" cy="442475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F: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888448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a0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1522035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a1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2155622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a2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2853462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a3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3551302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a4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4249142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a5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14"/>
          <p:cNvSpPr/>
          <p:nvPr/>
        </p:nvSpPr>
        <p:spPr>
          <a:xfrm>
            <a:off x="2488224" y="1701421"/>
            <a:ext cx="2121632" cy="5943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F(a0,a1,a2,a3,a5,a5)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195004" y="3020844"/>
            <a:ext cx="543992" cy="419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14"/>
          <p:cNvCxnSpPr>
            <a:stCxn id="483" idx="2"/>
            <a:endCxn id="484" idx="0"/>
          </p:cNvCxnSpPr>
          <p:nvPr/>
        </p:nvCxnSpPr>
        <p:spPr>
          <a:xfrm flipH="1">
            <a:off x="467140" y="2295782"/>
            <a:ext cx="3081900" cy="72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6" name="Google Shape;486;p14"/>
          <p:cNvSpPr/>
          <p:nvPr/>
        </p:nvSpPr>
        <p:spPr>
          <a:xfrm>
            <a:off x="1933992" y="2262302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4280143" y="3055481"/>
            <a:ext cx="1303616" cy="4049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F(a3,a4,a5)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3459412" y="3051296"/>
            <a:ext cx="689502" cy="41910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F(a0)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860808" y="3020844"/>
            <a:ext cx="1569288" cy="419099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F(a1,a3,a4,a5)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14"/>
          <p:cNvCxnSpPr>
            <a:stCxn id="483" idx="2"/>
            <a:endCxn id="489" idx="0"/>
          </p:cNvCxnSpPr>
          <p:nvPr/>
        </p:nvCxnSpPr>
        <p:spPr>
          <a:xfrm flipH="1">
            <a:off x="1645540" y="2295782"/>
            <a:ext cx="1903500" cy="72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1" name="Google Shape;491;p14"/>
          <p:cNvSpPr/>
          <p:nvPr/>
        </p:nvSpPr>
        <p:spPr>
          <a:xfrm>
            <a:off x="3642008" y="2347291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14"/>
          <p:cNvCxnSpPr>
            <a:stCxn id="483" idx="2"/>
            <a:endCxn id="488" idx="0"/>
          </p:cNvCxnSpPr>
          <p:nvPr/>
        </p:nvCxnSpPr>
        <p:spPr>
          <a:xfrm>
            <a:off x="3549040" y="2295782"/>
            <a:ext cx="255000" cy="75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3" name="Google Shape;493;p14"/>
          <p:cNvCxnSpPr>
            <a:stCxn id="483" idx="2"/>
            <a:endCxn id="487" idx="0"/>
          </p:cNvCxnSpPr>
          <p:nvPr/>
        </p:nvCxnSpPr>
        <p:spPr>
          <a:xfrm>
            <a:off x="3549040" y="2295782"/>
            <a:ext cx="1383000" cy="75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4" name="Google Shape;494;p14"/>
          <p:cNvSpPr/>
          <p:nvPr/>
        </p:nvSpPr>
        <p:spPr>
          <a:xfrm>
            <a:off x="6179436" y="3058064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9443045" y="4379729"/>
            <a:ext cx="704881" cy="435281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F(a4)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8727422" y="4401509"/>
            <a:ext cx="689502" cy="419101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7" name="Google Shape;497;p14"/>
          <p:cNvCxnSpPr>
            <a:stCxn id="483" idx="2"/>
            <a:endCxn id="496" idx="0"/>
          </p:cNvCxnSpPr>
          <p:nvPr/>
        </p:nvCxnSpPr>
        <p:spPr>
          <a:xfrm>
            <a:off x="3549040" y="2295782"/>
            <a:ext cx="5523000" cy="210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8" name="Google Shape;498;p14"/>
          <p:cNvCxnSpPr>
            <a:stCxn id="483" idx="2"/>
            <a:endCxn id="495" idx="0"/>
          </p:cNvCxnSpPr>
          <p:nvPr/>
        </p:nvCxnSpPr>
        <p:spPr>
          <a:xfrm>
            <a:off x="3549040" y="2295782"/>
            <a:ext cx="6246300" cy="2083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9" name="Google Shape;499;p14"/>
          <p:cNvSpPr/>
          <p:nvPr/>
        </p:nvSpPr>
        <p:spPr>
          <a:xfrm>
            <a:off x="50921" y="4297900"/>
            <a:ext cx="543992" cy="419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14"/>
          <p:cNvCxnSpPr>
            <a:stCxn id="489" idx="2"/>
            <a:endCxn id="499" idx="0"/>
          </p:cNvCxnSpPr>
          <p:nvPr/>
        </p:nvCxnSpPr>
        <p:spPr>
          <a:xfrm flipH="1">
            <a:off x="323052" y="3439943"/>
            <a:ext cx="1322400" cy="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1" name="Google Shape;501;p14"/>
          <p:cNvSpPr/>
          <p:nvPr/>
        </p:nvSpPr>
        <p:spPr>
          <a:xfrm>
            <a:off x="685153" y="4325071"/>
            <a:ext cx="1322535" cy="4190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F(a3,a4,a5)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p14"/>
          <p:cNvCxnSpPr>
            <a:stCxn id="489" idx="2"/>
            <a:endCxn id="501" idx="0"/>
          </p:cNvCxnSpPr>
          <p:nvPr/>
        </p:nvCxnSpPr>
        <p:spPr>
          <a:xfrm flipH="1">
            <a:off x="1346352" y="3439943"/>
            <a:ext cx="299100" cy="885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3" name="Google Shape;503;p14"/>
          <p:cNvSpPr/>
          <p:nvPr/>
        </p:nvSpPr>
        <p:spPr>
          <a:xfrm>
            <a:off x="932434" y="3783011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2170287" y="4545945"/>
            <a:ext cx="581657" cy="41909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F(a1)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14"/>
          <p:cNvCxnSpPr>
            <a:stCxn id="489" idx="2"/>
            <a:endCxn id="504" idx="0"/>
          </p:cNvCxnSpPr>
          <p:nvPr/>
        </p:nvCxnSpPr>
        <p:spPr>
          <a:xfrm>
            <a:off x="1645452" y="3439943"/>
            <a:ext cx="815700" cy="1106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6" name="Google Shape;506;p14"/>
          <p:cNvSpPr/>
          <p:nvPr/>
        </p:nvSpPr>
        <p:spPr>
          <a:xfrm>
            <a:off x="2799261" y="4546540"/>
            <a:ext cx="611908" cy="40790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F(a5)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14"/>
          <p:cNvCxnSpPr>
            <a:stCxn id="489" idx="2"/>
            <a:endCxn id="506" idx="0"/>
          </p:cNvCxnSpPr>
          <p:nvPr/>
        </p:nvCxnSpPr>
        <p:spPr>
          <a:xfrm>
            <a:off x="1645452" y="3439943"/>
            <a:ext cx="1459800" cy="110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8" name="Google Shape;508;p14"/>
          <p:cNvSpPr/>
          <p:nvPr/>
        </p:nvSpPr>
        <p:spPr>
          <a:xfrm>
            <a:off x="2297973" y="3766170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128275" y="6203556"/>
            <a:ext cx="543992" cy="4191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14"/>
          <p:cNvCxnSpPr>
            <a:stCxn id="501" idx="2"/>
            <a:endCxn id="509" idx="0"/>
          </p:cNvCxnSpPr>
          <p:nvPr/>
        </p:nvCxnSpPr>
        <p:spPr>
          <a:xfrm flipH="1">
            <a:off x="400221" y="4744170"/>
            <a:ext cx="946200" cy="145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1" name="Google Shape;511;p14"/>
          <p:cNvSpPr/>
          <p:nvPr/>
        </p:nvSpPr>
        <p:spPr>
          <a:xfrm>
            <a:off x="767709" y="6212973"/>
            <a:ext cx="741743" cy="41790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F(a4)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14"/>
          <p:cNvCxnSpPr>
            <a:stCxn id="501" idx="2"/>
            <a:endCxn id="511" idx="0"/>
          </p:cNvCxnSpPr>
          <p:nvPr/>
        </p:nvCxnSpPr>
        <p:spPr>
          <a:xfrm flipH="1">
            <a:off x="1138521" y="4744170"/>
            <a:ext cx="207900" cy="14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3" name="Google Shape;513;p14"/>
          <p:cNvSpPr/>
          <p:nvPr/>
        </p:nvSpPr>
        <p:spPr>
          <a:xfrm>
            <a:off x="826130" y="5476830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2626452" y="6084031"/>
            <a:ext cx="661257" cy="53241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F(a3)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14"/>
          <p:cNvCxnSpPr>
            <a:stCxn id="501" idx="2"/>
            <a:endCxn id="514" idx="0"/>
          </p:cNvCxnSpPr>
          <p:nvPr/>
        </p:nvCxnSpPr>
        <p:spPr>
          <a:xfrm>
            <a:off x="1346421" y="4744170"/>
            <a:ext cx="1610700" cy="133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6" name="Google Shape;516;p14"/>
          <p:cNvSpPr/>
          <p:nvPr/>
        </p:nvSpPr>
        <p:spPr>
          <a:xfrm>
            <a:off x="3589776" y="6141284"/>
            <a:ext cx="741743" cy="41790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14"/>
          <p:cNvCxnSpPr>
            <a:stCxn id="501" idx="2"/>
            <a:endCxn id="516" idx="0"/>
          </p:cNvCxnSpPr>
          <p:nvPr/>
        </p:nvCxnSpPr>
        <p:spPr>
          <a:xfrm>
            <a:off x="1346421" y="4744170"/>
            <a:ext cx="2614200" cy="1397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8" name="Google Shape;518;p14"/>
          <p:cNvSpPr/>
          <p:nvPr/>
        </p:nvSpPr>
        <p:spPr>
          <a:xfrm>
            <a:off x="2488224" y="5515875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p14"/>
          <p:cNvCxnSpPr>
            <a:stCxn id="501" idx="2"/>
            <a:endCxn id="520" idx="0"/>
          </p:cNvCxnSpPr>
          <p:nvPr/>
        </p:nvCxnSpPr>
        <p:spPr>
          <a:xfrm>
            <a:off x="1346421" y="4744170"/>
            <a:ext cx="5457600" cy="133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1" name="Google Shape;521;p14"/>
          <p:cNvCxnSpPr>
            <a:stCxn id="501" idx="2"/>
            <a:endCxn id="522" idx="0"/>
          </p:cNvCxnSpPr>
          <p:nvPr/>
        </p:nvCxnSpPr>
        <p:spPr>
          <a:xfrm>
            <a:off x="1346421" y="4744170"/>
            <a:ext cx="6445200" cy="138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0" name="Google Shape;520;p14"/>
          <p:cNvSpPr/>
          <p:nvPr/>
        </p:nvSpPr>
        <p:spPr>
          <a:xfrm>
            <a:off x="6473339" y="6077339"/>
            <a:ext cx="661257" cy="532413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7420604" y="6125870"/>
            <a:ext cx="741743" cy="41790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4221498" y="5173336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7467694" y="2696752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10526081" y="3500701"/>
            <a:ext cx="704881" cy="435281"/>
          </a:xfrm>
          <a:prstGeom prst="rect">
            <a:avLst/>
          </a:prstGeom>
          <a:solidFill>
            <a:srgbClr val="7030A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F(a4)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9009439" y="3494009"/>
            <a:ext cx="1243196" cy="419101"/>
          </a:xfrm>
          <a:prstGeom prst="rect">
            <a:avLst/>
          </a:prstGeom>
          <a:solidFill>
            <a:srgbClr val="7030A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F(a0,a1)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" name="Google Shape;527;p14"/>
          <p:cNvCxnSpPr>
            <a:stCxn id="483" idx="2"/>
            <a:endCxn id="526" idx="0"/>
          </p:cNvCxnSpPr>
          <p:nvPr/>
        </p:nvCxnSpPr>
        <p:spPr>
          <a:xfrm>
            <a:off x="3549040" y="2295782"/>
            <a:ext cx="6081900" cy="119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8" name="Google Shape;528;p14"/>
          <p:cNvCxnSpPr/>
          <p:nvPr/>
        </p:nvCxnSpPr>
        <p:spPr>
          <a:xfrm>
            <a:off x="3608548" y="2295782"/>
            <a:ext cx="7221166" cy="12049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9" name="Google Shape;529;p14"/>
          <p:cNvSpPr/>
          <p:nvPr/>
        </p:nvSpPr>
        <p:spPr>
          <a:xfrm>
            <a:off x="7140684" y="2006026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11138119" y="2446968"/>
            <a:ext cx="704881" cy="435281"/>
          </a:xfrm>
          <a:prstGeom prst="rect">
            <a:avLst/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9221821" y="2541374"/>
            <a:ext cx="1596627" cy="419101"/>
          </a:xfrm>
          <a:prstGeom prst="rect">
            <a:avLst/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F(a0,a1,a2,a3)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2" name="Google Shape;532;p14"/>
          <p:cNvCxnSpPr>
            <a:stCxn id="483" idx="3"/>
            <a:endCxn id="531" idx="0"/>
          </p:cNvCxnSpPr>
          <p:nvPr/>
        </p:nvCxnSpPr>
        <p:spPr>
          <a:xfrm>
            <a:off x="4609856" y="1998602"/>
            <a:ext cx="5410200" cy="542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3" name="Google Shape;533;p14"/>
          <p:cNvCxnSpPr>
            <a:stCxn id="483" idx="3"/>
            <a:endCxn id="530" idx="0"/>
          </p:cNvCxnSpPr>
          <p:nvPr/>
        </p:nvCxnSpPr>
        <p:spPr>
          <a:xfrm>
            <a:off x="4609856" y="1998602"/>
            <a:ext cx="6880800" cy="448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4" name="Google Shape;534;p14"/>
          <p:cNvSpPr/>
          <p:nvPr/>
        </p:nvSpPr>
        <p:spPr>
          <a:xfrm>
            <a:off x="9544343" y="387112"/>
            <a:ext cx="704881" cy="43528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9506545" y="922953"/>
            <a:ext cx="1027180" cy="4191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F(a0,a1)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p14"/>
          <p:cNvCxnSpPr>
            <a:stCxn id="483" idx="3"/>
            <a:endCxn id="534" idx="1"/>
          </p:cNvCxnSpPr>
          <p:nvPr/>
        </p:nvCxnSpPr>
        <p:spPr>
          <a:xfrm flipH="1" rot="10800000">
            <a:off x="4609856" y="604801"/>
            <a:ext cx="4934400" cy="1393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7" name="Google Shape;537;p14"/>
          <p:cNvCxnSpPr>
            <a:endCxn id="535" idx="1"/>
          </p:cNvCxnSpPr>
          <p:nvPr/>
        </p:nvCxnSpPr>
        <p:spPr>
          <a:xfrm flipH="1" rot="10800000">
            <a:off x="4825345" y="1132504"/>
            <a:ext cx="4681200" cy="83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8" name="Google Shape;538;p14"/>
          <p:cNvSpPr/>
          <p:nvPr/>
        </p:nvSpPr>
        <p:spPr>
          <a:xfrm>
            <a:off x="7619662" y="122354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3690091" y="4416750"/>
            <a:ext cx="773416" cy="419099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F(a1,a3)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14"/>
          <p:cNvCxnSpPr>
            <a:stCxn id="489" idx="2"/>
            <a:endCxn id="539" idx="0"/>
          </p:cNvCxnSpPr>
          <p:nvPr/>
        </p:nvCxnSpPr>
        <p:spPr>
          <a:xfrm>
            <a:off x="1645452" y="3439943"/>
            <a:ext cx="2431200" cy="97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1" name="Google Shape;541;p14"/>
          <p:cNvSpPr/>
          <p:nvPr/>
        </p:nvSpPr>
        <p:spPr>
          <a:xfrm>
            <a:off x="4517626" y="4414883"/>
            <a:ext cx="726676" cy="4079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2" name="Google Shape;542;p14"/>
          <p:cNvCxnSpPr>
            <a:stCxn id="489" idx="2"/>
            <a:endCxn id="541" idx="0"/>
          </p:cNvCxnSpPr>
          <p:nvPr/>
        </p:nvCxnSpPr>
        <p:spPr>
          <a:xfrm>
            <a:off x="1645452" y="3439943"/>
            <a:ext cx="3235500" cy="975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3" name="Google Shape;543;p14"/>
          <p:cNvSpPr/>
          <p:nvPr/>
        </p:nvSpPr>
        <p:spPr>
          <a:xfrm>
            <a:off x="3099972" y="3808278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5330626" y="4423070"/>
            <a:ext cx="773416" cy="41909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F(a1)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14"/>
          <p:cNvCxnSpPr>
            <a:stCxn id="489" idx="3"/>
            <a:endCxn id="544" idx="0"/>
          </p:cNvCxnSpPr>
          <p:nvPr/>
        </p:nvCxnSpPr>
        <p:spPr>
          <a:xfrm>
            <a:off x="2430096" y="3230393"/>
            <a:ext cx="3287100" cy="119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6" name="Google Shape;546;p14"/>
          <p:cNvSpPr/>
          <p:nvPr/>
        </p:nvSpPr>
        <p:spPr>
          <a:xfrm>
            <a:off x="6158161" y="4421203"/>
            <a:ext cx="726676" cy="4079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14"/>
          <p:cNvCxnSpPr>
            <a:stCxn id="489" idx="3"/>
            <a:endCxn id="546" idx="0"/>
          </p:cNvCxnSpPr>
          <p:nvPr/>
        </p:nvCxnSpPr>
        <p:spPr>
          <a:xfrm>
            <a:off x="2430096" y="3230393"/>
            <a:ext cx="4091400" cy="119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8" name="Google Shape;548;p14"/>
          <p:cNvSpPr/>
          <p:nvPr/>
        </p:nvSpPr>
        <p:spPr>
          <a:xfrm>
            <a:off x="4252827" y="381510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5043340" y="208549"/>
            <a:ext cx="3327662" cy="36271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In Syllabus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15"/>
          <p:cNvGrpSpPr/>
          <p:nvPr/>
        </p:nvGrpSpPr>
        <p:grpSpPr>
          <a:xfrm>
            <a:off x="261733" y="208549"/>
            <a:ext cx="3487307" cy="1224012"/>
            <a:chOff x="261732" y="208549"/>
            <a:chExt cx="4446625" cy="1473236"/>
          </a:xfrm>
        </p:grpSpPr>
        <p:sp>
          <p:nvSpPr>
            <p:cNvPr id="555" name="Google Shape;555;p15"/>
            <p:cNvSpPr/>
            <p:nvPr/>
          </p:nvSpPr>
          <p:spPr>
            <a:xfrm>
              <a:off x="856323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1522037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2187750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2853463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3519177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4184890" y="208549"/>
              <a:ext cx="523467" cy="44247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856323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1522037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2187750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2853463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3519177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4184890" y="768704"/>
              <a:ext cx="523467" cy="442475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261732" y="208549"/>
              <a:ext cx="523467" cy="44247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S: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261732" y="768704"/>
              <a:ext cx="523467" cy="442475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rgbClr val="AC5B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F: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888448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a0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1522035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a1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2155622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a2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2853462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a3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3551302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a4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4249142" y="1328859"/>
              <a:ext cx="459215" cy="35292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a5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5" name="Google Shape;575;p15"/>
          <p:cNvSpPr/>
          <p:nvPr/>
        </p:nvSpPr>
        <p:spPr>
          <a:xfrm>
            <a:off x="2294321" y="1701421"/>
            <a:ext cx="2315535" cy="5943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F(a0,a1,a2,a3,a5,a5)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195004" y="3020844"/>
            <a:ext cx="543992" cy="419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15"/>
          <p:cNvCxnSpPr>
            <a:stCxn id="575" idx="2"/>
            <a:endCxn id="576" idx="0"/>
          </p:cNvCxnSpPr>
          <p:nvPr/>
        </p:nvCxnSpPr>
        <p:spPr>
          <a:xfrm flipH="1">
            <a:off x="467089" y="2295782"/>
            <a:ext cx="2985000" cy="72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8" name="Google Shape;578;p15"/>
          <p:cNvSpPr/>
          <p:nvPr/>
        </p:nvSpPr>
        <p:spPr>
          <a:xfrm>
            <a:off x="1933992" y="2262302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4280143" y="3055481"/>
            <a:ext cx="1303616" cy="4049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F(a3,a4,a5)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3459412" y="3051296"/>
            <a:ext cx="689502" cy="41910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F(a0)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860808" y="3020844"/>
            <a:ext cx="1569288" cy="419099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F(a1,a3,a4,a5)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15"/>
          <p:cNvCxnSpPr>
            <a:stCxn id="575" idx="2"/>
            <a:endCxn id="581" idx="0"/>
          </p:cNvCxnSpPr>
          <p:nvPr/>
        </p:nvCxnSpPr>
        <p:spPr>
          <a:xfrm flipH="1">
            <a:off x="1645489" y="2295782"/>
            <a:ext cx="1806600" cy="72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3" name="Google Shape;583;p15"/>
          <p:cNvSpPr/>
          <p:nvPr/>
        </p:nvSpPr>
        <p:spPr>
          <a:xfrm>
            <a:off x="3652153" y="2503576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15"/>
          <p:cNvCxnSpPr>
            <a:stCxn id="575" idx="2"/>
            <a:endCxn id="580" idx="0"/>
          </p:cNvCxnSpPr>
          <p:nvPr/>
        </p:nvCxnSpPr>
        <p:spPr>
          <a:xfrm>
            <a:off x="3452089" y="2295782"/>
            <a:ext cx="352200" cy="75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5" name="Google Shape;585;p15"/>
          <p:cNvCxnSpPr>
            <a:stCxn id="575" idx="2"/>
            <a:endCxn id="579" idx="0"/>
          </p:cNvCxnSpPr>
          <p:nvPr/>
        </p:nvCxnSpPr>
        <p:spPr>
          <a:xfrm>
            <a:off x="3452089" y="2295782"/>
            <a:ext cx="1479900" cy="75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6" name="Google Shape;586;p15"/>
          <p:cNvSpPr/>
          <p:nvPr/>
        </p:nvSpPr>
        <p:spPr>
          <a:xfrm>
            <a:off x="6179436" y="3058064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9443045" y="4379729"/>
            <a:ext cx="704881" cy="435281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F(a4)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8727422" y="4401509"/>
            <a:ext cx="689502" cy="419101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" name="Google Shape;589;p15"/>
          <p:cNvCxnSpPr>
            <a:stCxn id="575" idx="2"/>
            <a:endCxn id="588" idx="0"/>
          </p:cNvCxnSpPr>
          <p:nvPr/>
        </p:nvCxnSpPr>
        <p:spPr>
          <a:xfrm>
            <a:off x="3452088" y="2295782"/>
            <a:ext cx="5620200" cy="210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0" name="Google Shape;590;p15"/>
          <p:cNvCxnSpPr>
            <a:stCxn id="575" idx="2"/>
            <a:endCxn id="587" idx="0"/>
          </p:cNvCxnSpPr>
          <p:nvPr/>
        </p:nvCxnSpPr>
        <p:spPr>
          <a:xfrm>
            <a:off x="3452089" y="2295782"/>
            <a:ext cx="6343500" cy="2083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1" name="Google Shape;591;p15"/>
          <p:cNvSpPr/>
          <p:nvPr/>
        </p:nvSpPr>
        <p:spPr>
          <a:xfrm>
            <a:off x="50921" y="4297900"/>
            <a:ext cx="543992" cy="419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15"/>
          <p:cNvCxnSpPr>
            <a:stCxn id="581" idx="2"/>
            <a:endCxn id="591" idx="0"/>
          </p:cNvCxnSpPr>
          <p:nvPr/>
        </p:nvCxnSpPr>
        <p:spPr>
          <a:xfrm flipH="1">
            <a:off x="323052" y="3439943"/>
            <a:ext cx="1322400" cy="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3" name="Google Shape;593;p15"/>
          <p:cNvSpPr/>
          <p:nvPr/>
        </p:nvSpPr>
        <p:spPr>
          <a:xfrm>
            <a:off x="685153" y="4325071"/>
            <a:ext cx="1322535" cy="4190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F(a3,a4,a5)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15"/>
          <p:cNvCxnSpPr>
            <a:stCxn id="581" idx="2"/>
            <a:endCxn id="593" idx="0"/>
          </p:cNvCxnSpPr>
          <p:nvPr/>
        </p:nvCxnSpPr>
        <p:spPr>
          <a:xfrm flipH="1">
            <a:off x="1346352" y="3439943"/>
            <a:ext cx="299100" cy="885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5" name="Google Shape;595;p15"/>
          <p:cNvSpPr/>
          <p:nvPr/>
        </p:nvSpPr>
        <p:spPr>
          <a:xfrm>
            <a:off x="932434" y="3783011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2170287" y="4545945"/>
            <a:ext cx="581657" cy="41909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F(a1)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7" name="Google Shape;597;p15"/>
          <p:cNvCxnSpPr>
            <a:stCxn id="581" idx="2"/>
            <a:endCxn id="596" idx="0"/>
          </p:cNvCxnSpPr>
          <p:nvPr/>
        </p:nvCxnSpPr>
        <p:spPr>
          <a:xfrm>
            <a:off x="1645452" y="3439943"/>
            <a:ext cx="815700" cy="1106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8" name="Google Shape;598;p15"/>
          <p:cNvSpPr/>
          <p:nvPr/>
        </p:nvSpPr>
        <p:spPr>
          <a:xfrm>
            <a:off x="2799261" y="4546540"/>
            <a:ext cx="611908" cy="40790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F(a5)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9" name="Google Shape;599;p15"/>
          <p:cNvCxnSpPr>
            <a:stCxn id="581" idx="2"/>
            <a:endCxn id="598" idx="0"/>
          </p:cNvCxnSpPr>
          <p:nvPr/>
        </p:nvCxnSpPr>
        <p:spPr>
          <a:xfrm>
            <a:off x="1645452" y="3439943"/>
            <a:ext cx="1459800" cy="110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0" name="Google Shape;600;p15"/>
          <p:cNvSpPr/>
          <p:nvPr/>
        </p:nvSpPr>
        <p:spPr>
          <a:xfrm>
            <a:off x="2297973" y="3766170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128275" y="6203556"/>
            <a:ext cx="543992" cy="4191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15"/>
          <p:cNvCxnSpPr>
            <a:stCxn id="593" idx="2"/>
            <a:endCxn id="601" idx="0"/>
          </p:cNvCxnSpPr>
          <p:nvPr/>
        </p:nvCxnSpPr>
        <p:spPr>
          <a:xfrm flipH="1">
            <a:off x="400221" y="4744170"/>
            <a:ext cx="946200" cy="145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3" name="Google Shape;603;p15"/>
          <p:cNvSpPr/>
          <p:nvPr/>
        </p:nvSpPr>
        <p:spPr>
          <a:xfrm>
            <a:off x="767709" y="6212973"/>
            <a:ext cx="741743" cy="41790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F(a4)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15"/>
          <p:cNvCxnSpPr>
            <a:stCxn id="593" idx="2"/>
            <a:endCxn id="603" idx="0"/>
          </p:cNvCxnSpPr>
          <p:nvPr/>
        </p:nvCxnSpPr>
        <p:spPr>
          <a:xfrm flipH="1">
            <a:off x="1138521" y="4744170"/>
            <a:ext cx="207900" cy="14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5" name="Google Shape;605;p15"/>
          <p:cNvSpPr/>
          <p:nvPr/>
        </p:nvSpPr>
        <p:spPr>
          <a:xfrm>
            <a:off x="826130" y="5476830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2626452" y="6084031"/>
            <a:ext cx="661257" cy="532413"/>
          </a:xfrm>
          <a:prstGeom prst="rect">
            <a:avLst/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F(a3)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7" name="Google Shape;607;p15"/>
          <p:cNvCxnSpPr>
            <a:stCxn id="593" idx="2"/>
            <a:endCxn id="606" idx="0"/>
          </p:cNvCxnSpPr>
          <p:nvPr/>
        </p:nvCxnSpPr>
        <p:spPr>
          <a:xfrm>
            <a:off x="1346421" y="4744170"/>
            <a:ext cx="1610700" cy="133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8" name="Google Shape;608;p15"/>
          <p:cNvSpPr/>
          <p:nvPr/>
        </p:nvSpPr>
        <p:spPr>
          <a:xfrm>
            <a:off x="3589776" y="6141284"/>
            <a:ext cx="741743" cy="417909"/>
          </a:xfrm>
          <a:prstGeom prst="rect">
            <a:avLst/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9" name="Google Shape;609;p15"/>
          <p:cNvCxnSpPr>
            <a:stCxn id="593" idx="2"/>
            <a:endCxn id="608" idx="0"/>
          </p:cNvCxnSpPr>
          <p:nvPr/>
        </p:nvCxnSpPr>
        <p:spPr>
          <a:xfrm>
            <a:off x="1346421" y="4744170"/>
            <a:ext cx="2614200" cy="1397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0" name="Google Shape;610;p15"/>
          <p:cNvSpPr/>
          <p:nvPr/>
        </p:nvSpPr>
        <p:spPr>
          <a:xfrm>
            <a:off x="2488224" y="5515875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1" name="Google Shape;611;p15"/>
          <p:cNvCxnSpPr>
            <a:stCxn id="593" idx="2"/>
            <a:endCxn id="612" idx="0"/>
          </p:cNvCxnSpPr>
          <p:nvPr/>
        </p:nvCxnSpPr>
        <p:spPr>
          <a:xfrm>
            <a:off x="1346421" y="4744170"/>
            <a:ext cx="5457600" cy="133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3" name="Google Shape;613;p15"/>
          <p:cNvCxnSpPr>
            <a:stCxn id="593" idx="2"/>
            <a:endCxn id="614" idx="0"/>
          </p:cNvCxnSpPr>
          <p:nvPr/>
        </p:nvCxnSpPr>
        <p:spPr>
          <a:xfrm>
            <a:off x="1346421" y="4744170"/>
            <a:ext cx="6445200" cy="138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2" name="Google Shape;612;p15"/>
          <p:cNvSpPr/>
          <p:nvPr/>
        </p:nvSpPr>
        <p:spPr>
          <a:xfrm>
            <a:off x="6473339" y="6077339"/>
            <a:ext cx="661257" cy="532413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7420604" y="6125870"/>
            <a:ext cx="741743" cy="417909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4221498" y="5173336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7467694" y="2696752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10526081" y="3500701"/>
            <a:ext cx="704881" cy="435281"/>
          </a:xfrm>
          <a:prstGeom prst="rect">
            <a:avLst/>
          </a:prstGeom>
          <a:solidFill>
            <a:srgbClr val="7030A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F(a4)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5"/>
          <p:cNvSpPr/>
          <p:nvPr/>
        </p:nvSpPr>
        <p:spPr>
          <a:xfrm>
            <a:off x="9009439" y="3494009"/>
            <a:ext cx="1243196" cy="419101"/>
          </a:xfrm>
          <a:prstGeom prst="rect">
            <a:avLst/>
          </a:prstGeom>
          <a:solidFill>
            <a:srgbClr val="7030A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F(a0,a1)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p15"/>
          <p:cNvCxnSpPr>
            <a:stCxn id="575" idx="3"/>
            <a:endCxn id="618" idx="0"/>
          </p:cNvCxnSpPr>
          <p:nvPr/>
        </p:nvCxnSpPr>
        <p:spPr>
          <a:xfrm>
            <a:off x="4609856" y="1998602"/>
            <a:ext cx="5021100" cy="1495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0" name="Google Shape;620;p15"/>
          <p:cNvCxnSpPr>
            <a:stCxn id="575" idx="3"/>
            <a:endCxn id="617" idx="0"/>
          </p:cNvCxnSpPr>
          <p:nvPr/>
        </p:nvCxnSpPr>
        <p:spPr>
          <a:xfrm>
            <a:off x="4609856" y="1998602"/>
            <a:ext cx="6268800" cy="150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1" name="Google Shape;621;p15"/>
          <p:cNvSpPr/>
          <p:nvPr/>
        </p:nvSpPr>
        <p:spPr>
          <a:xfrm>
            <a:off x="8182872" y="2102394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/>
          <p:nvPr/>
        </p:nvSpPr>
        <p:spPr>
          <a:xfrm>
            <a:off x="11138119" y="2446968"/>
            <a:ext cx="704881" cy="435281"/>
          </a:xfrm>
          <a:prstGeom prst="rect">
            <a:avLst/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9221821" y="2541374"/>
            <a:ext cx="1596627" cy="419101"/>
          </a:xfrm>
          <a:prstGeom prst="rect">
            <a:avLst/>
          </a:prstGeom>
          <a:solidFill>
            <a:srgbClr val="FF000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F(a0,a1,a2,a3)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p15"/>
          <p:cNvCxnSpPr>
            <a:stCxn id="575" idx="3"/>
            <a:endCxn id="623" idx="0"/>
          </p:cNvCxnSpPr>
          <p:nvPr/>
        </p:nvCxnSpPr>
        <p:spPr>
          <a:xfrm>
            <a:off x="4609856" y="1998602"/>
            <a:ext cx="5410200" cy="542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5" name="Google Shape;625;p15"/>
          <p:cNvCxnSpPr>
            <a:stCxn id="575" idx="3"/>
            <a:endCxn id="622" idx="0"/>
          </p:cNvCxnSpPr>
          <p:nvPr/>
        </p:nvCxnSpPr>
        <p:spPr>
          <a:xfrm>
            <a:off x="4609856" y="1998602"/>
            <a:ext cx="6880800" cy="448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6" name="Google Shape;626;p15"/>
          <p:cNvSpPr/>
          <p:nvPr/>
        </p:nvSpPr>
        <p:spPr>
          <a:xfrm>
            <a:off x="9795485" y="233104"/>
            <a:ext cx="704881" cy="43528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5"/>
          <p:cNvSpPr/>
          <p:nvPr/>
        </p:nvSpPr>
        <p:spPr>
          <a:xfrm>
            <a:off x="9394220" y="768394"/>
            <a:ext cx="1027180" cy="4191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F(a0,a1)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15"/>
          <p:cNvCxnSpPr>
            <a:stCxn id="575" idx="3"/>
            <a:endCxn id="627" idx="1"/>
          </p:cNvCxnSpPr>
          <p:nvPr/>
        </p:nvCxnSpPr>
        <p:spPr>
          <a:xfrm flipH="1" rot="10800000">
            <a:off x="4609856" y="978002"/>
            <a:ext cx="4784400" cy="102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9" name="Google Shape;629;p15"/>
          <p:cNvCxnSpPr>
            <a:endCxn id="626" idx="1"/>
          </p:cNvCxnSpPr>
          <p:nvPr/>
        </p:nvCxnSpPr>
        <p:spPr>
          <a:xfrm flipH="1" rot="10800000">
            <a:off x="4633685" y="450744"/>
            <a:ext cx="5161800" cy="154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0" name="Google Shape;630;p15"/>
          <p:cNvSpPr/>
          <p:nvPr/>
        </p:nvSpPr>
        <p:spPr>
          <a:xfrm>
            <a:off x="7538582" y="1309274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5"/>
          <p:cNvSpPr/>
          <p:nvPr/>
        </p:nvSpPr>
        <p:spPr>
          <a:xfrm>
            <a:off x="3690091" y="4416750"/>
            <a:ext cx="773416" cy="419099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F(a1,a3)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2" name="Google Shape;632;p15"/>
          <p:cNvCxnSpPr>
            <a:stCxn id="581" idx="2"/>
            <a:endCxn id="631" idx="0"/>
          </p:cNvCxnSpPr>
          <p:nvPr/>
        </p:nvCxnSpPr>
        <p:spPr>
          <a:xfrm>
            <a:off x="1645452" y="3439943"/>
            <a:ext cx="2431200" cy="97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3" name="Google Shape;633;p15"/>
          <p:cNvSpPr/>
          <p:nvPr/>
        </p:nvSpPr>
        <p:spPr>
          <a:xfrm>
            <a:off x="4517626" y="4414883"/>
            <a:ext cx="726676" cy="4079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15"/>
          <p:cNvCxnSpPr>
            <a:stCxn id="581" idx="2"/>
            <a:endCxn id="633" idx="0"/>
          </p:cNvCxnSpPr>
          <p:nvPr/>
        </p:nvCxnSpPr>
        <p:spPr>
          <a:xfrm>
            <a:off x="1645452" y="3439943"/>
            <a:ext cx="3235500" cy="975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5" name="Google Shape;635;p15"/>
          <p:cNvSpPr/>
          <p:nvPr/>
        </p:nvSpPr>
        <p:spPr>
          <a:xfrm>
            <a:off x="3099972" y="3808278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5"/>
          <p:cNvSpPr/>
          <p:nvPr/>
        </p:nvSpPr>
        <p:spPr>
          <a:xfrm>
            <a:off x="5330626" y="4423070"/>
            <a:ext cx="773416" cy="41909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F(a1)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7" name="Google Shape;637;p15"/>
          <p:cNvCxnSpPr>
            <a:stCxn id="581" idx="3"/>
            <a:endCxn id="636" idx="0"/>
          </p:cNvCxnSpPr>
          <p:nvPr/>
        </p:nvCxnSpPr>
        <p:spPr>
          <a:xfrm>
            <a:off x="2430096" y="3230393"/>
            <a:ext cx="3287100" cy="1192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8" name="Google Shape;638;p15"/>
          <p:cNvSpPr/>
          <p:nvPr/>
        </p:nvSpPr>
        <p:spPr>
          <a:xfrm>
            <a:off x="6158161" y="4421203"/>
            <a:ext cx="726676" cy="4079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" name="Google Shape;639;p15"/>
          <p:cNvCxnSpPr>
            <a:stCxn id="581" idx="3"/>
            <a:endCxn id="638" idx="0"/>
          </p:cNvCxnSpPr>
          <p:nvPr/>
        </p:nvCxnSpPr>
        <p:spPr>
          <a:xfrm>
            <a:off x="2430096" y="3230393"/>
            <a:ext cx="4091400" cy="119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0" name="Google Shape;640;p15"/>
          <p:cNvSpPr/>
          <p:nvPr/>
        </p:nvSpPr>
        <p:spPr>
          <a:xfrm>
            <a:off x="4252827" y="381510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 txBox="1"/>
          <p:nvPr/>
        </p:nvSpPr>
        <p:spPr>
          <a:xfrm>
            <a:off x="398405" y="4750197"/>
            <a:ext cx="8386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(a3,a4)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5"/>
          <p:cNvSpPr txBox="1"/>
          <p:nvPr/>
        </p:nvSpPr>
        <p:spPr>
          <a:xfrm>
            <a:off x="1217254" y="4880666"/>
            <a:ext cx="8386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(a3,a4)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5"/>
          <p:cNvSpPr txBox="1"/>
          <p:nvPr/>
        </p:nvSpPr>
        <p:spPr>
          <a:xfrm>
            <a:off x="2182765" y="4965044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5"/>
          <p:cNvSpPr txBox="1"/>
          <p:nvPr/>
        </p:nvSpPr>
        <p:spPr>
          <a:xfrm>
            <a:off x="947887" y="4014850"/>
            <a:ext cx="8386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(a3,a4)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 txBox="1"/>
          <p:nvPr/>
        </p:nvSpPr>
        <p:spPr>
          <a:xfrm>
            <a:off x="79593" y="3445777"/>
            <a:ext cx="1124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(a1,a3,a4)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 txBox="1"/>
          <p:nvPr/>
        </p:nvSpPr>
        <p:spPr>
          <a:xfrm>
            <a:off x="1175782" y="3583050"/>
            <a:ext cx="1124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(a1,a3,a5)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5"/>
          <p:cNvSpPr txBox="1"/>
          <p:nvPr/>
        </p:nvSpPr>
        <p:spPr>
          <a:xfrm>
            <a:off x="2188189" y="3432671"/>
            <a:ext cx="1124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(a1,a3,a4)</a:t>
            </a:r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5"/>
          <p:cNvSpPr txBox="1"/>
          <p:nvPr/>
        </p:nvSpPr>
        <p:spPr>
          <a:xfrm>
            <a:off x="2634394" y="300067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a1,a5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5"/>
          <p:cNvSpPr txBox="1"/>
          <p:nvPr/>
        </p:nvSpPr>
        <p:spPr>
          <a:xfrm>
            <a:off x="759941" y="2616542"/>
            <a:ext cx="1124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(a1,a3,a4)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5"/>
          <p:cNvSpPr txBox="1"/>
          <p:nvPr/>
        </p:nvSpPr>
        <p:spPr>
          <a:xfrm>
            <a:off x="4289129" y="2286029"/>
            <a:ext cx="8386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(a2,a4)</a:t>
            </a: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 txBox="1"/>
          <p:nvPr/>
        </p:nvSpPr>
        <p:spPr>
          <a:xfrm>
            <a:off x="4888775" y="2002251"/>
            <a:ext cx="14670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(a0,a1,a3,a4,)</a:t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5"/>
          <p:cNvSpPr txBox="1"/>
          <p:nvPr/>
        </p:nvSpPr>
        <p:spPr>
          <a:xfrm>
            <a:off x="6793775" y="1823309"/>
            <a:ext cx="14670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(a0,a1,a3,a4,)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4749407" y="1323956"/>
            <a:ext cx="1124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(a0,a1,a5)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5"/>
          <p:cNvSpPr txBox="1"/>
          <p:nvPr/>
        </p:nvSpPr>
        <p:spPr>
          <a:xfrm>
            <a:off x="1497699" y="1844439"/>
            <a:ext cx="1409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(a0,a1,a3,a4)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 txBox="1"/>
          <p:nvPr/>
        </p:nvSpPr>
        <p:spPr>
          <a:xfrm>
            <a:off x="3050926" y="1374081"/>
            <a:ext cx="1409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(a0,a1,a3,a4)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5"/>
          <p:cNvSpPr txBox="1"/>
          <p:nvPr/>
        </p:nvSpPr>
        <p:spPr>
          <a:xfrm>
            <a:off x="4388245" y="2741123"/>
            <a:ext cx="8386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(a3,a4)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3675792" y="2783091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a0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2798772" y="2263811"/>
            <a:ext cx="22892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(a0,a1,a3,a4)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5043340" y="208549"/>
            <a:ext cx="3327662" cy="36271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In Syllabus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Several recursive calls from a recursive function.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Difficult to use memoization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65" name="Google Shape;665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666" name="Google Shape;666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67" name="Google Shape;667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8" name="Google Shape;668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Problems with this approach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we saw, we have to solve many recursive problems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can we reduce our work (i.e solve this problem by making less choices?)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 let’s think greedily.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are trying to select the maximum possible activities that do not overlap.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 us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reframe the problem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675" name="Google Shape;675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76" name="Google Shape;676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7" name="Google Shape;677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Lets move on to the Greedy strategy of Greedy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683" name="Google Shape;683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84" name="Google Shape;684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5" name="Google Shape;685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Lots of overlapping tasks</a:t>
            </a: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2400064" y="1940140"/>
            <a:ext cx="7720553" cy="336537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2654588" y="2308170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Task1 (1-4)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2654587" y="2926010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Task2(3-5)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2654582" y="3693695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Task3(0-6)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2654583" y="4411501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Task4(5-7)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5140515" y="2318750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Task5(3-9)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5140514" y="3031242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Task6(5-9)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5140514" y="3693695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Task7(6-10)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5140514" y="4436489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Task8(8-11)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7626442" y="2318750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Task9(8-12)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7626442" y="3064671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Task10(2-14)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7626442" y="3810592"/>
            <a:ext cx="2139885" cy="49962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Task11(12-16)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need to select activities,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that can leave out more time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the other activities.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is the best activity to select at a time is the one that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 the earliest finish time at the moment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has to be the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 activity (after being sorted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per finish time)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Choosing out the first activity with the earliest finish time will leave out more room for other activities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Thus we can frame the function like this: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S(1,n)=1+S(x,n)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is a non-overlapping activity that does not overlap with activity 1 1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it is the non-overlapping activity with the earliest finish 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03" name="Google Shape;703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704" name="Google Shape;704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05" name="Google Shape;705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6" name="Google Shape;706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Lets move on to the Greedy strategy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0"/>
          <p:cNvSpPr txBox="1"/>
          <p:nvPr>
            <p:ph type="title"/>
          </p:nvPr>
        </p:nvSpPr>
        <p:spPr>
          <a:xfrm>
            <a:off x="2346384" y="2330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Timeline</a:t>
            </a:r>
            <a:endParaRPr/>
          </a:p>
        </p:txBody>
      </p:sp>
      <p:pic>
        <p:nvPicPr>
          <p:cNvPr id="712" name="Google Shape;71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165" l="0" r="25901" t="0"/>
          <a:stretch/>
        </p:blipFill>
        <p:spPr>
          <a:xfrm>
            <a:off x="1067024" y="233045"/>
            <a:ext cx="8836200" cy="58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0"/>
          <p:cNvSpPr/>
          <p:nvPr/>
        </p:nvSpPr>
        <p:spPr>
          <a:xfrm>
            <a:off x="2234048" y="4996101"/>
            <a:ext cx="490194" cy="90497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1-4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0"/>
          <p:cNvSpPr/>
          <p:nvPr/>
        </p:nvSpPr>
        <p:spPr>
          <a:xfrm>
            <a:off x="2867216" y="4706619"/>
            <a:ext cx="490194" cy="6477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3-5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0"/>
          <p:cNvSpPr/>
          <p:nvPr/>
        </p:nvSpPr>
        <p:spPr>
          <a:xfrm>
            <a:off x="3500384" y="4430494"/>
            <a:ext cx="490194" cy="168739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0-6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0"/>
          <p:cNvSpPr/>
          <p:nvPr/>
        </p:nvSpPr>
        <p:spPr>
          <a:xfrm>
            <a:off x="4133552" y="4150359"/>
            <a:ext cx="490194" cy="6477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5-7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0"/>
          <p:cNvSpPr/>
          <p:nvPr/>
        </p:nvSpPr>
        <p:spPr>
          <a:xfrm>
            <a:off x="4809338" y="3582671"/>
            <a:ext cx="490194" cy="17716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3-9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0"/>
          <p:cNvSpPr/>
          <p:nvPr/>
        </p:nvSpPr>
        <p:spPr>
          <a:xfrm>
            <a:off x="5485124" y="3544669"/>
            <a:ext cx="490194" cy="116195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5-9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0"/>
          <p:cNvSpPr/>
          <p:nvPr/>
        </p:nvSpPr>
        <p:spPr>
          <a:xfrm>
            <a:off x="6160910" y="3296921"/>
            <a:ext cx="490194" cy="113357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6-10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0"/>
          <p:cNvSpPr/>
          <p:nvPr/>
        </p:nvSpPr>
        <p:spPr>
          <a:xfrm>
            <a:off x="6836696" y="2981961"/>
            <a:ext cx="490194" cy="8534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8-11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0"/>
          <p:cNvSpPr/>
          <p:nvPr/>
        </p:nvSpPr>
        <p:spPr>
          <a:xfrm>
            <a:off x="7558202" y="2809240"/>
            <a:ext cx="490194" cy="10261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8-12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0"/>
          <p:cNvSpPr/>
          <p:nvPr/>
        </p:nvSpPr>
        <p:spPr>
          <a:xfrm>
            <a:off x="8192377" y="2128520"/>
            <a:ext cx="490194" cy="341502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2-14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0"/>
          <p:cNvSpPr/>
          <p:nvPr/>
        </p:nvSpPr>
        <p:spPr>
          <a:xfrm>
            <a:off x="8782482" y="1676401"/>
            <a:ext cx="490194" cy="11328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12-16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4" name="Google Shape;724;p20"/>
          <p:cNvCxnSpPr/>
          <p:nvPr/>
        </p:nvCxnSpPr>
        <p:spPr>
          <a:xfrm>
            <a:off x="1681273" y="4995329"/>
            <a:ext cx="8349673" cy="0"/>
          </a:xfrm>
          <a:prstGeom prst="straightConnector1">
            <a:avLst/>
          </a:prstGeom>
          <a:noFill/>
          <a:ln cap="flat" cmpd="sng" w="38100">
            <a:solidFill>
              <a:srgbClr val="17161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725" name="Google Shape;725;p20"/>
          <p:cNvSpPr txBox="1"/>
          <p:nvPr/>
        </p:nvSpPr>
        <p:spPr>
          <a:xfrm>
            <a:off x="2269332" y="4521953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0"/>
          <p:cNvSpPr txBox="1"/>
          <p:nvPr/>
        </p:nvSpPr>
        <p:spPr>
          <a:xfrm>
            <a:off x="2906167" y="4296976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0"/>
          <p:cNvSpPr txBox="1"/>
          <p:nvPr/>
        </p:nvSpPr>
        <p:spPr>
          <a:xfrm>
            <a:off x="3543002" y="407199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0"/>
          <p:cNvSpPr txBox="1"/>
          <p:nvPr/>
        </p:nvSpPr>
        <p:spPr>
          <a:xfrm>
            <a:off x="4179837" y="3847022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0"/>
          <p:cNvSpPr txBox="1"/>
          <p:nvPr/>
        </p:nvSpPr>
        <p:spPr>
          <a:xfrm>
            <a:off x="4854187" y="3251701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0"/>
          <p:cNvSpPr txBox="1"/>
          <p:nvPr/>
        </p:nvSpPr>
        <p:spPr>
          <a:xfrm>
            <a:off x="5517306" y="3067035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0"/>
          <p:cNvSpPr txBox="1"/>
          <p:nvPr/>
        </p:nvSpPr>
        <p:spPr>
          <a:xfrm>
            <a:off x="6193092" y="2867137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a7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0"/>
          <p:cNvSpPr txBox="1"/>
          <p:nvPr/>
        </p:nvSpPr>
        <p:spPr>
          <a:xfrm>
            <a:off x="6868878" y="266723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0"/>
          <p:cNvSpPr txBox="1"/>
          <p:nvPr/>
        </p:nvSpPr>
        <p:spPr>
          <a:xfrm>
            <a:off x="7544664" y="2467341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a9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0"/>
          <p:cNvSpPr txBox="1"/>
          <p:nvPr/>
        </p:nvSpPr>
        <p:spPr>
          <a:xfrm>
            <a:off x="8172818" y="1814592"/>
            <a:ext cx="529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a10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0"/>
          <p:cNvSpPr txBox="1"/>
          <p:nvPr/>
        </p:nvSpPr>
        <p:spPr>
          <a:xfrm>
            <a:off x="8743364" y="1278719"/>
            <a:ext cx="529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a11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1"/>
          <p:cNvSpPr/>
          <p:nvPr/>
        </p:nvSpPr>
        <p:spPr>
          <a:xfrm>
            <a:off x="7308005" y="2299341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S(1,n)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1"/>
          <p:cNvSpPr/>
          <p:nvPr/>
        </p:nvSpPr>
        <p:spPr>
          <a:xfrm>
            <a:off x="5784005" y="3905495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S(4,n)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2" name="Google Shape;742;p21"/>
          <p:cNvCxnSpPr>
            <a:stCxn id="740" idx="2"/>
            <a:endCxn id="741" idx="0"/>
          </p:cNvCxnSpPr>
          <p:nvPr/>
        </p:nvCxnSpPr>
        <p:spPr>
          <a:xfrm flipH="1">
            <a:off x="6546005" y="2844773"/>
            <a:ext cx="1524000" cy="106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3" name="Google Shape;743;p21"/>
          <p:cNvSpPr txBox="1"/>
          <p:nvPr/>
        </p:nvSpPr>
        <p:spPr>
          <a:xfrm>
            <a:off x="6515979" y="2831689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21"/>
          <p:cNvCxnSpPr>
            <a:stCxn id="741" idx="2"/>
            <a:endCxn id="745" idx="0"/>
          </p:cNvCxnSpPr>
          <p:nvPr/>
        </p:nvCxnSpPr>
        <p:spPr>
          <a:xfrm flipH="1">
            <a:off x="5451905" y="4450927"/>
            <a:ext cx="1094100" cy="109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6" name="Google Shape;746;p21"/>
          <p:cNvSpPr txBox="1"/>
          <p:nvPr/>
        </p:nvSpPr>
        <p:spPr>
          <a:xfrm>
            <a:off x="5373959" y="4482263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7" name="Google Shape;747;p21"/>
          <p:cNvCxnSpPr>
            <a:stCxn id="741" idx="2"/>
          </p:cNvCxnSpPr>
          <p:nvPr/>
        </p:nvCxnSpPr>
        <p:spPr>
          <a:xfrm>
            <a:off x="6546005" y="4450927"/>
            <a:ext cx="991500" cy="1303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8" name="Google Shape;748;p21"/>
          <p:cNvSpPr txBox="1"/>
          <p:nvPr/>
        </p:nvSpPr>
        <p:spPr>
          <a:xfrm>
            <a:off x="7056356" y="4916003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9" name="Google Shape;749;p21"/>
          <p:cNvCxnSpPr>
            <a:stCxn id="741" idx="2"/>
          </p:cNvCxnSpPr>
          <p:nvPr/>
        </p:nvCxnSpPr>
        <p:spPr>
          <a:xfrm>
            <a:off x="6546005" y="4450927"/>
            <a:ext cx="2319300" cy="7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0" name="Google Shape;750;p21"/>
          <p:cNvSpPr txBox="1"/>
          <p:nvPr/>
        </p:nvSpPr>
        <p:spPr>
          <a:xfrm rot="-2664137">
            <a:off x="7483788" y="5190763"/>
            <a:ext cx="10762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1"/>
          <p:cNvSpPr txBox="1"/>
          <p:nvPr/>
        </p:nvSpPr>
        <p:spPr>
          <a:xfrm>
            <a:off x="7537621" y="4360823"/>
            <a:ext cx="76655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1"/>
          <p:cNvSpPr/>
          <p:nvPr/>
        </p:nvSpPr>
        <p:spPr>
          <a:xfrm>
            <a:off x="4689867" y="5550279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S(8,n)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1"/>
          <p:cNvSpPr/>
          <p:nvPr/>
        </p:nvSpPr>
        <p:spPr>
          <a:xfrm>
            <a:off x="6930282" y="4794244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1"/>
          <p:cNvSpPr/>
          <p:nvPr/>
        </p:nvSpPr>
        <p:spPr>
          <a:xfrm>
            <a:off x="7416308" y="4304929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1"/>
          <p:cNvSpPr txBox="1"/>
          <p:nvPr/>
        </p:nvSpPr>
        <p:spPr>
          <a:xfrm>
            <a:off x="2272740" y="1049631"/>
            <a:ext cx="21026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Finishes later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1"/>
          <p:cNvSpPr/>
          <p:nvPr/>
        </p:nvSpPr>
        <p:spPr>
          <a:xfrm>
            <a:off x="1849657" y="1078350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6" name="Google Shape;756;p21"/>
          <p:cNvCxnSpPr>
            <a:stCxn id="740" idx="2"/>
          </p:cNvCxnSpPr>
          <p:nvPr/>
        </p:nvCxnSpPr>
        <p:spPr>
          <a:xfrm>
            <a:off x="8070005" y="2844773"/>
            <a:ext cx="1211700" cy="160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7" name="Google Shape;757;p21"/>
          <p:cNvSpPr txBox="1"/>
          <p:nvPr/>
        </p:nvSpPr>
        <p:spPr>
          <a:xfrm>
            <a:off x="8547101" y="3580199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8" name="Google Shape;758;p21"/>
          <p:cNvCxnSpPr>
            <a:stCxn id="740" idx="2"/>
          </p:cNvCxnSpPr>
          <p:nvPr/>
        </p:nvCxnSpPr>
        <p:spPr>
          <a:xfrm>
            <a:off x="8070005" y="2844773"/>
            <a:ext cx="2286000" cy="103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9" name="Google Shape;759;p21"/>
          <p:cNvSpPr txBox="1"/>
          <p:nvPr/>
        </p:nvSpPr>
        <p:spPr>
          <a:xfrm rot="-2664137">
            <a:off x="9132800" y="3790368"/>
            <a:ext cx="8915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1"/>
          <p:cNvSpPr/>
          <p:nvPr/>
        </p:nvSpPr>
        <p:spPr>
          <a:xfrm>
            <a:off x="8421027" y="3458440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1"/>
          <p:cNvSpPr/>
          <p:nvPr/>
        </p:nvSpPr>
        <p:spPr>
          <a:xfrm>
            <a:off x="8907053" y="2969125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1"/>
          <p:cNvSpPr txBox="1"/>
          <p:nvPr/>
        </p:nvSpPr>
        <p:spPr>
          <a:xfrm>
            <a:off x="9311382" y="2797477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1"/>
          <p:cNvSpPr txBox="1"/>
          <p:nvPr/>
        </p:nvSpPr>
        <p:spPr>
          <a:xfrm>
            <a:off x="1769358" y="1748400"/>
            <a:ext cx="505927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activities are sorted as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their finish time.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2"/>
          <p:cNvSpPr txBox="1"/>
          <p:nvPr>
            <p:ph type="title"/>
          </p:nvPr>
        </p:nvSpPr>
        <p:spPr>
          <a:xfrm>
            <a:off x="838200" y="365126"/>
            <a:ext cx="10515600" cy="850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activity selection problem</a:t>
            </a:r>
            <a:endParaRPr/>
          </a:p>
        </p:txBody>
      </p:sp>
      <p:sp>
        <p:nvSpPr>
          <p:cNvPr id="769" name="Google Shape;769;p22"/>
          <p:cNvSpPr/>
          <p:nvPr/>
        </p:nvSpPr>
        <p:spPr>
          <a:xfrm>
            <a:off x="4961734" y="1538045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2"/>
          <p:cNvSpPr/>
          <p:nvPr/>
        </p:nvSpPr>
        <p:spPr>
          <a:xfrm>
            <a:off x="4961734" y="2571034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S(4,n)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1" name="Google Shape;771;p22"/>
          <p:cNvCxnSpPr>
            <a:stCxn id="769" idx="2"/>
            <a:endCxn id="770" idx="0"/>
          </p:cNvCxnSpPr>
          <p:nvPr/>
        </p:nvCxnSpPr>
        <p:spPr>
          <a:xfrm>
            <a:off x="5723734" y="2083477"/>
            <a:ext cx="0" cy="48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2" name="Google Shape;772;p22"/>
          <p:cNvCxnSpPr>
            <a:stCxn id="770" idx="2"/>
            <a:endCxn id="773" idx="0"/>
          </p:cNvCxnSpPr>
          <p:nvPr/>
        </p:nvCxnSpPr>
        <p:spPr>
          <a:xfrm>
            <a:off x="5723734" y="3116466"/>
            <a:ext cx="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74" name="Google Shape;774;p22"/>
          <p:cNvSpPr txBox="1"/>
          <p:nvPr/>
        </p:nvSpPr>
        <p:spPr>
          <a:xfrm>
            <a:off x="5705634" y="1951462"/>
            <a:ext cx="4235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2"/>
          <p:cNvSpPr/>
          <p:nvPr/>
        </p:nvSpPr>
        <p:spPr>
          <a:xfrm>
            <a:off x="4961734" y="3670091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S(8,n)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2"/>
          <p:cNvSpPr txBox="1"/>
          <p:nvPr/>
        </p:nvSpPr>
        <p:spPr>
          <a:xfrm>
            <a:off x="5784711" y="3148886"/>
            <a:ext cx="4235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6" name="Google Shape;776;p22"/>
          <p:cNvCxnSpPr>
            <a:stCxn id="773" idx="2"/>
            <a:endCxn id="777" idx="0"/>
          </p:cNvCxnSpPr>
          <p:nvPr/>
        </p:nvCxnSpPr>
        <p:spPr>
          <a:xfrm>
            <a:off x="5723734" y="4215523"/>
            <a:ext cx="7200" cy="51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77" name="Google Shape;777;p22"/>
          <p:cNvSpPr/>
          <p:nvPr/>
        </p:nvSpPr>
        <p:spPr>
          <a:xfrm>
            <a:off x="4968872" y="4727072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S(11,n)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2"/>
          <p:cNvSpPr txBox="1"/>
          <p:nvPr/>
        </p:nvSpPr>
        <p:spPr>
          <a:xfrm>
            <a:off x="5736259" y="4226331"/>
            <a:ext cx="4106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9" name="Google Shape;779;p22"/>
          <p:cNvCxnSpPr>
            <a:stCxn id="777" idx="2"/>
            <a:endCxn id="780" idx="0"/>
          </p:cNvCxnSpPr>
          <p:nvPr/>
        </p:nvCxnSpPr>
        <p:spPr>
          <a:xfrm>
            <a:off x="5730872" y="5272504"/>
            <a:ext cx="720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0" name="Google Shape;780;p22"/>
          <p:cNvSpPr/>
          <p:nvPr/>
        </p:nvSpPr>
        <p:spPr>
          <a:xfrm>
            <a:off x="4976010" y="5826129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S(12,n)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2"/>
          <p:cNvSpPr txBox="1"/>
          <p:nvPr/>
        </p:nvSpPr>
        <p:spPr>
          <a:xfrm>
            <a:off x="5767569" y="5318484"/>
            <a:ext cx="489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2"/>
          <p:cNvSpPr txBox="1"/>
          <p:nvPr/>
        </p:nvSpPr>
        <p:spPr>
          <a:xfrm>
            <a:off x="5954730" y="557057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2"/>
          <p:cNvSpPr txBox="1"/>
          <p:nvPr/>
        </p:nvSpPr>
        <p:spPr>
          <a:xfrm>
            <a:off x="5373296" y="2017409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2"/>
          <p:cNvSpPr txBox="1"/>
          <p:nvPr/>
        </p:nvSpPr>
        <p:spPr>
          <a:xfrm>
            <a:off x="5298272" y="3185436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2"/>
          <p:cNvSpPr txBox="1"/>
          <p:nvPr/>
        </p:nvSpPr>
        <p:spPr>
          <a:xfrm>
            <a:off x="5333661" y="4262868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2"/>
          <p:cNvSpPr txBox="1"/>
          <p:nvPr/>
        </p:nvSpPr>
        <p:spPr>
          <a:xfrm>
            <a:off x="5296215" y="5356109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2"/>
          <p:cNvSpPr txBox="1"/>
          <p:nvPr/>
        </p:nvSpPr>
        <p:spPr>
          <a:xfrm>
            <a:off x="5976870" y="4476951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2"/>
          <p:cNvSpPr txBox="1"/>
          <p:nvPr/>
        </p:nvSpPr>
        <p:spPr>
          <a:xfrm>
            <a:off x="5943612" y="3392983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2"/>
          <p:cNvSpPr txBox="1"/>
          <p:nvPr/>
        </p:nvSpPr>
        <p:spPr>
          <a:xfrm>
            <a:off x="5943612" y="232302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2"/>
          <p:cNvSpPr txBox="1"/>
          <p:nvPr/>
        </p:nvSpPr>
        <p:spPr>
          <a:xfrm>
            <a:off x="5924495" y="1284223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2"/>
          <p:cNvSpPr txBox="1"/>
          <p:nvPr/>
        </p:nvSpPr>
        <p:spPr>
          <a:xfrm>
            <a:off x="6492872" y="4419482"/>
            <a:ext cx="9460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2"/>
          <p:cNvSpPr txBox="1"/>
          <p:nvPr/>
        </p:nvSpPr>
        <p:spPr>
          <a:xfrm>
            <a:off x="6426504" y="3313838"/>
            <a:ext cx="13901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2"/>
          <p:cNvSpPr txBox="1"/>
          <p:nvPr/>
        </p:nvSpPr>
        <p:spPr>
          <a:xfrm>
            <a:off x="6403855" y="2213327"/>
            <a:ext cx="18341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{a3,a8,a11}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2"/>
          <p:cNvSpPr txBox="1"/>
          <p:nvPr/>
        </p:nvSpPr>
        <p:spPr>
          <a:xfrm>
            <a:off x="6426504" y="1300748"/>
            <a:ext cx="22781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{a1,a3,a8,a11}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Recursive Equation</a:t>
            </a:r>
            <a:endParaRPr/>
          </a:p>
        </p:txBody>
      </p:sp>
      <p:pic>
        <p:nvPicPr>
          <p:cNvPr id="800" name="Google Shape;8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55907"/>
            <a:ext cx="10719829" cy="3298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Activity-Selection Problem Greedy Approach</a:t>
            </a:r>
            <a:endParaRPr/>
          </a:p>
        </p:txBody>
      </p:sp>
      <p:graphicFrame>
        <p:nvGraphicFramePr>
          <p:cNvPr id="806" name="Google Shape;806;p24"/>
          <p:cNvGraphicFramePr/>
          <p:nvPr/>
        </p:nvGraphicFramePr>
        <p:xfrm>
          <a:off x="949960" y="213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{6410E1CD-4BC4-4C36-955B-15577B7721FE}</a:tableStyleId>
              </a:tblPr>
              <a:tblGrid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  <a:gridCol w="808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start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end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07" name="Google Shape;807;p24"/>
          <p:cNvSpPr/>
          <p:nvPr/>
        </p:nvSpPr>
        <p:spPr>
          <a:xfrm rot="10800000">
            <a:off x="1717040" y="3277552"/>
            <a:ext cx="61976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4"/>
          <p:cNvSpPr/>
          <p:nvPr/>
        </p:nvSpPr>
        <p:spPr>
          <a:xfrm rot="10800000">
            <a:off x="4165600" y="3284856"/>
            <a:ext cx="61976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1717040" y="2032000"/>
            <a:ext cx="782320" cy="12109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4165599" y="2066607"/>
            <a:ext cx="782320" cy="12109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4"/>
          <p:cNvSpPr txBox="1"/>
          <p:nvPr/>
        </p:nvSpPr>
        <p:spPr>
          <a:xfrm>
            <a:off x="1882489" y="3972530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4"/>
          <p:cNvSpPr txBox="1"/>
          <p:nvPr/>
        </p:nvSpPr>
        <p:spPr>
          <a:xfrm>
            <a:off x="4341211" y="393795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4"/>
          <p:cNvSpPr/>
          <p:nvPr/>
        </p:nvSpPr>
        <p:spPr>
          <a:xfrm>
            <a:off x="2499360" y="1280160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3388680" y="1266508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4"/>
          <p:cNvSpPr/>
          <p:nvPr/>
        </p:nvSpPr>
        <p:spPr>
          <a:xfrm>
            <a:off x="4272300" y="1230947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4"/>
          <p:cNvSpPr/>
          <p:nvPr/>
        </p:nvSpPr>
        <p:spPr>
          <a:xfrm>
            <a:off x="5105745" y="1251267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5928533" y="1280478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6629455" y="1266507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 rot="10800000">
            <a:off x="7305169" y="3325417"/>
            <a:ext cx="61976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7305168" y="2107168"/>
            <a:ext cx="782320" cy="12109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4"/>
          <p:cNvSpPr txBox="1"/>
          <p:nvPr/>
        </p:nvSpPr>
        <p:spPr>
          <a:xfrm>
            <a:off x="7480780" y="3978513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4"/>
          <p:cNvSpPr/>
          <p:nvPr/>
        </p:nvSpPr>
        <p:spPr>
          <a:xfrm>
            <a:off x="7411869" y="1271508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8265234" y="1254839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9063679" y="1282855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4"/>
          <p:cNvSpPr/>
          <p:nvPr/>
        </p:nvSpPr>
        <p:spPr>
          <a:xfrm rot="10800000">
            <a:off x="9754080" y="3284856"/>
            <a:ext cx="61976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4"/>
          <p:cNvSpPr/>
          <p:nvPr/>
        </p:nvSpPr>
        <p:spPr>
          <a:xfrm>
            <a:off x="9754079" y="2066607"/>
            <a:ext cx="782320" cy="12109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4"/>
          <p:cNvSpPr txBox="1"/>
          <p:nvPr/>
        </p:nvSpPr>
        <p:spPr>
          <a:xfrm>
            <a:off x="9929691" y="393795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9860780" y="1230947"/>
            <a:ext cx="655320" cy="78644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Greedy Activity Selection</a:t>
            </a:r>
            <a:endParaRPr/>
          </a:p>
        </p:txBody>
      </p:sp>
      <p:pic>
        <p:nvPicPr>
          <p:cNvPr id="834" name="Google Shape;8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264" y="1873417"/>
            <a:ext cx="6491538" cy="4717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Two properties for applying greedy algorithm</a:t>
            </a:r>
            <a:endParaRPr/>
          </a:p>
        </p:txBody>
      </p:sp>
      <p:sp>
        <p:nvSpPr>
          <p:cNvPr id="840" name="Google Shape;84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Greedy Choice Property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Optimal Substructure property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Let us check if they exist for the current  problem.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7"/>
          <p:cNvSpPr txBox="1"/>
          <p:nvPr>
            <p:ph type="title"/>
          </p:nvPr>
        </p:nvSpPr>
        <p:spPr>
          <a:xfrm>
            <a:off x="625764" y="1125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Optimal Substructure Property</a:t>
            </a:r>
            <a:endParaRPr sz="2400"/>
          </a:p>
        </p:txBody>
      </p:sp>
      <p:sp>
        <p:nvSpPr>
          <p:cNvPr id="846" name="Google Shape;846;p27"/>
          <p:cNvSpPr/>
          <p:nvPr/>
        </p:nvSpPr>
        <p:spPr>
          <a:xfrm>
            <a:off x="1073225" y="1417972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7"/>
          <p:cNvSpPr/>
          <p:nvPr/>
        </p:nvSpPr>
        <p:spPr>
          <a:xfrm>
            <a:off x="1073225" y="2450961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S(4,n)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8" name="Google Shape;848;p27"/>
          <p:cNvCxnSpPr>
            <a:stCxn id="846" idx="2"/>
            <a:endCxn id="847" idx="0"/>
          </p:cNvCxnSpPr>
          <p:nvPr/>
        </p:nvCxnSpPr>
        <p:spPr>
          <a:xfrm>
            <a:off x="1835225" y="1963404"/>
            <a:ext cx="0" cy="48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9" name="Google Shape;849;p27"/>
          <p:cNvCxnSpPr>
            <a:stCxn id="847" idx="2"/>
            <a:endCxn id="850" idx="0"/>
          </p:cNvCxnSpPr>
          <p:nvPr/>
        </p:nvCxnSpPr>
        <p:spPr>
          <a:xfrm>
            <a:off x="1835225" y="2996393"/>
            <a:ext cx="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1" name="Google Shape;851;p27"/>
          <p:cNvSpPr txBox="1"/>
          <p:nvPr/>
        </p:nvSpPr>
        <p:spPr>
          <a:xfrm>
            <a:off x="1817125" y="1831389"/>
            <a:ext cx="4235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1073225" y="3550018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S(8,n)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7"/>
          <p:cNvSpPr txBox="1"/>
          <p:nvPr/>
        </p:nvSpPr>
        <p:spPr>
          <a:xfrm>
            <a:off x="1896202" y="3028813"/>
            <a:ext cx="4235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3" name="Google Shape;853;p27"/>
          <p:cNvGrpSpPr/>
          <p:nvPr/>
        </p:nvGrpSpPr>
        <p:grpSpPr>
          <a:xfrm>
            <a:off x="5015346" y="1336820"/>
            <a:ext cx="6031600" cy="4535377"/>
            <a:chOff x="1067024" y="233045"/>
            <a:chExt cx="8963922" cy="5884847"/>
          </a:xfrm>
        </p:grpSpPr>
        <p:pic>
          <p:nvPicPr>
            <p:cNvPr id="854" name="Google Shape;854;p27"/>
            <p:cNvPicPr preferRelativeResize="0"/>
            <p:nvPr/>
          </p:nvPicPr>
          <p:blipFill rotWithShape="1">
            <a:blip r:embed="rId3">
              <a:alphaModFix/>
            </a:blip>
            <a:srcRect b="5165" l="0" r="25901" t="0"/>
            <a:stretch/>
          </p:blipFill>
          <p:spPr>
            <a:xfrm>
              <a:off x="1067024" y="233045"/>
              <a:ext cx="8836200" cy="588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" name="Google Shape;855;p27"/>
            <p:cNvSpPr/>
            <p:nvPr/>
          </p:nvSpPr>
          <p:spPr>
            <a:xfrm>
              <a:off x="2234048" y="4996101"/>
              <a:ext cx="490194" cy="904973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1-4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2867216" y="4706619"/>
              <a:ext cx="490194" cy="64770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3-5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3500384" y="4430494"/>
              <a:ext cx="490194" cy="168739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0-6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4133552" y="4150359"/>
              <a:ext cx="490194" cy="64770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5-7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4809338" y="3582671"/>
              <a:ext cx="490194" cy="177165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3-9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5485124" y="3544669"/>
              <a:ext cx="490194" cy="116195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5-9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6160910" y="3296921"/>
              <a:ext cx="490194" cy="113357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6-10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6763638" y="2981962"/>
              <a:ext cx="721507" cy="8534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8-11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7558203" y="2809240"/>
              <a:ext cx="716839" cy="102616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8-12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8365662" y="2127886"/>
              <a:ext cx="809089" cy="3415029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2-14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9265371" y="1676400"/>
              <a:ext cx="765575" cy="113284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12-16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6" name="Google Shape;866;p27"/>
            <p:cNvCxnSpPr/>
            <p:nvPr/>
          </p:nvCxnSpPr>
          <p:spPr>
            <a:xfrm>
              <a:off x="1681273" y="4995329"/>
              <a:ext cx="8349673" cy="0"/>
            </a:xfrm>
            <a:prstGeom prst="straightConnector1">
              <a:avLst/>
            </a:prstGeom>
            <a:noFill/>
            <a:ln cap="flat" cmpd="sng" w="19050">
              <a:solidFill>
                <a:srgbClr val="171616"/>
              </a:solidFill>
              <a:prstDash val="lgDashDot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67" name="Google Shape;867;p27"/>
          <p:cNvCxnSpPr>
            <a:stCxn id="850" idx="2"/>
            <a:endCxn id="868" idx="0"/>
          </p:cNvCxnSpPr>
          <p:nvPr/>
        </p:nvCxnSpPr>
        <p:spPr>
          <a:xfrm>
            <a:off x="1835225" y="4095450"/>
            <a:ext cx="7200" cy="51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8" name="Google Shape;868;p27"/>
          <p:cNvSpPr/>
          <p:nvPr/>
        </p:nvSpPr>
        <p:spPr>
          <a:xfrm>
            <a:off x="1080363" y="4606999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S(11,n)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 txBox="1"/>
          <p:nvPr/>
        </p:nvSpPr>
        <p:spPr>
          <a:xfrm>
            <a:off x="1847750" y="4106258"/>
            <a:ext cx="4106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0" name="Google Shape;870;p27"/>
          <p:cNvCxnSpPr>
            <a:stCxn id="868" idx="2"/>
            <a:endCxn id="871" idx="0"/>
          </p:cNvCxnSpPr>
          <p:nvPr/>
        </p:nvCxnSpPr>
        <p:spPr>
          <a:xfrm>
            <a:off x="1842363" y="5152431"/>
            <a:ext cx="720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1" name="Google Shape;871;p27"/>
          <p:cNvSpPr/>
          <p:nvPr/>
        </p:nvSpPr>
        <p:spPr>
          <a:xfrm>
            <a:off x="1087501" y="5706056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S(12,n)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7"/>
          <p:cNvSpPr txBox="1"/>
          <p:nvPr/>
        </p:nvSpPr>
        <p:spPr>
          <a:xfrm>
            <a:off x="1879060" y="5198411"/>
            <a:ext cx="489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7"/>
          <p:cNvSpPr txBox="1"/>
          <p:nvPr/>
        </p:nvSpPr>
        <p:spPr>
          <a:xfrm>
            <a:off x="2066221" y="5450502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7"/>
          <p:cNvSpPr txBox="1"/>
          <p:nvPr/>
        </p:nvSpPr>
        <p:spPr>
          <a:xfrm>
            <a:off x="1484787" y="1897336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7"/>
          <p:cNvSpPr txBox="1"/>
          <p:nvPr/>
        </p:nvSpPr>
        <p:spPr>
          <a:xfrm>
            <a:off x="1409763" y="3065363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7"/>
          <p:cNvSpPr txBox="1"/>
          <p:nvPr/>
        </p:nvSpPr>
        <p:spPr>
          <a:xfrm>
            <a:off x="1445152" y="414279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7"/>
          <p:cNvSpPr txBox="1"/>
          <p:nvPr/>
        </p:nvSpPr>
        <p:spPr>
          <a:xfrm>
            <a:off x="1407706" y="5236036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7"/>
          <p:cNvSpPr txBox="1"/>
          <p:nvPr/>
        </p:nvSpPr>
        <p:spPr>
          <a:xfrm>
            <a:off x="2088361" y="4356878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7"/>
          <p:cNvSpPr txBox="1"/>
          <p:nvPr/>
        </p:nvSpPr>
        <p:spPr>
          <a:xfrm>
            <a:off x="2055103" y="327291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7"/>
          <p:cNvSpPr txBox="1"/>
          <p:nvPr/>
        </p:nvSpPr>
        <p:spPr>
          <a:xfrm>
            <a:off x="2055103" y="2202947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7"/>
          <p:cNvSpPr txBox="1"/>
          <p:nvPr/>
        </p:nvSpPr>
        <p:spPr>
          <a:xfrm>
            <a:off x="2035986" y="116415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7"/>
          <p:cNvSpPr txBox="1"/>
          <p:nvPr/>
        </p:nvSpPr>
        <p:spPr>
          <a:xfrm>
            <a:off x="2604363" y="4299409"/>
            <a:ext cx="9460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7"/>
          <p:cNvSpPr txBox="1"/>
          <p:nvPr/>
        </p:nvSpPr>
        <p:spPr>
          <a:xfrm>
            <a:off x="2537995" y="3193765"/>
            <a:ext cx="13901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7"/>
          <p:cNvSpPr txBox="1"/>
          <p:nvPr/>
        </p:nvSpPr>
        <p:spPr>
          <a:xfrm>
            <a:off x="2515346" y="2093254"/>
            <a:ext cx="18341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{a3,a8,a11}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7"/>
          <p:cNvSpPr txBox="1"/>
          <p:nvPr/>
        </p:nvSpPr>
        <p:spPr>
          <a:xfrm>
            <a:off x="2537995" y="1180675"/>
            <a:ext cx="22781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{a1,a3,a8,a11}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Optimal Substructure Property</a:t>
            </a:r>
            <a:endParaRPr/>
          </a:p>
        </p:txBody>
      </p:sp>
      <p:sp>
        <p:nvSpPr>
          <p:cNvPr id="892" name="Google Shape;892;p28"/>
          <p:cNvSpPr/>
          <p:nvPr/>
        </p:nvSpPr>
        <p:spPr>
          <a:xfrm>
            <a:off x="7534885" y="1740648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S(0,n)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8"/>
          <p:cNvSpPr/>
          <p:nvPr/>
        </p:nvSpPr>
        <p:spPr>
          <a:xfrm>
            <a:off x="6010885" y="3346802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S(4,n)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4" name="Google Shape;894;p28"/>
          <p:cNvCxnSpPr>
            <a:stCxn id="892" idx="2"/>
            <a:endCxn id="893" idx="0"/>
          </p:cNvCxnSpPr>
          <p:nvPr/>
        </p:nvCxnSpPr>
        <p:spPr>
          <a:xfrm flipH="1">
            <a:off x="6772885" y="2286080"/>
            <a:ext cx="1524000" cy="106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5" name="Google Shape;895;p28"/>
          <p:cNvSpPr txBox="1"/>
          <p:nvPr/>
        </p:nvSpPr>
        <p:spPr>
          <a:xfrm>
            <a:off x="6742859" y="2272996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6" name="Google Shape;896;p28"/>
          <p:cNvCxnSpPr>
            <a:stCxn id="893" idx="2"/>
            <a:endCxn id="897" idx="0"/>
          </p:cNvCxnSpPr>
          <p:nvPr/>
        </p:nvCxnSpPr>
        <p:spPr>
          <a:xfrm flipH="1">
            <a:off x="5678785" y="3892234"/>
            <a:ext cx="1094100" cy="109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8" name="Google Shape;898;p28"/>
          <p:cNvSpPr txBox="1"/>
          <p:nvPr/>
        </p:nvSpPr>
        <p:spPr>
          <a:xfrm>
            <a:off x="5600839" y="3923570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9" name="Google Shape;899;p28"/>
          <p:cNvCxnSpPr>
            <a:stCxn id="893" idx="2"/>
          </p:cNvCxnSpPr>
          <p:nvPr/>
        </p:nvCxnSpPr>
        <p:spPr>
          <a:xfrm>
            <a:off x="6772885" y="3892234"/>
            <a:ext cx="991500" cy="1303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0" name="Google Shape;900;p28"/>
          <p:cNvSpPr txBox="1"/>
          <p:nvPr/>
        </p:nvSpPr>
        <p:spPr>
          <a:xfrm>
            <a:off x="7283236" y="4357310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1" name="Google Shape;901;p28"/>
          <p:cNvCxnSpPr>
            <a:stCxn id="893" idx="2"/>
          </p:cNvCxnSpPr>
          <p:nvPr/>
        </p:nvCxnSpPr>
        <p:spPr>
          <a:xfrm>
            <a:off x="6772885" y="3892234"/>
            <a:ext cx="2319300" cy="7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2" name="Google Shape;902;p28"/>
          <p:cNvSpPr txBox="1"/>
          <p:nvPr/>
        </p:nvSpPr>
        <p:spPr>
          <a:xfrm rot="-2664137">
            <a:off x="7710668" y="4632070"/>
            <a:ext cx="10762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8"/>
          <p:cNvSpPr txBox="1"/>
          <p:nvPr/>
        </p:nvSpPr>
        <p:spPr>
          <a:xfrm>
            <a:off x="7764501" y="3802130"/>
            <a:ext cx="76655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8"/>
          <p:cNvSpPr/>
          <p:nvPr/>
        </p:nvSpPr>
        <p:spPr>
          <a:xfrm>
            <a:off x="4916747" y="4991586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S(8,n)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8"/>
          <p:cNvSpPr/>
          <p:nvPr/>
        </p:nvSpPr>
        <p:spPr>
          <a:xfrm>
            <a:off x="7157162" y="4235551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8"/>
          <p:cNvSpPr/>
          <p:nvPr/>
        </p:nvSpPr>
        <p:spPr>
          <a:xfrm>
            <a:off x="7643188" y="3746236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6" name="Google Shape;906;p28"/>
          <p:cNvCxnSpPr>
            <a:stCxn id="892" idx="2"/>
          </p:cNvCxnSpPr>
          <p:nvPr/>
        </p:nvCxnSpPr>
        <p:spPr>
          <a:xfrm>
            <a:off x="8296885" y="2286080"/>
            <a:ext cx="1211700" cy="160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7" name="Google Shape;907;p28"/>
          <p:cNvSpPr txBox="1"/>
          <p:nvPr/>
        </p:nvSpPr>
        <p:spPr>
          <a:xfrm>
            <a:off x="8773981" y="3021506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8" name="Google Shape;908;p28"/>
          <p:cNvCxnSpPr>
            <a:stCxn id="892" idx="2"/>
          </p:cNvCxnSpPr>
          <p:nvPr/>
        </p:nvCxnSpPr>
        <p:spPr>
          <a:xfrm>
            <a:off x="8296885" y="2286080"/>
            <a:ext cx="2286000" cy="103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9" name="Google Shape;909;p28"/>
          <p:cNvSpPr txBox="1"/>
          <p:nvPr/>
        </p:nvSpPr>
        <p:spPr>
          <a:xfrm rot="-2664137">
            <a:off x="9359680" y="3231675"/>
            <a:ext cx="8915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8"/>
          <p:cNvSpPr/>
          <p:nvPr/>
        </p:nvSpPr>
        <p:spPr>
          <a:xfrm>
            <a:off x="8647907" y="2899747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8"/>
          <p:cNvSpPr/>
          <p:nvPr/>
        </p:nvSpPr>
        <p:spPr>
          <a:xfrm>
            <a:off x="9133933" y="2410432"/>
            <a:ext cx="393525" cy="393207"/>
          </a:xfrm>
          <a:prstGeom prst="noSmoking">
            <a:avLst>
              <a:gd fmla="val 18750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8"/>
          <p:cNvSpPr txBox="1"/>
          <p:nvPr/>
        </p:nvSpPr>
        <p:spPr>
          <a:xfrm>
            <a:off x="9538262" y="2238784"/>
            <a:ext cx="6110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8"/>
          <p:cNvSpPr txBox="1"/>
          <p:nvPr/>
        </p:nvSpPr>
        <p:spPr>
          <a:xfrm>
            <a:off x="2043722" y="2360464"/>
            <a:ext cx="26247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S(1,n) will have the higher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number of activities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8"/>
          <p:cNvSpPr txBox="1"/>
          <p:nvPr/>
        </p:nvSpPr>
        <p:spPr>
          <a:xfrm>
            <a:off x="798766" y="3677778"/>
            <a:ext cx="276992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its sub problem(3,n)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the highest number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activities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9"/>
          <p:cNvSpPr txBox="1"/>
          <p:nvPr>
            <p:ph type="title"/>
          </p:nvPr>
        </p:nvSpPr>
        <p:spPr>
          <a:xfrm>
            <a:off x="838200" y="365126"/>
            <a:ext cx="10515600" cy="850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Greedy Choice Property</a:t>
            </a:r>
            <a:endParaRPr/>
          </a:p>
        </p:txBody>
      </p:sp>
      <p:sp>
        <p:nvSpPr>
          <p:cNvPr id="920" name="Google Shape;920;p29"/>
          <p:cNvSpPr/>
          <p:nvPr/>
        </p:nvSpPr>
        <p:spPr>
          <a:xfrm>
            <a:off x="4961734" y="1538045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S(0,n)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9"/>
          <p:cNvSpPr/>
          <p:nvPr/>
        </p:nvSpPr>
        <p:spPr>
          <a:xfrm>
            <a:off x="4961734" y="2571034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S(3,n)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2" name="Google Shape;922;p29"/>
          <p:cNvCxnSpPr>
            <a:stCxn id="920" idx="2"/>
            <a:endCxn id="921" idx="0"/>
          </p:cNvCxnSpPr>
          <p:nvPr/>
        </p:nvCxnSpPr>
        <p:spPr>
          <a:xfrm>
            <a:off x="5723734" y="2083477"/>
            <a:ext cx="0" cy="48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3" name="Google Shape;923;p29"/>
          <p:cNvCxnSpPr>
            <a:stCxn id="921" idx="2"/>
            <a:endCxn id="924" idx="0"/>
          </p:cNvCxnSpPr>
          <p:nvPr/>
        </p:nvCxnSpPr>
        <p:spPr>
          <a:xfrm>
            <a:off x="5723734" y="3116466"/>
            <a:ext cx="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5" name="Google Shape;925;p29"/>
          <p:cNvSpPr txBox="1"/>
          <p:nvPr/>
        </p:nvSpPr>
        <p:spPr>
          <a:xfrm>
            <a:off x="5705634" y="1951462"/>
            <a:ext cx="4235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9"/>
          <p:cNvSpPr/>
          <p:nvPr/>
        </p:nvSpPr>
        <p:spPr>
          <a:xfrm>
            <a:off x="4961734" y="3670091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S(7,n)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9"/>
          <p:cNvSpPr txBox="1"/>
          <p:nvPr/>
        </p:nvSpPr>
        <p:spPr>
          <a:xfrm>
            <a:off x="5784711" y="3148886"/>
            <a:ext cx="4235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7" name="Google Shape;927;p29"/>
          <p:cNvCxnSpPr>
            <a:stCxn id="924" idx="2"/>
            <a:endCxn id="928" idx="0"/>
          </p:cNvCxnSpPr>
          <p:nvPr/>
        </p:nvCxnSpPr>
        <p:spPr>
          <a:xfrm>
            <a:off x="5723734" y="4215523"/>
            <a:ext cx="7200" cy="51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8" name="Google Shape;928;p29"/>
          <p:cNvSpPr/>
          <p:nvPr/>
        </p:nvSpPr>
        <p:spPr>
          <a:xfrm>
            <a:off x="4968872" y="4727072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S(10,n)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9"/>
          <p:cNvSpPr txBox="1"/>
          <p:nvPr/>
        </p:nvSpPr>
        <p:spPr>
          <a:xfrm>
            <a:off x="5736259" y="4226331"/>
            <a:ext cx="4106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0" name="Google Shape;930;p29"/>
          <p:cNvCxnSpPr>
            <a:stCxn id="928" idx="2"/>
            <a:endCxn id="931" idx="0"/>
          </p:cNvCxnSpPr>
          <p:nvPr/>
        </p:nvCxnSpPr>
        <p:spPr>
          <a:xfrm>
            <a:off x="5730872" y="5272504"/>
            <a:ext cx="720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1" name="Google Shape;931;p29"/>
          <p:cNvSpPr/>
          <p:nvPr/>
        </p:nvSpPr>
        <p:spPr>
          <a:xfrm>
            <a:off x="4976010" y="5826129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S(12,n)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9"/>
          <p:cNvSpPr txBox="1"/>
          <p:nvPr/>
        </p:nvSpPr>
        <p:spPr>
          <a:xfrm>
            <a:off x="5767569" y="5318484"/>
            <a:ext cx="489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9"/>
          <p:cNvSpPr txBox="1"/>
          <p:nvPr/>
        </p:nvSpPr>
        <p:spPr>
          <a:xfrm>
            <a:off x="5954730" y="557057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9"/>
          <p:cNvSpPr txBox="1"/>
          <p:nvPr/>
        </p:nvSpPr>
        <p:spPr>
          <a:xfrm>
            <a:off x="5373296" y="2017409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9"/>
          <p:cNvSpPr txBox="1"/>
          <p:nvPr/>
        </p:nvSpPr>
        <p:spPr>
          <a:xfrm>
            <a:off x="5298272" y="3185436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9"/>
          <p:cNvSpPr txBox="1"/>
          <p:nvPr/>
        </p:nvSpPr>
        <p:spPr>
          <a:xfrm>
            <a:off x="5333661" y="4262868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9"/>
          <p:cNvSpPr txBox="1"/>
          <p:nvPr/>
        </p:nvSpPr>
        <p:spPr>
          <a:xfrm>
            <a:off x="5296215" y="5356109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9"/>
          <p:cNvSpPr txBox="1"/>
          <p:nvPr/>
        </p:nvSpPr>
        <p:spPr>
          <a:xfrm>
            <a:off x="5976870" y="4476951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9"/>
          <p:cNvSpPr txBox="1"/>
          <p:nvPr/>
        </p:nvSpPr>
        <p:spPr>
          <a:xfrm>
            <a:off x="5943612" y="3392983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9"/>
          <p:cNvSpPr txBox="1"/>
          <p:nvPr/>
        </p:nvSpPr>
        <p:spPr>
          <a:xfrm>
            <a:off x="5943612" y="232302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9"/>
          <p:cNvSpPr txBox="1"/>
          <p:nvPr/>
        </p:nvSpPr>
        <p:spPr>
          <a:xfrm>
            <a:off x="5924495" y="1284223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9"/>
          <p:cNvSpPr txBox="1"/>
          <p:nvPr/>
        </p:nvSpPr>
        <p:spPr>
          <a:xfrm>
            <a:off x="6492872" y="4419482"/>
            <a:ext cx="9460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9"/>
          <p:cNvSpPr txBox="1"/>
          <p:nvPr/>
        </p:nvSpPr>
        <p:spPr>
          <a:xfrm>
            <a:off x="6426504" y="3313838"/>
            <a:ext cx="13901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9"/>
          <p:cNvSpPr txBox="1"/>
          <p:nvPr/>
        </p:nvSpPr>
        <p:spPr>
          <a:xfrm>
            <a:off x="6403855" y="2213327"/>
            <a:ext cx="18341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{a3,a8,a11}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9"/>
          <p:cNvSpPr txBox="1"/>
          <p:nvPr/>
        </p:nvSpPr>
        <p:spPr>
          <a:xfrm>
            <a:off x="6426504" y="1300748"/>
            <a:ext cx="22781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{a1,a3,a8,a11}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0"/>
          <p:cNvSpPr txBox="1"/>
          <p:nvPr>
            <p:ph type="title"/>
          </p:nvPr>
        </p:nvSpPr>
        <p:spPr>
          <a:xfrm>
            <a:off x="838200" y="365126"/>
            <a:ext cx="10515600" cy="850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Greedy Choice Property</a:t>
            </a:r>
            <a:endParaRPr/>
          </a:p>
        </p:txBody>
      </p:sp>
      <p:sp>
        <p:nvSpPr>
          <p:cNvPr id="951" name="Google Shape;951;p30"/>
          <p:cNvSpPr/>
          <p:nvPr/>
        </p:nvSpPr>
        <p:spPr>
          <a:xfrm>
            <a:off x="6735116" y="1518720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S(0,n)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0"/>
          <p:cNvSpPr/>
          <p:nvPr/>
        </p:nvSpPr>
        <p:spPr>
          <a:xfrm>
            <a:off x="6735116" y="3906807"/>
            <a:ext cx="1524000" cy="54543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S(i,n)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3" name="Google Shape;953;p30"/>
          <p:cNvCxnSpPr>
            <a:stCxn id="951" idx="2"/>
            <a:endCxn id="952" idx="0"/>
          </p:cNvCxnSpPr>
          <p:nvPr/>
        </p:nvCxnSpPr>
        <p:spPr>
          <a:xfrm>
            <a:off x="7497116" y="2064152"/>
            <a:ext cx="0" cy="18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4" name="Google Shape;954;p30"/>
          <p:cNvCxnSpPr>
            <a:stCxn id="952" idx="2"/>
          </p:cNvCxnSpPr>
          <p:nvPr/>
        </p:nvCxnSpPr>
        <p:spPr>
          <a:xfrm>
            <a:off x="7497116" y="4452239"/>
            <a:ext cx="0" cy="55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5" name="Google Shape;955;p30"/>
          <p:cNvSpPr txBox="1"/>
          <p:nvPr/>
        </p:nvSpPr>
        <p:spPr>
          <a:xfrm>
            <a:off x="514118" y="1149122"/>
            <a:ext cx="396159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the activity that has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earliest finish time.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0"/>
          <p:cNvSpPr txBox="1"/>
          <p:nvPr/>
        </p:nvSpPr>
        <p:spPr>
          <a:xfrm>
            <a:off x="514118" y="2068100"/>
            <a:ext cx="44134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we call the recursive function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S(0,n)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0"/>
          <p:cNvSpPr txBox="1"/>
          <p:nvPr/>
        </p:nvSpPr>
        <p:spPr>
          <a:xfrm>
            <a:off x="538240" y="4114197"/>
            <a:ext cx="444031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same activity,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great. It is as expected.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0"/>
          <p:cNvSpPr/>
          <p:nvPr/>
        </p:nvSpPr>
        <p:spPr>
          <a:xfrm>
            <a:off x="8158764" y="953270"/>
            <a:ext cx="22354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,a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x ,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y, 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0"/>
          <p:cNvSpPr txBox="1"/>
          <p:nvPr/>
        </p:nvSpPr>
        <p:spPr>
          <a:xfrm>
            <a:off x="7298183" y="4793644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0"/>
          <p:cNvSpPr txBox="1"/>
          <p:nvPr/>
        </p:nvSpPr>
        <p:spPr>
          <a:xfrm>
            <a:off x="514118" y="3097072"/>
            <a:ext cx="329814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get a set of activities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y,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1" name="Google Shape;961;p30"/>
          <p:cNvCxnSpPr/>
          <p:nvPr/>
        </p:nvCxnSpPr>
        <p:spPr>
          <a:xfrm>
            <a:off x="7497116" y="3045381"/>
            <a:ext cx="0" cy="55362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2" name="Google Shape;962;p30"/>
          <p:cNvSpPr txBox="1"/>
          <p:nvPr/>
        </p:nvSpPr>
        <p:spPr>
          <a:xfrm>
            <a:off x="7298183" y="3386786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0"/>
          <p:cNvSpPr txBox="1"/>
          <p:nvPr/>
        </p:nvSpPr>
        <p:spPr>
          <a:xfrm>
            <a:off x="7298183" y="2470134"/>
            <a:ext cx="397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0"/>
          <p:cNvSpPr txBox="1"/>
          <p:nvPr/>
        </p:nvSpPr>
        <p:spPr>
          <a:xfrm>
            <a:off x="514118" y="5255309"/>
            <a:ext cx="487216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if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different,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we can easily replace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0"/>
          <p:cNvSpPr/>
          <p:nvPr/>
        </p:nvSpPr>
        <p:spPr>
          <a:xfrm>
            <a:off x="7620627" y="2123264"/>
            <a:ext cx="4058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aj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0"/>
          <p:cNvSpPr txBox="1"/>
          <p:nvPr/>
        </p:nvSpPr>
        <p:spPr>
          <a:xfrm>
            <a:off x="8598259" y="3617618"/>
            <a:ext cx="35589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there is no harm if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make choices greedily.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still optimize.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0"/>
          <p:cNvSpPr txBox="1"/>
          <p:nvPr/>
        </p:nvSpPr>
        <p:spPr>
          <a:xfrm>
            <a:off x="8598259" y="4972721"/>
            <a:ext cx="3517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this particular problem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0"/>
          <p:cNvSpPr txBox="1"/>
          <p:nvPr/>
        </p:nvSpPr>
        <p:spPr>
          <a:xfrm>
            <a:off x="8598259" y="5624640"/>
            <a:ext cx="318510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, this problem has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 choice property.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we have tackled the last problem using the Greedy  Approach</a:t>
            </a:r>
            <a:endParaRPr/>
          </a:p>
        </p:txBody>
      </p:sp>
      <p:sp>
        <p:nvSpPr>
          <p:cNvPr id="974" name="Google Shape;974;p31"/>
          <p:cNvSpPr txBox="1"/>
          <p:nvPr>
            <p:ph idx="1" type="body"/>
          </p:nvPr>
        </p:nvSpPr>
        <p:spPr>
          <a:xfrm>
            <a:off x="299936" y="1825625"/>
            <a:ext cx="57960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Prove that the problem has </a:t>
            </a:r>
            <a:r>
              <a:rPr b="1" lang="en-US"/>
              <a:t>optimal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substructure property.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Develop a </a:t>
            </a:r>
            <a:r>
              <a:rPr b="1" lang="en-US"/>
              <a:t>recursive solution.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</a:t>
            </a:r>
            <a:r>
              <a:rPr b="1" lang="en-US"/>
              <a:t>Reframe</a:t>
            </a:r>
            <a:r>
              <a:rPr lang="en-US"/>
              <a:t> the problem so that 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can be solved by </a:t>
            </a:r>
            <a:r>
              <a:rPr b="1" lang="en-US"/>
              <a:t>greedy.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4. Prove that it has </a:t>
            </a:r>
            <a:r>
              <a:rPr b="1" lang="en-US"/>
              <a:t>greedy choice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property 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5. Develop the </a:t>
            </a:r>
            <a:r>
              <a:rPr b="1" lang="en-US"/>
              <a:t>recursive greedy</a:t>
            </a:r>
            <a:r>
              <a:rPr lang="en-US"/>
              <a:t> algorithm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6. Develop the </a:t>
            </a:r>
            <a:r>
              <a:rPr b="1" lang="en-US"/>
              <a:t>iterative greedy</a:t>
            </a:r>
            <a:r>
              <a:rPr lang="en-US"/>
              <a:t> algorithm</a:t>
            </a:r>
            <a:endParaRPr/>
          </a:p>
        </p:txBody>
      </p:sp>
      <p:pic>
        <p:nvPicPr>
          <p:cNvPr id="975" name="Google Shape;97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7064" y="1825625"/>
            <a:ext cx="5791200" cy="4139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However, the two most important things to consider when trying to solve a problem with greedy</a:t>
            </a:r>
            <a:endParaRPr/>
          </a:p>
        </p:txBody>
      </p:sp>
      <p:sp>
        <p:nvSpPr>
          <p:cNvPr id="981" name="Google Shape;981;p32"/>
          <p:cNvSpPr txBox="1"/>
          <p:nvPr>
            <p:ph idx="1" type="body"/>
          </p:nvPr>
        </p:nvSpPr>
        <p:spPr>
          <a:xfrm>
            <a:off x="299936" y="1825625"/>
            <a:ext cx="57960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AutoNum type="arabicPeriod"/>
            </a:pPr>
            <a:r>
              <a:rPr lang="en-US">
                <a:solidFill>
                  <a:srgbClr val="FF0000"/>
                </a:solidFill>
              </a:rPr>
              <a:t>Prove that the problem has </a:t>
            </a:r>
            <a:r>
              <a:rPr b="1" lang="en-US">
                <a:solidFill>
                  <a:srgbClr val="FF0000"/>
                </a:solidFill>
              </a:rPr>
              <a:t>optimal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>
                <a:solidFill>
                  <a:srgbClr val="FF0000"/>
                </a:solidFill>
              </a:rPr>
              <a:t>substructure property.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Develop a </a:t>
            </a:r>
            <a:r>
              <a:rPr b="1" lang="en-US"/>
              <a:t>recursive solution.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</a:t>
            </a:r>
            <a:r>
              <a:rPr b="1" lang="en-US"/>
              <a:t>Reframe</a:t>
            </a:r>
            <a:r>
              <a:rPr lang="en-US"/>
              <a:t> the problem so that 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can be solved by </a:t>
            </a:r>
            <a:r>
              <a:rPr b="1" lang="en-US"/>
              <a:t>greedy.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4. Prove that it has </a:t>
            </a:r>
            <a:r>
              <a:rPr b="1" lang="en-US">
                <a:solidFill>
                  <a:srgbClr val="FF0000"/>
                </a:solidFill>
              </a:rPr>
              <a:t>greedy choice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>
                <a:solidFill>
                  <a:srgbClr val="FF0000"/>
                </a:solidFill>
              </a:rPr>
              <a:t>property </a:t>
            </a:r>
            <a:r>
              <a:rPr b="1" lang="en-US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5. Develop the </a:t>
            </a:r>
            <a:r>
              <a:rPr b="1" lang="en-US"/>
              <a:t>recursive greedy</a:t>
            </a:r>
            <a:r>
              <a:rPr lang="en-US"/>
              <a:t> algorithm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6. Develop the </a:t>
            </a:r>
            <a:r>
              <a:rPr b="1" lang="en-US"/>
              <a:t>iterative greedy</a:t>
            </a:r>
            <a:r>
              <a:rPr lang="en-US"/>
              <a:t> algorithm</a:t>
            </a:r>
            <a:endParaRPr/>
          </a:p>
        </p:txBody>
      </p:sp>
      <p:pic>
        <p:nvPicPr>
          <p:cNvPr id="982" name="Google Shape;98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7064" y="1825625"/>
            <a:ext cx="5791200" cy="4139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988" name="Google Shape;988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9" name="Google Shape;989;p33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October 8, 2023</a:t>
            </a:r>
            <a:endParaRPr/>
          </a:p>
        </p:txBody>
      </p:sp>
      <p:sp>
        <p:nvSpPr>
          <p:cNvPr id="990" name="Google Shape;990;p33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91" name="Google Shape;991;p33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