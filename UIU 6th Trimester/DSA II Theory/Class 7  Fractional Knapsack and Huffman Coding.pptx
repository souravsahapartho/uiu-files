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9144000"/>
  <p:embeddedFontLst>
    <p:embeddedFont>
      <p:font typeface="Corsiva"/>
      <p:regular r:id="rId32"/>
      <p:bold r:id="rId33"/>
      <p:italic r:id="rId34"/>
      <p:boldItalic r:id="rId35"/>
    </p:embeddedFont>
    <p:embeddedFont>
      <p:font typeface="Tahoma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gFGkf/vdUgarXYfFqZaWJiG/bO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42F58B-636A-404F-B0AF-39986691791D}">
  <a:tblStyle styleId="{2C42F58B-636A-404F-B0AF-39986691791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8DB6A59B-B261-4EBC-9E9B-990F488BC978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Corsiva-bold.fntdata"/><Relationship Id="rId10" Type="http://schemas.openxmlformats.org/officeDocument/2006/relationships/slide" Target="slides/slide5.xml"/><Relationship Id="rId32" Type="http://schemas.openxmlformats.org/officeDocument/2006/relationships/font" Target="fonts/Corsiva-regular.fntdata"/><Relationship Id="rId13" Type="http://schemas.openxmlformats.org/officeDocument/2006/relationships/slide" Target="slides/slide8.xml"/><Relationship Id="rId35" Type="http://schemas.openxmlformats.org/officeDocument/2006/relationships/font" Target="fonts/Corsiva-boldItalic.fntdata"/><Relationship Id="rId12" Type="http://schemas.openxmlformats.org/officeDocument/2006/relationships/slide" Target="slides/slide7.xml"/><Relationship Id="rId34" Type="http://schemas.openxmlformats.org/officeDocument/2006/relationships/font" Target="fonts/Corsiva-italic.fntdata"/><Relationship Id="rId15" Type="http://schemas.openxmlformats.org/officeDocument/2006/relationships/slide" Target="slides/slide10.xml"/><Relationship Id="rId37" Type="http://schemas.openxmlformats.org/officeDocument/2006/relationships/font" Target="fonts/Tahoma-bold.fntdata"/><Relationship Id="rId14" Type="http://schemas.openxmlformats.org/officeDocument/2006/relationships/slide" Target="slides/slide9.xml"/><Relationship Id="rId36" Type="http://schemas.openxmlformats.org/officeDocument/2006/relationships/font" Target="fonts/Tahoma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698b5e45d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698b5e45d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g2698b5e45d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7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27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27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27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2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" name="Google Shape;30;p28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28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28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2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29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29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29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0"/>
          <p:cNvSpPr txBox="1"/>
          <p:nvPr>
            <p:ph idx="1" type="body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idx="2" type="body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3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30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9" name="Google Shape;49;p30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30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30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3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3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3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31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31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31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31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3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5"/>
          <p:cNvSpPr txBox="1"/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3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CSE 2215: Data Structure and Algorithms-I</a:t>
            </a:r>
            <a:endParaRPr/>
          </a:p>
        </p:txBody>
      </p:sp>
      <p:sp>
        <p:nvSpPr>
          <p:cNvPr id="104" name="Google Shape;104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lang="en-US"/>
              <a:t>The Greedy Algorithmic Strategy</a:t>
            </a:r>
            <a:endParaRPr/>
          </a:p>
        </p:txBody>
      </p:sp>
      <p:sp>
        <p:nvSpPr>
          <p:cNvPr id="105" name="Google Shape;105;p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106" name="Google Shape;106;p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07" name="Google Shape;107;p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idx="1" type="body"/>
          </p:nvPr>
        </p:nvSpPr>
        <p:spPr>
          <a:xfrm>
            <a:off x="3148552" y="1227909"/>
            <a:ext cx="8205247" cy="494905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Arial"/>
              <a:buChar char="•"/>
            </a:pPr>
            <a:r>
              <a:rPr lang="en-US"/>
              <a:t>Greedy algorithm 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lang="en-US"/>
              <a:t>The </a:t>
            </a:r>
            <a:r>
              <a:rPr b="1" lang="en-US"/>
              <a:t>recursive</a:t>
            </a:r>
            <a:r>
              <a:rPr lang="en-US"/>
              <a:t> </a:t>
            </a:r>
            <a:r>
              <a:rPr b="1" lang="en-US"/>
              <a:t>function</a:t>
            </a:r>
            <a:r>
              <a:rPr lang="en-US"/>
              <a:t> only makes one call with the </a:t>
            </a:r>
            <a:r>
              <a:rPr b="1" lang="en-US"/>
              <a:t>best</a:t>
            </a:r>
            <a:r>
              <a:rPr lang="en-US"/>
              <a:t> </a:t>
            </a:r>
            <a:r>
              <a:rPr b="1" lang="en-US"/>
              <a:t>choice</a:t>
            </a:r>
            <a:endParaRPr/>
          </a:p>
          <a:p>
            <a:pPr indent="-457200" lvl="2" marL="16002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b="1" lang="en-US"/>
              <a:t>Unlike</a:t>
            </a:r>
            <a:r>
              <a:rPr lang="en-US"/>
              <a:t> </a:t>
            </a:r>
            <a:r>
              <a:rPr b="1" lang="en-US"/>
              <a:t>dynamic</a:t>
            </a:r>
            <a:r>
              <a:rPr lang="en-US"/>
              <a:t> </a:t>
            </a:r>
            <a:r>
              <a:rPr b="1" lang="en-US"/>
              <a:t>programming</a:t>
            </a:r>
            <a:r>
              <a:rPr lang="en-US"/>
              <a:t> where all the choices are explored</a:t>
            </a:r>
            <a:endParaRPr/>
          </a:p>
          <a:p>
            <a:pPr indent="-457200" lvl="2" marL="16002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lang="en-US"/>
              <a:t>Hence no memorization is done here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lang="en-US"/>
              <a:t>If the data is provided to the algorithm in a </a:t>
            </a:r>
            <a:r>
              <a:rPr b="1" lang="en-US"/>
              <a:t>suitable</a:t>
            </a:r>
            <a:r>
              <a:rPr lang="en-US"/>
              <a:t> </a:t>
            </a:r>
            <a:r>
              <a:rPr b="1" lang="en-US"/>
              <a:t>manner</a:t>
            </a:r>
            <a:r>
              <a:rPr lang="en-US"/>
              <a:t> (for example by sorting in case of activity selection) then greedy will provide the optimal result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lang="en-US"/>
              <a:t>Since no branching in recursive tree we can write the code </a:t>
            </a:r>
            <a:r>
              <a:rPr b="1" lang="en-US"/>
              <a:t>iteratively</a:t>
            </a:r>
            <a:r>
              <a:rPr lang="en-US"/>
              <a:t> </a:t>
            </a:r>
            <a:r>
              <a:rPr b="1" lang="en-US"/>
              <a:t>instead of recursively</a:t>
            </a:r>
            <a:endParaRPr/>
          </a:p>
          <a:p>
            <a:pPr indent="-350297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3" name="Google Shape;113;p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114" name="Google Shape;114;p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15" name="Google Shape;115;p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Key Takeaway From Previous Class</a:t>
            </a:r>
            <a:endParaRPr/>
          </a:p>
        </p:txBody>
      </p:sp>
      <p:pic>
        <p:nvPicPr>
          <p:cNvPr id="117" name="Google Shape;1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963" y="1730972"/>
            <a:ext cx="2589130" cy="3396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ACTIVITY SELECTION AGAIN</a:t>
            </a:r>
            <a:endParaRPr/>
          </a:p>
        </p:txBody>
      </p:sp>
      <p:sp>
        <p:nvSpPr>
          <p:cNvPr id="123" name="Google Shape;123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125" name="Google Shape;125;p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26" name="Google Shape;126;p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" name="Google Shape;131;p4"/>
          <p:cNvGraphicFramePr/>
          <p:nvPr/>
        </p:nvGraphicFramePr>
        <p:xfrm>
          <a:off x="960120" y="15624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{2C42F58B-636A-404F-B0AF-39986691791D}</a:tableStyleId>
              </a:tblPr>
              <a:tblGrid>
                <a:gridCol w="876300"/>
                <a:gridCol w="876300"/>
                <a:gridCol w="876300"/>
                <a:gridCol w="876300"/>
                <a:gridCol w="876300"/>
                <a:gridCol w="876300"/>
                <a:gridCol w="876300"/>
                <a:gridCol w="876300"/>
                <a:gridCol w="876300"/>
                <a:gridCol w="876300"/>
                <a:gridCol w="876300"/>
                <a:gridCol w="876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activity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a11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Start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End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2" name="Google Shape;132;p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133" name="Google Shape;133;p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34" name="Google Shape;134;p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Activity Selection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1046375" y="3318235"/>
            <a:ext cx="10307425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 the activities by finish time.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 the recursive function.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recursive function selects the first activity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it calls another recursive function with the activities that do not overlap with the selected activity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goes on until no activity is left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Obtain and print the result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an iterative approach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143" name="Google Shape;143;p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44" name="Google Shape;144;p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Recursive Pseudocode</a:t>
            </a:r>
            <a:endParaRPr/>
          </a:p>
        </p:txBody>
      </p:sp>
      <p:pic>
        <p:nvPicPr>
          <p:cNvPr id="146" name="Google Shape;1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155907"/>
            <a:ext cx="10719829" cy="32984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/>
          <p:nvPr/>
        </p:nvSpPr>
        <p:spPr>
          <a:xfrm>
            <a:off x="5901179" y="2441542"/>
            <a:ext cx="1131217" cy="4053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, n</a:t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4312218" y="1591089"/>
            <a:ext cx="31779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Perform Manual Tracing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154" name="Google Shape;154;p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55" name="Google Shape;155;p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Activity Selection -  Iterative</a:t>
            </a:r>
            <a:endParaRPr/>
          </a:p>
        </p:txBody>
      </p:sp>
      <p:graphicFrame>
        <p:nvGraphicFramePr>
          <p:cNvPr id="157" name="Google Shape;157;p6"/>
          <p:cNvGraphicFramePr/>
          <p:nvPr/>
        </p:nvGraphicFramePr>
        <p:xfrm>
          <a:off x="1147923" y="2724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{8DB6A59B-B261-4EBC-9E9B-990F488BC978}</a:tableStyleId>
              </a:tblPr>
              <a:tblGrid>
                <a:gridCol w="808900"/>
                <a:gridCol w="808900"/>
                <a:gridCol w="808900"/>
                <a:gridCol w="808900"/>
                <a:gridCol w="808900"/>
                <a:gridCol w="808900"/>
                <a:gridCol w="808900"/>
                <a:gridCol w="808900"/>
                <a:gridCol w="808900"/>
                <a:gridCol w="808900"/>
                <a:gridCol w="808900"/>
                <a:gridCol w="808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start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end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8" name="Google Shape;158;p6"/>
          <p:cNvSpPr/>
          <p:nvPr/>
        </p:nvSpPr>
        <p:spPr>
          <a:xfrm rot="10800000">
            <a:off x="1915003" y="3871440"/>
            <a:ext cx="619760" cy="660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 rot="10800000">
            <a:off x="4363563" y="3878744"/>
            <a:ext cx="619760" cy="660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1915003" y="2625888"/>
            <a:ext cx="782320" cy="1210945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363562" y="2660495"/>
            <a:ext cx="782320" cy="1210945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2080452" y="4566418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4539174" y="4531840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2697323" y="1874048"/>
            <a:ext cx="655320" cy="78644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586643" y="1860396"/>
            <a:ext cx="655320" cy="78644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470263" y="1824835"/>
            <a:ext cx="655320" cy="78644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303708" y="1845155"/>
            <a:ext cx="655320" cy="78644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126496" y="1874366"/>
            <a:ext cx="655320" cy="78644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827418" y="1860395"/>
            <a:ext cx="655320" cy="78644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 rot="10800000">
            <a:off x="7503132" y="3919305"/>
            <a:ext cx="619760" cy="660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7503131" y="2701056"/>
            <a:ext cx="782320" cy="1210945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7678743" y="4572401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609832" y="1865396"/>
            <a:ext cx="655320" cy="78644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8463197" y="1848727"/>
            <a:ext cx="655320" cy="78644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9261642" y="1876743"/>
            <a:ext cx="655320" cy="78644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 rot="10800000">
            <a:off x="9952043" y="3878744"/>
            <a:ext cx="619760" cy="660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9952042" y="2660495"/>
            <a:ext cx="782320" cy="1210945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10127654" y="4531840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10058743" y="1824835"/>
            <a:ext cx="655320" cy="78644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989814" y="1187777"/>
            <a:ext cx="61575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Already Sorted Activities (Otherwise we would be sorting again)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187" name="Google Shape;187;p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88" name="Google Shape;188;p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Iterative Pseudocode</a:t>
            </a:r>
            <a:endParaRPr/>
          </a:p>
        </p:txBody>
      </p:sp>
      <p:pic>
        <p:nvPicPr>
          <p:cNvPr id="190" name="Google Shape;19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0231" y="1147553"/>
            <a:ext cx="6491538" cy="471789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7"/>
          <p:cNvSpPr/>
          <p:nvPr/>
        </p:nvSpPr>
        <p:spPr>
          <a:xfrm>
            <a:off x="8206740" y="1564849"/>
            <a:ext cx="607321" cy="4053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4274511" y="992553"/>
            <a:ext cx="31779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Perform Manual Tracing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The Approach we followed has greedy choice property.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How to prove that an approach has greedy choice property?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199" name="Google Shape;199;p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00" name="Google Shape;200;p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" name="Google Shape;201;p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None/>
            </a:pPr>
            <a:r>
              <a:rPr lang="en-US" sz="3200"/>
              <a:t>Why This Approach Works – Greedy Choice Property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207" name="Google Shape;207;p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08" name="Google Shape;208;p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Greedy Choice Property</a:t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6735116" y="1518720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S(1,n)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6735116" y="3906807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S(i,n)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9"/>
          <p:cNvCxnSpPr>
            <a:stCxn id="210" idx="2"/>
            <a:endCxn id="211" idx="0"/>
          </p:cNvCxnSpPr>
          <p:nvPr/>
        </p:nvCxnSpPr>
        <p:spPr>
          <a:xfrm>
            <a:off x="7497116" y="2064152"/>
            <a:ext cx="0" cy="18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3" name="Google Shape;213;p9"/>
          <p:cNvCxnSpPr>
            <a:stCxn id="211" idx="2"/>
          </p:cNvCxnSpPr>
          <p:nvPr/>
        </p:nvCxnSpPr>
        <p:spPr>
          <a:xfrm>
            <a:off x="7497116" y="4452239"/>
            <a:ext cx="0" cy="55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4" name="Google Shape;214;p9"/>
          <p:cNvSpPr txBox="1"/>
          <p:nvPr/>
        </p:nvSpPr>
        <p:spPr>
          <a:xfrm>
            <a:off x="514118" y="1149122"/>
            <a:ext cx="396159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</a:t>
            </a: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 the activity that has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earliest finish time.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 txBox="1"/>
          <p:nvPr/>
        </p:nvSpPr>
        <p:spPr>
          <a:xfrm>
            <a:off x="514118" y="2068100"/>
            <a:ext cx="44134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we call the recursive function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S(1,n)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538240" y="4114197"/>
            <a:ext cx="444031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the same activity,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great. It is as expected.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8158764" y="953270"/>
            <a:ext cx="22354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Calibri"/>
              <a:buNone/>
            </a:pP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,a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x ,</a:t>
            </a: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a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y, </a:t>
            </a: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7298183" y="4793644"/>
            <a:ext cx="3978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514118" y="3097072"/>
            <a:ext cx="329814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get a set of activities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,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y,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9"/>
          <p:cNvCxnSpPr/>
          <p:nvPr/>
        </p:nvCxnSpPr>
        <p:spPr>
          <a:xfrm>
            <a:off x="7497116" y="3045381"/>
            <a:ext cx="0" cy="55362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1" name="Google Shape;221;p9"/>
          <p:cNvSpPr txBox="1"/>
          <p:nvPr/>
        </p:nvSpPr>
        <p:spPr>
          <a:xfrm>
            <a:off x="7298183" y="3386786"/>
            <a:ext cx="3978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7298183" y="2470134"/>
            <a:ext cx="3978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514118" y="5255309"/>
            <a:ext cx="487216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if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different,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we can easily replace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</a:t>
            </a: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m,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…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7620627" y="2123264"/>
            <a:ext cx="4058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aj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8598259" y="3617618"/>
            <a:ext cx="35589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no harm if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 make choices greedily.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still optimize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8598259" y="4972721"/>
            <a:ext cx="3517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this particular problem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8598259" y="5624640"/>
            <a:ext cx="318510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 , this problem has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Greedy choice property.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233" name="Google Shape;233;p1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34" name="Google Shape;234;p1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1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None/>
            </a:pPr>
            <a:r>
              <a:rPr lang="en-US" sz="3200"/>
              <a:t>How we have tackled the last </a:t>
            </a:r>
            <a:br>
              <a:rPr lang="en-US" sz="3200"/>
            </a:br>
            <a:r>
              <a:rPr lang="en-US" sz="3200"/>
              <a:t>problem using the Greedy  Approach</a:t>
            </a:r>
            <a:endParaRPr/>
          </a:p>
        </p:txBody>
      </p:sp>
      <p:sp>
        <p:nvSpPr>
          <p:cNvPr id="236" name="Google Shape;236;p10"/>
          <p:cNvSpPr txBox="1"/>
          <p:nvPr/>
        </p:nvSpPr>
        <p:spPr>
          <a:xfrm>
            <a:off x="304800" y="1069306"/>
            <a:ext cx="7284720" cy="5107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Prove that the problem has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optimal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substructure property.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Develop a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recursive solution.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Reframe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problem so that it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be solved by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greedy.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Prove that it has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greedy choice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property .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Develop the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recursive greedy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algorithm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6. Develop the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iterative greedy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algorithm</a:t>
            </a:r>
            <a:endParaRPr/>
          </a:p>
        </p:txBody>
      </p:sp>
      <p:pic>
        <p:nvPicPr>
          <p:cNvPr id="237" name="Google Shape;23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7600" y="1309768"/>
            <a:ext cx="4419600" cy="3795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243" name="Google Shape;243;p1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44" name="Google Shape;244;p1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" name="Google Shape;245;p1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None/>
            </a:pPr>
            <a:r>
              <a:rPr lang="en-US" sz="3200"/>
              <a:t>However, the two most important things to consider when trying to solve a problem with greedy</a:t>
            </a:r>
            <a:endParaRPr/>
          </a:p>
        </p:txBody>
      </p:sp>
      <p:sp>
        <p:nvSpPr>
          <p:cNvPr id="246" name="Google Shape;246;p11"/>
          <p:cNvSpPr txBox="1"/>
          <p:nvPr/>
        </p:nvSpPr>
        <p:spPr>
          <a:xfrm>
            <a:off x="299936" y="1447156"/>
            <a:ext cx="579606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514350" lvl="0" marL="514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Noto Sans Symbols"/>
              <a:buAutoNum type="arabicPeriod"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Prove that the problem has </a:t>
            </a: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optimal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Noto Sans Symbols"/>
              <a:buNone/>
            </a:pP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substructure property.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Develop a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recursive solution.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Reframe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problem so that it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solved by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greedy.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Noto Sans Symbols"/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 Prove that it has </a:t>
            </a: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greedy choice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Noto Sans Symbols"/>
              <a:buNone/>
            </a:pP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property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Develop the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recursive greedy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algorithm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Develop the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iterative greedy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algorithm</a:t>
            </a:r>
            <a:endParaRPr/>
          </a:p>
        </p:txBody>
      </p:sp>
      <p:pic>
        <p:nvPicPr>
          <p:cNvPr id="247" name="Google Shape;2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7064" y="1447156"/>
            <a:ext cx="5791200" cy="4139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FRACTIONAL KNAPSACK</a:t>
            </a:r>
            <a:endParaRPr/>
          </a:p>
        </p:txBody>
      </p:sp>
      <p:sp>
        <p:nvSpPr>
          <p:cNvPr id="253" name="Google Shape;253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255" name="Google Shape;255;p1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56" name="Google Shape;256;p1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264" name="Google Shape;264;p1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65" name="Google Shape;265;p1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Given the weights and values of</a:t>
            </a:r>
            <a:r>
              <a:rPr b="1" lang="en-US"/>
              <a:t> N</a:t>
            </a:r>
            <a:r>
              <a:rPr lang="en-US"/>
              <a:t> items, put these items in a knapsack of capacity </a:t>
            </a:r>
            <a:r>
              <a:rPr b="1" lang="en-US"/>
              <a:t>W</a:t>
            </a:r>
            <a:r>
              <a:rPr lang="en-US"/>
              <a:t> to get the maximum total value in the knapsack. In </a:t>
            </a:r>
            <a:r>
              <a:rPr b="1" lang="en-US"/>
              <a:t>Fractional Knapsack</a:t>
            </a:r>
            <a:r>
              <a:rPr lang="en-US"/>
              <a:t>, we can break items for maximizing the total value of the knapsack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71" name="Google Shape;271;p1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272" name="Google Shape;272;p1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73" name="Google Shape;273;p1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1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Fractional Knapsack</a:t>
            </a:r>
            <a:endParaRPr/>
          </a:p>
        </p:txBody>
      </p:sp>
      <p:pic>
        <p:nvPicPr>
          <p:cNvPr descr="42 Vial Curry Powder Spice Bottle Stock Photos, Pictures &amp; Royalty-Free  Images - iStock" id="275" name="Google Shape;275;p14"/>
          <p:cNvPicPr preferRelativeResize="0"/>
          <p:nvPr/>
        </p:nvPicPr>
        <p:blipFill rotWithShape="1">
          <a:blip r:embed="rId3">
            <a:alphaModFix/>
          </a:blip>
          <a:srcRect b="236" l="5227" r="-5227" t="36861"/>
          <a:stretch/>
        </p:blipFill>
        <p:spPr>
          <a:xfrm>
            <a:off x="3303270" y="3353897"/>
            <a:ext cx="5307330" cy="198734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4"/>
          <p:cNvSpPr txBox="1"/>
          <p:nvPr/>
        </p:nvSpPr>
        <p:spPr>
          <a:xfrm>
            <a:off x="1348129" y="5446526"/>
            <a:ext cx="94957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Basically we are teaching you now how to steal powdered spice,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3899128" y="5942630"/>
            <a:ext cx="4115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maximum profit of course!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83" name="Google Shape;283;p1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284" name="Google Shape;284;p1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85" name="Google Shape;285;p1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1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Let’s See a Scenario</a:t>
            </a:r>
            <a:endParaRPr/>
          </a:p>
        </p:txBody>
      </p:sp>
      <p:grpSp>
        <p:nvGrpSpPr>
          <p:cNvPr id="287" name="Google Shape;287;p15"/>
          <p:cNvGrpSpPr/>
          <p:nvPr/>
        </p:nvGrpSpPr>
        <p:grpSpPr>
          <a:xfrm>
            <a:off x="1419727" y="1718927"/>
            <a:ext cx="9352546" cy="3420145"/>
            <a:chOff x="1507958" y="2371055"/>
            <a:chExt cx="8117306" cy="2696662"/>
          </a:xfrm>
        </p:grpSpPr>
        <p:sp>
          <p:nvSpPr>
            <p:cNvPr id="288" name="Google Shape;288;p15"/>
            <p:cNvSpPr/>
            <p:nvPr/>
          </p:nvSpPr>
          <p:spPr>
            <a:xfrm>
              <a:off x="3342012" y="2371055"/>
              <a:ext cx="844978" cy="84053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4248391" y="2371055"/>
              <a:ext cx="844978" cy="84053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5154770" y="2371055"/>
              <a:ext cx="844978" cy="84053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6061149" y="2371055"/>
              <a:ext cx="844978" cy="84053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6967528" y="2371055"/>
              <a:ext cx="844978" cy="84053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7873907" y="2371055"/>
              <a:ext cx="844978" cy="84053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8780286" y="2371055"/>
              <a:ext cx="844978" cy="84053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1507958" y="2371055"/>
              <a:ext cx="1656348" cy="840539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Objects</a:t>
              </a: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5"/>
            <p:cNvSpPr/>
            <p:nvPr/>
          </p:nvSpPr>
          <p:spPr>
            <a:xfrm>
              <a:off x="1507958" y="3277434"/>
              <a:ext cx="1656348" cy="840539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Prices</a:t>
              </a: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3342012" y="3291889"/>
              <a:ext cx="844978" cy="840539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4248391" y="3291889"/>
              <a:ext cx="844978" cy="840539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5154770" y="3291889"/>
              <a:ext cx="844978" cy="840539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6061149" y="3291889"/>
              <a:ext cx="844978" cy="840539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6967528" y="3291889"/>
              <a:ext cx="844978" cy="840539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7873907" y="3291889"/>
              <a:ext cx="844978" cy="840539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18</a:t>
              </a: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8780286" y="3291889"/>
              <a:ext cx="844978" cy="840539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1507958" y="4212723"/>
              <a:ext cx="1656348" cy="840539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Weights</a:t>
              </a: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3342012" y="4227178"/>
              <a:ext cx="844978" cy="840539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4248391" y="4227178"/>
              <a:ext cx="844978" cy="840539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5154770" y="4227178"/>
              <a:ext cx="844978" cy="840539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6061149" y="4227178"/>
              <a:ext cx="844978" cy="840539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6967528" y="4227178"/>
              <a:ext cx="844978" cy="840539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7873907" y="4227178"/>
              <a:ext cx="844978" cy="840539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8780286" y="4227178"/>
              <a:ext cx="844978" cy="840539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17" name="Google Shape;317;p1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318" name="Google Shape;318;p1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19" name="Google Shape;319;p1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Let’s See a Scenario</a:t>
            </a:r>
            <a:endParaRPr/>
          </a:p>
        </p:txBody>
      </p:sp>
      <p:sp>
        <p:nvSpPr>
          <p:cNvPr id="321" name="Google Shape;321;p16"/>
          <p:cNvSpPr/>
          <p:nvPr/>
        </p:nvSpPr>
        <p:spPr>
          <a:xfrm>
            <a:off x="3532876" y="1690688"/>
            <a:ext cx="973561" cy="106604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4577182" y="1690688"/>
            <a:ext cx="973561" cy="106604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5621488" y="1690688"/>
            <a:ext cx="973561" cy="106604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6665794" y="1690688"/>
            <a:ext cx="973561" cy="106604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7710100" y="1690688"/>
            <a:ext cx="973561" cy="106604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8754406" y="1690688"/>
            <a:ext cx="973561" cy="106604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9798712" y="1690688"/>
            <a:ext cx="973561" cy="106604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1419727" y="1690688"/>
            <a:ext cx="1908401" cy="1066046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Objects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1419727" y="2840238"/>
            <a:ext cx="1908401" cy="1066046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Prices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3532876" y="2858571"/>
            <a:ext cx="973561" cy="106604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4577182" y="2858571"/>
            <a:ext cx="973561" cy="106604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5621488" y="2858571"/>
            <a:ext cx="973561" cy="106604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6665794" y="2858571"/>
            <a:ext cx="973561" cy="106604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7710100" y="2858571"/>
            <a:ext cx="973561" cy="106604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8754406" y="2858571"/>
            <a:ext cx="973561" cy="106604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9798712" y="2858571"/>
            <a:ext cx="973561" cy="106604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1419727" y="4026454"/>
            <a:ext cx="1908401" cy="1066046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Weights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3532876" y="4044787"/>
            <a:ext cx="973561" cy="106604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4577182" y="4044787"/>
            <a:ext cx="973561" cy="106604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5621488" y="4044787"/>
            <a:ext cx="973561" cy="106604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6665794" y="4044787"/>
            <a:ext cx="973561" cy="106604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7710100" y="4044787"/>
            <a:ext cx="973561" cy="106604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8754406" y="4044787"/>
            <a:ext cx="973561" cy="106604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9798712" y="4044787"/>
            <a:ext cx="973561" cy="106604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1446468" y="5231003"/>
            <a:ext cx="1908401" cy="1066046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P/W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3559617" y="5249336"/>
            <a:ext cx="973561" cy="106604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4603923" y="5249336"/>
            <a:ext cx="973561" cy="106604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1.6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5648229" y="5249336"/>
            <a:ext cx="973561" cy="106604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6692535" y="5249336"/>
            <a:ext cx="973561" cy="106604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7736841" y="5249336"/>
            <a:ext cx="973561" cy="106604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8781147" y="5249336"/>
            <a:ext cx="973561" cy="106604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4.5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9825453" y="5249336"/>
            <a:ext cx="973561" cy="106604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58" name="Google Shape;358;p1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359" name="Google Shape;359;p1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60" name="Google Shape;360;p1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1" name="Google Shape;361;p1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Let’s see a scenario (sorted)</a:t>
            </a:r>
            <a:endParaRPr/>
          </a:p>
        </p:txBody>
      </p:sp>
      <p:sp>
        <p:nvSpPr>
          <p:cNvPr id="362" name="Google Shape;362;p17"/>
          <p:cNvSpPr/>
          <p:nvPr/>
        </p:nvSpPr>
        <p:spPr>
          <a:xfrm>
            <a:off x="5187493" y="1416214"/>
            <a:ext cx="894036" cy="93658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9409327" y="1416214"/>
            <a:ext cx="894036" cy="93658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7282332" y="1416214"/>
            <a:ext cx="894036" cy="93658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10530773" y="1393371"/>
            <a:ext cx="894036" cy="93658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4094632" y="1417020"/>
            <a:ext cx="894036" cy="93658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7"/>
          <p:cNvSpPr/>
          <p:nvPr/>
        </p:nvSpPr>
        <p:spPr>
          <a:xfrm>
            <a:off x="6191257" y="1417020"/>
            <a:ext cx="894036" cy="93658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8312439" y="1416214"/>
            <a:ext cx="894036" cy="93658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2136573" y="1393371"/>
            <a:ext cx="1752515" cy="936588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Objects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2136573" y="2403323"/>
            <a:ext cx="1752515" cy="936588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Prices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5187493" y="2442272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9409327" y="2442272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7282332" y="2442272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10530773" y="2419429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4094632" y="2443078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6191257" y="2443078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8312439" y="2442272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2136573" y="3445488"/>
            <a:ext cx="1752515" cy="936588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Weights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5187493" y="3484437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7"/>
          <p:cNvSpPr/>
          <p:nvPr/>
        </p:nvSpPr>
        <p:spPr>
          <a:xfrm>
            <a:off x="9409327" y="3484437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7"/>
          <p:cNvSpPr/>
          <p:nvPr/>
        </p:nvSpPr>
        <p:spPr>
          <a:xfrm>
            <a:off x="7282332" y="3484437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10530773" y="3461594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4094632" y="3485243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6191257" y="3485243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8312439" y="3484437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2167849" y="4542709"/>
            <a:ext cx="1752515" cy="936588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P/W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5212049" y="4542709"/>
            <a:ext cx="894036" cy="936588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9433884" y="4542709"/>
            <a:ext cx="894036" cy="936588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1.6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7306888" y="4542709"/>
            <a:ext cx="894036" cy="936588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10555330" y="4519866"/>
            <a:ext cx="894036" cy="936588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4119189" y="4543515"/>
            <a:ext cx="894036" cy="936588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6215814" y="4543515"/>
            <a:ext cx="894036" cy="936588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4.5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8336995" y="4542709"/>
            <a:ext cx="894036" cy="936588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909428" y="2749969"/>
            <a:ext cx="1034791" cy="125778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W=15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00" name="Google Shape;400;p1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401" name="Google Shape;401;p1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02" name="Google Shape;402;p1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3" name="Google Shape;403;p1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Let’s see a scenario (sorted)</a:t>
            </a:r>
            <a:endParaRPr/>
          </a:p>
        </p:txBody>
      </p:sp>
      <p:sp>
        <p:nvSpPr>
          <p:cNvPr id="404" name="Google Shape;404;p18"/>
          <p:cNvSpPr/>
          <p:nvPr/>
        </p:nvSpPr>
        <p:spPr>
          <a:xfrm>
            <a:off x="4879805" y="1091531"/>
            <a:ext cx="894036" cy="93658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8"/>
          <p:cNvSpPr/>
          <p:nvPr/>
        </p:nvSpPr>
        <p:spPr>
          <a:xfrm>
            <a:off x="6974644" y="1091531"/>
            <a:ext cx="894036" cy="93658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3786944" y="1092337"/>
            <a:ext cx="894036" cy="93658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5883569" y="1092337"/>
            <a:ext cx="894036" cy="93658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8"/>
          <p:cNvSpPr/>
          <p:nvPr/>
        </p:nvSpPr>
        <p:spPr>
          <a:xfrm>
            <a:off x="8004751" y="1091531"/>
            <a:ext cx="894036" cy="93658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1828885" y="1068688"/>
            <a:ext cx="1752515" cy="936588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Objects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"/>
          <p:cNvSpPr/>
          <p:nvPr/>
        </p:nvSpPr>
        <p:spPr>
          <a:xfrm>
            <a:off x="1828885" y="2078640"/>
            <a:ext cx="1752515" cy="936588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Prices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4879805" y="2117589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6974644" y="2117589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/>
          <p:nvPr/>
        </p:nvSpPr>
        <p:spPr>
          <a:xfrm>
            <a:off x="3786944" y="2118395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8"/>
          <p:cNvSpPr/>
          <p:nvPr/>
        </p:nvSpPr>
        <p:spPr>
          <a:xfrm>
            <a:off x="5883569" y="2118395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8004751" y="2117589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1828885" y="3120804"/>
            <a:ext cx="1752515" cy="936588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Weights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8"/>
          <p:cNvSpPr/>
          <p:nvPr/>
        </p:nvSpPr>
        <p:spPr>
          <a:xfrm>
            <a:off x="4879805" y="3159754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6974644" y="3159754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3786944" y="3160560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5883569" y="3160560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8004751" y="3159754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/>
          <p:nvPr/>
        </p:nvSpPr>
        <p:spPr>
          <a:xfrm>
            <a:off x="1860161" y="4218025"/>
            <a:ext cx="1752515" cy="936588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P/W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4904361" y="4218025"/>
            <a:ext cx="894036" cy="936588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6999200" y="4218025"/>
            <a:ext cx="894036" cy="936588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3811501" y="4218832"/>
            <a:ext cx="894036" cy="936588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5908126" y="4218832"/>
            <a:ext cx="894036" cy="936588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4.5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8029307" y="4218025"/>
            <a:ext cx="894036" cy="936588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601740" y="2425286"/>
            <a:ext cx="1034791" cy="125778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W=15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3830545" y="5613129"/>
            <a:ext cx="850435" cy="9201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W=14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P=6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4046798" y="3865155"/>
            <a:ext cx="423441" cy="165537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4999263" y="5613129"/>
            <a:ext cx="850435" cy="9201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W=12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P=16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5215516" y="3865155"/>
            <a:ext cx="423441" cy="165537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6008914" y="5613129"/>
            <a:ext cx="850435" cy="9201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W=8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P=34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6225167" y="3865155"/>
            <a:ext cx="423441" cy="165537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7018565" y="5613129"/>
            <a:ext cx="850435" cy="9201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W=3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P=49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7234818" y="3865155"/>
            <a:ext cx="423441" cy="165537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8028216" y="5613129"/>
            <a:ext cx="850435" cy="9201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W=2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P=52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8244469" y="3865155"/>
            <a:ext cx="423441" cy="165537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9101639" y="1091531"/>
            <a:ext cx="894036" cy="93658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10223085" y="1068688"/>
            <a:ext cx="894036" cy="93658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9101639" y="2117589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10223085" y="2094746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9101639" y="3159754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10223085" y="3136911"/>
            <a:ext cx="894036" cy="9365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9101639" y="4201919"/>
            <a:ext cx="894036" cy="936588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1.6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10247642" y="4195183"/>
            <a:ext cx="894036" cy="936588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9201597" y="5613129"/>
            <a:ext cx="850435" cy="9201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W=0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P=55.33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9417850" y="3865155"/>
            <a:ext cx="423441" cy="165537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 txBox="1"/>
          <p:nvPr/>
        </p:nvSpPr>
        <p:spPr>
          <a:xfrm>
            <a:off x="8488671" y="4057392"/>
            <a:ext cx="2338755" cy="13849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2/3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W/Weight(i)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455" name="Google Shape;455;p1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56" name="Google Shape;456;p1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7" name="Google Shape;457;p1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Greedy Fractional Knapsack</a:t>
            </a:r>
            <a:endParaRPr/>
          </a:p>
        </p:txBody>
      </p:sp>
      <p:sp>
        <p:nvSpPr>
          <p:cNvPr id="458" name="Google Shape;458;p19"/>
          <p:cNvSpPr txBox="1"/>
          <p:nvPr/>
        </p:nvSpPr>
        <p:spPr>
          <a:xfrm>
            <a:off x="838200" y="1120023"/>
            <a:ext cx="8305800" cy="4163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9766" lvl="0" marL="48976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D0111"/>
                </a:solidFill>
                <a:latin typeface="Corsiva"/>
                <a:ea typeface="Corsiva"/>
                <a:cs typeface="Corsiva"/>
                <a:sym typeface="Corsiva"/>
              </a:rPr>
              <a:t>Alg.: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Fractional-Knapsack (</a:t>
            </a:r>
            <a:r>
              <a:rPr lang="en-US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W, v[n], w[n]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89766" lvl="0" marL="489766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Times New Roman"/>
              <a:buAutoNum type="arabicPeriod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while </a:t>
            </a:r>
            <a:r>
              <a:rPr lang="en-US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 &gt; 0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as long as there are items remaining</a:t>
            </a:r>
            <a:endParaRPr/>
          </a:p>
          <a:p>
            <a:pPr indent="-489766" lvl="0" marL="489766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Times New Roman"/>
              <a:buAutoNum type="arabicPeriod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pick item with maximum </a:t>
            </a:r>
            <a:r>
              <a:rPr lang="en-US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aseline="-25000" lang="en-US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</a:t>
            </a:r>
            <a:r>
              <a:rPr lang="en-US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/w</a:t>
            </a:r>
            <a:r>
              <a:rPr baseline="-25000" lang="en-US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</a:t>
            </a:r>
            <a:endParaRPr baseline="-25000"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489766" lvl="0" marL="489766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Times New Roman"/>
              <a:buAutoNum type="arabicPeriod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x</a:t>
            </a:r>
            <a:r>
              <a:rPr baseline="-25000" lang="en-US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</a:t>
            </a:r>
            <a:r>
              <a:rPr lang="en-US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← min (1, w/w</a:t>
            </a:r>
            <a:r>
              <a:rPr baseline="-25000" lang="en-US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</a:t>
            </a:r>
            <a:r>
              <a:rPr lang="en-US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  <a:endParaRPr/>
          </a:p>
          <a:p>
            <a:pPr indent="-489766" lvl="0" marL="489766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Times New Roman"/>
              <a:buAutoNum type="arabicPeriod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remove item </a:t>
            </a:r>
            <a:r>
              <a:rPr lang="en-US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list</a:t>
            </a:r>
            <a:endParaRPr/>
          </a:p>
          <a:p>
            <a:pPr indent="-489766" lvl="0" marL="489766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Times New Roman"/>
              <a:buAutoNum type="arabicPeriod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 ← w – x</a:t>
            </a:r>
            <a:r>
              <a:rPr baseline="-25000" lang="en-US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</a:t>
            </a:r>
            <a:r>
              <a:rPr lang="en-US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</a:t>
            </a:r>
            <a:r>
              <a:rPr baseline="-25000" lang="en-US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</a:t>
            </a:r>
            <a:endParaRPr baseline="-25000"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489766" lvl="0" marL="489766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the amount of space remaining in the knapsack (initially </a:t>
            </a:r>
            <a:r>
              <a:rPr lang="en-US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 = W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489766" lvl="0" marL="489766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Running time: </a:t>
            </a:r>
            <a:r>
              <a:rPr lang="en-US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Θ(n)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items already ordered; else </a:t>
            </a:r>
            <a:r>
              <a:rPr lang="en-US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Θ(nlogn)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We need to use a recursive function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for the two properties</a:t>
            </a:r>
            <a:endParaRPr/>
          </a:p>
        </p:txBody>
      </p:sp>
      <p:sp>
        <p:nvSpPr>
          <p:cNvPr id="464" name="Google Shape;464;p2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465" name="Google Shape;465;p2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66" name="Google Shape;466;p2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7" name="Google Shape;467;p2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None/>
            </a:pPr>
            <a:r>
              <a:rPr lang="en-US" sz="3200"/>
              <a:t>The Two Properties</a:t>
            </a:r>
            <a:endParaRPr/>
          </a:p>
        </p:txBody>
      </p:sp>
      <p:sp>
        <p:nvSpPr>
          <p:cNvPr id="468" name="Google Shape;468;p20"/>
          <p:cNvSpPr/>
          <p:nvPr/>
        </p:nvSpPr>
        <p:spPr>
          <a:xfrm>
            <a:off x="7703540" y="1959429"/>
            <a:ext cx="2158812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,n,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0"/>
          <p:cNvSpPr/>
          <p:nvPr/>
        </p:nvSpPr>
        <p:spPr>
          <a:xfrm>
            <a:off x="7703540" y="2890581"/>
            <a:ext cx="2158812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,n,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C-W[1]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0" name="Google Shape;470;p20"/>
          <p:cNvCxnSpPr>
            <a:stCxn id="468" idx="2"/>
            <a:endCxn id="469" idx="0"/>
          </p:cNvCxnSpPr>
          <p:nvPr/>
        </p:nvCxnSpPr>
        <p:spPr>
          <a:xfrm>
            <a:off x="8782946" y="2504861"/>
            <a:ext cx="0" cy="385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1" name="Google Shape;471;p20"/>
          <p:cNvSpPr/>
          <p:nvPr/>
        </p:nvSpPr>
        <p:spPr>
          <a:xfrm>
            <a:off x="7703540" y="3821733"/>
            <a:ext cx="2158812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S(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,n,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C-W[2]-W[1]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2" name="Google Shape;472;p20"/>
          <p:cNvCxnSpPr>
            <a:stCxn id="469" idx="2"/>
            <a:endCxn id="471" idx="0"/>
          </p:cNvCxnSpPr>
          <p:nvPr/>
        </p:nvCxnSpPr>
        <p:spPr>
          <a:xfrm>
            <a:off x="8782946" y="3436013"/>
            <a:ext cx="0" cy="385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3" name="Google Shape;473;p20"/>
          <p:cNvSpPr/>
          <p:nvPr/>
        </p:nvSpPr>
        <p:spPr>
          <a:xfrm>
            <a:off x="7703540" y="4752885"/>
            <a:ext cx="2158812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…..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p20"/>
          <p:cNvCxnSpPr>
            <a:stCxn id="471" idx="2"/>
            <a:endCxn id="473" idx="0"/>
          </p:cNvCxnSpPr>
          <p:nvPr/>
        </p:nvCxnSpPr>
        <p:spPr>
          <a:xfrm>
            <a:off x="8782946" y="4367165"/>
            <a:ext cx="0" cy="385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5" name="Google Shape;475;p20"/>
          <p:cNvSpPr txBox="1"/>
          <p:nvPr/>
        </p:nvSpPr>
        <p:spPr>
          <a:xfrm>
            <a:off x="1437015" y="2633794"/>
            <a:ext cx="305144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S(1,n) will have the higher profit.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0"/>
          <p:cNvSpPr txBox="1"/>
          <p:nvPr/>
        </p:nvSpPr>
        <p:spPr>
          <a:xfrm>
            <a:off x="4038600" y="5287996"/>
            <a:ext cx="3680992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Hence there is optimal substructure property</a:t>
            </a:r>
            <a:endParaRPr sz="2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0"/>
          <p:cNvSpPr txBox="1"/>
          <p:nvPr/>
        </p:nvSpPr>
        <p:spPr>
          <a:xfrm>
            <a:off x="1589415" y="3916605"/>
            <a:ext cx="368099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its sub problem(2,n) has higher profit.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483" name="Google Shape;483;p2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84" name="Google Shape;484;p2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5" name="Google Shape;485;p2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Greedy Choice Property</a:t>
            </a:r>
            <a:endParaRPr/>
          </a:p>
        </p:txBody>
      </p:sp>
      <p:sp>
        <p:nvSpPr>
          <p:cNvPr id="486" name="Google Shape;486;p21"/>
          <p:cNvSpPr/>
          <p:nvPr/>
        </p:nvSpPr>
        <p:spPr>
          <a:xfrm>
            <a:off x="6734283" y="1264197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S(1,n)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1"/>
          <p:cNvSpPr/>
          <p:nvPr/>
        </p:nvSpPr>
        <p:spPr>
          <a:xfrm>
            <a:off x="6734283" y="3652284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S(i,n’)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8" name="Google Shape;488;p21"/>
          <p:cNvCxnSpPr>
            <a:stCxn id="486" idx="2"/>
            <a:endCxn id="487" idx="0"/>
          </p:cNvCxnSpPr>
          <p:nvPr/>
        </p:nvCxnSpPr>
        <p:spPr>
          <a:xfrm>
            <a:off x="7496283" y="1809629"/>
            <a:ext cx="0" cy="18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89" name="Google Shape;489;p21"/>
          <p:cNvCxnSpPr>
            <a:stCxn id="487" idx="2"/>
          </p:cNvCxnSpPr>
          <p:nvPr/>
        </p:nvCxnSpPr>
        <p:spPr>
          <a:xfrm>
            <a:off x="7496283" y="4197716"/>
            <a:ext cx="0" cy="55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0" name="Google Shape;490;p21"/>
          <p:cNvSpPr txBox="1"/>
          <p:nvPr/>
        </p:nvSpPr>
        <p:spPr>
          <a:xfrm>
            <a:off x="513285" y="1813577"/>
            <a:ext cx="44134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we call the recursive function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S(1,n)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1"/>
          <p:cNvSpPr txBox="1"/>
          <p:nvPr/>
        </p:nvSpPr>
        <p:spPr>
          <a:xfrm>
            <a:off x="537407" y="3859674"/>
            <a:ext cx="400205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the same items,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great! It is as expected.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1"/>
          <p:cNvSpPr/>
          <p:nvPr/>
        </p:nvSpPr>
        <p:spPr>
          <a:xfrm>
            <a:off x="8158764" y="953270"/>
            <a:ext cx="182505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Calibri"/>
              <a:buNone/>
            </a:pP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,l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x ,</a:t>
            </a: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l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y, </a:t>
            </a: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1"/>
          <p:cNvSpPr txBox="1"/>
          <p:nvPr/>
        </p:nvSpPr>
        <p:spPr>
          <a:xfrm>
            <a:off x="7297350" y="4539121"/>
            <a:ext cx="3978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1"/>
          <p:cNvSpPr txBox="1"/>
          <p:nvPr/>
        </p:nvSpPr>
        <p:spPr>
          <a:xfrm>
            <a:off x="513285" y="2842549"/>
            <a:ext cx="399199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get a set of items selected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,I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,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y,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5" name="Google Shape;495;p21"/>
          <p:cNvCxnSpPr/>
          <p:nvPr/>
        </p:nvCxnSpPr>
        <p:spPr>
          <a:xfrm>
            <a:off x="7496283" y="2790858"/>
            <a:ext cx="0" cy="55362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6" name="Google Shape;496;p21"/>
          <p:cNvSpPr txBox="1"/>
          <p:nvPr/>
        </p:nvSpPr>
        <p:spPr>
          <a:xfrm>
            <a:off x="7297350" y="3132263"/>
            <a:ext cx="3978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1"/>
          <p:cNvSpPr txBox="1"/>
          <p:nvPr/>
        </p:nvSpPr>
        <p:spPr>
          <a:xfrm>
            <a:off x="7297350" y="2215611"/>
            <a:ext cx="3978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1"/>
          <p:cNvSpPr txBox="1"/>
          <p:nvPr/>
        </p:nvSpPr>
        <p:spPr>
          <a:xfrm>
            <a:off x="513285" y="5000786"/>
            <a:ext cx="535108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if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different,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we can easily remove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items from the container, making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Space for </a:t>
            </a: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lm,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then inserting </a:t>
            </a:r>
            <a:r>
              <a:rPr lang="en-US" sz="24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lm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inside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1"/>
          <p:cNvSpPr/>
          <p:nvPr/>
        </p:nvSpPr>
        <p:spPr>
          <a:xfrm>
            <a:off x="7619794" y="1868741"/>
            <a:ext cx="3289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lj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1"/>
          <p:cNvSpPr txBox="1"/>
          <p:nvPr/>
        </p:nvSpPr>
        <p:spPr>
          <a:xfrm>
            <a:off x="8597426" y="3363095"/>
            <a:ext cx="35589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there is no harm if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 make choices greedily.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still optimize.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1"/>
          <p:cNvSpPr txBox="1"/>
          <p:nvPr/>
        </p:nvSpPr>
        <p:spPr>
          <a:xfrm>
            <a:off x="8597426" y="4718198"/>
            <a:ext cx="3517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this particular problem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1"/>
          <p:cNvSpPr txBox="1"/>
          <p:nvPr/>
        </p:nvSpPr>
        <p:spPr>
          <a:xfrm>
            <a:off x="8597426" y="5370117"/>
            <a:ext cx="318510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 , this problem has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Greedy choice property.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1"/>
          <p:cNvSpPr txBox="1"/>
          <p:nvPr/>
        </p:nvSpPr>
        <p:spPr>
          <a:xfrm>
            <a:off x="8576843" y="1931934"/>
            <a:ext cx="361515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Since, lm is the most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expensive powder, it won’t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 in decrease of profit.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HUFFMAN CODING</a:t>
            </a:r>
            <a:endParaRPr/>
          </a:p>
        </p:txBody>
      </p:sp>
      <p:sp>
        <p:nvSpPr>
          <p:cNvPr id="509" name="Google Shape;509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510" name="Google Shape;510;p2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511" name="Google Shape;511;p2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12" name="Google Shape;512;p2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This is an efficient approach used for sending smaller sized characters.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Helps to make the transmission faster</a:t>
            </a:r>
            <a:endParaRPr/>
          </a:p>
        </p:txBody>
      </p:sp>
      <p:sp>
        <p:nvSpPr>
          <p:cNvPr id="518" name="Google Shape;518;p2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519" name="Google Shape;519;p2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20" name="Google Shape;520;p2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1" name="Google Shape;521;p2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Huffman Coding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698b5e45d9_0_0"/>
          <p:cNvSpPr txBox="1"/>
          <p:nvPr>
            <p:ph idx="1" type="body"/>
          </p:nvPr>
        </p:nvSpPr>
        <p:spPr>
          <a:xfrm>
            <a:off x="838200" y="1227909"/>
            <a:ext cx="10515600" cy="494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en-US"/>
              <a:t>Frequency Table Creation</a:t>
            </a:r>
            <a:endParaRPr b="1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First, analyze the data to be compressed (e.g., a text file) and create a frequency table listing each character and its occurrence count.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en-US"/>
              <a:t>Building the Huffman Tree</a:t>
            </a:r>
            <a:endParaRPr b="1"/>
          </a:p>
          <a:p>
            <a:pPr indent="-335280" lvl="0" marL="457200" rtl="0" algn="l">
              <a:spcBef>
                <a:spcPts val="640"/>
              </a:spcBef>
              <a:spcAft>
                <a:spcPts val="0"/>
              </a:spcAft>
              <a:buSzPct val="75000"/>
              <a:buChar char="●"/>
            </a:pPr>
            <a:r>
              <a:rPr b="1" lang="en-US"/>
              <a:t>Initialize a priority queue:</a:t>
            </a:r>
            <a:r>
              <a:rPr lang="en-US"/>
              <a:t> Each entry in the queue is a tree node and includes a character, its frequency, and pointers to left and right child nodes. Initially, these nodes are leaf nodes for each unique character, with the frequency from the table.</a:t>
            </a:r>
            <a:endParaRPr/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SzPct val="75000"/>
              <a:buChar char="●"/>
            </a:pPr>
            <a:r>
              <a:rPr b="1" lang="en-US"/>
              <a:t>Construct the tree:</a:t>
            </a:r>
            <a:r>
              <a:rPr lang="en-US"/>
              <a:t> Repeat the following steps until the priority queue has only one node (the root of the Huffman tree):</a:t>
            </a:r>
            <a:endParaRPr/>
          </a:p>
          <a:p>
            <a:pPr indent="-309499" lvl="1" marL="914400" rtl="0" algn="l">
              <a:spcBef>
                <a:spcPts val="0"/>
              </a:spcBef>
              <a:spcAft>
                <a:spcPts val="0"/>
              </a:spcAft>
              <a:buSzPct val="65000"/>
              <a:buChar char="○"/>
            </a:pPr>
            <a:r>
              <a:rPr lang="en-US"/>
              <a:t>Remove the two nodes of lowest frequency from the queue.</a:t>
            </a:r>
            <a:endParaRPr/>
          </a:p>
          <a:p>
            <a:pPr indent="-309499" lvl="1" marL="914400" rtl="0" algn="l">
              <a:spcBef>
                <a:spcPts val="0"/>
              </a:spcBef>
              <a:spcAft>
                <a:spcPts val="0"/>
              </a:spcAft>
              <a:buSzPct val="65000"/>
              <a:buChar char="○"/>
            </a:pPr>
            <a:r>
              <a:rPr lang="en-US"/>
              <a:t>Create a new internal node with a frequency equal to the sum of the two nodes' frequencies.</a:t>
            </a:r>
            <a:endParaRPr/>
          </a:p>
          <a:p>
            <a:pPr indent="-309499" lvl="1" marL="914400" rtl="0" algn="l">
              <a:spcBef>
                <a:spcPts val="0"/>
              </a:spcBef>
              <a:spcAft>
                <a:spcPts val="0"/>
              </a:spcAft>
              <a:buSzPct val="65000"/>
              <a:buChar char="○"/>
            </a:pPr>
            <a:r>
              <a:rPr lang="en-US"/>
              <a:t>Set the two nodes as children of the new node, one on the left and one on the right.</a:t>
            </a:r>
            <a:endParaRPr/>
          </a:p>
          <a:p>
            <a:pPr indent="-309499" lvl="1" marL="914400" rtl="0" algn="l">
              <a:spcBef>
                <a:spcPts val="0"/>
              </a:spcBef>
              <a:spcAft>
                <a:spcPts val="0"/>
              </a:spcAft>
              <a:buSzPct val="65000"/>
              <a:buChar char="○"/>
            </a:pPr>
            <a:r>
              <a:rPr lang="en-US"/>
              <a:t>Insert the new node back into the priority queue.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2698b5e45d9_0_0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9" name="Google Shape;529;g2698b5e45d9_0_0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Huffman Coding Process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EXAMPLES OF PROBLEMS THAT CANNOT BE SOLVED WITH GREEDY</a:t>
            </a:r>
            <a:endParaRPr/>
          </a:p>
        </p:txBody>
      </p:sp>
      <p:sp>
        <p:nvSpPr>
          <p:cNvPr id="535" name="Google Shape;535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0/1 knapsack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Coin Change Problem</a:t>
            </a:r>
            <a:endParaRPr/>
          </a:p>
        </p:txBody>
      </p:sp>
      <p:sp>
        <p:nvSpPr>
          <p:cNvPr id="536" name="Google Shape;536;p2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537" name="Google Shape;537;p2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38" name="Google Shape;538;p2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544" name="Google Shape;544;p2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45" name="Google Shape;545;p25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October 14, 2023</a:t>
            </a:r>
            <a:endParaRPr/>
          </a:p>
        </p:txBody>
      </p:sp>
      <p:sp>
        <p:nvSpPr>
          <p:cNvPr id="546" name="Google Shape;546;p25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47" name="Google Shape;547;p25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2023-03-19T03:25:32Z</dcterms:created>
  <dc:creator>lenovo</dc:creator>
</cp:coreProperties>
</file>