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4" roundtripDataSignature="AMtx7mgQwK0ZEn273bZChf6MhNb1nN/0W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B62C9C5-E08F-442B-B41F-21A5E07FCD21}">
  <a:tblStyle styleId="{EB62C9C5-E08F-442B-B41F-21A5E07FCD2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 b="off" i="off"/>
      <a:tcStyle>
        <a:fill>
          <a:solidFill>
            <a:srgbClr val="D0DEEF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D0DEEF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4FD3F081-5466-4F2A-B8A2-C23150FA547C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CECE7"/>
          </a:solidFill>
        </a:fill>
      </a:tcStyle>
    </a:wholeTbl>
    <a:band1H>
      <a:tcTxStyle b="off" i="off"/>
      <a:tcStyle>
        <a:fill>
          <a:solidFill>
            <a:srgbClr val="F8D6CC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F8D6CC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2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2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2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2"/>
          </a:solidFill>
        </a:fill>
      </a:tcStyle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24" Type="http://customschemas.google.com/relationships/presentationmetadata" Target="metadata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" name="Google Shape;92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f1a3b3e7c0_0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" name="Google Shape;98;g1f1a3b3e7c0_0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f1a3b3e7c0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" name="Google Shape;104;g1f1a3b3e7c0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0" name="Google Shape;110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" name="Google Shape;116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2" name="Google Shape;122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0" name="Google Shape;130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0" name="Google Shape;140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7" name="Google Shape;147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9" name="Google Shape;199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5" name="Google Shape;275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1" name="Google Shape;281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8" name="Google Shape;288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9" name="Google Shape;319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0" name="Google Shape;350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3" name="Google Shape;373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1" name="Google Shape;381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5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5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5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5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5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5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5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5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5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5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5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5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5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5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5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5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5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6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6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6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6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6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6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6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6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6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6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6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6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6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6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6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6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6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6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6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5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5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5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5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Dynamic Programming Part 3</a:t>
            </a:r>
            <a:endParaRPr/>
          </a:p>
        </p:txBody>
      </p:sp>
      <p:sp>
        <p:nvSpPr>
          <p:cNvPr id="89" name="Google Shape;89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Coin Change Problem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The Rod Cutting Problem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The Coin Change Problem</a:t>
            </a:r>
            <a:endParaRPr/>
          </a:p>
        </p:txBody>
      </p:sp>
      <p:sp>
        <p:nvSpPr>
          <p:cNvPr id="95" name="Google Shape;95;p3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f1a3b3e7c0_0_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The Coin Change Problem</a:t>
            </a:r>
            <a:endParaRPr/>
          </a:p>
        </p:txBody>
      </p:sp>
      <p:sp>
        <p:nvSpPr>
          <p:cNvPr id="101" name="Google Shape;101;g1f1a3b3e7c0_0_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Finite number of coins</a:t>
            </a:r>
            <a:endParaRPr/>
          </a:p>
          <a:p>
            <a:pPr indent="-1651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Infinite number of coins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f1a3b3e7c0_0_0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The Rod Cutting Problem</a:t>
            </a:r>
            <a:endParaRPr/>
          </a:p>
        </p:txBody>
      </p:sp>
      <p:sp>
        <p:nvSpPr>
          <p:cNvPr id="107" name="Google Shape;107;g1f1a3b3e7c0_0_0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The Rod Cutting Problem</a:t>
            </a:r>
            <a:endParaRPr/>
          </a:p>
        </p:txBody>
      </p:sp>
      <p:sp>
        <p:nvSpPr>
          <p:cNvPr id="113" name="Google Shape;113;p3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rod-cutting problem is the following. Given a rod of length n inches and a table of prices p</a:t>
            </a:r>
            <a:r>
              <a:rPr baseline="-25000" lang="en-US"/>
              <a:t>i</a:t>
            </a:r>
            <a:r>
              <a:rPr lang="en-US"/>
              <a:t> for i = 1, 2,…, n, determine the maximum revenue r</a:t>
            </a:r>
            <a:r>
              <a:rPr baseline="-25000" lang="en-US"/>
              <a:t>n</a:t>
            </a:r>
            <a:r>
              <a:rPr lang="en-US"/>
              <a:t> obtainable by cutting up the rod and selling the pieces. Note that if the price p</a:t>
            </a:r>
            <a:r>
              <a:rPr baseline="-25000" lang="en-US"/>
              <a:t>n</a:t>
            </a:r>
            <a:r>
              <a:rPr lang="en-US"/>
              <a:t> for a rod of length n is large enough, an optimal solution may require no cutting at all.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Huge Sentence. Let’s Simplify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The Rod Cutting Problem</a:t>
            </a:r>
            <a:endParaRPr/>
          </a:p>
        </p:txBody>
      </p:sp>
      <p:pic>
        <p:nvPicPr>
          <p:cNvPr id="119" name="Google Shape;119;p3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51387" y="1738479"/>
            <a:ext cx="9289226" cy="1168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The Rod Cutting Problem</a:t>
            </a:r>
            <a:endParaRPr/>
          </a:p>
        </p:txBody>
      </p:sp>
      <p:pic>
        <p:nvPicPr>
          <p:cNvPr id="125" name="Google Shape;125;p4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55008" t="0"/>
          <a:stretch/>
        </p:blipFill>
        <p:spPr>
          <a:xfrm>
            <a:off x="3802393" y="2908278"/>
            <a:ext cx="4179392" cy="1168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90030" y="4067897"/>
            <a:ext cx="7833892" cy="2419423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40"/>
          <p:cNvSpPr txBox="1"/>
          <p:nvPr/>
        </p:nvSpPr>
        <p:spPr>
          <a:xfrm>
            <a:off x="904504" y="1405109"/>
            <a:ext cx="10434395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have a rod/bamboo of length 4. Here are the market prices of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bamboo for different lengths. How will you sell to make the maximum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profit?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The Rod Cutting Problem</a:t>
            </a:r>
            <a:endParaRPr/>
          </a:p>
        </p:txBody>
      </p:sp>
      <p:pic>
        <p:nvPicPr>
          <p:cNvPr id="133" name="Google Shape;133;p4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55008" t="0"/>
          <a:stretch/>
        </p:blipFill>
        <p:spPr>
          <a:xfrm>
            <a:off x="3811724" y="2591037"/>
            <a:ext cx="4179392" cy="1168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90030" y="4067897"/>
            <a:ext cx="7833892" cy="2419423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41"/>
          <p:cNvSpPr txBox="1"/>
          <p:nvPr/>
        </p:nvSpPr>
        <p:spPr>
          <a:xfrm>
            <a:off x="904504" y="1405109"/>
            <a:ext cx="10434395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have a rod/bamboo of length 4. Here are the market prices of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bamboo for different lengths. How will you sell to make the maximum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profit?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41"/>
          <p:cNvSpPr/>
          <p:nvPr/>
        </p:nvSpPr>
        <p:spPr>
          <a:xfrm>
            <a:off x="2094245" y="4076302"/>
            <a:ext cx="1147665" cy="1168024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1"/>
          <p:cNvSpPr/>
          <p:nvPr/>
        </p:nvSpPr>
        <p:spPr>
          <a:xfrm>
            <a:off x="5809083" y="4079162"/>
            <a:ext cx="1403480" cy="1168024"/>
          </a:xfrm>
          <a:prstGeom prst="rect">
            <a:avLst/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Let us solve this problem recursively first</a:t>
            </a:r>
            <a:endParaRPr/>
          </a:p>
        </p:txBody>
      </p:sp>
      <p:sp>
        <p:nvSpPr>
          <p:cNvPr id="143" name="Google Shape;143;p4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r(x) –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what is the </a:t>
            </a:r>
            <a:r>
              <a:rPr b="1" lang="en-US"/>
              <a:t>maximum profit </a:t>
            </a:r>
            <a:r>
              <a:rPr lang="en-US"/>
              <a:t>that we can obtain from a rod of length x by cutting it / not cutting it at appropriate places.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The function will have access to the given arrays (assume them to be global).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Note that the function IS NOT telling you how to cut the rod.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44" name="Google Shape;144;p42"/>
          <p:cNvPicPr preferRelativeResize="0"/>
          <p:nvPr/>
        </p:nvPicPr>
        <p:blipFill rotWithShape="1">
          <a:blip r:embed="rId3">
            <a:alphaModFix/>
          </a:blip>
          <a:srcRect b="0" l="0" r="55008" t="0"/>
          <a:stretch/>
        </p:blipFill>
        <p:spPr>
          <a:xfrm>
            <a:off x="4006304" y="4308077"/>
            <a:ext cx="4179392" cy="1168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43"/>
          <p:cNvSpPr txBox="1"/>
          <p:nvPr>
            <p:ph type="title"/>
          </p:nvPr>
        </p:nvSpPr>
        <p:spPr>
          <a:xfrm>
            <a:off x="838200" y="365125"/>
            <a:ext cx="284988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Recursive</a:t>
            </a:r>
            <a:br>
              <a:rPr lang="en-US"/>
            </a:br>
            <a:r>
              <a:rPr lang="en-US"/>
              <a:t>Approach</a:t>
            </a:r>
            <a:endParaRPr/>
          </a:p>
        </p:txBody>
      </p:sp>
      <p:pic>
        <p:nvPicPr>
          <p:cNvPr id="150" name="Google Shape;150;p43"/>
          <p:cNvPicPr preferRelativeResize="0"/>
          <p:nvPr/>
        </p:nvPicPr>
        <p:blipFill rotWithShape="1">
          <a:blip r:embed="rId3">
            <a:alphaModFix/>
          </a:blip>
          <a:srcRect b="0" l="0" r="55008" t="0"/>
          <a:stretch/>
        </p:blipFill>
        <p:spPr>
          <a:xfrm>
            <a:off x="4412704" y="365125"/>
            <a:ext cx="4179392" cy="1168024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43"/>
          <p:cNvSpPr/>
          <p:nvPr/>
        </p:nvSpPr>
        <p:spPr>
          <a:xfrm>
            <a:off x="5781040" y="1690688"/>
            <a:ext cx="629920" cy="335280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R(4)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43"/>
          <p:cNvSpPr/>
          <p:nvPr/>
        </p:nvSpPr>
        <p:spPr>
          <a:xfrm>
            <a:off x="7599680" y="2726056"/>
            <a:ext cx="599440" cy="335280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R(0)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3" name="Google Shape;153;p43"/>
          <p:cNvCxnSpPr>
            <a:stCxn id="151" idx="2"/>
            <a:endCxn id="152" idx="0"/>
          </p:cNvCxnSpPr>
          <p:nvPr/>
        </p:nvCxnSpPr>
        <p:spPr>
          <a:xfrm>
            <a:off x="6096000" y="2025968"/>
            <a:ext cx="1803300" cy="700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54" name="Google Shape;154;p43"/>
          <p:cNvSpPr/>
          <p:nvPr/>
        </p:nvSpPr>
        <p:spPr>
          <a:xfrm>
            <a:off x="6399932" y="2679125"/>
            <a:ext cx="629920" cy="335280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R(1)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5" name="Google Shape;155;p43"/>
          <p:cNvCxnSpPr>
            <a:stCxn id="151" idx="2"/>
            <a:endCxn id="154" idx="0"/>
          </p:cNvCxnSpPr>
          <p:nvPr/>
        </p:nvCxnSpPr>
        <p:spPr>
          <a:xfrm>
            <a:off x="6096000" y="2025968"/>
            <a:ext cx="618900" cy="653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56" name="Google Shape;156;p43"/>
          <p:cNvSpPr/>
          <p:nvPr/>
        </p:nvSpPr>
        <p:spPr>
          <a:xfrm>
            <a:off x="4704080" y="2734312"/>
            <a:ext cx="629920" cy="335280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R(2)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43"/>
          <p:cNvSpPr/>
          <p:nvPr/>
        </p:nvSpPr>
        <p:spPr>
          <a:xfrm>
            <a:off x="3535680" y="2742568"/>
            <a:ext cx="629920" cy="335280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R(3)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8" name="Google Shape;158;p43"/>
          <p:cNvCxnSpPr>
            <a:stCxn id="151" idx="2"/>
            <a:endCxn id="156" idx="0"/>
          </p:cNvCxnSpPr>
          <p:nvPr/>
        </p:nvCxnSpPr>
        <p:spPr>
          <a:xfrm flipH="1">
            <a:off x="5019000" y="2025968"/>
            <a:ext cx="1077000" cy="708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9" name="Google Shape;159;p43"/>
          <p:cNvCxnSpPr>
            <a:stCxn id="151" idx="2"/>
            <a:endCxn id="157" idx="0"/>
          </p:cNvCxnSpPr>
          <p:nvPr/>
        </p:nvCxnSpPr>
        <p:spPr>
          <a:xfrm flipH="1">
            <a:off x="3850500" y="2025968"/>
            <a:ext cx="2245500" cy="716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60" name="Google Shape;160;p43"/>
          <p:cNvSpPr/>
          <p:nvPr/>
        </p:nvSpPr>
        <p:spPr>
          <a:xfrm>
            <a:off x="3627120" y="3805084"/>
            <a:ext cx="629920" cy="335280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R(0)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1" name="Google Shape;161;p43"/>
          <p:cNvCxnSpPr>
            <a:endCxn id="160" idx="0"/>
          </p:cNvCxnSpPr>
          <p:nvPr/>
        </p:nvCxnSpPr>
        <p:spPr>
          <a:xfrm>
            <a:off x="3850580" y="3104884"/>
            <a:ext cx="91500" cy="700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62" name="Google Shape;162;p43"/>
          <p:cNvSpPr/>
          <p:nvPr/>
        </p:nvSpPr>
        <p:spPr>
          <a:xfrm>
            <a:off x="2458720" y="3813340"/>
            <a:ext cx="629920" cy="335280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R(1)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43"/>
          <p:cNvSpPr/>
          <p:nvPr/>
        </p:nvSpPr>
        <p:spPr>
          <a:xfrm>
            <a:off x="1290320" y="3821596"/>
            <a:ext cx="629920" cy="335280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R(2)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4" name="Google Shape;164;p43"/>
          <p:cNvCxnSpPr>
            <a:endCxn id="162" idx="0"/>
          </p:cNvCxnSpPr>
          <p:nvPr/>
        </p:nvCxnSpPr>
        <p:spPr>
          <a:xfrm flipH="1">
            <a:off x="2773680" y="3105040"/>
            <a:ext cx="1077000" cy="708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5" name="Google Shape;165;p43"/>
          <p:cNvCxnSpPr>
            <a:stCxn id="157" idx="2"/>
            <a:endCxn id="163" idx="0"/>
          </p:cNvCxnSpPr>
          <p:nvPr/>
        </p:nvCxnSpPr>
        <p:spPr>
          <a:xfrm flipH="1">
            <a:off x="1605140" y="3077848"/>
            <a:ext cx="2245500" cy="743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66" name="Google Shape;166;p43"/>
          <p:cNvSpPr/>
          <p:nvPr/>
        </p:nvSpPr>
        <p:spPr>
          <a:xfrm>
            <a:off x="2458720" y="4716472"/>
            <a:ext cx="629920" cy="335280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R(0)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7" name="Google Shape;167;p43"/>
          <p:cNvCxnSpPr>
            <a:stCxn id="162" idx="2"/>
            <a:endCxn id="166" idx="0"/>
          </p:cNvCxnSpPr>
          <p:nvPr/>
        </p:nvCxnSpPr>
        <p:spPr>
          <a:xfrm>
            <a:off x="2773680" y="4148620"/>
            <a:ext cx="0" cy="567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68" name="Google Shape;168;p43"/>
          <p:cNvSpPr/>
          <p:nvPr/>
        </p:nvSpPr>
        <p:spPr>
          <a:xfrm>
            <a:off x="741680" y="4716472"/>
            <a:ext cx="629920" cy="335280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R(1)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9" name="Google Shape;169;p43"/>
          <p:cNvCxnSpPr>
            <a:stCxn id="163" idx="2"/>
            <a:endCxn id="168" idx="0"/>
          </p:cNvCxnSpPr>
          <p:nvPr/>
        </p:nvCxnSpPr>
        <p:spPr>
          <a:xfrm flipH="1">
            <a:off x="1056580" y="4156876"/>
            <a:ext cx="548700" cy="559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70" name="Google Shape;170;p43"/>
          <p:cNvSpPr/>
          <p:nvPr/>
        </p:nvSpPr>
        <p:spPr>
          <a:xfrm>
            <a:off x="741680" y="5644372"/>
            <a:ext cx="629920" cy="335280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R(0)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1" name="Google Shape;171;p43"/>
          <p:cNvCxnSpPr>
            <a:stCxn id="168" idx="2"/>
            <a:endCxn id="170" idx="0"/>
          </p:cNvCxnSpPr>
          <p:nvPr/>
        </p:nvCxnSpPr>
        <p:spPr>
          <a:xfrm>
            <a:off x="1056640" y="5051752"/>
            <a:ext cx="0" cy="592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72" name="Google Shape;172;p43"/>
          <p:cNvSpPr/>
          <p:nvPr/>
        </p:nvSpPr>
        <p:spPr>
          <a:xfrm>
            <a:off x="1559560" y="4716472"/>
            <a:ext cx="629920" cy="335280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R(0)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3" name="Google Shape;173;p43"/>
          <p:cNvCxnSpPr>
            <a:stCxn id="163" idx="2"/>
            <a:endCxn id="172" idx="0"/>
          </p:cNvCxnSpPr>
          <p:nvPr/>
        </p:nvCxnSpPr>
        <p:spPr>
          <a:xfrm>
            <a:off x="1605280" y="4156876"/>
            <a:ext cx="269100" cy="559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74" name="Google Shape;174;p43"/>
          <p:cNvSpPr/>
          <p:nvPr/>
        </p:nvSpPr>
        <p:spPr>
          <a:xfrm>
            <a:off x="4516120" y="3821596"/>
            <a:ext cx="629920" cy="335280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R(1)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5" name="Google Shape;175;p43"/>
          <p:cNvCxnSpPr>
            <a:stCxn id="156" idx="2"/>
            <a:endCxn id="174" idx="0"/>
          </p:cNvCxnSpPr>
          <p:nvPr/>
        </p:nvCxnSpPr>
        <p:spPr>
          <a:xfrm flipH="1">
            <a:off x="4830940" y="3069592"/>
            <a:ext cx="188100" cy="752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76" name="Google Shape;176;p43"/>
          <p:cNvSpPr/>
          <p:nvPr/>
        </p:nvSpPr>
        <p:spPr>
          <a:xfrm>
            <a:off x="4516120" y="4749496"/>
            <a:ext cx="629920" cy="335280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R(0)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7" name="Google Shape;177;p43"/>
          <p:cNvCxnSpPr>
            <a:stCxn id="174" idx="2"/>
            <a:endCxn id="176" idx="0"/>
          </p:cNvCxnSpPr>
          <p:nvPr/>
        </p:nvCxnSpPr>
        <p:spPr>
          <a:xfrm>
            <a:off x="4831080" y="4156876"/>
            <a:ext cx="0" cy="592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78" name="Google Shape;178;p43"/>
          <p:cNvSpPr/>
          <p:nvPr/>
        </p:nvSpPr>
        <p:spPr>
          <a:xfrm>
            <a:off x="5334000" y="3821596"/>
            <a:ext cx="629920" cy="335280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R(0)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9" name="Google Shape;179;p43"/>
          <p:cNvCxnSpPr>
            <a:stCxn id="156" idx="2"/>
            <a:endCxn id="178" idx="0"/>
          </p:cNvCxnSpPr>
          <p:nvPr/>
        </p:nvCxnSpPr>
        <p:spPr>
          <a:xfrm>
            <a:off x="5019040" y="3069592"/>
            <a:ext cx="630000" cy="752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80" name="Google Shape;180;p43"/>
          <p:cNvSpPr/>
          <p:nvPr/>
        </p:nvSpPr>
        <p:spPr>
          <a:xfrm>
            <a:off x="6399932" y="3796665"/>
            <a:ext cx="629920" cy="335280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R(0)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1" name="Google Shape;181;p43"/>
          <p:cNvCxnSpPr>
            <a:stCxn id="154" idx="2"/>
            <a:endCxn id="180" idx="0"/>
          </p:cNvCxnSpPr>
          <p:nvPr/>
        </p:nvCxnSpPr>
        <p:spPr>
          <a:xfrm>
            <a:off x="6714892" y="3014405"/>
            <a:ext cx="0" cy="78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82" name="Google Shape;182;p43"/>
          <p:cNvSpPr txBox="1"/>
          <p:nvPr/>
        </p:nvSpPr>
        <p:spPr>
          <a:xfrm>
            <a:off x="6175314" y="2384268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43"/>
          <p:cNvSpPr txBox="1"/>
          <p:nvPr/>
        </p:nvSpPr>
        <p:spPr>
          <a:xfrm>
            <a:off x="4844354" y="2376012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43"/>
          <p:cNvSpPr txBox="1"/>
          <p:nvPr/>
        </p:nvSpPr>
        <p:spPr>
          <a:xfrm>
            <a:off x="3894968" y="2290673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43"/>
          <p:cNvSpPr txBox="1"/>
          <p:nvPr/>
        </p:nvSpPr>
        <p:spPr>
          <a:xfrm>
            <a:off x="1220757" y="345504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43"/>
          <p:cNvSpPr txBox="1"/>
          <p:nvPr/>
        </p:nvSpPr>
        <p:spPr>
          <a:xfrm>
            <a:off x="2727960" y="3344748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43"/>
          <p:cNvSpPr txBox="1"/>
          <p:nvPr/>
        </p:nvSpPr>
        <p:spPr>
          <a:xfrm>
            <a:off x="3944735" y="3329311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43"/>
          <p:cNvSpPr txBox="1"/>
          <p:nvPr/>
        </p:nvSpPr>
        <p:spPr>
          <a:xfrm>
            <a:off x="4600758" y="3329173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43"/>
          <p:cNvSpPr txBox="1"/>
          <p:nvPr/>
        </p:nvSpPr>
        <p:spPr>
          <a:xfrm>
            <a:off x="5353910" y="3227131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43"/>
          <p:cNvSpPr txBox="1"/>
          <p:nvPr/>
        </p:nvSpPr>
        <p:spPr>
          <a:xfrm>
            <a:off x="6703265" y="3309262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43"/>
          <p:cNvSpPr txBox="1"/>
          <p:nvPr/>
        </p:nvSpPr>
        <p:spPr>
          <a:xfrm>
            <a:off x="854014" y="4287454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43"/>
          <p:cNvSpPr txBox="1"/>
          <p:nvPr/>
        </p:nvSpPr>
        <p:spPr>
          <a:xfrm>
            <a:off x="1737360" y="4330114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43"/>
          <p:cNvSpPr txBox="1"/>
          <p:nvPr/>
        </p:nvSpPr>
        <p:spPr>
          <a:xfrm>
            <a:off x="2741643" y="4204782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43"/>
          <p:cNvSpPr txBox="1"/>
          <p:nvPr/>
        </p:nvSpPr>
        <p:spPr>
          <a:xfrm>
            <a:off x="4844354" y="4330114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43"/>
          <p:cNvSpPr txBox="1"/>
          <p:nvPr/>
        </p:nvSpPr>
        <p:spPr>
          <a:xfrm>
            <a:off x="1056640" y="524201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43"/>
          <p:cNvSpPr txBox="1"/>
          <p:nvPr/>
        </p:nvSpPr>
        <p:spPr>
          <a:xfrm>
            <a:off x="7252274" y="216788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44"/>
          <p:cNvSpPr txBox="1"/>
          <p:nvPr>
            <p:ph type="title"/>
          </p:nvPr>
        </p:nvSpPr>
        <p:spPr>
          <a:xfrm>
            <a:off x="838200" y="365125"/>
            <a:ext cx="284988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Recursive</a:t>
            </a:r>
            <a:br>
              <a:rPr lang="en-US"/>
            </a:br>
            <a:r>
              <a:rPr lang="en-US"/>
              <a:t>Approach</a:t>
            </a:r>
            <a:endParaRPr/>
          </a:p>
        </p:txBody>
      </p:sp>
      <p:pic>
        <p:nvPicPr>
          <p:cNvPr id="202" name="Google Shape;202;p44"/>
          <p:cNvPicPr preferRelativeResize="0"/>
          <p:nvPr/>
        </p:nvPicPr>
        <p:blipFill rotWithShape="1">
          <a:blip r:embed="rId3">
            <a:alphaModFix/>
          </a:blip>
          <a:srcRect b="0" l="0" r="55008" t="0"/>
          <a:stretch/>
        </p:blipFill>
        <p:spPr>
          <a:xfrm>
            <a:off x="4412704" y="365125"/>
            <a:ext cx="4179392" cy="1168024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44"/>
          <p:cNvSpPr/>
          <p:nvPr/>
        </p:nvSpPr>
        <p:spPr>
          <a:xfrm>
            <a:off x="5781040" y="1690688"/>
            <a:ext cx="629920" cy="335280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R(4)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44"/>
          <p:cNvSpPr/>
          <p:nvPr/>
        </p:nvSpPr>
        <p:spPr>
          <a:xfrm>
            <a:off x="7599680" y="2726056"/>
            <a:ext cx="599440" cy="335280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R(0)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5" name="Google Shape;205;p44"/>
          <p:cNvCxnSpPr>
            <a:stCxn id="203" idx="2"/>
            <a:endCxn id="204" idx="0"/>
          </p:cNvCxnSpPr>
          <p:nvPr/>
        </p:nvCxnSpPr>
        <p:spPr>
          <a:xfrm>
            <a:off x="6096000" y="2025968"/>
            <a:ext cx="1803300" cy="700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06" name="Google Shape;206;p44"/>
          <p:cNvSpPr/>
          <p:nvPr/>
        </p:nvSpPr>
        <p:spPr>
          <a:xfrm>
            <a:off x="6399932" y="2679125"/>
            <a:ext cx="629920" cy="335280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R(1)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7" name="Google Shape;207;p44"/>
          <p:cNvCxnSpPr>
            <a:stCxn id="203" idx="2"/>
            <a:endCxn id="206" idx="0"/>
          </p:cNvCxnSpPr>
          <p:nvPr/>
        </p:nvCxnSpPr>
        <p:spPr>
          <a:xfrm>
            <a:off x="6096000" y="2025968"/>
            <a:ext cx="618900" cy="653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08" name="Google Shape;208;p44"/>
          <p:cNvSpPr/>
          <p:nvPr/>
        </p:nvSpPr>
        <p:spPr>
          <a:xfrm>
            <a:off x="4704080" y="2734312"/>
            <a:ext cx="629920" cy="335280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R(2)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44"/>
          <p:cNvSpPr/>
          <p:nvPr/>
        </p:nvSpPr>
        <p:spPr>
          <a:xfrm>
            <a:off x="3535680" y="2742568"/>
            <a:ext cx="629920" cy="335280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R(3)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0" name="Google Shape;210;p44"/>
          <p:cNvCxnSpPr>
            <a:stCxn id="203" idx="2"/>
            <a:endCxn id="208" idx="0"/>
          </p:cNvCxnSpPr>
          <p:nvPr/>
        </p:nvCxnSpPr>
        <p:spPr>
          <a:xfrm flipH="1">
            <a:off x="5019000" y="2025968"/>
            <a:ext cx="1077000" cy="708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11" name="Google Shape;211;p44"/>
          <p:cNvCxnSpPr>
            <a:stCxn id="203" idx="2"/>
            <a:endCxn id="209" idx="0"/>
          </p:cNvCxnSpPr>
          <p:nvPr/>
        </p:nvCxnSpPr>
        <p:spPr>
          <a:xfrm flipH="1">
            <a:off x="3850500" y="2025968"/>
            <a:ext cx="2245500" cy="716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12" name="Google Shape;212;p44"/>
          <p:cNvSpPr/>
          <p:nvPr/>
        </p:nvSpPr>
        <p:spPr>
          <a:xfrm>
            <a:off x="3627120" y="3805084"/>
            <a:ext cx="629920" cy="335280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R(0)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3" name="Google Shape;213;p44"/>
          <p:cNvCxnSpPr>
            <a:endCxn id="212" idx="0"/>
          </p:cNvCxnSpPr>
          <p:nvPr/>
        </p:nvCxnSpPr>
        <p:spPr>
          <a:xfrm>
            <a:off x="3850580" y="3104884"/>
            <a:ext cx="91500" cy="700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14" name="Google Shape;214;p44"/>
          <p:cNvSpPr/>
          <p:nvPr/>
        </p:nvSpPr>
        <p:spPr>
          <a:xfrm>
            <a:off x="2458720" y="3813340"/>
            <a:ext cx="629920" cy="335280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R(1)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44"/>
          <p:cNvSpPr/>
          <p:nvPr/>
        </p:nvSpPr>
        <p:spPr>
          <a:xfrm>
            <a:off x="1290320" y="3821596"/>
            <a:ext cx="629920" cy="335280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R(2)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6" name="Google Shape;216;p44"/>
          <p:cNvCxnSpPr>
            <a:endCxn id="214" idx="0"/>
          </p:cNvCxnSpPr>
          <p:nvPr/>
        </p:nvCxnSpPr>
        <p:spPr>
          <a:xfrm flipH="1">
            <a:off x="2773680" y="3105040"/>
            <a:ext cx="1077000" cy="708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17" name="Google Shape;217;p44"/>
          <p:cNvCxnSpPr>
            <a:stCxn id="209" idx="2"/>
            <a:endCxn id="215" idx="0"/>
          </p:cNvCxnSpPr>
          <p:nvPr/>
        </p:nvCxnSpPr>
        <p:spPr>
          <a:xfrm flipH="1">
            <a:off x="1605140" y="3077848"/>
            <a:ext cx="2245500" cy="743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18" name="Google Shape;218;p44"/>
          <p:cNvSpPr/>
          <p:nvPr/>
        </p:nvSpPr>
        <p:spPr>
          <a:xfrm>
            <a:off x="2458720" y="4716472"/>
            <a:ext cx="629920" cy="335280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R(0)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9" name="Google Shape;219;p44"/>
          <p:cNvCxnSpPr>
            <a:stCxn id="214" idx="2"/>
            <a:endCxn id="218" idx="0"/>
          </p:cNvCxnSpPr>
          <p:nvPr/>
        </p:nvCxnSpPr>
        <p:spPr>
          <a:xfrm>
            <a:off x="2773680" y="4148620"/>
            <a:ext cx="0" cy="567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20" name="Google Shape;220;p44"/>
          <p:cNvSpPr/>
          <p:nvPr/>
        </p:nvSpPr>
        <p:spPr>
          <a:xfrm>
            <a:off x="741680" y="4716472"/>
            <a:ext cx="629920" cy="335280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R(1)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1" name="Google Shape;221;p44"/>
          <p:cNvCxnSpPr>
            <a:stCxn id="215" idx="2"/>
            <a:endCxn id="220" idx="0"/>
          </p:cNvCxnSpPr>
          <p:nvPr/>
        </p:nvCxnSpPr>
        <p:spPr>
          <a:xfrm flipH="1">
            <a:off x="1056580" y="4156876"/>
            <a:ext cx="548700" cy="559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22" name="Google Shape;222;p44"/>
          <p:cNvSpPr/>
          <p:nvPr/>
        </p:nvSpPr>
        <p:spPr>
          <a:xfrm>
            <a:off x="741680" y="5644372"/>
            <a:ext cx="629920" cy="335280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R(0)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3" name="Google Shape;223;p44"/>
          <p:cNvCxnSpPr>
            <a:stCxn id="220" idx="2"/>
            <a:endCxn id="222" idx="0"/>
          </p:cNvCxnSpPr>
          <p:nvPr/>
        </p:nvCxnSpPr>
        <p:spPr>
          <a:xfrm>
            <a:off x="1056640" y="5051752"/>
            <a:ext cx="0" cy="592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24" name="Google Shape;224;p44"/>
          <p:cNvSpPr/>
          <p:nvPr/>
        </p:nvSpPr>
        <p:spPr>
          <a:xfrm>
            <a:off x="1559560" y="4716472"/>
            <a:ext cx="629920" cy="335280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R(0)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5" name="Google Shape;225;p44"/>
          <p:cNvCxnSpPr>
            <a:stCxn id="215" idx="2"/>
            <a:endCxn id="224" idx="0"/>
          </p:cNvCxnSpPr>
          <p:nvPr/>
        </p:nvCxnSpPr>
        <p:spPr>
          <a:xfrm>
            <a:off x="1605280" y="4156876"/>
            <a:ext cx="269100" cy="559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26" name="Google Shape;226;p44"/>
          <p:cNvSpPr/>
          <p:nvPr/>
        </p:nvSpPr>
        <p:spPr>
          <a:xfrm>
            <a:off x="4516120" y="3821596"/>
            <a:ext cx="629920" cy="335280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R(1)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7" name="Google Shape;227;p44"/>
          <p:cNvCxnSpPr>
            <a:stCxn id="208" idx="2"/>
            <a:endCxn id="226" idx="0"/>
          </p:cNvCxnSpPr>
          <p:nvPr/>
        </p:nvCxnSpPr>
        <p:spPr>
          <a:xfrm flipH="1">
            <a:off x="4830940" y="3069592"/>
            <a:ext cx="188100" cy="752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28" name="Google Shape;228;p44"/>
          <p:cNvSpPr/>
          <p:nvPr/>
        </p:nvSpPr>
        <p:spPr>
          <a:xfrm>
            <a:off x="4516120" y="4749496"/>
            <a:ext cx="629920" cy="335280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R(0)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9" name="Google Shape;229;p44"/>
          <p:cNvCxnSpPr>
            <a:stCxn id="226" idx="2"/>
            <a:endCxn id="228" idx="0"/>
          </p:cNvCxnSpPr>
          <p:nvPr/>
        </p:nvCxnSpPr>
        <p:spPr>
          <a:xfrm>
            <a:off x="4831080" y="4156876"/>
            <a:ext cx="0" cy="592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30" name="Google Shape;230;p44"/>
          <p:cNvSpPr/>
          <p:nvPr/>
        </p:nvSpPr>
        <p:spPr>
          <a:xfrm>
            <a:off x="5334000" y="3821596"/>
            <a:ext cx="629920" cy="335280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R(0)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1" name="Google Shape;231;p44"/>
          <p:cNvCxnSpPr>
            <a:stCxn id="208" idx="2"/>
            <a:endCxn id="230" idx="0"/>
          </p:cNvCxnSpPr>
          <p:nvPr/>
        </p:nvCxnSpPr>
        <p:spPr>
          <a:xfrm>
            <a:off x="5019040" y="3069592"/>
            <a:ext cx="630000" cy="752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32" name="Google Shape;232;p44"/>
          <p:cNvSpPr/>
          <p:nvPr/>
        </p:nvSpPr>
        <p:spPr>
          <a:xfrm>
            <a:off x="6399932" y="3796665"/>
            <a:ext cx="629920" cy="335280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R(0)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3" name="Google Shape;233;p44"/>
          <p:cNvCxnSpPr>
            <a:stCxn id="206" idx="2"/>
            <a:endCxn id="232" idx="0"/>
          </p:cNvCxnSpPr>
          <p:nvPr/>
        </p:nvCxnSpPr>
        <p:spPr>
          <a:xfrm>
            <a:off x="6714892" y="3014405"/>
            <a:ext cx="0" cy="78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34" name="Google Shape;234;p44"/>
          <p:cNvSpPr txBox="1"/>
          <p:nvPr/>
        </p:nvSpPr>
        <p:spPr>
          <a:xfrm>
            <a:off x="6175314" y="2384268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44"/>
          <p:cNvSpPr txBox="1"/>
          <p:nvPr/>
        </p:nvSpPr>
        <p:spPr>
          <a:xfrm>
            <a:off x="4844354" y="2376012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44"/>
          <p:cNvSpPr txBox="1"/>
          <p:nvPr/>
        </p:nvSpPr>
        <p:spPr>
          <a:xfrm>
            <a:off x="3894968" y="2290673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44"/>
          <p:cNvSpPr txBox="1"/>
          <p:nvPr/>
        </p:nvSpPr>
        <p:spPr>
          <a:xfrm>
            <a:off x="1220757" y="345504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44"/>
          <p:cNvSpPr txBox="1"/>
          <p:nvPr/>
        </p:nvSpPr>
        <p:spPr>
          <a:xfrm>
            <a:off x="2727960" y="3344748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44"/>
          <p:cNvSpPr txBox="1"/>
          <p:nvPr/>
        </p:nvSpPr>
        <p:spPr>
          <a:xfrm>
            <a:off x="3944735" y="3329311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44"/>
          <p:cNvSpPr txBox="1"/>
          <p:nvPr/>
        </p:nvSpPr>
        <p:spPr>
          <a:xfrm>
            <a:off x="4600758" y="3329173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44"/>
          <p:cNvSpPr txBox="1"/>
          <p:nvPr/>
        </p:nvSpPr>
        <p:spPr>
          <a:xfrm>
            <a:off x="5353910" y="3227131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44"/>
          <p:cNvSpPr txBox="1"/>
          <p:nvPr/>
        </p:nvSpPr>
        <p:spPr>
          <a:xfrm>
            <a:off x="6703265" y="3309262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44"/>
          <p:cNvSpPr txBox="1"/>
          <p:nvPr/>
        </p:nvSpPr>
        <p:spPr>
          <a:xfrm>
            <a:off x="854014" y="4287454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44"/>
          <p:cNvSpPr txBox="1"/>
          <p:nvPr/>
        </p:nvSpPr>
        <p:spPr>
          <a:xfrm>
            <a:off x="1737360" y="4330114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44"/>
          <p:cNvSpPr txBox="1"/>
          <p:nvPr/>
        </p:nvSpPr>
        <p:spPr>
          <a:xfrm>
            <a:off x="2741643" y="4204782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44"/>
          <p:cNvSpPr txBox="1"/>
          <p:nvPr/>
        </p:nvSpPr>
        <p:spPr>
          <a:xfrm>
            <a:off x="4844354" y="4330114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44"/>
          <p:cNvSpPr txBox="1"/>
          <p:nvPr/>
        </p:nvSpPr>
        <p:spPr>
          <a:xfrm>
            <a:off x="1056640" y="524201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44"/>
          <p:cNvSpPr txBox="1"/>
          <p:nvPr/>
        </p:nvSpPr>
        <p:spPr>
          <a:xfrm>
            <a:off x="7252274" y="216788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44"/>
          <p:cNvSpPr txBox="1"/>
          <p:nvPr/>
        </p:nvSpPr>
        <p:spPr>
          <a:xfrm>
            <a:off x="7757572" y="3094656"/>
            <a:ext cx="30168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44"/>
          <p:cNvSpPr txBox="1"/>
          <p:nvPr/>
        </p:nvSpPr>
        <p:spPr>
          <a:xfrm>
            <a:off x="6540605" y="4143678"/>
            <a:ext cx="30168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44"/>
          <p:cNvSpPr txBox="1"/>
          <p:nvPr/>
        </p:nvSpPr>
        <p:spPr>
          <a:xfrm>
            <a:off x="5494492" y="4204960"/>
            <a:ext cx="30168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44"/>
          <p:cNvSpPr txBox="1"/>
          <p:nvPr/>
        </p:nvSpPr>
        <p:spPr>
          <a:xfrm>
            <a:off x="4633536" y="5057350"/>
            <a:ext cx="30168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44"/>
          <p:cNvSpPr txBox="1"/>
          <p:nvPr/>
        </p:nvSpPr>
        <p:spPr>
          <a:xfrm>
            <a:off x="2634964" y="5057350"/>
            <a:ext cx="30168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44"/>
          <p:cNvSpPr txBox="1"/>
          <p:nvPr/>
        </p:nvSpPr>
        <p:spPr>
          <a:xfrm>
            <a:off x="1696960" y="5023298"/>
            <a:ext cx="30168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44"/>
          <p:cNvSpPr txBox="1"/>
          <p:nvPr/>
        </p:nvSpPr>
        <p:spPr>
          <a:xfrm>
            <a:off x="924186" y="6019302"/>
            <a:ext cx="30168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44"/>
          <p:cNvSpPr txBox="1"/>
          <p:nvPr/>
        </p:nvSpPr>
        <p:spPr>
          <a:xfrm>
            <a:off x="736481" y="5216382"/>
            <a:ext cx="30168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44"/>
          <p:cNvSpPr txBox="1"/>
          <p:nvPr/>
        </p:nvSpPr>
        <p:spPr>
          <a:xfrm>
            <a:off x="647203" y="4316783"/>
            <a:ext cx="30168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44"/>
          <p:cNvSpPr txBox="1"/>
          <p:nvPr/>
        </p:nvSpPr>
        <p:spPr>
          <a:xfrm>
            <a:off x="1940153" y="4347140"/>
            <a:ext cx="30168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44"/>
          <p:cNvSpPr txBox="1"/>
          <p:nvPr/>
        </p:nvSpPr>
        <p:spPr>
          <a:xfrm>
            <a:off x="1491556" y="3472912"/>
            <a:ext cx="30168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44"/>
          <p:cNvSpPr txBox="1"/>
          <p:nvPr/>
        </p:nvSpPr>
        <p:spPr>
          <a:xfrm>
            <a:off x="2995053" y="4264906"/>
            <a:ext cx="30168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44"/>
          <p:cNvSpPr txBox="1"/>
          <p:nvPr/>
        </p:nvSpPr>
        <p:spPr>
          <a:xfrm>
            <a:off x="3115899" y="3418726"/>
            <a:ext cx="30168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44"/>
          <p:cNvSpPr txBox="1"/>
          <p:nvPr/>
        </p:nvSpPr>
        <p:spPr>
          <a:xfrm>
            <a:off x="3878746" y="4214065"/>
            <a:ext cx="30168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44"/>
          <p:cNvSpPr txBox="1"/>
          <p:nvPr/>
        </p:nvSpPr>
        <p:spPr>
          <a:xfrm>
            <a:off x="3633785" y="3344748"/>
            <a:ext cx="30168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44"/>
          <p:cNvSpPr txBox="1"/>
          <p:nvPr/>
        </p:nvSpPr>
        <p:spPr>
          <a:xfrm>
            <a:off x="3612748" y="2270025"/>
            <a:ext cx="30168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44"/>
          <p:cNvSpPr txBox="1"/>
          <p:nvPr/>
        </p:nvSpPr>
        <p:spPr>
          <a:xfrm>
            <a:off x="4486788" y="4280064"/>
            <a:ext cx="30168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44"/>
          <p:cNvSpPr txBox="1"/>
          <p:nvPr/>
        </p:nvSpPr>
        <p:spPr>
          <a:xfrm>
            <a:off x="4437956" y="3352164"/>
            <a:ext cx="30168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44"/>
          <p:cNvSpPr txBox="1"/>
          <p:nvPr/>
        </p:nvSpPr>
        <p:spPr>
          <a:xfrm>
            <a:off x="5626125" y="3339698"/>
            <a:ext cx="30168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44"/>
          <p:cNvSpPr txBox="1"/>
          <p:nvPr/>
        </p:nvSpPr>
        <p:spPr>
          <a:xfrm>
            <a:off x="5327937" y="2380140"/>
            <a:ext cx="30168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44"/>
          <p:cNvSpPr txBox="1"/>
          <p:nvPr/>
        </p:nvSpPr>
        <p:spPr>
          <a:xfrm>
            <a:off x="6298306" y="3351194"/>
            <a:ext cx="30168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44"/>
          <p:cNvSpPr txBox="1"/>
          <p:nvPr/>
        </p:nvSpPr>
        <p:spPr>
          <a:xfrm>
            <a:off x="6592858" y="2342336"/>
            <a:ext cx="30168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44"/>
          <p:cNvSpPr txBox="1"/>
          <p:nvPr/>
        </p:nvSpPr>
        <p:spPr>
          <a:xfrm>
            <a:off x="7482840" y="2100700"/>
            <a:ext cx="30168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44"/>
          <p:cNvSpPr txBox="1"/>
          <p:nvPr/>
        </p:nvSpPr>
        <p:spPr>
          <a:xfrm>
            <a:off x="6068928" y="1385572"/>
            <a:ext cx="64596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Write down the recursive pseudocode</a:t>
            </a:r>
            <a:endParaRPr/>
          </a:p>
        </p:txBody>
      </p:sp>
      <p:sp>
        <p:nvSpPr>
          <p:cNvPr id="278" name="Google Shape;278;p45"/>
          <p:cNvSpPr txBox="1"/>
          <p:nvPr>
            <p:ph idx="1" type="body"/>
          </p:nvPr>
        </p:nvSpPr>
        <p:spPr>
          <a:xfrm>
            <a:off x="838200" y="1825625"/>
            <a:ext cx="5851849" cy="4351338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 u="sng"/>
              <a:t>CUTROD (n)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/>
              <a:t>if n==0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/>
              <a:t>     return 0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/>
              <a:t>q = - inf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/>
              <a:t>for  i = 1 to n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/>
              <a:t>     q = max (q, p[i]+CUTROD(p,n-i))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/>
              <a:t>return q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Top Down Approach – can you use memoization here?</a:t>
            </a:r>
            <a:endParaRPr/>
          </a:p>
        </p:txBody>
      </p:sp>
      <p:sp>
        <p:nvSpPr>
          <p:cNvPr id="284" name="Google Shape;284;p46"/>
          <p:cNvSpPr txBox="1"/>
          <p:nvPr>
            <p:ph idx="1" type="body"/>
          </p:nvPr>
        </p:nvSpPr>
        <p:spPr>
          <a:xfrm>
            <a:off x="838200" y="1825625"/>
            <a:ext cx="5851849" cy="4351338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 u="sng"/>
              <a:t>CUTROD (n)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/>
              <a:t>if n==0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/>
              <a:t>     return 0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/>
              <a:t>if memo[n]!=-1 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/>
              <a:t>     return memo[n]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/>
              <a:t>q = - inf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/>
              <a:t>for  i = 1 to n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/>
              <a:t>     q = max (q, p[i]+CUTROD(p,n-i))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/>
              <a:t>memo[n]=q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/>
              <a:t>return q</a:t>
            </a:r>
            <a:endParaRPr/>
          </a:p>
        </p:txBody>
      </p:sp>
      <p:graphicFrame>
        <p:nvGraphicFramePr>
          <p:cNvPr id="285" name="Google Shape;285;p46"/>
          <p:cNvGraphicFramePr/>
          <p:nvPr/>
        </p:nvGraphicFramePr>
        <p:xfrm>
          <a:off x="6857689" y="28092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{EB62C9C5-E08F-442B-B41F-21A5E07FCD21}</a:tableStyleId>
              </a:tblPr>
              <a:tblGrid>
                <a:gridCol w="520400"/>
                <a:gridCol w="520400"/>
                <a:gridCol w="520400"/>
                <a:gridCol w="520400"/>
                <a:gridCol w="520400"/>
                <a:gridCol w="520400"/>
                <a:gridCol w="520400"/>
                <a:gridCol w="520400"/>
                <a:gridCol w="520400"/>
                <a:gridCol w="5204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9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Bottom Up Approach</a:t>
            </a:r>
            <a:endParaRPr/>
          </a:p>
        </p:txBody>
      </p:sp>
      <p:graphicFrame>
        <p:nvGraphicFramePr>
          <p:cNvPr id="291" name="Google Shape;291;p47"/>
          <p:cNvGraphicFramePr/>
          <p:nvPr/>
        </p:nvGraphicFramePr>
        <p:xfrm>
          <a:off x="3493970" y="22148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{EB62C9C5-E08F-442B-B41F-21A5E07FCD21}</a:tableStyleId>
              </a:tblPr>
              <a:tblGrid>
                <a:gridCol w="520400"/>
                <a:gridCol w="520400"/>
                <a:gridCol w="520400"/>
                <a:gridCol w="520400"/>
                <a:gridCol w="520400"/>
                <a:gridCol w="520400"/>
                <a:gridCol w="520400"/>
                <a:gridCol w="520400"/>
                <a:gridCol w="520400"/>
                <a:gridCol w="5204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9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292" name="Google Shape;292;p47"/>
          <p:cNvSpPr/>
          <p:nvPr/>
        </p:nvSpPr>
        <p:spPr>
          <a:xfrm>
            <a:off x="5739330" y="3733801"/>
            <a:ext cx="629920" cy="335280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R(4)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47"/>
          <p:cNvSpPr/>
          <p:nvPr/>
        </p:nvSpPr>
        <p:spPr>
          <a:xfrm>
            <a:off x="7557970" y="4769169"/>
            <a:ext cx="599440" cy="335280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R(0)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4" name="Google Shape;294;p47"/>
          <p:cNvCxnSpPr>
            <a:stCxn id="292" idx="2"/>
            <a:endCxn id="293" idx="0"/>
          </p:cNvCxnSpPr>
          <p:nvPr/>
        </p:nvCxnSpPr>
        <p:spPr>
          <a:xfrm>
            <a:off x="6054290" y="4069081"/>
            <a:ext cx="1803300" cy="700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95" name="Google Shape;295;p47"/>
          <p:cNvSpPr/>
          <p:nvPr/>
        </p:nvSpPr>
        <p:spPr>
          <a:xfrm>
            <a:off x="6358222" y="4722238"/>
            <a:ext cx="629920" cy="335280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R(1)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6" name="Google Shape;296;p47"/>
          <p:cNvCxnSpPr>
            <a:stCxn id="292" idx="2"/>
            <a:endCxn id="295" idx="0"/>
          </p:cNvCxnSpPr>
          <p:nvPr/>
        </p:nvCxnSpPr>
        <p:spPr>
          <a:xfrm>
            <a:off x="6054290" y="4069081"/>
            <a:ext cx="618900" cy="653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97" name="Google Shape;297;p47"/>
          <p:cNvSpPr/>
          <p:nvPr/>
        </p:nvSpPr>
        <p:spPr>
          <a:xfrm>
            <a:off x="4662370" y="4777425"/>
            <a:ext cx="629920" cy="335280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R(2)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47"/>
          <p:cNvSpPr/>
          <p:nvPr/>
        </p:nvSpPr>
        <p:spPr>
          <a:xfrm>
            <a:off x="3493970" y="4785681"/>
            <a:ext cx="629920" cy="335280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R(3)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9" name="Google Shape;299;p47"/>
          <p:cNvCxnSpPr>
            <a:stCxn id="292" idx="2"/>
            <a:endCxn id="297" idx="0"/>
          </p:cNvCxnSpPr>
          <p:nvPr/>
        </p:nvCxnSpPr>
        <p:spPr>
          <a:xfrm flipH="1">
            <a:off x="4977290" y="4069081"/>
            <a:ext cx="1077000" cy="708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00" name="Google Shape;300;p47"/>
          <p:cNvCxnSpPr>
            <a:stCxn id="292" idx="2"/>
            <a:endCxn id="298" idx="0"/>
          </p:cNvCxnSpPr>
          <p:nvPr/>
        </p:nvCxnSpPr>
        <p:spPr>
          <a:xfrm flipH="1">
            <a:off x="3808790" y="4069081"/>
            <a:ext cx="2245500" cy="716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01" name="Google Shape;301;p47"/>
          <p:cNvSpPr txBox="1"/>
          <p:nvPr/>
        </p:nvSpPr>
        <p:spPr>
          <a:xfrm>
            <a:off x="6133604" y="4427381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47"/>
          <p:cNvSpPr txBox="1"/>
          <p:nvPr/>
        </p:nvSpPr>
        <p:spPr>
          <a:xfrm>
            <a:off x="4802644" y="4419125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47"/>
          <p:cNvSpPr txBox="1"/>
          <p:nvPr/>
        </p:nvSpPr>
        <p:spPr>
          <a:xfrm>
            <a:off x="3853258" y="433378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47"/>
          <p:cNvSpPr txBox="1"/>
          <p:nvPr/>
        </p:nvSpPr>
        <p:spPr>
          <a:xfrm>
            <a:off x="7210564" y="4210993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47"/>
          <p:cNvSpPr/>
          <p:nvPr/>
        </p:nvSpPr>
        <p:spPr>
          <a:xfrm>
            <a:off x="3493970" y="1690688"/>
            <a:ext cx="5204060" cy="515936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47"/>
          <p:cNvSpPr/>
          <p:nvPr/>
        </p:nvSpPr>
        <p:spPr>
          <a:xfrm>
            <a:off x="3432048" y="2471329"/>
            <a:ext cx="563450" cy="567794"/>
          </a:xfrm>
          <a:prstGeom prst="ellipse">
            <a:avLst/>
          </a:prstGeom>
          <a:noFill/>
          <a:ln cap="flat" cmpd="sng" w="762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47"/>
          <p:cNvSpPr/>
          <p:nvPr/>
        </p:nvSpPr>
        <p:spPr>
          <a:xfrm>
            <a:off x="3938016" y="2478987"/>
            <a:ext cx="563450" cy="567794"/>
          </a:xfrm>
          <a:prstGeom prst="ellipse">
            <a:avLst/>
          </a:prstGeom>
          <a:noFill/>
          <a:ln cap="flat" cmpd="sng" w="762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47"/>
          <p:cNvSpPr/>
          <p:nvPr/>
        </p:nvSpPr>
        <p:spPr>
          <a:xfrm>
            <a:off x="4501466" y="2471329"/>
            <a:ext cx="563450" cy="567794"/>
          </a:xfrm>
          <a:prstGeom prst="ellipse">
            <a:avLst/>
          </a:prstGeom>
          <a:noFill/>
          <a:ln cap="flat" cmpd="sng" w="762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47"/>
          <p:cNvSpPr/>
          <p:nvPr/>
        </p:nvSpPr>
        <p:spPr>
          <a:xfrm>
            <a:off x="5064916" y="2463671"/>
            <a:ext cx="563450" cy="567794"/>
          </a:xfrm>
          <a:prstGeom prst="ellipse">
            <a:avLst/>
          </a:prstGeom>
          <a:noFill/>
          <a:ln cap="flat" cmpd="sng" w="762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47"/>
          <p:cNvSpPr/>
          <p:nvPr/>
        </p:nvSpPr>
        <p:spPr>
          <a:xfrm>
            <a:off x="5628366" y="2456013"/>
            <a:ext cx="563450" cy="567794"/>
          </a:xfrm>
          <a:prstGeom prst="ellipse">
            <a:avLst/>
          </a:prstGeom>
          <a:noFill/>
          <a:ln cap="flat" cmpd="sng" w="762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47"/>
          <p:cNvSpPr/>
          <p:nvPr/>
        </p:nvSpPr>
        <p:spPr>
          <a:xfrm>
            <a:off x="6106254" y="2454913"/>
            <a:ext cx="563450" cy="567794"/>
          </a:xfrm>
          <a:prstGeom prst="ellipse">
            <a:avLst/>
          </a:prstGeom>
          <a:noFill/>
          <a:ln cap="flat" cmpd="sng" w="762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47"/>
          <p:cNvSpPr/>
          <p:nvPr/>
        </p:nvSpPr>
        <p:spPr>
          <a:xfrm>
            <a:off x="6584142" y="2453813"/>
            <a:ext cx="563450" cy="567794"/>
          </a:xfrm>
          <a:prstGeom prst="ellipse">
            <a:avLst/>
          </a:prstGeom>
          <a:noFill/>
          <a:ln cap="flat" cmpd="sng" w="762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47"/>
          <p:cNvSpPr/>
          <p:nvPr/>
        </p:nvSpPr>
        <p:spPr>
          <a:xfrm>
            <a:off x="7062030" y="2452713"/>
            <a:ext cx="563450" cy="567794"/>
          </a:xfrm>
          <a:prstGeom prst="ellipse">
            <a:avLst/>
          </a:prstGeom>
          <a:noFill/>
          <a:ln cap="flat" cmpd="sng" w="762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47"/>
          <p:cNvSpPr/>
          <p:nvPr/>
        </p:nvSpPr>
        <p:spPr>
          <a:xfrm>
            <a:off x="7539918" y="2451613"/>
            <a:ext cx="563450" cy="567794"/>
          </a:xfrm>
          <a:prstGeom prst="ellipse">
            <a:avLst/>
          </a:prstGeom>
          <a:noFill/>
          <a:ln cap="flat" cmpd="sng" w="762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47"/>
          <p:cNvSpPr/>
          <p:nvPr/>
        </p:nvSpPr>
        <p:spPr>
          <a:xfrm>
            <a:off x="8017806" y="2450513"/>
            <a:ext cx="563450" cy="567794"/>
          </a:xfrm>
          <a:prstGeom prst="ellipse">
            <a:avLst/>
          </a:prstGeom>
          <a:noFill/>
          <a:ln cap="flat" cmpd="sng" w="762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47"/>
          <p:cNvSpPr/>
          <p:nvPr/>
        </p:nvSpPr>
        <p:spPr>
          <a:xfrm>
            <a:off x="8757128" y="1032506"/>
            <a:ext cx="3366452" cy="501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Make several recursive calls (memoized)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r(1)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r(2)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r(3)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r(4)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r(5)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r(6)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r(7)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r(8)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r(9)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r(10)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Bottom Up Approach</a:t>
            </a:r>
            <a:endParaRPr/>
          </a:p>
        </p:txBody>
      </p:sp>
      <p:graphicFrame>
        <p:nvGraphicFramePr>
          <p:cNvPr id="322" name="Google Shape;322;p48"/>
          <p:cNvGraphicFramePr/>
          <p:nvPr/>
        </p:nvGraphicFramePr>
        <p:xfrm>
          <a:off x="3493970" y="22148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{EB62C9C5-E08F-442B-B41F-21A5E07FCD21}</a:tableStyleId>
              </a:tblPr>
              <a:tblGrid>
                <a:gridCol w="520400"/>
                <a:gridCol w="520400"/>
                <a:gridCol w="520400"/>
                <a:gridCol w="520400"/>
                <a:gridCol w="520400"/>
                <a:gridCol w="520400"/>
                <a:gridCol w="520400"/>
                <a:gridCol w="520400"/>
                <a:gridCol w="520400"/>
                <a:gridCol w="5204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9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323" name="Google Shape;323;p48"/>
          <p:cNvSpPr/>
          <p:nvPr/>
        </p:nvSpPr>
        <p:spPr>
          <a:xfrm>
            <a:off x="5739330" y="3733801"/>
            <a:ext cx="629920" cy="335280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R(4)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48"/>
          <p:cNvSpPr/>
          <p:nvPr/>
        </p:nvSpPr>
        <p:spPr>
          <a:xfrm>
            <a:off x="7557970" y="4769169"/>
            <a:ext cx="599440" cy="335280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R(0)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5" name="Google Shape;325;p48"/>
          <p:cNvCxnSpPr>
            <a:stCxn id="323" idx="2"/>
            <a:endCxn id="324" idx="0"/>
          </p:cNvCxnSpPr>
          <p:nvPr/>
        </p:nvCxnSpPr>
        <p:spPr>
          <a:xfrm>
            <a:off x="6054290" y="4069081"/>
            <a:ext cx="1803300" cy="700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26" name="Google Shape;326;p48"/>
          <p:cNvSpPr/>
          <p:nvPr/>
        </p:nvSpPr>
        <p:spPr>
          <a:xfrm>
            <a:off x="6358222" y="4722238"/>
            <a:ext cx="629920" cy="335280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R(1)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7" name="Google Shape;327;p48"/>
          <p:cNvCxnSpPr>
            <a:stCxn id="323" idx="2"/>
            <a:endCxn id="326" idx="0"/>
          </p:cNvCxnSpPr>
          <p:nvPr/>
        </p:nvCxnSpPr>
        <p:spPr>
          <a:xfrm>
            <a:off x="6054290" y="4069081"/>
            <a:ext cx="618900" cy="653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28" name="Google Shape;328;p48"/>
          <p:cNvSpPr/>
          <p:nvPr/>
        </p:nvSpPr>
        <p:spPr>
          <a:xfrm>
            <a:off x="4662370" y="4777425"/>
            <a:ext cx="629920" cy="335280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R(2)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48"/>
          <p:cNvSpPr/>
          <p:nvPr/>
        </p:nvSpPr>
        <p:spPr>
          <a:xfrm>
            <a:off x="3493970" y="4785681"/>
            <a:ext cx="629920" cy="335280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R(3)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0" name="Google Shape;330;p48"/>
          <p:cNvCxnSpPr>
            <a:stCxn id="323" idx="2"/>
            <a:endCxn id="328" idx="0"/>
          </p:cNvCxnSpPr>
          <p:nvPr/>
        </p:nvCxnSpPr>
        <p:spPr>
          <a:xfrm flipH="1">
            <a:off x="4977290" y="4069081"/>
            <a:ext cx="1077000" cy="708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31" name="Google Shape;331;p48"/>
          <p:cNvCxnSpPr>
            <a:stCxn id="323" idx="2"/>
            <a:endCxn id="329" idx="0"/>
          </p:cNvCxnSpPr>
          <p:nvPr/>
        </p:nvCxnSpPr>
        <p:spPr>
          <a:xfrm flipH="1">
            <a:off x="3808790" y="4069081"/>
            <a:ext cx="2245500" cy="716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32" name="Google Shape;332;p48"/>
          <p:cNvSpPr txBox="1"/>
          <p:nvPr/>
        </p:nvSpPr>
        <p:spPr>
          <a:xfrm>
            <a:off x="6133604" y="4427381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48"/>
          <p:cNvSpPr txBox="1"/>
          <p:nvPr/>
        </p:nvSpPr>
        <p:spPr>
          <a:xfrm>
            <a:off x="4802644" y="4419125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48"/>
          <p:cNvSpPr txBox="1"/>
          <p:nvPr/>
        </p:nvSpPr>
        <p:spPr>
          <a:xfrm>
            <a:off x="3853258" y="433378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48"/>
          <p:cNvSpPr txBox="1"/>
          <p:nvPr/>
        </p:nvSpPr>
        <p:spPr>
          <a:xfrm>
            <a:off x="7210564" y="4210993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48"/>
          <p:cNvSpPr/>
          <p:nvPr/>
        </p:nvSpPr>
        <p:spPr>
          <a:xfrm>
            <a:off x="3493970" y="1690688"/>
            <a:ext cx="5204060" cy="515936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48"/>
          <p:cNvSpPr/>
          <p:nvPr/>
        </p:nvSpPr>
        <p:spPr>
          <a:xfrm>
            <a:off x="3432048" y="2471329"/>
            <a:ext cx="563450" cy="567794"/>
          </a:xfrm>
          <a:prstGeom prst="ellipse">
            <a:avLst/>
          </a:prstGeom>
          <a:noFill/>
          <a:ln cap="flat" cmpd="sng" w="762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48"/>
          <p:cNvSpPr/>
          <p:nvPr/>
        </p:nvSpPr>
        <p:spPr>
          <a:xfrm>
            <a:off x="3938016" y="2478987"/>
            <a:ext cx="563450" cy="567794"/>
          </a:xfrm>
          <a:prstGeom prst="ellipse">
            <a:avLst/>
          </a:prstGeom>
          <a:noFill/>
          <a:ln cap="flat" cmpd="sng" w="762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48"/>
          <p:cNvSpPr/>
          <p:nvPr/>
        </p:nvSpPr>
        <p:spPr>
          <a:xfrm>
            <a:off x="4501466" y="2471329"/>
            <a:ext cx="563450" cy="567794"/>
          </a:xfrm>
          <a:prstGeom prst="ellipse">
            <a:avLst/>
          </a:prstGeom>
          <a:noFill/>
          <a:ln cap="flat" cmpd="sng" w="762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48"/>
          <p:cNvSpPr/>
          <p:nvPr/>
        </p:nvSpPr>
        <p:spPr>
          <a:xfrm>
            <a:off x="5064916" y="2463671"/>
            <a:ext cx="563450" cy="567794"/>
          </a:xfrm>
          <a:prstGeom prst="ellipse">
            <a:avLst/>
          </a:prstGeom>
          <a:noFill/>
          <a:ln cap="flat" cmpd="sng" w="762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48"/>
          <p:cNvSpPr/>
          <p:nvPr/>
        </p:nvSpPr>
        <p:spPr>
          <a:xfrm>
            <a:off x="5628366" y="2456013"/>
            <a:ext cx="563450" cy="567794"/>
          </a:xfrm>
          <a:prstGeom prst="ellipse">
            <a:avLst/>
          </a:prstGeom>
          <a:noFill/>
          <a:ln cap="flat" cmpd="sng" w="762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48"/>
          <p:cNvSpPr/>
          <p:nvPr/>
        </p:nvSpPr>
        <p:spPr>
          <a:xfrm>
            <a:off x="6106254" y="2454913"/>
            <a:ext cx="563450" cy="567794"/>
          </a:xfrm>
          <a:prstGeom prst="ellipse">
            <a:avLst/>
          </a:prstGeom>
          <a:noFill/>
          <a:ln cap="flat" cmpd="sng" w="762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48"/>
          <p:cNvSpPr/>
          <p:nvPr/>
        </p:nvSpPr>
        <p:spPr>
          <a:xfrm>
            <a:off x="6584142" y="2453813"/>
            <a:ext cx="563450" cy="567794"/>
          </a:xfrm>
          <a:prstGeom prst="ellipse">
            <a:avLst/>
          </a:prstGeom>
          <a:noFill/>
          <a:ln cap="flat" cmpd="sng" w="762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48"/>
          <p:cNvSpPr/>
          <p:nvPr/>
        </p:nvSpPr>
        <p:spPr>
          <a:xfrm>
            <a:off x="7062030" y="2452713"/>
            <a:ext cx="563450" cy="567794"/>
          </a:xfrm>
          <a:prstGeom prst="ellipse">
            <a:avLst/>
          </a:prstGeom>
          <a:noFill/>
          <a:ln cap="flat" cmpd="sng" w="762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48"/>
          <p:cNvSpPr/>
          <p:nvPr/>
        </p:nvSpPr>
        <p:spPr>
          <a:xfrm>
            <a:off x="7539918" y="2451613"/>
            <a:ext cx="563450" cy="567794"/>
          </a:xfrm>
          <a:prstGeom prst="ellipse">
            <a:avLst/>
          </a:prstGeom>
          <a:noFill/>
          <a:ln cap="flat" cmpd="sng" w="762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48"/>
          <p:cNvSpPr/>
          <p:nvPr/>
        </p:nvSpPr>
        <p:spPr>
          <a:xfrm>
            <a:off x="8017806" y="2450513"/>
            <a:ext cx="563450" cy="567794"/>
          </a:xfrm>
          <a:prstGeom prst="ellipse">
            <a:avLst/>
          </a:prstGeom>
          <a:noFill/>
          <a:ln cap="flat" cmpd="sng" w="762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48"/>
          <p:cNvSpPr/>
          <p:nvPr/>
        </p:nvSpPr>
        <p:spPr>
          <a:xfrm>
            <a:off x="8757128" y="1032506"/>
            <a:ext cx="3366452" cy="501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Make several recursive calls (memoized)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r(1)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r(2)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r(3)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r(4)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r(5)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r(6)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r(7)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r(8)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r(9)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r(10)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Bottom Up Approach</a:t>
            </a:r>
            <a:endParaRPr/>
          </a:p>
        </p:txBody>
      </p:sp>
      <p:pic>
        <p:nvPicPr>
          <p:cNvPr id="353" name="Google Shape;353;p49"/>
          <p:cNvPicPr preferRelativeResize="0"/>
          <p:nvPr/>
        </p:nvPicPr>
        <p:blipFill rotWithShape="1">
          <a:blip r:embed="rId3">
            <a:alphaModFix/>
          </a:blip>
          <a:srcRect b="0" l="0" r="27825" t="0"/>
          <a:stretch/>
        </p:blipFill>
        <p:spPr>
          <a:xfrm>
            <a:off x="965109" y="1514224"/>
            <a:ext cx="9101585" cy="146960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54" name="Google Shape;354;p49"/>
          <p:cNvGraphicFramePr/>
          <p:nvPr/>
        </p:nvGraphicFramePr>
        <p:xfrm>
          <a:off x="1264920" y="327508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{4FD3F081-5466-4F2A-B8A2-C23150FA547C}</a:tableStyleId>
              </a:tblPr>
              <a:tblGrid>
                <a:gridCol w="977975"/>
                <a:gridCol w="977975"/>
                <a:gridCol w="977975"/>
                <a:gridCol w="977975"/>
                <a:gridCol w="977975"/>
                <a:gridCol w="977975"/>
                <a:gridCol w="977975"/>
                <a:gridCol w="977975"/>
                <a:gridCol w="9779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i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r[i]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17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18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s[i]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355" name="Google Shape;355;p49"/>
          <p:cNvSpPr/>
          <p:nvPr/>
        </p:nvSpPr>
        <p:spPr>
          <a:xfrm>
            <a:off x="2280557" y="3732245"/>
            <a:ext cx="242596" cy="223935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49"/>
          <p:cNvSpPr/>
          <p:nvPr/>
        </p:nvSpPr>
        <p:spPr>
          <a:xfrm>
            <a:off x="2280557" y="4076567"/>
            <a:ext cx="242596" cy="223935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49"/>
          <p:cNvSpPr/>
          <p:nvPr/>
        </p:nvSpPr>
        <p:spPr>
          <a:xfrm>
            <a:off x="3346320" y="3732245"/>
            <a:ext cx="242596" cy="223935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49"/>
          <p:cNvSpPr/>
          <p:nvPr/>
        </p:nvSpPr>
        <p:spPr>
          <a:xfrm>
            <a:off x="3346320" y="4076567"/>
            <a:ext cx="242596" cy="223935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49"/>
          <p:cNvSpPr/>
          <p:nvPr/>
        </p:nvSpPr>
        <p:spPr>
          <a:xfrm>
            <a:off x="4290785" y="3732245"/>
            <a:ext cx="242596" cy="223935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49"/>
          <p:cNvSpPr/>
          <p:nvPr/>
        </p:nvSpPr>
        <p:spPr>
          <a:xfrm>
            <a:off x="4290785" y="4076567"/>
            <a:ext cx="242596" cy="223935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49"/>
          <p:cNvSpPr/>
          <p:nvPr/>
        </p:nvSpPr>
        <p:spPr>
          <a:xfrm>
            <a:off x="5235250" y="3732245"/>
            <a:ext cx="242596" cy="223935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49"/>
          <p:cNvSpPr/>
          <p:nvPr/>
        </p:nvSpPr>
        <p:spPr>
          <a:xfrm>
            <a:off x="5235250" y="4076567"/>
            <a:ext cx="242596" cy="223935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49"/>
          <p:cNvSpPr/>
          <p:nvPr/>
        </p:nvSpPr>
        <p:spPr>
          <a:xfrm>
            <a:off x="6259650" y="3732245"/>
            <a:ext cx="242596" cy="223935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49"/>
          <p:cNvSpPr/>
          <p:nvPr/>
        </p:nvSpPr>
        <p:spPr>
          <a:xfrm>
            <a:off x="6259650" y="4076567"/>
            <a:ext cx="242596" cy="223935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49"/>
          <p:cNvSpPr/>
          <p:nvPr/>
        </p:nvSpPr>
        <p:spPr>
          <a:xfrm>
            <a:off x="7206059" y="3732245"/>
            <a:ext cx="242596" cy="223935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49"/>
          <p:cNvSpPr/>
          <p:nvPr/>
        </p:nvSpPr>
        <p:spPr>
          <a:xfrm>
            <a:off x="7206059" y="4076567"/>
            <a:ext cx="242596" cy="223935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49"/>
          <p:cNvSpPr/>
          <p:nvPr/>
        </p:nvSpPr>
        <p:spPr>
          <a:xfrm>
            <a:off x="8191865" y="3732245"/>
            <a:ext cx="242596" cy="223935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49"/>
          <p:cNvSpPr/>
          <p:nvPr/>
        </p:nvSpPr>
        <p:spPr>
          <a:xfrm>
            <a:off x="8191865" y="4076567"/>
            <a:ext cx="242596" cy="223935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49"/>
          <p:cNvSpPr/>
          <p:nvPr/>
        </p:nvSpPr>
        <p:spPr>
          <a:xfrm>
            <a:off x="9177671" y="3732245"/>
            <a:ext cx="242596" cy="223935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49"/>
          <p:cNvSpPr/>
          <p:nvPr/>
        </p:nvSpPr>
        <p:spPr>
          <a:xfrm>
            <a:off x="9177671" y="4076567"/>
            <a:ext cx="242596" cy="223935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5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Bottom Up Approach</a:t>
            </a:r>
            <a:endParaRPr/>
          </a:p>
        </p:txBody>
      </p:sp>
      <p:pic>
        <p:nvPicPr>
          <p:cNvPr id="376" name="Google Shape;376;p50"/>
          <p:cNvPicPr preferRelativeResize="0"/>
          <p:nvPr/>
        </p:nvPicPr>
        <p:blipFill rotWithShape="1">
          <a:blip r:embed="rId3">
            <a:alphaModFix/>
          </a:blip>
          <a:srcRect b="0" l="0" r="27825" t="0"/>
          <a:stretch/>
        </p:blipFill>
        <p:spPr>
          <a:xfrm>
            <a:off x="965109" y="1514224"/>
            <a:ext cx="9101585" cy="146960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77" name="Google Shape;377;p50"/>
          <p:cNvGraphicFramePr/>
          <p:nvPr/>
        </p:nvGraphicFramePr>
        <p:xfrm>
          <a:off x="1264920" y="327508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{4FD3F081-5466-4F2A-B8A2-C23150FA547C}</a:tableStyleId>
              </a:tblPr>
              <a:tblGrid>
                <a:gridCol w="977975"/>
                <a:gridCol w="977975"/>
                <a:gridCol w="977975"/>
                <a:gridCol w="977975"/>
                <a:gridCol w="977975"/>
                <a:gridCol w="977975"/>
                <a:gridCol w="977975"/>
                <a:gridCol w="977975"/>
                <a:gridCol w="9779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i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r[i]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17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18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s[i]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378" name="Google Shape;378;p50"/>
          <p:cNvSpPr txBox="1"/>
          <p:nvPr/>
        </p:nvSpPr>
        <p:spPr>
          <a:xfrm>
            <a:off x="3743593" y="5178491"/>
            <a:ext cx="4704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Bottom up approach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5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Thank You</a:t>
            </a:r>
            <a:endParaRPr/>
          </a:p>
        </p:txBody>
      </p:sp>
      <p:sp>
        <p:nvSpPr>
          <p:cNvPr id="384" name="Google Shape;384;p5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2022-09-16T13:10:20Z</dcterms:created>
  <dc:creator>lenovo</dc:creator>
</cp:coreProperties>
</file>