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9" r:id="rId11"/>
    <p:sldId id="267" r:id="rId12"/>
    <p:sldId id="268" r:id="rId13"/>
    <p:sldId id="270" r:id="rId14"/>
    <p:sldId id="284" r:id="rId15"/>
    <p:sldId id="286" r:id="rId16"/>
    <p:sldId id="285" r:id="rId17"/>
    <p:sldId id="271" r:id="rId18"/>
    <p:sldId id="276" r:id="rId19"/>
    <p:sldId id="272" r:id="rId20"/>
    <p:sldId id="287" r:id="rId21"/>
    <p:sldId id="273" r:id="rId22"/>
    <p:sldId id="288" r:id="rId23"/>
    <p:sldId id="274" r:id="rId24"/>
    <p:sldId id="290" r:id="rId25"/>
    <p:sldId id="289" r:id="rId26"/>
    <p:sldId id="291" r:id="rId27"/>
    <p:sldId id="292" r:id="rId28"/>
    <p:sldId id="293" r:id="rId29"/>
    <p:sldId id="294" r:id="rId30"/>
    <p:sldId id="295" r:id="rId31"/>
    <p:sldId id="296" r:id="rId32"/>
    <p:sldId id="279" r:id="rId33"/>
    <p:sldId id="280" r:id="rId34"/>
    <p:sldId id="28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3648C0-8675-4405-B3A5-30A688549E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76BCBB-B9AF-4301-A390-7923EA1C6D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9A80-74CF-42E0-9B65-80D52A839A40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CCD58-520F-4B9B-B7EF-7B17CB77F0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17ACE8-D180-4D1B-B30F-3469B4C365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42869-3E4B-415D-9D91-60FD88ED1F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67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0A798-7C75-48B1-93BC-CFCE8A0F0834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B4236E-0CBD-4C32-993F-5813E2B5E7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6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6F9E-ED6C-6775-5443-E8381AFA0B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AD7B2-F15D-FE23-A797-416A7A176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CBAF6-F262-BE74-4454-0E41DC689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01DFA-1156-4FD4-BEAE-C287B8F74FB7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7C018-BD4A-CA11-E1C0-D6D2DC042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42067-45B2-9706-F4E4-56EF09825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09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832E-B0CD-97BF-6AFF-623507809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33020-1832-F146-001B-9571185D7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A0E4F-8F0F-C22B-E20F-DA2D68C0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92EB-0B15-4E87-9576-87BF50E052E7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18307-C620-F272-C989-428403CF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AE6F0-46BC-5F5E-0E53-3B50D8AA6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9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CD4F7-CF5E-F112-09B4-E76A9E3A0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BA4F4-A43C-FB75-BD0C-4A67380A4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D1708-98B9-CED5-B2DA-E1B422540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4C0F6-903C-48AF-B2F1-F2133A460189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51A5A-C4C1-1899-80E1-CA2A0CE3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6D3B5-90C6-7D13-5766-F9577E28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4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A32AB-3F9A-862B-2AE0-F70839FA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4C43B-1224-3E98-992F-334F75E35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8A9DC-65CF-CF25-2836-953E0583C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E9C42-FA67-B053-841A-E1508F21E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510DB-27CD-4838-9E7E-D9F6C8E82681}" type="datetime1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B12F9-1BD5-C05E-28F1-AD82448F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CD01D-0D5F-18C7-B647-411B01BB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3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B13E-D65A-D721-80C4-52F80CF3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26970-B11F-2331-60EC-9C513984C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92358-6E91-0639-6B3E-1D842A4B4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A02AE-CA66-71C1-1EC4-5143A7021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CBEC60-5078-7C14-1C47-E913EE81A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407FC0-6488-DBD9-A081-BB5F4752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E5844-4161-4BD1-BCE0-05FA0A7D2732}" type="datetime1">
              <a:rPr lang="en-US" smtClean="0"/>
              <a:t>5/31/2024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2DED3-9F64-5357-B95F-37DCCE5A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AF19BF-9227-8375-FF55-32D633213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43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22DEC-E7FA-6FDE-6531-9B6A67E0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74446-AD07-C6FA-FC62-B78065A85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16B8F-6EFE-4C96-94B8-512F51587020}" type="datetime1">
              <a:rPr lang="en-US" smtClean="0"/>
              <a:t>5/31/2024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7B9E9-515E-4545-0DB9-6960A125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2CDA9D-A7B5-D4B9-5CD2-145D4ADF8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6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BB4346-9B5E-5DC7-55DC-F0121E51D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5FC6A-C863-4FB6-8F45-FFE05F93187B}" type="datetime1">
              <a:rPr lang="en-US" smtClean="0"/>
              <a:t>5/31/2024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0CDD33-2FB0-B090-AF08-CDA78D7B7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2C2FB-BA67-F4C0-7D97-57181E90E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9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B11AA-8ECB-B07D-C5C2-8E5FA6916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7AE70-4FCE-EA28-2A1E-39CF76288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8701D-EC31-0540-5991-C36AC5D7B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B1F786-1DD8-AD7E-4BBC-17B14B16A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4F46-77DE-4832-9032-516400D0B143}" type="datetime1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8AD98-0CF4-DD25-D717-CF6A4D3D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35264-814F-5BDF-615D-17998CBD4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0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7CFD4-C0B6-E562-45B8-AE7A092C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B1880D-A6EB-F72E-02C3-3080C2074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247A8-C6A1-7042-9C64-88211A0B6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967C7-6AE7-CFE5-6510-9EC78EB4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AC9BA-446E-40BB-8772-CB198E449443}" type="datetime1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F40E0-305A-58BD-4B5C-41E8989F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7172E-AF2B-362B-E788-D7FFAADDF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2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55A3-567E-72B1-7589-DAF604C35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ABD51-5CDE-EDC2-52EA-B27C8B82C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F2101-B38F-0C75-8FD6-9E9536796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09502-5505-4353-8CA7-542B28A2599F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9118-784B-F14F-847B-88E89897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D6CB1-9772-1727-ED9B-FE26CB6C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12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3F43FC-9AE5-5AE1-2731-9BA9F3B7A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B57B8-BC9E-E4D4-D532-F68638697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14242-970E-4C22-DCCD-7901DB642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37EA2-57FB-4E94-A81A-BDCE23BE0B10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6C890-10B4-6844-D518-BE2ACC85D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AB01B-01EA-387C-B744-6FCF308E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854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AFA292-F8DC-3710-CA11-F8482B342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C5B6DE-4497-CCD6-142F-7CBA69B77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8B15C-A230-4E68-74A0-9C0F15021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B3C39-77BA-4233-9CA3-78ED096FA4D9}" type="datetime1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42614-8CBD-F5A9-1C09-E75031898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F5433-C060-4C70-4F7F-0A76DB94F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A14BB0-6F4A-4B91-A02C-10FC9ADFD9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1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8786-1117-42DF-B297-ABACCF535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C++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A13DA-BF3C-41FF-BAFD-CCBC15BD76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DSA-II LAB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6DBAB4-4223-408F-B24B-0BEAF6A87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09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C4E9-FE4A-4E77-BE54-AA567EFB3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C++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D0540-A708-4C69-AA76-A4B9BF288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Everything you did in C can be done using C++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are using this language so that we can easily perform certain tasks (</a:t>
            </a:r>
            <a:r>
              <a:rPr lang="en-US" b="1" dirty="0" err="1"/>
              <a:t>e.g</a:t>
            </a:r>
            <a:r>
              <a:rPr lang="en-US" b="1" dirty="0"/>
              <a:t> sorting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</a:t>
            </a:r>
            <a:r>
              <a:rPr lang="en-US" b="1" dirty="0"/>
              <a:t>acquainted</a:t>
            </a:r>
            <a:r>
              <a:rPr lang="en-US" dirty="0"/>
              <a:t> with object oriented programming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flexibility in implementing certain algorithms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F1124-B7AC-4507-B865-9F018695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59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13B7-BAE0-4F0D-A5C6-B90BB7E5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learn about C++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CC008-10B9-48BB-935B-3DA5DE0EA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basic concepts that are sufficient for </a:t>
            </a:r>
            <a:r>
              <a:rPr lang="en-US" b="1" dirty="0"/>
              <a:t>implementing</a:t>
            </a:r>
            <a:r>
              <a:rPr lang="en-US" dirty="0"/>
              <a:t> the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Standard Template Library.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C89E5-288A-464C-9E65-CC068D45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2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43B8-7F7A-45B8-89E5-2F0BDA0D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Lets see the differences between a C and C++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0133A-49A1-492B-94B3-F3F2647D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Topics we will cover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namespace, </a:t>
            </a:r>
            <a:r>
              <a:rPr lang="en-US" dirty="0" err="1"/>
              <a:t>cout</a:t>
            </a:r>
            <a:r>
              <a:rPr lang="en-US" dirty="0"/>
              <a:t>, </a:t>
            </a:r>
            <a:r>
              <a:rPr lang="en-US" dirty="0" err="1"/>
              <a:t>cin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class and object (you can think of these as extended structures)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constructors and destructors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string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new and delete (similar to malloc and free)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passing objects to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Standard Template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Some OOP concepts you will learn later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BC7E3-226B-45DE-BF71-70A07414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46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0FB5-672E-47AE-90BF-DAA127A1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namespace, </a:t>
            </a:r>
            <a:r>
              <a:rPr lang="en-US" b="1" dirty="0" err="1"/>
              <a:t>cout</a:t>
            </a:r>
            <a:r>
              <a:rPr lang="en-US" b="1" dirty="0"/>
              <a:t>, </a:t>
            </a:r>
            <a:r>
              <a:rPr lang="en-US" b="1" dirty="0" err="1"/>
              <a:t>cin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A80B4-B48C-4773-BA09-A3A27066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following C++ code.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8356-270B-4CB4-83DC-82B4F2B1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EDC654-7B32-4096-AC2A-6A84C74F9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63" y="2339404"/>
            <a:ext cx="5108274" cy="382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8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B0FB5-672E-47AE-90BF-DAA127A1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namespace, </a:t>
            </a:r>
            <a:r>
              <a:rPr lang="en-US" b="1" dirty="0" err="1"/>
              <a:t>cout</a:t>
            </a:r>
            <a:r>
              <a:rPr lang="en-US" b="1" dirty="0"/>
              <a:t>, </a:t>
            </a:r>
            <a:r>
              <a:rPr lang="en-US" b="1" dirty="0" err="1"/>
              <a:t>cin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A80B4-B48C-4773-BA09-A3A27066F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b="1" dirty="0"/>
              <a:t>iostream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header file in C++ that provides functionalities for input and output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Includes definitions for standard input/output stream objects.</a:t>
            </a:r>
          </a:p>
          <a:p>
            <a:pPr marL="0" indent="0">
              <a:buNone/>
            </a:pPr>
            <a:r>
              <a:rPr lang="en-US" b="1" dirty="0"/>
              <a:t> namespace: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feature to organize code into logical groups and prevent name conflicts.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std is the standard namespace that includes C++ library features like </a:t>
            </a:r>
            <a:r>
              <a:rPr lang="en-US" dirty="0" err="1"/>
              <a:t>cin</a:t>
            </a:r>
            <a:r>
              <a:rPr lang="en-US" dirty="0"/>
              <a:t>, and </a:t>
            </a:r>
            <a:r>
              <a:rPr lang="en-US" dirty="0" err="1"/>
              <a:t>cout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/>
              <a:t>cin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object used for taking input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err="1"/>
              <a:t>cout</a:t>
            </a:r>
            <a:r>
              <a:rPr lang="en-US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object used for providing output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08356-270B-4CB4-83DC-82B4F2B1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8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80497-3A72-4D7A-BBE2-1FE0125C7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93888"/>
            <a:ext cx="10058400" cy="90497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class and object (you can think of these as extended structures)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D225E-1016-4A22-BE31-AF28218D2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Let us create an object called person.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person will have the properties 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Date of birth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Birth month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Birth year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person can say his name (we will just print it here)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person can say his dob (we will just print it here)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00A2C-74D1-4EF0-8883-50D08FB4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36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43D75-3711-4C89-A142-E82848F1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99620"/>
            <a:ext cx="10058400" cy="9332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class and object (you can think of these as extended structures)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149F-3677-4E31-9224-EB27D0CE3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C we could create structures, but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Structures only had variables in them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Structures did not include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 C++ we can also create structures as well as class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They include both variables and functions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They can also include </a:t>
            </a:r>
            <a:r>
              <a:rPr lang="en-US" dirty="0">
                <a:solidFill>
                  <a:srgbClr val="FF0000"/>
                </a:solidFill>
              </a:rPr>
              <a:t>other class objects too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D52EE-2B19-4FDF-B807-A23EB8D4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10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2A9CB-60DD-4B76-9BD3-F55F505AA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14778"/>
            <a:ext cx="10058400" cy="9615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class and object (you can think of these as extended structures)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78A61-4AB3-4265-AC8D-66F925745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4822804" cy="412019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Wait! Where is the class?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832C7-59CE-41E8-B2E0-E026349F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6D9216-671B-42C6-A3B6-7E9309B99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46245"/>
            <a:ext cx="4959012" cy="492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05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8B80B-B03F-46AA-9B77-E5422075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325380"/>
          </a:xfrm>
        </p:spPr>
        <p:txBody>
          <a:bodyPr>
            <a:normAutofit/>
          </a:bodyPr>
          <a:lstStyle/>
          <a:p>
            <a:r>
              <a:rPr lang="en-US" b="1" dirty="0"/>
              <a:t>class and object (you can think of these as extended structures)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7070-EC94-4E5B-BF69-6B0A47615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Let us use a class now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does it mean by public?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does it mean by private?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does it mean by protected?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C3210-46A6-4BA1-9276-929DCAAD5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42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5AC2E-5121-4446-99EA-2694E36A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 and Destructor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80675-A706-4C0C-AA0D-2E7F732AB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4822804" cy="4120192"/>
          </a:xfrm>
        </p:spPr>
        <p:txBody>
          <a:bodyPr/>
          <a:lstStyle/>
          <a:p>
            <a:r>
              <a:rPr lang="en-US" dirty="0"/>
              <a:t>Constructors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Called when an object is created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for initialization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default constructor must be there</a:t>
            </a:r>
          </a:p>
          <a:p>
            <a:pPr marL="0">
              <a:buNone/>
            </a:pPr>
            <a:r>
              <a:rPr lang="en-US" dirty="0"/>
              <a:t> Destructor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Called when the object is destroyed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i.e</a:t>
            </a:r>
            <a:r>
              <a:rPr lang="en-US" dirty="0"/>
              <a:t> when the memory is freed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6A64C-57DC-46B4-90C4-3A87484D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8140C7-02DF-45FA-A8B7-D48988D7F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475" y="1920961"/>
            <a:ext cx="4251008" cy="436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77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E43B8-7F7A-45B8-89E5-2F0BDA0D9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Lets see the differences between a C and C++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0133A-49A1-492B-94B3-F3F2647D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u="sng" dirty="0"/>
              <a:t>Topics we will cover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namespace, </a:t>
            </a:r>
            <a:r>
              <a:rPr lang="en-US" b="1" dirty="0" err="1"/>
              <a:t>cout</a:t>
            </a:r>
            <a:r>
              <a:rPr lang="en-US" b="1" dirty="0"/>
              <a:t>, </a:t>
            </a:r>
            <a:r>
              <a:rPr lang="en-US" b="1" dirty="0" err="1"/>
              <a:t>cin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class and object (you can think of these as extended structures)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constructors and destructors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string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new and delete (similar to malloc and free)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passing objects to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Standard Template Library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Some OOP concepts you will learn later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BC7E3-226B-45DE-BF71-70A07414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6CEE-F9F6-438F-86AC-B4C29FF4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 class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1F0CD-A9BA-404D-B8CE-0D9BE8DB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0F32FF-ECF5-4B5C-8D66-758D90A3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87" y="2261451"/>
            <a:ext cx="9115425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5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F33B-A0E3-2DFC-F9D0-68135012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FUNCTIONS in C++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47B1130-5E08-6B6A-F50E-4584CAAD4C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14" y="1690688"/>
            <a:ext cx="7393451" cy="431822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F0D8-9742-460D-419A-CCF68C61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A7BB79-2FE1-8CE9-CCB2-FF0EFE875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39077A8-44E3-0902-E0D6-E232FFBF6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C92FB6-1082-D6DE-AF25-AC9BE210B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F1A6C2-6BD6-679F-7C3D-722DE783E13F}"/>
              </a:ext>
            </a:extLst>
          </p:cNvPr>
          <p:cNvSpPr/>
          <p:nvPr/>
        </p:nvSpPr>
        <p:spPr>
          <a:xfrm>
            <a:off x="3676261" y="4683967"/>
            <a:ext cx="195943" cy="23326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35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F33B-A0E3-2DFC-F9D0-68135012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FUNCTIONS in C++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F0D8-9742-460D-419A-CCF68C61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A7BB79-2FE1-8CE9-CCB2-FF0EFE875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39077A8-44E3-0902-E0D6-E232FFBF6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C92FB6-1082-D6DE-AF25-AC9BE210B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CA2681D8-64BB-72AB-8A04-64BDAFACBD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94" y="1931437"/>
            <a:ext cx="8889548" cy="3750906"/>
          </a:xfrm>
        </p:spPr>
      </p:pic>
    </p:spTree>
    <p:extLst>
      <p:ext uri="{BB962C8B-B14F-4D97-AF65-F5344CB8AC3E}">
        <p14:creationId xmlns:p14="http://schemas.microsoft.com/office/powerpoint/2010/main" val="3650726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F33B-A0E3-2DFC-F9D0-681350125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FUNCTIONS in C++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3F0D8-9742-460D-419A-CCF68C61E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A7BB79-2FE1-8CE9-CCB2-FF0EFE875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39077A8-44E3-0902-E0D6-E232FFBF6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3C92FB6-1082-D6DE-AF25-AC9BE210B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6290242-EC1A-51CD-7887-AC02A1F76B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86" y="1404397"/>
            <a:ext cx="7716075" cy="5131917"/>
          </a:xfrm>
        </p:spPr>
      </p:pic>
    </p:spTree>
    <p:extLst>
      <p:ext uri="{BB962C8B-B14F-4D97-AF65-F5344CB8AC3E}">
        <p14:creationId xmlns:p14="http://schemas.microsoft.com/office/powerpoint/2010/main" val="1674864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00E5-672A-4B6D-A49F-FD213D9A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4B07C-B228-4B18-B026-45546C73E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4002621" cy="412019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At first let us use it for primitive data types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Array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E8409-B998-4DB1-BAF3-D7040102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10D92A-B668-42FA-AF15-3591E391F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662" y="1059040"/>
            <a:ext cx="56292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07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B00E5-672A-4B6D-A49F-FD213D9A0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and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4B07C-B228-4B18-B026-45546C73E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4002621" cy="412019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Now let us use it for objects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object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Array of objects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E8409-B998-4DB1-BAF3-D70401021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E6982F-C380-4AEF-ABE6-80B0F19F2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445" y="1618248"/>
            <a:ext cx="645795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52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28A3-89A8-4E2A-AB40-D7ADC484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Objects to Functions – by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CEC8-B611-4AC5-A949-C49F7BCD9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3917780" cy="412019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copy of the object is made here</a:t>
            </a:r>
          </a:p>
          <a:p>
            <a:r>
              <a:rPr lang="en-US" dirty="0"/>
              <a:t>No changes will be made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83005-CD35-4FCD-8CBF-0F651837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19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91A4FE-1EBB-409B-9F6F-5981FFDAF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2962" y="1522997"/>
            <a:ext cx="6117995" cy="457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39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28A3-89A8-4E2A-AB40-D7ADC484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5CEC8-B611-4AC5-A949-C49F7BCD9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3917780" cy="412019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Reference of the variable is passed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83005-CD35-4FCD-8CBF-0F651837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20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FC5307-1C51-2AD0-A947-D331630EC189}"/>
              </a:ext>
            </a:extLst>
          </p:cNvPr>
          <p:cNvGrpSpPr/>
          <p:nvPr/>
        </p:nvGrpSpPr>
        <p:grpSpPr>
          <a:xfrm>
            <a:off x="5381506" y="1690688"/>
            <a:ext cx="5972294" cy="4190643"/>
            <a:chOff x="5381506" y="1690688"/>
            <a:chExt cx="5972294" cy="419064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BDF3768-DB2B-E848-5B7E-B9C7BB06AA06}"/>
                </a:ext>
              </a:extLst>
            </p:cNvPr>
            <p:cNvGrpSpPr/>
            <p:nvPr/>
          </p:nvGrpSpPr>
          <p:grpSpPr>
            <a:xfrm>
              <a:off x="5381506" y="1690688"/>
              <a:ext cx="5972294" cy="4190643"/>
              <a:chOff x="5381506" y="1690688"/>
              <a:chExt cx="5972294" cy="4190643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CB00B45-A0E1-3285-76E0-CBEB9F3B9D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81506" y="1690688"/>
                <a:ext cx="5972294" cy="4190643"/>
              </a:xfrm>
              <a:prstGeom prst="rect">
                <a:avLst/>
              </a:prstGeom>
            </p:spPr>
          </p:pic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54A690F-E686-F1C7-3E73-DAF0E88AEFB5}"/>
                  </a:ext>
                </a:extLst>
              </p:cNvPr>
              <p:cNvSpPr/>
              <p:nvPr/>
            </p:nvSpPr>
            <p:spPr>
              <a:xfrm>
                <a:off x="7221894" y="2351314"/>
                <a:ext cx="1129004" cy="410547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AEF96EE-C94F-EA4A-B3F9-A544D0FFA59C}"/>
                </a:ext>
              </a:extLst>
            </p:cNvPr>
            <p:cNvSpPr/>
            <p:nvPr/>
          </p:nvSpPr>
          <p:spPr>
            <a:xfrm>
              <a:off x="5766318" y="4721290"/>
              <a:ext cx="2603241" cy="3172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0780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8BB7-E30A-41BC-86F4-773CCD7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Passing Objects to Functions- pass by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A3CC7-C851-471F-8719-4A22EDF73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3891815" cy="412019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address of the object is passed here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68EA5-0C7D-48DB-981F-16C2F864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CC7241-BAA1-1361-E849-393154B0C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978" y="1400248"/>
            <a:ext cx="4674889" cy="532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66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8BB7-E30A-41BC-86F4-773CCD77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Passing Objects to Functions – using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A3CC7-C851-471F-8719-4A22EDF73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48902"/>
            <a:ext cx="3891815" cy="412019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address of the object is passed here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68EA5-0C7D-48DB-981F-16C2F864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5D11A4-EEB0-4881-A3C1-0E5CC71C6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185" y="1512416"/>
            <a:ext cx="5617608" cy="468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55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E620-E546-4C74-9B5A-69CF0958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an Array of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C87ED-9DE8-4886-802D-90506FDCE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the address of the first object of the array is passed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2FE37-6E0A-4FD4-8761-96F82FBD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FCB9B-793E-4963-86B9-1F23B143D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167" y="2302238"/>
            <a:ext cx="5305665" cy="406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906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E941-CB35-779A-3B06-501D50D77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506" y="3429000"/>
            <a:ext cx="10515600" cy="1325563"/>
          </a:xfrm>
        </p:spPr>
        <p:txBody>
          <a:bodyPr/>
          <a:lstStyle/>
          <a:p>
            <a:r>
              <a:rPr lang="en-GB" dirty="0"/>
              <a:t>Templates in C++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BA747-DF42-B4A3-DEAB-CF16785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859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E620-E546-4C74-9B5A-69CF0958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in 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C87ED-9DE8-4886-802D-90506FDCE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2"/>
            <a:ext cx="10515600" cy="4777371"/>
          </a:xfrm>
        </p:spPr>
        <p:txBody>
          <a:bodyPr>
            <a:normAutofit/>
          </a:bodyPr>
          <a:lstStyle/>
          <a:p>
            <a:r>
              <a:rPr lang="en-GB" sz="2400" b="0" i="0" dirty="0">
                <a:solidFill>
                  <a:srgbClr val="273239"/>
                </a:solidFill>
                <a:effectLst/>
                <a:highlight>
                  <a:srgbClr val="FFFFFF"/>
                </a:highlight>
              </a:rPr>
              <a:t>The simple idea is to pass the data type as a parameter so that we don’t need to write the same code for different data types. </a:t>
            </a:r>
            <a:endParaRPr lang="en-US" sz="24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2FE37-6E0A-4FD4-8761-96F82FBD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1C3C0-6B86-CB6A-F08A-599E28C61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503" y="2167813"/>
            <a:ext cx="6685383" cy="445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099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BE941-CB35-779A-3B06-501D50D77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18" y="256592"/>
            <a:ext cx="10515600" cy="1325563"/>
          </a:xfrm>
        </p:spPr>
        <p:txBody>
          <a:bodyPr/>
          <a:lstStyle/>
          <a:p>
            <a:r>
              <a:rPr lang="en-GB" dirty="0"/>
              <a:t>Templates in C++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7BA747-DF42-B4A3-DEAB-CF16785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9A392-C69E-F3AE-A68C-D54FCAE23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" y="1813420"/>
            <a:ext cx="7163421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106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4579-6EBF-401C-854D-9B1E9062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- Vector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FB01-2272-49AF-B3B1-59CA740E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27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4FBEB24-2F0E-8F71-CA07-339717B7C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970" y="1690688"/>
            <a:ext cx="5436053" cy="4975371"/>
          </a:xfrm>
        </p:spPr>
      </p:pic>
    </p:spTree>
    <p:extLst>
      <p:ext uri="{BB962C8B-B14F-4D97-AF65-F5344CB8AC3E}">
        <p14:creationId xmlns:p14="http://schemas.microsoft.com/office/powerpoint/2010/main" val="1439008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4579-6EBF-401C-854D-9B1E9062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- Vector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FB01-2272-49AF-B3B1-59CA740E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D12B769-48BD-C896-EF70-55F5C6DDC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56" y="1690689"/>
            <a:ext cx="3744910" cy="223042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F9798A-6CF3-3DFA-16A6-816DD9091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7422" y="660490"/>
            <a:ext cx="5152276" cy="57388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1556AD-624C-1C3B-7D6B-866A996E8DF2}"/>
              </a:ext>
            </a:extLst>
          </p:cNvPr>
          <p:cNvSpPr/>
          <p:nvPr/>
        </p:nvSpPr>
        <p:spPr>
          <a:xfrm>
            <a:off x="961053" y="1838131"/>
            <a:ext cx="2127380" cy="2892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8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4579-6EBF-401C-854D-9B1E9062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– Vector of class objects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FB01-2272-49AF-B3B1-59CA740E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29</a:t>
            </a:fld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CADB75-1265-DEA1-CE57-19F5797DE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84" y="1537340"/>
            <a:ext cx="4450466" cy="115834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7C77FD-F037-381F-A9C6-6C0D4A6353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160" y="2862903"/>
            <a:ext cx="4762913" cy="29949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777627D-24DE-0E1E-0B41-3C665E6C9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330975"/>
            <a:ext cx="5182049" cy="18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1405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4579-6EBF-401C-854D-9B1E9062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vector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FB01-2272-49AF-B3B1-59CA740E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30</a:t>
            </a:fld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1716260-9BD4-D865-C470-C07AFDEA20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21" y="2265142"/>
            <a:ext cx="9792549" cy="2613887"/>
          </a:xfrm>
        </p:spPr>
      </p:pic>
    </p:spTree>
    <p:extLst>
      <p:ext uri="{BB962C8B-B14F-4D97-AF65-F5344CB8AC3E}">
        <p14:creationId xmlns:p14="http://schemas.microsoft.com/office/powerpoint/2010/main" val="24732597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4579-6EBF-401C-854D-9B1E9062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 vector of class objects/ structure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8FB01-2272-49AF-B3B1-59CA740E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31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336FDE-48B5-B6B6-D4A3-EBA011588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59093"/>
            <a:ext cx="5925552" cy="5362381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7B2399A-0A2D-47FB-84C9-8BE3C481CFF3}"/>
              </a:ext>
            </a:extLst>
          </p:cNvPr>
          <p:cNvSpPr/>
          <p:nvPr/>
        </p:nvSpPr>
        <p:spPr>
          <a:xfrm>
            <a:off x="838200" y="3429000"/>
            <a:ext cx="4834812" cy="685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445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7C0D-8D2C-4480-BF68-5ED9AE53E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- MAP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BF6D4-7D4B-45A0-BAE6-2FA37E73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32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6754D58-AB70-51EF-0868-DF41BA2241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254" y="136525"/>
            <a:ext cx="7253108" cy="6666883"/>
          </a:xfr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F300950-BE12-A443-6B7E-4ABDB6A50345}"/>
              </a:ext>
            </a:extLst>
          </p:cNvPr>
          <p:cNvSpPr/>
          <p:nvPr/>
        </p:nvSpPr>
        <p:spPr>
          <a:xfrm>
            <a:off x="3788229" y="365125"/>
            <a:ext cx="2099387" cy="2320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19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3A6B8-5176-4F2C-B18F-D2D45A8C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STL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1BA88-B5F6-4334-874A-EF16D718C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459" y="1690688"/>
            <a:ext cx="1674200" cy="4120192"/>
          </a:xfrm>
        </p:spPr>
        <p:txBody>
          <a:bodyPr anchor="ctr"/>
          <a:lstStyle/>
          <a:p>
            <a:pPr algn="ctr"/>
            <a:r>
              <a:rPr lang="en-US" dirty="0"/>
              <a:t>CRUD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5FBE9-C0C3-4CA3-8553-3DC481900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33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990B40-E12A-5998-FCA5-039F21EAF91A}"/>
              </a:ext>
            </a:extLst>
          </p:cNvPr>
          <p:cNvGrpSpPr/>
          <p:nvPr/>
        </p:nvGrpSpPr>
        <p:grpSpPr>
          <a:xfrm>
            <a:off x="2014468" y="1690688"/>
            <a:ext cx="9696073" cy="4638675"/>
            <a:chOff x="1940767" y="1489660"/>
            <a:chExt cx="9696073" cy="46386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D9E79F7-7D94-41FB-B604-A0DC3369F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4215" y="1489660"/>
              <a:ext cx="9572625" cy="4638675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4AA554-EEF6-8A43-E79D-380BF4479BCA}"/>
                </a:ext>
              </a:extLst>
            </p:cNvPr>
            <p:cNvSpPr/>
            <p:nvPr/>
          </p:nvSpPr>
          <p:spPr>
            <a:xfrm>
              <a:off x="1940767" y="1690688"/>
              <a:ext cx="1530221" cy="20102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485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27AC-EFBB-4B64-970E-F7054EEFA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0959C-8FC1-492C-908C-42A57048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4BB0-6F4A-4B91-A02C-10FC9ADFD99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47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1707</TotalTime>
  <Words>758</Words>
  <Application>Microsoft Office PowerPoint</Application>
  <PresentationFormat>Widescreen</PresentationFormat>
  <Paragraphs>163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Intro to C++ Basics</vt:lpstr>
      <vt:lpstr>Why C++ ?</vt:lpstr>
      <vt:lpstr>What we will learn about C++ ?</vt:lpstr>
      <vt:lpstr>Lets see the differences between a C and C++ program</vt:lpstr>
      <vt:lpstr>namespace, cout, cin</vt:lpstr>
      <vt:lpstr>namespace, cout, cin</vt:lpstr>
      <vt:lpstr>class and object (you can think of these as extended structures)</vt:lpstr>
      <vt:lpstr>class and object (you can think of these as extended structures)</vt:lpstr>
      <vt:lpstr>class and object (you can think of these as extended structures)</vt:lpstr>
      <vt:lpstr>class and object (you can think of these as extended structures)</vt:lpstr>
      <vt:lpstr>Constructor and Destructor</vt:lpstr>
      <vt:lpstr>Lets see the differences between a C and C++ program</vt:lpstr>
      <vt:lpstr>string class</vt:lpstr>
      <vt:lpstr>STRING FUNCTIONS in C++</vt:lpstr>
      <vt:lpstr>STRING FUNCTIONS in C++</vt:lpstr>
      <vt:lpstr>STRING FUNCTIONS in C++</vt:lpstr>
      <vt:lpstr>New and Delete</vt:lpstr>
      <vt:lpstr>New and Delete</vt:lpstr>
      <vt:lpstr>Passing Objects to Functions – by value</vt:lpstr>
      <vt:lpstr>pass by reference</vt:lpstr>
      <vt:lpstr>Passing Objects to Functions- pass by reference</vt:lpstr>
      <vt:lpstr>Passing Objects to Functions – using pointer</vt:lpstr>
      <vt:lpstr>Passing an Array of Objects</vt:lpstr>
      <vt:lpstr>Templates in C++</vt:lpstr>
      <vt:lpstr>Template in C++</vt:lpstr>
      <vt:lpstr>Templates in C++</vt:lpstr>
      <vt:lpstr>STL - Vector</vt:lpstr>
      <vt:lpstr>STL - Vector</vt:lpstr>
      <vt:lpstr>STL – Vector of class objects</vt:lpstr>
      <vt:lpstr>Sort vector </vt:lpstr>
      <vt:lpstr>Sort vector of class objects/ structure</vt:lpstr>
      <vt:lpstr>STL - MAP</vt:lpstr>
      <vt:lpstr>STL SET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C++ Basics, STL and Recursive Functions</dc:title>
  <dc:creator>HP</dc:creator>
  <cp:lastModifiedBy>1705040 - Umama Rahman</cp:lastModifiedBy>
  <cp:revision>138</cp:revision>
  <dcterms:created xsi:type="dcterms:W3CDTF">2024-01-23T16:31:06Z</dcterms:created>
  <dcterms:modified xsi:type="dcterms:W3CDTF">2024-05-30T18:20:50Z</dcterms:modified>
</cp:coreProperties>
</file>