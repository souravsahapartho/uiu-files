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6" r:id="rId10"/>
    <p:sldId id="267" r:id="rId11"/>
    <p:sldId id="263" r:id="rId12"/>
    <p:sldId id="269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C4A3E-A735-A343-9970-1ABDC803B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74222-0A27-4616-2664-E2CF7F90C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983E9-F4BB-3F1F-2270-56532AFDC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A9CF-09AD-4778-B9A4-D82426A70F6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225C0-BA37-322A-4306-0E66676C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E5C65-6158-74C5-28F2-9B96F223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0EDD-4991-411F-A60F-699A8D4BA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7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5552-9723-E2EC-4715-A1A8406E0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6FCB-BD15-6E5D-439A-732F13BAF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34B81-B5A9-E631-61C7-583439DE9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A9CF-09AD-4778-B9A4-D82426A70F6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E20D8-2635-E9A2-A0D4-A5B3F83A6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CCB7B-41A0-D5ED-26C3-D0076C25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0EDD-4991-411F-A60F-699A8D4BA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32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D2DF5-431A-68DD-0794-A8A632204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352D4-61B0-B4A6-FA12-AE1D63D7A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C38EC-07B4-2AC4-547B-776B2453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A9CF-09AD-4778-B9A4-D82426A70F6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92C61-2B16-AA5C-40F3-F74310C5C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E613E-EE98-6BC6-C784-DAB3E9BA8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0EDD-4991-411F-A60F-699A8D4BA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14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3B0F4-09C6-0DE0-BD1D-42291F10C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89960-2782-C0FE-EB43-8E1FC2E95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D23C9-C095-81BC-D1A9-9CFC96D6A1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40551-86A4-C84C-0BA8-372EE6843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A9CF-09AD-4778-B9A4-D82426A70F6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0E582-CF89-DE3A-64DA-84587590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2FCF7-771B-C3C8-BDDD-8F18616D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0EDD-4991-411F-A60F-699A8D4BA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04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9C128-982E-E7F4-845C-00D5CCE2B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DCC2D-C8F0-5F1A-20B5-187E908B9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7EC2A-FDD7-702D-32A0-1C70D2A15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1A145-2A3E-F0C1-9F6B-51744669F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AC1BBD-1191-4042-28A7-AD460477B1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D64807-8A07-4093-89DD-F018A711E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A9CF-09AD-4778-B9A4-D82426A70F6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47348-7401-0F0B-5AF4-A8922F4D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499541-FBD2-02B6-C6F8-9AE3A48BA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0EDD-4991-411F-A60F-699A8D4BA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72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133BE-D324-DEF7-CA70-68641DEC2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140023-8CE8-F1F7-66DC-26F712FC1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A9CF-09AD-4778-B9A4-D82426A70F6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C07B08-570F-FF49-BF59-B6CAD657A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96BC3-C545-6B85-B371-BB61C59BF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0EDD-4991-411F-A60F-699A8D4BA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4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D3157-8553-E4C5-1366-F5C88DF52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A9CF-09AD-4778-B9A4-D82426A70F6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889270-9FA3-6E63-F95D-85C6B102C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B9024-61B2-9606-4C93-029BC00D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0EDD-4991-411F-A60F-699A8D4BA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7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A6A24-19DD-7ED5-22FC-E2C993F24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E808F-D6BF-6693-2482-475702118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B7CDC-1A53-0D5A-B672-3F746C6B6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0F973-F58B-3733-8E9F-68F7005C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A9CF-09AD-4778-B9A4-D82426A70F6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60CF4-B227-D3EA-2835-BCAFA175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CDA85-687D-7960-5359-DF2242F1E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0EDD-4991-411F-A60F-699A8D4BA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125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0B432-397A-E7A2-8BB2-682B4AC7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5E9F70-2D4A-FD7E-E892-46C08F5EE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79029-C2FF-B6E1-73F2-825EF7162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7EE3FB-5C7C-1384-8274-42309A4BD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A9CF-09AD-4778-B9A4-D82426A70F6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913A9-C8D4-E9E7-F623-B8DEA7E82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BF360-8C2E-879D-0EB0-5B7DDBA2E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0EDD-4991-411F-A60F-699A8D4BA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7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CE43F-65EC-B39B-05D5-EA8B74CFE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368DF4-024D-6EE7-A251-2787BF9EA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76C22-8A3C-39FF-D5B9-82CF0DFD4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A9CF-09AD-4778-B9A4-D82426A70F6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909DA-A3B4-5249-FDD2-C0D97200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A18E62-EB09-FE04-C88F-245BE3771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0EDD-4991-411F-A60F-699A8D4BA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732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D1DC91-6769-45BE-45DF-05799E25E2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3569BA-8B91-5B77-3F38-9476213E7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588BF-6371-D3E6-0FE4-3BBE280A4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9A9CF-09AD-4778-B9A4-D82426A70F6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3ED61-A22D-F44B-B01E-D83D0491E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CFDB7-4C2A-AAA9-2E9B-57220ECAE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90EDD-4991-411F-A60F-699A8D4BA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876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0FC8F-BBD3-4767-D37A-55F0C59EF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250FE-8346-D349-299D-456606FB5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E390E-246D-7FB9-D4A2-EB368BC859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9A9CF-09AD-4778-B9A4-D82426A70F6F}" type="datetimeFigureOut">
              <a:rPr lang="en-US" smtClean="0"/>
              <a:t>6/4/2024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B48CD-3F9F-6813-3E2E-0B6010E8A3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1EFBD-F89C-8DC0-E9A4-EB5E2F197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990EDD-4991-411F-A60F-699A8D4BA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6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DE9E1-356C-4AD2-0A6B-3AE006004E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Lucida Sans" panose="020B0602030504020204" pitchFamily="34" charset="0"/>
              </a:rPr>
              <a:t>Recursion</a:t>
            </a:r>
            <a:endParaRPr lang="en-US" dirty="0">
              <a:latin typeface="Lucida Sans" panose="020B06020305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2F5012-6C63-6A0D-0F70-97361C6B7B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Lucida Sans" panose="020B0602030504020204" pitchFamily="34" charset="0"/>
              </a:rPr>
              <a:t>Practice problems</a:t>
            </a:r>
          </a:p>
          <a:p>
            <a:r>
              <a:rPr lang="en-GB" dirty="0">
                <a:latin typeface="Lucida Sans" panose="020B0602030504020204" pitchFamily="34" charset="0"/>
              </a:rPr>
              <a:t>UMAMA RAHMAN</a:t>
            </a:r>
          </a:p>
          <a:p>
            <a:r>
              <a:rPr lang="en-GB" dirty="0">
                <a:latin typeface="Lucida Sans" panose="020B0602030504020204" pitchFamily="34" charset="0"/>
              </a:rPr>
              <a:t>DSA II LAB</a:t>
            </a:r>
            <a:endParaRPr lang="en-US" dirty="0">
              <a:latin typeface="Lucida Sans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417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65D71-A23C-359E-7FE0-2CF4CFF4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  <a:latin typeface="MS Mincho" panose="02020609040205080304" pitchFamily="49" charset="-128"/>
                <a:ea typeface="MS Mincho" panose="02020609040205080304" pitchFamily="49" charset="-128"/>
                <a:cs typeface="Book Antiqua" panose="02040602050305030304" pitchFamily="18" charset="0"/>
              </a:rPr>
              <a:t>Print the numbers from 1 to n.</a:t>
            </a:r>
            <a:endParaRPr lang="en-US" sz="6600" b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6A3C1-9F05-1FA2-E1BA-C9A8ED720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#include&lt;iostream&gt;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using namespace std;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//print 1 to n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void print(int n){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    if(n&lt;=0) return;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    print(n-1);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    </a:t>
            </a:r>
            <a:r>
              <a:rPr lang="en-US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cout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&lt;&lt;n&lt;&lt;</a:t>
            </a:r>
            <a:r>
              <a:rPr lang="en-US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endl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int main(){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    print(10);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endParaRPr lang="en-US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pPr marL="0" indent="0">
              <a:buNone/>
            </a:pPr>
            <a:endParaRPr lang="en-US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pPr marL="0" indent="0">
              <a:buNone/>
            </a:pPr>
            <a:endParaRPr lang="en-US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2968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92F5-A8D6-0DE8-F12F-BB155442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none" strike="noStrike" dirty="0">
                <a:effectLst/>
                <a:latin typeface="MS Mincho" panose="02020609040205080304" pitchFamily="49" charset="-128"/>
                <a:ea typeface="MS Mincho" panose="02020609040205080304" pitchFamily="49" charset="-128"/>
                <a:cs typeface="Book Antiqua" panose="02040602050305030304" pitchFamily="18" charset="0"/>
              </a:rPr>
              <a:t>Calculate the sum from 1 to n</a:t>
            </a:r>
            <a:endParaRPr lang="en-US" sz="3200" b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56353-BD0A-4D42-D632-DB287060A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#include&lt;iostream&gt;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using namespace std;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int Sum(int n){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    if(n&lt;=0) return 0;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    return </a:t>
            </a:r>
            <a:r>
              <a:rPr lang="en-US" sz="24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n+Sum</a:t>
            </a: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(n-1);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int main(){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    int n=5;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    </a:t>
            </a:r>
            <a:r>
              <a:rPr lang="en-US" sz="24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cout</a:t>
            </a: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&lt;&lt;"Sum from 1 to "&lt;&lt;n&lt;&lt;":"&lt;&lt;Sum(n);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endParaRPr lang="en-US" sz="24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pPr marL="0" indent="0">
              <a:buNone/>
            </a:pPr>
            <a:endParaRPr lang="en-US" sz="24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6897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C5F4F-81D8-94A5-E8F3-397176FB3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039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u="none" strike="noStrike" dirty="0">
                <a:effectLst/>
                <a:latin typeface="MS Mincho" panose="02020609040205080304" pitchFamily="49" charset="-128"/>
                <a:ea typeface="MS Mincho" panose="02020609040205080304" pitchFamily="49" charset="-128"/>
                <a:cs typeface="Book Antiqua" panose="02040602050305030304" pitchFamily="18" charset="0"/>
              </a:rPr>
              <a:t>Calculate the factorial of n.</a:t>
            </a:r>
            <a:br>
              <a:rPr lang="en-US" sz="3200" b="1" u="none" strike="noStrike" dirty="0">
                <a:effectLst/>
                <a:latin typeface="MS Mincho" panose="02020609040205080304" pitchFamily="49" charset="-128"/>
                <a:ea typeface="MS Mincho" panose="02020609040205080304" pitchFamily="49" charset="-128"/>
              </a:rPr>
            </a:br>
            <a:endParaRPr lang="en-US" sz="3200" b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D2CB9-55DD-35AE-E635-BE7E13A33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#include&lt;iostream&gt;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using namespace std;</a:t>
            </a:r>
          </a:p>
          <a:p>
            <a:pPr marL="0" indent="0">
              <a:buNone/>
            </a:pP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int Factorial(int n){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if(n&lt;=0) return 1;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return n*Factorial(n-1);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int main(){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int f=Factorial(5);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cout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&lt;&lt;"factorial:"&lt;&lt;f&lt;&lt;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endl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8389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C5F4F-81D8-94A5-E8F3-397176FB3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0398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u="none" strike="noStrike" dirty="0">
                <a:effectLst/>
                <a:latin typeface="MS Mincho" panose="02020609040205080304" pitchFamily="49" charset="-128"/>
                <a:ea typeface="MS Mincho" panose="02020609040205080304" pitchFamily="49" charset="-128"/>
                <a:cs typeface="Book Antiqua" panose="02040602050305030304" pitchFamily="18" charset="0"/>
              </a:rPr>
              <a:t>Consider the following scenario</a:t>
            </a:r>
            <a:endParaRPr lang="en-US" sz="3200" b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D2CB9-55DD-35AE-E635-BE7E13A33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Suppose that, you are at 0</a:t>
            </a:r>
            <a:r>
              <a:rPr lang="en-US" baseline="30000" dirty="0">
                <a:latin typeface="MS Mincho" panose="02020609040205080304" pitchFamily="49" charset="-128"/>
                <a:ea typeface="MS Mincho" panose="02020609040205080304" pitchFamily="49" charset="-128"/>
              </a:rPr>
              <a:t>th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 stair and you have to reach at nth stair. Each time you can climb 1 or 2 steps. Find out the total number of distinct ways you can climb from 0</a:t>
            </a:r>
            <a:r>
              <a:rPr lang="en-US" baseline="30000" dirty="0">
                <a:latin typeface="MS Mincho" panose="02020609040205080304" pitchFamily="49" charset="-128"/>
                <a:ea typeface="MS Mincho" panose="02020609040205080304" pitchFamily="49" charset="-128"/>
              </a:rPr>
              <a:t>th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 to nth stair.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E73B98-D536-6ECF-A249-892938ED48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170" y="3643580"/>
            <a:ext cx="6363251" cy="23700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A9BEAE-060F-5D6C-1933-D13D5EA213A7}"/>
              </a:ext>
            </a:extLst>
          </p:cNvPr>
          <p:cNvSpPr txBox="1"/>
          <p:nvPr/>
        </p:nvSpPr>
        <p:spPr>
          <a:xfrm>
            <a:off x="7081935" y="5530632"/>
            <a:ext cx="4917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MS Mincho" panose="02020609040205080304" pitchFamily="49" charset="-128"/>
                <a:ea typeface="MS Mincho" panose="02020609040205080304" pitchFamily="49" charset="-128"/>
              </a:rPr>
              <a:t>Solution: </a:t>
            </a: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find the nth Fibonacci number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4056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B3B8-1848-CF91-EB9E-D826997AD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effectLst/>
                <a:latin typeface="MS Mincho" panose="02020609040205080304" pitchFamily="49" charset="-128"/>
                <a:ea typeface="MS Mincho" panose="02020609040205080304" pitchFamily="49" charset="-128"/>
                <a:cs typeface="Book Antiqua" panose="02040602050305030304" pitchFamily="18" charset="0"/>
              </a:rPr>
              <a:t>Calculate the sum of digits of a given number n.</a:t>
            </a:r>
            <a:endParaRPr lang="en-US" sz="3200" b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5CEC-3691-A0A0-AAED-8E8E1C691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#include&lt;iostream&gt;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using namespace std;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int </a:t>
            </a:r>
            <a:r>
              <a:rPr lang="en-US" sz="24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digitSum</a:t>
            </a: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(int n){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    if(n==0) return 0;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    return n%10 + </a:t>
            </a:r>
            <a:r>
              <a:rPr lang="en-US" sz="24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digitSum</a:t>
            </a: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(n/10);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int main(){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    int d=</a:t>
            </a:r>
            <a:r>
              <a:rPr lang="en-US" sz="24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digitSum</a:t>
            </a: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(342);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    </a:t>
            </a:r>
            <a:r>
              <a:rPr lang="en-US" sz="24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cout</a:t>
            </a: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&lt;&lt;"digit sum:"&lt;&lt;d;</a:t>
            </a:r>
          </a:p>
          <a:p>
            <a:pPr marL="0" indent="0">
              <a:buNone/>
            </a:pPr>
            <a:r>
              <a:rPr lang="en-US" sz="24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462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9247-ADAF-267C-0CD4-82D6BDDF0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u="none" strike="noStrike" dirty="0">
                <a:effectLst/>
                <a:latin typeface="MS Mincho" panose="02020609040205080304" pitchFamily="49" charset="-128"/>
                <a:ea typeface="MS Mincho" panose="02020609040205080304" pitchFamily="49" charset="-128"/>
                <a:cs typeface="Book Antiqua" panose="02040602050305030304" pitchFamily="18" charset="0"/>
              </a:rPr>
              <a:t>Count the number of digits of a given number n.</a:t>
            </a:r>
            <a:br>
              <a:rPr lang="en-US" sz="3200" b="1" u="none" strike="noStrike" dirty="0">
                <a:effectLst/>
                <a:latin typeface="MS Mincho" panose="02020609040205080304" pitchFamily="49" charset="-128"/>
                <a:ea typeface="MS Mincho" panose="02020609040205080304" pitchFamily="49" charset="-128"/>
              </a:rPr>
            </a:br>
            <a:endParaRPr lang="en-US" sz="3200" b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202A6-CA2C-F2F8-7B2E-FDE6062CB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#include&lt;iostream&gt;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using namespace std;</a:t>
            </a:r>
          </a:p>
          <a:p>
            <a:pPr marL="0" indent="0">
              <a:buNone/>
            </a:pP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int 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CountDigit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(int n){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if(n==0) return 0;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return 1 + 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CountDigit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(n/10);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int main(){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int d=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CountDigit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(0);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cout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&lt;&lt;"digit count:"&lt;&lt;d;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5927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B0529-8670-94CF-8E79-3535B7B8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5" y="141190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u="none" strike="noStrike" dirty="0">
                <a:effectLst/>
                <a:latin typeface="MS Mincho" panose="02020609040205080304" pitchFamily="49" charset="-128"/>
                <a:ea typeface="MS Mincho" panose="02020609040205080304" pitchFamily="49" charset="-128"/>
                <a:cs typeface="Book Antiqua" panose="02040602050305030304" pitchFamily="18" charset="0"/>
              </a:rPr>
              <a:t>Calculate a to the power b</a:t>
            </a:r>
            <a:br>
              <a:rPr lang="en-US" sz="2400" b="1" u="none" strike="noStrike" dirty="0">
                <a:effectLst/>
                <a:latin typeface="MS Mincho" panose="02020609040205080304" pitchFamily="49" charset="-128"/>
                <a:ea typeface="MS Mincho" panose="02020609040205080304" pitchFamily="49" charset="-128"/>
              </a:rPr>
            </a:br>
            <a:endParaRPr lang="en-US" sz="2400" b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59C64-2B16-EA5A-7E5F-227751D8C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6339"/>
            <a:ext cx="10515600" cy="49453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#include&lt;iostream&gt;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using namespace std;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int power(int </a:t>
            </a:r>
            <a:r>
              <a:rPr lang="en-US" sz="16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a,int</a:t>
            </a: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 b){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    if(abs(b)==0) return 1;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    return a*power(a,b-1);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void </a:t>
            </a:r>
            <a:r>
              <a:rPr lang="en-US" sz="16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printPower</a:t>
            </a: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(int </a:t>
            </a:r>
            <a:r>
              <a:rPr lang="en-US" sz="16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a,int</a:t>
            </a: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 b){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    int x=power(</a:t>
            </a:r>
            <a:r>
              <a:rPr lang="en-US" sz="16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a,abs</a:t>
            </a: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(b));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    </a:t>
            </a:r>
            <a:r>
              <a:rPr lang="en-US" sz="16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cout</a:t>
            </a: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&lt;&lt;a&lt;&lt;" to the power of "&lt;&lt;b&lt;&lt;":";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    if(b&lt;0) </a:t>
            </a:r>
            <a:r>
              <a:rPr lang="en-US" sz="16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cout</a:t>
            </a: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&lt;&lt;"1/"&lt;&lt;x;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    else </a:t>
            </a:r>
            <a:r>
              <a:rPr lang="en-US" sz="16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cout</a:t>
            </a: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&lt;&lt;x;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int main(){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    int a=2,b=-5;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    </a:t>
            </a:r>
            <a:r>
              <a:rPr lang="en-US" sz="16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printPower</a:t>
            </a: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(</a:t>
            </a:r>
            <a:r>
              <a:rPr lang="en-US" sz="16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a,b</a:t>
            </a: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90475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65D71-A23C-359E-7FE0-2CF4CFF4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u="none" strike="noStrike" dirty="0">
                <a:effectLst/>
                <a:latin typeface="MS Mincho" panose="02020609040205080304" pitchFamily="49" charset="-128"/>
                <a:ea typeface="MS Mincho" panose="02020609040205080304" pitchFamily="49" charset="-128"/>
                <a:cs typeface="Book Antiqua" panose="02040602050305030304" pitchFamily="18" charset="0"/>
              </a:rPr>
              <a:t>Print the array elements.</a:t>
            </a:r>
            <a:endParaRPr lang="en-US" sz="2800" b="1" u="none" strike="noStrike" dirty="0">
              <a:effectLst/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6A3C1-9F05-1FA2-E1BA-C9A8ED720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#include&lt;iostream&gt;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using namespace std;</a:t>
            </a:r>
          </a:p>
          <a:p>
            <a:pPr marL="0" indent="0">
              <a:buNone/>
            </a:pPr>
            <a:endParaRPr lang="en-US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void </a:t>
            </a:r>
            <a:r>
              <a:rPr lang="en-US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printArray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(int </a:t>
            </a:r>
            <a:r>
              <a:rPr lang="en-US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arr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[],int </a:t>
            </a:r>
            <a:r>
              <a:rPr lang="en-US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idx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){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    //print the value at index n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    if(</a:t>
            </a:r>
            <a:r>
              <a:rPr lang="en-US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idx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&lt;0) return;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    </a:t>
            </a:r>
            <a:r>
              <a:rPr lang="en-US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printArray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(arr,idx-1);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    </a:t>
            </a:r>
            <a:r>
              <a:rPr lang="en-US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cout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&lt;&lt;</a:t>
            </a:r>
            <a:r>
              <a:rPr lang="en-US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arr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[</a:t>
            </a:r>
            <a:r>
              <a:rPr lang="en-US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idx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]&lt;&lt;</a:t>
            </a:r>
            <a:r>
              <a:rPr lang="en-US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endl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int main(){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    int a[]={4,5,6,7,8,9,10};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    </a:t>
            </a:r>
            <a:r>
              <a:rPr lang="en-US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printArray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(</a:t>
            </a:r>
            <a:r>
              <a:rPr lang="en-US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a,sizeof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(a)/</a:t>
            </a:r>
            <a:r>
              <a:rPr lang="en-US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sizeof</a:t>
            </a: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(int)-1);</a:t>
            </a:r>
          </a:p>
          <a:p>
            <a:pPr marL="0" indent="0">
              <a:buNone/>
            </a:pPr>
            <a:r>
              <a:rPr lang="en-US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endParaRPr lang="en-US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pPr marL="0" indent="0">
              <a:buNone/>
            </a:pPr>
            <a:endParaRPr lang="en-US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9953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292F5-A8D6-0DE8-F12F-BB155442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none" strike="noStrike" dirty="0">
                <a:effectLst/>
                <a:latin typeface="MS Mincho" panose="02020609040205080304" pitchFamily="49" charset="-128"/>
                <a:ea typeface="MS Mincho" panose="02020609040205080304" pitchFamily="49" charset="-128"/>
                <a:cs typeface="Book Antiqua" panose="02040602050305030304" pitchFamily="18" charset="0"/>
              </a:rPr>
              <a:t>Calculate the sum of array</a:t>
            </a:r>
            <a:endParaRPr lang="en-US" sz="2800" b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56353-BD0A-4D42-D632-DB287060A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#include&lt;iostream&gt;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using namespace std;</a:t>
            </a:r>
          </a:p>
          <a:p>
            <a:pPr marL="0" indent="0">
              <a:buNone/>
            </a:pP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int 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ArraySum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(int 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arr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[],int n){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if(n&lt;0) return 0;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return 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arr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[n]+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ArraySum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(arr,n-1);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int main(){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int a[]={4,5,6,7,8};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int sum=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ArraySum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a,sizeof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(a)/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sizeof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(int)-1);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cout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&lt;&lt;"Array sum:"&lt;&lt;sum&lt;&lt;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endl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2325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17BB8-0A13-2896-AC28-114A3C784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none" strike="noStrike" dirty="0">
                <a:effectLst/>
                <a:latin typeface="MS Mincho" panose="02020609040205080304" pitchFamily="49" charset="-128"/>
                <a:ea typeface="MS Mincho" panose="02020609040205080304" pitchFamily="49" charset="-128"/>
                <a:cs typeface="Book Antiqua" panose="02040602050305030304" pitchFamily="18" charset="0"/>
              </a:rPr>
              <a:t>Find the largest element of a given array.</a:t>
            </a:r>
            <a:br>
              <a:rPr lang="en-US" sz="2800" b="1" u="none" strike="noStrike" dirty="0">
                <a:effectLst/>
                <a:latin typeface="MS Mincho" panose="02020609040205080304" pitchFamily="49" charset="-128"/>
                <a:ea typeface="MS Mincho" panose="02020609040205080304" pitchFamily="49" charset="-128"/>
              </a:rPr>
            </a:br>
            <a:endParaRPr lang="en-US" sz="2800" b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E81BD-B708-70EA-7B79-654B58012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06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#include&lt;iostream&gt;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using namespace std;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//largest in an array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int largest(int 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arr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[],int n){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if(n&lt;0) return INT_MIN;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return max(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arr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[n],largest(arr,n-1));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int main(){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int a[]={414,52,61,7,181};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int l=largest(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a,sizeof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(a)/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sizeof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(int)-1);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cout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&lt;&lt;"largest :"&lt;&lt;l&lt;&lt;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endl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pPr marL="0" indent="0">
              <a:buNone/>
            </a:pP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pPr marL="0" indent="0">
              <a:buNone/>
            </a:pP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9014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9019C-8E5A-2F88-2734-1DB096087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98" y="326571"/>
            <a:ext cx="10515600" cy="586597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/>
                <a:latin typeface="MS Mincho" panose="02020609040205080304" pitchFamily="49" charset="-128"/>
                <a:ea typeface="MS Mincho" panose="02020609040205080304" pitchFamily="49" charset="-128"/>
                <a:cs typeface="Book Antiqua" panose="02040602050305030304" pitchFamily="18" charset="0"/>
              </a:rPr>
              <a:t>Find if a number is a power of 4.</a:t>
            </a:r>
            <a:endParaRPr lang="en-US" sz="2800" b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59E1D6-E2D1-F5EF-CC4F-6835301969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4894" y="1180938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400" dirty="0">
                    <a:latin typeface="MS Mincho" panose="02020609040205080304" pitchFamily="49" charset="-128"/>
                    <a:ea typeface="MS Mincho" panose="02020609040205080304" pitchFamily="49" charset="-128"/>
                  </a:rPr>
                  <a:t>Given an integer n, you have to check if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==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4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400" dirty="0">
                    <a:latin typeface="MS Mincho" panose="02020609040205080304" pitchFamily="49" charset="-128"/>
                    <a:ea typeface="MS Mincho" panose="02020609040205080304" pitchFamily="49" charset="-128"/>
                  </a:rPr>
                  <a:t> .</a:t>
                </a:r>
              </a:p>
              <a:p>
                <a:pPr marL="0" indent="0">
                  <a:spcBef>
                    <a:spcPts val="200"/>
                  </a:spcBef>
                  <a:buNone/>
                </a:pPr>
                <a:r>
                  <a:rPr lang="en-US" sz="2400" dirty="0">
                    <a:latin typeface="MS Mincho" panose="02020609040205080304" pitchFamily="49" charset="-128"/>
                    <a:ea typeface="MS Mincho" panose="02020609040205080304" pitchFamily="49" charset="-128"/>
                  </a:rPr>
                  <a:t>If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MS Mincho" panose="02020609040205080304" pitchFamily="49" charset="-128"/>
                      </a:rPr>
                      <m:t>==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4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400" dirty="0">
                    <a:latin typeface="MS Mincho" panose="02020609040205080304" pitchFamily="49" charset="-128"/>
                    <a:ea typeface="MS Mincho" panose="02020609040205080304" pitchFamily="49" charset="-128"/>
                  </a:rPr>
                  <a:t> , return true. Else, return false.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D59E1D6-E2D1-F5EF-CC4F-6835301969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4894" y="1180938"/>
                <a:ext cx="10515600" cy="4351338"/>
              </a:xfrm>
              <a:blipFill>
                <a:blip r:embed="rId2"/>
                <a:stretch>
                  <a:fillRect l="-870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9651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7ACA9-F006-CA13-8E3B-D21FF0D3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u="none" strike="noStrike" dirty="0">
                <a:effectLst/>
                <a:latin typeface="MS Mincho" panose="02020609040205080304" pitchFamily="49" charset="-128"/>
                <a:ea typeface="MS Mincho" panose="02020609040205080304" pitchFamily="49" charset="-128"/>
                <a:cs typeface="Book Antiqua" panose="02040602050305030304" pitchFamily="18" charset="0"/>
              </a:rPr>
              <a:t>Check whether a given string is palindrome or not.</a:t>
            </a:r>
            <a:br>
              <a:rPr lang="en-US" sz="2800" b="1" u="none" strike="noStrike" dirty="0">
                <a:effectLst/>
                <a:latin typeface="MS Mincho" panose="02020609040205080304" pitchFamily="49" charset="-128"/>
                <a:ea typeface="MS Mincho" panose="02020609040205080304" pitchFamily="49" charset="-128"/>
              </a:rPr>
            </a:br>
            <a:endParaRPr lang="en-US" sz="6000" b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9DA3E-2308-DFF6-1D36-CE6B1CD8D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4947"/>
            <a:ext cx="10515600" cy="5029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#include&lt;iostream&gt;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#include&lt;string&gt;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using namespace std;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bool palindrome(string str){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int l=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str.length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if(l==0) return true;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if(str[0]==str[l-1]) palindrome(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str.substr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(1,l-2));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else return false;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int main(){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if(palindrome("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abeeba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")) 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cout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&lt;&lt;"palindrome";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else 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cout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&lt;&lt;"not palindrome";</a:t>
            </a:r>
          </a:p>
          <a:p>
            <a:pPr marL="0" indent="0"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pPr marL="0" indent="0">
              <a:buNone/>
            </a:pP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pPr marL="0" indent="0">
              <a:buNone/>
            </a:pP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35669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9019C-8E5A-2F88-2734-1DB096087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98" y="326571"/>
            <a:ext cx="10515600" cy="586597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effectLst/>
                <a:latin typeface="MS Mincho" panose="02020609040205080304" pitchFamily="49" charset="-128"/>
                <a:ea typeface="MS Mincho" panose="02020609040205080304" pitchFamily="49" charset="-128"/>
                <a:cs typeface="Book Antiqua" panose="02040602050305030304" pitchFamily="18" charset="0"/>
              </a:rPr>
              <a:t>Remove white spaces from a string &amp; convert upper cases to lower</a:t>
            </a:r>
            <a:endParaRPr lang="en-US" sz="2800" b="1" dirty="0">
              <a:latin typeface="MS Mincho" panose="02020609040205080304" pitchFamily="49" charset="-128"/>
              <a:ea typeface="MS Mincho" panose="02020609040205080304" pitchFamily="49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9E1D6-E2D1-F5EF-CC4F-683530196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894" y="1180938"/>
            <a:ext cx="10515600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#include&lt;iostream&gt;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#include&lt;string&gt;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using namespace std;</a:t>
            </a:r>
          </a:p>
          <a:p>
            <a:pPr marL="0" indent="0">
              <a:spcBef>
                <a:spcPts val="200"/>
              </a:spcBef>
              <a:buNone/>
            </a:pPr>
            <a:endParaRPr lang="en-US" sz="2000" dirty="0">
              <a:latin typeface="MS Mincho" panose="02020609040205080304" pitchFamily="49" charset="-128"/>
              <a:ea typeface="MS Mincho" panose="02020609040205080304" pitchFamily="49" charset="-128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string </a:t>
            </a:r>
            <a:r>
              <a:rPr lang="en-US" sz="2000" dirty="0" err="1">
                <a:solidFill>
                  <a:srgbClr val="FF0000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removeSpaceToLower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(string str)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{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int 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len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=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str.length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();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if(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len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==0 ) return "";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if(str[len-1]==' ')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    return </a:t>
            </a:r>
            <a:r>
              <a:rPr lang="en-US" sz="2000" dirty="0" err="1">
                <a:solidFill>
                  <a:srgbClr val="FF0000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removeSpaceToLower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str.substr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(0,len-1));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    return </a:t>
            </a:r>
            <a:r>
              <a:rPr lang="en-US" sz="2000" dirty="0" err="1">
                <a:solidFill>
                  <a:srgbClr val="FF0000"/>
                </a:solidFill>
                <a:latin typeface="MS Mincho" panose="02020609040205080304" pitchFamily="49" charset="-128"/>
                <a:ea typeface="MS Mincho" panose="02020609040205080304" pitchFamily="49" charset="-128"/>
              </a:rPr>
              <a:t>removeSpaceToLower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str.substr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(0,len-1))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           + string(1,tolower(str[len-1])) 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int main()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{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    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cout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&lt;&lt;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removeSpaceToLower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("Hello World It's Me.")&lt;&lt;</a:t>
            </a:r>
            <a:r>
              <a:rPr lang="en-US" sz="2000" dirty="0" err="1">
                <a:latin typeface="MS Mincho" panose="02020609040205080304" pitchFamily="49" charset="-128"/>
                <a:ea typeface="MS Mincho" panose="02020609040205080304" pitchFamily="49" charset="-128"/>
              </a:rPr>
              <a:t>endl</a:t>
            </a: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2000" dirty="0">
                <a:latin typeface="MS Mincho" panose="02020609040205080304" pitchFamily="49" charset="-128"/>
                <a:ea typeface="MS Mincho" panose="02020609040205080304" pitchFamily="49" charset="-128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8653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1021</Words>
  <Application>Microsoft Office PowerPoint</Application>
  <PresentationFormat>Widescreen</PresentationFormat>
  <Paragraphs>161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MS Mincho</vt:lpstr>
      <vt:lpstr>Arial</vt:lpstr>
      <vt:lpstr>Calibri</vt:lpstr>
      <vt:lpstr>Calibri Light</vt:lpstr>
      <vt:lpstr>Cambria Math</vt:lpstr>
      <vt:lpstr>Lucida Sans</vt:lpstr>
      <vt:lpstr>Office Theme</vt:lpstr>
      <vt:lpstr>Recursion</vt:lpstr>
      <vt:lpstr>Print the numbers from 1 to n.</vt:lpstr>
      <vt:lpstr>Calculate the sum from 1 to n</vt:lpstr>
      <vt:lpstr>Calculate the factorial of n. </vt:lpstr>
      <vt:lpstr>Consider the following scenario</vt:lpstr>
      <vt:lpstr>Calculate the sum of digits of a given number n.</vt:lpstr>
      <vt:lpstr>Count the number of digits of a given number n. </vt:lpstr>
      <vt:lpstr>Calculate a to the power b </vt:lpstr>
      <vt:lpstr>Print the array elements.</vt:lpstr>
      <vt:lpstr>Calculate the sum of array</vt:lpstr>
      <vt:lpstr>Find the largest element of a given array. </vt:lpstr>
      <vt:lpstr>Find if a number is a power of 4.</vt:lpstr>
      <vt:lpstr>Check whether a given string is palindrome or not. </vt:lpstr>
      <vt:lpstr>Remove white spaces from a string &amp; convert upper cases to lower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1705040 - Umama Rahman</dc:creator>
  <cp:lastModifiedBy>1705040 - Umama Rahman</cp:lastModifiedBy>
  <cp:revision>27</cp:revision>
  <dcterms:created xsi:type="dcterms:W3CDTF">2024-05-26T15:57:57Z</dcterms:created>
  <dcterms:modified xsi:type="dcterms:W3CDTF">2024-06-04T19:12:47Z</dcterms:modified>
</cp:coreProperties>
</file>