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1500" y="-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DB5496-4DEA-FE17-06FC-217F0468F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04DB476-3A30-4313-D323-6A2B9D788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19ABC48-9DDF-9412-888F-F8C534C6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5B5D74F-50DD-C5BD-A416-A87B9E83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B23B1F-9AEB-DCE5-9969-86C46A28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6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AB7A9F-0E90-7B9A-FF18-FD0DDE38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1594C2-E53D-A412-99A5-667205FD5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7EC0A2E-860B-2448-C0AF-E098EC4F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D3C9889-E4F0-8DF9-DC63-C0E7456A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865948D-88A4-C1BE-24B5-ACFD10AE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85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0C12F4-9DCF-58A1-AD33-54A3F8B3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1AC7569-DF6E-2523-13B4-68A17451B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AF97F9-92CA-F4C2-880B-421F211B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0F0AD1C-57A5-5979-1ABF-3F144C65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BC79F2-8F00-1B44-0F45-20368109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6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B3BB61-59C4-A03A-9952-A597F057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A17FFC-4F22-3301-3FD5-68253ABAE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FE11C6B-9D18-FBB6-C858-727F999EB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2ED060C-505C-A35C-4122-9F5505C3F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AE066B3-CDBB-33FB-2590-0B3806E0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21A7648-B434-E3B6-5D8B-926F2193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5EDB47-67C9-3985-4D18-9C306B944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46C6742-7151-62A6-54E7-74786C0A1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9E49855-A220-D1C0-690A-16426B1A3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2BC5C86-40B5-4C49-457B-5B7FCF9BB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C6440C0-D769-8225-F120-0B1532591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3778116-85D5-99F4-02E7-28195B41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748CDED-D7E2-1E86-F2AB-F6345C19F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CE67494-4992-2844-372B-9D463B26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7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276620-6B03-F4E1-C744-60799B69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E7EEAFB-4899-245B-5337-FF2C247D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CD155E4-5B41-2790-0F07-81AE3474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1EC1071-83E7-310F-45E0-F71EF178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5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88EA2E0-5BA8-6C72-D9C3-17D8C7B3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9E5B3A3-14EA-17F8-9A85-CFE46D72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EDF380-9800-7297-4D7E-C30E77A6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9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DDFCCE-963E-78D0-876A-2B514A95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C21562-F984-C722-EAB0-935982E32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CE4A92C-8E4D-C059-D9DA-2DE5624B5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14B2CE5-F8D4-626D-1F31-9A8CE2B0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D576100-601A-D03A-2F44-047096F6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0A93E34-B339-E38C-E183-5F40EAD3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342394-B2D7-C975-23B2-D78C5A59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624F002-5414-0ACF-5E49-2DF99E124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4674350-5CAE-A0A0-EB0B-28EEEB0B0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C5B1CFB-DB73-1647-E387-A429B240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26E883C-F16F-5ACC-A9B8-2851ABE42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B3E8FD7-CBCD-7BFE-C451-25110D2A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4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D4F55B-7FCE-A9E1-EC36-817C06CF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A9417A5-22F9-9480-BAE9-D4D89A475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3678E2F-2EF4-9B87-F61A-D10A0FA2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E73FC63-E17A-4D78-E127-AB48FF9F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5AB5CC-5F0D-1108-6C67-F07B20DE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F99AE1A-9842-AD9C-2244-EFF18C18F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5FCF961-2A1F-CBED-2C25-AE40A7A35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06F524D-974C-B266-9B65-83582F0E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D447916-5AE9-870C-373E-C53D77BE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752957B-2DA1-D49D-3F9B-50496F70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1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69151FD-2E25-1718-5C88-AACA67FE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171268A-BBF4-8AD6-2376-BDBC2AC7A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4C976CF-6E03-46F3-64C5-50C239DBD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D1317-4E58-4B52-B25F-A722F8A4B93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E6F23B0-F822-3A34-13C4-121E954E9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95DDA9-FF16-C8BD-2A9C-8314F5CFF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D587C-8A69-4810-AB8E-A1E098109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8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F27CD0-0F18-18C3-1376-6082DD2EF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Greedy Algorithm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C93AD41-892C-0B74-6011-EFA72145AF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DSA II Lab</a:t>
            </a:r>
          </a:p>
          <a:p>
            <a:r>
              <a:rPr lang="en-GB" smtClean="0">
                <a:latin typeface="Lucida Sans Typewriter" panose="020B0509030504030204" pitchFamily="49" charset="0"/>
              </a:rPr>
              <a:t>Week-6</a:t>
            </a:r>
            <a:endParaRPr lang="en-US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254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Activity Selection Problem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D25E7F9-8E8B-05D2-829D-3E2E55374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030" y="1792029"/>
            <a:ext cx="6439458" cy="3802710"/>
          </a:xfrm>
        </p:spPr>
      </p:pic>
    </p:spTree>
    <p:extLst>
      <p:ext uri="{BB962C8B-B14F-4D97-AF65-F5344CB8AC3E}">
        <p14:creationId xmlns:p14="http://schemas.microsoft.com/office/powerpoint/2010/main" val="73013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Fractional Knapsack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Lucida Sans Typewriter" panose="020B0509030504030204" pitchFamily="49" charset="0"/>
              </a:rPr>
              <a:t>Given weights and values of n items, you have to put as much as possible items in a knapsack of capacity W.</a:t>
            </a:r>
          </a:p>
          <a:p>
            <a:r>
              <a:rPr lang="en-GB" sz="2400" dirty="0">
                <a:latin typeface="Lucida Sans Typewriter" panose="020B0509030504030204" pitchFamily="49" charset="0"/>
              </a:rPr>
              <a:t>Steps to solve the problem:</a:t>
            </a:r>
          </a:p>
          <a:p>
            <a:pPr lvl="1"/>
            <a:r>
              <a:rPr lang="en-GB" sz="2000" dirty="0">
                <a:latin typeface="Lucida Sans Typewriter" panose="020B0509030504030204" pitchFamily="49" charset="0"/>
              </a:rPr>
              <a:t>Sort the items based on per unit value in descending order</a:t>
            </a:r>
          </a:p>
          <a:p>
            <a:pPr lvl="1"/>
            <a:r>
              <a:rPr lang="en-GB" sz="2000" dirty="0">
                <a:latin typeface="Lucida Sans Typewriter" panose="020B0509030504030204" pitchFamily="49" charset="0"/>
              </a:rPr>
              <a:t>Pick an item.</a:t>
            </a:r>
          </a:p>
          <a:p>
            <a:pPr lvl="2"/>
            <a:r>
              <a:rPr lang="en-GB" sz="1800" dirty="0">
                <a:latin typeface="Lucida Sans Typewriter" panose="020B0509030504030204" pitchFamily="49" charset="0"/>
              </a:rPr>
              <a:t>If the weight(w)of that item &lt;= Remaining capacity of knapsack(W), take the entire element</a:t>
            </a:r>
          </a:p>
          <a:p>
            <a:pPr lvl="2"/>
            <a:r>
              <a:rPr lang="en-GB" sz="1800" dirty="0">
                <a:latin typeface="Lucida Sans Typewriter" panose="020B0509030504030204" pitchFamily="49" charset="0"/>
              </a:rPr>
              <a:t>Otherwise, take as much as possible of that item to fill the knapsack</a:t>
            </a:r>
          </a:p>
          <a:p>
            <a:pPr lvl="1"/>
            <a:r>
              <a:rPr lang="en-GB" sz="2000" dirty="0">
                <a:latin typeface="Lucida Sans Typewriter" panose="020B0509030504030204" pitchFamily="49" charset="0"/>
              </a:rPr>
              <a:t>Continue step 2 until the knapsack is full.</a:t>
            </a:r>
            <a:endParaRPr lang="en-US" sz="20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25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Greedy Coin Change Problems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Given a value of </a:t>
            </a:r>
            <a:r>
              <a:rPr lang="en-GB" sz="2000" b="1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V 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Rs and an infinite supply of each of the denominations {1, 2, 5, 10, 20, 50, 100, 500, 1000} valued coins/notes, The task is to find the minimum number of coins and/or notes needed to make the change?</a:t>
            </a:r>
          </a:p>
          <a:p>
            <a:r>
              <a:rPr lang="en-GB" sz="2000" dirty="0">
                <a:highlight>
                  <a:srgbClr val="FFFFFF"/>
                </a:highlight>
                <a:latin typeface="Lucida Sans Typewriter" panose="020B0509030504030204" pitchFamily="49" charset="0"/>
              </a:rPr>
              <a:t>Steps to solve the problem:</a:t>
            </a:r>
          </a:p>
          <a:p>
            <a:pPr lvl="1"/>
            <a:r>
              <a:rPr lang="en-GB" sz="1800" dirty="0">
                <a:highlight>
                  <a:srgbClr val="FFFFFF"/>
                </a:highlight>
                <a:latin typeface="Lucida Sans Typewriter" panose="020B0509030504030204" pitchFamily="49" charset="0"/>
              </a:rPr>
              <a:t>Sort the available coins in descending order</a:t>
            </a:r>
          </a:p>
          <a:p>
            <a:pPr lvl="1"/>
            <a:r>
              <a:rPr lang="en-GB" sz="1800" dirty="0">
                <a:highlight>
                  <a:srgbClr val="FFFFFF"/>
                </a:highlight>
                <a:latin typeface="Lucida Sans Typewriter" panose="020B0509030504030204" pitchFamily="49" charset="0"/>
              </a:rPr>
              <a:t>Find the largest denomination that is smaller than the remaining element. Add the denomination to the count, Subtract the value of denomination from the amount</a:t>
            </a:r>
          </a:p>
          <a:p>
            <a:pPr lvl="1"/>
            <a:r>
              <a:rPr lang="en-GB" sz="1800" dirty="0">
                <a:highlight>
                  <a:srgbClr val="FFFFFF"/>
                </a:highlight>
                <a:latin typeface="Lucida Sans Typewriter" panose="020B0509030504030204" pitchFamily="49" charset="0"/>
              </a:rPr>
              <a:t>Keep finding until the amount &gt; 0 .</a:t>
            </a:r>
            <a:endParaRPr lang="en-US" sz="18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21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Practice problems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834956"/>
            <a:ext cx="11207620" cy="43513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dirty="0">
                <a:latin typeface="Lucida Sans Typewriter" panose="020B0509030504030204" pitchFamily="49" charset="0"/>
              </a:rPr>
              <a:t>Polycarp plays a well-known computer game (we won't mention its name). In this game, he can craft tools of two types — shovels and swords. </a:t>
            </a:r>
          </a:p>
          <a:p>
            <a:pPr marL="457200" lvl="1" indent="0">
              <a:buNone/>
            </a:pPr>
            <a:r>
              <a:rPr lang="en-GB" sz="20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To craft a shovel, Polycarp spends two sticks and one diamond; </a:t>
            </a:r>
          </a:p>
          <a:p>
            <a:pPr marL="457200" lvl="1" indent="0">
              <a:buNone/>
            </a:pPr>
            <a:r>
              <a:rPr lang="en-GB" sz="20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to craft a sword, Polycarp spends two diamonds and one stick. </a:t>
            </a:r>
          </a:p>
          <a:p>
            <a:pPr marL="457200" lvl="1" indent="0">
              <a:buNone/>
            </a:pPr>
            <a:r>
              <a:rPr lang="en-GB" sz="2000" dirty="0">
                <a:latin typeface="Lucida Sans Typewriter" panose="020B0509030504030204" pitchFamily="49" charset="0"/>
              </a:rPr>
              <a:t>Each tool can be sold for exactly one dollar. How many dollars can Polycarp earn, if he has a sticks and b diamonds?</a:t>
            </a:r>
            <a:endParaRPr lang="en-US" sz="200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08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Practice problems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483567"/>
            <a:ext cx="11207620" cy="4702727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2600" b="1" i="0" u="none" strike="noStrike" baseline="0" dirty="0">
                <a:solidFill>
                  <a:srgbClr val="202020"/>
                </a:solidFill>
                <a:latin typeface="Lucida Sans Typewriter" panose="020B0509030504030204" pitchFamily="49" charset="0"/>
              </a:rPr>
              <a:t>2. Check if it is possible to survive on an Island.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600" b="1" i="0" u="none" strike="noStrike" baseline="0" dirty="0">
                <a:solidFill>
                  <a:srgbClr val="202020"/>
                </a:solidFill>
                <a:latin typeface="Lucida Sans Typewriter" panose="020B0509030504030204" pitchFamily="49" charset="0"/>
              </a:rPr>
              <a:t> </a:t>
            </a:r>
            <a:endParaRPr lang="en-GB" sz="32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500" b="0" i="0" u="none" strike="noStrike" baseline="0" dirty="0" err="1">
                <a:solidFill>
                  <a:srgbClr val="253138"/>
                </a:solidFill>
                <a:latin typeface="Lucida Sans Typewriter" panose="020B0509030504030204" pitchFamily="49" charset="0"/>
              </a:rPr>
              <a:t>Jarif</a:t>
            </a: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 got stuck on an island. There is only one shop on this island, and it is open on all days of the week except for Sunday. Consider following constraints: </a:t>
            </a:r>
            <a:endParaRPr lang="en-GB" sz="25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N – The maximum unit of food you can buy each day.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S – Number of days you are required to survive.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M – Unit of food required each day to survive.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Currently, it’s Monday, and he needs to survive for the next </a:t>
            </a:r>
            <a:r>
              <a:rPr lang="en-GB" sz="2500" b="1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‘S’ </a:t>
            </a: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days. </a:t>
            </a:r>
            <a:endParaRPr lang="en-GB" sz="25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Find the minimum number of days on which you need to buy food from the shop so that he can survive the next ‘</a:t>
            </a:r>
            <a:r>
              <a:rPr lang="en-GB" sz="2500" b="1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S’ </a:t>
            </a:r>
            <a:r>
              <a:rPr lang="en-GB" sz="2500" b="0" i="0" u="none" strike="noStrike" baseline="0" dirty="0">
                <a:solidFill>
                  <a:srgbClr val="253138"/>
                </a:solidFill>
                <a:latin typeface="Lucida Sans Typewriter" panose="020B0509030504030204" pitchFamily="49" charset="0"/>
              </a:rPr>
              <a:t>days or determine that it isn’t possible to survive. </a:t>
            </a:r>
            <a:endParaRPr lang="en-GB" sz="2500" b="0" i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b="1" i="0" u="none" strike="noStrike" baseline="0" dirty="0">
                <a:solidFill>
                  <a:srgbClr val="92D050"/>
                </a:solidFill>
                <a:latin typeface="Lucida Sans Typewriter" panose="020B0509030504030204" pitchFamily="49" charset="0"/>
              </a:rPr>
              <a:t>Example 1: </a:t>
            </a:r>
            <a:endParaRPr lang="en-US" sz="2200" b="0" i="0" u="none" strike="noStrike" baseline="0" dirty="0">
              <a:solidFill>
                <a:srgbClr val="92D050"/>
              </a:solidFill>
              <a:latin typeface="Lucida Sans Typewriter" panose="020B0509030504030204" pitchFamily="49" charset="0"/>
            </a:endParaRP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22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Input: S = 10, N = 16, M = 2 </a:t>
            </a:r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Output: 2 </a:t>
            </a:r>
          </a:p>
        </p:txBody>
      </p:sp>
    </p:spTree>
    <p:extLst>
      <p:ext uri="{BB962C8B-B14F-4D97-AF65-F5344CB8AC3E}">
        <p14:creationId xmlns:p14="http://schemas.microsoft.com/office/powerpoint/2010/main" val="171995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Practice problems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483567"/>
            <a:ext cx="11207620" cy="470272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600" b="1" u="none" strike="noStrike" baseline="0" dirty="0">
                <a:solidFill>
                  <a:srgbClr val="202020"/>
                </a:solidFill>
                <a:latin typeface="Lucida Sans Typewriter" panose="020B0509030504030204" pitchFamily="49" charset="0"/>
              </a:rPr>
              <a:t>3. </a:t>
            </a: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Following items are available in a grocery shop: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➢ 12 kilogram rice grain which costs 840 taka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➢ 10 kilogram salt which costs 870 taka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➢ 8 kilogram saffron powder which costs 2000 taka and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➢ 5 kilogram sugar which costs 500 taka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b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 A group of thieves (Thief 1, Thief 2, … Thief M) have come to steal from that shop, </a:t>
            </a:r>
            <a:r>
              <a:rPr lang="en-GB" sz="1800" b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each with a knapsack of capacity 9 kg</a:t>
            </a: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. The thieves are entering in serial, Thief 2 enters after Thief 1 is done with stealing, Thief 3 enters after Thief 2 is done with stealing and so on. Since each thief wants to maximize his/her profit, </a:t>
            </a:r>
            <a:r>
              <a:rPr lang="en-GB" sz="1800" b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how many thieves </a:t>
            </a: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will be needed in the group to empty the grocery shop and </a:t>
            </a:r>
            <a:r>
              <a:rPr lang="en-GB" sz="1800" b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what are the items </a:t>
            </a:r>
            <a:r>
              <a:rPr lang="en-GB" sz="1800" b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that each of those thieves carry? </a:t>
            </a:r>
            <a:r>
              <a:rPr lang="en-GB" sz="1800" dirty="0" smtClean="0">
                <a:solidFill>
                  <a:srgbClr val="000000"/>
                </a:solidFill>
                <a:latin typeface="Lucida Sans Typewriter" panose="020B0509030504030204" pitchFamily="49" charset="0"/>
              </a:rPr>
              <a:t>Also print each thief’s profit.</a:t>
            </a:r>
            <a:endParaRPr lang="en-GB" sz="3200" b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48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Practice problems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483567"/>
            <a:ext cx="11207620" cy="4702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202020"/>
                </a:solidFill>
                <a:latin typeface="Lucida Sans Typewriter" panose="020B0509030504030204" pitchFamily="49" charset="0"/>
              </a:rPr>
              <a:t>4. 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You are given the arrival and the departure times of eight trains for a railway platform, and each one is in the format: [arrival time, departure time). Only one train can use the platform at a time. There must be at least 1 unit time gap between 2 consecutive trains. Suppose that you have got the following train-use requests for the next day. </a:t>
            </a:r>
          </a:p>
          <a:p>
            <a:pPr marL="0" indent="0">
              <a:buNone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{ [8, 12), [6, 9), [11, 14), [2, 7), [1, 7), [12, 20), [7, 12) , [13, 19) } </a:t>
            </a:r>
          </a:p>
          <a:p>
            <a:pPr marL="0" indent="0">
              <a:buNone/>
            </a:pPr>
            <a:r>
              <a:rPr lang="en-GB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Find the </a:t>
            </a:r>
            <a:r>
              <a:rPr lang="en-GB" sz="2000" b="1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maximum number of trains 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that can use the platform without any collision by using </a:t>
            </a:r>
            <a:r>
              <a:rPr lang="en-GB" sz="2000" b="0" i="1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earliest departure time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Lucida Sans Typewriter" panose="020B0509030504030204" pitchFamily="49" charset="0"/>
              </a:rPr>
              <a:t>. 	</a:t>
            </a:r>
          </a:p>
          <a:p>
            <a:pPr marL="0" indent="0">
              <a:lnSpc>
                <a:spcPct val="110000"/>
              </a:lnSpc>
              <a:buNone/>
            </a:pPr>
            <a:endParaRPr lang="en-GB" sz="3600" b="0" u="none" strike="noStrike" baseline="0" dirty="0">
              <a:solidFill>
                <a:srgbClr val="000000"/>
              </a:solidFill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23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Practice problems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483567"/>
            <a:ext cx="11207620" cy="470272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sz="2400" b="1" dirty="0">
                <a:latin typeface="Lucida Sans Typewriter" panose="020B0509030504030204" pitchFamily="49" charset="0"/>
              </a:rPr>
              <a:t>5. </a:t>
            </a:r>
            <a:r>
              <a:rPr lang="en-GB" sz="20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You are given an array 𝐴 of length 𝑁. In one move, select an integer 𝑋 and do one of the following operations:</a:t>
            </a:r>
          </a:p>
          <a:p>
            <a:pPr algn="l">
              <a:buFont typeface="+mj-lt"/>
              <a:buAutoNum type="arabicPeriod"/>
            </a:pPr>
            <a:r>
              <a:rPr lang="en-GB" sz="20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Choose one index 𝑖(1&lt;=𝑖&lt;=𝑁) such that |𝐴[𝑖]−𝑋|&lt;=1 and remove 𝐴[𝑖].</a:t>
            </a:r>
          </a:p>
          <a:p>
            <a:pPr algn="l">
              <a:buFont typeface="+mj-lt"/>
              <a:buAutoNum type="arabicPeriod"/>
            </a:pPr>
            <a:r>
              <a:rPr lang="en-GB" sz="20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Choose two indices 𝑖 and 𝑗(1&lt;=𝑖,𝑗&lt;=𝑁,𝑖≠𝑗) such that |𝐴[𝑖]−𝑋|&lt;=1 and |𝐴[𝑗]−𝑋|&lt;=1 and remove 𝐴[𝑖] and 𝐴[𝑗] from the array.</a:t>
            </a:r>
          </a:p>
          <a:p>
            <a:pPr marL="0" indent="0" algn="l">
              <a:buNone/>
            </a:pPr>
            <a:r>
              <a:rPr lang="en-GB" sz="20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Find the minimum number of moves required to make the array empty.</a:t>
            </a:r>
          </a:p>
          <a:p>
            <a:pPr marL="0" indent="0" algn="l">
              <a:buNone/>
            </a:pPr>
            <a:endParaRPr lang="en-GB" sz="2000" dirty="0">
              <a:highlight>
                <a:srgbClr val="FFFFFF"/>
              </a:highlight>
              <a:latin typeface="Lucida Sans Typewriter" panose="020B0509030504030204" pitchFamily="49" charset="0"/>
            </a:endParaRPr>
          </a:p>
          <a:p>
            <a:pPr marL="0" indent="0" algn="l">
              <a:buNone/>
            </a:pPr>
            <a:r>
              <a:rPr lang="en-GB" sz="20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Sample input:</a:t>
            </a:r>
          </a:p>
          <a:p>
            <a:pPr marL="0" indent="0" algn="l">
              <a:buNone/>
            </a:pPr>
            <a:r>
              <a:rPr lang="en-GB" sz="1600" dirty="0">
                <a:highlight>
                  <a:srgbClr val="FFFFFF"/>
                </a:highlight>
                <a:latin typeface="Lucida Sans Typewriter" panose="020B0509030504030204" pitchFamily="49" charset="0"/>
              </a:rPr>
              <a:t>A[]={1 3 5 9} output: 3</a:t>
            </a:r>
          </a:p>
          <a:p>
            <a:pPr marL="0" indent="0" algn="l">
              <a:buNone/>
            </a:pPr>
            <a:r>
              <a:rPr lang="en-GB" sz="16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you can choose X = 4, then remove A[1] and A[2]</a:t>
            </a:r>
          </a:p>
          <a:p>
            <a:pPr marL="0" indent="0">
              <a:buNone/>
            </a:pPr>
            <a:r>
              <a:rPr lang="en-GB" sz="16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you can choose X = 1, then remove A[0]</a:t>
            </a:r>
          </a:p>
          <a:p>
            <a:pPr marL="0" indent="0">
              <a:buNone/>
            </a:pPr>
            <a:r>
              <a:rPr lang="en-GB" sz="16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you can </a:t>
            </a:r>
            <a:r>
              <a:rPr lang="en-GB" sz="1600" b="0" i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choose X = 9</a:t>
            </a:r>
            <a:r>
              <a:rPr lang="en-GB" sz="1600" b="0" i="0" dirty="0">
                <a:effectLst/>
                <a:highlight>
                  <a:srgbClr val="FFFFFF"/>
                </a:highlight>
                <a:latin typeface="Lucida Sans Typewriter" panose="020B0509030504030204" pitchFamily="49" charset="0"/>
              </a:rPr>
              <a:t>, then remove A[3]</a:t>
            </a:r>
          </a:p>
          <a:p>
            <a:pPr marL="0" indent="0">
              <a:buNone/>
            </a:pPr>
            <a:endParaRPr lang="en-GB" sz="2000" b="0" i="0" dirty="0">
              <a:effectLst/>
              <a:highlight>
                <a:srgbClr val="FFFFFF"/>
              </a:highlight>
              <a:latin typeface="Lucida Sans Typewriter" panose="020B0509030504030204" pitchFamily="49" charset="0"/>
            </a:endParaRPr>
          </a:p>
          <a:p>
            <a:pPr marL="0" indent="0" algn="l">
              <a:buNone/>
            </a:pPr>
            <a:endParaRPr lang="en-GB" sz="2000" b="0" i="0" dirty="0">
              <a:effectLst/>
              <a:highlight>
                <a:srgbClr val="FFFFFF"/>
              </a:highlight>
              <a:latin typeface="Lucida Sans Typewriter" panose="020B0509030504030204" pitchFamily="49" charset="0"/>
            </a:endParaRPr>
          </a:p>
          <a:p>
            <a:pPr marL="0" indent="0" algn="l">
              <a:buNone/>
            </a:pPr>
            <a:endParaRPr lang="en-GB" sz="2000" b="0" i="0" dirty="0">
              <a:effectLst/>
              <a:highlight>
                <a:srgbClr val="FFFFFF"/>
              </a:highlight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GB" sz="3200" b="0" u="none" strike="noStrike" baseline="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229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E669B5-6201-806F-F5C5-BB0534D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Lucida Sans Typewriter" panose="020B0509030504030204" pitchFamily="49" charset="0"/>
              </a:rPr>
              <a:t>Practice problems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A5A6CA-C6AE-3C4A-673C-820A2DBB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34" y="1483567"/>
            <a:ext cx="11207620" cy="4702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Lucida Sans Typewriter" panose="020B0509030504030204" pitchFamily="49" charset="0"/>
              </a:rPr>
              <a:t>6</a:t>
            </a:r>
            <a:r>
              <a:rPr lang="en-GB" b="1" dirty="0" smtClean="0">
                <a:latin typeface="Lucida Sans Typewriter" panose="020B0509030504030204" pitchFamily="49" charset="0"/>
              </a:rPr>
              <a:t>. </a:t>
            </a:r>
            <a:r>
              <a:rPr lang="en-US" sz="2400" dirty="0">
                <a:latin typeface="Lucida Sans Typewriter" pitchFamily="49" charset="0"/>
              </a:rPr>
              <a:t>Given the arrival and the departure times (in minutes) of 8 trains for a railway platform, find out the maximum number of trains that can use that platform without any collision, using a greedy algorithm. There must exist at least 10 minutes of safety break between the departure of one train and arrival of the next one.</a:t>
            </a:r>
          </a:p>
          <a:p>
            <a:pPr marL="0" indent="0">
              <a:buNone/>
            </a:pPr>
            <a:r>
              <a:rPr lang="en-US" sz="2400" dirty="0">
                <a:latin typeface="Lucida Sans Typewriter" pitchFamily="49" charset="0"/>
              </a:rPr>
              <a:t>[1000, 1030], [840, 1030], [850, 1040], [1700, 2000], [800, 835], [1300, 1800], [1500, 1650], [1200, 1380]</a:t>
            </a:r>
          </a:p>
          <a:p>
            <a:pPr marL="0" indent="0">
              <a:buNone/>
            </a:pPr>
            <a:r>
              <a:rPr lang="en-GB" sz="2400" dirty="0" smtClean="0">
                <a:highlight>
                  <a:srgbClr val="FFFFFF"/>
                </a:highlight>
                <a:latin typeface="Lucida Sans Typewriter" panose="020B0509030504030204" pitchFamily="49" charset="0"/>
              </a:rPr>
              <a:t>You must print the selected trains.</a:t>
            </a:r>
            <a:endParaRPr lang="en-GB" sz="2400" b="0" i="0" dirty="0">
              <a:effectLst/>
              <a:highlight>
                <a:srgbClr val="FFFFFF"/>
              </a:highlight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GB" sz="2400" b="0" i="0" dirty="0">
              <a:effectLst/>
              <a:highlight>
                <a:srgbClr val="FFFFFF"/>
              </a:highlight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GB" sz="2400" b="0" i="0" dirty="0">
              <a:effectLst/>
              <a:highlight>
                <a:srgbClr val="FFFFFF"/>
              </a:highlight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endParaRPr lang="en-GB" sz="3600" b="0" u="none" strike="noStrike" baseline="0" dirty="0"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15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758</Words>
  <Application>Microsoft Office PowerPoint</Application>
  <PresentationFormat>Custom</PresentationFormat>
  <Paragraphs>65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Greedy Algorithm</vt:lpstr>
      <vt:lpstr>Activity Selection Problem</vt:lpstr>
      <vt:lpstr>Fractional Knapsack</vt:lpstr>
      <vt:lpstr>Greedy Coin Change Problems</vt:lpstr>
      <vt:lpstr>Practice problems</vt:lpstr>
      <vt:lpstr>Practice problems</vt:lpstr>
      <vt:lpstr>Practice problems</vt:lpstr>
      <vt:lpstr>Practice problems</vt:lpstr>
      <vt:lpstr>Practice problems</vt:lpstr>
      <vt:lpstr>Practice problems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</dc:title>
  <dc:creator>1705040 - Umama Rahman</dc:creator>
  <cp:lastModifiedBy>Ms. Umama Rahman</cp:lastModifiedBy>
  <cp:revision>27</cp:revision>
  <dcterms:created xsi:type="dcterms:W3CDTF">2024-07-05T14:27:00Z</dcterms:created>
  <dcterms:modified xsi:type="dcterms:W3CDTF">2024-12-10T04:05:02Z</dcterms:modified>
</cp:coreProperties>
</file>