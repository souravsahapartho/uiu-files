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4"/>
  </p:notesMasterIdLst>
  <p:sldIdLst>
    <p:sldId id="447" r:id="rId5"/>
    <p:sldId id="257" r:id="rId6"/>
    <p:sldId id="258" r:id="rId7"/>
    <p:sldId id="259" r:id="rId8"/>
    <p:sldId id="260" r:id="rId9"/>
    <p:sldId id="262" r:id="rId10"/>
    <p:sldId id="264" r:id="rId11"/>
    <p:sldId id="261" r:id="rId12"/>
    <p:sldId id="269" r:id="rId13"/>
    <p:sldId id="268" r:id="rId14"/>
    <p:sldId id="271" r:id="rId15"/>
    <p:sldId id="272" r:id="rId16"/>
    <p:sldId id="274" r:id="rId17"/>
    <p:sldId id="275" r:id="rId18"/>
    <p:sldId id="276" r:id="rId19"/>
    <p:sldId id="277" r:id="rId20"/>
    <p:sldId id="279" r:id="rId21"/>
    <p:sldId id="281" r:id="rId22"/>
    <p:sldId id="283" r:id="rId23"/>
    <p:sldId id="267" r:id="rId24"/>
    <p:sldId id="280" r:id="rId25"/>
    <p:sldId id="285" r:id="rId26"/>
    <p:sldId id="286" r:id="rId27"/>
    <p:sldId id="287" r:id="rId28"/>
    <p:sldId id="288" r:id="rId29"/>
    <p:sldId id="289" r:id="rId30"/>
    <p:sldId id="291" r:id="rId31"/>
    <p:sldId id="284" r:id="rId32"/>
    <p:sldId id="406" r:id="rId33"/>
    <p:sldId id="292" r:id="rId34"/>
    <p:sldId id="407" r:id="rId35"/>
    <p:sldId id="408" r:id="rId36"/>
    <p:sldId id="410" r:id="rId37"/>
    <p:sldId id="411" r:id="rId38"/>
    <p:sldId id="413" r:id="rId39"/>
    <p:sldId id="409" r:id="rId40"/>
    <p:sldId id="412" r:id="rId41"/>
    <p:sldId id="414" r:id="rId42"/>
    <p:sldId id="417" r:id="rId43"/>
    <p:sldId id="448" r:id="rId44"/>
    <p:sldId id="425" r:id="rId45"/>
    <p:sldId id="424" r:id="rId46"/>
    <p:sldId id="426" r:id="rId47"/>
    <p:sldId id="429" r:id="rId48"/>
    <p:sldId id="427" r:id="rId49"/>
    <p:sldId id="428" r:id="rId50"/>
    <p:sldId id="430" r:id="rId51"/>
    <p:sldId id="431" r:id="rId52"/>
    <p:sldId id="44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B40"/>
    <a:srgbClr val="FFFEEF"/>
    <a:srgbClr val="34006A"/>
    <a:srgbClr val="78B4E5"/>
    <a:srgbClr val="7703F0"/>
    <a:srgbClr val="A1F8FF"/>
    <a:srgbClr val="FFE54A"/>
    <a:srgbClr val="80D819"/>
    <a:srgbClr val="00AE7D"/>
    <a:srgbClr val="EEF1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56" autoAdjust="0"/>
  </p:normalViewPr>
  <p:slideViewPr>
    <p:cSldViewPr snapToGrid="0">
      <p:cViewPr varScale="1">
        <p:scale>
          <a:sx n="72" d="100"/>
          <a:sy n="72"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69050-476F-4869-895F-FE39C68938B7}"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203CC1-A552-450B-981D-4A966359F831}" type="slidenum">
              <a:rPr lang="en-US" smtClean="0"/>
              <a:t>‹#›</a:t>
            </a:fld>
            <a:endParaRPr lang="en-US"/>
          </a:p>
        </p:txBody>
      </p:sp>
    </p:spTree>
    <p:extLst>
      <p:ext uri="{BB962C8B-B14F-4D97-AF65-F5344CB8AC3E}">
        <p14:creationId xmlns:p14="http://schemas.microsoft.com/office/powerpoint/2010/main" val="34792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203CC1-A552-450B-981D-4A966359F831}" type="slidenum">
              <a:rPr lang="en-US" smtClean="0"/>
              <a:t>43</a:t>
            </a:fld>
            <a:endParaRPr lang="en-US"/>
          </a:p>
        </p:txBody>
      </p:sp>
    </p:spTree>
    <p:extLst>
      <p:ext uri="{BB962C8B-B14F-4D97-AF65-F5344CB8AC3E}">
        <p14:creationId xmlns:p14="http://schemas.microsoft.com/office/powerpoint/2010/main" val="3733987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203CC1-A552-450B-981D-4A966359F831}" type="slidenum">
              <a:rPr lang="en-US" smtClean="0"/>
              <a:t>44</a:t>
            </a:fld>
            <a:endParaRPr lang="en-US"/>
          </a:p>
        </p:txBody>
      </p:sp>
    </p:spTree>
    <p:extLst>
      <p:ext uri="{BB962C8B-B14F-4D97-AF65-F5344CB8AC3E}">
        <p14:creationId xmlns:p14="http://schemas.microsoft.com/office/powerpoint/2010/main" val="2450521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C244-CE2D-0066-73D0-9167EDD9D3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A35B6C-7F53-A064-03C4-B2F9122F63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B7E0F1-E064-2CE8-60C3-1DCBA4B54F02}"/>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0854C188-B3DB-0BEF-1D21-1F86B62248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66EF37-F2B2-B4A9-96F4-EE3FE68FC0EC}"/>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293737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29ED-B896-3360-0A90-11286D01AA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3ECA0-5998-9B29-6B38-4D37F66D24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D52756-2DC4-DB4C-0F8C-83EE2D8CC7EF}"/>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B6DCCAC1-199C-4E54-4ECB-B35E54DA9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41DF13-557F-FC90-DC83-F7BDDC7CF481}"/>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2117672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7D903-AC63-6BD0-23BA-F5596C5B81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9D929A-512F-511A-269F-98068CD617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054608-6A6C-0144-0815-30D68758B793}"/>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4AC44206-3940-48B5-11B4-81DE7B5C3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DC2CC9-3C6E-74E4-7F5D-5BCB9B5983D6}"/>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2130454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EAFE7-DEC3-0966-F0AB-6F40919FB6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58FA3E-FE83-FA4C-632C-0BE96C5421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5F6669-FAE4-91E8-0D40-D2DD48E67C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92F6C1-C9C8-3F19-83FE-20475C69991D}"/>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6" name="Footer Placeholder 5">
            <a:extLst>
              <a:ext uri="{FF2B5EF4-FFF2-40B4-BE49-F238E27FC236}">
                <a16:creationId xmlns:a16="http://schemas.microsoft.com/office/drawing/2014/main" id="{130EBEBA-6D4B-3FC7-76D0-078A2B925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A733-6D18-AD4F-D80E-58ED9B8BA30D}"/>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535063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0F5E6-2061-CD5E-F326-8BB3B7FEC5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EF3F47-CAC8-0C92-4E9A-1B9864B58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B1DC91-3308-C5FA-3B35-6A5ACAE29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32B35A-6000-02A7-8E70-CD15FA1662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162D91-75B6-4A2B-88A4-5F119DC568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57B082-E4BF-6113-5AB2-AD25FFB54B9C}"/>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8" name="Footer Placeholder 7">
            <a:extLst>
              <a:ext uri="{FF2B5EF4-FFF2-40B4-BE49-F238E27FC236}">
                <a16:creationId xmlns:a16="http://schemas.microsoft.com/office/drawing/2014/main" id="{7D5BD040-C746-84A4-66E1-3F1B4B4747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CCDDAC-304B-4D7B-93E2-184A1C6EF82B}"/>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40208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73FB6-855C-2E9E-2177-1FB5FFC6B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A52010-C07B-1D1A-B634-83AE343D2666}"/>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4" name="Footer Placeholder 3">
            <a:extLst>
              <a:ext uri="{FF2B5EF4-FFF2-40B4-BE49-F238E27FC236}">
                <a16:creationId xmlns:a16="http://schemas.microsoft.com/office/drawing/2014/main" id="{B569AA8D-3931-E5C7-5F52-A2D1B719A3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C1AB69-7E9E-3CDA-C254-016929B23EA3}"/>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3750223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F39DCA-BE02-CC0F-E7FE-AEA3E17E94B2}"/>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3" name="Footer Placeholder 2">
            <a:extLst>
              <a:ext uri="{FF2B5EF4-FFF2-40B4-BE49-F238E27FC236}">
                <a16:creationId xmlns:a16="http://schemas.microsoft.com/office/drawing/2014/main" id="{DA7E7D95-F7B6-2AA9-2FA4-5A13B03D0F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1A265-B5D0-E9CA-0054-78EEF3A96D7A}"/>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20259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E6C1-3724-FBBA-DEB5-7C81F4EA2B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02C4E6-F63B-6C63-A54A-8EDA00637D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0EDC6A-F32C-AB7A-5A6A-2A67F6B07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69833-5EF7-9E40-260C-1893EF505B44}"/>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6" name="Footer Placeholder 5">
            <a:extLst>
              <a:ext uri="{FF2B5EF4-FFF2-40B4-BE49-F238E27FC236}">
                <a16:creationId xmlns:a16="http://schemas.microsoft.com/office/drawing/2014/main" id="{DFEBBA53-5870-6149-E9CF-AEF9DB4FE3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A6109E-F06C-37B2-251E-8A1256AD2AC2}"/>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137663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D6BD-DED8-E683-0801-099AF03800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F6394C-F0F3-9A13-4DBC-7EDE895E25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4752F9-2356-5A4E-0E99-D51AD45DD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F13421-3024-C369-83AD-43808C193D93}"/>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6" name="Footer Placeholder 5">
            <a:extLst>
              <a:ext uri="{FF2B5EF4-FFF2-40B4-BE49-F238E27FC236}">
                <a16:creationId xmlns:a16="http://schemas.microsoft.com/office/drawing/2014/main" id="{B4E17EE2-66D0-2107-E576-0D35D01E33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0AB9AA-C85A-4464-3C2C-6C992F96863D}"/>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2164896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D87A-52E7-2467-CE3B-4FF837F290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22315B-1C4D-63E1-7FCD-066A606209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0F2CA-418F-E1A8-2EC0-93E30AC3A038}"/>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C1B85F6F-27AC-8790-1B64-F3B5B95B6D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E0F7D6-FB01-029F-AB88-8F0C9F18A22D}"/>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126689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D9A133-9D14-F259-9C26-0137B0BFDD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271E12-6B13-0D32-D7A7-EFF4C85735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08D57F-2D0B-B41F-345F-DD83B93C149C}"/>
              </a:ext>
            </a:extLst>
          </p:cNvPr>
          <p:cNvSpPr>
            <a:spLocks noGrp="1"/>
          </p:cNvSpPr>
          <p:nvPr>
            <p:ph type="dt" sz="half" idx="10"/>
          </p:nvPr>
        </p:nvSpPr>
        <p:spPr/>
        <p:txBody>
          <a:body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C26DED27-EA51-B168-5736-3E82C84E9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EC9E8-1016-7D36-49D1-3709D694C714}"/>
              </a:ext>
            </a:extLst>
          </p:cNvPr>
          <p:cNvSpPr>
            <a:spLocks noGrp="1"/>
          </p:cNvSpPr>
          <p:nvPr>
            <p:ph type="sldNum" sz="quarter" idx="12"/>
          </p:nvPr>
        </p:nvSpPr>
        <p:spPr/>
        <p:txBody>
          <a:bodyPr/>
          <a:lstStyle/>
          <a:p>
            <a:fld id="{DE36F277-08F0-4E92-AC50-26A9007B684D}" type="slidenum">
              <a:rPr lang="en-US" smtClean="0"/>
              <a:t>‹#›</a:t>
            </a:fld>
            <a:endParaRPr lang="en-US"/>
          </a:p>
        </p:txBody>
      </p:sp>
    </p:spTree>
    <p:extLst>
      <p:ext uri="{BB962C8B-B14F-4D97-AF65-F5344CB8AC3E}">
        <p14:creationId xmlns:p14="http://schemas.microsoft.com/office/powerpoint/2010/main" val="39693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C1822C-2803-4E46-AF02-6952DAB2BC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E2BE61-827C-D326-404A-69E4F58376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DD0DA9-2C98-7155-3394-466C65BBF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D77187-23A1-43FE-8F82-A0A23E842B1D}" type="datetimeFigureOut">
              <a:rPr lang="en-US" smtClean="0"/>
              <a:t>8/6/2025</a:t>
            </a:fld>
            <a:endParaRPr lang="en-US"/>
          </a:p>
        </p:txBody>
      </p:sp>
      <p:sp>
        <p:nvSpPr>
          <p:cNvPr id="5" name="Footer Placeholder 4">
            <a:extLst>
              <a:ext uri="{FF2B5EF4-FFF2-40B4-BE49-F238E27FC236}">
                <a16:creationId xmlns:a16="http://schemas.microsoft.com/office/drawing/2014/main" id="{D1C3F892-3449-8C71-8551-84DD6BDC0B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82DE63-98B7-1DFC-45F9-3D1F5C610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36F277-08F0-4E92-AC50-26A9007B684D}" type="slidenum">
              <a:rPr lang="en-US" smtClean="0"/>
              <a:t>‹#›</a:t>
            </a:fld>
            <a:endParaRPr lang="en-US"/>
          </a:p>
        </p:txBody>
      </p:sp>
    </p:spTree>
    <p:extLst>
      <p:ext uri="{BB962C8B-B14F-4D97-AF65-F5344CB8AC3E}">
        <p14:creationId xmlns:p14="http://schemas.microsoft.com/office/powerpoint/2010/main" val="1332244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2.png"/><Relationship Id="rId7"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5.png"/><Relationship Id="rId4" Type="http://schemas.openxmlformats.org/officeDocument/2006/relationships/image" Target="../media/image34.png"/><Relationship Id="rId9"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8000"/>
            <a:lum/>
          </a:blip>
          <a:srcRect/>
          <a:stretch>
            <a:fillRect/>
          </a:stretch>
        </a:blipFill>
        <a:effectLst/>
      </p:bgPr>
    </p:bg>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428625" y="2093429"/>
            <a:ext cx="11334750" cy="211454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2060"/>
              </a:buClr>
              <a:buSzPts val="2700"/>
              <a:buFont typeface="Calibri"/>
              <a:buNone/>
            </a:pPr>
            <a:r>
              <a:rPr lang="en-US" sz="2700" b="1" dirty="0">
                <a:solidFill>
                  <a:srgbClr val="002060"/>
                </a:solidFill>
              </a:rPr>
              <a:t>Lecture 3</a:t>
            </a:r>
            <a:br>
              <a:rPr lang="en-US" sz="2000" b="1" dirty="0">
                <a:solidFill>
                  <a:srgbClr val="002060"/>
                </a:solidFill>
              </a:rPr>
            </a:br>
            <a:r>
              <a:rPr lang="en-US" sz="7200" b="1" dirty="0">
                <a:solidFill>
                  <a:srgbClr val="002060"/>
                </a:solidFill>
                <a:latin typeface="Calibri"/>
                <a:ea typeface="Calibri"/>
                <a:cs typeface="Calibri"/>
                <a:sym typeface="Calibri"/>
              </a:rPr>
              <a:t>Inventory</a:t>
            </a:r>
            <a:endParaRPr sz="5400" b="1" dirty="0">
              <a:solidFill>
                <a:srgbClr val="002060"/>
              </a:solidFill>
              <a:latin typeface="Calibri"/>
              <a:ea typeface="Calibri"/>
              <a:cs typeface="Calibri"/>
              <a:sym typeface="Calibri"/>
            </a:endParaRPr>
          </a:p>
        </p:txBody>
      </p:sp>
      <p:sp>
        <p:nvSpPr>
          <p:cNvPr id="89" name="Google Shape;89;p1"/>
          <p:cNvSpPr txBox="1"/>
          <p:nvPr/>
        </p:nvSpPr>
        <p:spPr>
          <a:xfrm>
            <a:off x="571500" y="6381751"/>
            <a:ext cx="11334750" cy="476249"/>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002060"/>
              </a:buClr>
              <a:buSzPts val="2400"/>
              <a:buFont typeface="Calibri"/>
              <a:buNone/>
            </a:pPr>
            <a:r>
              <a:rPr lang="en-US" sz="2400" b="1" i="0" u="none" strike="noStrike" cap="none" dirty="0">
                <a:solidFill>
                  <a:srgbClr val="002060"/>
                </a:solidFill>
                <a:latin typeface="Calibri"/>
                <a:ea typeface="Calibri"/>
                <a:cs typeface="Calibri"/>
                <a:sym typeface="Calibri"/>
              </a:rPr>
              <a:t>IPE 3401 – Industrial and Operational Management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B8C111-2CFC-BACF-2CE4-883450B04D5B}"/>
              </a:ext>
            </a:extLst>
          </p:cNvPr>
          <p:cNvSpPr/>
          <p:nvPr/>
        </p:nvSpPr>
        <p:spPr>
          <a:xfrm>
            <a:off x="-1" y="0"/>
            <a:ext cx="4415163" cy="6858000"/>
          </a:xfrm>
          <a:prstGeom prst="rect">
            <a:avLst/>
          </a:prstGeom>
          <a:blipFill dpi="0" rotWithShape="1">
            <a:blip r:embed="rId2">
              <a:alphaModFix amt="89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Candara" panose="020E0502030303020204" pitchFamily="34" charset="0"/>
            </a:endParaRPr>
          </a:p>
        </p:txBody>
      </p:sp>
      <p:sp>
        <p:nvSpPr>
          <p:cNvPr id="6" name="Rectangle: Rounded Corners 5">
            <a:extLst>
              <a:ext uri="{FF2B5EF4-FFF2-40B4-BE49-F238E27FC236}">
                <a16:creationId xmlns:a16="http://schemas.microsoft.com/office/drawing/2014/main" id="{413C2FE2-28A7-1239-8FBF-97684B640CA2}"/>
              </a:ext>
            </a:extLst>
          </p:cNvPr>
          <p:cNvSpPr/>
          <p:nvPr/>
        </p:nvSpPr>
        <p:spPr>
          <a:xfrm>
            <a:off x="6404527" y="1216236"/>
            <a:ext cx="3713825" cy="532660"/>
          </a:xfrm>
          <a:prstGeom prst="roundRect">
            <a:avLst>
              <a:gd name="adj" fmla="val 50000"/>
            </a:avLst>
          </a:prstGeom>
          <a:solidFill>
            <a:srgbClr val="CEB0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ndara" panose="020E0502030303020204" pitchFamily="34" charset="0"/>
              </a:rPr>
              <a:t>A stock or store of goods</a:t>
            </a:r>
          </a:p>
        </p:txBody>
      </p:sp>
      <p:sp>
        <p:nvSpPr>
          <p:cNvPr id="7" name="Rectangle: Rounded Corners 6">
            <a:extLst>
              <a:ext uri="{FF2B5EF4-FFF2-40B4-BE49-F238E27FC236}">
                <a16:creationId xmlns:a16="http://schemas.microsoft.com/office/drawing/2014/main" id="{BC2F21B4-4524-4471-F2A1-9DF2D6B13443}"/>
              </a:ext>
            </a:extLst>
          </p:cNvPr>
          <p:cNvSpPr/>
          <p:nvPr/>
        </p:nvSpPr>
        <p:spPr>
          <a:xfrm>
            <a:off x="5453139" y="439445"/>
            <a:ext cx="5616602" cy="73240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Candara" panose="020E0502030303020204" pitchFamily="34" charset="0"/>
              </a:rPr>
              <a:t>What is Inventory?</a:t>
            </a:r>
            <a:endParaRPr lang="en-US" sz="4000" b="1" dirty="0">
              <a:solidFill>
                <a:schemeClr val="tx1"/>
              </a:solidFill>
              <a:latin typeface="Candara" panose="020E0502030303020204" pitchFamily="34" charset="0"/>
            </a:endParaRPr>
          </a:p>
        </p:txBody>
      </p:sp>
      <p:sp>
        <p:nvSpPr>
          <p:cNvPr id="10" name="Rectangle 9">
            <a:extLst>
              <a:ext uri="{FF2B5EF4-FFF2-40B4-BE49-F238E27FC236}">
                <a16:creationId xmlns:a16="http://schemas.microsoft.com/office/drawing/2014/main" id="{94E08AC1-19C6-FFFC-63A3-603CE6969244}"/>
              </a:ext>
            </a:extLst>
          </p:cNvPr>
          <p:cNvSpPr/>
          <p:nvPr/>
        </p:nvSpPr>
        <p:spPr>
          <a:xfrm>
            <a:off x="4577208" y="2984372"/>
            <a:ext cx="3175245" cy="14914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eaLnBrk="1" fontAlgn="auto" hangingPunct="1">
              <a:spcAft>
                <a:spcPts val="0"/>
              </a:spcAft>
              <a:defRPr/>
            </a:pPr>
            <a:r>
              <a:rPr lang="en-US" sz="2400" b="1" dirty="0">
                <a:solidFill>
                  <a:schemeClr val="tx1"/>
                </a:solidFill>
                <a:latin typeface="Candara" panose="020E0502030303020204" pitchFamily="34" charset="0"/>
              </a:rPr>
              <a:t>Independent Demand Items</a:t>
            </a:r>
          </a:p>
          <a:p>
            <a:pPr algn="ctr" eaLnBrk="1" fontAlgn="auto" hangingPunct="1">
              <a:spcAft>
                <a:spcPts val="0"/>
              </a:spcAft>
              <a:defRPr/>
            </a:pPr>
            <a:endParaRPr lang="en-US" sz="1600" b="1" dirty="0">
              <a:solidFill>
                <a:schemeClr val="tx1"/>
              </a:solidFill>
              <a:latin typeface="Candara" panose="020E0502030303020204" pitchFamily="34" charset="0"/>
            </a:endParaRPr>
          </a:p>
          <a:p>
            <a:pPr algn="ctr" eaLnBrk="1" fontAlgn="auto" hangingPunct="1">
              <a:spcAft>
                <a:spcPts val="0"/>
              </a:spcAft>
              <a:defRPr/>
            </a:pPr>
            <a:r>
              <a:rPr lang="en-US" sz="1600" dirty="0">
                <a:solidFill>
                  <a:schemeClr val="tx1"/>
                </a:solidFill>
                <a:latin typeface="Candara" panose="020E0502030303020204" pitchFamily="34" charset="0"/>
              </a:rPr>
              <a:t>Demand not related to any other item and primarily influenced by market conditions </a:t>
            </a:r>
          </a:p>
        </p:txBody>
      </p:sp>
      <p:sp>
        <p:nvSpPr>
          <p:cNvPr id="11" name="Rectangle 10">
            <a:extLst>
              <a:ext uri="{FF2B5EF4-FFF2-40B4-BE49-F238E27FC236}">
                <a16:creationId xmlns:a16="http://schemas.microsoft.com/office/drawing/2014/main" id="{26332766-111D-EEE0-DC44-A1922A62D250}"/>
              </a:ext>
            </a:extLst>
          </p:cNvPr>
          <p:cNvSpPr/>
          <p:nvPr/>
        </p:nvSpPr>
        <p:spPr>
          <a:xfrm>
            <a:off x="8760071" y="2925190"/>
            <a:ext cx="3175245" cy="14914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eaLnBrk="1" fontAlgn="auto" hangingPunct="1">
              <a:spcAft>
                <a:spcPts val="0"/>
              </a:spcAft>
              <a:defRPr/>
            </a:pPr>
            <a:r>
              <a:rPr lang="en-US" sz="2400" b="1" dirty="0">
                <a:solidFill>
                  <a:schemeClr val="tx1"/>
                </a:solidFill>
                <a:latin typeface="Candara" panose="020E0502030303020204" pitchFamily="34" charset="0"/>
              </a:rPr>
              <a:t>Dependent Demand Items</a:t>
            </a:r>
          </a:p>
          <a:p>
            <a:pPr algn="ctr" eaLnBrk="1" fontAlgn="auto" hangingPunct="1">
              <a:spcAft>
                <a:spcPts val="0"/>
              </a:spcAft>
              <a:defRPr/>
            </a:pPr>
            <a:endParaRPr lang="en-US" sz="1600" b="1" dirty="0">
              <a:solidFill>
                <a:schemeClr val="tx1"/>
              </a:solidFill>
              <a:latin typeface="Candara" panose="020E0502030303020204" pitchFamily="34" charset="0"/>
            </a:endParaRPr>
          </a:p>
          <a:p>
            <a:pPr algn="ctr" eaLnBrk="1" fontAlgn="auto" hangingPunct="1">
              <a:spcAft>
                <a:spcPts val="0"/>
              </a:spcAft>
              <a:defRPr/>
            </a:pPr>
            <a:r>
              <a:rPr lang="en-US" sz="1600" dirty="0">
                <a:solidFill>
                  <a:schemeClr val="tx1"/>
                </a:solidFill>
                <a:latin typeface="Candara" panose="020E0502030303020204" pitchFamily="34" charset="0"/>
              </a:rPr>
              <a:t>Demand for an item is influenced by the demand of another item</a:t>
            </a:r>
          </a:p>
        </p:txBody>
      </p:sp>
      <p:sp>
        <p:nvSpPr>
          <p:cNvPr id="13" name="Scroll: Horizontal 12">
            <a:extLst>
              <a:ext uri="{FF2B5EF4-FFF2-40B4-BE49-F238E27FC236}">
                <a16:creationId xmlns:a16="http://schemas.microsoft.com/office/drawing/2014/main" id="{E2EBEAA0-9547-0BD0-4121-D0BE7631AA90}"/>
              </a:ext>
            </a:extLst>
          </p:cNvPr>
          <p:cNvSpPr/>
          <p:nvPr/>
        </p:nvSpPr>
        <p:spPr>
          <a:xfrm>
            <a:off x="5453137" y="5526350"/>
            <a:ext cx="5616604" cy="892205"/>
          </a:xfrm>
          <a:prstGeom prst="horizontalScroll">
            <a:avLst/>
          </a:prstGeom>
          <a:solidFill>
            <a:srgbClr val="CEB09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A “typical” firm invests in inventory roughly</a:t>
            </a:r>
          </a:p>
          <a:p>
            <a:pPr algn="ctr"/>
            <a:r>
              <a:rPr lang="en-US" b="1" dirty="0">
                <a:solidFill>
                  <a:schemeClr val="tx1"/>
                </a:solidFill>
                <a:latin typeface="Candara" panose="020E0502030303020204" pitchFamily="34" charset="0"/>
              </a:rPr>
              <a:t>30% of its current assets </a:t>
            </a:r>
            <a:r>
              <a:rPr lang="en-US" sz="1400" dirty="0">
                <a:solidFill>
                  <a:schemeClr val="tx1"/>
                </a:solidFill>
                <a:latin typeface="Candara" panose="020E0502030303020204" pitchFamily="34" charset="0"/>
              </a:rPr>
              <a:t>and </a:t>
            </a:r>
            <a:r>
              <a:rPr lang="en-US" b="1" dirty="0">
                <a:solidFill>
                  <a:schemeClr val="tx1"/>
                </a:solidFill>
                <a:latin typeface="Candara" panose="020E0502030303020204" pitchFamily="34" charset="0"/>
              </a:rPr>
              <a:t>90% of its working capital</a:t>
            </a:r>
            <a:endParaRPr lang="en-US" sz="1400" dirty="0">
              <a:solidFill>
                <a:schemeClr val="tx1"/>
              </a:solidFill>
              <a:latin typeface="Candara" panose="020E0502030303020204" pitchFamily="34" charset="0"/>
            </a:endParaRPr>
          </a:p>
        </p:txBody>
      </p:sp>
      <p:pic>
        <p:nvPicPr>
          <p:cNvPr id="2050" name="Picture 2" descr="Arrow Spiral Down transparent PNG - StickPNG">
            <a:extLst>
              <a:ext uri="{FF2B5EF4-FFF2-40B4-BE49-F238E27FC236}">
                <a16:creationId xmlns:a16="http://schemas.microsoft.com/office/drawing/2014/main" id="{57EC73C9-676D-9591-A8B4-16C34600D89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3588" y="1946303"/>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Arrow Spiral Down transparent PNG - StickPNG">
            <a:extLst>
              <a:ext uri="{FF2B5EF4-FFF2-40B4-BE49-F238E27FC236}">
                <a16:creationId xmlns:a16="http://schemas.microsoft.com/office/drawing/2014/main" id="{00ADB104-4454-41DB-1D5C-BA0ACBD1389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flipH="1">
            <a:off x="6185014" y="1946303"/>
            <a:ext cx="744105" cy="78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10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750"/>
                                        <p:tgtEl>
                                          <p:spTgt spid="10">
                                            <p:txEl>
                                              <p:pRg st="0" end="0"/>
                                            </p:txEl>
                                          </p:spTgt>
                                        </p:tgtEl>
                                      </p:cBhvr>
                                    </p:animEffect>
                                  </p:childTnLst>
                                </p:cTn>
                              </p:par>
                            </p:childTnLst>
                          </p:cTn>
                        </p:par>
                        <p:par>
                          <p:cTn id="17" fill="hold">
                            <p:stCondLst>
                              <p:cond delay="1250"/>
                            </p:stCondLst>
                            <p:childTnLst>
                              <p:par>
                                <p:cTn id="18" presetID="10" presetClass="entr" presetSubtype="0" fill="hold" nodeType="afterEffect">
                                  <p:stCondLst>
                                    <p:cond delay="25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fade">
                                      <p:cBhvr>
                                        <p:cTn id="20" dur="1000"/>
                                        <p:tgtEl>
                                          <p:spTgt spid="1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Effect transition="in" filter="wipe(up)">
                                      <p:cBhvr>
                                        <p:cTn id="25" dur="500"/>
                                        <p:tgtEl>
                                          <p:spTgt spid="205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Effect transition="in" filter="fade">
                                      <p:cBhvr>
                                        <p:cTn id="29" dur="750"/>
                                        <p:tgtEl>
                                          <p:spTgt spid="11">
                                            <p:txEl>
                                              <p:pRg st="0" end="0"/>
                                            </p:txEl>
                                          </p:spTgt>
                                        </p:tgtEl>
                                      </p:cBhvr>
                                    </p:animEffect>
                                  </p:childTnLst>
                                </p:cTn>
                              </p:par>
                            </p:childTnLst>
                          </p:cTn>
                        </p:par>
                        <p:par>
                          <p:cTn id="30" fill="hold">
                            <p:stCondLst>
                              <p:cond delay="1250"/>
                            </p:stCondLst>
                            <p:childTnLst>
                              <p:par>
                                <p:cTn id="31" presetID="10" presetClass="entr" presetSubtype="0" fill="hold" nodeType="afterEffect">
                                  <p:stCondLst>
                                    <p:cond delay="250"/>
                                  </p:stCondLst>
                                  <p:childTnLst>
                                    <p:set>
                                      <p:cBhvr>
                                        <p:cTn id="32" dur="1" fill="hold">
                                          <p:stCondLst>
                                            <p:cond delay="0"/>
                                          </p:stCondLst>
                                        </p:cTn>
                                        <p:tgtEl>
                                          <p:spTgt spid="11">
                                            <p:txEl>
                                              <p:pRg st="2" end="2"/>
                                            </p:txEl>
                                          </p:spTgt>
                                        </p:tgtEl>
                                        <p:attrNameLst>
                                          <p:attrName>style.visibility</p:attrName>
                                        </p:attrNameLst>
                                      </p:cBhvr>
                                      <p:to>
                                        <p:strVal val="visible"/>
                                      </p:to>
                                    </p:set>
                                    <p:animEffect transition="in" filter="fade">
                                      <p:cBhvr>
                                        <p:cTn id="33" dur="1000"/>
                                        <p:tgtEl>
                                          <p:spTgt spid="11">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business-forecasting.us/blog/wp-content/uploads/2013/09/inventory.jpg">
            <a:extLst>
              <a:ext uri="{FF2B5EF4-FFF2-40B4-BE49-F238E27FC236}">
                <a16:creationId xmlns:a16="http://schemas.microsoft.com/office/drawing/2014/main" id="{3FEF117F-1123-5AF8-ED4B-B0F70F05A5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8" b="17671"/>
          <a:stretch/>
        </p:blipFill>
        <p:spPr bwMode="auto">
          <a:xfrm>
            <a:off x="0" y="-1"/>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Rounded Corners 2">
            <a:extLst>
              <a:ext uri="{FF2B5EF4-FFF2-40B4-BE49-F238E27FC236}">
                <a16:creationId xmlns:a16="http://schemas.microsoft.com/office/drawing/2014/main" id="{AA204F82-D41B-9B8C-421D-4F051031A584}"/>
              </a:ext>
            </a:extLst>
          </p:cNvPr>
          <p:cNvSpPr/>
          <p:nvPr/>
        </p:nvSpPr>
        <p:spPr>
          <a:xfrm>
            <a:off x="0" y="6125599"/>
            <a:ext cx="4027990" cy="73240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Candara" panose="020E0502030303020204" pitchFamily="34" charset="0"/>
              </a:rPr>
              <a:t>Typical Inventory</a:t>
            </a:r>
            <a:endParaRPr lang="en-US" sz="36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1673230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llet Racking &amp; Warehouse Racking Georgetown, TX | Simply Rack">
            <a:extLst>
              <a:ext uri="{FF2B5EF4-FFF2-40B4-BE49-F238E27FC236}">
                <a16:creationId xmlns:a16="http://schemas.microsoft.com/office/drawing/2014/main" id="{57EAE57A-8ECA-5A12-DE2F-2E34980F20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044" b="12044"/>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284D79DF-C20C-2B04-0B11-8F1BE3060829}"/>
              </a:ext>
            </a:extLst>
          </p:cNvPr>
          <p:cNvSpPr/>
          <p:nvPr/>
        </p:nvSpPr>
        <p:spPr>
          <a:xfrm>
            <a:off x="0" y="6131386"/>
            <a:ext cx="4027990" cy="732401"/>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Candara" panose="020E0502030303020204" pitchFamily="34" charset="0"/>
              </a:rPr>
              <a:t>Typical Inventory</a:t>
            </a:r>
            <a:endParaRPr lang="en-US" sz="3600" b="1" dirty="0">
              <a:solidFill>
                <a:schemeClr val="bg1"/>
              </a:solidFill>
              <a:latin typeface="Candara" panose="020E0502030303020204" pitchFamily="34" charset="0"/>
            </a:endParaRPr>
          </a:p>
        </p:txBody>
      </p:sp>
    </p:spTree>
    <p:extLst>
      <p:ext uri="{BB962C8B-B14F-4D97-AF65-F5344CB8AC3E}">
        <p14:creationId xmlns:p14="http://schemas.microsoft.com/office/powerpoint/2010/main" val="1508817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a:extLst>
              <a:ext uri="{FF2B5EF4-FFF2-40B4-BE49-F238E27FC236}">
                <a16:creationId xmlns:a16="http://schemas.microsoft.com/office/drawing/2014/main" id="{A4D44028-308F-6027-10CE-CA2177588533}"/>
              </a:ext>
            </a:extLst>
          </p:cNvPr>
          <p:cNvSpPr/>
          <p:nvPr/>
        </p:nvSpPr>
        <p:spPr>
          <a:xfrm>
            <a:off x="3685451" y="2129742"/>
            <a:ext cx="4821097" cy="2598516"/>
          </a:xfrm>
          <a:prstGeom prst="cloud">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Candara" panose="020E0502030303020204" pitchFamily="34" charset="0"/>
              </a:rPr>
              <a:t>Why do we need inventory?</a:t>
            </a:r>
          </a:p>
        </p:txBody>
      </p:sp>
      <p:sp>
        <p:nvSpPr>
          <p:cNvPr id="3" name="Rectangle 2">
            <a:extLst>
              <a:ext uri="{FF2B5EF4-FFF2-40B4-BE49-F238E27FC236}">
                <a16:creationId xmlns:a16="http://schemas.microsoft.com/office/drawing/2014/main" id="{5C33B405-D970-1C98-6ECE-64D59B7CAEF4}"/>
              </a:ext>
            </a:extLst>
          </p:cNvPr>
          <p:cNvSpPr/>
          <p:nvPr/>
        </p:nvSpPr>
        <p:spPr>
          <a:xfrm>
            <a:off x="8506548" y="1506879"/>
            <a:ext cx="304414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Economies of batch production </a:t>
            </a:r>
          </a:p>
        </p:txBody>
      </p:sp>
      <p:sp>
        <p:nvSpPr>
          <p:cNvPr id="6" name="Rectangle 5">
            <a:extLst>
              <a:ext uri="{FF2B5EF4-FFF2-40B4-BE49-F238E27FC236}">
                <a16:creationId xmlns:a16="http://schemas.microsoft.com/office/drawing/2014/main" id="{3AB7CE52-CB9A-E1CB-B9D0-FBB352976010}"/>
              </a:ext>
            </a:extLst>
          </p:cNvPr>
          <p:cNvSpPr/>
          <p:nvPr/>
        </p:nvSpPr>
        <p:spPr>
          <a:xfrm>
            <a:off x="8912505" y="2815539"/>
            <a:ext cx="304414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Unpredictable or unreliable vendors</a:t>
            </a:r>
          </a:p>
        </p:txBody>
      </p:sp>
      <p:sp>
        <p:nvSpPr>
          <p:cNvPr id="7" name="Rectangle 6">
            <a:extLst>
              <a:ext uri="{FF2B5EF4-FFF2-40B4-BE49-F238E27FC236}">
                <a16:creationId xmlns:a16="http://schemas.microsoft.com/office/drawing/2014/main" id="{75F30536-EE17-CDDD-D356-46CF393C4F57}"/>
              </a:ext>
            </a:extLst>
          </p:cNvPr>
          <p:cNvSpPr/>
          <p:nvPr/>
        </p:nvSpPr>
        <p:spPr>
          <a:xfrm>
            <a:off x="8055133" y="4376668"/>
            <a:ext cx="304414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Buffer for imbalanced production lines</a:t>
            </a:r>
          </a:p>
        </p:txBody>
      </p:sp>
      <p:sp>
        <p:nvSpPr>
          <p:cNvPr id="8" name="Rectangle 7">
            <a:extLst>
              <a:ext uri="{FF2B5EF4-FFF2-40B4-BE49-F238E27FC236}">
                <a16:creationId xmlns:a16="http://schemas.microsoft.com/office/drawing/2014/main" id="{616E4374-DFA2-FF34-3F3B-919AD676563D}"/>
              </a:ext>
            </a:extLst>
          </p:cNvPr>
          <p:cNvSpPr/>
          <p:nvPr/>
        </p:nvSpPr>
        <p:spPr>
          <a:xfrm>
            <a:off x="6095999" y="5218725"/>
            <a:ext cx="2072713"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Buffer for machine downtimes</a:t>
            </a:r>
          </a:p>
        </p:txBody>
      </p:sp>
      <p:sp>
        <p:nvSpPr>
          <p:cNvPr id="9" name="Rectangle 8">
            <a:extLst>
              <a:ext uri="{FF2B5EF4-FFF2-40B4-BE49-F238E27FC236}">
                <a16:creationId xmlns:a16="http://schemas.microsoft.com/office/drawing/2014/main" id="{080AFFE1-8F85-B6F0-F5D3-5364D5B04205}"/>
              </a:ext>
            </a:extLst>
          </p:cNvPr>
          <p:cNvSpPr/>
          <p:nvPr/>
        </p:nvSpPr>
        <p:spPr>
          <a:xfrm>
            <a:off x="3264062" y="5254905"/>
            <a:ext cx="2343876"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Safety stock against random demands or uncertain lead-times</a:t>
            </a:r>
          </a:p>
        </p:txBody>
      </p:sp>
      <p:sp>
        <p:nvSpPr>
          <p:cNvPr id="10" name="Rectangle 9">
            <a:extLst>
              <a:ext uri="{FF2B5EF4-FFF2-40B4-BE49-F238E27FC236}">
                <a16:creationId xmlns:a16="http://schemas.microsoft.com/office/drawing/2014/main" id="{57BAE182-A566-92BD-7584-C35DE613B3E2}"/>
              </a:ext>
            </a:extLst>
          </p:cNvPr>
          <p:cNvSpPr/>
          <p:nvPr/>
        </p:nvSpPr>
        <p:spPr>
          <a:xfrm>
            <a:off x="1351467" y="4236334"/>
            <a:ext cx="1762369"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Hedge against poor quality </a:t>
            </a:r>
          </a:p>
        </p:txBody>
      </p:sp>
      <p:sp>
        <p:nvSpPr>
          <p:cNvPr id="11" name="Rectangle 10">
            <a:extLst>
              <a:ext uri="{FF2B5EF4-FFF2-40B4-BE49-F238E27FC236}">
                <a16:creationId xmlns:a16="http://schemas.microsoft.com/office/drawing/2014/main" id="{3B6EB174-093D-0708-8167-C259C65C51D9}"/>
              </a:ext>
            </a:extLst>
          </p:cNvPr>
          <p:cNvSpPr/>
          <p:nvPr/>
        </p:nvSpPr>
        <p:spPr>
          <a:xfrm>
            <a:off x="294189" y="2919715"/>
            <a:ext cx="2376126"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Bi-product from production smoothing</a:t>
            </a:r>
          </a:p>
        </p:txBody>
      </p:sp>
      <p:sp>
        <p:nvSpPr>
          <p:cNvPr id="12" name="Rectangle 11">
            <a:extLst>
              <a:ext uri="{FF2B5EF4-FFF2-40B4-BE49-F238E27FC236}">
                <a16:creationId xmlns:a16="http://schemas.microsoft.com/office/drawing/2014/main" id="{FF061671-9DFF-20FF-E5E0-B1E3FFD0BBBD}"/>
              </a:ext>
            </a:extLst>
          </p:cNvPr>
          <p:cNvSpPr/>
          <p:nvPr/>
        </p:nvSpPr>
        <p:spPr>
          <a:xfrm>
            <a:off x="1482252" y="1316624"/>
            <a:ext cx="2131251"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Avoid loss of sales or high cost of backorders</a:t>
            </a:r>
          </a:p>
        </p:txBody>
      </p:sp>
      <p:sp>
        <p:nvSpPr>
          <p:cNvPr id="13" name="Rectangle 12">
            <a:extLst>
              <a:ext uri="{FF2B5EF4-FFF2-40B4-BE49-F238E27FC236}">
                <a16:creationId xmlns:a16="http://schemas.microsoft.com/office/drawing/2014/main" id="{7E3D05E9-0CCF-9A2E-43BC-5559FB73506B}"/>
              </a:ext>
            </a:extLst>
          </p:cNvPr>
          <p:cNvSpPr/>
          <p:nvPr/>
        </p:nvSpPr>
        <p:spPr>
          <a:xfrm>
            <a:off x="3946126" y="412355"/>
            <a:ext cx="2149874"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Fill logistics pipeline - resupply time</a:t>
            </a:r>
          </a:p>
        </p:txBody>
      </p:sp>
      <p:sp>
        <p:nvSpPr>
          <p:cNvPr id="14" name="Rectangle 13">
            <a:extLst>
              <a:ext uri="{FF2B5EF4-FFF2-40B4-BE49-F238E27FC236}">
                <a16:creationId xmlns:a16="http://schemas.microsoft.com/office/drawing/2014/main" id="{91E73E84-EE2D-BEAD-8310-8E0D973966EC}"/>
              </a:ext>
            </a:extLst>
          </p:cNvPr>
          <p:cNvSpPr/>
          <p:nvPr/>
        </p:nvSpPr>
        <p:spPr>
          <a:xfrm>
            <a:off x="6680518" y="491924"/>
            <a:ext cx="2231987"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Display goods to potential customers</a:t>
            </a:r>
          </a:p>
        </p:txBody>
      </p:sp>
    </p:spTree>
    <p:extLst>
      <p:ext uri="{BB962C8B-B14F-4D97-AF65-F5344CB8AC3E}">
        <p14:creationId xmlns:p14="http://schemas.microsoft.com/office/powerpoint/2010/main" val="230767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P spid="10" grpId="0"/>
      <p:bldP spid="11" grpId="0"/>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BE1C2D5-C23D-49DE-1450-0FD13E7C8549}"/>
              </a:ext>
            </a:extLst>
          </p:cNvPr>
          <p:cNvGraphicFramePr>
            <a:graphicFrameLocks noGrp="1"/>
          </p:cNvGraphicFramePr>
          <p:nvPr>
            <p:extLst>
              <p:ext uri="{D42A27DB-BD31-4B8C-83A1-F6EECF244321}">
                <p14:modId xmlns:p14="http://schemas.microsoft.com/office/powerpoint/2010/main" val="2855886529"/>
              </p:ext>
            </p:extLst>
          </p:nvPr>
        </p:nvGraphicFramePr>
        <p:xfrm>
          <a:off x="447555" y="1871922"/>
          <a:ext cx="11296890" cy="4351340"/>
        </p:xfrm>
        <a:graphic>
          <a:graphicData uri="http://schemas.openxmlformats.org/drawingml/2006/table">
            <a:tbl>
              <a:tblPr firstRow="1" bandRow="1">
                <a:tableStyleId>{8EC20E35-A176-4012-BC5E-935CFFF8708E}</a:tableStyleId>
              </a:tblPr>
              <a:tblGrid>
                <a:gridCol w="1918340">
                  <a:extLst>
                    <a:ext uri="{9D8B030D-6E8A-4147-A177-3AD203B41FA5}">
                      <a16:colId xmlns:a16="http://schemas.microsoft.com/office/drawing/2014/main" val="2396812769"/>
                    </a:ext>
                  </a:extLst>
                </a:gridCol>
                <a:gridCol w="3197234">
                  <a:extLst>
                    <a:ext uri="{9D8B030D-6E8A-4147-A177-3AD203B41FA5}">
                      <a16:colId xmlns:a16="http://schemas.microsoft.com/office/drawing/2014/main" val="1182926279"/>
                    </a:ext>
                  </a:extLst>
                </a:gridCol>
                <a:gridCol w="2920864">
                  <a:extLst>
                    <a:ext uri="{9D8B030D-6E8A-4147-A177-3AD203B41FA5}">
                      <a16:colId xmlns:a16="http://schemas.microsoft.com/office/drawing/2014/main" val="2742962128"/>
                    </a:ext>
                  </a:extLst>
                </a:gridCol>
                <a:gridCol w="3260452">
                  <a:extLst>
                    <a:ext uri="{9D8B030D-6E8A-4147-A177-3AD203B41FA5}">
                      <a16:colId xmlns:a16="http://schemas.microsoft.com/office/drawing/2014/main" val="3943898866"/>
                    </a:ext>
                  </a:extLst>
                </a:gridCol>
              </a:tblGrid>
              <a:tr h="621620">
                <a:tc>
                  <a:txBody>
                    <a:bodyPr/>
                    <a:lstStyle/>
                    <a:p>
                      <a:pPr marL="0" marR="0" algn="ctr">
                        <a:spcBef>
                          <a:spcPts val="0"/>
                        </a:spcBef>
                        <a:spcAft>
                          <a:spcPts val="0"/>
                        </a:spcAft>
                      </a:pPr>
                      <a:r>
                        <a:rPr lang="en-US" sz="2400" b="1" kern="0" dirty="0">
                          <a:effectLst/>
                          <a:latin typeface="Candara" panose="020E0502030303020204" pitchFamily="34" charset="0"/>
                        </a:rPr>
                        <a:t>Area</a:t>
                      </a:r>
                    </a:p>
                  </a:txBody>
                  <a:tcPr marL="67882" marR="67882" marT="0" marB="0" anchor="ctr">
                    <a:lnR w="12700" cap="flat" cmpd="sng" algn="ctr">
                      <a:solidFill>
                        <a:schemeClr val="tx1"/>
                      </a:solidFill>
                      <a:prstDash val="solid"/>
                      <a:round/>
                      <a:headEnd type="none" w="med" len="med"/>
                      <a:tailEnd type="none" w="med" len="med"/>
                    </a:lnR>
                    <a:solidFill>
                      <a:srgbClr val="002060"/>
                    </a:solidFill>
                  </a:tcPr>
                </a:tc>
                <a:tc>
                  <a:txBody>
                    <a:bodyPr/>
                    <a:lstStyle/>
                    <a:p>
                      <a:pPr marL="0" marR="0" algn="ctr">
                        <a:spcBef>
                          <a:spcPts val="0"/>
                        </a:spcBef>
                        <a:spcAft>
                          <a:spcPts val="0"/>
                        </a:spcAft>
                      </a:pPr>
                      <a:r>
                        <a:rPr lang="en-US" sz="2400" b="1" dirty="0">
                          <a:effectLst/>
                          <a:latin typeface="Candara" panose="020E0502030303020204" pitchFamily="34" charset="0"/>
                        </a:rPr>
                        <a:t>Responsibility</a:t>
                      </a:r>
                      <a:endParaRPr lang="en-US" sz="2400" b="1"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002060"/>
                    </a:solidFill>
                  </a:tcPr>
                </a:tc>
                <a:tc>
                  <a:txBody>
                    <a:bodyPr/>
                    <a:lstStyle/>
                    <a:p>
                      <a:pPr marL="0" marR="0" algn="ctr">
                        <a:spcBef>
                          <a:spcPts val="0"/>
                        </a:spcBef>
                        <a:spcAft>
                          <a:spcPts val="0"/>
                        </a:spcAft>
                      </a:pPr>
                      <a:r>
                        <a:rPr lang="en-US" sz="2400" b="1" dirty="0">
                          <a:effectLst/>
                          <a:latin typeface="Candara" panose="020E0502030303020204" pitchFamily="34" charset="0"/>
                        </a:rPr>
                        <a:t>Inventory Goal</a:t>
                      </a: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002060"/>
                    </a:solidFill>
                  </a:tcPr>
                </a:tc>
                <a:tc>
                  <a:txBody>
                    <a:bodyPr/>
                    <a:lstStyle/>
                    <a:p>
                      <a:pPr marL="0" marR="0" algn="ctr">
                        <a:spcBef>
                          <a:spcPts val="0"/>
                        </a:spcBef>
                        <a:spcAft>
                          <a:spcPts val="0"/>
                        </a:spcAft>
                      </a:pPr>
                      <a:r>
                        <a:rPr lang="en-US" sz="2400" b="1" dirty="0">
                          <a:effectLst/>
                          <a:latin typeface="Candara" panose="020E0502030303020204" pitchFamily="34" charset="0"/>
                        </a:rPr>
                        <a:t>Desired Inventory Level</a:t>
                      </a:r>
                      <a:endParaRPr lang="en-US" sz="2400" b="1"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solidFill>
                      <a:srgbClr val="002060"/>
                    </a:solidFill>
                  </a:tcPr>
                </a:tc>
                <a:extLst>
                  <a:ext uri="{0D108BD9-81ED-4DB2-BD59-A6C34878D82A}">
                    <a16:rowId xmlns:a16="http://schemas.microsoft.com/office/drawing/2014/main" val="2592814437"/>
                  </a:ext>
                </a:extLst>
              </a:tr>
              <a:tr h="621620">
                <a:tc>
                  <a:txBody>
                    <a:bodyPr/>
                    <a:lstStyle/>
                    <a:p>
                      <a:pPr marL="0" marR="0" algn="ctr">
                        <a:spcBef>
                          <a:spcPts val="0"/>
                        </a:spcBef>
                        <a:spcAft>
                          <a:spcPts val="0"/>
                        </a:spcAft>
                      </a:pPr>
                      <a:r>
                        <a:rPr lang="en-US" sz="2000" dirty="0">
                          <a:effectLst/>
                          <a:latin typeface="Candara" panose="020E0502030303020204" pitchFamily="34" charset="0"/>
                        </a:rPr>
                        <a:t>Marketing</a:t>
                      </a:r>
                      <a:endParaRPr lang="en-US" sz="2000" dirty="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Sell the product</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Good customer service</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High</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281335397"/>
                  </a:ext>
                </a:extLst>
              </a:tr>
              <a:tr h="621620">
                <a:tc>
                  <a:txBody>
                    <a:bodyPr/>
                    <a:lstStyle/>
                    <a:p>
                      <a:pPr marL="0" marR="0" algn="ctr">
                        <a:spcBef>
                          <a:spcPts val="0"/>
                        </a:spcBef>
                        <a:spcAft>
                          <a:spcPts val="0"/>
                        </a:spcAft>
                      </a:pPr>
                      <a:r>
                        <a:rPr lang="en-US" sz="2000" dirty="0">
                          <a:effectLst/>
                          <a:latin typeface="Candara" panose="020E0502030303020204" pitchFamily="34" charset="0"/>
                        </a:rPr>
                        <a:t>Production</a:t>
                      </a:r>
                      <a:endParaRPr lang="en-US" sz="2000" dirty="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Make the product</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Efficient lot sizes</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High</a:t>
                      </a:r>
                      <a:endParaRPr lang="en-US" sz="2000" b="1" dirty="0">
                        <a:effectLst/>
                        <a:latin typeface="Candara" panose="020E0502030303020204" pitchFamily="34" charset="0"/>
                      </a:endParaRPr>
                    </a:p>
                  </a:txBody>
                  <a:tcPr marL="67882" marR="67882"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096043309"/>
                  </a:ext>
                </a:extLst>
              </a:tr>
              <a:tr h="621620">
                <a:tc>
                  <a:txBody>
                    <a:bodyPr/>
                    <a:lstStyle/>
                    <a:p>
                      <a:pPr marL="0" marR="0" algn="ctr">
                        <a:spcBef>
                          <a:spcPts val="0"/>
                        </a:spcBef>
                        <a:spcAft>
                          <a:spcPts val="0"/>
                        </a:spcAft>
                      </a:pPr>
                      <a:r>
                        <a:rPr lang="en-US" sz="2000" dirty="0">
                          <a:effectLst/>
                          <a:latin typeface="Candara" panose="020E0502030303020204" pitchFamily="34" charset="0"/>
                        </a:rPr>
                        <a:t>Purchasing</a:t>
                      </a:r>
                      <a:endParaRPr lang="en-US" sz="2000" dirty="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Buy required material</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Low unit cost</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High</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1577966349"/>
                  </a:ext>
                </a:extLst>
              </a:tr>
              <a:tr h="621620">
                <a:tc>
                  <a:txBody>
                    <a:bodyPr/>
                    <a:lstStyle/>
                    <a:p>
                      <a:pPr marL="0" marR="0" algn="ctr">
                        <a:spcBef>
                          <a:spcPts val="0"/>
                        </a:spcBef>
                        <a:spcAft>
                          <a:spcPts val="0"/>
                        </a:spcAft>
                      </a:pPr>
                      <a:r>
                        <a:rPr lang="en-US" sz="2000" dirty="0">
                          <a:effectLst/>
                          <a:latin typeface="Candara" panose="020E0502030303020204" pitchFamily="34" charset="0"/>
                        </a:rPr>
                        <a:t>Finance</a:t>
                      </a:r>
                      <a:endParaRPr lang="en-US" sz="2000" dirty="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Provide working capital</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Efficient use of capital</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Low</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22898847"/>
                  </a:ext>
                </a:extLst>
              </a:tr>
              <a:tr h="621620">
                <a:tc>
                  <a:txBody>
                    <a:bodyPr/>
                    <a:lstStyle/>
                    <a:p>
                      <a:pPr marL="0" marR="0" algn="ctr">
                        <a:spcBef>
                          <a:spcPts val="0"/>
                        </a:spcBef>
                        <a:spcAft>
                          <a:spcPts val="0"/>
                        </a:spcAft>
                      </a:pPr>
                      <a:r>
                        <a:rPr lang="en-US" sz="2000" dirty="0">
                          <a:effectLst/>
                          <a:latin typeface="Candara" panose="020E0502030303020204" pitchFamily="34" charset="0"/>
                        </a:rPr>
                        <a:t>Warehousing</a:t>
                      </a:r>
                      <a:endParaRPr lang="en-US" sz="2000" dirty="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Store the product</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Efficient use of space</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marL="0" marR="0" algn="ctr">
                        <a:spcBef>
                          <a:spcPts val="0"/>
                        </a:spcBef>
                        <a:spcAft>
                          <a:spcPts val="0"/>
                        </a:spcAft>
                      </a:pPr>
                      <a:r>
                        <a:rPr lang="en-US" sz="2000" dirty="0">
                          <a:effectLst/>
                          <a:latin typeface="Candara" panose="020E0502030303020204" pitchFamily="34" charset="0"/>
                        </a:rPr>
                        <a:t>Low</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solidFill>
                      <a:schemeClr val="bg1">
                        <a:lumMod val="75000"/>
                      </a:schemeClr>
                    </a:solidFill>
                  </a:tcPr>
                </a:tc>
                <a:extLst>
                  <a:ext uri="{0D108BD9-81ED-4DB2-BD59-A6C34878D82A}">
                    <a16:rowId xmlns:a16="http://schemas.microsoft.com/office/drawing/2014/main" val="2712070488"/>
                  </a:ext>
                </a:extLst>
              </a:tr>
              <a:tr h="621620">
                <a:tc>
                  <a:txBody>
                    <a:bodyPr/>
                    <a:lstStyle/>
                    <a:p>
                      <a:pPr marL="0" marR="0" algn="ctr">
                        <a:spcBef>
                          <a:spcPts val="0"/>
                        </a:spcBef>
                        <a:spcAft>
                          <a:spcPts val="0"/>
                        </a:spcAft>
                      </a:pPr>
                      <a:r>
                        <a:rPr lang="en-US" sz="2000">
                          <a:effectLst/>
                          <a:latin typeface="Candara" panose="020E0502030303020204" pitchFamily="34" charset="0"/>
                        </a:rPr>
                        <a:t>Engineering</a:t>
                      </a:r>
                      <a:endParaRPr lang="en-US" sz="2000">
                        <a:effectLst/>
                        <a:latin typeface="Candara" panose="020E0502030303020204" pitchFamily="34" charset="0"/>
                        <a:ea typeface="Times New Roman" panose="02020603050405020304" pitchFamily="18" charset="0"/>
                      </a:endParaRPr>
                    </a:p>
                  </a:txBody>
                  <a:tcPr marL="67882" marR="67882"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a:effectLst/>
                          <a:latin typeface="Candara" panose="020E0502030303020204" pitchFamily="34" charset="0"/>
                        </a:rPr>
                        <a:t>Design the product</a:t>
                      </a:r>
                      <a:endParaRPr lang="en-US" sz="200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Avoid obsolescence</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effectLst/>
                          <a:latin typeface="Candara" panose="020E0502030303020204" pitchFamily="34" charset="0"/>
                        </a:rPr>
                        <a:t>low</a:t>
                      </a:r>
                      <a:endParaRPr lang="en-US" sz="2000" dirty="0">
                        <a:effectLst/>
                        <a:latin typeface="Candara" panose="020E0502030303020204" pitchFamily="34" charset="0"/>
                        <a:ea typeface="Times New Roman" panose="02020603050405020304" pitchFamily="18" charset="0"/>
                      </a:endParaRPr>
                    </a:p>
                  </a:txBody>
                  <a:tcPr marL="67882" marR="67882"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7485712"/>
                  </a:ext>
                </a:extLst>
              </a:tr>
            </a:tbl>
          </a:graphicData>
        </a:graphic>
      </p:graphicFrame>
      <p:sp>
        <p:nvSpPr>
          <p:cNvPr id="3" name="Rectangle 2">
            <a:extLst>
              <a:ext uri="{FF2B5EF4-FFF2-40B4-BE49-F238E27FC236}">
                <a16:creationId xmlns:a16="http://schemas.microsoft.com/office/drawing/2014/main" id="{301FE781-3F5C-AAE1-DA3A-7A37D3377002}"/>
              </a:ext>
            </a:extLst>
          </p:cNvPr>
          <p:cNvSpPr/>
          <p:nvPr/>
        </p:nvSpPr>
        <p:spPr>
          <a:xfrm>
            <a:off x="0" y="42509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Conflicting Objectives of Teams</a:t>
            </a:r>
          </a:p>
        </p:txBody>
      </p:sp>
    </p:spTree>
    <p:extLst>
      <p:ext uri="{BB962C8B-B14F-4D97-AF65-F5344CB8AC3E}">
        <p14:creationId xmlns:p14="http://schemas.microsoft.com/office/powerpoint/2010/main" val="178766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1A1AEE-75C9-8264-DE7E-C512932B5B80}"/>
              </a:ext>
            </a:extLst>
          </p:cNvPr>
          <p:cNvSpPr/>
          <p:nvPr/>
        </p:nvSpPr>
        <p:spPr>
          <a:xfrm>
            <a:off x="0" y="1400537"/>
            <a:ext cx="3017520" cy="545746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endParaRPr lang="en-US" sz="2800" b="1" dirty="0">
              <a:solidFill>
                <a:schemeClr val="tx1"/>
              </a:solidFill>
            </a:endParaRPr>
          </a:p>
          <a:p>
            <a:pPr algn="ctr">
              <a:lnSpc>
                <a:spcPct val="90000"/>
              </a:lnSpc>
              <a:defRPr/>
            </a:pPr>
            <a:r>
              <a:rPr lang="en-US" sz="2800" b="1" dirty="0">
                <a:solidFill>
                  <a:schemeClr val="tx1"/>
                </a:solidFill>
              </a:rPr>
              <a:t>Raw Material</a:t>
            </a:r>
          </a:p>
          <a:p>
            <a:pPr algn="ctr">
              <a:lnSpc>
                <a:spcPct val="90000"/>
              </a:lnSpc>
              <a:defRPr/>
            </a:pPr>
            <a:endParaRPr lang="en-US" sz="2800" b="1" dirty="0">
              <a:solidFill>
                <a:schemeClr val="tx1"/>
              </a:solidFill>
            </a:endParaRPr>
          </a:p>
          <a:p>
            <a:pPr marL="342900" indent="-342900">
              <a:buFont typeface="Arial" panose="020B0604020202020204" pitchFamily="34" charset="0"/>
              <a:buChar char="•"/>
              <a:defRPr/>
            </a:pPr>
            <a:r>
              <a:rPr lang="en-US" dirty="0">
                <a:solidFill>
                  <a:schemeClr val="tx1"/>
                </a:solidFill>
              </a:rPr>
              <a:t>Material needing further processing</a:t>
            </a:r>
          </a:p>
          <a:p>
            <a:pPr marL="342900" indent="-342900">
              <a:buFont typeface="Arial" panose="020B0604020202020204" pitchFamily="34" charset="0"/>
              <a:buChar cha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Components that go into the product as is</a:t>
            </a:r>
          </a:p>
          <a:p>
            <a:pPr marL="342900" indent="-342900">
              <a:buFont typeface="Arial" panose="020B0604020202020204" pitchFamily="34" charset="0"/>
              <a:buChar cha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Supplies such as glue, screws, ink, thread</a:t>
            </a:r>
          </a:p>
          <a:p>
            <a:pPr marL="342900" indent="-342900">
              <a:buFont typeface="Arial" panose="020B0604020202020204" pitchFamily="34" charset="0"/>
              <a:buChar cha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Dependent demand</a:t>
            </a:r>
            <a:endParaRPr lang="en-US" sz="1600" dirty="0">
              <a:solidFill>
                <a:schemeClr val="tx1"/>
              </a:solidFill>
            </a:endParaRPr>
          </a:p>
        </p:txBody>
      </p:sp>
      <p:sp>
        <p:nvSpPr>
          <p:cNvPr id="5" name="Rectangle 4">
            <a:extLst>
              <a:ext uri="{FF2B5EF4-FFF2-40B4-BE49-F238E27FC236}">
                <a16:creationId xmlns:a16="http://schemas.microsoft.com/office/drawing/2014/main" id="{98F21C07-24F8-144A-6CF6-E30042EE29D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Types of Inventory</a:t>
            </a:r>
          </a:p>
        </p:txBody>
      </p:sp>
      <p:sp>
        <p:nvSpPr>
          <p:cNvPr id="6" name="Rectangle 5">
            <a:extLst>
              <a:ext uri="{FF2B5EF4-FFF2-40B4-BE49-F238E27FC236}">
                <a16:creationId xmlns:a16="http://schemas.microsoft.com/office/drawing/2014/main" id="{9D6112AE-9A6B-B38E-CA52-22921A25F42F}"/>
              </a:ext>
            </a:extLst>
          </p:cNvPr>
          <p:cNvSpPr/>
          <p:nvPr/>
        </p:nvSpPr>
        <p:spPr>
          <a:xfrm>
            <a:off x="3017520" y="1400537"/>
            <a:ext cx="3017520" cy="5457463"/>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endParaRPr lang="en-US" sz="2800" b="1" dirty="0">
              <a:solidFill>
                <a:schemeClr val="tx1"/>
              </a:solidFill>
            </a:endParaRPr>
          </a:p>
          <a:p>
            <a:pPr algn="ctr">
              <a:lnSpc>
                <a:spcPct val="90000"/>
              </a:lnSpc>
              <a:defRPr/>
            </a:pPr>
            <a:r>
              <a:rPr lang="en-US" sz="2800" b="1" dirty="0">
                <a:solidFill>
                  <a:schemeClr val="tx1"/>
                </a:solidFill>
              </a:rPr>
              <a:t>Work in Process (WIP)</a:t>
            </a:r>
          </a:p>
          <a:p>
            <a:pPr algn="ctr">
              <a:lnSpc>
                <a:spcPct val="90000"/>
              </a:lnSpc>
              <a:defRPr/>
            </a:pPr>
            <a:endParaRPr lang="en-US" sz="2800" b="1" dirty="0">
              <a:solidFill>
                <a:schemeClr val="tx1"/>
              </a:solidFill>
            </a:endParaRPr>
          </a:p>
          <a:p>
            <a:pPr marL="342900" indent="-342900">
              <a:buFont typeface="Arial" panose="020B0604020202020204" pitchFamily="34" charset="0"/>
              <a:buChar char="•"/>
              <a:defRPr/>
            </a:pPr>
            <a:r>
              <a:rPr lang="en-US" dirty="0">
                <a:solidFill>
                  <a:schemeClr val="tx1"/>
                </a:solidFill>
              </a:rPr>
              <a:t>Inventory in the production system waiting to be processed or assembled and may include semi-finished products</a:t>
            </a:r>
          </a:p>
          <a:p>
            <a:pPr marL="342900" indent="-342900">
              <a:buFont typeface="Arial" panose="020B0604020202020204" pitchFamily="34" charset="0"/>
              <a:buChar cha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Partially complete goods</a:t>
            </a:r>
          </a:p>
          <a:p>
            <a:pPr marL="342900" indent="-342900">
              <a:buFont typeface="Arial" panose="020B0604020202020204" pitchFamily="34" charset="0"/>
              <a:buChar cha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Dependent demand</a:t>
            </a:r>
          </a:p>
        </p:txBody>
      </p:sp>
      <p:sp>
        <p:nvSpPr>
          <p:cNvPr id="7" name="Rectangle 6">
            <a:extLst>
              <a:ext uri="{FF2B5EF4-FFF2-40B4-BE49-F238E27FC236}">
                <a16:creationId xmlns:a16="http://schemas.microsoft.com/office/drawing/2014/main" id="{F14DE743-7A63-A46A-3175-235A0C200E5F}"/>
              </a:ext>
            </a:extLst>
          </p:cNvPr>
          <p:cNvSpPr/>
          <p:nvPr/>
        </p:nvSpPr>
        <p:spPr>
          <a:xfrm>
            <a:off x="6035040" y="1400537"/>
            <a:ext cx="3017520" cy="545746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endParaRPr lang="en-US" sz="2800" b="1" dirty="0">
              <a:solidFill>
                <a:schemeClr val="tx1"/>
              </a:solidFill>
            </a:endParaRPr>
          </a:p>
          <a:p>
            <a:pPr algn="ctr">
              <a:lnSpc>
                <a:spcPct val="90000"/>
              </a:lnSpc>
              <a:defRPr/>
            </a:pPr>
            <a:r>
              <a:rPr lang="en-US" sz="2800" b="1" dirty="0">
                <a:solidFill>
                  <a:schemeClr val="tx1"/>
                </a:solidFill>
              </a:rPr>
              <a:t>Finished Goods</a:t>
            </a:r>
          </a:p>
          <a:p>
            <a:pPr algn="ctr">
              <a:lnSpc>
                <a:spcPct val="90000"/>
              </a:lnSpc>
              <a:defRPr/>
            </a:pPr>
            <a:endParaRPr lang="en-US" sz="2800" b="1" dirty="0">
              <a:solidFill>
                <a:schemeClr val="tx1"/>
              </a:solidFill>
            </a:endParaRPr>
          </a:p>
          <a:p>
            <a:pPr marL="342900" indent="-342900">
              <a:buFont typeface="Arial" panose="020B0604020202020204" pitchFamily="34" charset="0"/>
              <a:buChar char="•"/>
              <a:defRPr/>
            </a:pPr>
            <a:r>
              <a:rPr lang="en-US" dirty="0">
                <a:solidFill>
                  <a:schemeClr val="tx1"/>
                </a:solidFill>
              </a:rPr>
              <a:t>Output of the production process or end items</a:t>
            </a:r>
          </a:p>
          <a:p>
            <a:pP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Demand is usually independent</a:t>
            </a:r>
          </a:p>
          <a:p>
            <a:pPr>
              <a:defRPr/>
            </a:pPr>
            <a:endParaRPr lang="en-US" dirty="0">
              <a:solidFill>
                <a:schemeClr val="tx1"/>
              </a:solidFill>
            </a:endParaRPr>
          </a:p>
          <a:p>
            <a:pPr marL="342900" indent="-342900">
              <a:buFont typeface="Arial" panose="020B0604020202020204" pitchFamily="34" charset="0"/>
              <a:buChar char="•"/>
              <a:defRPr/>
            </a:pPr>
            <a:r>
              <a:rPr lang="en-US" dirty="0">
                <a:solidFill>
                  <a:schemeClr val="tx1"/>
                </a:solidFill>
              </a:rPr>
              <a:t>Finished goods from one manufacturing plant may be raw material for another</a:t>
            </a:r>
          </a:p>
        </p:txBody>
      </p:sp>
      <p:pic>
        <p:nvPicPr>
          <p:cNvPr id="6146" name="Picture 2" descr="Raw Materials RGB Color Icon. Natural Resources, Industrial Manufacturing.  Fuel And Minerals Storage Containers. Box And Barrels Isolated Vector  Illustration Royalty Free SVG, Cliparts, Vectors, And Stock Illustration.  Image 152257931.">
            <a:extLst>
              <a:ext uri="{FF2B5EF4-FFF2-40B4-BE49-F238E27FC236}">
                <a16:creationId xmlns:a16="http://schemas.microsoft.com/office/drawing/2014/main" id="{44CCCC25-400C-BA0E-7DB2-8EBE5BABE3AA}"/>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4670" t="15058" r="16290" b="15126"/>
          <a:stretch/>
        </p:blipFill>
        <p:spPr bwMode="auto">
          <a:xfrm>
            <a:off x="1758164" y="5834305"/>
            <a:ext cx="1012320" cy="102369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20,500+ Conveyor Belt Illustrations, Royalty-Free Vector Graphics &amp; Clip Art  - iStock | Conveyor belt factory, Conveyor belt icon, Food conveyor">
            <a:extLst>
              <a:ext uri="{FF2B5EF4-FFF2-40B4-BE49-F238E27FC236}">
                <a16:creationId xmlns:a16="http://schemas.microsoft.com/office/drawing/2014/main" id="{ADA1989B-67CC-C918-2F4E-D96873D0B644}"/>
              </a:ext>
            </a:extLst>
          </p:cNvPr>
          <p:cNvPicPr>
            <a:picLocks noChangeAspect="1" noChangeArrowheads="1"/>
          </p:cNvPicPr>
          <p:nvPr/>
        </p:nvPicPr>
        <p:blipFill>
          <a:blip r:embed="rId3">
            <a:clrChange>
              <a:clrFrom>
                <a:srgbClr val="E4DEC8"/>
              </a:clrFrom>
              <a:clrTo>
                <a:srgbClr val="E4DEC8">
                  <a:alpha val="0"/>
                </a:srgbClr>
              </a:clrTo>
            </a:clrChange>
            <a:extLst>
              <a:ext uri="{28A0092B-C50C-407E-A947-70E740481C1C}">
                <a14:useLocalDpi xmlns:a14="http://schemas.microsoft.com/office/drawing/2010/main" val="0"/>
              </a:ext>
            </a:extLst>
          </a:blip>
          <a:srcRect/>
          <a:stretch>
            <a:fillRect/>
          </a:stretch>
        </p:blipFill>
        <p:spPr bwMode="auto">
          <a:xfrm flipH="1">
            <a:off x="4830344" y="5797055"/>
            <a:ext cx="1097183" cy="10183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036656C-98B8-2598-4732-4F4BA9217791}"/>
              </a:ext>
            </a:extLst>
          </p:cNvPr>
          <p:cNvSpPr/>
          <p:nvPr/>
        </p:nvSpPr>
        <p:spPr>
          <a:xfrm>
            <a:off x="9052560" y="1400532"/>
            <a:ext cx="3139440" cy="18288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r>
              <a:rPr lang="en-US" sz="2800" b="1" dirty="0">
                <a:solidFill>
                  <a:schemeClr val="bg1"/>
                </a:solidFill>
              </a:rPr>
              <a:t>Tools and Supplies</a:t>
            </a:r>
          </a:p>
        </p:txBody>
      </p:sp>
      <p:pic>
        <p:nvPicPr>
          <p:cNvPr id="6150" name="Picture 6" descr="Premium Vector | Vector illustration of deliveryman work a lot of boxes  with goods and a courier delivers parcels">
            <a:extLst>
              <a:ext uri="{FF2B5EF4-FFF2-40B4-BE49-F238E27FC236}">
                <a16:creationId xmlns:a16="http://schemas.microsoft.com/office/drawing/2014/main" id="{B229EF51-0CE3-48CA-4D3F-9368AB23FDB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48531" y="5623917"/>
            <a:ext cx="1396516" cy="118223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5FF570B-7F96-6AB7-8769-AB96A878A343}"/>
              </a:ext>
            </a:extLst>
          </p:cNvPr>
          <p:cNvSpPr/>
          <p:nvPr/>
        </p:nvSpPr>
        <p:spPr>
          <a:xfrm>
            <a:off x="9052560" y="3229332"/>
            <a:ext cx="3139440" cy="18288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r>
              <a:rPr lang="en-US" sz="2800" b="1" dirty="0">
                <a:solidFill>
                  <a:schemeClr val="bg1"/>
                </a:solidFill>
              </a:rPr>
              <a:t>Maintenance and Repairs Inventory</a:t>
            </a:r>
          </a:p>
        </p:txBody>
      </p:sp>
      <p:sp>
        <p:nvSpPr>
          <p:cNvPr id="8" name="Rectangle 7">
            <a:extLst>
              <a:ext uri="{FF2B5EF4-FFF2-40B4-BE49-F238E27FC236}">
                <a16:creationId xmlns:a16="http://schemas.microsoft.com/office/drawing/2014/main" id="{5B7361F9-2DEE-5B84-C213-165AACC09FAD}"/>
              </a:ext>
            </a:extLst>
          </p:cNvPr>
          <p:cNvSpPr/>
          <p:nvPr/>
        </p:nvSpPr>
        <p:spPr>
          <a:xfrm>
            <a:off x="9052560" y="5057024"/>
            <a:ext cx="3139440" cy="180097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r>
              <a:rPr lang="en-US" sz="2800" b="1" dirty="0">
                <a:solidFill>
                  <a:schemeClr val="bg1"/>
                </a:solidFill>
              </a:rPr>
              <a:t>In-transit Inventory</a:t>
            </a:r>
          </a:p>
        </p:txBody>
      </p:sp>
      <p:pic>
        <p:nvPicPr>
          <p:cNvPr id="1026" name="Picture 2" descr="Construction Tools Clip Art Images – Browse 23,417 Stock Photos, Vectors,  and Video | Adobe Stock">
            <a:extLst>
              <a:ext uri="{FF2B5EF4-FFF2-40B4-BE49-F238E27FC236}">
                <a16:creationId xmlns:a16="http://schemas.microsoft.com/office/drawing/2014/main" id="{ADE39FF4-2CBA-C4E0-F48E-97DA67AEB0E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16943" y="2347570"/>
            <a:ext cx="1129239" cy="7986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C556ABF-4F8B-4D50-6D72-65683F45CB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5145" y="4264432"/>
            <a:ext cx="1254935" cy="699688"/>
          </a:xfrm>
          <a:prstGeom prst="rect">
            <a:avLst/>
          </a:prstGeom>
        </p:spPr>
      </p:pic>
      <p:pic>
        <p:nvPicPr>
          <p:cNvPr id="12" name="Picture 11">
            <a:extLst>
              <a:ext uri="{FF2B5EF4-FFF2-40B4-BE49-F238E27FC236}">
                <a16:creationId xmlns:a16="http://schemas.microsoft.com/office/drawing/2014/main" id="{DF786F59-FF57-2C69-A1E1-2B0574866C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0689021" y="5746376"/>
            <a:ext cx="1457161" cy="1167296"/>
          </a:xfrm>
          <a:prstGeom prst="rect">
            <a:avLst/>
          </a:prstGeom>
        </p:spPr>
      </p:pic>
    </p:spTree>
    <p:extLst>
      <p:ext uri="{BB962C8B-B14F-4D97-AF65-F5344CB8AC3E}">
        <p14:creationId xmlns:p14="http://schemas.microsoft.com/office/powerpoint/2010/main" val="87922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fade">
                                      <p:cBhvr>
                                        <p:cTn id="17" dur="500"/>
                                        <p:tgtEl>
                                          <p:spTgt spid="2">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fade">
                                      <p:cBhvr>
                                        <p:cTn id="22" dur="500"/>
                                        <p:tgtEl>
                                          <p:spTgt spid="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3" end="3"/>
                                            </p:txEl>
                                          </p:spTgt>
                                        </p:tgtEl>
                                        <p:attrNameLst>
                                          <p:attrName>style.visibility</p:attrName>
                                        </p:attrNameLst>
                                      </p:cBhvr>
                                      <p:to>
                                        <p:strVal val="visible"/>
                                      </p:to>
                                    </p:set>
                                    <p:animEffect transition="in" filter="fade">
                                      <p:cBhvr>
                                        <p:cTn id="42" dur="500"/>
                                        <p:tgtEl>
                                          <p:spTgt spid="7">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500"/>
                                        <p:tgtEl>
                                          <p:spTgt spid="7">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fade">
                                      <p:cBhvr>
                                        <p:cTn id="5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ow to Use Barcodes to Keep Track of Your WooCommerce Inventory - Jovvie  Point of Sale from BizSwoop">
            <a:extLst>
              <a:ext uri="{FF2B5EF4-FFF2-40B4-BE49-F238E27FC236}">
                <a16:creationId xmlns:a16="http://schemas.microsoft.com/office/drawing/2014/main" id="{30623205-8FBB-A4E5-CFA7-F818F8DDC8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576" t="13496" r="25751" b="9272"/>
          <a:stretch/>
        </p:blipFill>
        <p:spPr bwMode="auto">
          <a:xfrm>
            <a:off x="1828564" y="2397499"/>
            <a:ext cx="2998083" cy="301212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remium Vector | Reorder point chart is a specific level at which your stock  needs to be replenished">
            <a:extLst>
              <a:ext uri="{FF2B5EF4-FFF2-40B4-BE49-F238E27FC236}">
                <a16:creationId xmlns:a16="http://schemas.microsoft.com/office/drawing/2014/main" id="{64BD104C-DE2B-D812-57D2-B3A43B5AB3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682" b="8682"/>
          <a:stretch/>
        </p:blipFill>
        <p:spPr bwMode="auto">
          <a:xfrm>
            <a:off x="6830145" y="2397498"/>
            <a:ext cx="4339798" cy="28689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E753B10-286C-D00F-BF92-B31F73FBC191}"/>
              </a:ext>
            </a:extLst>
          </p:cNvPr>
          <p:cNvSpPr/>
          <p:nvPr/>
        </p:nvSpPr>
        <p:spPr>
          <a:xfrm>
            <a:off x="0" y="164944"/>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Inventory Management</a:t>
            </a:r>
          </a:p>
        </p:txBody>
      </p:sp>
      <p:sp>
        <p:nvSpPr>
          <p:cNvPr id="12" name="Rectangle 11">
            <a:extLst>
              <a:ext uri="{FF2B5EF4-FFF2-40B4-BE49-F238E27FC236}">
                <a16:creationId xmlns:a16="http://schemas.microsoft.com/office/drawing/2014/main" id="{E2DCC746-1CDF-ED91-3703-BB0D6709D60A}"/>
              </a:ext>
            </a:extLst>
          </p:cNvPr>
          <p:cNvSpPr/>
          <p:nvPr/>
        </p:nvSpPr>
        <p:spPr>
          <a:xfrm>
            <a:off x="1351231" y="5521123"/>
            <a:ext cx="3952750"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rgbClr val="002060"/>
                </a:solidFill>
                <a:latin typeface="Candara" panose="020E0502030303020204" pitchFamily="34" charset="0"/>
              </a:rPr>
              <a:t>Establish a system for tracking items in inventory</a:t>
            </a:r>
          </a:p>
        </p:txBody>
      </p:sp>
      <p:sp>
        <p:nvSpPr>
          <p:cNvPr id="13" name="Rectangle 12">
            <a:extLst>
              <a:ext uri="{FF2B5EF4-FFF2-40B4-BE49-F238E27FC236}">
                <a16:creationId xmlns:a16="http://schemas.microsoft.com/office/drawing/2014/main" id="{24581801-1F7B-AA0B-B899-E8EB7E896DFB}"/>
              </a:ext>
            </a:extLst>
          </p:cNvPr>
          <p:cNvSpPr/>
          <p:nvPr/>
        </p:nvSpPr>
        <p:spPr>
          <a:xfrm>
            <a:off x="6888021" y="5581887"/>
            <a:ext cx="3952750"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rgbClr val="002060"/>
                </a:solidFill>
                <a:latin typeface="Candara" panose="020E0502030303020204" pitchFamily="34" charset="0"/>
              </a:rPr>
              <a:t>Make decisions about</a:t>
            </a:r>
          </a:p>
          <a:p>
            <a:pPr marL="342900" indent="-342900" algn="ctr">
              <a:buFont typeface="Arial" panose="020B0604020202020204" pitchFamily="34" charset="0"/>
              <a:buChar char="•"/>
            </a:pPr>
            <a:r>
              <a:rPr lang="en-US" altLang="en-US" sz="2000" dirty="0">
                <a:solidFill>
                  <a:srgbClr val="002060"/>
                </a:solidFill>
                <a:latin typeface="Candara" panose="020E0502030303020204" pitchFamily="34" charset="0"/>
              </a:rPr>
              <a:t>When to order</a:t>
            </a:r>
          </a:p>
          <a:p>
            <a:pPr marL="342900" indent="-342900" algn="ctr">
              <a:buFont typeface="Arial" panose="020B0604020202020204" pitchFamily="34" charset="0"/>
              <a:buChar char="•"/>
            </a:pPr>
            <a:r>
              <a:rPr lang="en-US" altLang="en-US" sz="2000" dirty="0">
                <a:solidFill>
                  <a:srgbClr val="002060"/>
                </a:solidFill>
                <a:latin typeface="Candara" panose="020E0502030303020204" pitchFamily="34" charset="0"/>
              </a:rPr>
              <a:t>How much to order</a:t>
            </a:r>
          </a:p>
        </p:txBody>
      </p:sp>
      <p:sp>
        <p:nvSpPr>
          <p:cNvPr id="14" name="Rectangle: Rounded Corners 13">
            <a:extLst>
              <a:ext uri="{FF2B5EF4-FFF2-40B4-BE49-F238E27FC236}">
                <a16:creationId xmlns:a16="http://schemas.microsoft.com/office/drawing/2014/main" id="{308B05EA-B114-335D-717E-A4F2B98BFDE4}"/>
              </a:ext>
            </a:extLst>
          </p:cNvPr>
          <p:cNvSpPr/>
          <p:nvPr/>
        </p:nvSpPr>
        <p:spPr>
          <a:xfrm>
            <a:off x="2546430" y="1311602"/>
            <a:ext cx="7099140" cy="507747"/>
          </a:xfrm>
          <a:prstGeom prst="roundRect">
            <a:avLst>
              <a:gd name="adj"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800" dirty="0">
                <a:solidFill>
                  <a:schemeClr val="bg1"/>
                </a:solidFill>
                <a:latin typeface="Candara" panose="020E0502030303020204" pitchFamily="34" charset="0"/>
              </a:rPr>
              <a:t>Two basic functions</a:t>
            </a:r>
          </a:p>
        </p:txBody>
      </p:sp>
    </p:spTree>
    <p:extLst>
      <p:ext uri="{BB962C8B-B14F-4D97-AF65-F5344CB8AC3E}">
        <p14:creationId xmlns:p14="http://schemas.microsoft.com/office/powerpoint/2010/main" val="81740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1000"/>
                                        <p:tgtEl>
                                          <p:spTgt spid="92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220"/>
                                        </p:tgtEl>
                                        <p:attrNameLst>
                                          <p:attrName>style.visibility</p:attrName>
                                        </p:attrNameLst>
                                      </p:cBhvr>
                                      <p:to>
                                        <p:strVal val="visible"/>
                                      </p:to>
                                    </p:set>
                                    <p:animEffect transition="in" filter="fade">
                                      <p:cBhvr>
                                        <p:cTn id="15" dur="1000"/>
                                        <p:tgtEl>
                                          <p:spTgt spid="92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8210309" y="0"/>
            <a:ext cx="3981691"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Inventory </a:t>
            </a:r>
          </a:p>
          <a:p>
            <a:pPr algn="ctr"/>
            <a:r>
              <a:rPr lang="en-US" altLang="en-US" sz="4400" b="1" dirty="0">
                <a:solidFill>
                  <a:schemeClr val="bg1"/>
                </a:solidFill>
                <a:latin typeface="Candara" panose="020E0502030303020204" pitchFamily="34" charset="0"/>
              </a:rPr>
              <a:t>Costs</a:t>
            </a:r>
          </a:p>
        </p:txBody>
      </p:sp>
      <p:sp>
        <p:nvSpPr>
          <p:cNvPr id="9" name="Rectangle 8">
            <a:extLst>
              <a:ext uri="{FF2B5EF4-FFF2-40B4-BE49-F238E27FC236}">
                <a16:creationId xmlns:a16="http://schemas.microsoft.com/office/drawing/2014/main" id="{F2DF3602-99E3-7C46-6AAA-FE8C6D911143}"/>
              </a:ext>
            </a:extLst>
          </p:cNvPr>
          <p:cNvSpPr/>
          <p:nvPr/>
        </p:nvSpPr>
        <p:spPr>
          <a:xfrm>
            <a:off x="578735" y="594360"/>
            <a:ext cx="6858000" cy="5669280"/>
          </a:xfrm>
          <a:prstGeom prst="rect">
            <a:avLst/>
          </a:prstGeom>
          <a:solidFill>
            <a:schemeClr val="accent5">
              <a:lumMod val="20000"/>
              <a:lumOff val="80000"/>
            </a:schemeClr>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lumMod val="50000"/>
                    <a:lumOff val="50000"/>
                  </a:schemeClr>
                </a:solidFill>
                <a:latin typeface="Candara" panose="020E0502030303020204" pitchFamily="34" charset="0"/>
              </a:rPr>
              <a:t>Inventory Cost</a:t>
            </a:r>
          </a:p>
        </p:txBody>
      </p:sp>
      <p:sp>
        <p:nvSpPr>
          <p:cNvPr id="10" name="Rectangle 9">
            <a:extLst>
              <a:ext uri="{FF2B5EF4-FFF2-40B4-BE49-F238E27FC236}">
                <a16:creationId xmlns:a16="http://schemas.microsoft.com/office/drawing/2014/main" id="{2186AB2D-3F22-5C13-22F7-7B62479CF175}"/>
              </a:ext>
            </a:extLst>
          </p:cNvPr>
          <p:cNvSpPr/>
          <p:nvPr/>
        </p:nvSpPr>
        <p:spPr>
          <a:xfrm>
            <a:off x="567159" y="571210"/>
            <a:ext cx="3796497" cy="3213713"/>
          </a:xfrm>
          <a:prstGeom prst="rect">
            <a:avLst/>
          </a:prstGeom>
          <a:solidFill>
            <a:srgbClr val="9B00FB"/>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ndara" panose="020E0502030303020204" pitchFamily="34" charset="0"/>
              </a:rPr>
              <a:t>Procurement </a:t>
            </a:r>
          </a:p>
          <a:p>
            <a:pPr algn="ctr"/>
            <a:r>
              <a:rPr lang="en-US" sz="2400" b="1" dirty="0">
                <a:solidFill>
                  <a:schemeClr val="bg1"/>
                </a:solidFill>
                <a:latin typeface="Candara" panose="020E0502030303020204" pitchFamily="34" charset="0"/>
              </a:rPr>
              <a:t>Cost</a:t>
            </a:r>
          </a:p>
          <a:p>
            <a:pPr algn="ctr"/>
            <a:endParaRPr lang="en-US" sz="2400"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The amount paid to buy the inventory</a:t>
            </a:r>
          </a:p>
          <a:p>
            <a:pPr algn="ctr"/>
            <a:endParaRPr lang="en-US" sz="2400" b="1" dirty="0">
              <a:solidFill>
                <a:schemeClr val="bg1"/>
              </a:solidFill>
              <a:latin typeface="Candara" panose="020E0502030303020204" pitchFamily="34" charset="0"/>
            </a:endParaRPr>
          </a:p>
        </p:txBody>
      </p:sp>
      <p:sp>
        <p:nvSpPr>
          <p:cNvPr id="11" name="Rectangle 10">
            <a:extLst>
              <a:ext uri="{FF2B5EF4-FFF2-40B4-BE49-F238E27FC236}">
                <a16:creationId xmlns:a16="http://schemas.microsoft.com/office/drawing/2014/main" id="{2B066A34-25AC-4C83-0F18-05BC9506155C}"/>
              </a:ext>
            </a:extLst>
          </p:cNvPr>
          <p:cNvSpPr/>
          <p:nvPr/>
        </p:nvSpPr>
        <p:spPr>
          <a:xfrm>
            <a:off x="4363657" y="571210"/>
            <a:ext cx="3084654" cy="2501864"/>
          </a:xfrm>
          <a:prstGeom prst="rect">
            <a:avLst/>
          </a:prstGeom>
          <a:solidFill>
            <a:srgbClr val="4D61D6"/>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ndara" panose="020E0502030303020204" pitchFamily="34" charset="0"/>
              </a:rPr>
              <a:t>Holding (carrying) Cost</a:t>
            </a:r>
          </a:p>
          <a:p>
            <a:pPr algn="ctr"/>
            <a:endParaRPr lang="en-US" sz="2400" b="1"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Cost to carry an item in inventory for a length of time, usually a year</a:t>
            </a:r>
          </a:p>
        </p:txBody>
      </p:sp>
      <p:sp>
        <p:nvSpPr>
          <p:cNvPr id="12" name="Rectangle 11">
            <a:extLst>
              <a:ext uri="{FF2B5EF4-FFF2-40B4-BE49-F238E27FC236}">
                <a16:creationId xmlns:a16="http://schemas.microsoft.com/office/drawing/2014/main" id="{217C7E9F-CAE5-2CCA-2338-90C0DA21C1FD}"/>
              </a:ext>
            </a:extLst>
          </p:cNvPr>
          <p:cNvSpPr/>
          <p:nvPr/>
        </p:nvSpPr>
        <p:spPr>
          <a:xfrm>
            <a:off x="4363657" y="3073074"/>
            <a:ext cx="3084654" cy="1799868"/>
          </a:xfrm>
          <a:prstGeom prst="rect">
            <a:avLst/>
          </a:prstGeom>
          <a:solidFill>
            <a:srgbClr val="34006A"/>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ndara" panose="020E0502030303020204" pitchFamily="34" charset="0"/>
              </a:rPr>
              <a:t>Ordering Cost</a:t>
            </a:r>
          </a:p>
          <a:p>
            <a:pPr algn="ctr"/>
            <a:endParaRPr lang="en-US" sz="2400" b="1"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Costs of ordering and receiving inventory</a:t>
            </a:r>
          </a:p>
        </p:txBody>
      </p:sp>
      <p:sp>
        <p:nvSpPr>
          <p:cNvPr id="13" name="Rectangle 12">
            <a:extLst>
              <a:ext uri="{FF2B5EF4-FFF2-40B4-BE49-F238E27FC236}">
                <a16:creationId xmlns:a16="http://schemas.microsoft.com/office/drawing/2014/main" id="{64AA79B4-9EDB-D043-FA08-D4C963D55357}"/>
              </a:ext>
            </a:extLst>
          </p:cNvPr>
          <p:cNvSpPr/>
          <p:nvPr/>
        </p:nvSpPr>
        <p:spPr>
          <a:xfrm>
            <a:off x="567159" y="3784922"/>
            <a:ext cx="3796497" cy="2501868"/>
          </a:xfrm>
          <a:prstGeom prst="rect">
            <a:avLst/>
          </a:prstGeom>
          <a:solidFill>
            <a:srgbClr val="3320B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ndara" panose="020E0502030303020204" pitchFamily="34" charset="0"/>
              </a:rPr>
              <a:t>Setup Cost</a:t>
            </a:r>
          </a:p>
          <a:p>
            <a:pPr algn="ctr"/>
            <a:endParaRPr lang="en-US" sz="2400" b="1"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The costs involved in preparing equipment for a job</a:t>
            </a:r>
          </a:p>
          <a:p>
            <a:pPr algn="ctr"/>
            <a:r>
              <a:rPr lang="en-US" dirty="0">
                <a:solidFill>
                  <a:schemeClr val="bg1"/>
                </a:solidFill>
                <a:latin typeface="Candara" panose="020E0502030303020204" pitchFamily="34" charset="0"/>
              </a:rPr>
              <a:t>Analogous to ordering costs</a:t>
            </a:r>
          </a:p>
        </p:txBody>
      </p:sp>
      <p:sp>
        <p:nvSpPr>
          <p:cNvPr id="14" name="Rectangle 13">
            <a:extLst>
              <a:ext uri="{FF2B5EF4-FFF2-40B4-BE49-F238E27FC236}">
                <a16:creationId xmlns:a16="http://schemas.microsoft.com/office/drawing/2014/main" id="{920F3D55-3FF9-336E-6DBC-9D773406DC59}"/>
              </a:ext>
            </a:extLst>
          </p:cNvPr>
          <p:cNvSpPr/>
          <p:nvPr/>
        </p:nvSpPr>
        <p:spPr>
          <a:xfrm>
            <a:off x="4363657" y="4872941"/>
            <a:ext cx="3084654" cy="1413849"/>
          </a:xfrm>
          <a:prstGeom prst="rect">
            <a:avLst/>
          </a:prstGeom>
          <a:solidFill>
            <a:srgbClr val="7703F0"/>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Candara" panose="020E0502030303020204" pitchFamily="34" charset="0"/>
              </a:rPr>
              <a:t>Shortage Cost</a:t>
            </a:r>
          </a:p>
          <a:p>
            <a:pPr algn="ctr"/>
            <a:endParaRPr lang="en-US" sz="1000" b="1" dirty="0">
              <a:solidFill>
                <a:schemeClr val="bg1"/>
              </a:solidFill>
              <a:latin typeface="Candara" panose="020E0502030303020204" pitchFamily="34" charset="0"/>
            </a:endParaRPr>
          </a:p>
          <a:p>
            <a:pPr algn="ctr"/>
            <a:r>
              <a:rPr lang="en-US" dirty="0">
                <a:solidFill>
                  <a:schemeClr val="bg1"/>
                </a:solidFill>
                <a:latin typeface="Candara" panose="020E0502030303020204" pitchFamily="34" charset="0"/>
              </a:rPr>
              <a:t>Costs resulting when demand exceeds the supply of inventory</a:t>
            </a:r>
            <a:endParaRPr lang="en-US" sz="14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365431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1A1AEE-75C9-8264-DE7E-C512932B5B80}"/>
              </a:ext>
            </a:extLst>
          </p:cNvPr>
          <p:cNvSpPr/>
          <p:nvPr/>
        </p:nvSpPr>
        <p:spPr>
          <a:xfrm>
            <a:off x="0" y="1400536"/>
            <a:ext cx="6083806" cy="5457463"/>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endParaRPr lang="en-US" sz="2800" b="1" dirty="0">
              <a:solidFill>
                <a:schemeClr val="tx1"/>
              </a:solidFill>
            </a:endParaRPr>
          </a:p>
          <a:p>
            <a:pPr algn="ctr">
              <a:lnSpc>
                <a:spcPct val="90000"/>
              </a:lnSpc>
              <a:defRPr/>
            </a:pPr>
            <a:r>
              <a:rPr lang="en-US" sz="3200" b="1" dirty="0">
                <a:solidFill>
                  <a:schemeClr val="tx1"/>
                </a:solidFill>
              </a:rPr>
              <a:t>Periodic System</a:t>
            </a:r>
          </a:p>
          <a:p>
            <a:pPr algn="ctr">
              <a:lnSpc>
                <a:spcPct val="90000"/>
              </a:lnSpc>
              <a:defRPr/>
            </a:pPr>
            <a:endParaRPr lang="en-US" sz="2800" b="1" dirty="0">
              <a:solidFill>
                <a:schemeClr val="tx1"/>
              </a:solidFill>
            </a:endParaRPr>
          </a:p>
          <a:p>
            <a:pPr marL="342900" indent="-342900">
              <a:buFont typeface="Arial" panose="020B0604020202020204" pitchFamily="34" charset="0"/>
              <a:buChar char="•"/>
              <a:defRPr/>
            </a:pPr>
            <a:r>
              <a:rPr lang="en-US" sz="2400" dirty="0">
                <a:solidFill>
                  <a:schemeClr val="tx1"/>
                </a:solidFill>
              </a:rPr>
              <a:t>Physical count of items in inventory made at periodic intervals</a:t>
            </a:r>
          </a:p>
          <a:p>
            <a:pPr marL="342900" indent="-342900">
              <a:buFont typeface="Arial" panose="020B0604020202020204" pitchFamily="34" charset="0"/>
              <a:buChar char="•"/>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Vulnerable as inventory state may change drastically between the counting intervals</a:t>
            </a:r>
          </a:p>
          <a:p>
            <a:pPr marL="342900" indent="-342900">
              <a:buFont typeface="Arial" panose="020B0604020202020204" pitchFamily="34" charset="0"/>
              <a:buChar char="•"/>
              <a:defRPr/>
            </a:pPr>
            <a:endParaRPr lang="en-US" sz="2400" dirty="0">
              <a:solidFill>
                <a:schemeClr val="tx1"/>
              </a:solidFill>
            </a:endParaRPr>
          </a:p>
          <a:p>
            <a:pPr>
              <a:defRPr/>
            </a:pPr>
            <a:r>
              <a:rPr lang="en-US" sz="2400" dirty="0">
                <a:solidFill>
                  <a:schemeClr val="tx1"/>
                </a:solidFill>
              </a:rPr>
              <a:t> </a:t>
            </a:r>
          </a:p>
        </p:txBody>
      </p:sp>
      <p:sp>
        <p:nvSpPr>
          <p:cNvPr id="5" name="Rectangle 4">
            <a:extLst>
              <a:ext uri="{FF2B5EF4-FFF2-40B4-BE49-F238E27FC236}">
                <a16:creationId xmlns:a16="http://schemas.microsoft.com/office/drawing/2014/main" id="{98F21C07-24F8-144A-6CF6-E30042EE29D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Inventory Counting Systems</a:t>
            </a:r>
          </a:p>
        </p:txBody>
      </p:sp>
      <p:sp>
        <p:nvSpPr>
          <p:cNvPr id="6" name="Rectangle 5">
            <a:extLst>
              <a:ext uri="{FF2B5EF4-FFF2-40B4-BE49-F238E27FC236}">
                <a16:creationId xmlns:a16="http://schemas.microsoft.com/office/drawing/2014/main" id="{9D6112AE-9A6B-B38E-CA52-22921A25F42F}"/>
              </a:ext>
            </a:extLst>
          </p:cNvPr>
          <p:cNvSpPr/>
          <p:nvPr/>
        </p:nvSpPr>
        <p:spPr>
          <a:xfrm>
            <a:off x="6083806" y="1400537"/>
            <a:ext cx="6120388" cy="545746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90000"/>
              </a:lnSpc>
              <a:defRPr/>
            </a:pPr>
            <a:endParaRPr lang="en-US" sz="2800" b="1" dirty="0">
              <a:solidFill>
                <a:schemeClr val="tx1"/>
              </a:solidFill>
            </a:endParaRPr>
          </a:p>
          <a:p>
            <a:pPr algn="ctr">
              <a:lnSpc>
                <a:spcPct val="90000"/>
              </a:lnSpc>
              <a:defRPr/>
            </a:pPr>
            <a:r>
              <a:rPr lang="en-US" sz="3200" b="1" dirty="0">
                <a:solidFill>
                  <a:schemeClr val="tx1"/>
                </a:solidFill>
              </a:rPr>
              <a:t>Perpetual Inventory System</a:t>
            </a:r>
          </a:p>
          <a:p>
            <a:pPr algn="ctr">
              <a:lnSpc>
                <a:spcPct val="90000"/>
              </a:lnSpc>
              <a:defRPr/>
            </a:pPr>
            <a:endParaRPr lang="en-US" sz="2800" b="1" dirty="0">
              <a:solidFill>
                <a:schemeClr val="tx1"/>
              </a:solidFill>
            </a:endParaRPr>
          </a:p>
          <a:p>
            <a:pPr marL="342900" indent="-342900">
              <a:buFont typeface="Arial" panose="020B0604020202020204" pitchFamily="34" charset="0"/>
              <a:buChar char="•"/>
              <a:defRPr/>
            </a:pPr>
            <a:r>
              <a:rPr lang="en-US" sz="2400" dirty="0">
                <a:solidFill>
                  <a:schemeClr val="tx1"/>
                </a:solidFill>
              </a:rPr>
              <a:t>System that keeps track of removals from inventory continuously, thus monitoring current levels of each item</a:t>
            </a:r>
          </a:p>
          <a:p>
            <a:pPr marL="342900" indent="-342900">
              <a:buFont typeface="Arial" panose="020B0604020202020204" pitchFamily="34" charset="0"/>
              <a:buChar char="•"/>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An order is placed when inventory drops to a predetermined minimum level</a:t>
            </a:r>
          </a:p>
          <a:p>
            <a:pPr marL="342900" indent="-342900">
              <a:buFont typeface="Arial" panose="020B0604020202020204" pitchFamily="34" charset="0"/>
              <a:buChar char="•"/>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Universal Product Code (UPC) or Bar-code is implemented to track each item</a:t>
            </a:r>
          </a:p>
          <a:p>
            <a:pPr marL="342900" indent="-342900">
              <a:buFont typeface="Arial" panose="020B0604020202020204" pitchFamily="34" charset="0"/>
              <a:buChar char="•"/>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Point-of-sale (POS) system is required</a:t>
            </a:r>
          </a:p>
        </p:txBody>
      </p:sp>
    </p:spTree>
    <p:extLst>
      <p:ext uri="{BB962C8B-B14F-4D97-AF65-F5344CB8AC3E}">
        <p14:creationId xmlns:p14="http://schemas.microsoft.com/office/powerpoint/2010/main" val="278819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500"/>
                                        <p:tgtEl>
                                          <p:spTgt spid="2">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fade">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9" end="9"/>
                                            </p:txEl>
                                          </p:spTgt>
                                        </p:tgtEl>
                                        <p:attrNameLst>
                                          <p:attrName>style.visibility</p:attrName>
                                        </p:attrNameLst>
                                      </p:cBhvr>
                                      <p:to>
                                        <p:strVal val="visible"/>
                                      </p:to>
                                    </p:set>
                                    <p:animEffect transition="in" filter="fade">
                                      <p:cBhvr>
                                        <p:cTn id="3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21C07-24F8-144A-6CF6-E30042EE29D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Inventory Classification System</a:t>
            </a:r>
          </a:p>
        </p:txBody>
      </p:sp>
      <p:grpSp>
        <p:nvGrpSpPr>
          <p:cNvPr id="8" name="Group 7">
            <a:extLst>
              <a:ext uri="{FF2B5EF4-FFF2-40B4-BE49-F238E27FC236}">
                <a16:creationId xmlns:a16="http://schemas.microsoft.com/office/drawing/2014/main" id="{4C39E1EE-6842-82AA-2BD0-F66342273FA7}"/>
              </a:ext>
            </a:extLst>
          </p:cNvPr>
          <p:cNvGrpSpPr/>
          <p:nvPr/>
        </p:nvGrpSpPr>
        <p:grpSpPr>
          <a:xfrm>
            <a:off x="1314112" y="1400533"/>
            <a:ext cx="9045615" cy="5088158"/>
            <a:chOff x="1573192" y="1403427"/>
            <a:chExt cx="9045615" cy="5088158"/>
          </a:xfrm>
        </p:grpSpPr>
        <p:pic>
          <p:nvPicPr>
            <p:cNvPr id="14338" name="Picture 2" descr="Improve your business management with ABC Analysis | erplain Blog">
              <a:extLst>
                <a:ext uri="{FF2B5EF4-FFF2-40B4-BE49-F238E27FC236}">
                  <a16:creationId xmlns:a16="http://schemas.microsoft.com/office/drawing/2014/main" id="{FADBF773-9ED6-EA24-AEC2-E56995E42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3192" y="1403427"/>
              <a:ext cx="9045615" cy="50881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C849EC2-F9BD-76B8-0F65-A83619432612}"/>
                </a:ext>
              </a:extLst>
            </p:cNvPr>
            <p:cNvSpPr/>
            <p:nvPr/>
          </p:nvSpPr>
          <p:spPr>
            <a:xfrm>
              <a:off x="5455920" y="3616961"/>
              <a:ext cx="937260" cy="26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EBF16"/>
                  </a:solidFill>
                </a:rPr>
                <a:t>35 %</a:t>
              </a:r>
            </a:p>
          </p:txBody>
        </p:sp>
        <p:sp>
          <p:nvSpPr>
            <p:cNvPr id="4" name="Rectangle 3">
              <a:extLst>
                <a:ext uri="{FF2B5EF4-FFF2-40B4-BE49-F238E27FC236}">
                  <a16:creationId xmlns:a16="http://schemas.microsoft.com/office/drawing/2014/main" id="{3232110D-C428-FCCE-8A3C-485ED3716AFA}"/>
                </a:ext>
              </a:extLst>
            </p:cNvPr>
            <p:cNvSpPr/>
            <p:nvPr/>
          </p:nvSpPr>
          <p:spPr>
            <a:xfrm>
              <a:off x="5036819" y="1775461"/>
              <a:ext cx="1028700" cy="26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33AC97"/>
                  </a:solidFill>
                </a:rPr>
                <a:t>15 %</a:t>
              </a:r>
            </a:p>
          </p:txBody>
        </p:sp>
        <p:sp>
          <p:nvSpPr>
            <p:cNvPr id="7" name="Rectangle 6">
              <a:extLst>
                <a:ext uri="{FF2B5EF4-FFF2-40B4-BE49-F238E27FC236}">
                  <a16:creationId xmlns:a16="http://schemas.microsoft.com/office/drawing/2014/main" id="{7A677BB1-128B-092D-6A3F-F1164C4A87FD}"/>
                </a:ext>
              </a:extLst>
            </p:cNvPr>
            <p:cNvSpPr/>
            <p:nvPr/>
          </p:nvSpPr>
          <p:spPr>
            <a:xfrm>
              <a:off x="4987290" y="5439333"/>
              <a:ext cx="937260" cy="26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349FB8"/>
                  </a:solidFill>
                </a:rPr>
                <a:t>50 %</a:t>
              </a:r>
            </a:p>
          </p:txBody>
        </p:sp>
      </p:grpSp>
    </p:spTree>
    <p:extLst>
      <p:ext uri="{BB962C8B-B14F-4D97-AF65-F5344CB8AC3E}">
        <p14:creationId xmlns:p14="http://schemas.microsoft.com/office/powerpoint/2010/main" val="232550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21C07-24F8-144A-6CF6-E30042EE29D7}"/>
              </a:ext>
            </a:extLst>
          </p:cNvPr>
          <p:cNvSpPr/>
          <p:nvPr/>
        </p:nvSpPr>
        <p:spPr>
          <a:xfrm>
            <a:off x="0" y="0"/>
            <a:ext cx="12192000" cy="17525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Steps of Solving ABC Classification Problem</a:t>
            </a:r>
          </a:p>
        </p:txBody>
      </p:sp>
      <p:grpSp>
        <p:nvGrpSpPr>
          <p:cNvPr id="14339" name="Group 14338">
            <a:extLst>
              <a:ext uri="{FF2B5EF4-FFF2-40B4-BE49-F238E27FC236}">
                <a16:creationId xmlns:a16="http://schemas.microsoft.com/office/drawing/2014/main" id="{D08EBB66-9394-9710-8DC1-37FD62EC01BF}"/>
              </a:ext>
            </a:extLst>
          </p:cNvPr>
          <p:cNvGrpSpPr/>
          <p:nvPr/>
        </p:nvGrpSpPr>
        <p:grpSpPr>
          <a:xfrm>
            <a:off x="708236" y="1767842"/>
            <a:ext cx="10699328" cy="1371600"/>
            <a:chOff x="944032" y="1767842"/>
            <a:chExt cx="10699328" cy="1371600"/>
          </a:xfrm>
        </p:grpSpPr>
        <p:sp>
          <p:nvSpPr>
            <p:cNvPr id="27" name="Freeform: Shape 26">
              <a:extLst>
                <a:ext uri="{FF2B5EF4-FFF2-40B4-BE49-F238E27FC236}">
                  <a16:creationId xmlns:a16="http://schemas.microsoft.com/office/drawing/2014/main" id="{5939B897-6E8E-94CC-146B-48E2653282ED}"/>
                </a:ext>
              </a:extLst>
            </p:cNvPr>
            <p:cNvSpPr/>
            <p:nvPr/>
          </p:nvSpPr>
          <p:spPr>
            <a:xfrm>
              <a:off x="2163232" y="1971174"/>
              <a:ext cx="9480128" cy="980173"/>
            </a:xfrm>
            <a:custGeom>
              <a:avLst/>
              <a:gdLst>
                <a:gd name="connsiteX0" fmla="*/ 1 w 9480128"/>
                <a:gd name="connsiteY0" fmla="*/ 0 h 980173"/>
                <a:gd name="connsiteX1" fmla="*/ 8885768 w 9480128"/>
                <a:gd name="connsiteY1" fmla="*/ 0 h 980173"/>
                <a:gd name="connsiteX2" fmla="*/ 9480128 w 9480128"/>
                <a:gd name="connsiteY2" fmla="*/ 490087 h 980173"/>
                <a:gd name="connsiteX3" fmla="*/ 8885768 w 9480128"/>
                <a:gd name="connsiteY3" fmla="*/ 980173 h 980173"/>
                <a:gd name="connsiteX4" fmla="*/ 0 w 9480128"/>
                <a:gd name="connsiteY4" fmla="*/ 980173 h 980173"/>
                <a:gd name="connsiteX5" fmla="*/ 6245 w 9480128"/>
                <a:gd name="connsiteY5" fmla="*/ 975020 h 980173"/>
                <a:gd name="connsiteX6" fmla="*/ 207111 w 9480128"/>
                <a:gd name="connsiteY6" fmla="*/ 490086 h 980173"/>
                <a:gd name="connsiteX7" fmla="*/ 6245 w 9480128"/>
                <a:gd name="connsiteY7" fmla="*/ 5152 h 98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80128" h="980173">
                  <a:moveTo>
                    <a:pt x="1" y="0"/>
                  </a:moveTo>
                  <a:lnTo>
                    <a:pt x="8885768" y="0"/>
                  </a:lnTo>
                  <a:cubicBezTo>
                    <a:pt x="9214024" y="0"/>
                    <a:pt x="9480128" y="219419"/>
                    <a:pt x="9480128" y="490087"/>
                  </a:cubicBezTo>
                  <a:cubicBezTo>
                    <a:pt x="9480128" y="760754"/>
                    <a:pt x="9214024" y="980173"/>
                    <a:pt x="8885768" y="980173"/>
                  </a:cubicBezTo>
                  <a:lnTo>
                    <a:pt x="0" y="980173"/>
                  </a:lnTo>
                  <a:lnTo>
                    <a:pt x="6245" y="975020"/>
                  </a:lnTo>
                  <a:cubicBezTo>
                    <a:pt x="130351" y="850915"/>
                    <a:pt x="207111" y="679465"/>
                    <a:pt x="207111" y="490086"/>
                  </a:cubicBezTo>
                  <a:cubicBezTo>
                    <a:pt x="207111" y="300708"/>
                    <a:pt x="130351" y="129258"/>
                    <a:pt x="6245" y="5152"/>
                  </a:cubicBezTo>
                  <a:close/>
                </a:path>
              </a:pathLst>
            </a:custGeom>
            <a:solidFill>
              <a:srgbClr val="78B4E5"/>
            </a:solidFill>
            <a:ln w="6350">
              <a:solidFill>
                <a:srgbClr val="002060"/>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400" dirty="0">
                  <a:solidFill>
                    <a:schemeClr val="tx1"/>
                  </a:solidFill>
                  <a:latin typeface="Candara" panose="020E0502030303020204" pitchFamily="34" charset="0"/>
                </a:rPr>
                <a:t>For each item, multiply inventory volume by unit price to get the inventory value</a:t>
              </a:r>
            </a:p>
          </p:txBody>
        </p:sp>
        <p:sp>
          <p:nvSpPr>
            <p:cNvPr id="16" name="Oval 15">
              <a:extLst>
                <a:ext uri="{FF2B5EF4-FFF2-40B4-BE49-F238E27FC236}">
                  <a16:creationId xmlns:a16="http://schemas.microsoft.com/office/drawing/2014/main" id="{05089816-7341-B36B-76FB-53670DE65C61}"/>
                </a:ext>
              </a:extLst>
            </p:cNvPr>
            <p:cNvSpPr/>
            <p:nvPr/>
          </p:nvSpPr>
          <p:spPr>
            <a:xfrm>
              <a:off x="944032" y="1767842"/>
              <a:ext cx="1371600" cy="1371600"/>
            </a:xfrm>
            <a:prstGeom prst="ellipse">
              <a:avLst/>
            </a:prstGeom>
            <a:solidFill>
              <a:srgbClr val="78B4E5"/>
            </a:solidFill>
            <a:ln>
              <a:solidFill>
                <a:srgbClr val="002060"/>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tx1"/>
                  </a:solidFill>
                  <a:latin typeface="Candara" panose="020E0502030303020204" pitchFamily="34" charset="0"/>
                </a:rPr>
                <a:t>1</a:t>
              </a:r>
            </a:p>
          </p:txBody>
        </p:sp>
      </p:grpSp>
      <p:grpSp>
        <p:nvGrpSpPr>
          <p:cNvPr id="14340" name="Group 14339">
            <a:extLst>
              <a:ext uri="{FF2B5EF4-FFF2-40B4-BE49-F238E27FC236}">
                <a16:creationId xmlns:a16="http://schemas.microsoft.com/office/drawing/2014/main" id="{8CB696F4-21AA-134D-DDBF-750287D0A838}"/>
              </a:ext>
            </a:extLst>
          </p:cNvPr>
          <p:cNvGrpSpPr/>
          <p:nvPr/>
        </p:nvGrpSpPr>
        <p:grpSpPr>
          <a:xfrm>
            <a:off x="678180" y="3528062"/>
            <a:ext cx="10759440" cy="1371600"/>
            <a:chOff x="678180" y="3512822"/>
            <a:chExt cx="10759440" cy="1371600"/>
          </a:xfrm>
        </p:grpSpPr>
        <p:sp>
          <p:nvSpPr>
            <p:cNvPr id="29" name="Freeform: Shape 28">
              <a:extLst>
                <a:ext uri="{FF2B5EF4-FFF2-40B4-BE49-F238E27FC236}">
                  <a16:creationId xmlns:a16="http://schemas.microsoft.com/office/drawing/2014/main" id="{FB911118-E9A1-6157-48C4-37F9D94521C5}"/>
                </a:ext>
              </a:extLst>
            </p:cNvPr>
            <p:cNvSpPr/>
            <p:nvPr/>
          </p:nvSpPr>
          <p:spPr>
            <a:xfrm flipH="1">
              <a:off x="678180" y="3742826"/>
              <a:ext cx="9578640" cy="980173"/>
            </a:xfrm>
            <a:custGeom>
              <a:avLst/>
              <a:gdLst>
                <a:gd name="connsiteX0" fmla="*/ 8984280 w 9578640"/>
                <a:gd name="connsiteY0" fmla="*/ 0 h 980173"/>
                <a:gd name="connsiteX1" fmla="*/ 51423 w 9578640"/>
                <a:gd name="connsiteY1" fmla="*/ 0 h 980173"/>
                <a:gd name="connsiteX2" fmla="*/ 119396 w 9578640"/>
                <a:gd name="connsiteY2" fmla="*/ 82385 h 980173"/>
                <a:gd name="connsiteX3" fmla="*/ 236520 w 9578640"/>
                <a:gd name="connsiteY3" fmla="*/ 465822 h 980173"/>
                <a:gd name="connsiteX4" fmla="*/ 35654 w 9578640"/>
                <a:gd name="connsiteY4" fmla="*/ 950756 h 980173"/>
                <a:gd name="connsiteX5" fmla="*/ 0 w 9578640"/>
                <a:gd name="connsiteY5" fmla="*/ 980173 h 980173"/>
                <a:gd name="connsiteX6" fmla="*/ 8984280 w 9578640"/>
                <a:gd name="connsiteY6" fmla="*/ 980173 h 980173"/>
                <a:gd name="connsiteX7" fmla="*/ 9578640 w 9578640"/>
                <a:gd name="connsiteY7" fmla="*/ 490087 h 980173"/>
                <a:gd name="connsiteX8" fmla="*/ 8984280 w 9578640"/>
                <a:gd name="connsiteY8" fmla="*/ 0 h 98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78640" h="980173">
                  <a:moveTo>
                    <a:pt x="8984280" y="0"/>
                  </a:moveTo>
                  <a:lnTo>
                    <a:pt x="51423" y="0"/>
                  </a:lnTo>
                  <a:lnTo>
                    <a:pt x="119396" y="82385"/>
                  </a:lnTo>
                  <a:cubicBezTo>
                    <a:pt x="193342" y="191839"/>
                    <a:pt x="236520" y="323788"/>
                    <a:pt x="236520" y="465822"/>
                  </a:cubicBezTo>
                  <a:cubicBezTo>
                    <a:pt x="236520" y="655201"/>
                    <a:pt x="159759" y="826651"/>
                    <a:pt x="35654" y="950756"/>
                  </a:cubicBezTo>
                  <a:lnTo>
                    <a:pt x="0" y="980173"/>
                  </a:lnTo>
                  <a:lnTo>
                    <a:pt x="8984280" y="980173"/>
                  </a:lnTo>
                  <a:cubicBezTo>
                    <a:pt x="9312536" y="980173"/>
                    <a:pt x="9578640" y="760754"/>
                    <a:pt x="9578640" y="490087"/>
                  </a:cubicBezTo>
                  <a:cubicBezTo>
                    <a:pt x="9578640" y="219419"/>
                    <a:pt x="9312536" y="0"/>
                    <a:pt x="8984280" y="0"/>
                  </a:cubicBezTo>
                  <a:close/>
                </a:path>
              </a:pathLst>
            </a:custGeom>
            <a:solidFill>
              <a:srgbClr val="9B00FB"/>
            </a:solidFill>
            <a:ln w="6350">
              <a:solidFill>
                <a:srgbClr val="34006A"/>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400" dirty="0">
                  <a:solidFill>
                    <a:schemeClr val="bg1"/>
                  </a:solidFill>
                  <a:latin typeface="Candara" panose="020E0502030303020204" pitchFamily="34" charset="0"/>
                </a:rPr>
                <a:t>Arrange inventory values in descending order</a:t>
              </a:r>
            </a:p>
          </p:txBody>
        </p:sp>
        <p:sp>
          <p:nvSpPr>
            <p:cNvPr id="22" name="Oval 21">
              <a:extLst>
                <a:ext uri="{FF2B5EF4-FFF2-40B4-BE49-F238E27FC236}">
                  <a16:creationId xmlns:a16="http://schemas.microsoft.com/office/drawing/2014/main" id="{D7A575A2-90D7-FD58-78CF-C0B0A2B4C93F}"/>
                </a:ext>
              </a:extLst>
            </p:cNvPr>
            <p:cNvSpPr/>
            <p:nvPr/>
          </p:nvSpPr>
          <p:spPr>
            <a:xfrm flipH="1">
              <a:off x="10066020" y="3512822"/>
              <a:ext cx="1371600" cy="1371600"/>
            </a:xfrm>
            <a:prstGeom prst="ellipse">
              <a:avLst/>
            </a:prstGeom>
            <a:solidFill>
              <a:srgbClr val="9B00FB"/>
            </a:solidFill>
            <a:ln>
              <a:solidFill>
                <a:srgbClr val="34006A"/>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Candara" panose="020E0502030303020204" pitchFamily="34" charset="0"/>
                </a:rPr>
                <a:t>2</a:t>
              </a:r>
            </a:p>
          </p:txBody>
        </p:sp>
      </p:grpSp>
      <p:grpSp>
        <p:nvGrpSpPr>
          <p:cNvPr id="14336" name="Group 14335">
            <a:extLst>
              <a:ext uri="{FF2B5EF4-FFF2-40B4-BE49-F238E27FC236}">
                <a16:creationId xmlns:a16="http://schemas.microsoft.com/office/drawing/2014/main" id="{C0C834CF-95BF-5AEE-6207-67F14774286E}"/>
              </a:ext>
            </a:extLst>
          </p:cNvPr>
          <p:cNvGrpSpPr/>
          <p:nvPr/>
        </p:nvGrpSpPr>
        <p:grpSpPr>
          <a:xfrm>
            <a:off x="692996" y="5288281"/>
            <a:ext cx="10729809" cy="1371600"/>
            <a:chOff x="913552" y="5288281"/>
            <a:chExt cx="10729809" cy="1371600"/>
          </a:xfrm>
        </p:grpSpPr>
        <p:sp>
          <p:nvSpPr>
            <p:cNvPr id="31" name="Freeform: Shape 30">
              <a:extLst>
                <a:ext uri="{FF2B5EF4-FFF2-40B4-BE49-F238E27FC236}">
                  <a16:creationId xmlns:a16="http://schemas.microsoft.com/office/drawing/2014/main" id="{80BA29C1-70BF-98E9-0B60-36FBA4FB03DA}"/>
                </a:ext>
              </a:extLst>
            </p:cNvPr>
            <p:cNvSpPr/>
            <p:nvPr/>
          </p:nvSpPr>
          <p:spPr>
            <a:xfrm>
              <a:off x="2105290" y="5499235"/>
              <a:ext cx="9538071" cy="980173"/>
            </a:xfrm>
            <a:custGeom>
              <a:avLst/>
              <a:gdLst>
                <a:gd name="connsiteX0" fmla="*/ 33040 w 9538071"/>
                <a:gd name="connsiteY0" fmla="*/ 0 h 980173"/>
                <a:gd name="connsiteX1" fmla="*/ 8943711 w 9538071"/>
                <a:gd name="connsiteY1" fmla="*/ 0 h 980173"/>
                <a:gd name="connsiteX2" fmla="*/ 9538071 w 9538071"/>
                <a:gd name="connsiteY2" fmla="*/ 490087 h 980173"/>
                <a:gd name="connsiteX3" fmla="*/ 8943711 w 9538071"/>
                <a:gd name="connsiteY3" fmla="*/ 980173 h 980173"/>
                <a:gd name="connsiteX4" fmla="*/ 0 w 9538071"/>
                <a:gd name="connsiteY4" fmla="*/ 980173 h 980173"/>
                <a:gd name="connsiteX5" fmla="*/ 24717 w 9538071"/>
                <a:gd name="connsiteY5" fmla="*/ 959780 h 980173"/>
                <a:gd name="connsiteX6" fmla="*/ 225583 w 9538071"/>
                <a:gd name="connsiteY6" fmla="*/ 474846 h 980173"/>
                <a:gd name="connsiteX7" fmla="*/ 108459 w 9538071"/>
                <a:gd name="connsiteY7" fmla="*/ 91409 h 98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38071" h="980173">
                  <a:moveTo>
                    <a:pt x="33040" y="0"/>
                  </a:moveTo>
                  <a:lnTo>
                    <a:pt x="8943711" y="0"/>
                  </a:lnTo>
                  <a:cubicBezTo>
                    <a:pt x="9271967" y="0"/>
                    <a:pt x="9538071" y="219419"/>
                    <a:pt x="9538071" y="490087"/>
                  </a:cubicBezTo>
                  <a:cubicBezTo>
                    <a:pt x="9538071" y="760754"/>
                    <a:pt x="9271967" y="980173"/>
                    <a:pt x="8943711" y="980173"/>
                  </a:cubicBezTo>
                  <a:lnTo>
                    <a:pt x="0" y="980173"/>
                  </a:lnTo>
                  <a:lnTo>
                    <a:pt x="24717" y="959780"/>
                  </a:lnTo>
                  <a:cubicBezTo>
                    <a:pt x="148823" y="835675"/>
                    <a:pt x="225583" y="664225"/>
                    <a:pt x="225583" y="474846"/>
                  </a:cubicBezTo>
                  <a:cubicBezTo>
                    <a:pt x="225583" y="332812"/>
                    <a:pt x="182405" y="200863"/>
                    <a:pt x="108459" y="91409"/>
                  </a:cubicBezTo>
                  <a:close/>
                </a:path>
              </a:pathLst>
            </a:custGeom>
            <a:solidFill>
              <a:srgbClr val="34006A"/>
            </a:solidFill>
            <a:ln w="6350">
              <a:solidFill>
                <a:srgbClr val="002060"/>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400" dirty="0">
                  <a:solidFill>
                    <a:schemeClr val="bg1"/>
                  </a:solidFill>
                  <a:latin typeface="Candara" panose="020E0502030303020204" pitchFamily="34" charset="0"/>
                </a:rPr>
                <a:t>     Club top 15% together as A class, next 35% (cumulative 50% including item marginally surpassing 50%) as B class, and bottom 50% as C class</a:t>
              </a:r>
            </a:p>
          </p:txBody>
        </p:sp>
        <p:sp>
          <p:nvSpPr>
            <p:cNvPr id="30" name="Oval 29">
              <a:extLst>
                <a:ext uri="{FF2B5EF4-FFF2-40B4-BE49-F238E27FC236}">
                  <a16:creationId xmlns:a16="http://schemas.microsoft.com/office/drawing/2014/main" id="{B3421277-3898-4692-BAB7-4213B54491BE}"/>
                </a:ext>
              </a:extLst>
            </p:cNvPr>
            <p:cNvSpPr/>
            <p:nvPr/>
          </p:nvSpPr>
          <p:spPr>
            <a:xfrm>
              <a:off x="913552" y="5288281"/>
              <a:ext cx="1371600" cy="1371600"/>
            </a:xfrm>
            <a:prstGeom prst="ellipse">
              <a:avLst/>
            </a:prstGeom>
            <a:solidFill>
              <a:srgbClr val="34006A"/>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bg1"/>
                  </a:solidFill>
                  <a:latin typeface="Candara" panose="020E0502030303020204" pitchFamily="34" charset="0"/>
                </a:rPr>
                <a:t>3</a:t>
              </a:r>
              <a:endParaRPr lang="en-US" sz="7200" dirty="0">
                <a:solidFill>
                  <a:schemeClr val="bg1"/>
                </a:solidFill>
                <a:latin typeface="Candara" panose="020E0502030303020204" pitchFamily="34" charset="0"/>
              </a:endParaRPr>
            </a:p>
          </p:txBody>
        </p:sp>
      </p:grpSp>
    </p:spTree>
    <p:extLst>
      <p:ext uri="{BB962C8B-B14F-4D97-AF65-F5344CB8AC3E}">
        <p14:creationId xmlns:p14="http://schemas.microsoft.com/office/powerpoint/2010/main" val="350016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wipe(left)">
                                      <p:cBhvr>
                                        <p:cTn id="7" dur="1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wipe(right)">
                                      <p:cBhvr>
                                        <p:cTn id="12" dur="1500"/>
                                        <p:tgtEl>
                                          <p:spTgt spid="143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36"/>
                                        </p:tgtEl>
                                        <p:attrNameLst>
                                          <p:attrName>style.visibility</p:attrName>
                                        </p:attrNameLst>
                                      </p:cBhvr>
                                      <p:to>
                                        <p:strVal val="visible"/>
                                      </p:to>
                                    </p:set>
                                    <p:animEffect transition="in" filter="wipe(left)">
                                      <p:cBhvr>
                                        <p:cTn id="17" dur="1500"/>
                                        <p:tgtEl>
                                          <p:spTgt spid="14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0" y="0"/>
            <a:ext cx="3981691"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Example of ABC Classification Problem</a:t>
            </a:r>
          </a:p>
        </p:txBody>
      </p:sp>
      <p:sp>
        <p:nvSpPr>
          <p:cNvPr id="4" name="Rectangle 3">
            <a:extLst>
              <a:ext uri="{FF2B5EF4-FFF2-40B4-BE49-F238E27FC236}">
                <a16:creationId xmlns:a16="http://schemas.microsoft.com/office/drawing/2014/main" id="{ED8F3C55-F996-EBAC-CB68-BBF7FACAB817}"/>
              </a:ext>
            </a:extLst>
          </p:cNvPr>
          <p:cNvSpPr/>
          <p:nvPr/>
        </p:nvSpPr>
        <p:spPr>
          <a:xfrm>
            <a:off x="4673600" y="497840"/>
            <a:ext cx="7345679" cy="157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andara" panose="020E0502030303020204" pitchFamily="34" charset="0"/>
              </a:rPr>
              <a:t>A manager has obtained a list of unit costs and estimated annual demands for 10 inventory items and now wants to categorize the items on ABC basis. Solve the problem for him.</a:t>
            </a:r>
          </a:p>
        </p:txBody>
      </p:sp>
      <p:graphicFrame>
        <p:nvGraphicFramePr>
          <p:cNvPr id="5" name="Table 4">
            <a:extLst>
              <a:ext uri="{FF2B5EF4-FFF2-40B4-BE49-F238E27FC236}">
                <a16:creationId xmlns:a16="http://schemas.microsoft.com/office/drawing/2014/main" id="{3D6F3EA1-14DF-7D1B-86E5-C103AF1C8B27}"/>
              </a:ext>
            </a:extLst>
          </p:cNvPr>
          <p:cNvGraphicFramePr>
            <a:graphicFrameLocks noGrp="1"/>
          </p:cNvGraphicFramePr>
          <p:nvPr>
            <p:extLst>
              <p:ext uri="{D42A27DB-BD31-4B8C-83A1-F6EECF244321}">
                <p14:modId xmlns:p14="http://schemas.microsoft.com/office/powerpoint/2010/main" val="2798426933"/>
              </p:ext>
            </p:extLst>
          </p:nvPr>
        </p:nvGraphicFramePr>
        <p:xfrm>
          <a:off x="6244828" y="2273936"/>
          <a:ext cx="3930965" cy="4183203"/>
        </p:xfrm>
        <a:graphic>
          <a:graphicData uri="http://schemas.openxmlformats.org/drawingml/2006/table">
            <a:tbl>
              <a:tblPr firstRow="1">
                <a:tableStyleId>{8EC20E35-A176-4012-BC5E-935CFFF8708E}</a:tableStyleId>
              </a:tblPr>
              <a:tblGrid>
                <a:gridCol w="1137911">
                  <a:extLst>
                    <a:ext uri="{9D8B030D-6E8A-4147-A177-3AD203B41FA5}">
                      <a16:colId xmlns:a16="http://schemas.microsoft.com/office/drawing/2014/main" val="3326874769"/>
                    </a:ext>
                  </a:extLst>
                </a:gridCol>
                <a:gridCol w="1551697">
                  <a:extLst>
                    <a:ext uri="{9D8B030D-6E8A-4147-A177-3AD203B41FA5}">
                      <a16:colId xmlns:a16="http://schemas.microsoft.com/office/drawing/2014/main" val="1152832564"/>
                    </a:ext>
                  </a:extLst>
                </a:gridCol>
                <a:gridCol w="1241357">
                  <a:extLst>
                    <a:ext uri="{9D8B030D-6E8A-4147-A177-3AD203B41FA5}">
                      <a16:colId xmlns:a16="http://schemas.microsoft.com/office/drawing/2014/main" val="1886986998"/>
                    </a:ext>
                  </a:extLst>
                </a:gridCol>
              </a:tblGrid>
              <a:tr h="525603">
                <a:tc>
                  <a:txBody>
                    <a:bodyPr/>
                    <a:lstStyle/>
                    <a:p>
                      <a:pPr algn="ctr" fontAlgn="ctr"/>
                      <a:r>
                        <a:rPr lang="en-US" sz="1600" b="1" u="none" strike="noStrike" dirty="0">
                          <a:effectLst/>
                          <a:latin typeface="Candara" panose="020E0502030303020204" pitchFamily="34" charset="0"/>
                        </a:rPr>
                        <a:t>Item Number</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u="none" strike="noStrike" dirty="0">
                          <a:effectLst/>
                          <a:latin typeface="Candara" panose="020E0502030303020204" pitchFamily="34" charset="0"/>
                        </a:rPr>
                        <a:t>Annual Demand</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u="none" strike="noStrike" dirty="0">
                          <a:effectLst/>
                          <a:latin typeface="Candara" panose="020E0502030303020204" pitchFamily="34" charset="0"/>
                        </a:rPr>
                        <a:t>Unit Cost ($)</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extLst>
                  <a:ext uri="{0D108BD9-81ED-4DB2-BD59-A6C34878D82A}">
                    <a16:rowId xmlns:a16="http://schemas.microsoft.com/office/drawing/2014/main" val="2862875467"/>
                  </a:ext>
                </a:extLst>
              </a:tr>
              <a:tr h="365760">
                <a:tc>
                  <a:txBody>
                    <a:bodyPr/>
                    <a:lstStyle/>
                    <a:p>
                      <a:pPr algn="ctr" fontAlgn="ctr"/>
                      <a:r>
                        <a:rPr lang="en-US" sz="1600" b="0" i="0" u="none" strike="noStrike" dirty="0">
                          <a:solidFill>
                            <a:srgbClr val="000000"/>
                          </a:solidFill>
                          <a:effectLst/>
                          <a:latin typeface="Candara" panose="020E0502030303020204" pitchFamily="34" charset="0"/>
                        </a:rPr>
                        <a:t>1</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25</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220</a:t>
                      </a:r>
                    </a:p>
                  </a:txBody>
                  <a:tcPr marL="7620" marR="7620" marT="7620" marB="0" anchor="ctr"/>
                </a:tc>
                <a:extLst>
                  <a:ext uri="{0D108BD9-81ED-4DB2-BD59-A6C34878D82A}">
                    <a16:rowId xmlns:a16="http://schemas.microsoft.com/office/drawing/2014/main" val="3280714690"/>
                  </a:ext>
                </a:extLst>
              </a:tr>
              <a:tr h="365760">
                <a:tc>
                  <a:txBody>
                    <a:bodyPr/>
                    <a:lstStyle/>
                    <a:p>
                      <a:pPr algn="ctr" fontAlgn="ctr"/>
                      <a:r>
                        <a:rPr lang="en-US" sz="1600" b="0" i="0" u="none" strike="noStrike">
                          <a:solidFill>
                            <a:srgbClr val="000000"/>
                          </a:solidFill>
                          <a:effectLst/>
                          <a:latin typeface="Candara" panose="020E0502030303020204" pitchFamily="34" charset="0"/>
                        </a:rPr>
                        <a:t>2</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25</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330</a:t>
                      </a:r>
                    </a:p>
                  </a:txBody>
                  <a:tcPr marL="7620" marR="7620" marT="7620" marB="0" anchor="ctr"/>
                </a:tc>
                <a:extLst>
                  <a:ext uri="{0D108BD9-81ED-4DB2-BD59-A6C34878D82A}">
                    <a16:rowId xmlns:a16="http://schemas.microsoft.com/office/drawing/2014/main" val="1279570770"/>
                  </a:ext>
                </a:extLst>
              </a:tr>
              <a:tr h="365760">
                <a:tc>
                  <a:txBody>
                    <a:bodyPr/>
                    <a:lstStyle/>
                    <a:p>
                      <a:pPr algn="ctr" fontAlgn="ctr"/>
                      <a:r>
                        <a:rPr lang="en-US" sz="1600" b="0" i="0" u="none" strike="noStrike" dirty="0">
                          <a:solidFill>
                            <a:srgbClr val="000000"/>
                          </a:solidFill>
                          <a:effectLst/>
                          <a:latin typeface="Candara" panose="020E0502030303020204" pitchFamily="34" charset="0"/>
                        </a:rPr>
                        <a:t>3</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24</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200</a:t>
                      </a:r>
                    </a:p>
                  </a:txBody>
                  <a:tcPr marL="7620" marR="7620" marT="7620" marB="0" anchor="ctr"/>
                </a:tc>
                <a:extLst>
                  <a:ext uri="{0D108BD9-81ED-4DB2-BD59-A6C34878D82A}">
                    <a16:rowId xmlns:a16="http://schemas.microsoft.com/office/drawing/2014/main" val="4160586203"/>
                  </a:ext>
                </a:extLst>
              </a:tr>
              <a:tr h="365760">
                <a:tc>
                  <a:txBody>
                    <a:bodyPr/>
                    <a:lstStyle/>
                    <a:p>
                      <a:pPr algn="ctr" fontAlgn="ctr"/>
                      <a:r>
                        <a:rPr lang="en-US" sz="1600" b="0" i="0" u="none" strike="noStrike" dirty="0">
                          <a:solidFill>
                            <a:srgbClr val="000000"/>
                          </a:solidFill>
                          <a:effectLst/>
                          <a:latin typeface="Candara" panose="020E0502030303020204" pitchFamily="34" charset="0"/>
                        </a:rPr>
                        <a:t>4</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15</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190</a:t>
                      </a:r>
                    </a:p>
                  </a:txBody>
                  <a:tcPr marL="7620" marR="7620" marT="7620" marB="0" anchor="ctr"/>
                </a:tc>
                <a:extLst>
                  <a:ext uri="{0D108BD9-81ED-4DB2-BD59-A6C34878D82A}">
                    <a16:rowId xmlns:a16="http://schemas.microsoft.com/office/drawing/2014/main" val="2311566832"/>
                  </a:ext>
                </a:extLst>
              </a:tr>
              <a:tr h="365760">
                <a:tc>
                  <a:txBody>
                    <a:bodyPr/>
                    <a:lstStyle/>
                    <a:p>
                      <a:pPr algn="ctr" fontAlgn="ctr"/>
                      <a:r>
                        <a:rPr lang="en-US" sz="1600" b="0" i="0" u="none" strike="noStrike" dirty="0">
                          <a:solidFill>
                            <a:srgbClr val="000000"/>
                          </a:solidFill>
                          <a:effectLst/>
                          <a:latin typeface="Candara" panose="020E0502030303020204" pitchFamily="34" charset="0"/>
                        </a:rPr>
                        <a:t>5</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7</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750</a:t>
                      </a:r>
                    </a:p>
                  </a:txBody>
                  <a:tcPr marL="7620" marR="7620" marT="7620" marB="0" anchor="ctr"/>
                </a:tc>
                <a:extLst>
                  <a:ext uri="{0D108BD9-81ED-4DB2-BD59-A6C34878D82A}">
                    <a16:rowId xmlns:a16="http://schemas.microsoft.com/office/drawing/2014/main" val="2550552659"/>
                  </a:ext>
                </a:extLst>
              </a:tr>
              <a:tr h="365760">
                <a:tc>
                  <a:txBody>
                    <a:bodyPr/>
                    <a:lstStyle/>
                    <a:p>
                      <a:pPr algn="ctr" fontAlgn="ctr"/>
                      <a:r>
                        <a:rPr lang="en-US" sz="1600" b="0" i="0" u="none" strike="noStrike">
                          <a:solidFill>
                            <a:srgbClr val="000000"/>
                          </a:solidFill>
                          <a:effectLst/>
                          <a:latin typeface="Candara" panose="020E0502030303020204" pitchFamily="34" charset="0"/>
                        </a:rPr>
                        <a:t>6</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800</a:t>
                      </a:r>
                    </a:p>
                  </a:txBody>
                  <a:tcPr marL="7620" marR="7620" marT="7620" marB="0" anchor="ctr"/>
                </a:tc>
                <a:extLst>
                  <a:ext uri="{0D108BD9-81ED-4DB2-BD59-A6C34878D82A}">
                    <a16:rowId xmlns:a16="http://schemas.microsoft.com/office/drawing/2014/main" val="761494548"/>
                  </a:ext>
                </a:extLst>
              </a:tr>
              <a:tr h="365760">
                <a:tc>
                  <a:txBody>
                    <a:bodyPr/>
                    <a:lstStyle/>
                    <a:p>
                      <a:pPr algn="ctr" fontAlgn="ctr"/>
                      <a:r>
                        <a:rPr lang="en-US" sz="1600" b="0" i="0" u="none" strike="noStrike">
                          <a:solidFill>
                            <a:srgbClr val="000000"/>
                          </a:solidFill>
                          <a:effectLst/>
                          <a:latin typeface="Candara" panose="020E0502030303020204" pitchFamily="34" charset="0"/>
                        </a:rPr>
                        <a:t>7</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12</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210</a:t>
                      </a:r>
                    </a:p>
                  </a:txBody>
                  <a:tcPr marL="7620" marR="7620" marT="7620" marB="0" anchor="ctr"/>
                </a:tc>
                <a:extLst>
                  <a:ext uri="{0D108BD9-81ED-4DB2-BD59-A6C34878D82A}">
                    <a16:rowId xmlns:a16="http://schemas.microsoft.com/office/drawing/2014/main" val="2324426823"/>
                  </a:ext>
                </a:extLst>
              </a:tr>
              <a:tr h="365760">
                <a:tc>
                  <a:txBody>
                    <a:bodyPr/>
                    <a:lstStyle/>
                    <a:p>
                      <a:pPr algn="ctr" fontAlgn="ctr"/>
                      <a:r>
                        <a:rPr lang="en-US" sz="1600" b="0" i="0" u="none" strike="noStrike">
                          <a:solidFill>
                            <a:srgbClr val="000000"/>
                          </a:solidFill>
                          <a:effectLst/>
                          <a:latin typeface="Candara" panose="020E0502030303020204" pitchFamily="34" charset="0"/>
                        </a:rPr>
                        <a:t>8</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11</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900</a:t>
                      </a:r>
                    </a:p>
                  </a:txBody>
                  <a:tcPr marL="7620" marR="7620" marT="7620" marB="0" anchor="ctr"/>
                </a:tc>
                <a:extLst>
                  <a:ext uri="{0D108BD9-81ED-4DB2-BD59-A6C34878D82A}">
                    <a16:rowId xmlns:a16="http://schemas.microsoft.com/office/drawing/2014/main" val="2187157298"/>
                  </a:ext>
                </a:extLst>
              </a:tr>
              <a:tr h="365760">
                <a:tc>
                  <a:txBody>
                    <a:bodyPr/>
                    <a:lstStyle/>
                    <a:p>
                      <a:pPr algn="ctr" fontAlgn="ctr"/>
                      <a:r>
                        <a:rPr lang="en-US" sz="1600" b="0" i="0" u="none" strike="noStrike">
                          <a:solidFill>
                            <a:srgbClr val="000000"/>
                          </a:solidFill>
                          <a:effectLst/>
                          <a:latin typeface="Candara" panose="020E0502030303020204" pitchFamily="34" charset="0"/>
                        </a:rPr>
                        <a:t>9</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80</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90</a:t>
                      </a:r>
                    </a:p>
                  </a:txBody>
                  <a:tcPr marL="7620" marR="7620" marT="7620" marB="0" anchor="ctr"/>
                </a:tc>
                <a:extLst>
                  <a:ext uri="{0D108BD9-81ED-4DB2-BD59-A6C34878D82A}">
                    <a16:rowId xmlns:a16="http://schemas.microsoft.com/office/drawing/2014/main" val="2699148401"/>
                  </a:ext>
                </a:extLst>
              </a:tr>
              <a:tr h="365760">
                <a:tc>
                  <a:txBody>
                    <a:bodyPr/>
                    <a:lstStyle/>
                    <a:p>
                      <a:pPr algn="ctr" fontAlgn="ctr"/>
                      <a:r>
                        <a:rPr lang="en-US" sz="1600" b="0" i="0" u="none" strike="noStrike">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500</a:t>
                      </a:r>
                    </a:p>
                  </a:txBody>
                  <a:tcPr marL="7620" marR="7620" marT="7620" marB="0" anchor="ctr"/>
                </a:tc>
                <a:extLst>
                  <a:ext uri="{0D108BD9-81ED-4DB2-BD59-A6C34878D82A}">
                    <a16:rowId xmlns:a16="http://schemas.microsoft.com/office/drawing/2014/main" val="210129196"/>
                  </a:ext>
                </a:extLst>
              </a:tr>
            </a:tbl>
          </a:graphicData>
        </a:graphic>
      </p:graphicFrame>
    </p:spTree>
    <p:extLst>
      <p:ext uri="{BB962C8B-B14F-4D97-AF65-F5344CB8AC3E}">
        <p14:creationId xmlns:p14="http://schemas.microsoft.com/office/powerpoint/2010/main" val="3106040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0" y="0"/>
            <a:ext cx="3981691"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Solution of </a:t>
            </a:r>
          </a:p>
          <a:p>
            <a:pPr algn="ctr"/>
            <a:r>
              <a:rPr lang="en-US" altLang="en-US" sz="4400" b="1" dirty="0">
                <a:solidFill>
                  <a:schemeClr val="bg1"/>
                </a:solidFill>
                <a:latin typeface="Candara" panose="020E0502030303020204" pitchFamily="34" charset="0"/>
              </a:rPr>
              <a:t>ABC Classification Problem</a:t>
            </a:r>
          </a:p>
        </p:txBody>
      </p:sp>
      <p:sp>
        <p:nvSpPr>
          <p:cNvPr id="4" name="Rectangle 3">
            <a:extLst>
              <a:ext uri="{FF2B5EF4-FFF2-40B4-BE49-F238E27FC236}">
                <a16:creationId xmlns:a16="http://schemas.microsoft.com/office/drawing/2014/main" id="{ED8F3C55-F996-EBAC-CB68-BBF7FACAB817}"/>
              </a:ext>
            </a:extLst>
          </p:cNvPr>
          <p:cNvSpPr/>
          <p:nvPr/>
        </p:nvSpPr>
        <p:spPr>
          <a:xfrm>
            <a:off x="4673600" y="497840"/>
            <a:ext cx="7345679" cy="157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latin typeface="Candara" panose="020E0502030303020204" pitchFamily="34" charset="0"/>
              </a:rPr>
              <a:t>Step 1</a:t>
            </a:r>
            <a:endParaRPr lang="en-US" sz="2000" b="1" dirty="0">
              <a:solidFill>
                <a:schemeClr val="tx1"/>
              </a:solidFill>
              <a:latin typeface="Candara" panose="020E0502030303020204" pitchFamily="34" charset="0"/>
            </a:endParaRPr>
          </a:p>
          <a:p>
            <a:r>
              <a:rPr lang="en-US" sz="2000" dirty="0">
                <a:solidFill>
                  <a:schemeClr val="tx1"/>
                </a:solidFill>
                <a:latin typeface="Candara" panose="020E0502030303020204" pitchFamily="34" charset="0"/>
              </a:rPr>
              <a:t>For each item, multiply inventory volume by unit price to get the inventory value</a:t>
            </a:r>
          </a:p>
        </p:txBody>
      </p:sp>
      <p:graphicFrame>
        <p:nvGraphicFramePr>
          <p:cNvPr id="5" name="Table 4">
            <a:extLst>
              <a:ext uri="{FF2B5EF4-FFF2-40B4-BE49-F238E27FC236}">
                <a16:creationId xmlns:a16="http://schemas.microsoft.com/office/drawing/2014/main" id="{3D6F3EA1-14DF-7D1B-86E5-C103AF1C8B27}"/>
              </a:ext>
            </a:extLst>
          </p:cNvPr>
          <p:cNvGraphicFramePr>
            <a:graphicFrameLocks noGrp="1"/>
          </p:cNvGraphicFramePr>
          <p:nvPr>
            <p:extLst>
              <p:ext uri="{D42A27DB-BD31-4B8C-83A1-F6EECF244321}">
                <p14:modId xmlns:p14="http://schemas.microsoft.com/office/powerpoint/2010/main" val="4007651348"/>
              </p:ext>
            </p:extLst>
          </p:nvPr>
        </p:nvGraphicFramePr>
        <p:xfrm>
          <a:off x="5293121" y="2253616"/>
          <a:ext cx="5834380" cy="4183203"/>
        </p:xfrm>
        <a:graphic>
          <a:graphicData uri="http://schemas.openxmlformats.org/drawingml/2006/table">
            <a:tbl>
              <a:tblPr firstRow="1">
                <a:tableStyleId>{8EC20E35-A176-4012-BC5E-935CFFF8708E}</a:tableStyleId>
              </a:tblPr>
              <a:tblGrid>
                <a:gridCol w="1137911">
                  <a:extLst>
                    <a:ext uri="{9D8B030D-6E8A-4147-A177-3AD203B41FA5}">
                      <a16:colId xmlns:a16="http://schemas.microsoft.com/office/drawing/2014/main" val="3326874769"/>
                    </a:ext>
                  </a:extLst>
                </a:gridCol>
                <a:gridCol w="1551697">
                  <a:extLst>
                    <a:ext uri="{9D8B030D-6E8A-4147-A177-3AD203B41FA5}">
                      <a16:colId xmlns:a16="http://schemas.microsoft.com/office/drawing/2014/main" val="1152832564"/>
                    </a:ext>
                  </a:extLst>
                </a:gridCol>
                <a:gridCol w="1241357">
                  <a:extLst>
                    <a:ext uri="{9D8B030D-6E8A-4147-A177-3AD203B41FA5}">
                      <a16:colId xmlns:a16="http://schemas.microsoft.com/office/drawing/2014/main" val="1886986998"/>
                    </a:ext>
                  </a:extLst>
                </a:gridCol>
                <a:gridCol w="1903415">
                  <a:extLst>
                    <a:ext uri="{9D8B030D-6E8A-4147-A177-3AD203B41FA5}">
                      <a16:colId xmlns:a16="http://schemas.microsoft.com/office/drawing/2014/main" val="192948281"/>
                    </a:ext>
                  </a:extLst>
                </a:gridCol>
              </a:tblGrid>
              <a:tr h="525603">
                <a:tc>
                  <a:txBody>
                    <a:bodyPr/>
                    <a:lstStyle/>
                    <a:p>
                      <a:pPr algn="ctr" fontAlgn="ctr"/>
                      <a:r>
                        <a:rPr lang="en-US" sz="1600" b="1" u="none" strike="noStrike" dirty="0">
                          <a:effectLst/>
                          <a:latin typeface="Candara" panose="020E0502030303020204" pitchFamily="34" charset="0"/>
                        </a:rPr>
                        <a:t>Item Number</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u="none" strike="noStrike" dirty="0">
                          <a:effectLst/>
                          <a:latin typeface="Candara" panose="020E0502030303020204" pitchFamily="34" charset="0"/>
                        </a:rPr>
                        <a:t>Annual Demand</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u="none" strike="noStrike" dirty="0">
                          <a:effectLst/>
                          <a:latin typeface="Candara" panose="020E0502030303020204" pitchFamily="34" charset="0"/>
                        </a:rPr>
                        <a:t>Unit Cost ($)</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u="none" strike="noStrike" dirty="0">
                          <a:effectLst/>
                          <a:latin typeface="Candara" panose="020E0502030303020204" pitchFamily="34" charset="0"/>
                        </a:rPr>
                        <a:t>Annual Inventory Value ($)</a:t>
                      </a:r>
                      <a:endParaRPr lang="en-US" sz="1600" b="1"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extLst>
                  <a:ext uri="{0D108BD9-81ED-4DB2-BD59-A6C34878D82A}">
                    <a16:rowId xmlns:a16="http://schemas.microsoft.com/office/drawing/2014/main" val="2862875467"/>
                  </a:ext>
                </a:extLst>
              </a:tr>
              <a:tr h="365760">
                <a:tc>
                  <a:txBody>
                    <a:bodyPr/>
                    <a:lstStyle/>
                    <a:p>
                      <a:pPr algn="ctr" fontAlgn="ctr"/>
                      <a:r>
                        <a:rPr lang="en-US" sz="1600" b="0" i="0" u="none" strike="noStrike" dirty="0">
                          <a:solidFill>
                            <a:srgbClr val="000000"/>
                          </a:solidFill>
                          <a:effectLst/>
                          <a:latin typeface="Candara" panose="020E0502030303020204" pitchFamily="34" charset="0"/>
                        </a:rPr>
                        <a:t>1</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25</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220</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                         5,500 </a:t>
                      </a:r>
                    </a:p>
                  </a:txBody>
                  <a:tcPr marL="7620" marR="7620" marT="7620" marB="0" anchor="ctr"/>
                </a:tc>
                <a:extLst>
                  <a:ext uri="{0D108BD9-81ED-4DB2-BD59-A6C34878D82A}">
                    <a16:rowId xmlns:a16="http://schemas.microsoft.com/office/drawing/2014/main" val="3280714690"/>
                  </a:ext>
                </a:extLst>
              </a:tr>
              <a:tr h="365760">
                <a:tc>
                  <a:txBody>
                    <a:bodyPr/>
                    <a:lstStyle/>
                    <a:p>
                      <a:pPr algn="ctr" fontAlgn="ctr"/>
                      <a:r>
                        <a:rPr lang="en-US" sz="1600" b="0" i="0" u="none" strike="noStrike">
                          <a:solidFill>
                            <a:srgbClr val="000000"/>
                          </a:solidFill>
                          <a:effectLst/>
                          <a:latin typeface="Candara" panose="020E0502030303020204" pitchFamily="34" charset="0"/>
                        </a:rPr>
                        <a:t>2</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25</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330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8,250 </a:t>
                      </a:r>
                    </a:p>
                  </a:txBody>
                  <a:tcPr marL="7620" marR="7620" marT="7620" marB="0" anchor="ctr"/>
                </a:tc>
                <a:extLst>
                  <a:ext uri="{0D108BD9-81ED-4DB2-BD59-A6C34878D82A}">
                    <a16:rowId xmlns:a16="http://schemas.microsoft.com/office/drawing/2014/main" val="1279570770"/>
                  </a:ext>
                </a:extLst>
              </a:tr>
              <a:tr h="365760">
                <a:tc>
                  <a:txBody>
                    <a:bodyPr/>
                    <a:lstStyle/>
                    <a:p>
                      <a:pPr algn="ctr" fontAlgn="ctr"/>
                      <a:r>
                        <a:rPr lang="en-US" sz="1600" b="0" i="0" u="none" strike="noStrike" dirty="0">
                          <a:solidFill>
                            <a:srgbClr val="000000"/>
                          </a:solidFill>
                          <a:effectLst/>
                          <a:latin typeface="Candara" panose="020E0502030303020204" pitchFamily="34" charset="0"/>
                        </a:rPr>
                        <a:t>3</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24</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200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4,800 </a:t>
                      </a:r>
                    </a:p>
                  </a:txBody>
                  <a:tcPr marL="7620" marR="7620" marT="7620" marB="0" anchor="ctr"/>
                </a:tc>
                <a:extLst>
                  <a:ext uri="{0D108BD9-81ED-4DB2-BD59-A6C34878D82A}">
                    <a16:rowId xmlns:a16="http://schemas.microsoft.com/office/drawing/2014/main" val="4160586203"/>
                  </a:ext>
                </a:extLst>
              </a:tr>
              <a:tr h="365760">
                <a:tc>
                  <a:txBody>
                    <a:bodyPr/>
                    <a:lstStyle/>
                    <a:p>
                      <a:pPr algn="ctr" fontAlgn="ctr"/>
                      <a:r>
                        <a:rPr lang="en-US" sz="1600" b="0" i="0" u="none" strike="noStrike" dirty="0">
                          <a:solidFill>
                            <a:srgbClr val="000000"/>
                          </a:solidFill>
                          <a:effectLst/>
                          <a:latin typeface="Candara" panose="020E0502030303020204" pitchFamily="34" charset="0"/>
                        </a:rPr>
                        <a:t>4</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15</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190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2,850 </a:t>
                      </a:r>
                    </a:p>
                  </a:txBody>
                  <a:tcPr marL="7620" marR="7620" marT="7620" marB="0" anchor="ctr"/>
                </a:tc>
                <a:extLst>
                  <a:ext uri="{0D108BD9-81ED-4DB2-BD59-A6C34878D82A}">
                    <a16:rowId xmlns:a16="http://schemas.microsoft.com/office/drawing/2014/main" val="2311566832"/>
                  </a:ext>
                </a:extLst>
              </a:tr>
              <a:tr h="365760">
                <a:tc>
                  <a:txBody>
                    <a:bodyPr/>
                    <a:lstStyle/>
                    <a:p>
                      <a:pPr algn="ctr" fontAlgn="ctr"/>
                      <a:r>
                        <a:rPr lang="en-US" sz="1600" b="0" i="0" u="none" strike="noStrike" dirty="0">
                          <a:solidFill>
                            <a:srgbClr val="000000"/>
                          </a:solidFill>
                          <a:effectLst/>
                          <a:latin typeface="Candara" panose="020E0502030303020204" pitchFamily="34" charset="0"/>
                        </a:rPr>
                        <a:t>5</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7</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750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5,250 </a:t>
                      </a:r>
                    </a:p>
                  </a:txBody>
                  <a:tcPr marL="7620" marR="7620" marT="7620" marB="0" anchor="ctr"/>
                </a:tc>
                <a:extLst>
                  <a:ext uri="{0D108BD9-81ED-4DB2-BD59-A6C34878D82A}">
                    <a16:rowId xmlns:a16="http://schemas.microsoft.com/office/drawing/2014/main" val="2550552659"/>
                  </a:ext>
                </a:extLst>
              </a:tr>
              <a:tr h="365760">
                <a:tc>
                  <a:txBody>
                    <a:bodyPr/>
                    <a:lstStyle/>
                    <a:p>
                      <a:pPr algn="ctr" fontAlgn="ctr"/>
                      <a:r>
                        <a:rPr lang="en-US" sz="1600" b="0" i="0" u="none" strike="noStrike">
                          <a:solidFill>
                            <a:srgbClr val="000000"/>
                          </a:solidFill>
                          <a:effectLst/>
                          <a:latin typeface="Candara" panose="020E0502030303020204" pitchFamily="34" charset="0"/>
                        </a:rPr>
                        <a:t>6</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800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8,000 </a:t>
                      </a:r>
                    </a:p>
                  </a:txBody>
                  <a:tcPr marL="7620" marR="7620" marT="7620" marB="0" anchor="ctr"/>
                </a:tc>
                <a:extLst>
                  <a:ext uri="{0D108BD9-81ED-4DB2-BD59-A6C34878D82A}">
                    <a16:rowId xmlns:a16="http://schemas.microsoft.com/office/drawing/2014/main" val="761494548"/>
                  </a:ext>
                </a:extLst>
              </a:tr>
              <a:tr h="365760">
                <a:tc>
                  <a:txBody>
                    <a:bodyPr/>
                    <a:lstStyle/>
                    <a:p>
                      <a:pPr algn="ctr" fontAlgn="ctr"/>
                      <a:r>
                        <a:rPr lang="en-US" sz="1600" b="0" i="0" u="none" strike="noStrike">
                          <a:solidFill>
                            <a:srgbClr val="000000"/>
                          </a:solidFill>
                          <a:effectLst/>
                          <a:latin typeface="Candara" panose="020E0502030303020204" pitchFamily="34" charset="0"/>
                        </a:rPr>
                        <a:t>7</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12</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210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2,520 </a:t>
                      </a:r>
                    </a:p>
                  </a:txBody>
                  <a:tcPr marL="7620" marR="7620" marT="7620" marB="0" anchor="ctr"/>
                </a:tc>
                <a:extLst>
                  <a:ext uri="{0D108BD9-81ED-4DB2-BD59-A6C34878D82A}">
                    <a16:rowId xmlns:a16="http://schemas.microsoft.com/office/drawing/2014/main" val="2324426823"/>
                  </a:ext>
                </a:extLst>
              </a:tr>
              <a:tr h="365760">
                <a:tc>
                  <a:txBody>
                    <a:bodyPr/>
                    <a:lstStyle/>
                    <a:p>
                      <a:pPr algn="ctr" fontAlgn="ctr"/>
                      <a:r>
                        <a:rPr lang="en-US" sz="1600" b="0" i="0" u="none" strike="noStrike">
                          <a:solidFill>
                            <a:srgbClr val="000000"/>
                          </a:solidFill>
                          <a:effectLst/>
                          <a:latin typeface="Candara" panose="020E0502030303020204" pitchFamily="34" charset="0"/>
                        </a:rPr>
                        <a:t>8</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11</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900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9,900 </a:t>
                      </a:r>
                    </a:p>
                  </a:txBody>
                  <a:tcPr marL="7620" marR="7620" marT="7620" marB="0" anchor="ctr"/>
                </a:tc>
                <a:extLst>
                  <a:ext uri="{0D108BD9-81ED-4DB2-BD59-A6C34878D82A}">
                    <a16:rowId xmlns:a16="http://schemas.microsoft.com/office/drawing/2014/main" val="2187157298"/>
                  </a:ext>
                </a:extLst>
              </a:tr>
              <a:tr h="365760">
                <a:tc>
                  <a:txBody>
                    <a:bodyPr/>
                    <a:lstStyle/>
                    <a:p>
                      <a:pPr algn="ctr" fontAlgn="ctr"/>
                      <a:r>
                        <a:rPr lang="en-US" sz="1600" b="0" i="0" u="none" strike="noStrike">
                          <a:solidFill>
                            <a:srgbClr val="000000"/>
                          </a:solidFill>
                          <a:effectLst/>
                          <a:latin typeface="Candara" panose="020E0502030303020204" pitchFamily="34" charset="0"/>
                        </a:rPr>
                        <a:t>9</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80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90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7,200 </a:t>
                      </a:r>
                    </a:p>
                  </a:txBody>
                  <a:tcPr marL="7620" marR="7620" marT="7620" marB="0" anchor="ctr"/>
                </a:tc>
                <a:extLst>
                  <a:ext uri="{0D108BD9-81ED-4DB2-BD59-A6C34878D82A}">
                    <a16:rowId xmlns:a16="http://schemas.microsoft.com/office/drawing/2014/main" val="2699148401"/>
                  </a:ext>
                </a:extLst>
              </a:tr>
              <a:tr h="365760">
                <a:tc>
                  <a:txBody>
                    <a:bodyPr/>
                    <a:lstStyle/>
                    <a:p>
                      <a:pPr algn="ctr" fontAlgn="ctr"/>
                      <a:r>
                        <a:rPr lang="en-US" sz="1600" b="0" i="0" u="none" strike="noStrike">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a:solidFill>
                            <a:srgbClr val="000000"/>
                          </a:solidFill>
                          <a:effectLst/>
                          <a:latin typeface="Candara" panose="020E0502030303020204" pitchFamily="34" charset="0"/>
                        </a:rPr>
                        <a:t>10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500</a:t>
                      </a:r>
                    </a:p>
                  </a:txBody>
                  <a:tcPr marL="7620" marR="7620" marT="7620" marB="0" anchor="ctr"/>
                </a:tc>
                <a:tc>
                  <a:txBody>
                    <a:bodyPr/>
                    <a:lstStyle/>
                    <a:p>
                      <a:pPr algn="ctr" fontAlgn="ctr"/>
                      <a:r>
                        <a:rPr lang="en-US" sz="1600" b="0" i="0" u="none" strike="noStrike" dirty="0">
                          <a:solidFill>
                            <a:srgbClr val="000000"/>
                          </a:solidFill>
                          <a:effectLst/>
                          <a:latin typeface="Candara" panose="020E0502030303020204" pitchFamily="34" charset="0"/>
                        </a:rPr>
                        <a:t>                         5,000 </a:t>
                      </a:r>
                    </a:p>
                  </a:txBody>
                  <a:tcPr marL="7620" marR="7620" marT="7620" marB="0" anchor="ctr"/>
                </a:tc>
                <a:extLst>
                  <a:ext uri="{0D108BD9-81ED-4DB2-BD59-A6C34878D82A}">
                    <a16:rowId xmlns:a16="http://schemas.microsoft.com/office/drawing/2014/main" val="210129196"/>
                  </a:ext>
                </a:extLst>
              </a:tr>
            </a:tbl>
          </a:graphicData>
        </a:graphic>
      </p:graphicFrame>
    </p:spTree>
    <p:extLst>
      <p:ext uri="{BB962C8B-B14F-4D97-AF65-F5344CB8AC3E}">
        <p14:creationId xmlns:p14="http://schemas.microsoft.com/office/powerpoint/2010/main" val="2807246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0" y="0"/>
            <a:ext cx="3981691"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Solution of </a:t>
            </a:r>
          </a:p>
          <a:p>
            <a:pPr algn="ctr"/>
            <a:r>
              <a:rPr lang="en-US" altLang="en-US" sz="4400" b="1" dirty="0">
                <a:solidFill>
                  <a:schemeClr val="bg1"/>
                </a:solidFill>
                <a:latin typeface="Candara" panose="020E0502030303020204" pitchFamily="34" charset="0"/>
              </a:rPr>
              <a:t>ABC Classification Problem</a:t>
            </a:r>
          </a:p>
        </p:txBody>
      </p:sp>
      <p:sp>
        <p:nvSpPr>
          <p:cNvPr id="4" name="Rectangle 3">
            <a:extLst>
              <a:ext uri="{FF2B5EF4-FFF2-40B4-BE49-F238E27FC236}">
                <a16:creationId xmlns:a16="http://schemas.microsoft.com/office/drawing/2014/main" id="{ED8F3C55-F996-EBAC-CB68-BBF7FACAB817}"/>
              </a:ext>
            </a:extLst>
          </p:cNvPr>
          <p:cNvSpPr/>
          <p:nvPr/>
        </p:nvSpPr>
        <p:spPr>
          <a:xfrm>
            <a:off x="4673600" y="497840"/>
            <a:ext cx="7345679" cy="157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latin typeface="Candara" panose="020E0502030303020204" pitchFamily="34" charset="0"/>
              </a:rPr>
              <a:t>Step 2</a:t>
            </a:r>
            <a:endParaRPr lang="en-US" sz="2000" b="1" dirty="0">
              <a:solidFill>
                <a:schemeClr val="tx1"/>
              </a:solidFill>
              <a:latin typeface="Candara" panose="020E0502030303020204" pitchFamily="34" charset="0"/>
            </a:endParaRPr>
          </a:p>
          <a:p>
            <a:r>
              <a:rPr lang="en-US" sz="2000" dirty="0">
                <a:solidFill>
                  <a:schemeClr val="tx1"/>
                </a:solidFill>
                <a:latin typeface="Candara" panose="020E0502030303020204" pitchFamily="34" charset="0"/>
              </a:rPr>
              <a:t>Arrange inventory values in descending order</a:t>
            </a:r>
          </a:p>
        </p:txBody>
      </p:sp>
      <p:graphicFrame>
        <p:nvGraphicFramePr>
          <p:cNvPr id="5" name="Table 4">
            <a:extLst>
              <a:ext uri="{FF2B5EF4-FFF2-40B4-BE49-F238E27FC236}">
                <a16:creationId xmlns:a16="http://schemas.microsoft.com/office/drawing/2014/main" id="{3D6F3EA1-14DF-7D1B-86E5-C103AF1C8B27}"/>
              </a:ext>
            </a:extLst>
          </p:cNvPr>
          <p:cNvGraphicFramePr>
            <a:graphicFrameLocks noGrp="1"/>
          </p:cNvGraphicFramePr>
          <p:nvPr>
            <p:extLst>
              <p:ext uri="{D42A27DB-BD31-4B8C-83A1-F6EECF244321}">
                <p14:modId xmlns:p14="http://schemas.microsoft.com/office/powerpoint/2010/main" val="3148418968"/>
              </p:ext>
            </p:extLst>
          </p:nvPr>
        </p:nvGraphicFramePr>
        <p:xfrm>
          <a:off x="5467111" y="1981648"/>
          <a:ext cx="5486400" cy="4762500"/>
        </p:xfrm>
        <a:graphic>
          <a:graphicData uri="http://schemas.openxmlformats.org/drawingml/2006/table">
            <a:tbl>
              <a:tblPr firstRow="1" lastRow="1">
                <a:tableStyleId>{8EC20E35-A176-4012-BC5E-935CFFF8708E}</a:tableStyleId>
              </a:tblPr>
              <a:tblGrid>
                <a:gridCol w="1097280">
                  <a:extLst>
                    <a:ext uri="{9D8B030D-6E8A-4147-A177-3AD203B41FA5}">
                      <a16:colId xmlns:a16="http://schemas.microsoft.com/office/drawing/2014/main" val="3326874769"/>
                    </a:ext>
                  </a:extLst>
                </a:gridCol>
                <a:gridCol w="1097280">
                  <a:extLst>
                    <a:ext uri="{9D8B030D-6E8A-4147-A177-3AD203B41FA5}">
                      <a16:colId xmlns:a16="http://schemas.microsoft.com/office/drawing/2014/main" val="1152832564"/>
                    </a:ext>
                  </a:extLst>
                </a:gridCol>
                <a:gridCol w="1097280">
                  <a:extLst>
                    <a:ext uri="{9D8B030D-6E8A-4147-A177-3AD203B41FA5}">
                      <a16:colId xmlns:a16="http://schemas.microsoft.com/office/drawing/2014/main" val="24708045"/>
                    </a:ext>
                  </a:extLst>
                </a:gridCol>
                <a:gridCol w="1097280">
                  <a:extLst>
                    <a:ext uri="{9D8B030D-6E8A-4147-A177-3AD203B41FA5}">
                      <a16:colId xmlns:a16="http://schemas.microsoft.com/office/drawing/2014/main" val="1724888344"/>
                    </a:ext>
                  </a:extLst>
                </a:gridCol>
                <a:gridCol w="1097280">
                  <a:extLst>
                    <a:ext uri="{9D8B030D-6E8A-4147-A177-3AD203B41FA5}">
                      <a16:colId xmlns:a16="http://schemas.microsoft.com/office/drawing/2014/main" val="227761783"/>
                    </a:ext>
                  </a:extLst>
                </a:gridCol>
              </a:tblGrid>
              <a:tr h="525603">
                <a:tc>
                  <a:txBody>
                    <a:bodyPr/>
                    <a:lstStyle/>
                    <a:p>
                      <a:pPr algn="ctr" fontAlgn="ctr"/>
                      <a:r>
                        <a:rPr lang="en-US" sz="1600" b="1" i="0" u="none" strike="noStrike" dirty="0">
                          <a:solidFill>
                            <a:schemeClr val="bg1"/>
                          </a:solidFill>
                          <a:effectLst/>
                          <a:latin typeface="Candara" panose="020E0502030303020204" pitchFamily="34" charset="0"/>
                        </a:rPr>
                        <a:t>Item Number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600" b="1" i="0" u="none" strike="noStrike" dirty="0">
                          <a:solidFill>
                            <a:schemeClr val="bg1"/>
                          </a:solidFill>
                          <a:effectLst/>
                          <a:latin typeface="Candara" panose="020E0502030303020204" pitchFamily="34" charset="0"/>
                        </a:rPr>
                        <a:t>Annual Inventory Value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600" b="1" i="0" u="none" strike="noStrike" dirty="0">
                          <a:solidFill>
                            <a:schemeClr val="bg1"/>
                          </a:solidFill>
                          <a:effectLst/>
                          <a:latin typeface="Candara" panose="020E0502030303020204" pitchFamily="34" charset="0"/>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fontAlgn="ctr"/>
                      <a:r>
                        <a:rPr lang="en-US" sz="1600" b="1" i="0" u="none" strike="noStrike" dirty="0">
                          <a:solidFill>
                            <a:sysClr val="windowText" lastClr="000000"/>
                          </a:solidFill>
                          <a:effectLst/>
                          <a:latin typeface="Candara" panose="020E0502030303020204" pitchFamily="34" charset="0"/>
                        </a:rPr>
                        <a:t>Running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1" i="0" u="none" strike="noStrike" dirty="0">
                          <a:solidFill>
                            <a:schemeClr val="bg1"/>
                          </a:solidFill>
                          <a:effectLst/>
                          <a:latin typeface="Candara" panose="020E0502030303020204" pitchFamily="34" charset="0"/>
                        </a:rPr>
                        <a:t>Class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862875467"/>
                  </a:ext>
                </a:extLst>
              </a:tr>
              <a:tr h="365760">
                <a:tc>
                  <a:txBody>
                    <a:bodyPr/>
                    <a:lstStyle/>
                    <a:p>
                      <a:pPr algn="ctr" fontAlgn="ctr"/>
                      <a:r>
                        <a:rPr lang="en-US" sz="1600" b="0" i="0" u="none" strike="noStrike" dirty="0">
                          <a:solidFill>
                            <a:srgbClr val="000000"/>
                          </a:solidFill>
                          <a:effectLst/>
                          <a:latin typeface="Candara" panose="020E050203030302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       9,900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0714690"/>
                  </a:ext>
                </a:extLst>
              </a:tr>
              <a:tr h="365760">
                <a:tc>
                  <a:txBody>
                    <a:bodyPr/>
                    <a:lstStyle/>
                    <a:p>
                      <a:pPr algn="ctr" fontAlgn="ctr"/>
                      <a:r>
                        <a:rPr lang="en-US" sz="1600" b="0" i="0" u="none" strike="noStrike">
                          <a:solidFill>
                            <a:srgbClr val="000000"/>
                          </a:solidFill>
                          <a:effectLst/>
                          <a:latin typeface="Candara" panose="020E050203030302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a:solidFill>
                            <a:srgbClr val="000000"/>
                          </a:solidFill>
                          <a:effectLst/>
                          <a:latin typeface="Candara" panose="020E0502030303020204" pitchFamily="34" charset="0"/>
                        </a:rPr>
                        <a:t>       8,250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B</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9570770"/>
                  </a:ext>
                </a:extLst>
              </a:tr>
              <a:tr h="365760">
                <a:tc>
                  <a:txBody>
                    <a:bodyPr/>
                    <a:lstStyle/>
                    <a:p>
                      <a:pPr algn="ctr" fontAlgn="ctr"/>
                      <a:r>
                        <a:rPr lang="en-US" sz="1600" b="0" i="0" u="none" strike="noStrike" dirty="0">
                          <a:solidFill>
                            <a:srgbClr val="000000"/>
                          </a:solidFill>
                          <a:effectLst/>
                          <a:latin typeface="Candara" panose="020E0502030303020204" pitchFamily="34" charset="0"/>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a:solidFill>
                            <a:srgbClr val="000000"/>
                          </a:solidFill>
                          <a:effectLst/>
                          <a:latin typeface="Candara" panose="020E0502030303020204" pitchFamily="34" charset="0"/>
                        </a:rPr>
                        <a:t>       8,000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B</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0586203"/>
                  </a:ext>
                </a:extLst>
              </a:tr>
              <a:tr h="365760">
                <a:tc>
                  <a:txBody>
                    <a:bodyPr/>
                    <a:lstStyle/>
                    <a:p>
                      <a:pPr algn="ctr" fontAlgn="ctr"/>
                      <a:r>
                        <a:rPr lang="en-US" sz="1600" b="0" i="0" u="none" strike="noStrike">
                          <a:solidFill>
                            <a:srgbClr val="000000"/>
                          </a:solidFill>
                          <a:effectLst/>
                          <a:latin typeface="Candara" panose="020E050203030302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a:solidFill>
                            <a:srgbClr val="000000"/>
                          </a:solidFill>
                          <a:effectLst/>
                          <a:latin typeface="Candara" panose="020E0502030303020204" pitchFamily="34" charset="0"/>
                        </a:rPr>
                        <a:t>       7,200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57%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B</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1566832"/>
                  </a:ext>
                </a:extLst>
              </a:tr>
              <a:tr h="365760">
                <a:tc>
                  <a:txBody>
                    <a:bodyPr/>
                    <a:lstStyle/>
                    <a:p>
                      <a:pPr algn="ctr" fontAlgn="ctr"/>
                      <a:r>
                        <a:rPr lang="en-US" sz="1600" b="0" i="0" u="none" strike="noStrike">
                          <a:solidFill>
                            <a:srgbClr val="000000"/>
                          </a:solidFill>
                          <a:effectLst/>
                          <a:latin typeface="Candara" panose="020E050203030302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a:solidFill>
                            <a:srgbClr val="000000"/>
                          </a:solidFill>
                          <a:effectLst/>
                          <a:latin typeface="Candara" panose="020E0502030303020204" pitchFamily="34" charset="0"/>
                        </a:rPr>
                        <a:t>       5,500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0552659"/>
                  </a:ext>
                </a:extLst>
              </a:tr>
              <a:tr h="365760">
                <a:tc>
                  <a:txBody>
                    <a:bodyPr/>
                    <a:lstStyle/>
                    <a:p>
                      <a:pPr algn="ctr" fontAlgn="ctr"/>
                      <a:r>
                        <a:rPr lang="en-US" sz="1600" b="0" i="0" u="none" strike="noStrike">
                          <a:solidFill>
                            <a:srgbClr val="000000"/>
                          </a:solidFill>
                          <a:effectLst/>
                          <a:latin typeface="Candara" panose="020E050203030302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a:solidFill>
                            <a:srgbClr val="000000"/>
                          </a:solidFill>
                          <a:effectLst/>
                          <a:latin typeface="Candara" panose="020E0502030303020204" pitchFamily="34" charset="0"/>
                        </a:rPr>
                        <a:t>       5,250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494548"/>
                  </a:ext>
                </a:extLst>
              </a:tr>
              <a:tr h="365760">
                <a:tc>
                  <a:txBody>
                    <a:bodyPr/>
                    <a:lstStyle/>
                    <a:p>
                      <a:pPr algn="ctr" fontAlgn="ctr"/>
                      <a:r>
                        <a:rPr lang="en-US" sz="1600" b="0" i="0" u="none" strike="noStrike" dirty="0">
                          <a:solidFill>
                            <a:srgbClr val="000000"/>
                          </a:solidFill>
                          <a:effectLst/>
                          <a:latin typeface="Candara" panose="020E0502030303020204" pitchFamily="34" charset="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       5,000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83%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4996998"/>
                  </a:ext>
                </a:extLst>
              </a:tr>
              <a:tr h="365760">
                <a:tc>
                  <a:txBody>
                    <a:bodyPr/>
                    <a:lstStyle/>
                    <a:p>
                      <a:pPr algn="ctr" fontAlgn="ctr"/>
                      <a:r>
                        <a:rPr lang="en-US" sz="1600" b="0" i="0" u="none" strike="noStrike" dirty="0">
                          <a:solidFill>
                            <a:srgbClr val="000000"/>
                          </a:solidFill>
                          <a:effectLst/>
                          <a:latin typeface="Candara" panose="020E050203030302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       4,800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91%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4426823"/>
                  </a:ext>
                </a:extLst>
              </a:tr>
              <a:tr h="365760">
                <a:tc>
                  <a:txBody>
                    <a:bodyPr/>
                    <a:lstStyle/>
                    <a:p>
                      <a:pPr algn="ctr" fontAlgn="ctr"/>
                      <a:r>
                        <a:rPr lang="en-US" sz="1600" b="0" i="0" u="none" strike="noStrike" dirty="0">
                          <a:solidFill>
                            <a:srgbClr val="000000"/>
                          </a:solidFill>
                          <a:effectLst/>
                          <a:latin typeface="Candara" panose="020E050203030302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       2,850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96%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7157298"/>
                  </a:ext>
                </a:extLst>
              </a:tr>
              <a:tr h="365760">
                <a:tc>
                  <a:txBody>
                    <a:bodyPr/>
                    <a:lstStyle/>
                    <a:p>
                      <a:pPr algn="ctr" fontAlgn="ctr"/>
                      <a:r>
                        <a:rPr lang="en-US" sz="1600" b="0" i="0" u="none" strike="noStrike">
                          <a:solidFill>
                            <a:srgbClr val="000000"/>
                          </a:solidFill>
                          <a:effectLst/>
                          <a:latin typeface="Candara" panose="020E0502030303020204" pitchFamily="34" charset="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       2,520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Candara" panose="020E0502030303020204" pitchFamily="34" charset="0"/>
                        </a:rPr>
                        <a:t>100%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9148401"/>
                  </a:ext>
                </a:extLst>
              </a:tr>
              <a:tr h="365760">
                <a:tc>
                  <a:txBody>
                    <a:bodyPr/>
                    <a:lstStyle/>
                    <a:p>
                      <a:pPr algn="ctr" fontAlgn="ctr"/>
                      <a:r>
                        <a:rPr lang="en-US" sz="1600" b="1" i="0" u="none" strike="noStrike" dirty="0">
                          <a:solidFill>
                            <a:srgbClr val="000000"/>
                          </a:solidFill>
                          <a:effectLst/>
                          <a:latin typeface="Candara" panose="020E0502030303020204" pitchFamily="34" charset="0"/>
                        </a:rPr>
                        <a:t>Total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600" b="1" i="0" u="none" strike="noStrike" dirty="0">
                          <a:solidFill>
                            <a:srgbClr val="000000"/>
                          </a:solidFill>
                          <a:effectLst/>
                          <a:latin typeface="Candara" panose="020E0502030303020204" pitchFamily="34" charset="0"/>
                        </a:rPr>
                        <a:t>       59,270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600" b="1" i="0" u="none" strike="noStrike" dirty="0">
                          <a:solidFill>
                            <a:srgbClr val="000000"/>
                          </a:solidFill>
                          <a:effectLst/>
                          <a:latin typeface="Candara" panose="020E0502030303020204" pitchFamily="34" charset="0"/>
                        </a:rPr>
                        <a:t>100%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600" b="1" i="0" u="none" strike="noStrike" dirty="0">
                        <a:solidFill>
                          <a:srgbClr val="000000"/>
                        </a:solidFill>
                        <a:effectLst/>
                        <a:latin typeface="Candara" panose="020E0502030303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en-US" sz="1600" b="1" i="0" u="none" strike="noStrike" dirty="0">
                        <a:solidFill>
                          <a:srgbClr val="000000"/>
                        </a:solidFill>
                        <a:effectLst/>
                        <a:latin typeface="Candara" panose="020E050203030302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80694214"/>
                  </a:ext>
                </a:extLst>
              </a:tr>
            </a:tbl>
          </a:graphicData>
        </a:graphic>
      </p:graphicFrame>
      <p:sp>
        <p:nvSpPr>
          <p:cNvPr id="3" name="Rectangle 2">
            <a:extLst>
              <a:ext uri="{FF2B5EF4-FFF2-40B4-BE49-F238E27FC236}">
                <a16:creationId xmlns:a16="http://schemas.microsoft.com/office/drawing/2014/main" id="{36FA05F0-D44E-3843-3BF0-66A813FA220D}"/>
              </a:ext>
            </a:extLst>
          </p:cNvPr>
          <p:cNvSpPr/>
          <p:nvPr/>
        </p:nvSpPr>
        <p:spPr>
          <a:xfrm>
            <a:off x="6826928" y="497840"/>
            <a:ext cx="5060272" cy="3366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E95768A-274A-2E3A-E5E7-B371BD72D0B7}"/>
              </a:ext>
            </a:extLst>
          </p:cNvPr>
          <p:cNvSpPr/>
          <p:nvPr/>
        </p:nvSpPr>
        <p:spPr>
          <a:xfrm>
            <a:off x="6826928" y="497840"/>
            <a:ext cx="992820" cy="33666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Rectangle 6">
            <a:extLst>
              <a:ext uri="{FF2B5EF4-FFF2-40B4-BE49-F238E27FC236}">
                <a16:creationId xmlns:a16="http://schemas.microsoft.com/office/drawing/2014/main" id="{55553DA2-8155-C4FD-88D6-C2E0C19D2F83}"/>
              </a:ext>
            </a:extLst>
          </p:cNvPr>
          <p:cNvSpPr/>
          <p:nvPr/>
        </p:nvSpPr>
        <p:spPr>
          <a:xfrm>
            <a:off x="7819748" y="497840"/>
            <a:ext cx="1812524" cy="336661"/>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Rectangle 7">
            <a:extLst>
              <a:ext uri="{FF2B5EF4-FFF2-40B4-BE49-F238E27FC236}">
                <a16:creationId xmlns:a16="http://schemas.microsoft.com/office/drawing/2014/main" id="{6BB7DFDB-0210-CAAF-1E55-8538C178415E}"/>
              </a:ext>
            </a:extLst>
          </p:cNvPr>
          <p:cNvSpPr/>
          <p:nvPr/>
        </p:nvSpPr>
        <p:spPr>
          <a:xfrm>
            <a:off x="9632272" y="497840"/>
            <a:ext cx="2254928" cy="336661"/>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Tree>
    <p:extLst>
      <p:ext uri="{BB962C8B-B14F-4D97-AF65-F5344CB8AC3E}">
        <p14:creationId xmlns:p14="http://schemas.microsoft.com/office/powerpoint/2010/main" val="2641999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0" y="0"/>
            <a:ext cx="3981691"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Solution of </a:t>
            </a:r>
          </a:p>
          <a:p>
            <a:pPr algn="ctr"/>
            <a:r>
              <a:rPr lang="en-US" altLang="en-US" sz="4400" b="1" dirty="0">
                <a:solidFill>
                  <a:schemeClr val="bg1"/>
                </a:solidFill>
                <a:latin typeface="Candara" panose="020E0502030303020204" pitchFamily="34" charset="0"/>
              </a:rPr>
              <a:t>ABC Classification Problem</a:t>
            </a:r>
          </a:p>
        </p:txBody>
      </p:sp>
      <p:sp>
        <p:nvSpPr>
          <p:cNvPr id="4" name="Rectangle 3">
            <a:extLst>
              <a:ext uri="{FF2B5EF4-FFF2-40B4-BE49-F238E27FC236}">
                <a16:creationId xmlns:a16="http://schemas.microsoft.com/office/drawing/2014/main" id="{ED8F3C55-F996-EBAC-CB68-BBF7FACAB817}"/>
              </a:ext>
            </a:extLst>
          </p:cNvPr>
          <p:cNvSpPr/>
          <p:nvPr/>
        </p:nvSpPr>
        <p:spPr>
          <a:xfrm>
            <a:off x="4673600" y="497840"/>
            <a:ext cx="7345679" cy="1574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latin typeface="Candara" panose="020E0502030303020204" pitchFamily="34" charset="0"/>
              </a:rPr>
              <a:t>Step 3</a:t>
            </a:r>
            <a:endParaRPr lang="en-US" sz="2000" b="1" dirty="0">
              <a:solidFill>
                <a:schemeClr val="tx1"/>
              </a:solidFill>
              <a:latin typeface="Candara" panose="020E0502030303020204" pitchFamily="34" charset="0"/>
            </a:endParaRPr>
          </a:p>
          <a:p>
            <a:r>
              <a:rPr lang="en-US" sz="2000" dirty="0">
                <a:solidFill>
                  <a:schemeClr val="tx1"/>
                </a:solidFill>
                <a:latin typeface="Candara" panose="020E0502030303020204" pitchFamily="34" charset="0"/>
              </a:rPr>
              <a:t>Club top 15% together as A class, next 35% as B class and bottom 50% as C class</a:t>
            </a:r>
          </a:p>
        </p:txBody>
      </p:sp>
      <p:graphicFrame>
        <p:nvGraphicFramePr>
          <p:cNvPr id="3" name="Table 2">
            <a:extLst>
              <a:ext uri="{FF2B5EF4-FFF2-40B4-BE49-F238E27FC236}">
                <a16:creationId xmlns:a16="http://schemas.microsoft.com/office/drawing/2014/main" id="{4A579D06-126D-7A87-2D48-D20B8205737F}"/>
              </a:ext>
            </a:extLst>
          </p:cNvPr>
          <p:cNvGraphicFramePr>
            <a:graphicFrameLocks noGrp="1"/>
          </p:cNvGraphicFramePr>
          <p:nvPr>
            <p:extLst>
              <p:ext uri="{D42A27DB-BD31-4B8C-83A1-F6EECF244321}">
                <p14:modId xmlns:p14="http://schemas.microsoft.com/office/powerpoint/2010/main" val="3407278319"/>
              </p:ext>
            </p:extLst>
          </p:nvPr>
        </p:nvGraphicFramePr>
        <p:xfrm>
          <a:off x="5609350" y="2207260"/>
          <a:ext cx="5607289" cy="4152900"/>
        </p:xfrm>
        <a:graphic>
          <a:graphicData uri="http://schemas.openxmlformats.org/drawingml/2006/table">
            <a:tbl>
              <a:tblPr firstRow="1">
                <a:tableStyleId>{74C1A8A3-306A-4EB7-A6B1-4F7E0EB9C5D6}</a:tableStyleId>
              </a:tblPr>
              <a:tblGrid>
                <a:gridCol w="784694">
                  <a:extLst>
                    <a:ext uri="{9D8B030D-6E8A-4147-A177-3AD203B41FA5}">
                      <a16:colId xmlns:a16="http://schemas.microsoft.com/office/drawing/2014/main" val="2980147162"/>
                    </a:ext>
                  </a:extLst>
                </a:gridCol>
                <a:gridCol w="1651127">
                  <a:extLst>
                    <a:ext uri="{9D8B030D-6E8A-4147-A177-3AD203B41FA5}">
                      <a16:colId xmlns:a16="http://schemas.microsoft.com/office/drawing/2014/main" val="1592879178"/>
                    </a:ext>
                  </a:extLst>
                </a:gridCol>
                <a:gridCol w="1062605">
                  <a:extLst>
                    <a:ext uri="{9D8B030D-6E8A-4147-A177-3AD203B41FA5}">
                      <a16:colId xmlns:a16="http://schemas.microsoft.com/office/drawing/2014/main" val="1319269859"/>
                    </a:ext>
                  </a:extLst>
                </a:gridCol>
                <a:gridCol w="1062605">
                  <a:extLst>
                    <a:ext uri="{9D8B030D-6E8A-4147-A177-3AD203B41FA5}">
                      <a16:colId xmlns:a16="http://schemas.microsoft.com/office/drawing/2014/main" val="3985308783"/>
                    </a:ext>
                  </a:extLst>
                </a:gridCol>
                <a:gridCol w="1046258">
                  <a:extLst>
                    <a:ext uri="{9D8B030D-6E8A-4147-A177-3AD203B41FA5}">
                      <a16:colId xmlns:a16="http://schemas.microsoft.com/office/drawing/2014/main" val="3822924879"/>
                    </a:ext>
                  </a:extLst>
                </a:gridCol>
              </a:tblGrid>
              <a:tr h="342900">
                <a:tc>
                  <a:txBody>
                    <a:bodyPr/>
                    <a:lstStyle/>
                    <a:p>
                      <a:pPr algn="ctr" fontAlgn="ctr"/>
                      <a:r>
                        <a:rPr lang="en-US" sz="1600" u="none" strike="noStrike" dirty="0">
                          <a:effectLst/>
                          <a:latin typeface="Candara" panose="020E0502030303020204" pitchFamily="34" charset="0"/>
                        </a:rPr>
                        <a:t>Item Number</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u="none" strike="noStrike" dirty="0">
                          <a:effectLst/>
                          <a:latin typeface="Candara" panose="020E0502030303020204" pitchFamily="34" charset="0"/>
                        </a:rPr>
                        <a:t>Annual Inventory Value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b="1" i="0" u="none" strike="noStrike" dirty="0">
                          <a:solidFill>
                            <a:schemeClr val="bg1"/>
                          </a:solidFill>
                          <a:effectLst/>
                          <a:latin typeface="Candara" panose="020E0502030303020204" pitchFamily="34" charset="0"/>
                        </a:rPr>
                        <a:t>Percentage</a:t>
                      </a:r>
                    </a:p>
                  </a:txBody>
                  <a:tcPr marL="7620" marR="7620" marT="7620" marB="0" anchor="ctr">
                    <a:solidFill>
                      <a:srgbClr val="002060"/>
                    </a:solidFill>
                  </a:tcPr>
                </a:tc>
                <a:tc>
                  <a:txBody>
                    <a:bodyPr/>
                    <a:lstStyle/>
                    <a:p>
                      <a:pPr algn="ctr" fontAlgn="ctr"/>
                      <a:r>
                        <a:rPr lang="en-US" sz="1600" u="none" strike="noStrike" dirty="0">
                          <a:effectLst/>
                          <a:latin typeface="Candara" panose="020E0502030303020204" pitchFamily="34" charset="0"/>
                        </a:rPr>
                        <a:t>Running Percentage</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tc>
                  <a:txBody>
                    <a:bodyPr/>
                    <a:lstStyle/>
                    <a:p>
                      <a:pPr algn="ctr" fontAlgn="ctr"/>
                      <a:r>
                        <a:rPr lang="en-US" sz="1600" u="none" strike="noStrike" dirty="0">
                          <a:effectLst/>
                          <a:latin typeface="Candara" panose="020E0502030303020204" pitchFamily="34" charset="0"/>
                        </a:rPr>
                        <a:t>Classification</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002060"/>
                    </a:solidFill>
                  </a:tcPr>
                </a:tc>
                <a:extLst>
                  <a:ext uri="{0D108BD9-81ED-4DB2-BD59-A6C34878D82A}">
                    <a16:rowId xmlns:a16="http://schemas.microsoft.com/office/drawing/2014/main" val="2234313365"/>
                  </a:ext>
                </a:extLst>
              </a:tr>
              <a:tr h="365760">
                <a:tc>
                  <a:txBody>
                    <a:bodyPr/>
                    <a:lstStyle/>
                    <a:p>
                      <a:pPr algn="ctr" fontAlgn="ctr"/>
                      <a:r>
                        <a:rPr lang="en-US" sz="1600" u="none" strike="noStrike" dirty="0">
                          <a:effectLst/>
                          <a:latin typeface="Candara" panose="020E0502030303020204" pitchFamily="34" charset="0"/>
                        </a:rPr>
                        <a:t>8</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6">
                        <a:lumMod val="60000"/>
                        <a:lumOff val="40000"/>
                      </a:schemeClr>
                    </a:solidFill>
                  </a:tcPr>
                </a:tc>
                <a:tc>
                  <a:txBody>
                    <a:bodyPr/>
                    <a:lstStyle/>
                    <a:p>
                      <a:pPr algn="ctr" fontAlgn="ctr"/>
                      <a:r>
                        <a:rPr lang="en-US" sz="1600" u="none" strike="noStrike" dirty="0">
                          <a:effectLst/>
                          <a:latin typeface="Candara" panose="020E0502030303020204" pitchFamily="34" charset="0"/>
                        </a:rPr>
                        <a:t>9,900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6">
                        <a:lumMod val="60000"/>
                        <a:lumOff val="4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17%</a:t>
                      </a:r>
                    </a:p>
                  </a:txBody>
                  <a:tcPr marL="7620" marR="7620" marT="7620" marB="0" anchor="ctr">
                    <a:solidFill>
                      <a:schemeClr val="accent6">
                        <a:lumMod val="60000"/>
                        <a:lumOff val="40000"/>
                      </a:schemeClr>
                    </a:solidFill>
                  </a:tcPr>
                </a:tc>
                <a:tc>
                  <a:txBody>
                    <a:bodyPr/>
                    <a:lstStyle/>
                    <a:p>
                      <a:pPr algn="ctr" fontAlgn="ctr"/>
                      <a:r>
                        <a:rPr lang="en-US" sz="1600" u="none" strike="noStrike" dirty="0">
                          <a:effectLst/>
                          <a:latin typeface="Candara" panose="020E0502030303020204" pitchFamily="34" charset="0"/>
                        </a:rPr>
                        <a:t>17%</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6">
                        <a:lumMod val="60000"/>
                        <a:lumOff val="40000"/>
                      </a:schemeClr>
                    </a:solidFill>
                  </a:tcPr>
                </a:tc>
                <a:tc>
                  <a:txBody>
                    <a:bodyPr/>
                    <a:lstStyle/>
                    <a:p>
                      <a:pPr algn="ctr" fontAlgn="ctr"/>
                      <a:r>
                        <a:rPr lang="en-US" sz="1600" u="none" strike="noStrike" dirty="0">
                          <a:effectLst/>
                          <a:latin typeface="Candara" panose="020E0502030303020204" pitchFamily="34" charset="0"/>
                        </a:rPr>
                        <a:t>A</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6">
                        <a:lumMod val="60000"/>
                        <a:lumOff val="40000"/>
                      </a:schemeClr>
                    </a:solidFill>
                  </a:tcPr>
                </a:tc>
                <a:extLst>
                  <a:ext uri="{0D108BD9-81ED-4DB2-BD59-A6C34878D82A}">
                    <a16:rowId xmlns:a16="http://schemas.microsoft.com/office/drawing/2014/main" val="1780592554"/>
                  </a:ext>
                </a:extLst>
              </a:tr>
              <a:tr h="365760">
                <a:tc>
                  <a:txBody>
                    <a:bodyPr/>
                    <a:lstStyle/>
                    <a:p>
                      <a:pPr algn="ctr" fontAlgn="ctr"/>
                      <a:r>
                        <a:rPr lang="en-US" sz="1600" u="none" strike="noStrike" dirty="0">
                          <a:effectLst/>
                          <a:latin typeface="Candara" panose="020E0502030303020204" pitchFamily="34" charset="0"/>
                        </a:rPr>
                        <a:t>2</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8,250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b="0" i="0" u="none" strike="noStrike">
                          <a:solidFill>
                            <a:srgbClr val="000000"/>
                          </a:solidFill>
                          <a:effectLst/>
                          <a:latin typeface="Candara" panose="020E0502030303020204" pitchFamily="34" charset="0"/>
                        </a:rPr>
                        <a:t>14%</a:t>
                      </a: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31%</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a:effectLst/>
                          <a:latin typeface="Candara" panose="020E0502030303020204" pitchFamily="34" charset="0"/>
                        </a:rPr>
                        <a:t>B</a:t>
                      </a:r>
                      <a:endParaRPr lang="en-US" sz="1600" b="0" i="0" u="none" strike="noStrike">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extLst>
                  <a:ext uri="{0D108BD9-81ED-4DB2-BD59-A6C34878D82A}">
                    <a16:rowId xmlns:a16="http://schemas.microsoft.com/office/drawing/2014/main" val="175787264"/>
                  </a:ext>
                </a:extLst>
              </a:tr>
              <a:tr h="365760">
                <a:tc>
                  <a:txBody>
                    <a:bodyPr/>
                    <a:lstStyle/>
                    <a:p>
                      <a:pPr algn="ctr" fontAlgn="ctr"/>
                      <a:r>
                        <a:rPr lang="en-US" sz="1600" u="none" strike="noStrike">
                          <a:effectLst/>
                          <a:latin typeface="Candara" panose="020E0502030303020204" pitchFamily="34" charset="0"/>
                        </a:rPr>
                        <a:t>6</a:t>
                      </a:r>
                      <a:endParaRPr lang="en-US" sz="1600" b="0" i="0" u="none" strike="noStrike">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8,000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14%</a:t>
                      </a: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45%</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a:effectLst/>
                          <a:latin typeface="Candara" panose="020E0502030303020204" pitchFamily="34" charset="0"/>
                        </a:rPr>
                        <a:t>B</a:t>
                      </a:r>
                      <a:endParaRPr lang="en-US" sz="1600" b="0" i="0" u="none" strike="noStrike">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extLst>
                  <a:ext uri="{0D108BD9-81ED-4DB2-BD59-A6C34878D82A}">
                    <a16:rowId xmlns:a16="http://schemas.microsoft.com/office/drawing/2014/main" val="2147353006"/>
                  </a:ext>
                </a:extLst>
              </a:tr>
              <a:tr h="365760">
                <a:tc>
                  <a:txBody>
                    <a:bodyPr/>
                    <a:lstStyle/>
                    <a:p>
                      <a:pPr algn="ctr" fontAlgn="ctr"/>
                      <a:r>
                        <a:rPr lang="en-US" sz="1600" u="none" strike="noStrike">
                          <a:effectLst/>
                          <a:latin typeface="Candara" panose="020E0502030303020204" pitchFamily="34" charset="0"/>
                        </a:rPr>
                        <a:t>9</a:t>
                      </a:r>
                      <a:endParaRPr lang="en-US" sz="1600" b="0" i="0" u="none" strike="noStrike">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7,200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b="0" i="0" u="none" strike="noStrike" dirty="0">
                          <a:solidFill>
                            <a:srgbClr val="000000"/>
                          </a:solidFill>
                          <a:effectLst/>
                          <a:latin typeface="Candara" panose="020E0502030303020204" pitchFamily="34" charset="0"/>
                        </a:rPr>
                        <a:t>12%</a:t>
                      </a: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57%</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tc>
                  <a:txBody>
                    <a:bodyPr/>
                    <a:lstStyle/>
                    <a:p>
                      <a:pPr algn="ctr" fontAlgn="ctr"/>
                      <a:r>
                        <a:rPr lang="en-US" sz="1600" u="none" strike="noStrike" dirty="0">
                          <a:effectLst/>
                          <a:latin typeface="Candara" panose="020E0502030303020204" pitchFamily="34" charset="0"/>
                        </a:rPr>
                        <a:t>B</a:t>
                      </a:r>
                      <a:endParaRPr lang="en-US" sz="1600" b="0" i="0" u="none" strike="noStrike" dirty="0">
                        <a:solidFill>
                          <a:srgbClr val="000000"/>
                        </a:solidFill>
                        <a:effectLst/>
                        <a:latin typeface="Candara" panose="020E0502030303020204" pitchFamily="34" charset="0"/>
                      </a:endParaRPr>
                    </a:p>
                  </a:txBody>
                  <a:tcPr marL="7620" marR="7620" marT="7620" marB="0" anchor="ctr">
                    <a:solidFill>
                      <a:schemeClr val="accent4">
                        <a:lumMod val="40000"/>
                        <a:lumOff val="60000"/>
                      </a:schemeClr>
                    </a:solidFill>
                  </a:tcPr>
                </a:tc>
                <a:extLst>
                  <a:ext uri="{0D108BD9-81ED-4DB2-BD59-A6C34878D82A}">
                    <a16:rowId xmlns:a16="http://schemas.microsoft.com/office/drawing/2014/main" val="4010613427"/>
                  </a:ext>
                </a:extLst>
              </a:tr>
              <a:tr h="365760">
                <a:tc>
                  <a:txBody>
                    <a:bodyPr/>
                    <a:lstStyle/>
                    <a:p>
                      <a:pPr algn="ctr" fontAlgn="ctr"/>
                      <a:r>
                        <a:rPr lang="en-US" sz="1600" u="none" strike="noStrike" dirty="0">
                          <a:effectLst/>
                          <a:latin typeface="Candara" panose="020E0502030303020204" pitchFamily="34" charset="0"/>
                        </a:rPr>
                        <a:t>1</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5,500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a:solidFill>
                            <a:srgbClr val="000000"/>
                          </a:solidFill>
                          <a:effectLst/>
                          <a:latin typeface="Candara" panose="020E0502030303020204" pitchFamily="34" charset="0"/>
                        </a:rPr>
                        <a:t>9%</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66%</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a:effectLst/>
                          <a:latin typeface="Candara" panose="020E0502030303020204" pitchFamily="34" charset="0"/>
                        </a:rPr>
                        <a:t>C</a:t>
                      </a:r>
                      <a:endParaRPr lang="en-US" sz="1600" b="0" i="0" u="none" strike="noStrike">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2633174693"/>
                  </a:ext>
                </a:extLst>
              </a:tr>
              <a:tr h="365760">
                <a:tc>
                  <a:txBody>
                    <a:bodyPr/>
                    <a:lstStyle/>
                    <a:p>
                      <a:pPr algn="ctr" fontAlgn="ctr"/>
                      <a:r>
                        <a:rPr lang="en-US" sz="1600" u="none" strike="noStrike" dirty="0">
                          <a:effectLst/>
                          <a:latin typeface="Candara" panose="020E0502030303020204" pitchFamily="34" charset="0"/>
                        </a:rPr>
                        <a:t>5</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5,250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a:solidFill>
                            <a:srgbClr val="000000"/>
                          </a:solidFill>
                          <a:effectLst/>
                          <a:latin typeface="Candara" panose="020E0502030303020204" pitchFamily="34" charset="0"/>
                        </a:rPr>
                        <a:t>9%</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75%</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C</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234357580"/>
                  </a:ext>
                </a:extLst>
              </a:tr>
              <a:tr h="365760">
                <a:tc>
                  <a:txBody>
                    <a:bodyPr/>
                    <a:lstStyle/>
                    <a:p>
                      <a:pPr algn="ctr" fontAlgn="ctr"/>
                      <a:r>
                        <a:rPr lang="en-US" sz="1600" u="none" strike="noStrike" dirty="0">
                          <a:effectLst/>
                          <a:latin typeface="Candara" panose="020E0502030303020204" pitchFamily="34" charset="0"/>
                        </a:rPr>
                        <a:t>10</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5,000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dirty="0">
                          <a:solidFill>
                            <a:srgbClr val="000000"/>
                          </a:solidFill>
                          <a:effectLst/>
                          <a:latin typeface="Candara" panose="020E0502030303020204" pitchFamily="34" charset="0"/>
                        </a:rPr>
                        <a:t>8%</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83%</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C</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197759441"/>
                  </a:ext>
                </a:extLst>
              </a:tr>
              <a:tr h="365760">
                <a:tc>
                  <a:txBody>
                    <a:bodyPr/>
                    <a:lstStyle/>
                    <a:p>
                      <a:pPr algn="ctr" fontAlgn="ctr"/>
                      <a:r>
                        <a:rPr lang="en-US" sz="1600" u="none" strike="noStrike" dirty="0">
                          <a:effectLst/>
                          <a:latin typeface="Candara" panose="020E0502030303020204" pitchFamily="34" charset="0"/>
                        </a:rPr>
                        <a:t>3</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4,800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a:solidFill>
                            <a:srgbClr val="000000"/>
                          </a:solidFill>
                          <a:effectLst/>
                          <a:latin typeface="Candara" panose="020E0502030303020204" pitchFamily="34" charset="0"/>
                        </a:rPr>
                        <a:t>8%</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91%</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C</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258051153"/>
                  </a:ext>
                </a:extLst>
              </a:tr>
              <a:tr h="365760">
                <a:tc>
                  <a:txBody>
                    <a:bodyPr/>
                    <a:lstStyle/>
                    <a:p>
                      <a:pPr algn="ctr" fontAlgn="ctr"/>
                      <a:r>
                        <a:rPr lang="en-US" sz="1600" u="none" strike="noStrike">
                          <a:effectLst/>
                          <a:latin typeface="Candara" panose="020E0502030303020204" pitchFamily="34" charset="0"/>
                        </a:rPr>
                        <a:t>4</a:t>
                      </a:r>
                      <a:endParaRPr lang="en-US" sz="1600" b="0" i="0" u="none" strike="noStrike">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2,850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a:solidFill>
                            <a:srgbClr val="000000"/>
                          </a:solidFill>
                          <a:effectLst/>
                          <a:latin typeface="Candara" panose="020E0502030303020204" pitchFamily="34" charset="0"/>
                        </a:rPr>
                        <a:t>5%</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96%</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C</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2124741755"/>
                  </a:ext>
                </a:extLst>
              </a:tr>
              <a:tr h="365760">
                <a:tc>
                  <a:txBody>
                    <a:bodyPr/>
                    <a:lstStyle/>
                    <a:p>
                      <a:pPr algn="ctr" fontAlgn="ctr"/>
                      <a:r>
                        <a:rPr lang="en-US" sz="1600" u="none" strike="noStrike">
                          <a:effectLst/>
                          <a:latin typeface="Candara" panose="020E0502030303020204" pitchFamily="34" charset="0"/>
                        </a:rPr>
                        <a:t>7</a:t>
                      </a:r>
                      <a:endParaRPr lang="en-US" sz="1600" b="0" i="0" u="none" strike="noStrike">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2,520 </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b="0" i="0" u="none" strike="noStrike" dirty="0">
                          <a:solidFill>
                            <a:srgbClr val="000000"/>
                          </a:solidFill>
                          <a:effectLst/>
                          <a:latin typeface="Candara" panose="020E0502030303020204" pitchFamily="34" charset="0"/>
                        </a:rPr>
                        <a:t>4%</a:t>
                      </a: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100%</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tc>
                  <a:txBody>
                    <a:bodyPr/>
                    <a:lstStyle/>
                    <a:p>
                      <a:pPr algn="ctr" fontAlgn="ctr"/>
                      <a:r>
                        <a:rPr lang="en-US" sz="1600" u="none" strike="noStrike" dirty="0">
                          <a:effectLst/>
                          <a:latin typeface="Candara" panose="020E0502030303020204" pitchFamily="34" charset="0"/>
                        </a:rPr>
                        <a:t>C</a:t>
                      </a:r>
                      <a:endParaRPr lang="en-US" sz="1600" b="0" i="0" u="none" strike="noStrike" dirty="0">
                        <a:solidFill>
                          <a:srgbClr val="000000"/>
                        </a:solidFill>
                        <a:effectLst/>
                        <a:latin typeface="Candara" panose="020E0502030303020204" pitchFamily="34" charset="0"/>
                      </a:endParaRPr>
                    </a:p>
                  </a:txBody>
                  <a:tcPr marL="7620" marR="7620" marT="7620" marB="0" anchor="ctr">
                    <a:solidFill>
                      <a:srgbClr val="FF9966"/>
                    </a:solidFill>
                  </a:tcPr>
                </a:tc>
                <a:extLst>
                  <a:ext uri="{0D108BD9-81ED-4DB2-BD59-A6C34878D82A}">
                    <a16:rowId xmlns:a16="http://schemas.microsoft.com/office/drawing/2014/main" val="1905621371"/>
                  </a:ext>
                </a:extLst>
              </a:tr>
            </a:tbl>
          </a:graphicData>
        </a:graphic>
      </p:graphicFrame>
      <p:sp>
        <p:nvSpPr>
          <p:cNvPr id="5" name="Rectangle: Rounded Corners 4">
            <a:extLst>
              <a:ext uri="{FF2B5EF4-FFF2-40B4-BE49-F238E27FC236}">
                <a16:creationId xmlns:a16="http://schemas.microsoft.com/office/drawing/2014/main" id="{A5318554-EE4D-4684-8254-F43C0F1700D4}"/>
              </a:ext>
            </a:extLst>
          </p:cNvPr>
          <p:cNvSpPr/>
          <p:nvPr/>
        </p:nvSpPr>
        <p:spPr>
          <a:xfrm>
            <a:off x="9224682" y="3863788"/>
            <a:ext cx="824753" cy="295836"/>
          </a:xfrm>
          <a:prstGeom prst="roundRect">
            <a:avLst>
              <a:gd name="adj" fmla="val 4697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1253C8B-D139-4CD7-B94F-C38B6DEE91C9}"/>
              </a:ext>
            </a:extLst>
          </p:cNvPr>
          <p:cNvCxnSpPr>
            <a:stCxn id="5" idx="1"/>
          </p:cNvCxnSpPr>
          <p:nvPr/>
        </p:nvCxnSpPr>
        <p:spPr>
          <a:xfrm flipH="1">
            <a:off x="4957482" y="4011706"/>
            <a:ext cx="4267200" cy="8113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95CE248B-B78E-4015-ADEC-902FCA7FFE47}"/>
              </a:ext>
            </a:extLst>
          </p:cNvPr>
          <p:cNvSpPr/>
          <p:nvPr/>
        </p:nvSpPr>
        <p:spPr>
          <a:xfrm>
            <a:off x="2886634" y="4823012"/>
            <a:ext cx="2070848" cy="1008531"/>
          </a:xfrm>
          <a:prstGeom prst="roundRect">
            <a:avLst>
              <a:gd name="adj" fmla="val 14391"/>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0B2B40"/>
                </a:solidFill>
              </a:rPr>
              <a:t>An item marginally surpassing cumulative 50% is to be considered as </a:t>
            </a:r>
            <a:r>
              <a:rPr lang="en-US" sz="1400" b="1" dirty="0">
                <a:solidFill>
                  <a:srgbClr val="0B2B40"/>
                </a:solidFill>
              </a:rPr>
              <a:t>B class </a:t>
            </a:r>
          </a:p>
        </p:txBody>
      </p:sp>
    </p:spTree>
    <p:extLst>
      <p:ext uri="{BB962C8B-B14F-4D97-AF65-F5344CB8AC3E}">
        <p14:creationId xmlns:p14="http://schemas.microsoft.com/office/powerpoint/2010/main" val="207872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C3F4A3-5367-2DAA-BDFF-8E47986C3115}"/>
              </a:ext>
            </a:extLst>
          </p:cNvPr>
          <p:cNvGrpSpPr/>
          <p:nvPr/>
        </p:nvGrpSpPr>
        <p:grpSpPr>
          <a:xfrm>
            <a:off x="4827813" y="2694215"/>
            <a:ext cx="2536373" cy="1469569"/>
            <a:chOff x="4278084" y="2438402"/>
            <a:chExt cx="2536373" cy="1469569"/>
          </a:xfrm>
        </p:grpSpPr>
        <p:sp>
          <p:nvSpPr>
            <p:cNvPr id="3" name="Rectangle 2">
              <a:extLst>
                <a:ext uri="{FF2B5EF4-FFF2-40B4-BE49-F238E27FC236}">
                  <a16:creationId xmlns:a16="http://schemas.microsoft.com/office/drawing/2014/main" id="{212C3DFE-9C53-9FE2-6E71-8815B599DD17}"/>
                </a:ext>
              </a:extLst>
            </p:cNvPr>
            <p:cNvSpPr/>
            <p:nvPr/>
          </p:nvSpPr>
          <p:spPr>
            <a:xfrm>
              <a:off x="4278086" y="2438402"/>
              <a:ext cx="2536371" cy="5116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2060"/>
                  </a:solidFill>
                  <a:latin typeface="Candara" panose="020E0502030303020204" pitchFamily="34" charset="0"/>
                </a:rPr>
                <a:t>The Need for</a:t>
              </a:r>
            </a:p>
          </p:txBody>
        </p:sp>
        <p:sp>
          <p:nvSpPr>
            <p:cNvPr id="4" name="Rectangle 3">
              <a:extLst>
                <a:ext uri="{FF2B5EF4-FFF2-40B4-BE49-F238E27FC236}">
                  <a16:creationId xmlns:a16="http://schemas.microsoft.com/office/drawing/2014/main" id="{588A5F87-E5DA-3C63-BA89-52941243105A}"/>
                </a:ext>
              </a:extLst>
            </p:cNvPr>
            <p:cNvSpPr/>
            <p:nvPr/>
          </p:nvSpPr>
          <p:spPr>
            <a:xfrm>
              <a:off x="4278085" y="2950030"/>
              <a:ext cx="2536371" cy="51162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latin typeface="Candara" panose="020E0502030303020204" pitchFamily="34" charset="0"/>
                </a:rPr>
                <a:t>Inventories</a:t>
              </a:r>
            </a:p>
          </p:txBody>
        </p:sp>
        <p:sp>
          <p:nvSpPr>
            <p:cNvPr id="5" name="Rectangle 4">
              <a:extLst>
                <a:ext uri="{FF2B5EF4-FFF2-40B4-BE49-F238E27FC236}">
                  <a16:creationId xmlns:a16="http://schemas.microsoft.com/office/drawing/2014/main" id="{307BF2C8-B8EA-D22B-E5F9-6B205FFB52E4}"/>
                </a:ext>
              </a:extLst>
            </p:cNvPr>
            <p:cNvSpPr/>
            <p:nvPr/>
          </p:nvSpPr>
          <p:spPr>
            <a:xfrm>
              <a:off x="4278084" y="3396343"/>
              <a:ext cx="2536371" cy="5116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2060"/>
                  </a:solidFill>
                  <a:latin typeface="Candara" panose="020E0502030303020204" pitchFamily="34" charset="0"/>
                </a:rPr>
                <a:t>Can be Reduced by</a:t>
              </a:r>
            </a:p>
          </p:txBody>
        </p:sp>
      </p:grpSp>
      <p:sp>
        <p:nvSpPr>
          <p:cNvPr id="8" name="Rectangle 7">
            <a:extLst>
              <a:ext uri="{FF2B5EF4-FFF2-40B4-BE49-F238E27FC236}">
                <a16:creationId xmlns:a16="http://schemas.microsoft.com/office/drawing/2014/main" id="{9351F586-EA47-1398-66D7-30C5308E0B0E}"/>
              </a:ext>
            </a:extLst>
          </p:cNvPr>
          <p:cNvSpPr/>
          <p:nvPr/>
        </p:nvSpPr>
        <p:spPr>
          <a:xfrm>
            <a:off x="7881259" y="1484454"/>
            <a:ext cx="2357395"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Using standardized parts</a:t>
            </a:r>
          </a:p>
        </p:txBody>
      </p:sp>
      <p:sp>
        <p:nvSpPr>
          <p:cNvPr id="9" name="Rectangle 8">
            <a:extLst>
              <a:ext uri="{FF2B5EF4-FFF2-40B4-BE49-F238E27FC236}">
                <a16:creationId xmlns:a16="http://schemas.microsoft.com/office/drawing/2014/main" id="{05A22CB8-0C9C-B2CA-BF97-95954A3B483C}"/>
              </a:ext>
            </a:extLst>
          </p:cNvPr>
          <p:cNvSpPr/>
          <p:nvPr/>
        </p:nvSpPr>
        <p:spPr>
          <a:xfrm>
            <a:off x="8912505" y="2815539"/>
            <a:ext cx="304414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Improving the forecasting of demand</a:t>
            </a:r>
          </a:p>
        </p:txBody>
      </p:sp>
      <p:sp>
        <p:nvSpPr>
          <p:cNvPr id="10" name="Rectangle 9">
            <a:extLst>
              <a:ext uri="{FF2B5EF4-FFF2-40B4-BE49-F238E27FC236}">
                <a16:creationId xmlns:a16="http://schemas.microsoft.com/office/drawing/2014/main" id="{02230C43-1AC5-87E6-E405-20FCEEAD2676}"/>
              </a:ext>
            </a:extLst>
          </p:cNvPr>
          <p:cNvSpPr/>
          <p:nvPr/>
        </p:nvSpPr>
        <p:spPr>
          <a:xfrm>
            <a:off x="7717676" y="4699322"/>
            <a:ext cx="3244238"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Using preventive maintenance on equipment and machines</a:t>
            </a:r>
          </a:p>
        </p:txBody>
      </p:sp>
      <p:sp>
        <p:nvSpPr>
          <p:cNvPr id="11" name="Rectangle 10">
            <a:extLst>
              <a:ext uri="{FF2B5EF4-FFF2-40B4-BE49-F238E27FC236}">
                <a16:creationId xmlns:a16="http://schemas.microsoft.com/office/drawing/2014/main" id="{68936717-B177-51C9-A52A-88DCB1A7C8C6}"/>
              </a:ext>
            </a:extLst>
          </p:cNvPr>
          <p:cNvSpPr/>
          <p:nvPr/>
        </p:nvSpPr>
        <p:spPr>
          <a:xfrm>
            <a:off x="4727627" y="5273783"/>
            <a:ext cx="2736741"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Reducing supplier delivery lead times and increasing delivery reliability</a:t>
            </a:r>
          </a:p>
        </p:txBody>
      </p:sp>
      <p:sp>
        <p:nvSpPr>
          <p:cNvPr id="13" name="Rectangle 12">
            <a:extLst>
              <a:ext uri="{FF2B5EF4-FFF2-40B4-BE49-F238E27FC236}">
                <a16:creationId xmlns:a16="http://schemas.microsoft.com/office/drawing/2014/main" id="{4ED2CD4C-4120-2F5A-F36D-D566537D328E}"/>
              </a:ext>
            </a:extLst>
          </p:cNvPr>
          <p:cNvSpPr/>
          <p:nvPr/>
        </p:nvSpPr>
        <p:spPr>
          <a:xfrm>
            <a:off x="1154471" y="4520521"/>
            <a:ext cx="2786810"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Utilizing reliable suppliers and improving the relationships in the supply chain</a:t>
            </a:r>
          </a:p>
        </p:txBody>
      </p:sp>
      <p:sp>
        <p:nvSpPr>
          <p:cNvPr id="14" name="Rectangle 13">
            <a:extLst>
              <a:ext uri="{FF2B5EF4-FFF2-40B4-BE49-F238E27FC236}">
                <a16:creationId xmlns:a16="http://schemas.microsoft.com/office/drawing/2014/main" id="{5C76093D-2FE3-2D9F-611A-AAD8945D2FC9}"/>
              </a:ext>
            </a:extLst>
          </p:cNvPr>
          <p:cNvSpPr/>
          <p:nvPr/>
        </p:nvSpPr>
        <p:spPr>
          <a:xfrm>
            <a:off x="580110" y="2897944"/>
            <a:ext cx="269938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Restructuring the supply chain so that the supplier holds the inventory</a:t>
            </a:r>
          </a:p>
        </p:txBody>
      </p:sp>
      <p:sp>
        <p:nvSpPr>
          <p:cNvPr id="16" name="Rectangle 15">
            <a:extLst>
              <a:ext uri="{FF2B5EF4-FFF2-40B4-BE49-F238E27FC236}">
                <a16:creationId xmlns:a16="http://schemas.microsoft.com/office/drawing/2014/main" id="{1C924A5D-2B4C-1B0F-DE35-D8FB8A4627D1}"/>
              </a:ext>
            </a:extLst>
          </p:cNvPr>
          <p:cNvSpPr/>
          <p:nvPr/>
        </p:nvSpPr>
        <p:spPr>
          <a:xfrm>
            <a:off x="1480457" y="1368230"/>
            <a:ext cx="2977732"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Developing simpler product designs with fewer parts</a:t>
            </a:r>
          </a:p>
        </p:txBody>
      </p:sp>
      <p:sp>
        <p:nvSpPr>
          <p:cNvPr id="17" name="Rectangle 16">
            <a:extLst>
              <a:ext uri="{FF2B5EF4-FFF2-40B4-BE49-F238E27FC236}">
                <a16:creationId xmlns:a16="http://schemas.microsoft.com/office/drawing/2014/main" id="{F8F2B506-ADA8-D0BB-E67A-BF89D4E8BC17}"/>
              </a:ext>
            </a:extLst>
          </p:cNvPr>
          <p:cNvSpPr/>
          <p:nvPr/>
        </p:nvSpPr>
        <p:spPr>
          <a:xfrm>
            <a:off x="4478497" y="626275"/>
            <a:ext cx="3235008" cy="111116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000" dirty="0">
                <a:solidFill>
                  <a:srgbClr val="002060"/>
                </a:solidFill>
                <a:latin typeface="Candara" panose="020E0502030303020204" pitchFamily="34" charset="0"/>
              </a:rPr>
              <a:t>Reducing production lead time by using more efficient manufacturing methods</a:t>
            </a:r>
          </a:p>
        </p:txBody>
      </p:sp>
      <p:pic>
        <p:nvPicPr>
          <p:cNvPr id="18" name="Picture 2" descr="Arrow Spiral Down transparent PNG - StickPNG">
            <a:extLst>
              <a:ext uri="{FF2B5EF4-FFF2-40B4-BE49-F238E27FC236}">
                <a16:creationId xmlns:a16="http://schemas.microsoft.com/office/drawing/2014/main" id="{66194887-A6F3-28F2-6FCB-2C75054F312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6416289">
            <a:off x="7352932" y="2125722"/>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Arrow Spiral Down transparent PNG - StickPNG">
            <a:extLst>
              <a:ext uri="{FF2B5EF4-FFF2-40B4-BE49-F238E27FC236}">
                <a16:creationId xmlns:a16="http://schemas.microsoft.com/office/drawing/2014/main" id="{6D03DE43-48FD-059F-AE20-34E3A9B26C1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8509556">
            <a:off x="7878851" y="3038259"/>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Arrow Spiral Down transparent PNG - StickPNG">
            <a:extLst>
              <a:ext uri="{FF2B5EF4-FFF2-40B4-BE49-F238E27FC236}">
                <a16:creationId xmlns:a16="http://schemas.microsoft.com/office/drawing/2014/main" id="{7A78F350-8DBB-371C-6394-B61416B4BFA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21195743">
            <a:off x="7409328" y="4019409"/>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Arrow Spiral Down transparent PNG - StickPNG">
            <a:extLst>
              <a:ext uri="{FF2B5EF4-FFF2-40B4-BE49-F238E27FC236}">
                <a16:creationId xmlns:a16="http://schemas.microsoft.com/office/drawing/2014/main" id="{249897A4-698A-7631-915E-1009CDF9DD9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2221803">
            <a:off x="5812386" y="4349001"/>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Arrow Spiral Down transparent PNG - StickPNG">
            <a:extLst>
              <a:ext uri="{FF2B5EF4-FFF2-40B4-BE49-F238E27FC236}">
                <a16:creationId xmlns:a16="http://schemas.microsoft.com/office/drawing/2014/main" id="{EE8A20DC-E2C3-EA1E-84B7-69CEE362B9D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5400000">
            <a:off x="3938366" y="4081004"/>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Arrow Spiral Down transparent PNG - StickPNG">
            <a:extLst>
              <a:ext uri="{FF2B5EF4-FFF2-40B4-BE49-F238E27FC236}">
                <a16:creationId xmlns:a16="http://schemas.microsoft.com/office/drawing/2014/main" id="{EA99BC88-F61B-DE0A-B3B7-54345B49428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7798869">
            <a:off x="3681599" y="3122655"/>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Arrow Spiral Down transparent PNG - StickPNG">
            <a:extLst>
              <a:ext uri="{FF2B5EF4-FFF2-40B4-BE49-F238E27FC236}">
                <a16:creationId xmlns:a16="http://schemas.microsoft.com/office/drawing/2014/main" id="{80419DEB-130A-D138-99B9-153FCC63E6B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0077716">
            <a:off x="4297807" y="2088659"/>
            <a:ext cx="744105" cy="78148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Arrow Spiral Down transparent PNG - StickPNG">
            <a:extLst>
              <a:ext uri="{FF2B5EF4-FFF2-40B4-BE49-F238E27FC236}">
                <a16:creationId xmlns:a16="http://schemas.microsoft.com/office/drawing/2014/main" id="{F0B9BF10-6280-A195-FE62-86B6C9F6AB7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3080379">
            <a:off x="5765350" y="1825090"/>
            <a:ext cx="744105" cy="78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41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up)">
                                      <p:cBhvr>
                                        <p:cTn id="25" dur="500"/>
                                        <p:tgtEl>
                                          <p:spTgt spid="20"/>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right)">
                                      <p:cBhvr>
                                        <p:cTn id="43" dur="500"/>
                                        <p:tgtEl>
                                          <p:spTgt spid="22"/>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right)">
                                      <p:cBhvr>
                                        <p:cTn id="52" dur="500"/>
                                        <p:tgtEl>
                                          <p:spTgt spid="23"/>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500"/>
                                        <p:tgtEl>
                                          <p:spTgt spid="24"/>
                                        </p:tgtEl>
                                      </p:cBhvr>
                                    </p:animEffect>
                                  </p:childTnLst>
                                </p:cTn>
                              </p:par>
                            </p:childTnLst>
                          </p:cTn>
                        </p:par>
                        <p:par>
                          <p:cTn id="62"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10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down)">
                                      <p:cBhvr>
                                        <p:cTn id="70" dur="500"/>
                                        <p:tgtEl>
                                          <p:spTgt spid="25"/>
                                        </p:tgtEl>
                                      </p:cBhvr>
                                    </p:animEffect>
                                  </p:childTnLst>
                                </p:cTn>
                              </p:par>
                            </p:childTnLst>
                          </p:cTn>
                        </p:par>
                        <p:par>
                          <p:cTn id="71"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P spid="14"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The Inventory Cycle</a:t>
            </a:r>
          </a:p>
        </p:txBody>
      </p:sp>
      <p:grpSp>
        <p:nvGrpSpPr>
          <p:cNvPr id="23" name="Group 22">
            <a:extLst>
              <a:ext uri="{FF2B5EF4-FFF2-40B4-BE49-F238E27FC236}">
                <a16:creationId xmlns:a16="http://schemas.microsoft.com/office/drawing/2014/main" id="{84E2F279-B1EB-3142-B72E-2DBB02DA2716}"/>
              </a:ext>
            </a:extLst>
          </p:cNvPr>
          <p:cNvGrpSpPr/>
          <p:nvPr/>
        </p:nvGrpSpPr>
        <p:grpSpPr>
          <a:xfrm>
            <a:off x="185349" y="1701897"/>
            <a:ext cx="8599130" cy="4965120"/>
            <a:chOff x="1796435" y="1593040"/>
            <a:chExt cx="8599130" cy="4965120"/>
          </a:xfrm>
        </p:grpSpPr>
        <p:pic>
          <p:nvPicPr>
            <p:cNvPr id="20482" name="Picture 2" descr="Solved The Inventory Cycle Profile of Inventory Level Over | Chegg.com">
              <a:extLst>
                <a:ext uri="{FF2B5EF4-FFF2-40B4-BE49-F238E27FC236}">
                  <a16:creationId xmlns:a16="http://schemas.microsoft.com/office/drawing/2014/main" id="{57758E72-1E71-4556-A56C-31BD897197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619" t="27936" r="8214" b="8889"/>
            <a:stretch/>
          </p:blipFill>
          <p:spPr bwMode="auto">
            <a:xfrm>
              <a:off x="2000714" y="1600201"/>
              <a:ext cx="8284028" cy="49579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31AB2CB-D814-41EA-4FC4-2C7B94494333}"/>
                </a:ext>
              </a:extLst>
            </p:cNvPr>
            <p:cNvSpPr/>
            <p:nvPr/>
          </p:nvSpPr>
          <p:spPr>
            <a:xfrm>
              <a:off x="2231862" y="2907523"/>
              <a:ext cx="946766" cy="588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dirty="0">
                  <a:solidFill>
                    <a:schemeClr val="tx1"/>
                  </a:solidFill>
                  <a:latin typeface="Candara" panose="020E0502030303020204" pitchFamily="34" charset="0"/>
                </a:rPr>
                <a:t>Quantity on Hand</a:t>
              </a:r>
            </a:p>
          </p:txBody>
        </p:sp>
        <p:sp>
          <p:nvSpPr>
            <p:cNvPr id="5" name="Rectangle 4">
              <a:extLst>
                <a:ext uri="{FF2B5EF4-FFF2-40B4-BE49-F238E27FC236}">
                  <a16:creationId xmlns:a16="http://schemas.microsoft.com/office/drawing/2014/main" id="{A37CE7D5-384F-95B7-05E1-81C0E86C7BB1}"/>
                </a:ext>
              </a:extLst>
            </p:cNvPr>
            <p:cNvSpPr/>
            <p:nvPr/>
          </p:nvSpPr>
          <p:spPr>
            <a:xfrm>
              <a:off x="1796435" y="3794912"/>
              <a:ext cx="1091465" cy="588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Reorder Point</a:t>
              </a:r>
            </a:p>
          </p:txBody>
        </p:sp>
        <p:sp>
          <p:nvSpPr>
            <p:cNvPr id="6" name="Rectangle 5">
              <a:extLst>
                <a:ext uri="{FF2B5EF4-FFF2-40B4-BE49-F238E27FC236}">
                  <a16:creationId xmlns:a16="http://schemas.microsoft.com/office/drawing/2014/main" id="{67115ACA-6B44-163C-0BBD-7A696665319D}"/>
                </a:ext>
              </a:extLst>
            </p:cNvPr>
            <p:cNvSpPr/>
            <p:nvPr/>
          </p:nvSpPr>
          <p:spPr>
            <a:xfrm>
              <a:off x="2797920" y="5181470"/>
              <a:ext cx="1091465" cy="588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Receive Order</a:t>
              </a:r>
            </a:p>
          </p:txBody>
        </p:sp>
        <p:sp>
          <p:nvSpPr>
            <p:cNvPr id="8" name="Rectangle 7">
              <a:extLst>
                <a:ext uri="{FF2B5EF4-FFF2-40B4-BE49-F238E27FC236}">
                  <a16:creationId xmlns:a16="http://schemas.microsoft.com/office/drawing/2014/main" id="{568A542F-F7DF-F382-73D9-5DEC55BB79C4}"/>
                </a:ext>
              </a:extLst>
            </p:cNvPr>
            <p:cNvSpPr/>
            <p:nvPr/>
          </p:nvSpPr>
          <p:spPr>
            <a:xfrm>
              <a:off x="5032383" y="5181470"/>
              <a:ext cx="1091465" cy="56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Receive Order</a:t>
              </a:r>
            </a:p>
          </p:txBody>
        </p:sp>
        <p:sp>
          <p:nvSpPr>
            <p:cNvPr id="7" name="Rectangle 6">
              <a:extLst>
                <a:ext uri="{FF2B5EF4-FFF2-40B4-BE49-F238E27FC236}">
                  <a16:creationId xmlns:a16="http://schemas.microsoft.com/office/drawing/2014/main" id="{DA4A9C29-00A9-9FD7-050E-34D4DC20A7E4}"/>
                </a:ext>
              </a:extLst>
            </p:cNvPr>
            <p:cNvSpPr/>
            <p:nvPr/>
          </p:nvSpPr>
          <p:spPr>
            <a:xfrm>
              <a:off x="4506977" y="5181470"/>
              <a:ext cx="721352" cy="56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Place Order</a:t>
              </a:r>
            </a:p>
          </p:txBody>
        </p:sp>
        <p:sp>
          <p:nvSpPr>
            <p:cNvPr id="9" name="Rectangle 8">
              <a:extLst>
                <a:ext uri="{FF2B5EF4-FFF2-40B4-BE49-F238E27FC236}">
                  <a16:creationId xmlns:a16="http://schemas.microsoft.com/office/drawing/2014/main" id="{110CB679-BDDF-18DB-E6DA-2B1E20C000D9}"/>
                </a:ext>
              </a:extLst>
            </p:cNvPr>
            <p:cNvSpPr/>
            <p:nvPr/>
          </p:nvSpPr>
          <p:spPr>
            <a:xfrm>
              <a:off x="6769931" y="5181470"/>
              <a:ext cx="721352" cy="56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Place Order</a:t>
              </a:r>
            </a:p>
          </p:txBody>
        </p:sp>
        <p:sp>
          <p:nvSpPr>
            <p:cNvPr id="10" name="Rectangle 9">
              <a:extLst>
                <a:ext uri="{FF2B5EF4-FFF2-40B4-BE49-F238E27FC236}">
                  <a16:creationId xmlns:a16="http://schemas.microsoft.com/office/drawing/2014/main" id="{CD149803-0879-8A79-6094-FB99E4566943}"/>
                </a:ext>
              </a:extLst>
            </p:cNvPr>
            <p:cNvSpPr/>
            <p:nvPr/>
          </p:nvSpPr>
          <p:spPr>
            <a:xfrm>
              <a:off x="7491283" y="5181470"/>
              <a:ext cx="1091465" cy="56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Receive Order</a:t>
              </a:r>
            </a:p>
          </p:txBody>
        </p:sp>
        <p:sp>
          <p:nvSpPr>
            <p:cNvPr id="11" name="Rectangle 10">
              <a:extLst>
                <a:ext uri="{FF2B5EF4-FFF2-40B4-BE49-F238E27FC236}">
                  <a16:creationId xmlns:a16="http://schemas.microsoft.com/office/drawing/2014/main" id="{E1DAAB86-1049-69CC-0B70-3E61C9B63144}"/>
                </a:ext>
              </a:extLst>
            </p:cNvPr>
            <p:cNvSpPr/>
            <p:nvPr/>
          </p:nvSpPr>
          <p:spPr>
            <a:xfrm>
              <a:off x="4116713" y="1767981"/>
              <a:ext cx="1091465" cy="560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Usage rate</a:t>
              </a:r>
            </a:p>
          </p:txBody>
        </p:sp>
        <p:sp>
          <p:nvSpPr>
            <p:cNvPr id="12" name="Rectangle 11">
              <a:extLst>
                <a:ext uri="{FF2B5EF4-FFF2-40B4-BE49-F238E27FC236}">
                  <a16:creationId xmlns:a16="http://schemas.microsoft.com/office/drawing/2014/main" id="{AE95CE1F-A303-9911-5DAD-59A6D5EA802D}"/>
                </a:ext>
              </a:extLst>
            </p:cNvPr>
            <p:cNvSpPr/>
            <p:nvPr/>
          </p:nvSpPr>
          <p:spPr>
            <a:xfrm>
              <a:off x="4367085" y="6125669"/>
              <a:ext cx="1775643" cy="4324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chemeClr val="tx1"/>
                  </a:solidFill>
                  <a:latin typeface="Candara" panose="020E0502030303020204" pitchFamily="34" charset="0"/>
                </a:rPr>
                <a:t>Lead Time</a:t>
              </a:r>
            </a:p>
          </p:txBody>
        </p:sp>
        <p:sp>
          <p:nvSpPr>
            <p:cNvPr id="13" name="Rectangle 12">
              <a:extLst>
                <a:ext uri="{FF2B5EF4-FFF2-40B4-BE49-F238E27FC236}">
                  <a16:creationId xmlns:a16="http://schemas.microsoft.com/office/drawing/2014/main" id="{08120DC5-F2B6-C909-E0B3-809D0CE1C667}"/>
                </a:ext>
              </a:extLst>
            </p:cNvPr>
            <p:cNvSpPr/>
            <p:nvPr/>
          </p:nvSpPr>
          <p:spPr>
            <a:xfrm>
              <a:off x="2000715" y="1593040"/>
              <a:ext cx="818978" cy="588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Order Size, Q</a:t>
              </a:r>
            </a:p>
          </p:txBody>
        </p:sp>
        <p:sp>
          <p:nvSpPr>
            <p:cNvPr id="15" name="Rectangle 14">
              <a:extLst>
                <a:ext uri="{FF2B5EF4-FFF2-40B4-BE49-F238E27FC236}">
                  <a16:creationId xmlns:a16="http://schemas.microsoft.com/office/drawing/2014/main" id="{765C988F-183C-3C25-7002-0F46F94BA25B}"/>
                </a:ext>
              </a:extLst>
            </p:cNvPr>
            <p:cNvSpPr/>
            <p:nvPr/>
          </p:nvSpPr>
          <p:spPr>
            <a:xfrm>
              <a:off x="9304100" y="5007015"/>
              <a:ext cx="1091465" cy="2943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dirty="0">
                  <a:solidFill>
                    <a:schemeClr val="tx1"/>
                  </a:solidFill>
                  <a:latin typeface="Candara" panose="020E0502030303020204" pitchFamily="34" charset="0"/>
                </a:rPr>
                <a:t>Day</a:t>
              </a:r>
            </a:p>
          </p:txBody>
        </p:sp>
        <p:sp>
          <p:nvSpPr>
            <p:cNvPr id="16" name="Rectangle 15">
              <a:extLst>
                <a:ext uri="{FF2B5EF4-FFF2-40B4-BE49-F238E27FC236}">
                  <a16:creationId xmlns:a16="http://schemas.microsoft.com/office/drawing/2014/main" id="{4B330E2F-CC57-632E-AC0E-1FC1CF453ACD}"/>
                </a:ext>
              </a:extLst>
            </p:cNvPr>
            <p:cNvSpPr/>
            <p:nvPr/>
          </p:nvSpPr>
          <p:spPr>
            <a:xfrm>
              <a:off x="3288527" y="4892455"/>
              <a:ext cx="354249" cy="294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0</a:t>
              </a:r>
            </a:p>
          </p:txBody>
        </p:sp>
        <p:sp>
          <p:nvSpPr>
            <p:cNvPr id="17" name="Rectangle 16">
              <a:extLst>
                <a:ext uri="{FF2B5EF4-FFF2-40B4-BE49-F238E27FC236}">
                  <a16:creationId xmlns:a16="http://schemas.microsoft.com/office/drawing/2014/main" id="{2FDC5DB5-830D-D738-55C2-4EB50243B056}"/>
                </a:ext>
              </a:extLst>
            </p:cNvPr>
            <p:cNvSpPr/>
            <p:nvPr/>
          </p:nvSpPr>
          <p:spPr>
            <a:xfrm>
              <a:off x="4532217" y="4883027"/>
              <a:ext cx="354249" cy="294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5</a:t>
              </a:r>
            </a:p>
          </p:txBody>
        </p:sp>
        <p:sp>
          <p:nvSpPr>
            <p:cNvPr id="18" name="Rectangle 17">
              <a:extLst>
                <a:ext uri="{FF2B5EF4-FFF2-40B4-BE49-F238E27FC236}">
                  <a16:creationId xmlns:a16="http://schemas.microsoft.com/office/drawing/2014/main" id="{E8CC9DB4-29C7-20E2-6615-883ECD89CDC0}"/>
                </a:ext>
              </a:extLst>
            </p:cNvPr>
            <p:cNvSpPr/>
            <p:nvPr/>
          </p:nvSpPr>
          <p:spPr>
            <a:xfrm>
              <a:off x="5651074" y="4883027"/>
              <a:ext cx="354249" cy="294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7</a:t>
              </a:r>
            </a:p>
          </p:txBody>
        </p:sp>
        <p:sp>
          <p:nvSpPr>
            <p:cNvPr id="19" name="Rectangle 18">
              <a:extLst>
                <a:ext uri="{FF2B5EF4-FFF2-40B4-BE49-F238E27FC236}">
                  <a16:creationId xmlns:a16="http://schemas.microsoft.com/office/drawing/2014/main" id="{969FAFA8-E865-2D47-77BF-8F286226C9A1}"/>
                </a:ext>
              </a:extLst>
            </p:cNvPr>
            <p:cNvSpPr/>
            <p:nvPr/>
          </p:nvSpPr>
          <p:spPr>
            <a:xfrm>
              <a:off x="6845200" y="4892455"/>
              <a:ext cx="457200" cy="294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12</a:t>
              </a:r>
            </a:p>
          </p:txBody>
        </p:sp>
        <p:sp>
          <p:nvSpPr>
            <p:cNvPr id="20" name="Rectangle 19">
              <a:extLst>
                <a:ext uri="{FF2B5EF4-FFF2-40B4-BE49-F238E27FC236}">
                  <a16:creationId xmlns:a16="http://schemas.microsoft.com/office/drawing/2014/main" id="{BB2ECECC-C718-6B05-0A9D-B042AA0B2B3E}"/>
                </a:ext>
              </a:extLst>
            </p:cNvPr>
            <p:cNvSpPr/>
            <p:nvPr/>
          </p:nvSpPr>
          <p:spPr>
            <a:xfrm>
              <a:off x="7873960" y="4883027"/>
              <a:ext cx="457200" cy="294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14</a:t>
              </a:r>
            </a:p>
          </p:txBody>
        </p:sp>
        <p:sp>
          <p:nvSpPr>
            <p:cNvPr id="22" name="Rectangle 21">
              <a:extLst>
                <a:ext uri="{FF2B5EF4-FFF2-40B4-BE49-F238E27FC236}">
                  <a16:creationId xmlns:a16="http://schemas.microsoft.com/office/drawing/2014/main" id="{C877D519-6DA7-F188-C9C8-52A1A7CB6549}"/>
                </a:ext>
              </a:extLst>
            </p:cNvPr>
            <p:cNvSpPr/>
            <p:nvPr/>
          </p:nvSpPr>
          <p:spPr>
            <a:xfrm>
              <a:off x="2000714" y="2141358"/>
              <a:ext cx="946766" cy="588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sz="1400" dirty="0">
                <a:solidFill>
                  <a:schemeClr val="tx1"/>
                </a:solidFill>
                <a:latin typeface="Candara" panose="020E0502030303020204" pitchFamily="34" charset="0"/>
              </a:endParaRPr>
            </a:p>
          </p:txBody>
        </p:sp>
      </p:grpSp>
      <p:sp>
        <p:nvSpPr>
          <p:cNvPr id="24" name="Rectangle 23">
            <a:extLst>
              <a:ext uri="{FF2B5EF4-FFF2-40B4-BE49-F238E27FC236}">
                <a16:creationId xmlns:a16="http://schemas.microsoft.com/office/drawing/2014/main" id="{D5DC59EA-D59C-AB44-2995-F70E46C904C3}"/>
              </a:ext>
            </a:extLst>
          </p:cNvPr>
          <p:cNvSpPr/>
          <p:nvPr/>
        </p:nvSpPr>
        <p:spPr>
          <a:xfrm>
            <a:off x="8670762" y="2104201"/>
            <a:ext cx="3335889" cy="3105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chemeClr val="tx1"/>
                </a:solidFill>
                <a:latin typeface="Candara" panose="020E0502030303020204" pitchFamily="34" charset="0"/>
              </a:rPr>
              <a:t>Order Size, Q </a:t>
            </a:r>
          </a:p>
          <a:p>
            <a:pPr algn="ctr"/>
            <a:r>
              <a:rPr lang="en-US" altLang="en-US" dirty="0">
                <a:solidFill>
                  <a:schemeClr val="tx1"/>
                </a:solidFill>
                <a:latin typeface="Candara" panose="020E0502030303020204" pitchFamily="34" charset="0"/>
              </a:rPr>
              <a:t>350 Units</a:t>
            </a:r>
          </a:p>
          <a:p>
            <a:pPr algn="ctr"/>
            <a:endParaRPr lang="en-US" altLang="en-US" dirty="0">
              <a:solidFill>
                <a:schemeClr val="tx1"/>
              </a:solidFill>
              <a:latin typeface="Candara" panose="020E0502030303020204" pitchFamily="34" charset="0"/>
            </a:endParaRPr>
          </a:p>
          <a:p>
            <a:pPr algn="ctr"/>
            <a:r>
              <a:rPr lang="en-US" altLang="en-US" b="1" dirty="0">
                <a:solidFill>
                  <a:schemeClr val="tx1"/>
                </a:solidFill>
                <a:latin typeface="Candara" panose="020E0502030303020204" pitchFamily="34" charset="0"/>
              </a:rPr>
              <a:t>Usage rate </a:t>
            </a:r>
          </a:p>
          <a:p>
            <a:pPr algn="ctr"/>
            <a:r>
              <a:rPr lang="en-US" altLang="en-US" dirty="0">
                <a:solidFill>
                  <a:schemeClr val="tx1"/>
                </a:solidFill>
                <a:latin typeface="Candara" panose="020E0502030303020204" pitchFamily="34" charset="0"/>
              </a:rPr>
              <a:t>50 Units per day</a:t>
            </a:r>
          </a:p>
          <a:p>
            <a:pPr algn="ctr"/>
            <a:endParaRPr lang="en-US" altLang="en-US" dirty="0">
              <a:solidFill>
                <a:schemeClr val="tx1"/>
              </a:solidFill>
              <a:latin typeface="Candara" panose="020E0502030303020204" pitchFamily="34" charset="0"/>
            </a:endParaRPr>
          </a:p>
          <a:p>
            <a:pPr algn="ctr"/>
            <a:r>
              <a:rPr lang="en-US" altLang="en-US" b="1" dirty="0">
                <a:solidFill>
                  <a:schemeClr val="tx1"/>
                </a:solidFill>
                <a:latin typeface="Candara" panose="020E0502030303020204" pitchFamily="34" charset="0"/>
              </a:rPr>
              <a:t>Lead time</a:t>
            </a:r>
          </a:p>
          <a:p>
            <a:pPr algn="ctr"/>
            <a:r>
              <a:rPr lang="en-US" altLang="en-US" dirty="0">
                <a:solidFill>
                  <a:schemeClr val="tx1"/>
                </a:solidFill>
                <a:latin typeface="Candara" panose="020E0502030303020204" pitchFamily="34" charset="0"/>
              </a:rPr>
              <a:t>2 days</a:t>
            </a:r>
          </a:p>
          <a:p>
            <a:pPr algn="ctr"/>
            <a:endParaRPr lang="en-US" altLang="en-US" dirty="0">
              <a:solidFill>
                <a:schemeClr val="tx1"/>
              </a:solidFill>
              <a:latin typeface="Candara" panose="020E0502030303020204" pitchFamily="34" charset="0"/>
            </a:endParaRPr>
          </a:p>
          <a:p>
            <a:pPr algn="ctr"/>
            <a:r>
              <a:rPr lang="en-US" altLang="en-US" b="1" dirty="0">
                <a:solidFill>
                  <a:schemeClr val="tx1"/>
                </a:solidFill>
                <a:latin typeface="Candara" panose="020E0502030303020204" pitchFamily="34" charset="0"/>
              </a:rPr>
              <a:t>Reorder point</a:t>
            </a:r>
          </a:p>
          <a:p>
            <a:pPr algn="ctr"/>
            <a:r>
              <a:rPr lang="en-US" altLang="en-US" dirty="0">
                <a:solidFill>
                  <a:schemeClr val="tx1"/>
                </a:solidFill>
                <a:latin typeface="Candara" panose="020E0502030303020204" pitchFamily="34" charset="0"/>
              </a:rPr>
              <a:t>100 units (2 days supply)</a:t>
            </a:r>
          </a:p>
        </p:txBody>
      </p:sp>
    </p:spTree>
    <p:extLst>
      <p:ext uri="{BB962C8B-B14F-4D97-AF65-F5344CB8AC3E}">
        <p14:creationId xmlns:p14="http://schemas.microsoft.com/office/powerpoint/2010/main" val="4285588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Inventory Cost Curves</a:t>
            </a:r>
          </a:p>
        </p:txBody>
      </p:sp>
      <p:grpSp>
        <p:nvGrpSpPr>
          <p:cNvPr id="23555" name="Group 23554">
            <a:extLst>
              <a:ext uri="{FF2B5EF4-FFF2-40B4-BE49-F238E27FC236}">
                <a16:creationId xmlns:a16="http://schemas.microsoft.com/office/drawing/2014/main" id="{0AF740AB-0099-DCA4-A181-D0EE729299F1}"/>
              </a:ext>
            </a:extLst>
          </p:cNvPr>
          <p:cNvGrpSpPr/>
          <p:nvPr/>
        </p:nvGrpSpPr>
        <p:grpSpPr>
          <a:xfrm>
            <a:off x="467618" y="1757848"/>
            <a:ext cx="7700764" cy="4811486"/>
            <a:chOff x="1998408" y="1554648"/>
            <a:chExt cx="7700764" cy="4811486"/>
          </a:xfrm>
        </p:grpSpPr>
        <p:grpSp>
          <p:nvGrpSpPr>
            <p:cNvPr id="14" name="Group 13">
              <a:extLst>
                <a:ext uri="{FF2B5EF4-FFF2-40B4-BE49-F238E27FC236}">
                  <a16:creationId xmlns:a16="http://schemas.microsoft.com/office/drawing/2014/main" id="{ACDD6A8A-5962-5D86-0EE3-2C6D72F677CF}"/>
                </a:ext>
              </a:extLst>
            </p:cNvPr>
            <p:cNvGrpSpPr/>
            <p:nvPr/>
          </p:nvGrpSpPr>
          <p:grpSpPr>
            <a:xfrm>
              <a:off x="2492828" y="1554648"/>
              <a:ext cx="7206344" cy="4811486"/>
              <a:chOff x="2743200" y="1589315"/>
              <a:chExt cx="7206344" cy="4811486"/>
            </a:xfrm>
          </p:grpSpPr>
          <p:pic>
            <p:nvPicPr>
              <p:cNvPr id="23554" name="Picture 2" descr="Inventory Control Models - ppt download">
                <a:extLst>
                  <a:ext uri="{FF2B5EF4-FFF2-40B4-BE49-F238E27FC236}">
                    <a16:creationId xmlns:a16="http://schemas.microsoft.com/office/drawing/2014/main" id="{3377E859-7A50-03FA-0BD9-8E1A09881B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024" t="24128" r="9166" b="5714"/>
              <a:stretch/>
            </p:blipFill>
            <p:spPr bwMode="auto">
              <a:xfrm>
                <a:off x="2743200" y="1589315"/>
                <a:ext cx="7206344" cy="48114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704112A-C51B-616F-A8A3-8A9871849FE9}"/>
                  </a:ext>
                </a:extLst>
              </p:cNvPr>
              <p:cNvSpPr/>
              <p:nvPr/>
            </p:nvSpPr>
            <p:spPr>
              <a:xfrm>
                <a:off x="2743200" y="5693229"/>
                <a:ext cx="1197429" cy="7075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A175F7C2-4EB5-493E-BB46-A50B772A68E2}"/>
                </a:ext>
              </a:extLst>
            </p:cNvPr>
            <p:cNvSpPr/>
            <p:nvPr/>
          </p:nvSpPr>
          <p:spPr>
            <a:xfrm>
              <a:off x="4681151" y="5471789"/>
              <a:ext cx="1501937" cy="8636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Optimal Order Quantity</a:t>
              </a:r>
            </a:p>
          </p:txBody>
        </p:sp>
        <p:sp>
          <p:nvSpPr>
            <p:cNvPr id="25" name="Rectangle 24">
              <a:extLst>
                <a:ext uri="{FF2B5EF4-FFF2-40B4-BE49-F238E27FC236}">
                  <a16:creationId xmlns:a16="http://schemas.microsoft.com/office/drawing/2014/main" id="{B381A7BE-9C33-F326-7EE9-705999A6B524}"/>
                </a:ext>
              </a:extLst>
            </p:cNvPr>
            <p:cNvSpPr/>
            <p:nvPr/>
          </p:nvSpPr>
          <p:spPr>
            <a:xfrm>
              <a:off x="7941714" y="5475369"/>
              <a:ext cx="1757458" cy="406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b="1" dirty="0">
                  <a:solidFill>
                    <a:schemeClr val="tx1"/>
                  </a:solidFill>
                  <a:latin typeface="Candara" panose="020E0502030303020204" pitchFamily="34" charset="0"/>
                </a:rPr>
                <a:t>Order Quantity</a:t>
              </a:r>
            </a:p>
          </p:txBody>
        </p:sp>
        <p:sp>
          <p:nvSpPr>
            <p:cNvPr id="26" name="Rectangle 25">
              <a:extLst>
                <a:ext uri="{FF2B5EF4-FFF2-40B4-BE49-F238E27FC236}">
                  <a16:creationId xmlns:a16="http://schemas.microsoft.com/office/drawing/2014/main" id="{3FB82859-BDDD-6F1B-72E1-C0B939480036}"/>
                </a:ext>
              </a:extLst>
            </p:cNvPr>
            <p:cNvSpPr/>
            <p:nvPr/>
          </p:nvSpPr>
          <p:spPr>
            <a:xfrm>
              <a:off x="2873829" y="1730684"/>
              <a:ext cx="539428" cy="406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b="1" dirty="0">
                  <a:solidFill>
                    <a:schemeClr val="tx1"/>
                  </a:solidFill>
                  <a:latin typeface="Candara" panose="020E0502030303020204" pitchFamily="34" charset="0"/>
                </a:rPr>
                <a:t>Cost</a:t>
              </a:r>
            </a:p>
          </p:txBody>
        </p:sp>
        <p:sp>
          <p:nvSpPr>
            <p:cNvPr id="27" name="Rectangle 26">
              <a:extLst>
                <a:ext uri="{FF2B5EF4-FFF2-40B4-BE49-F238E27FC236}">
                  <a16:creationId xmlns:a16="http://schemas.microsoft.com/office/drawing/2014/main" id="{DE183007-FFF3-D940-D2B6-E541DF04DA59}"/>
                </a:ext>
              </a:extLst>
            </p:cNvPr>
            <p:cNvSpPr/>
            <p:nvPr/>
          </p:nvSpPr>
          <p:spPr>
            <a:xfrm>
              <a:off x="1998408" y="2744918"/>
              <a:ext cx="1501937" cy="8636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tx1"/>
                  </a:solidFill>
                  <a:latin typeface="Candara" panose="020E0502030303020204" pitchFamily="34" charset="0"/>
                </a:rPr>
                <a:t>Minimum Total Cost</a:t>
              </a:r>
            </a:p>
          </p:txBody>
        </p:sp>
        <p:sp>
          <p:nvSpPr>
            <p:cNvPr id="28" name="Rectangle 27">
              <a:extLst>
                <a:ext uri="{FF2B5EF4-FFF2-40B4-BE49-F238E27FC236}">
                  <a16:creationId xmlns:a16="http://schemas.microsoft.com/office/drawing/2014/main" id="{DE3F5EDD-0E40-36A7-A3E4-D7B2447D6232}"/>
                </a:ext>
              </a:extLst>
            </p:cNvPr>
            <p:cNvSpPr/>
            <p:nvPr/>
          </p:nvSpPr>
          <p:spPr>
            <a:xfrm>
              <a:off x="7133448" y="4182510"/>
              <a:ext cx="2402438" cy="5201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0297DC"/>
                  </a:solidFill>
                  <a:latin typeface="Candara" panose="020E0502030303020204" pitchFamily="34" charset="0"/>
                </a:rPr>
                <a:t>Ordering Cost Curve</a:t>
              </a:r>
            </a:p>
          </p:txBody>
        </p:sp>
        <p:sp>
          <p:nvSpPr>
            <p:cNvPr id="29" name="Rectangle 28">
              <a:extLst>
                <a:ext uri="{FF2B5EF4-FFF2-40B4-BE49-F238E27FC236}">
                  <a16:creationId xmlns:a16="http://schemas.microsoft.com/office/drawing/2014/main" id="{9E162776-A196-5B7F-64C6-82E3E69D91B5}"/>
                </a:ext>
              </a:extLst>
            </p:cNvPr>
            <p:cNvSpPr/>
            <p:nvPr/>
          </p:nvSpPr>
          <p:spPr>
            <a:xfrm>
              <a:off x="7261355" y="3662973"/>
              <a:ext cx="2402438" cy="4318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CE8E0C"/>
                  </a:solidFill>
                  <a:latin typeface="Candara" panose="020E0502030303020204" pitchFamily="34" charset="0"/>
                </a:rPr>
                <a:t>Holding (carrying) Cost Curve</a:t>
              </a:r>
            </a:p>
          </p:txBody>
        </p:sp>
        <p:sp>
          <p:nvSpPr>
            <p:cNvPr id="30" name="Rectangle 29">
              <a:extLst>
                <a:ext uri="{FF2B5EF4-FFF2-40B4-BE49-F238E27FC236}">
                  <a16:creationId xmlns:a16="http://schemas.microsoft.com/office/drawing/2014/main" id="{509464BE-3921-F6F5-248E-20E86BDA8543}"/>
                </a:ext>
              </a:extLst>
            </p:cNvPr>
            <p:cNvSpPr/>
            <p:nvPr/>
          </p:nvSpPr>
          <p:spPr>
            <a:xfrm>
              <a:off x="4561698" y="1933932"/>
              <a:ext cx="2402438" cy="8109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rgbClr val="09C412"/>
                  </a:solidFill>
                  <a:latin typeface="Candara" panose="020E0502030303020204" pitchFamily="34" charset="0"/>
                </a:rPr>
                <a:t>Total Cost </a:t>
              </a:r>
            </a:p>
            <a:p>
              <a:pPr algn="ctr"/>
              <a:r>
                <a:rPr lang="en-US" altLang="en-US" b="1" dirty="0">
                  <a:solidFill>
                    <a:srgbClr val="09C412"/>
                  </a:solidFill>
                  <a:latin typeface="Candara" panose="020E0502030303020204" pitchFamily="34" charset="0"/>
                </a:rPr>
                <a:t>Curve</a:t>
              </a:r>
            </a:p>
          </p:txBody>
        </p:sp>
        <p:sp>
          <p:nvSpPr>
            <p:cNvPr id="31" name="Rectangle 30">
              <a:extLst>
                <a:ext uri="{FF2B5EF4-FFF2-40B4-BE49-F238E27FC236}">
                  <a16:creationId xmlns:a16="http://schemas.microsoft.com/office/drawing/2014/main" id="{8CFA3920-573D-1436-4E28-0201D604E506}"/>
                </a:ext>
              </a:extLst>
            </p:cNvPr>
            <p:cNvSpPr/>
            <p:nvPr/>
          </p:nvSpPr>
          <p:spPr>
            <a:xfrm rot="1370553">
              <a:off x="6041539" y="2800739"/>
              <a:ext cx="995490" cy="717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b="1" dirty="0">
                <a:solidFill>
                  <a:srgbClr val="09C412"/>
                </a:solidFill>
                <a:latin typeface="Candara" panose="020E0502030303020204" pitchFamily="34" charset="0"/>
              </a:endParaRPr>
            </a:p>
          </p:txBody>
        </p:sp>
        <p:sp>
          <p:nvSpPr>
            <p:cNvPr id="23552" name="Rectangle 23551">
              <a:extLst>
                <a:ext uri="{FF2B5EF4-FFF2-40B4-BE49-F238E27FC236}">
                  <a16:creationId xmlns:a16="http://schemas.microsoft.com/office/drawing/2014/main" id="{E9718867-A002-A6A9-BDD6-AE0349EF2CD4}"/>
                </a:ext>
              </a:extLst>
            </p:cNvPr>
            <p:cNvSpPr/>
            <p:nvPr/>
          </p:nvSpPr>
          <p:spPr>
            <a:xfrm rot="1596400">
              <a:off x="7636520" y="3517285"/>
              <a:ext cx="607132" cy="539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b="1" dirty="0">
                <a:solidFill>
                  <a:srgbClr val="09C412"/>
                </a:solidFill>
                <a:latin typeface="Candara" panose="020E0502030303020204" pitchFamily="34" charset="0"/>
              </a:endParaRPr>
            </a:p>
          </p:txBody>
        </p:sp>
        <p:sp>
          <p:nvSpPr>
            <p:cNvPr id="23553" name="Rectangle 23552">
              <a:extLst>
                <a:ext uri="{FF2B5EF4-FFF2-40B4-BE49-F238E27FC236}">
                  <a16:creationId xmlns:a16="http://schemas.microsoft.com/office/drawing/2014/main" id="{7B7DE699-820B-900D-BDCD-D79C5401BF2D}"/>
                </a:ext>
              </a:extLst>
            </p:cNvPr>
            <p:cNvSpPr/>
            <p:nvPr/>
          </p:nvSpPr>
          <p:spPr>
            <a:xfrm rot="340954">
              <a:off x="7836334" y="4660267"/>
              <a:ext cx="285011" cy="199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b="1" dirty="0">
                <a:solidFill>
                  <a:srgbClr val="09C412"/>
                </a:solidFill>
                <a:latin typeface="Candara" panose="020E0502030303020204" pitchFamily="34" charset="0"/>
              </a:endParaRPr>
            </a:p>
          </p:txBody>
        </p:sp>
      </p:grpSp>
      <mc:AlternateContent xmlns:mc="http://schemas.openxmlformats.org/markup-compatibility/2006" xmlns:a14="http://schemas.microsoft.com/office/drawing/2010/main">
        <mc:Choice Requires="a14">
          <p:sp>
            <p:nvSpPr>
              <p:cNvPr id="23556" name="Rectangle 23555">
                <a:extLst>
                  <a:ext uri="{FF2B5EF4-FFF2-40B4-BE49-F238E27FC236}">
                    <a16:creationId xmlns:a16="http://schemas.microsoft.com/office/drawing/2014/main" id="{76AE5C3E-33C7-5905-5C82-561444AE95ED}"/>
                  </a:ext>
                </a:extLst>
              </p:cNvPr>
              <p:cNvSpPr/>
              <p:nvPr/>
            </p:nvSpPr>
            <p:spPr>
              <a:xfrm>
                <a:off x="8400318" y="2175536"/>
                <a:ext cx="3366535" cy="240885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b="1" dirty="0">
                    <a:solidFill>
                      <a:schemeClr val="tx1"/>
                    </a:solidFill>
                    <a:latin typeface="Candara" panose="020E0502030303020204" pitchFamily="34" charset="0"/>
                  </a:rPr>
                  <a:t>Holding (Carrying) Cost </a:t>
                </a:r>
                <a:r>
                  <a:rPr lang="en-US" altLang="en-US" sz="2400" dirty="0">
                    <a:solidFill>
                      <a:schemeClr val="tx1"/>
                    </a:solidFill>
                    <a:latin typeface="Candara" panose="020E0502030303020204" pitchFamily="34" charset="0"/>
                  </a:rPr>
                  <a:t>= </a:t>
                </a:r>
                <a14:m>
                  <m:oMath xmlns:m="http://schemas.openxmlformats.org/officeDocument/2006/math">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𝑄</m:t>
                        </m:r>
                      </m:num>
                      <m:den>
                        <m:r>
                          <a:rPr lang="en-US" altLang="en-US" sz="2400" b="0" i="1" smtClean="0">
                            <a:solidFill>
                              <a:schemeClr val="tx1"/>
                            </a:solidFill>
                            <a:latin typeface="Cambria Math" panose="02040503050406030204" pitchFamily="18" charset="0"/>
                          </a:rPr>
                          <m:t>2</m:t>
                        </m:r>
                      </m:den>
                    </m:f>
                    <m:r>
                      <a:rPr lang="en-US" altLang="en-US" sz="2400" b="0" i="1" smtClean="0">
                        <a:solidFill>
                          <a:schemeClr val="tx1"/>
                        </a:solidFill>
                        <a:latin typeface="Cambria Math" panose="02040503050406030204" pitchFamily="18" charset="0"/>
                      </a:rPr>
                      <m:t>𝐻</m:t>
                    </m:r>
                  </m:oMath>
                </a14:m>
                <a:endParaRPr lang="en-US" altLang="en-US" dirty="0">
                  <a:solidFill>
                    <a:schemeClr val="tx1"/>
                  </a:solidFill>
                  <a:latin typeface="Candara" panose="020E0502030303020204" pitchFamily="34" charset="0"/>
                </a:endParaRPr>
              </a:p>
              <a:p>
                <a:pPr algn="ctr"/>
                <a:endParaRPr lang="en-US" altLang="en-US" dirty="0">
                  <a:solidFill>
                    <a:schemeClr val="tx1"/>
                  </a:solidFill>
                  <a:latin typeface="Candara" panose="020E0502030303020204" pitchFamily="34" charset="0"/>
                </a:endParaRPr>
              </a:p>
              <a:p>
                <a:pPr algn="ctr"/>
                <a:r>
                  <a:rPr lang="en-US" altLang="en-US" b="1" dirty="0">
                    <a:solidFill>
                      <a:schemeClr val="tx1"/>
                    </a:solidFill>
                    <a:latin typeface="Candara" panose="020E0502030303020204" pitchFamily="34" charset="0"/>
                  </a:rPr>
                  <a:t>Ordering Cost </a:t>
                </a:r>
                <a:r>
                  <a:rPr lang="en-US" altLang="en-US" sz="2400" dirty="0">
                    <a:solidFill>
                      <a:schemeClr val="tx1"/>
                    </a:solidFill>
                    <a:latin typeface="Candara" panose="020E0502030303020204" pitchFamily="34" charset="0"/>
                  </a:rPr>
                  <a:t>= </a:t>
                </a:r>
                <a14:m>
                  <m:oMath xmlns:m="http://schemas.openxmlformats.org/officeDocument/2006/math">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𝐷</m:t>
                        </m:r>
                      </m:num>
                      <m:den>
                        <m:r>
                          <a:rPr lang="en-US" altLang="en-US" sz="2400" b="0" i="1" smtClean="0">
                            <a:solidFill>
                              <a:schemeClr val="tx1"/>
                            </a:solidFill>
                            <a:latin typeface="Cambria Math" panose="02040503050406030204" pitchFamily="18" charset="0"/>
                          </a:rPr>
                          <m:t>𝑄</m:t>
                        </m:r>
                      </m:den>
                    </m:f>
                    <m:r>
                      <a:rPr lang="en-US" altLang="en-US" sz="2400" b="0" i="1" smtClean="0">
                        <a:solidFill>
                          <a:schemeClr val="tx1"/>
                        </a:solidFill>
                        <a:latin typeface="Cambria Math" panose="02040503050406030204" pitchFamily="18" charset="0"/>
                      </a:rPr>
                      <m:t>𝑆</m:t>
                    </m:r>
                  </m:oMath>
                </a14:m>
                <a:endParaRPr lang="en-US" altLang="en-US" sz="2400" b="0" dirty="0">
                  <a:solidFill>
                    <a:schemeClr val="tx1"/>
                  </a:solidFill>
                  <a:latin typeface="Candara" panose="020E0502030303020204" pitchFamily="34" charset="0"/>
                </a:endParaRPr>
              </a:p>
              <a:p>
                <a:pPr algn="ctr"/>
                <a:endParaRPr lang="en-US" altLang="en-US" dirty="0">
                  <a:solidFill>
                    <a:schemeClr val="tx1"/>
                  </a:solidFill>
                  <a:latin typeface="Candara" panose="020E0502030303020204" pitchFamily="34" charset="0"/>
                </a:endParaRPr>
              </a:p>
              <a:p>
                <a:pPr algn="ctr"/>
                <a:r>
                  <a:rPr lang="en-US" altLang="en-US" b="1" dirty="0">
                    <a:solidFill>
                      <a:schemeClr val="tx1"/>
                    </a:solidFill>
                    <a:latin typeface="Candara" panose="020E0502030303020204" pitchFamily="34" charset="0"/>
                  </a:rPr>
                  <a:t>Total Cost </a:t>
                </a:r>
                <a:r>
                  <a:rPr lang="en-US" altLang="en-US" sz="2400" dirty="0">
                    <a:solidFill>
                      <a:schemeClr val="tx1"/>
                    </a:solidFill>
                    <a:latin typeface="Candara" panose="020E0502030303020204" pitchFamily="34" charset="0"/>
                  </a:rPr>
                  <a:t>=</a:t>
                </a:r>
                <a14:m>
                  <m:oMath xmlns:m="http://schemas.openxmlformats.org/officeDocument/2006/math">
                    <m:r>
                      <a:rPr lang="en-US" altLang="en-US" sz="2400" b="0" i="0" smtClean="0">
                        <a:solidFill>
                          <a:schemeClr val="tx1"/>
                        </a:solidFill>
                        <a:latin typeface="Cambria Math" panose="02040503050406030204" pitchFamily="18" charset="0"/>
                      </a:rPr>
                      <m:t> </m:t>
                    </m:r>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𝑄</m:t>
                        </m:r>
                      </m:num>
                      <m:den>
                        <m:r>
                          <a:rPr lang="en-US" altLang="en-US" sz="2400" b="0" i="1" smtClean="0">
                            <a:solidFill>
                              <a:schemeClr val="tx1"/>
                            </a:solidFill>
                            <a:latin typeface="Cambria Math" panose="02040503050406030204" pitchFamily="18" charset="0"/>
                          </a:rPr>
                          <m:t>2</m:t>
                        </m:r>
                      </m:den>
                    </m:f>
                    <m:r>
                      <a:rPr lang="en-US" altLang="en-US" sz="2400" b="0" i="1" smtClean="0">
                        <a:solidFill>
                          <a:schemeClr val="tx1"/>
                        </a:solidFill>
                        <a:latin typeface="Cambria Math" panose="02040503050406030204" pitchFamily="18" charset="0"/>
                      </a:rPr>
                      <m:t>𝐻</m:t>
                    </m:r>
                    <m:r>
                      <a:rPr lang="en-US" altLang="en-US" sz="2400" b="0" i="0" smtClean="0">
                        <a:solidFill>
                          <a:schemeClr val="tx1"/>
                        </a:solidFill>
                        <a:latin typeface="Cambria Math" panose="02040503050406030204" pitchFamily="18" charset="0"/>
                      </a:rPr>
                      <m:t>+</m:t>
                    </m:r>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𝐷</m:t>
                        </m:r>
                      </m:num>
                      <m:den>
                        <m:r>
                          <a:rPr lang="en-US" altLang="en-US" sz="2400" b="0" i="1" smtClean="0">
                            <a:solidFill>
                              <a:schemeClr val="tx1"/>
                            </a:solidFill>
                            <a:latin typeface="Cambria Math" panose="02040503050406030204" pitchFamily="18" charset="0"/>
                          </a:rPr>
                          <m:t>𝑄</m:t>
                        </m:r>
                      </m:den>
                    </m:f>
                    <m:r>
                      <a:rPr lang="en-US" altLang="en-US" sz="2400" b="0" i="1" smtClean="0">
                        <a:solidFill>
                          <a:schemeClr val="tx1"/>
                        </a:solidFill>
                        <a:latin typeface="Cambria Math" panose="02040503050406030204" pitchFamily="18" charset="0"/>
                      </a:rPr>
                      <m:t>𝑆</m:t>
                    </m:r>
                  </m:oMath>
                </a14:m>
                <a:endParaRPr lang="en-US" altLang="en-US" dirty="0">
                  <a:solidFill>
                    <a:schemeClr val="tx1"/>
                  </a:solidFill>
                  <a:latin typeface="Candara" panose="020E0502030303020204" pitchFamily="34" charset="0"/>
                </a:endParaRPr>
              </a:p>
              <a:p>
                <a:pPr algn="ctr"/>
                <a:endParaRPr lang="en-US" altLang="en-US" dirty="0">
                  <a:solidFill>
                    <a:schemeClr val="tx1"/>
                  </a:solidFill>
                  <a:latin typeface="Candara" panose="020E0502030303020204" pitchFamily="34" charset="0"/>
                </a:endParaRPr>
              </a:p>
            </p:txBody>
          </p:sp>
        </mc:Choice>
        <mc:Fallback xmlns="">
          <p:sp>
            <p:nvSpPr>
              <p:cNvPr id="23556" name="Rectangle 23555">
                <a:extLst>
                  <a:ext uri="{FF2B5EF4-FFF2-40B4-BE49-F238E27FC236}">
                    <a16:creationId xmlns:a16="http://schemas.microsoft.com/office/drawing/2014/main" id="{76AE5C3E-33C7-5905-5C82-561444AE95ED}"/>
                  </a:ext>
                </a:extLst>
              </p:cNvPr>
              <p:cNvSpPr>
                <a:spLocks noRot="1" noChangeAspect="1" noMove="1" noResize="1" noEditPoints="1" noAdjustHandles="1" noChangeArrowheads="1" noChangeShapeType="1" noTextEdit="1"/>
              </p:cNvSpPr>
              <p:nvPr/>
            </p:nvSpPr>
            <p:spPr>
              <a:xfrm>
                <a:off x="8400318" y="2175536"/>
                <a:ext cx="3366535" cy="2408859"/>
              </a:xfrm>
              <a:prstGeom prst="rect">
                <a:avLst/>
              </a:prstGeom>
              <a:blipFill>
                <a:blip r:embed="rId3"/>
                <a:stretch>
                  <a:fillRect t="-1772"/>
                </a:stretch>
              </a:blipFill>
              <a:ln>
                <a:noFill/>
              </a:ln>
            </p:spPr>
            <p:txBody>
              <a:bodyPr/>
              <a:lstStyle/>
              <a:p>
                <a:r>
                  <a:rPr lang="en-US">
                    <a:noFill/>
                  </a:rPr>
                  <a:t> </a:t>
                </a:r>
              </a:p>
            </p:txBody>
          </p:sp>
        </mc:Fallback>
      </mc:AlternateContent>
      <p:sp>
        <p:nvSpPr>
          <p:cNvPr id="23557" name="Rectangle 23556">
            <a:extLst>
              <a:ext uri="{FF2B5EF4-FFF2-40B4-BE49-F238E27FC236}">
                <a16:creationId xmlns:a16="http://schemas.microsoft.com/office/drawing/2014/main" id="{45BD8F60-8FDE-FC02-8FEE-EF39C113393A}"/>
              </a:ext>
            </a:extLst>
          </p:cNvPr>
          <p:cNvSpPr/>
          <p:nvPr/>
        </p:nvSpPr>
        <p:spPr>
          <a:xfrm>
            <a:off x="8314615" y="4785967"/>
            <a:ext cx="3537940" cy="14005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dirty="0">
                <a:solidFill>
                  <a:schemeClr val="tx1"/>
                </a:solidFill>
                <a:latin typeface="Candara" panose="020E0502030303020204" pitchFamily="34" charset="0"/>
              </a:rPr>
              <a:t>Q = Order Quantity</a:t>
            </a:r>
          </a:p>
          <a:p>
            <a:r>
              <a:rPr lang="en-US" altLang="en-US" dirty="0">
                <a:solidFill>
                  <a:schemeClr val="tx1"/>
                </a:solidFill>
                <a:latin typeface="Candara" panose="020E0502030303020204" pitchFamily="34" charset="0"/>
              </a:rPr>
              <a:t>H = Holding Cost per Unit per Year</a:t>
            </a:r>
          </a:p>
          <a:p>
            <a:r>
              <a:rPr lang="en-US" altLang="en-US" dirty="0">
                <a:solidFill>
                  <a:schemeClr val="tx1"/>
                </a:solidFill>
                <a:latin typeface="Candara" panose="020E0502030303020204" pitchFamily="34" charset="0"/>
              </a:rPr>
              <a:t>D = Demand per Year</a:t>
            </a:r>
          </a:p>
          <a:p>
            <a:r>
              <a:rPr lang="en-US" altLang="en-US" dirty="0">
                <a:solidFill>
                  <a:schemeClr val="tx1"/>
                </a:solidFill>
                <a:latin typeface="Candara" panose="020E0502030303020204" pitchFamily="34" charset="0"/>
              </a:rPr>
              <a:t>S = Ordering Cost per Order</a:t>
            </a:r>
          </a:p>
        </p:txBody>
      </p:sp>
    </p:spTree>
    <p:extLst>
      <p:ext uri="{BB962C8B-B14F-4D97-AF65-F5344CB8AC3E}">
        <p14:creationId xmlns:p14="http://schemas.microsoft.com/office/powerpoint/2010/main" val="2302823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2000"/>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F33411-A54A-8BE9-D24E-9527788CEC18}"/>
              </a:ext>
            </a:extLst>
          </p:cNvPr>
          <p:cNvSpPr/>
          <p:nvPr/>
        </p:nvSpPr>
        <p:spPr>
          <a:xfrm>
            <a:off x="2240280" y="1"/>
            <a:ext cx="9951720" cy="838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4400" b="1" dirty="0">
                <a:solidFill>
                  <a:schemeClr val="bg1"/>
                </a:solidFill>
                <a:latin typeface="Candara" panose="020E0502030303020204" pitchFamily="34" charset="0"/>
              </a:rPr>
              <a:t>Economic Order Quantity (EOQ)</a:t>
            </a:r>
          </a:p>
        </p:txBody>
      </p:sp>
      <p:sp>
        <p:nvSpPr>
          <p:cNvPr id="3" name="TextBox 2">
            <a:extLst>
              <a:ext uri="{FF2B5EF4-FFF2-40B4-BE49-F238E27FC236}">
                <a16:creationId xmlns:a16="http://schemas.microsoft.com/office/drawing/2014/main" id="{18769333-0613-6886-B65C-C8FFD83CB6B6}"/>
              </a:ext>
            </a:extLst>
          </p:cNvPr>
          <p:cNvSpPr txBox="1"/>
          <p:nvPr/>
        </p:nvSpPr>
        <p:spPr>
          <a:xfrm>
            <a:off x="2240280" y="2209076"/>
            <a:ext cx="7101840" cy="3469303"/>
          </a:xfrm>
          <a:prstGeom prst="roundRect">
            <a:avLst>
              <a:gd name="adj" fmla="val 19054"/>
            </a:avLst>
          </a:prstGeom>
          <a:solidFill>
            <a:srgbClr val="0C1113"/>
          </a:solidFill>
        </p:spPr>
        <p:txBody>
          <a:bodyPr wrap="square">
            <a:spAutoFit/>
          </a:bodyPr>
          <a:lstStyle/>
          <a:p>
            <a:pPr algn="ctr"/>
            <a:endParaRPr lang="en-US" sz="2800" b="0" i="0" dirty="0">
              <a:solidFill>
                <a:schemeClr val="bg1"/>
              </a:solidFill>
              <a:effectLst/>
              <a:latin typeface="Candara" panose="020E0502030303020204" pitchFamily="34" charset="0"/>
            </a:endParaRPr>
          </a:p>
          <a:p>
            <a:pPr algn="ctr"/>
            <a:r>
              <a:rPr lang="en-US" sz="2800" b="0" i="0" dirty="0">
                <a:solidFill>
                  <a:schemeClr val="bg1"/>
                </a:solidFill>
                <a:effectLst/>
                <a:latin typeface="Candara" panose="020E0502030303020204" pitchFamily="34" charset="0"/>
              </a:rPr>
              <a:t>The economic order quantity (EOQ) refers to the ideal order quantity a company should purchase in order to minimize its inventory costs, such as holding costs, shortage costs, and order costs</a:t>
            </a:r>
          </a:p>
          <a:p>
            <a:pPr algn="ctr"/>
            <a:endParaRPr lang="en-US" sz="2800" dirty="0">
              <a:solidFill>
                <a:schemeClr val="bg1"/>
              </a:solidFill>
              <a:latin typeface="Candara" panose="020E0502030303020204" pitchFamily="34" charset="0"/>
            </a:endParaRPr>
          </a:p>
        </p:txBody>
      </p:sp>
    </p:spTree>
    <p:extLst>
      <p:ext uri="{BB962C8B-B14F-4D97-AF65-F5344CB8AC3E}">
        <p14:creationId xmlns:p14="http://schemas.microsoft.com/office/powerpoint/2010/main" val="230653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21C07-24F8-144A-6CF6-E30042EE29D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Assumptions of EOQ</a:t>
            </a:r>
          </a:p>
        </p:txBody>
      </p:sp>
      <p:grpSp>
        <p:nvGrpSpPr>
          <p:cNvPr id="10" name="Group 9">
            <a:extLst>
              <a:ext uri="{FF2B5EF4-FFF2-40B4-BE49-F238E27FC236}">
                <a16:creationId xmlns:a16="http://schemas.microsoft.com/office/drawing/2014/main" id="{B98FD3C4-E9D8-B42D-9C44-BA189A98F3C0}"/>
              </a:ext>
            </a:extLst>
          </p:cNvPr>
          <p:cNvGrpSpPr/>
          <p:nvPr/>
        </p:nvGrpSpPr>
        <p:grpSpPr>
          <a:xfrm>
            <a:off x="656410" y="1669095"/>
            <a:ext cx="2889068" cy="1759905"/>
            <a:chOff x="866503" y="1767066"/>
            <a:chExt cx="2889068" cy="1759905"/>
          </a:xfrm>
          <a:solidFill>
            <a:srgbClr val="6666FF"/>
          </a:solidFill>
        </p:grpSpPr>
        <p:sp>
          <p:nvSpPr>
            <p:cNvPr id="2" name="Rectangle 1">
              <a:extLst>
                <a:ext uri="{FF2B5EF4-FFF2-40B4-BE49-F238E27FC236}">
                  <a16:creationId xmlns:a16="http://schemas.microsoft.com/office/drawing/2014/main" id="{977F15C4-286A-7213-C0F7-E0AC7EB8EAAC}"/>
                </a:ext>
              </a:extLst>
            </p:cNvPr>
            <p:cNvSpPr/>
            <p:nvPr/>
          </p:nvSpPr>
          <p:spPr>
            <a:xfrm>
              <a:off x="1186543" y="1981200"/>
              <a:ext cx="2569028" cy="15457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Only one product is involved</a:t>
              </a:r>
            </a:p>
          </p:txBody>
        </p:sp>
        <p:sp>
          <p:nvSpPr>
            <p:cNvPr id="6" name="Rectangle 5">
              <a:extLst>
                <a:ext uri="{FF2B5EF4-FFF2-40B4-BE49-F238E27FC236}">
                  <a16:creationId xmlns:a16="http://schemas.microsoft.com/office/drawing/2014/main" id="{EE763386-9F25-0DEE-F57E-D10924A72046}"/>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1</a:t>
              </a:r>
            </a:p>
          </p:txBody>
        </p:sp>
      </p:grpSp>
      <p:grpSp>
        <p:nvGrpSpPr>
          <p:cNvPr id="11" name="Group 10">
            <a:extLst>
              <a:ext uri="{FF2B5EF4-FFF2-40B4-BE49-F238E27FC236}">
                <a16:creationId xmlns:a16="http://schemas.microsoft.com/office/drawing/2014/main" id="{44498E56-845F-1765-C7B1-59F080F6E534}"/>
              </a:ext>
            </a:extLst>
          </p:cNvPr>
          <p:cNvGrpSpPr/>
          <p:nvPr/>
        </p:nvGrpSpPr>
        <p:grpSpPr>
          <a:xfrm>
            <a:off x="4589963" y="1669095"/>
            <a:ext cx="2889068" cy="1759905"/>
            <a:chOff x="866503" y="1767066"/>
            <a:chExt cx="2889068" cy="1759905"/>
          </a:xfrm>
        </p:grpSpPr>
        <p:sp>
          <p:nvSpPr>
            <p:cNvPr id="12" name="Rectangle 11">
              <a:extLst>
                <a:ext uri="{FF2B5EF4-FFF2-40B4-BE49-F238E27FC236}">
                  <a16:creationId xmlns:a16="http://schemas.microsoft.com/office/drawing/2014/main" id="{B2BCF42B-8368-3491-E748-9C78F83EE30A}"/>
                </a:ext>
              </a:extLst>
            </p:cNvPr>
            <p:cNvSpPr/>
            <p:nvPr/>
          </p:nvSpPr>
          <p:spPr>
            <a:xfrm>
              <a:off x="1186543" y="1981200"/>
              <a:ext cx="2569028" cy="1545771"/>
            </a:xfrm>
            <a:prstGeom prst="rect">
              <a:avLst/>
            </a:prstGeom>
            <a:solidFill>
              <a:srgbClr val="770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Annual demand requirements are known</a:t>
              </a:r>
            </a:p>
          </p:txBody>
        </p:sp>
        <p:sp>
          <p:nvSpPr>
            <p:cNvPr id="13" name="Rectangle 12">
              <a:extLst>
                <a:ext uri="{FF2B5EF4-FFF2-40B4-BE49-F238E27FC236}">
                  <a16:creationId xmlns:a16="http://schemas.microsoft.com/office/drawing/2014/main" id="{0861CCB9-F09B-ECCA-A924-E27DDF137679}"/>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2</a:t>
              </a:r>
            </a:p>
          </p:txBody>
        </p:sp>
      </p:grpSp>
      <p:grpSp>
        <p:nvGrpSpPr>
          <p:cNvPr id="14" name="Group 13">
            <a:extLst>
              <a:ext uri="{FF2B5EF4-FFF2-40B4-BE49-F238E27FC236}">
                <a16:creationId xmlns:a16="http://schemas.microsoft.com/office/drawing/2014/main" id="{C2319B9B-BA52-6DB7-1E69-BA79E0529810}"/>
              </a:ext>
            </a:extLst>
          </p:cNvPr>
          <p:cNvGrpSpPr/>
          <p:nvPr/>
        </p:nvGrpSpPr>
        <p:grpSpPr>
          <a:xfrm>
            <a:off x="8523515" y="1669095"/>
            <a:ext cx="2889068" cy="1759905"/>
            <a:chOff x="866503" y="1767066"/>
            <a:chExt cx="2889068" cy="1759905"/>
          </a:xfrm>
        </p:grpSpPr>
        <p:sp>
          <p:nvSpPr>
            <p:cNvPr id="15" name="Rectangle 14">
              <a:extLst>
                <a:ext uri="{FF2B5EF4-FFF2-40B4-BE49-F238E27FC236}">
                  <a16:creationId xmlns:a16="http://schemas.microsoft.com/office/drawing/2014/main" id="{E5634B87-FD06-1BA7-92CF-4BE35F6D08C5}"/>
                </a:ext>
              </a:extLst>
            </p:cNvPr>
            <p:cNvSpPr/>
            <p:nvPr/>
          </p:nvSpPr>
          <p:spPr>
            <a:xfrm>
              <a:off x="1186543" y="1981200"/>
              <a:ext cx="2569028" cy="1545771"/>
            </a:xfrm>
            <a:prstGeom prst="rect">
              <a:avLst/>
            </a:prstGeom>
            <a:solidFill>
              <a:srgbClr val="3320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Demand is spread evenly throughout the year i.e., the demand rate is constant</a:t>
              </a:r>
            </a:p>
          </p:txBody>
        </p:sp>
        <p:sp>
          <p:nvSpPr>
            <p:cNvPr id="16" name="Rectangle 15">
              <a:extLst>
                <a:ext uri="{FF2B5EF4-FFF2-40B4-BE49-F238E27FC236}">
                  <a16:creationId xmlns:a16="http://schemas.microsoft.com/office/drawing/2014/main" id="{AB5EE6D4-D24F-F23C-86EB-96AA562B0B44}"/>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3</a:t>
              </a:r>
            </a:p>
          </p:txBody>
        </p:sp>
      </p:grpSp>
      <p:grpSp>
        <p:nvGrpSpPr>
          <p:cNvPr id="17" name="Group 16">
            <a:extLst>
              <a:ext uri="{FF2B5EF4-FFF2-40B4-BE49-F238E27FC236}">
                <a16:creationId xmlns:a16="http://schemas.microsoft.com/office/drawing/2014/main" id="{02D8351B-63AC-0E9B-CBC0-3CBD9CA0B2B1}"/>
              </a:ext>
            </a:extLst>
          </p:cNvPr>
          <p:cNvGrpSpPr/>
          <p:nvPr/>
        </p:nvGrpSpPr>
        <p:grpSpPr>
          <a:xfrm>
            <a:off x="656410" y="4325208"/>
            <a:ext cx="2889068" cy="1759905"/>
            <a:chOff x="866503" y="1767066"/>
            <a:chExt cx="2889068" cy="1759905"/>
          </a:xfrm>
        </p:grpSpPr>
        <p:sp>
          <p:nvSpPr>
            <p:cNvPr id="18" name="Rectangle 17">
              <a:extLst>
                <a:ext uri="{FF2B5EF4-FFF2-40B4-BE49-F238E27FC236}">
                  <a16:creationId xmlns:a16="http://schemas.microsoft.com/office/drawing/2014/main" id="{6C8524AC-4A07-AEA5-C1C1-54028D0F4EA1}"/>
                </a:ext>
              </a:extLst>
            </p:cNvPr>
            <p:cNvSpPr/>
            <p:nvPr/>
          </p:nvSpPr>
          <p:spPr>
            <a:xfrm>
              <a:off x="1186543" y="1981200"/>
              <a:ext cx="2569028" cy="1545771"/>
            </a:xfrm>
            <a:prstGeom prst="rect">
              <a:avLst/>
            </a:prstGeom>
            <a:solidFill>
              <a:srgbClr val="3400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Lead time is known and constant</a:t>
              </a:r>
            </a:p>
          </p:txBody>
        </p:sp>
        <p:sp>
          <p:nvSpPr>
            <p:cNvPr id="19" name="Rectangle 18">
              <a:extLst>
                <a:ext uri="{FF2B5EF4-FFF2-40B4-BE49-F238E27FC236}">
                  <a16:creationId xmlns:a16="http://schemas.microsoft.com/office/drawing/2014/main" id="{A16C3335-C514-87FE-5E6D-BA036894DA8F}"/>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4</a:t>
              </a:r>
            </a:p>
          </p:txBody>
        </p:sp>
      </p:grpSp>
      <p:grpSp>
        <p:nvGrpSpPr>
          <p:cNvPr id="20" name="Group 19">
            <a:extLst>
              <a:ext uri="{FF2B5EF4-FFF2-40B4-BE49-F238E27FC236}">
                <a16:creationId xmlns:a16="http://schemas.microsoft.com/office/drawing/2014/main" id="{2BA935BE-330F-F985-8B75-DA6F84A8AB40}"/>
              </a:ext>
            </a:extLst>
          </p:cNvPr>
          <p:cNvGrpSpPr/>
          <p:nvPr/>
        </p:nvGrpSpPr>
        <p:grpSpPr>
          <a:xfrm>
            <a:off x="4589963" y="4325208"/>
            <a:ext cx="2889068" cy="1759905"/>
            <a:chOff x="866503" y="1767066"/>
            <a:chExt cx="2889068" cy="1759905"/>
          </a:xfrm>
        </p:grpSpPr>
        <p:sp>
          <p:nvSpPr>
            <p:cNvPr id="21" name="Rectangle 20">
              <a:extLst>
                <a:ext uri="{FF2B5EF4-FFF2-40B4-BE49-F238E27FC236}">
                  <a16:creationId xmlns:a16="http://schemas.microsoft.com/office/drawing/2014/main" id="{7574AE71-ACF4-E61D-7FF2-38943AF2C0D7}"/>
                </a:ext>
              </a:extLst>
            </p:cNvPr>
            <p:cNvSpPr/>
            <p:nvPr/>
          </p:nvSpPr>
          <p:spPr>
            <a:xfrm>
              <a:off x="1186543" y="1981200"/>
              <a:ext cx="2569028" cy="1545771"/>
            </a:xfrm>
            <a:prstGeom prst="rect">
              <a:avLst/>
            </a:prstGeom>
            <a:solidFill>
              <a:srgbClr val="4D61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Each order is received in a single delivery</a:t>
              </a:r>
            </a:p>
          </p:txBody>
        </p:sp>
        <p:sp>
          <p:nvSpPr>
            <p:cNvPr id="22" name="Rectangle 21">
              <a:extLst>
                <a:ext uri="{FF2B5EF4-FFF2-40B4-BE49-F238E27FC236}">
                  <a16:creationId xmlns:a16="http://schemas.microsoft.com/office/drawing/2014/main" id="{45FAC64D-F88F-3D6E-6F52-09D8CE1031B0}"/>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5</a:t>
              </a:r>
            </a:p>
          </p:txBody>
        </p:sp>
      </p:grpSp>
      <p:grpSp>
        <p:nvGrpSpPr>
          <p:cNvPr id="23" name="Group 22">
            <a:extLst>
              <a:ext uri="{FF2B5EF4-FFF2-40B4-BE49-F238E27FC236}">
                <a16:creationId xmlns:a16="http://schemas.microsoft.com/office/drawing/2014/main" id="{63C27EC2-E01A-CA81-D596-D280B506A3C4}"/>
              </a:ext>
            </a:extLst>
          </p:cNvPr>
          <p:cNvGrpSpPr/>
          <p:nvPr/>
        </p:nvGrpSpPr>
        <p:grpSpPr>
          <a:xfrm>
            <a:off x="8523515" y="4325208"/>
            <a:ext cx="2889068" cy="1759905"/>
            <a:chOff x="866503" y="1767066"/>
            <a:chExt cx="2889068" cy="1759905"/>
          </a:xfrm>
        </p:grpSpPr>
        <p:sp>
          <p:nvSpPr>
            <p:cNvPr id="24" name="Rectangle 23">
              <a:extLst>
                <a:ext uri="{FF2B5EF4-FFF2-40B4-BE49-F238E27FC236}">
                  <a16:creationId xmlns:a16="http://schemas.microsoft.com/office/drawing/2014/main" id="{C9E40198-146A-7414-9044-3616B7EA4EA6}"/>
                </a:ext>
              </a:extLst>
            </p:cNvPr>
            <p:cNvSpPr/>
            <p:nvPr/>
          </p:nvSpPr>
          <p:spPr>
            <a:xfrm>
              <a:off x="1186543" y="1981200"/>
              <a:ext cx="2569028" cy="1545771"/>
            </a:xfrm>
            <a:prstGeom prst="rect">
              <a:avLst/>
            </a:prstGeom>
            <a:solidFill>
              <a:srgbClr val="9B0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There are no quantity discounts</a:t>
              </a:r>
            </a:p>
          </p:txBody>
        </p:sp>
        <p:sp>
          <p:nvSpPr>
            <p:cNvPr id="25" name="Rectangle 24">
              <a:extLst>
                <a:ext uri="{FF2B5EF4-FFF2-40B4-BE49-F238E27FC236}">
                  <a16:creationId xmlns:a16="http://schemas.microsoft.com/office/drawing/2014/main" id="{97607E07-B42A-B2A4-B592-B6461AEDF5E8}"/>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6</a:t>
              </a:r>
            </a:p>
          </p:txBody>
        </p:sp>
      </p:grpSp>
    </p:spTree>
    <p:extLst>
      <p:ext uri="{BB962C8B-B14F-4D97-AF65-F5344CB8AC3E}">
        <p14:creationId xmlns:p14="http://schemas.microsoft.com/office/powerpoint/2010/main" val="224866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Deriving EOQ</a:t>
            </a:r>
          </a:p>
        </p:txBody>
      </p:sp>
      <mc:AlternateContent xmlns:mc="http://schemas.openxmlformats.org/markup-compatibility/2006" xmlns:a14="http://schemas.microsoft.com/office/drawing/2010/main">
        <mc:Choice Requires="a14">
          <p:sp>
            <p:nvSpPr>
              <p:cNvPr id="23556" name="Rectangle 23555">
                <a:extLst>
                  <a:ext uri="{FF2B5EF4-FFF2-40B4-BE49-F238E27FC236}">
                    <a16:creationId xmlns:a16="http://schemas.microsoft.com/office/drawing/2014/main" id="{76AE5C3E-33C7-5905-5C82-561444AE95ED}"/>
                  </a:ext>
                </a:extLst>
              </p:cNvPr>
              <p:cNvSpPr/>
              <p:nvPr/>
            </p:nvSpPr>
            <p:spPr>
              <a:xfrm>
                <a:off x="731520" y="1554479"/>
                <a:ext cx="11025173" cy="5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en-US" sz="2400" dirty="0">
                    <a:solidFill>
                      <a:schemeClr val="tx1"/>
                    </a:solidFill>
                    <a:latin typeface="Candara" panose="020E0502030303020204" pitchFamily="34" charset="0"/>
                  </a:rPr>
                  <a:t>Using calculus, we take the derivative of the total cost function and set the derivative (slope) equal to zero and solve for Q</a:t>
                </a:r>
              </a:p>
              <a:p>
                <a:pPr algn="ctr"/>
                <a:endParaRPr lang="en-US" altLang="en-US" dirty="0">
                  <a:solidFill>
                    <a:schemeClr val="tx1"/>
                  </a:solidFill>
                  <a:latin typeface="Candara" panose="020E0502030303020204" pitchFamily="34" charset="0"/>
                </a:endParaRPr>
              </a:p>
              <a:p>
                <a:pPr algn="ctr">
                  <a:lnSpc>
                    <a:spcPct val="150000"/>
                  </a:lnSpc>
                </a:pPr>
                <a14:m>
                  <m:oMath xmlns:m="http://schemas.openxmlformats.org/officeDocument/2006/math">
                    <m:r>
                      <a:rPr lang="en-US" altLang="en-US" sz="2400" b="0" i="1" smtClean="0">
                        <a:solidFill>
                          <a:schemeClr val="tx1"/>
                        </a:solidFill>
                        <a:latin typeface="Cambria Math" panose="02040503050406030204" pitchFamily="18" charset="0"/>
                      </a:rPr>
                      <m:t>𝐸𝑂𝑄</m:t>
                    </m:r>
                    <m:r>
                      <a:rPr lang="en-US" altLang="en-US" sz="2400" b="0" i="1" smtClean="0">
                        <a:solidFill>
                          <a:schemeClr val="tx1"/>
                        </a:solidFill>
                        <a:latin typeface="Cambria Math" panose="02040503050406030204" pitchFamily="18" charset="0"/>
                      </a:rPr>
                      <m:t>=</m:t>
                    </m:r>
                    <m:f>
                      <m:fPr>
                        <m:ctrlPr>
                          <a:rPr lang="en-US" altLang="en-US" sz="2400" b="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𝑑</m:t>
                        </m:r>
                      </m:num>
                      <m:den>
                        <m:r>
                          <a:rPr lang="en-US" altLang="en-US" sz="2400" b="0" i="1" smtClean="0">
                            <a:solidFill>
                              <a:schemeClr val="tx1"/>
                            </a:solidFill>
                            <a:latin typeface="Cambria Math" panose="02040503050406030204" pitchFamily="18" charset="0"/>
                          </a:rPr>
                          <m:t>𝑑𝑄</m:t>
                        </m:r>
                      </m:den>
                    </m:f>
                    <m:d>
                      <m:dPr>
                        <m:ctrlPr>
                          <a:rPr lang="en-US" altLang="en-US" sz="2400" b="0" i="1" smtClean="0">
                            <a:solidFill>
                              <a:schemeClr val="tx1"/>
                            </a:solidFill>
                            <a:latin typeface="Cambria Math" panose="02040503050406030204" pitchFamily="18" charset="0"/>
                          </a:rPr>
                        </m:ctrlPr>
                      </m:dPr>
                      <m:e>
                        <m:r>
                          <a:rPr lang="en-US" altLang="en-US" sz="2400" b="0" i="1" smtClean="0">
                            <a:solidFill>
                              <a:schemeClr val="tx1"/>
                            </a:solidFill>
                            <a:latin typeface="Cambria Math" panose="02040503050406030204" pitchFamily="18" charset="0"/>
                          </a:rPr>
                          <m:t>𝑇𝑜𝑡𝑎𝑙</m:t>
                        </m:r>
                        <m:r>
                          <a:rPr lang="en-US" altLang="en-US" sz="2400" b="0" i="1" smtClean="0">
                            <a:solidFill>
                              <a:schemeClr val="tx1"/>
                            </a:solidFill>
                            <a:latin typeface="Cambria Math" panose="02040503050406030204" pitchFamily="18" charset="0"/>
                          </a:rPr>
                          <m:t> </m:t>
                        </m:r>
                        <m:r>
                          <a:rPr lang="en-US" altLang="en-US" sz="2400" b="0" i="1" smtClean="0">
                            <a:solidFill>
                              <a:schemeClr val="tx1"/>
                            </a:solidFill>
                            <a:latin typeface="Cambria Math" panose="02040503050406030204" pitchFamily="18" charset="0"/>
                          </a:rPr>
                          <m:t>𝐶𝑜𝑠𝑡</m:t>
                        </m:r>
                      </m:e>
                    </m:d>
                    <m:r>
                      <a:rPr lang="en-US" altLang="en-US" sz="2400" b="0" i="1" smtClean="0">
                        <a:solidFill>
                          <a:schemeClr val="tx1"/>
                        </a:solidFill>
                        <a:latin typeface="Cambria Math" panose="02040503050406030204" pitchFamily="18" charset="0"/>
                      </a:rPr>
                      <m:t>=0</m:t>
                    </m:r>
                  </m:oMath>
                </a14:m>
                <a:r>
                  <a:rPr lang="en-US" altLang="en-US" sz="2400" b="0" i="1" dirty="0">
                    <a:solidFill>
                      <a:schemeClr val="tx1"/>
                    </a:solidFill>
                    <a:latin typeface="Cambria Math" panose="02040503050406030204" pitchFamily="18" charset="0"/>
                  </a:rPr>
                  <a:t> </a:t>
                </a:r>
              </a:p>
              <a:p>
                <a:pPr algn="ctr">
                  <a:lnSpc>
                    <a:spcPct val="150000"/>
                  </a:lnSpc>
                </a:pPr>
                <a:r>
                  <a:rPr lang="en-US" altLang="en-US" sz="2400" dirty="0">
                    <a:solidFill>
                      <a:schemeClr val="tx1"/>
                    </a:solidFill>
                  </a:rPr>
                  <a:t>      </a:t>
                </a:r>
                <a14:m>
                  <m:oMath xmlns:m="http://schemas.openxmlformats.org/officeDocument/2006/math">
                    <m:r>
                      <a:rPr lang="en-US" altLang="en-US" sz="2400" i="1">
                        <a:solidFill>
                          <a:schemeClr val="tx1"/>
                        </a:solidFill>
                        <a:latin typeface="Cambria Math" panose="02040503050406030204" pitchFamily="18" charset="0"/>
                      </a:rPr>
                      <m:t>⇒</m:t>
                    </m:r>
                    <m:f>
                      <m:fPr>
                        <m:ctrlPr>
                          <a:rPr lang="en-US" altLang="en-US" sz="2400" b="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𝑑</m:t>
                        </m:r>
                      </m:num>
                      <m:den>
                        <m:r>
                          <a:rPr lang="en-US" altLang="en-US" sz="2400" b="0" i="1" smtClean="0">
                            <a:solidFill>
                              <a:schemeClr val="tx1"/>
                            </a:solidFill>
                            <a:latin typeface="Cambria Math" panose="02040503050406030204" pitchFamily="18" charset="0"/>
                          </a:rPr>
                          <m:t>𝑑𝑄</m:t>
                        </m:r>
                      </m:den>
                    </m:f>
                    <m:d>
                      <m:dPr>
                        <m:ctrlPr>
                          <a:rPr lang="en-US" altLang="en-US" sz="2400" b="0" i="1" smtClean="0">
                            <a:solidFill>
                              <a:schemeClr val="tx1"/>
                            </a:solidFill>
                            <a:latin typeface="Cambria Math" panose="02040503050406030204" pitchFamily="18" charset="0"/>
                          </a:rPr>
                        </m:ctrlPr>
                      </m:dPr>
                      <m:e>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𝑄</m:t>
                            </m:r>
                          </m:num>
                          <m:den>
                            <m:r>
                              <a:rPr lang="en-US" altLang="en-US" sz="2400" b="0" i="1" smtClean="0">
                                <a:solidFill>
                                  <a:schemeClr val="tx1"/>
                                </a:solidFill>
                                <a:latin typeface="Cambria Math" panose="02040503050406030204" pitchFamily="18" charset="0"/>
                              </a:rPr>
                              <m:t>2</m:t>
                            </m:r>
                          </m:den>
                        </m:f>
                        <m:r>
                          <a:rPr lang="en-US" altLang="en-US" sz="2400" b="0" i="1" smtClean="0">
                            <a:solidFill>
                              <a:schemeClr val="tx1"/>
                            </a:solidFill>
                            <a:latin typeface="Cambria Math" panose="02040503050406030204" pitchFamily="18" charset="0"/>
                          </a:rPr>
                          <m:t>𝐻</m:t>
                        </m:r>
                        <m:r>
                          <a:rPr lang="en-US" altLang="en-US" sz="2400" b="0" i="0" smtClean="0">
                            <a:solidFill>
                              <a:schemeClr val="tx1"/>
                            </a:solidFill>
                            <a:latin typeface="Cambria Math" panose="02040503050406030204" pitchFamily="18" charset="0"/>
                          </a:rPr>
                          <m:t>+</m:t>
                        </m:r>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𝐷</m:t>
                            </m:r>
                          </m:num>
                          <m:den>
                            <m:r>
                              <a:rPr lang="en-US" altLang="en-US" sz="2400" b="0" i="1" smtClean="0">
                                <a:solidFill>
                                  <a:schemeClr val="tx1"/>
                                </a:solidFill>
                                <a:latin typeface="Cambria Math" panose="02040503050406030204" pitchFamily="18" charset="0"/>
                              </a:rPr>
                              <m:t>𝑄</m:t>
                            </m:r>
                          </m:den>
                        </m:f>
                        <m:r>
                          <a:rPr lang="en-US" altLang="en-US" sz="2400" b="0" i="1" smtClean="0">
                            <a:solidFill>
                              <a:schemeClr val="tx1"/>
                            </a:solidFill>
                            <a:latin typeface="Cambria Math" panose="02040503050406030204" pitchFamily="18" charset="0"/>
                          </a:rPr>
                          <m:t>𝑆</m:t>
                        </m:r>
                      </m:e>
                    </m:d>
                    <m:r>
                      <a:rPr lang="en-US" altLang="en-US" sz="2400" b="0" i="1" smtClean="0">
                        <a:solidFill>
                          <a:schemeClr val="tx1"/>
                        </a:solidFill>
                        <a:latin typeface="Cambria Math" panose="02040503050406030204" pitchFamily="18" charset="0"/>
                      </a:rPr>
                      <m:t>=0</m:t>
                    </m:r>
                  </m:oMath>
                </a14:m>
                <a:endParaRPr lang="en-US" altLang="en-US" dirty="0">
                  <a:solidFill>
                    <a:schemeClr val="tx1"/>
                  </a:solidFill>
                  <a:latin typeface="Candara" panose="020E0502030303020204" pitchFamily="34" charset="0"/>
                </a:endParaRPr>
              </a:p>
              <a:p>
                <a:pPr algn="ctr">
                  <a:lnSpc>
                    <a:spcPct val="150000"/>
                  </a:lnSpc>
                </a:pPr>
                <a:r>
                  <a:rPr lang="en-US" altLang="en-US" sz="2000" b="0" dirty="0">
                    <a:solidFill>
                      <a:schemeClr val="tx1"/>
                    </a:solidFill>
                  </a:rPr>
                  <a:t>  </a:t>
                </a:r>
                <a14:m>
                  <m:oMath xmlns:m="http://schemas.openxmlformats.org/officeDocument/2006/math">
                    <m:r>
                      <a:rPr lang="en-US" altLang="en-US" sz="2400" b="0" i="0" smtClean="0">
                        <a:solidFill>
                          <a:schemeClr val="tx1"/>
                        </a:solidFill>
                        <a:latin typeface="Cambria Math" panose="02040503050406030204" pitchFamily="18" charset="0"/>
                      </a:rPr>
                      <m:t>    </m:t>
                    </m:r>
                    <m:r>
                      <a:rPr lang="en-US" altLang="en-US" sz="2400" b="0" i="1" smtClean="0">
                        <a:solidFill>
                          <a:schemeClr val="tx1"/>
                        </a:solidFill>
                        <a:latin typeface="Cambria Math" panose="02040503050406030204" pitchFamily="18" charset="0"/>
                      </a:rPr>
                      <m:t>⇒</m:t>
                    </m:r>
                    <m:f>
                      <m:fPr>
                        <m:ctrlPr>
                          <a:rPr lang="en-US" altLang="en-US" sz="2400" b="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𝐻</m:t>
                        </m:r>
                      </m:num>
                      <m:den>
                        <m:r>
                          <a:rPr lang="en-US" altLang="en-US" sz="2400" b="0" i="1" smtClean="0">
                            <a:solidFill>
                              <a:schemeClr val="tx1"/>
                            </a:solidFill>
                            <a:latin typeface="Cambria Math" panose="02040503050406030204" pitchFamily="18" charset="0"/>
                          </a:rPr>
                          <m:t>2</m:t>
                        </m:r>
                      </m:den>
                    </m:f>
                    <m:r>
                      <a:rPr lang="en-US" altLang="en-US" sz="2400" b="0" i="1" smtClean="0">
                        <a:solidFill>
                          <a:schemeClr val="tx1"/>
                        </a:solidFill>
                        <a:latin typeface="Cambria Math" panose="02040503050406030204" pitchFamily="18" charset="0"/>
                      </a:rPr>
                      <m:t>−</m:t>
                    </m:r>
                    <m:f>
                      <m:fPr>
                        <m:ctrlPr>
                          <a:rPr lang="en-US" altLang="en-US" sz="2400" b="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𝐷𝑆</m:t>
                        </m:r>
                      </m:num>
                      <m:den>
                        <m:sSup>
                          <m:sSupPr>
                            <m:ctrlPr>
                              <a:rPr lang="en-US" altLang="en-US" sz="2400" b="0" i="1" smtClean="0">
                                <a:solidFill>
                                  <a:schemeClr val="tx1"/>
                                </a:solidFill>
                                <a:latin typeface="Cambria Math" panose="02040503050406030204" pitchFamily="18" charset="0"/>
                              </a:rPr>
                            </m:ctrlPr>
                          </m:sSupPr>
                          <m:e>
                            <m:r>
                              <a:rPr lang="en-US" altLang="en-US" sz="2400" b="0" i="1" smtClean="0">
                                <a:solidFill>
                                  <a:schemeClr val="tx1"/>
                                </a:solidFill>
                                <a:latin typeface="Cambria Math" panose="02040503050406030204" pitchFamily="18" charset="0"/>
                              </a:rPr>
                              <m:t>𝑄</m:t>
                            </m:r>
                          </m:e>
                          <m:sup>
                            <m:r>
                              <a:rPr lang="en-US" altLang="en-US" sz="2400" b="0" i="1" smtClean="0">
                                <a:solidFill>
                                  <a:schemeClr val="tx1"/>
                                </a:solidFill>
                                <a:latin typeface="Cambria Math" panose="02040503050406030204" pitchFamily="18" charset="0"/>
                              </a:rPr>
                              <m:t>2</m:t>
                            </m:r>
                          </m:sup>
                        </m:sSup>
                      </m:den>
                    </m:f>
                    <m:r>
                      <a:rPr lang="en-US" altLang="en-US" sz="2400" b="0" i="1" smtClean="0">
                        <a:solidFill>
                          <a:schemeClr val="tx1"/>
                        </a:solidFill>
                        <a:latin typeface="Cambria Math" panose="02040503050406030204" pitchFamily="18" charset="0"/>
                      </a:rPr>
                      <m:t>=0</m:t>
                    </m:r>
                  </m:oMath>
                </a14:m>
                <a:endParaRPr lang="en-US" altLang="en-US" sz="2400" b="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en-US" altLang="en-US" sz="2000" b="1" i="1" smtClean="0">
                          <a:solidFill>
                            <a:schemeClr val="tx1"/>
                          </a:solidFill>
                          <a:latin typeface="Cambria Math" panose="02040503050406030204" pitchFamily="18" charset="0"/>
                        </a:rPr>
                        <m:t>⇒</m:t>
                      </m:r>
                      <m:r>
                        <a:rPr lang="en-US" altLang="en-US" sz="2000" b="1" i="1" smtClean="0">
                          <a:solidFill>
                            <a:schemeClr val="tx1"/>
                          </a:solidFill>
                          <a:latin typeface="Cambria Math" panose="02040503050406030204" pitchFamily="18" charset="0"/>
                        </a:rPr>
                        <m:t>𝑸</m:t>
                      </m:r>
                      <m:r>
                        <a:rPr lang="en-US" altLang="en-US" sz="2000" b="1" i="1" smtClean="0">
                          <a:solidFill>
                            <a:schemeClr val="tx1"/>
                          </a:solidFill>
                          <a:latin typeface="Cambria Math" panose="02040503050406030204" pitchFamily="18" charset="0"/>
                        </a:rPr>
                        <m:t>= </m:t>
                      </m:r>
                      <m:rad>
                        <m:radPr>
                          <m:degHide m:val="on"/>
                          <m:ctrlPr>
                            <a:rPr lang="en-US" altLang="en-US" sz="2000" b="1" i="1" smtClean="0">
                              <a:solidFill>
                                <a:schemeClr val="tx1"/>
                              </a:solidFill>
                              <a:latin typeface="Cambria Math" panose="02040503050406030204" pitchFamily="18" charset="0"/>
                            </a:rPr>
                          </m:ctrlPr>
                        </m:radPr>
                        <m:deg/>
                        <m:e>
                          <m:f>
                            <m:fPr>
                              <m:ctrlPr>
                                <a:rPr lang="en-US" altLang="en-US" sz="2000" b="1" i="1" smtClean="0">
                                  <a:solidFill>
                                    <a:schemeClr val="tx1"/>
                                  </a:solidFill>
                                  <a:latin typeface="Cambria Math" panose="02040503050406030204" pitchFamily="18" charset="0"/>
                                </a:rPr>
                              </m:ctrlPr>
                            </m:fPr>
                            <m:num>
                              <m:r>
                                <a:rPr lang="en-US" altLang="en-US" sz="2000" b="1" i="1" smtClean="0">
                                  <a:solidFill>
                                    <a:schemeClr val="tx1"/>
                                  </a:solidFill>
                                  <a:latin typeface="Cambria Math" panose="02040503050406030204" pitchFamily="18" charset="0"/>
                                </a:rPr>
                                <m:t>𝟐</m:t>
                              </m:r>
                              <m:r>
                                <a:rPr lang="en-US" altLang="en-US" sz="2000" b="1" i="1" smtClean="0">
                                  <a:solidFill>
                                    <a:schemeClr val="tx1"/>
                                  </a:solidFill>
                                  <a:latin typeface="Cambria Math" panose="02040503050406030204" pitchFamily="18" charset="0"/>
                                </a:rPr>
                                <m:t>𝑫𝑺</m:t>
                              </m:r>
                            </m:num>
                            <m:den>
                              <m:r>
                                <a:rPr lang="en-US" altLang="en-US" sz="2000" b="1" i="1" smtClean="0">
                                  <a:solidFill>
                                    <a:schemeClr val="tx1"/>
                                  </a:solidFill>
                                  <a:latin typeface="Cambria Math" panose="02040503050406030204" pitchFamily="18" charset="0"/>
                                </a:rPr>
                                <m:t>𝑯</m:t>
                              </m:r>
                            </m:den>
                          </m:f>
                        </m:e>
                      </m:rad>
                    </m:oMath>
                  </m:oMathPara>
                </a14:m>
                <a:endParaRPr lang="en-US" altLang="en-US" sz="2000" b="1" dirty="0">
                  <a:solidFill>
                    <a:schemeClr val="tx1"/>
                  </a:solidFill>
                </a:endParaRPr>
              </a:p>
              <a:p>
                <a:pPr algn="ctr">
                  <a:lnSpc>
                    <a:spcPct val="150000"/>
                  </a:lnSpc>
                </a:pPr>
                <a:endParaRPr lang="en-US" altLang="en-US" dirty="0">
                  <a:solidFill>
                    <a:schemeClr val="tx1"/>
                  </a:solidFill>
                  <a:latin typeface="Candara" panose="020E0502030303020204" pitchFamily="34" charset="0"/>
                </a:endParaRPr>
              </a:p>
              <a:p>
                <a:pPr algn="ctr">
                  <a:lnSpc>
                    <a:spcPct val="150000"/>
                  </a:lnSpc>
                </a:pPr>
                <a:endParaRPr lang="en-US" altLang="en-US" dirty="0">
                  <a:solidFill>
                    <a:schemeClr val="tx1"/>
                  </a:solidFill>
                  <a:latin typeface="Candara" panose="020E0502030303020204" pitchFamily="34" charset="0"/>
                </a:endParaRPr>
              </a:p>
            </p:txBody>
          </p:sp>
        </mc:Choice>
        <mc:Fallback xmlns="">
          <p:sp>
            <p:nvSpPr>
              <p:cNvPr id="23556" name="Rectangle 23555">
                <a:extLst>
                  <a:ext uri="{FF2B5EF4-FFF2-40B4-BE49-F238E27FC236}">
                    <a16:creationId xmlns:a16="http://schemas.microsoft.com/office/drawing/2014/main" id="{76AE5C3E-33C7-5905-5C82-561444AE95ED}"/>
                  </a:ext>
                </a:extLst>
              </p:cNvPr>
              <p:cNvSpPr>
                <a:spLocks noRot="1" noChangeAspect="1" noMove="1" noResize="1" noEditPoints="1" noAdjustHandles="1" noChangeArrowheads="1" noChangeShapeType="1" noTextEdit="1"/>
              </p:cNvSpPr>
              <p:nvPr/>
            </p:nvSpPr>
            <p:spPr>
              <a:xfrm>
                <a:off x="731520" y="1554479"/>
                <a:ext cx="11025173" cy="5080000"/>
              </a:xfrm>
              <a:prstGeom prst="rect">
                <a:avLst/>
              </a:prstGeom>
              <a:blipFill>
                <a:blip r:embed="rId2"/>
                <a:stretch>
                  <a:fillRect t="-960"/>
                </a:stretch>
              </a:blipFill>
              <a:ln>
                <a:noFill/>
              </a:ln>
            </p:spPr>
            <p:txBody>
              <a:bodyPr/>
              <a:lstStyle/>
              <a:p>
                <a:r>
                  <a:rPr lang="en-US">
                    <a:noFill/>
                  </a:rPr>
                  <a:t> </a:t>
                </a:r>
              </a:p>
            </p:txBody>
          </p:sp>
        </mc:Fallback>
      </mc:AlternateContent>
      <p:sp>
        <p:nvSpPr>
          <p:cNvPr id="4" name="Rectangle 3">
            <a:extLst>
              <a:ext uri="{FF2B5EF4-FFF2-40B4-BE49-F238E27FC236}">
                <a16:creationId xmlns:a16="http://schemas.microsoft.com/office/drawing/2014/main" id="{AD8118B0-0F2D-F55C-66B0-668C89977A63}"/>
              </a:ext>
            </a:extLst>
          </p:cNvPr>
          <p:cNvSpPr/>
          <p:nvPr/>
        </p:nvSpPr>
        <p:spPr>
          <a:xfrm>
            <a:off x="5130800" y="5344160"/>
            <a:ext cx="2407920" cy="112776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llout: Line 4">
            <a:extLst>
              <a:ext uri="{FF2B5EF4-FFF2-40B4-BE49-F238E27FC236}">
                <a16:creationId xmlns:a16="http://schemas.microsoft.com/office/drawing/2014/main" id="{8A29C585-BDFE-1738-5457-477A7D33C366}"/>
              </a:ext>
            </a:extLst>
          </p:cNvPr>
          <p:cNvSpPr/>
          <p:nvPr/>
        </p:nvSpPr>
        <p:spPr>
          <a:xfrm>
            <a:off x="7741920" y="4998720"/>
            <a:ext cx="955040" cy="436880"/>
          </a:xfrm>
          <a:prstGeom prst="borderCallout1">
            <a:avLst>
              <a:gd name="adj1" fmla="val 60417"/>
              <a:gd name="adj2" fmla="val 1241"/>
              <a:gd name="adj3" fmla="val 112500"/>
              <a:gd name="adj4" fmla="val -38333"/>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ndara" panose="020E0502030303020204" pitchFamily="34" charset="0"/>
              </a:rPr>
              <a:t>EOQ</a:t>
            </a:r>
          </a:p>
        </p:txBody>
      </p:sp>
    </p:spTree>
    <p:extLst>
      <p:ext uri="{BB962C8B-B14F-4D97-AF65-F5344CB8AC3E}">
        <p14:creationId xmlns:p14="http://schemas.microsoft.com/office/powerpoint/2010/main" val="83944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6">
                                            <p:txEl>
                                              <p:pRg st="2" end="2"/>
                                            </p:txEl>
                                          </p:spTgt>
                                        </p:tgtEl>
                                        <p:attrNameLst>
                                          <p:attrName>style.visibility</p:attrName>
                                        </p:attrNameLst>
                                      </p:cBhvr>
                                      <p:to>
                                        <p:strVal val="visible"/>
                                      </p:to>
                                    </p:set>
                                    <p:animEffect transition="in" filter="fade">
                                      <p:cBhvr>
                                        <p:cTn id="7" dur="500"/>
                                        <p:tgtEl>
                                          <p:spTgt spid="2355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6">
                                            <p:txEl>
                                              <p:pRg st="3" end="3"/>
                                            </p:txEl>
                                          </p:spTgt>
                                        </p:tgtEl>
                                        <p:attrNameLst>
                                          <p:attrName>style.visibility</p:attrName>
                                        </p:attrNameLst>
                                      </p:cBhvr>
                                      <p:to>
                                        <p:strVal val="visible"/>
                                      </p:to>
                                    </p:set>
                                    <p:animEffect transition="in" filter="fade">
                                      <p:cBhvr>
                                        <p:cTn id="12" dur="500"/>
                                        <p:tgtEl>
                                          <p:spTgt spid="2355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556">
                                            <p:txEl>
                                              <p:pRg st="4" end="4"/>
                                            </p:txEl>
                                          </p:spTgt>
                                        </p:tgtEl>
                                        <p:attrNameLst>
                                          <p:attrName>style.visibility</p:attrName>
                                        </p:attrNameLst>
                                      </p:cBhvr>
                                      <p:to>
                                        <p:strVal val="visible"/>
                                      </p:to>
                                    </p:set>
                                    <p:animEffect transition="in" filter="fade">
                                      <p:cBhvr>
                                        <p:cTn id="17" dur="500"/>
                                        <p:tgtEl>
                                          <p:spTgt spid="2355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556">
                                            <p:txEl>
                                              <p:pRg st="5" end="5"/>
                                            </p:txEl>
                                          </p:spTgt>
                                        </p:tgtEl>
                                        <p:attrNameLst>
                                          <p:attrName>style.visibility</p:attrName>
                                        </p:attrNameLst>
                                      </p:cBhvr>
                                      <p:to>
                                        <p:strVal val="visible"/>
                                      </p:to>
                                    </p:set>
                                    <p:animEffect transition="in" filter="fade">
                                      <p:cBhvr>
                                        <p:cTn id="22" dur="500"/>
                                        <p:tgtEl>
                                          <p:spTgt spid="2355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Example 1: EOQ</a:t>
            </a:r>
          </a:p>
        </p:txBody>
      </p:sp>
      <p:sp>
        <p:nvSpPr>
          <p:cNvPr id="23556" name="Rectangle 23555">
            <a:extLst>
              <a:ext uri="{FF2B5EF4-FFF2-40B4-BE49-F238E27FC236}">
                <a16:creationId xmlns:a16="http://schemas.microsoft.com/office/drawing/2014/main" id="{76AE5C3E-33C7-5905-5C82-561444AE95ED}"/>
              </a:ext>
            </a:extLst>
          </p:cNvPr>
          <p:cNvSpPr/>
          <p:nvPr/>
        </p:nvSpPr>
        <p:spPr>
          <a:xfrm>
            <a:off x="731520" y="1554479"/>
            <a:ext cx="11025173" cy="5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400" dirty="0">
                <a:solidFill>
                  <a:schemeClr val="tx1"/>
                </a:solidFill>
                <a:latin typeface="Candara" panose="020E0502030303020204" pitchFamily="34" charset="0"/>
              </a:rPr>
              <a:t>A local distributor for a national tire company expects to sell approximately 9,600 steel-belted radial tires of a certain size and thread design next year. Annual carrying cost is $16 per tire, and ordering cost is $75. The distributor operates 288 days a year.</a:t>
            </a:r>
          </a:p>
          <a:p>
            <a:endParaRPr lang="en-US" altLang="en-US" sz="2400" dirty="0">
              <a:solidFill>
                <a:schemeClr val="tx1"/>
              </a:solidFill>
              <a:latin typeface="Candara" panose="020E0502030303020204" pitchFamily="34" charset="0"/>
            </a:endParaRPr>
          </a:p>
          <a:p>
            <a:pPr>
              <a:lnSpc>
                <a:spcPct val="150000"/>
              </a:lnSpc>
            </a:pPr>
            <a:r>
              <a:rPr lang="en-US" altLang="en-US" sz="2400" dirty="0">
                <a:solidFill>
                  <a:schemeClr val="tx1"/>
                </a:solidFill>
                <a:latin typeface="Candara" panose="020E0502030303020204" pitchFamily="34" charset="0"/>
              </a:rPr>
              <a:t>a. What is the EOQ?</a:t>
            </a:r>
          </a:p>
          <a:p>
            <a:pPr>
              <a:lnSpc>
                <a:spcPct val="150000"/>
              </a:lnSpc>
            </a:pPr>
            <a:r>
              <a:rPr lang="en-US" altLang="en-US" sz="2400" dirty="0">
                <a:solidFill>
                  <a:schemeClr val="tx1"/>
                </a:solidFill>
                <a:latin typeface="Candara" panose="020E0502030303020204" pitchFamily="34" charset="0"/>
              </a:rPr>
              <a:t>b. How many times per year does the store reorder?</a:t>
            </a:r>
          </a:p>
          <a:p>
            <a:pPr>
              <a:lnSpc>
                <a:spcPct val="150000"/>
              </a:lnSpc>
            </a:pPr>
            <a:r>
              <a:rPr lang="en-US" altLang="en-US" sz="2400" dirty="0">
                <a:solidFill>
                  <a:schemeClr val="tx1"/>
                </a:solidFill>
                <a:latin typeface="Candara" panose="020E0502030303020204" pitchFamily="34" charset="0"/>
              </a:rPr>
              <a:t>c. What is the length of an order cycle?</a:t>
            </a:r>
          </a:p>
          <a:p>
            <a:pPr>
              <a:lnSpc>
                <a:spcPct val="150000"/>
              </a:lnSpc>
            </a:pPr>
            <a:r>
              <a:rPr lang="en-US" altLang="en-US" sz="2400" dirty="0">
                <a:solidFill>
                  <a:schemeClr val="tx1"/>
                </a:solidFill>
                <a:latin typeface="Candara" panose="020E0502030303020204" pitchFamily="34" charset="0"/>
              </a:rPr>
              <a:t>d. What is the total annual cost if the EOQ quantity is ordered?</a:t>
            </a:r>
          </a:p>
          <a:p>
            <a:endParaRPr lang="en-US" altLang="en-US" sz="2400" dirty="0">
              <a:solidFill>
                <a:schemeClr val="tx1"/>
              </a:solidFill>
              <a:latin typeface="Candara" panose="020E0502030303020204" pitchFamily="34" charset="0"/>
            </a:endParaRPr>
          </a:p>
        </p:txBody>
      </p:sp>
    </p:spTree>
    <p:extLst>
      <p:ext uri="{BB962C8B-B14F-4D97-AF65-F5344CB8AC3E}">
        <p14:creationId xmlns:p14="http://schemas.microsoft.com/office/powerpoint/2010/main" val="3962417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Solution of Example 1: EOQ</a:t>
            </a:r>
          </a:p>
        </p:txBody>
      </p:sp>
      <mc:AlternateContent xmlns:mc="http://schemas.openxmlformats.org/markup-compatibility/2006" xmlns:a14="http://schemas.microsoft.com/office/drawing/2010/main">
        <mc:Choice Requires="a14">
          <p:sp>
            <p:nvSpPr>
              <p:cNvPr id="23556" name="Rectangle 23555">
                <a:extLst>
                  <a:ext uri="{FF2B5EF4-FFF2-40B4-BE49-F238E27FC236}">
                    <a16:creationId xmlns:a16="http://schemas.microsoft.com/office/drawing/2014/main" id="{76AE5C3E-33C7-5905-5C82-561444AE95ED}"/>
                  </a:ext>
                </a:extLst>
              </p:cNvPr>
              <p:cNvSpPr/>
              <p:nvPr/>
            </p:nvSpPr>
            <p:spPr>
              <a:xfrm>
                <a:off x="731520" y="1400533"/>
                <a:ext cx="11460480" cy="52339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400" dirty="0">
                    <a:solidFill>
                      <a:schemeClr val="tx1"/>
                    </a:solidFill>
                    <a:latin typeface="Candara" panose="020E0502030303020204" pitchFamily="34" charset="0"/>
                  </a:rPr>
                  <a:t>Given That,</a:t>
                </a:r>
              </a:p>
              <a:p>
                <a:r>
                  <a:rPr lang="en-US" altLang="en-US" sz="2400" dirty="0">
                    <a:solidFill>
                      <a:schemeClr val="tx1"/>
                    </a:solidFill>
                    <a:latin typeface="Candara" panose="020E0502030303020204" pitchFamily="34" charset="0"/>
                  </a:rPr>
                  <a:t>Demand, D = 9600 tires per year</a:t>
                </a:r>
              </a:p>
              <a:p>
                <a:r>
                  <a:rPr lang="en-US" altLang="en-US" sz="2400" dirty="0">
                    <a:solidFill>
                      <a:schemeClr val="tx1"/>
                    </a:solidFill>
                    <a:latin typeface="Candara" panose="020E0502030303020204" pitchFamily="34" charset="0"/>
                  </a:rPr>
                  <a:t>Carrying Cost, H = $16 per unit per year</a:t>
                </a:r>
              </a:p>
              <a:p>
                <a:r>
                  <a:rPr lang="en-US" altLang="en-US" sz="2400" dirty="0">
                    <a:solidFill>
                      <a:schemeClr val="tx1"/>
                    </a:solidFill>
                    <a:latin typeface="Candara" panose="020E0502030303020204" pitchFamily="34" charset="0"/>
                  </a:rPr>
                  <a:t>Ordering Cost, S = $75 per order</a:t>
                </a:r>
              </a:p>
              <a:p>
                <a:pPr>
                  <a:lnSpc>
                    <a:spcPct val="150000"/>
                  </a:lnSpc>
                </a:pPr>
                <a:r>
                  <a:rPr lang="en-US" altLang="en-US" sz="2400" dirty="0">
                    <a:solidFill>
                      <a:schemeClr val="tx1"/>
                    </a:solidFill>
                    <a:latin typeface="Candara" panose="020E0502030303020204" pitchFamily="34" charset="0"/>
                  </a:rPr>
                  <a:t>a. EOQ,  </a:t>
                </a:r>
                <a14:m>
                  <m:oMath xmlns:m="http://schemas.openxmlformats.org/officeDocument/2006/math">
                    <m:sSub>
                      <m:sSubPr>
                        <m:ctrlPr>
                          <a:rPr lang="en-US" altLang="en-US" sz="2400" b="0" i="1" smtClean="0">
                            <a:solidFill>
                              <a:schemeClr val="tx1"/>
                            </a:solidFill>
                            <a:latin typeface="Cambria Math" panose="02040503050406030204" pitchFamily="18" charset="0"/>
                          </a:rPr>
                        </m:ctrlPr>
                      </m:sSubPr>
                      <m:e>
                        <m:r>
                          <m:rPr>
                            <m:sty m:val="p"/>
                          </m:rPr>
                          <a:rPr lang="en-US" altLang="en-US" sz="2400" b="0" i="0" smtClean="0">
                            <a:solidFill>
                              <a:schemeClr val="tx1"/>
                            </a:solidFill>
                            <a:latin typeface="Cambria Math" panose="02040503050406030204" pitchFamily="18" charset="0"/>
                          </a:rPr>
                          <m:t>Q</m:t>
                        </m:r>
                      </m:e>
                      <m:sub>
                        <m:r>
                          <a:rPr lang="en-US" altLang="en-US" sz="2400" b="0" i="0" smtClean="0">
                            <a:solidFill>
                              <a:schemeClr val="tx1"/>
                            </a:solidFill>
                            <a:latin typeface="Cambria Math" panose="02040503050406030204" pitchFamily="18" charset="0"/>
                          </a:rPr>
                          <m:t>0</m:t>
                        </m:r>
                      </m:sub>
                    </m:sSub>
                    <m:r>
                      <a:rPr lang="en-US" altLang="en-US" sz="2400" b="0" i="0" smtClean="0">
                        <a:solidFill>
                          <a:schemeClr val="tx1"/>
                        </a:solidFill>
                        <a:latin typeface="Cambria Math" panose="02040503050406030204" pitchFamily="18" charset="0"/>
                      </a:rPr>
                      <m:t>= </m:t>
                    </m:r>
                    <m:rad>
                      <m:radPr>
                        <m:degHide m:val="on"/>
                        <m:ctrlPr>
                          <a:rPr lang="en-US" altLang="en-US" sz="2400" i="1" smtClean="0">
                            <a:solidFill>
                              <a:schemeClr val="tx1"/>
                            </a:solidFill>
                            <a:latin typeface="Cambria Math" panose="02040503050406030204" pitchFamily="18" charset="0"/>
                          </a:rPr>
                        </m:ctrlPr>
                      </m:radPr>
                      <m:deg/>
                      <m:e>
                        <m:f>
                          <m:fPr>
                            <m:ctrlPr>
                              <a:rPr lang="en-US" altLang="en-US" sz="240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2</m:t>
                            </m:r>
                            <m:r>
                              <m:rPr>
                                <m:sty m:val="p"/>
                              </m:rPr>
                              <a:rPr lang="en-US" altLang="en-US" sz="2400" b="0" i="0" smtClean="0">
                                <a:solidFill>
                                  <a:schemeClr val="tx1"/>
                                </a:solidFill>
                                <a:latin typeface="Cambria Math" panose="02040503050406030204" pitchFamily="18" charset="0"/>
                              </a:rPr>
                              <m:t>DS</m:t>
                            </m:r>
                          </m:num>
                          <m:den>
                            <m:r>
                              <m:rPr>
                                <m:sty m:val="p"/>
                              </m:rPr>
                              <a:rPr lang="en-US" altLang="en-US" sz="2400" b="0" i="0" smtClean="0">
                                <a:solidFill>
                                  <a:schemeClr val="tx1"/>
                                </a:solidFill>
                                <a:latin typeface="Cambria Math" panose="02040503050406030204" pitchFamily="18" charset="0"/>
                              </a:rPr>
                              <m:t>H</m:t>
                            </m:r>
                          </m:den>
                        </m:f>
                      </m:e>
                    </m:rad>
                    <m:r>
                      <a:rPr lang="en-US" altLang="en-US" sz="2400" b="0" i="0" smtClean="0">
                        <a:solidFill>
                          <a:schemeClr val="tx1"/>
                        </a:solidFill>
                        <a:latin typeface="Cambria Math" panose="02040503050406030204" pitchFamily="18" charset="0"/>
                      </a:rPr>
                      <m:t>=</m:t>
                    </m:r>
                    <m:rad>
                      <m:radPr>
                        <m:degHide m:val="on"/>
                        <m:ctrlPr>
                          <a:rPr lang="en-US" altLang="en-US" sz="2400" i="1" smtClean="0">
                            <a:solidFill>
                              <a:schemeClr val="tx1"/>
                            </a:solidFill>
                            <a:latin typeface="Cambria Math" panose="02040503050406030204" pitchFamily="18" charset="0"/>
                          </a:rPr>
                        </m:ctrlPr>
                      </m:radPr>
                      <m:deg/>
                      <m:e>
                        <m:f>
                          <m:fPr>
                            <m:ctrlPr>
                              <a:rPr lang="en-US" altLang="en-US" sz="240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2</m:t>
                            </m:r>
                            <m:r>
                              <a:rPr lang="en-US" altLang="en-US" sz="2400" b="0" i="0" smtClean="0">
                                <a:solidFill>
                                  <a:schemeClr val="tx1"/>
                                </a:solidFill>
                                <a:latin typeface="Cambria Math" panose="02040503050406030204" pitchFamily="18" charset="0"/>
                                <a:ea typeface="Cambria Math" panose="02040503050406030204" pitchFamily="18" charset="0"/>
                              </a:rPr>
                              <m:t>×9600×75</m:t>
                            </m:r>
                          </m:num>
                          <m:den>
                            <m:r>
                              <a:rPr lang="en-US" altLang="en-US" sz="2400" b="0" i="0" smtClean="0">
                                <a:solidFill>
                                  <a:schemeClr val="tx1"/>
                                </a:solidFill>
                                <a:latin typeface="Cambria Math" panose="02040503050406030204" pitchFamily="18" charset="0"/>
                              </a:rPr>
                              <m:t>16</m:t>
                            </m:r>
                          </m:den>
                        </m:f>
                      </m:e>
                    </m:rad>
                    <m:r>
                      <a:rPr lang="en-US" altLang="en-US" sz="2400" b="0" i="0" smtClean="0">
                        <a:solidFill>
                          <a:schemeClr val="tx1"/>
                        </a:solidFill>
                        <a:latin typeface="Cambria Math" panose="02040503050406030204" pitchFamily="18" charset="0"/>
                      </a:rPr>
                      <m:t>=300</m:t>
                    </m:r>
                  </m:oMath>
                </a14:m>
                <a:r>
                  <a:rPr lang="en-US" altLang="en-US" sz="2400" dirty="0">
                    <a:solidFill>
                      <a:schemeClr val="tx1"/>
                    </a:solidFill>
                    <a:latin typeface="Candara" panose="020E0502030303020204" pitchFamily="34" charset="0"/>
                  </a:rPr>
                  <a:t> tires</a:t>
                </a:r>
              </a:p>
              <a:p>
                <a:pPr>
                  <a:lnSpc>
                    <a:spcPct val="150000"/>
                  </a:lnSpc>
                </a:pPr>
                <a:r>
                  <a:rPr lang="en-US" altLang="en-US" sz="2400" dirty="0">
                    <a:solidFill>
                      <a:schemeClr val="tx1"/>
                    </a:solidFill>
                    <a:latin typeface="Candara" panose="020E0502030303020204" pitchFamily="34" charset="0"/>
                  </a:rPr>
                  <a:t>b. Number of orders per year = </a:t>
                </a:r>
                <a14:m>
                  <m:oMath xmlns:m="http://schemas.openxmlformats.org/officeDocument/2006/math">
                    <m:f>
                      <m:fPr>
                        <m:ctrlPr>
                          <a:rPr lang="en-US" altLang="en-US" sz="2400" i="1" smtClean="0">
                            <a:solidFill>
                              <a:schemeClr val="tx1"/>
                            </a:solidFill>
                            <a:latin typeface="Cambria Math" panose="02040503050406030204" pitchFamily="18" charset="0"/>
                          </a:rPr>
                        </m:ctrlPr>
                      </m:fPr>
                      <m:num>
                        <m:r>
                          <m:rPr>
                            <m:sty m:val="p"/>
                          </m:rPr>
                          <a:rPr lang="en-US" altLang="en-US" sz="2400" b="0" i="0" smtClean="0">
                            <a:solidFill>
                              <a:schemeClr val="tx1"/>
                            </a:solidFill>
                            <a:latin typeface="Cambria Math" panose="02040503050406030204" pitchFamily="18" charset="0"/>
                          </a:rPr>
                          <m:t>D</m:t>
                        </m:r>
                      </m:num>
                      <m:den>
                        <m:sSub>
                          <m:sSubPr>
                            <m:ctrlPr>
                              <a:rPr lang="en-US" altLang="en-US" sz="2400" i="1" smtClean="0">
                                <a:solidFill>
                                  <a:schemeClr val="tx1"/>
                                </a:solidFill>
                                <a:latin typeface="Cambria Math" panose="02040503050406030204" pitchFamily="18" charset="0"/>
                              </a:rPr>
                            </m:ctrlPr>
                          </m:sSubPr>
                          <m:e>
                            <m:r>
                              <m:rPr>
                                <m:sty m:val="p"/>
                              </m:rPr>
                              <a:rPr lang="en-US" altLang="en-US" sz="2400" b="0" i="0" smtClean="0">
                                <a:solidFill>
                                  <a:schemeClr val="tx1"/>
                                </a:solidFill>
                                <a:latin typeface="Cambria Math" panose="02040503050406030204" pitchFamily="18" charset="0"/>
                              </a:rPr>
                              <m:t>Q</m:t>
                            </m:r>
                          </m:e>
                          <m:sub>
                            <m:r>
                              <a:rPr lang="en-US" altLang="en-US" sz="2400" b="0" i="0" smtClean="0">
                                <a:solidFill>
                                  <a:schemeClr val="tx1"/>
                                </a:solidFill>
                                <a:latin typeface="Cambria Math" panose="02040503050406030204" pitchFamily="18" charset="0"/>
                              </a:rPr>
                              <m:t>0</m:t>
                            </m:r>
                          </m:sub>
                        </m:sSub>
                      </m:den>
                    </m:f>
                    <m:r>
                      <a:rPr lang="en-US" altLang="en-US" sz="2400" b="0" i="0" smtClean="0">
                        <a:solidFill>
                          <a:schemeClr val="tx1"/>
                        </a:solidFill>
                        <a:latin typeface="Cambria Math" panose="02040503050406030204" pitchFamily="18" charset="0"/>
                      </a:rPr>
                      <m:t>= </m:t>
                    </m:r>
                    <m:f>
                      <m:fPr>
                        <m:ctrlPr>
                          <a:rPr lang="en-US" altLang="en-US" sz="2400" b="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9600 </m:t>
                        </m:r>
                        <m:r>
                          <m:rPr>
                            <m:sty m:val="p"/>
                          </m:rPr>
                          <a:rPr lang="en-US" altLang="en-US" sz="2400" b="0" i="0" smtClean="0">
                            <a:solidFill>
                              <a:schemeClr val="tx1"/>
                            </a:solidFill>
                            <a:latin typeface="Cambria Math" panose="02040503050406030204" pitchFamily="18" charset="0"/>
                          </a:rPr>
                          <m:t>tires</m:t>
                        </m:r>
                        <m:r>
                          <a:rPr lang="en-US" altLang="en-US" sz="2400" b="0" i="0" smtClean="0">
                            <a:solidFill>
                              <a:schemeClr val="tx1"/>
                            </a:solidFill>
                            <a:latin typeface="Cambria Math" panose="02040503050406030204" pitchFamily="18" charset="0"/>
                          </a:rPr>
                          <m:t>/</m:t>
                        </m:r>
                        <m:r>
                          <m:rPr>
                            <m:sty m:val="p"/>
                          </m:rPr>
                          <a:rPr lang="en-US" altLang="en-US" sz="2400" b="0" i="0" smtClean="0">
                            <a:solidFill>
                              <a:schemeClr val="tx1"/>
                            </a:solidFill>
                            <a:latin typeface="Cambria Math" panose="02040503050406030204" pitchFamily="18" charset="0"/>
                          </a:rPr>
                          <m:t>year</m:t>
                        </m:r>
                      </m:num>
                      <m:den>
                        <m:r>
                          <a:rPr lang="en-US" altLang="en-US" sz="2400" b="0" i="0" smtClean="0">
                            <a:solidFill>
                              <a:schemeClr val="tx1"/>
                            </a:solidFill>
                            <a:latin typeface="Cambria Math" panose="02040503050406030204" pitchFamily="18" charset="0"/>
                          </a:rPr>
                          <m:t>300 </m:t>
                        </m:r>
                        <m:r>
                          <m:rPr>
                            <m:sty m:val="p"/>
                          </m:rPr>
                          <a:rPr lang="en-US" altLang="en-US" sz="2400" b="0" i="0" smtClean="0">
                            <a:solidFill>
                              <a:schemeClr val="tx1"/>
                            </a:solidFill>
                            <a:latin typeface="Cambria Math" panose="02040503050406030204" pitchFamily="18" charset="0"/>
                          </a:rPr>
                          <m:t>tires</m:t>
                        </m:r>
                        <m:r>
                          <a:rPr lang="en-US" altLang="en-US" sz="2400" b="0" i="0" smtClean="0">
                            <a:solidFill>
                              <a:schemeClr val="tx1"/>
                            </a:solidFill>
                            <a:latin typeface="Cambria Math" panose="02040503050406030204" pitchFamily="18" charset="0"/>
                          </a:rPr>
                          <m:t>/</m:t>
                        </m:r>
                        <m:r>
                          <m:rPr>
                            <m:sty m:val="p"/>
                          </m:rPr>
                          <a:rPr lang="en-US" altLang="en-US" sz="2400" b="0" i="0" smtClean="0">
                            <a:solidFill>
                              <a:schemeClr val="tx1"/>
                            </a:solidFill>
                            <a:latin typeface="Cambria Math" panose="02040503050406030204" pitchFamily="18" charset="0"/>
                          </a:rPr>
                          <m:t>order</m:t>
                        </m:r>
                      </m:den>
                    </m:f>
                    <m:r>
                      <a:rPr lang="en-US" altLang="en-US" sz="2400" b="0" i="0" smtClean="0">
                        <a:solidFill>
                          <a:schemeClr val="tx1"/>
                        </a:solidFill>
                        <a:latin typeface="Cambria Math" panose="02040503050406030204" pitchFamily="18" charset="0"/>
                      </a:rPr>
                      <m:t>=32</m:t>
                    </m:r>
                  </m:oMath>
                </a14:m>
                <a:r>
                  <a:rPr lang="en-US" altLang="en-US" sz="2400" dirty="0">
                    <a:solidFill>
                      <a:schemeClr val="tx1"/>
                    </a:solidFill>
                    <a:latin typeface="Candara" panose="020E0502030303020204" pitchFamily="34" charset="0"/>
                  </a:rPr>
                  <a:t> orders per year</a:t>
                </a:r>
              </a:p>
              <a:p>
                <a:pPr>
                  <a:lnSpc>
                    <a:spcPct val="150000"/>
                  </a:lnSpc>
                </a:pPr>
                <a:r>
                  <a:rPr lang="en-US" altLang="en-US" sz="2400" dirty="0">
                    <a:solidFill>
                      <a:schemeClr val="tx1"/>
                    </a:solidFill>
                    <a:latin typeface="Candara" panose="020E0502030303020204" pitchFamily="34" charset="0"/>
                  </a:rPr>
                  <a:t>c. Length of order cycle = </a:t>
                </a:r>
                <a14:m>
                  <m:oMath xmlns:m="http://schemas.openxmlformats.org/officeDocument/2006/math">
                    <m:f>
                      <m:fPr>
                        <m:ctrlPr>
                          <a:rPr lang="en-US" altLang="en-US" sz="2400" i="1" smtClean="0">
                            <a:solidFill>
                              <a:schemeClr val="tx1"/>
                            </a:solidFill>
                            <a:latin typeface="Cambria Math" panose="02040503050406030204" pitchFamily="18" charset="0"/>
                          </a:rPr>
                        </m:ctrlPr>
                      </m:fPr>
                      <m:num>
                        <m:sSub>
                          <m:sSubPr>
                            <m:ctrlPr>
                              <a:rPr lang="en-US" altLang="en-US" sz="2400" i="1" smtClean="0">
                                <a:solidFill>
                                  <a:schemeClr val="tx1"/>
                                </a:solidFill>
                                <a:latin typeface="Cambria Math" panose="02040503050406030204" pitchFamily="18" charset="0"/>
                              </a:rPr>
                            </m:ctrlPr>
                          </m:sSubPr>
                          <m:e>
                            <m:r>
                              <m:rPr>
                                <m:sty m:val="p"/>
                              </m:rPr>
                              <a:rPr lang="en-US" altLang="en-US" sz="2400" b="0" i="0" smtClean="0">
                                <a:solidFill>
                                  <a:schemeClr val="tx1"/>
                                </a:solidFill>
                                <a:latin typeface="Cambria Math" panose="02040503050406030204" pitchFamily="18" charset="0"/>
                              </a:rPr>
                              <m:t>Q</m:t>
                            </m:r>
                          </m:e>
                          <m:sub>
                            <m:r>
                              <a:rPr lang="en-US" altLang="en-US" sz="2400" b="0" i="0" smtClean="0">
                                <a:solidFill>
                                  <a:schemeClr val="tx1"/>
                                </a:solidFill>
                                <a:latin typeface="Cambria Math" panose="02040503050406030204" pitchFamily="18" charset="0"/>
                              </a:rPr>
                              <m:t>0</m:t>
                            </m:r>
                          </m:sub>
                        </m:sSub>
                      </m:num>
                      <m:den>
                        <m:r>
                          <m:rPr>
                            <m:sty m:val="p"/>
                          </m:rPr>
                          <a:rPr lang="en-US" altLang="en-US" sz="2400" b="0" i="0" smtClean="0">
                            <a:solidFill>
                              <a:schemeClr val="tx1"/>
                            </a:solidFill>
                            <a:latin typeface="Cambria Math" panose="02040503050406030204" pitchFamily="18" charset="0"/>
                          </a:rPr>
                          <m:t>D</m:t>
                        </m:r>
                      </m:den>
                    </m:f>
                    <m:r>
                      <a:rPr lang="en-US" altLang="en-US" sz="2400" b="0" i="0" smtClean="0">
                        <a:solidFill>
                          <a:schemeClr val="tx1"/>
                        </a:solidFill>
                        <a:latin typeface="Cambria Math" panose="02040503050406030204" pitchFamily="18" charset="0"/>
                      </a:rPr>
                      <m:t>= </m:t>
                    </m:r>
                    <m:f>
                      <m:fPr>
                        <m:ctrlPr>
                          <a:rPr lang="en-US" altLang="en-US" sz="2400" b="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300 </m:t>
                        </m:r>
                        <m:r>
                          <m:rPr>
                            <m:sty m:val="p"/>
                          </m:rPr>
                          <a:rPr lang="en-US" altLang="en-US" sz="2400" b="0" i="0" smtClean="0">
                            <a:solidFill>
                              <a:schemeClr val="tx1"/>
                            </a:solidFill>
                            <a:latin typeface="Cambria Math" panose="02040503050406030204" pitchFamily="18" charset="0"/>
                          </a:rPr>
                          <m:t>tires</m:t>
                        </m:r>
                        <m:r>
                          <a:rPr lang="en-US" altLang="en-US" sz="2400" b="0" i="0" smtClean="0">
                            <a:solidFill>
                              <a:schemeClr val="tx1"/>
                            </a:solidFill>
                            <a:latin typeface="Cambria Math" panose="02040503050406030204" pitchFamily="18" charset="0"/>
                          </a:rPr>
                          <m:t>/</m:t>
                        </m:r>
                        <m:r>
                          <m:rPr>
                            <m:sty m:val="p"/>
                          </m:rPr>
                          <a:rPr lang="en-US" altLang="en-US" sz="2400" b="0" i="0" smtClean="0">
                            <a:solidFill>
                              <a:schemeClr val="tx1"/>
                            </a:solidFill>
                            <a:latin typeface="Cambria Math" panose="02040503050406030204" pitchFamily="18" charset="0"/>
                          </a:rPr>
                          <m:t>order</m:t>
                        </m:r>
                      </m:num>
                      <m:den>
                        <m:r>
                          <a:rPr lang="en-US" altLang="en-US" sz="2400" b="0" i="0" smtClean="0">
                            <a:solidFill>
                              <a:schemeClr val="tx1"/>
                            </a:solidFill>
                            <a:latin typeface="Cambria Math" panose="02040503050406030204" pitchFamily="18" charset="0"/>
                          </a:rPr>
                          <m:t>9600 </m:t>
                        </m:r>
                        <m:r>
                          <m:rPr>
                            <m:sty m:val="p"/>
                          </m:rPr>
                          <a:rPr lang="en-US" altLang="en-US" sz="2400" b="0" i="0" smtClean="0">
                            <a:solidFill>
                              <a:schemeClr val="tx1"/>
                            </a:solidFill>
                            <a:latin typeface="Cambria Math" panose="02040503050406030204" pitchFamily="18" charset="0"/>
                          </a:rPr>
                          <m:t>tires</m:t>
                        </m:r>
                        <m:r>
                          <a:rPr lang="en-US" altLang="en-US" sz="2400" b="0" i="0" smtClean="0">
                            <a:solidFill>
                              <a:schemeClr val="tx1"/>
                            </a:solidFill>
                            <a:latin typeface="Cambria Math" panose="02040503050406030204" pitchFamily="18" charset="0"/>
                          </a:rPr>
                          <m:t>/</m:t>
                        </m:r>
                        <m:r>
                          <m:rPr>
                            <m:sty m:val="p"/>
                          </m:rPr>
                          <a:rPr lang="en-US" altLang="en-US" sz="2400" b="0" i="0" smtClean="0">
                            <a:solidFill>
                              <a:schemeClr val="tx1"/>
                            </a:solidFill>
                            <a:latin typeface="Cambria Math" panose="02040503050406030204" pitchFamily="18" charset="0"/>
                          </a:rPr>
                          <m:t>year</m:t>
                        </m:r>
                      </m:den>
                    </m:f>
                    <m:r>
                      <a:rPr lang="en-US" altLang="en-US" sz="2400" b="0" i="0" smtClean="0">
                        <a:solidFill>
                          <a:schemeClr val="tx1"/>
                        </a:solidFill>
                        <a:latin typeface="Cambria Math" panose="02040503050406030204" pitchFamily="18" charset="0"/>
                      </a:rPr>
                      <m:t>=</m:t>
                    </m:r>
                    <m:f>
                      <m:fPr>
                        <m:ctrlPr>
                          <a:rPr lang="en-US" altLang="en-US" sz="2400" b="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1</m:t>
                        </m:r>
                      </m:num>
                      <m:den>
                        <m:r>
                          <a:rPr lang="en-US" altLang="en-US" sz="2400" b="0" i="0" smtClean="0">
                            <a:solidFill>
                              <a:schemeClr val="tx1"/>
                            </a:solidFill>
                            <a:latin typeface="Cambria Math" panose="02040503050406030204" pitchFamily="18" charset="0"/>
                          </a:rPr>
                          <m:t>32</m:t>
                        </m:r>
                      </m:den>
                    </m:f>
                  </m:oMath>
                </a14:m>
                <a:r>
                  <a:rPr lang="en-US" altLang="en-US" sz="2400" dirty="0">
                    <a:solidFill>
                      <a:schemeClr val="tx1"/>
                    </a:solidFill>
                    <a:latin typeface="Candara" panose="020E0502030303020204" pitchFamily="34" charset="0"/>
                  </a:rPr>
                  <a:t> of a year = </a:t>
                </a:r>
                <a14:m>
                  <m:oMath xmlns:m="http://schemas.openxmlformats.org/officeDocument/2006/math">
                    <m:f>
                      <m:fPr>
                        <m:ctrlPr>
                          <a:rPr lang="en-US" altLang="en-US" sz="2400" b="0" i="1" smtClean="0">
                            <a:solidFill>
                              <a:schemeClr val="tx1"/>
                            </a:solidFill>
                            <a:latin typeface="Cambria Math" panose="02040503050406030204" pitchFamily="18" charset="0"/>
                          </a:rPr>
                        </m:ctrlPr>
                      </m:fPr>
                      <m:num>
                        <m:r>
                          <a:rPr lang="en-US" altLang="en-US" sz="2400" b="0" i="0" smtClean="0">
                            <a:solidFill>
                              <a:schemeClr val="tx1"/>
                            </a:solidFill>
                            <a:latin typeface="Cambria Math" panose="02040503050406030204" pitchFamily="18" charset="0"/>
                          </a:rPr>
                          <m:t>1</m:t>
                        </m:r>
                      </m:num>
                      <m:den>
                        <m:r>
                          <a:rPr lang="en-US" altLang="en-US" sz="2400" b="0" i="0" smtClean="0">
                            <a:solidFill>
                              <a:schemeClr val="tx1"/>
                            </a:solidFill>
                            <a:latin typeface="Cambria Math" panose="02040503050406030204" pitchFamily="18" charset="0"/>
                          </a:rPr>
                          <m:t>32</m:t>
                        </m:r>
                      </m:den>
                    </m:f>
                    <m:r>
                      <a:rPr lang="en-US" altLang="en-US" sz="2400" i="0" dirty="0">
                        <a:solidFill>
                          <a:schemeClr val="tx1"/>
                        </a:solidFill>
                        <a:latin typeface="Cambria Math" panose="02040503050406030204" pitchFamily="18" charset="0"/>
                        <a:ea typeface="Cambria Math" panose="02040503050406030204" pitchFamily="18" charset="0"/>
                      </a:rPr>
                      <m:t>×</m:t>
                    </m:r>
                    <m:r>
                      <a:rPr lang="en-US" altLang="en-US" sz="2400" b="0" i="0" dirty="0" smtClean="0">
                        <a:solidFill>
                          <a:schemeClr val="tx1"/>
                        </a:solidFill>
                        <a:latin typeface="Cambria Math" panose="02040503050406030204" pitchFamily="18" charset="0"/>
                        <a:ea typeface="Cambria Math" panose="02040503050406030204" pitchFamily="18" charset="0"/>
                      </a:rPr>
                      <m:t>288</m:t>
                    </m:r>
                  </m:oMath>
                </a14:m>
                <a:r>
                  <a:rPr lang="en-US" altLang="en-US" sz="2400" dirty="0">
                    <a:solidFill>
                      <a:schemeClr val="tx1"/>
                    </a:solidFill>
                    <a:latin typeface="Candara" panose="020E0502030303020204" pitchFamily="34" charset="0"/>
                  </a:rPr>
                  <a:t> days = 9 days</a:t>
                </a:r>
              </a:p>
              <a:p>
                <a:pPr>
                  <a:lnSpc>
                    <a:spcPct val="200000"/>
                  </a:lnSpc>
                </a:pPr>
                <a:r>
                  <a:rPr lang="en-US" altLang="en-US" sz="2400" dirty="0">
                    <a:solidFill>
                      <a:schemeClr val="tx1"/>
                    </a:solidFill>
                    <a:latin typeface="Candara" panose="020E0502030303020204" pitchFamily="34" charset="0"/>
                  </a:rPr>
                  <a:t>d. Total Cost =  (</a:t>
                </a:r>
                <a14:m>
                  <m:oMath xmlns:m="http://schemas.openxmlformats.org/officeDocument/2006/math">
                    <m:sSub>
                      <m:sSubPr>
                        <m:ctrlPr>
                          <a:rPr lang="en-US" altLang="en-US" sz="2400" i="1" smtClean="0">
                            <a:solidFill>
                              <a:schemeClr val="tx1"/>
                            </a:solidFill>
                            <a:latin typeface="Cambria Math" panose="02040503050406030204" pitchFamily="18" charset="0"/>
                          </a:rPr>
                        </m:ctrlPr>
                      </m:sSubPr>
                      <m:e>
                        <m:r>
                          <m:rPr>
                            <m:sty m:val="p"/>
                          </m:rPr>
                          <a:rPr lang="en-US" altLang="en-US" sz="2400" b="0" i="0" smtClean="0">
                            <a:solidFill>
                              <a:schemeClr val="tx1"/>
                            </a:solidFill>
                            <a:latin typeface="Cambria Math" panose="02040503050406030204" pitchFamily="18" charset="0"/>
                          </a:rPr>
                          <m:t>Q</m:t>
                        </m:r>
                      </m:e>
                      <m:sub>
                        <m:r>
                          <a:rPr lang="en-US" altLang="en-US" sz="2400" b="0" i="0" smtClean="0">
                            <a:solidFill>
                              <a:schemeClr val="tx1"/>
                            </a:solidFill>
                            <a:latin typeface="Cambria Math" panose="02040503050406030204" pitchFamily="18" charset="0"/>
                          </a:rPr>
                          <m:t>0</m:t>
                        </m:r>
                      </m:sub>
                    </m:sSub>
                    <m:r>
                      <a:rPr lang="en-US" altLang="en-US" sz="2400" b="0" i="0" smtClean="0">
                        <a:solidFill>
                          <a:schemeClr val="tx1"/>
                        </a:solidFill>
                        <a:latin typeface="Cambria Math" panose="02040503050406030204" pitchFamily="18" charset="0"/>
                      </a:rPr>
                      <m:t> </m:t>
                    </m:r>
                  </m:oMath>
                </a14:m>
                <a:r>
                  <a:rPr lang="en-US" altLang="en-US" sz="2400" dirty="0">
                    <a:solidFill>
                      <a:schemeClr val="tx1"/>
                    </a:solidFill>
                    <a:latin typeface="Candara" panose="020E0502030303020204" pitchFamily="34" charset="0"/>
                  </a:rPr>
                  <a:t>/2) 𝐻 + (𝐷/</a:t>
                </a:r>
                <a:r>
                  <a:rPr lang="en-US" altLang="en-US" sz="2400" dirty="0">
                    <a:solidFill>
                      <a:schemeClr val="tx1"/>
                    </a:solidFill>
                  </a:rPr>
                  <a:t> </a:t>
                </a:r>
                <a14:m>
                  <m:oMath xmlns:m="http://schemas.openxmlformats.org/officeDocument/2006/math">
                    <m:sSub>
                      <m:sSubPr>
                        <m:ctrlPr>
                          <a:rPr lang="en-US" altLang="en-US" sz="2400" i="1" smtClean="0">
                            <a:solidFill>
                              <a:schemeClr val="tx1"/>
                            </a:solidFill>
                            <a:latin typeface="Cambria Math" panose="02040503050406030204" pitchFamily="18" charset="0"/>
                          </a:rPr>
                        </m:ctrlPr>
                      </m:sSubPr>
                      <m:e>
                        <m:r>
                          <m:rPr>
                            <m:sty m:val="p"/>
                          </m:rPr>
                          <a:rPr lang="en-US" altLang="en-US" sz="2400" b="0" i="0" smtClean="0">
                            <a:solidFill>
                              <a:schemeClr val="tx1"/>
                            </a:solidFill>
                            <a:latin typeface="Cambria Math" panose="02040503050406030204" pitchFamily="18" charset="0"/>
                          </a:rPr>
                          <m:t>Q</m:t>
                        </m:r>
                      </m:e>
                      <m:sub>
                        <m:r>
                          <a:rPr lang="en-US" altLang="en-US" sz="2400" b="0" i="0" smtClean="0">
                            <a:solidFill>
                              <a:schemeClr val="tx1"/>
                            </a:solidFill>
                            <a:latin typeface="Cambria Math" panose="02040503050406030204" pitchFamily="18" charset="0"/>
                          </a:rPr>
                          <m:t>0</m:t>
                        </m:r>
                      </m:sub>
                    </m:sSub>
                  </m:oMath>
                </a14:m>
                <a:r>
                  <a:rPr lang="en-US" altLang="en-US" sz="2400" dirty="0">
                    <a:solidFill>
                      <a:schemeClr val="tx1"/>
                    </a:solidFill>
                    <a:latin typeface="Candara" panose="020E0502030303020204" pitchFamily="34" charset="0"/>
                  </a:rPr>
                  <a:t>) 𝑆 = (300/2) 16 + (9600/300) 75 = 2400 + 2400 = $4800 </a:t>
                </a:r>
              </a:p>
              <a:p>
                <a:pPr>
                  <a:lnSpc>
                    <a:spcPct val="150000"/>
                  </a:lnSpc>
                </a:pPr>
                <a:endParaRPr lang="en-US" altLang="en-US" sz="2400" dirty="0">
                  <a:solidFill>
                    <a:schemeClr val="tx1"/>
                  </a:solidFill>
                  <a:latin typeface="Candara" panose="020E0502030303020204" pitchFamily="34" charset="0"/>
                </a:endParaRPr>
              </a:p>
            </p:txBody>
          </p:sp>
        </mc:Choice>
        <mc:Fallback xmlns="">
          <p:sp>
            <p:nvSpPr>
              <p:cNvPr id="23556" name="Rectangle 23555">
                <a:extLst>
                  <a:ext uri="{FF2B5EF4-FFF2-40B4-BE49-F238E27FC236}">
                    <a16:creationId xmlns:a16="http://schemas.microsoft.com/office/drawing/2014/main" id="{76AE5C3E-33C7-5905-5C82-561444AE95ED}"/>
                  </a:ext>
                </a:extLst>
              </p:cNvPr>
              <p:cNvSpPr>
                <a:spLocks noRot="1" noChangeAspect="1" noMove="1" noResize="1" noEditPoints="1" noAdjustHandles="1" noChangeArrowheads="1" noChangeShapeType="1" noTextEdit="1"/>
              </p:cNvSpPr>
              <p:nvPr/>
            </p:nvSpPr>
            <p:spPr>
              <a:xfrm>
                <a:off x="731520" y="1400533"/>
                <a:ext cx="11460480" cy="5233946"/>
              </a:xfrm>
              <a:prstGeom prst="rect">
                <a:avLst/>
              </a:prstGeom>
              <a:blipFill>
                <a:blip r:embed="rId2"/>
                <a:stretch>
                  <a:fillRect l="-798" t="-93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67711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6">
                                            <p:txEl>
                                              <p:pRg st="4" end="4"/>
                                            </p:txEl>
                                          </p:spTgt>
                                        </p:tgtEl>
                                        <p:attrNameLst>
                                          <p:attrName>style.visibility</p:attrName>
                                        </p:attrNameLst>
                                      </p:cBhvr>
                                      <p:to>
                                        <p:strVal val="visible"/>
                                      </p:to>
                                    </p:set>
                                    <p:animEffect transition="in" filter="fade">
                                      <p:cBhvr>
                                        <p:cTn id="7" dur="500"/>
                                        <p:tgtEl>
                                          <p:spTgt spid="2355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6">
                                            <p:txEl>
                                              <p:pRg st="5" end="5"/>
                                            </p:txEl>
                                          </p:spTgt>
                                        </p:tgtEl>
                                        <p:attrNameLst>
                                          <p:attrName>style.visibility</p:attrName>
                                        </p:attrNameLst>
                                      </p:cBhvr>
                                      <p:to>
                                        <p:strVal val="visible"/>
                                      </p:to>
                                    </p:set>
                                    <p:animEffect transition="in" filter="fade">
                                      <p:cBhvr>
                                        <p:cTn id="12" dur="500"/>
                                        <p:tgtEl>
                                          <p:spTgt spid="2355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556">
                                            <p:txEl>
                                              <p:pRg st="6" end="6"/>
                                            </p:txEl>
                                          </p:spTgt>
                                        </p:tgtEl>
                                        <p:attrNameLst>
                                          <p:attrName>style.visibility</p:attrName>
                                        </p:attrNameLst>
                                      </p:cBhvr>
                                      <p:to>
                                        <p:strVal val="visible"/>
                                      </p:to>
                                    </p:set>
                                    <p:animEffect transition="in" filter="fade">
                                      <p:cBhvr>
                                        <p:cTn id="17" dur="500"/>
                                        <p:tgtEl>
                                          <p:spTgt spid="23556">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556">
                                            <p:txEl>
                                              <p:pRg st="7" end="7"/>
                                            </p:txEl>
                                          </p:spTgt>
                                        </p:tgtEl>
                                        <p:attrNameLst>
                                          <p:attrName>style.visibility</p:attrName>
                                        </p:attrNameLst>
                                      </p:cBhvr>
                                      <p:to>
                                        <p:strVal val="visible"/>
                                      </p:to>
                                    </p:set>
                                    <p:animEffect transition="in" filter="fade">
                                      <p:cBhvr>
                                        <p:cTn id="22" dur="500"/>
                                        <p:tgtEl>
                                          <p:spTgt spid="2355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Example 2: EOQ</a:t>
            </a:r>
          </a:p>
        </p:txBody>
      </p:sp>
      <mc:AlternateContent xmlns:mc="http://schemas.openxmlformats.org/markup-compatibility/2006" xmlns:a14="http://schemas.microsoft.com/office/drawing/2010/main">
        <mc:Choice Requires="a14">
          <p:sp>
            <p:nvSpPr>
              <p:cNvPr id="23556" name="Rectangle 23555">
                <a:extLst>
                  <a:ext uri="{FF2B5EF4-FFF2-40B4-BE49-F238E27FC236}">
                    <a16:creationId xmlns:a16="http://schemas.microsoft.com/office/drawing/2014/main" id="{76AE5C3E-33C7-5905-5C82-561444AE95ED}"/>
                  </a:ext>
                </a:extLst>
              </p:cNvPr>
              <p:cNvSpPr/>
              <p:nvPr/>
            </p:nvSpPr>
            <p:spPr>
              <a:xfrm>
                <a:off x="731520" y="1554479"/>
                <a:ext cx="11025173" cy="53035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400" dirty="0">
                    <a:solidFill>
                      <a:schemeClr val="tx1"/>
                    </a:solidFill>
                    <a:latin typeface="Candara" panose="020E0502030303020204" pitchFamily="34" charset="0"/>
                  </a:rPr>
                  <a:t>Piddling Manufacturing assembles security systems. It purchases 3,600 high-definition security cameras a year at $180 each. Ordering costs are $50, and annual carrying costs are 20 percent of the purchase price. Compute the optimal quantity and the total annual cost of ordering and carrying the inventory. </a:t>
                </a:r>
              </a:p>
              <a:p>
                <a:endParaRPr lang="en-US" altLang="en-US" sz="2400" dirty="0">
                  <a:solidFill>
                    <a:schemeClr val="tx1"/>
                  </a:solidFill>
                  <a:latin typeface="Candara" panose="020E0502030303020204" pitchFamily="34" charset="0"/>
                </a:endParaRPr>
              </a:p>
              <a:p>
                <a:r>
                  <a:rPr lang="en-US" altLang="en-US" sz="2400" dirty="0">
                    <a:solidFill>
                      <a:schemeClr val="tx1"/>
                    </a:solidFill>
                    <a:latin typeface="Candara" panose="020E0502030303020204" pitchFamily="34" charset="0"/>
                  </a:rPr>
                  <a:t>Given That,</a:t>
                </a:r>
              </a:p>
              <a:p>
                <a:r>
                  <a:rPr lang="en-US" altLang="en-US" sz="2400" dirty="0">
                    <a:solidFill>
                      <a:schemeClr val="tx1"/>
                    </a:solidFill>
                    <a:latin typeface="Candara" panose="020E0502030303020204" pitchFamily="34" charset="0"/>
                  </a:rPr>
                  <a:t>Demand, D = 3,600 cameras per year</a:t>
                </a:r>
              </a:p>
              <a:p>
                <a:r>
                  <a:rPr lang="en-US" altLang="en-US" sz="2400" dirty="0">
                    <a:solidFill>
                      <a:schemeClr val="tx1"/>
                    </a:solidFill>
                    <a:latin typeface="Candara" panose="020E0502030303020204" pitchFamily="34" charset="0"/>
                  </a:rPr>
                  <a:t>Carrying Cost, H = $180 x 20% = $36 per unit</a:t>
                </a:r>
              </a:p>
              <a:p>
                <a:r>
                  <a:rPr lang="en-US" altLang="en-US" sz="2400" dirty="0">
                    <a:solidFill>
                      <a:schemeClr val="tx1"/>
                    </a:solidFill>
                    <a:latin typeface="Candara" panose="020E0502030303020204" pitchFamily="34" charset="0"/>
                  </a:rPr>
                  <a:t>Ordering Cost, S = $50 per order</a:t>
                </a:r>
              </a:p>
              <a:p>
                <a:endParaRPr lang="en-US" altLang="en-US" sz="2400" dirty="0">
                  <a:solidFill>
                    <a:schemeClr val="tx1"/>
                  </a:solidFill>
                  <a:latin typeface="Candara" panose="020E0502030303020204" pitchFamily="34" charset="0"/>
                </a:endParaRPr>
              </a:p>
              <a:p>
                <a:r>
                  <a:rPr lang="en-US" altLang="en-US" sz="2400" dirty="0">
                    <a:solidFill>
                      <a:schemeClr val="tx1"/>
                    </a:solidFill>
                    <a:latin typeface="Candara" panose="020E0502030303020204" pitchFamily="34" charset="0"/>
                  </a:rPr>
                  <a:t>EOQ,  </a:t>
                </a:r>
                <a14:m>
                  <m:oMath xmlns:m="http://schemas.openxmlformats.org/officeDocument/2006/math">
                    <m:sSub>
                      <m:sSubPr>
                        <m:ctrlPr>
                          <a:rPr lang="en-US" altLang="en-US" sz="2400" b="0" i="1" smtClean="0">
                            <a:solidFill>
                              <a:schemeClr val="tx1"/>
                            </a:solidFill>
                            <a:latin typeface="Cambria Math" panose="02040503050406030204" pitchFamily="18" charset="0"/>
                          </a:rPr>
                        </m:ctrlPr>
                      </m:sSubPr>
                      <m:e>
                        <m:r>
                          <a:rPr lang="en-US" altLang="en-US" sz="2400" b="0" i="1" smtClean="0">
                            <a:solidFill>
                              <a:schemeClr val="tx1"/>
                            </a:solidFill>
                            <a:latin typeface="Cambria Math" panose="02040503050406030204" pitchFamily="18" charset="0"/>
                          </a:rPr>
                          <m:t>𝑄</m:t>
                        </m:r>
                      </m:e>
                      <m:sub>
                        <m:r>
                          <a:rPr lang="en-US" altLang="en-US" sz="2400" b="0" i="1" smtClean="0">
                            <a:solidFill>
                              <a:schemeClr val="tx1"/>
                            </a:solidFill>
                            <a:latin typeface="Cambria Math" panose="02040503050406030204" pitchFamily="18" charset="0"/>
                          </a:rPr>
                          <m:t>0</m:t>
                        </m:r>
                      </m:sub>
                    </m:sSub>
                    <m:r>
                      <a:rPr lang="en-US" altLang="en-US" sz="2400" b="0" i="1" smtClean="0">
                        <a:solidFill>
                          <a:schemeClr val="tx1"/>
                        </a:solidFill>
                        <a:latin typeface="Cambria Math" panose="02040503050406030204" pitchFamily="18" charset="0"/>
                      </a:rPr>
                      <m:t>= </m:t>
                    </m:r>
                    <m:rad>
                      <m:radPr>
                        <m:degHide m:val="on"/>
                        <m:ctrlPr>
                          <a:rPr lang="en-US" altLang="en-US" sz="2400" i="1" smtClean="0">
                            <a:solidFill>
                              <a:schemeClr val="tx1"/>
                            </a:solidFill>
                            <a:latin typeface="Cambria Math" panose="02040503050406030204" pitchFamily="18" charset="0"/>
                          </a:rPr>
                        </m:ctrlPr>
                      </m:radPr>
                      <m:deg/>
                      <m:e>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2</m:t>
                            </m:r>
                            <m:r>
                              <a:rPr lang="en-US" altLang="en-US" sz="2400" b="0" i="1" smtClean="0">
                                <a:solidFill>
                                  <a:schemeClr val="tx1"/>
                                </a:solidFill>
                                <a:latin typeface="Cambria Math" panose="02040503050406030204" pitchFamily="18" charset="0"/>
                              </a:rPr>
                              <m:t>𝐷𝑆</m:t>
                            </m:r>
                          </m:num>
                          <m:den>
                            <m:r>
                              <a:rPr lang="en-US" altLang="en-US" sz="2400" b="0" i="1" smtClean="0">
                                <a:solidFill>
                                  <a:schemeClr val="tx1"/>
                                </a:solidFill>
                                <a:latin typeface="Cambria Math" panose="02040503050406030204" pitchFamily="18" charset="0"/>
                              </a:rPr>
                              <m:t>𝐻</m:t>
                            </m:r>
                          </m:den>
                        </m:f>
                      </m:e>
                    </m:rad>
                    <m:r>
                      <a:rPr lang="en-US" altLang="en-US" sz="2400" b="0" i="1" smtClean="0">
                        <a:solidFill>
                          <a:schemeClr val="tx1"/>
                        </a:solidFill>
                        <a:latin typeface="Cambria Math" panose="02040503050406030204" pitchFamily="18" charset="0"/>
                      </a:rPr>
                      <m:t>=</m:t>
                    </m:r>
                    <m:rad>
                      <m:radPr>
                        <m:degHide m:val="on"/>
                        <m:ctrlPr>
                          <a:rPr lang="en-US" altLang="en-US" sz="2400" i="1" smtClean="0">
                            <a:solidFill>
                              <a:schemeClr val="tx1"/>
                            </a:solidFill>
                            <a:latin typeface="Cambria Math" panose="02040503050406030204" pitchFamily="18" charset="0"/>
                          </a:rPr>
                        </m:ctrlPr>
                      </m:radPr>
                      <m:deg/>
                      <m:e>
                        <m:f>
                          <m:fPr>
                            <m:ctrlPr>
                              <a:rPr lang="en-US" altLang="en-US" sz="2400" i="1" smtClean="0">
                                <a:solidFill>
                                  <a:schemeClr val="tx1"/>
                                </a:solidFill>
                                <a:latin typeface="Cambria Math" panose="02040503050406030204" pitchFamily="18" charset="0"/>
                              </a:rPr>
                            </m:ctrlPr>
                          </m:fPr>
                          <m:num>
                            <m:r>
                              <a:rPr lang="en-US" altLang="en-US" sz="2400" b="0" i="1" smtClean="0">
                                <a:solidFill>
                                  <a:schemeClr val="tx1"/>
                                </a:solidFill>
                                <a:latin typeface="Cambria Math" panose="02040503050406030204" pitchFamily="18" charset="0"/>
                              </a:rPr>
                              <m:t>2</m:t>
                            </m:r>
                            <m:r>
                              <a:rPr lang="en-US" altLang="en-US" sz="2400" b="0" i="1" smtClean="0">
                                <a:solidFill>
                                  <a:schemeClr val="tx1"/>
                                </a:solidFill>
                                <a:latin typeface="Cambria Math" panose="02040503050406030204" pitchFamily="18" charset="0"/>
                                <a:ea typeface="Cambria Math" panose="02040503050406030204" pitchFamily="18" charset="0"/>
                              </a:rPr>
                              <m:t>×3600×50</m:t>
                            </m:r>
                          </m:num>
                          <m:den>
                            <m:r>
                              <a:rPr lang="en-US" altLang="en-US" sz="2400" b="0" i="1" smtClean="0">
                                <a:solidFill>
                                  <a:schemeClr val="tx1"/>
                                </a:solidFill>
                                <a:latin typeface="Cambria Math" panose="02040503050406030204" pitchFamily="18" charset="0"/>
                                <a:ea typeface="Cambria Math" panose="02040503050406030204" pitchFamily="18" charset="0"/>
                              </a:rPr>
                              <m:t>3</m:t>
                            </m:r>
                            <m:r>
                              <a:rPr lang="en-US" altLang="en-US" sz="2400" b="0" i="1" smtClean="0">
                                <a:solidFill>
                                  <a:schemeClr val="tx1"/>
                                </a:solidFill>
                                <a:latin typeface="Cambria Math" panose="02040503050406030204" pitchFamily="18" charset="0"/>
                              </a:rPr>
                              <m:t>6</m:t>
                            </m:r>
                          </m:den>
                        </m:f>
                      </m:e>
                    </m:rad>
                    <m:r>
                      <a:rPr lang="en-US" altLang="en-US" sz="2400" b="0" i="1" smtClean="0">
                        <a:solidFill>
                          <a:schemeClr val="tx1"/>
                        </a:solidFill>
                        <a:latin typeface="Cambria Math" panose="02040503050406030204" pitchFamily="18" charset="0"/>
                      </a:rPr>
                      <m:t>=100</m:t>
                    </m:r>
                  </m:oMath>
                </a14:m>
                <a:r>
                  <a:rPr lang="en-US" altLang="en-US" sz="2400" dirty="0">
                    <a:solidFill>
                      <a:schemeClr val="tx1"/>
                    </a:solidFill>
                    <a:latin typeface="Candara" panose="020E0502030303020204" pitchFamily="34" charset="0"/>
                  </a:rPr>
                  <a:t> security cameras</a:t>
                </a:r>
              </a:p>
              <a:p>
                <a:pPr>
                  <a:lnSpc>
                    <a:spcPct val="200000"/>
                  </a:lnSpc>
                </a:pPr>
                <a:r>
                  <a:rPr lang="en-US" altLang="en-US" sz="2400" dirty="0">
                    <a:solidFill>
                      <a:schemeClr val="tx1"/>
                    </a:solidFill>
                    <a:latin typeface="Candara" panose="020E0502030303020204" pitchFamily="34" charset="0"/>
                  </a:rPr>
                  <a:t>Total Cost =  (</a:t>
                </a:r>
                <a14:m>
                  <m:oMath xmlns:m="http://schemas.openxmlformats.org/officeDocument/2006/math">
                    <m:sSub>
                      <m:sSubPr>
                        <m:ctrlPr>
                          <a:rPr lang="en-US" altLang="en-US" sz="2400" i="1" smtClean="0">
                            <a:solidFill>
                              <a:schemeClr val="tx1"/>
                            </a:solidFill>
                            <a:latin typeface="Cambria Math" panose="02040503050406030204" pitchFamily="18" charset="0"/>
                          </a:rPr>
                        </m:ctrlPr>
                      </m:sSubPr>
                      <m:e>
                        <m:r>
                          <a:rPr lang="en-US" altLang="en-US" sz="2400" b="0" i="1" smtClean="0">
                            <a:solidFill>
                              <a:schemeClr val="tx1"/>
                            </a:solidFill>
                            <a:latin typeface="Cambria Math" panose="02040503050406030204" pitchFamily="18" charset="0"/>
                          </a:rPr>
                          <m:t>𝑄</m:t>
                        </m:r>
                      </m:e>
                      <m:sub>
                        <m:r>
                          <a:rPr lang="en-US" altLang="en-US" sz="2400" b="0" i="1" smtClean="0">
                            <a:solidFill>
                              <a:schemeClr val="tx1"/>
                            </a:solidFill>
                            <a:latin typeface="Cambria Math" panose="02040503050406030204" pitchFamily="18" charset="0"/>
                          </a:rPr>
                          <m:t>0</m:t>
                        </m:r>
                      </m:sub>
                    </m:sSub>
                    <m:r>
                      <a:rPr lang="en-US" altLang="en-US" sz="2400" b="0" i="1" smtClean="0">
                        <a:solidFill>
                          <a:schemeClr val="tx1"/>
                        </a:solidFill>
                        <a:latin typeface="Cambria Math" panose="02040503050406030204" pitchFamily="18" charset="0"/>
                      </a:rPr>
                      <m:t> </m:t>
                    </m:r>
                  </m:oMath>
                </a14:m>
                <a:r>
                  <a:rPr lang="en-US" altLang="en-US" sz="2400" dirty="0">
                    <a:solidFill>
                      <a:schemeClr val="tx1"/>
                    </a:solidFill>
                    <a:latin typeface="Candara" panose="020E0502030303020204" pitchFamily="34" charset="0"/>
                  </a:rPr>
                  <a:t>/2) 𝐻 + (𝐷/</a:t>
                </a:r>
                <a:r>
                  <a:rPr lang="en-US" altLang="en-US" sz="2400" dirty="0">
                    <a:solidFill>
                      <a:schemeClr val="tx1"/>
                    </a:solidFill>
                  </a:rPr>
                  <a:t> </a:t>
                </a:r>
                <a14:m>
                  <m:oMath xmlns:m="http://schemas.openxmlformats.org/officeDocument/2006/math">
                    <m:sSub>
                      <m:sSubPr>
                        <m:ctrlPr>
                          <a:rPr lang="en-US" altLang="en-US" sz="2400" i="1" smtClean="0">
                            <a:solidFill>
                              <a:schemeClr val="tx1"/>
                            </a:solidFill>
                            <a:latin typeface="Cambria Math" panose="02040503050406030204" pitchFamily="18" charset="0"/>
                          </a:rPr>
                        </m:ctrlPr>
                      </m:sSubPr>
                      <m:e>
                        <m:r>
                          <a:rPr lang="en-US" altLang="en-US" sz="2400" b="0" i="1" smtClean="0">
                            <a:solidFill>
                              <a:schemeClr val="tx1"/>
                            </a:solidFill>
                            <a:latin typeface="Cambria Math" panose="02040503050406030204" pitchFamily="18" charset="0"/>
                          </a:rPr>
                          <m:t>𝑄</m:t>
                        </m:r>
                      </m:e>
                      <m:sub>
                        <m:r>
                          <a:rPr lang="en-US" altLang="en-US" sz="2400" b="0" i="1" smtClean="0">
                            <a:solidFill>
                              <a:schemeClr val="tx1"/>
                            </a:solidFill>
                            <a:latin typeface="Cambria Math" panose="02040503050406030204" pitchFamily="18" charset="0"/>
                          </a:rPr>
                          <m:t>0</m:t>
                        </m:r>
                      </m:sub>
                    </m:sSub>
                  </m:oMath>
                </a14:m>
                <a:r>
                  <a:rPr lang="en-US" altLang="en-US" sz="2400" dirty="0">
                    <a:solidFill>
                      <a:schemeClr val="tx1"/>
                    </a:solidFill>
                    <a:latin typeface="Candara" panose="020E0502030303020204" pitchFamily="34" charset="0"/>
                  </a:rPr>
                  <a:t>) 𝑆 = (100/2) 36 + (3600/100) 50 = 1800 + 1800 = $3600</a:t>
                </a:r>
              </a:p>
              <a:p>
                <a:pPr>
                  <a:lnSpc>
                    <a:spcPct val="200000"/>
                  </a:lnSpc>
                </a:pPr>
                <a:endParaRPr lang="en-US" altLang="en-US" sz="2400" dirty="0">
                  <a:solidFill>
                    <a:schemeClr val="tx1"/>
                  </a:solidFill>
                  <a:latin typeface="Candara" panose="020E0502030303020204" pitchFamily="34" charset="0"/>
                </a:endParaRPr>
              </a:p>
              <a:p>
                <a:endParaRPr lang="en-US" altLang="en-US" sz="2400" dirty="0">
                  <a:solidFill>
                    <a:schemeClr val="tx1"/>
                  </a:solidFill>
                  <a:latin typeface="Candara" panose="020E0502030303020204" pitchFamily="34" charset="0"/>
                </a:endParaRPr>
              </a:p>
              <a:p>
                <a:endParaRPr lang="en-US" altLang="en-US" sz="2400" dirty="0">
                  <a:solidFill>
                    <a:schemeClr val="tx1"/>
                  </a:solidFill>
                  <a:latin typeface="Candara" panose="020E0502030303020204" pitchFamily="34" charset="0"/>
                </a:endParaRPr>
              </a:p>
            </p:txBody>
          </p:sp>
        </mc:Choice>
        <mc:Fallback xmlns="">
          <p:sp>
            <p:nvSpPr>
              <p:cNvPr id="23556" name="Rectangle 23555">
                <a:extLst>
                  <a:ext uri="{FF2B5EF4-FFF2-40B4-BE49-F238E27FC236}">
                    <a16:creationId xmlns:a16="http://schemas.microsoft.com/office/drawing/2014/main" id="{76AE5C3E-33C7-5905-5C82-561444AE95ED}"/>
                  </a:ext>
                </a:extLst>
              </p:cNvPr>
              <p:cNvSpPr>
                <a:spLocks noRot="1" noChangeAspect="1" noMove="1" noResize="1" noEditPoints="1" noAdjustHandles="1" noChangeArrowheads="1" noChangeShapeType="1" noTextEdit="1"/>
              </p:cNvSpPr>
              <p:nvPr/>
            </p:nvSpPr>
            <p:spPr>
              <a:xfrm>
                <a:off x="731520" y="1554479"/>
                <a:ext cx="11025173" cy="5303520"/>
              </a:xfrm>
              <a:prstGeom prst="rect">
                <a:avLst/>
              </a:prstGeom>
              <a:blipFill>
                <a:blip r:embed="rId2"/>
                <a:stretch>
                  <a:fillRect l="-829" t="-92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566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6">
                                            <p:txEl>
                                              <p:pRg st="2" end="2"/>
                                            </p:txEl>
                                          </p:spTgt>
                                        </p:tgtEl>
                                        <p:attrNameLst>
                                          <p:attrName>style.visibility</p:attrName>
                                        </p:attrNameLst>
                                      </p:cBhvr>
                                      <p:to>
                                        <p:strVal val="visible"/>
                                      </p:to>
                                    </p:set>
                                    <p:animEffect transition="in" filter="fade">
                                      <p:cBhvr>
                                        <p:cTn id="7" dur="500"/>
                                        <p:tgtEl>
                                          <p:spTgt spid="2355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556">
                                            <p:txEl>
                                              <p:pRg st="3" end="3"/>
                                            </p:txEl>
                                          </p:spTgt>
                                        </p:tgtEl>
                                        <p:attrNameLst>
                                          <p:attrName>style.visibility</p:attrName>
                                        </p:attrNameLst>
                                      </p:cBhvr>
                                      <p:to>
                                        <p:strVal val="visible"/>
                                      </p:to>
                                    </p:set>
                                    <p:animEffect transition="in" filter="fade">
                                      <p:cBhvr>
                                        <p:cTn id="10" dur="500"/>
                                        <p:tgtEl>
                                          <p:spTgt spid="2355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556">
                                            <p:txEl>
                                              <p:pRg st="4" end="4"/>
                                            </p:txEl>
                                          </p:spTgt>
                                        </p:tgtEl>
                                        <p:attrNameLst>
                                          <p:attrName>style.visibility</p:attrName>
                                        </p:attrNameLst>
                                      </p:cBhvr>
                                      <p:to>
                                        <p:strVal val="visible"/>
                                      </p:to>
                                    </p:set>
                                    <p:animEffect transition="in" filter="fade">
                                      <p:cBhvr>
                                        <p:cTn id="13" dur="500"/>
                                        <p:tgtEl>
                                          <p:spTgt spid="23556">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3556">
                                            <p:txEl>
                                              <p:pRg st="5" end="5"/>
                                            </p:txEl>
                                          </p:spTgt>
                                        </p:tgtEl>
                                        <p:attrNameLst>
                                          <p:attrName>style.visibility</p:attrName>
                                        </p:attrNameLst>
                                      </p:cBhvr>
                                      <p:to>
                                        <p:strVal val="visible"/>
                                      </p:to>
                                    </p:set>
                                    <p:animEffect transition="in" filter="fade">
                                      <p:cBhvr>
                                        <p:cTn id="16" dur="500"/>
                                        <p:tgtEl>
                                          <p:spTgt spid="23556">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556">
                                            <p:txEl>
                                              <p:pRg st="7" end="7"/>
                                            </p:txEl>
                                          </p:spTgt>
                                        </p:tgtEl>
                                        <p:attrNameLst>
                                          <p:attrName>style.visibility</p:attrName>
                                        </p:attrNameLst>
                                      </p:cBhvr>
                                      <p:to>
                                        <p:strVal val="visible"/>
                                      </p:to>
                                    </p:set>
                                    <p:animEffect transition="in" filter="fade">
                                      <p:cBhvr>
                                        <p:cTn id="21" dur="500"/>
                                        <p:tgtEl>
                                          <p:spTgt spid="23556">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556">
                                            <p:txEl>
                                              <p:pRg st="8" end="8"/>
                                            </p:txEl>
                                          </p:spTgt>
                                        </p:tgtEl>
                                        <p:attrNameLst>
                                          <p:attrName>style.visibility</p:attrName>
                                        </p:attrNameLst>
                                      </p:cBhvr>
                                      <p:to>
                                        <p:strVal val="visible"/>
                                      </p:to>
                                    </p:set>
                                    <p:animEffect transition="in" filter="fade">
                                      <p:cBhvr>
                                        <p:cTn id="26" dur="500"/>
                                        <p:tgtEl>
                                          <p:spTgt spid="235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5F41EAF-0546-EAFE-43AB-CD3D83D9ED83}"/>
              </a:ext>
            </a:extLst>
          </p:cNvPr>
          <p:cNvGrpSpPr/>
          <p:nvPr/>
        </p:nvGrpSpPr>
        <p:grpSpPr>
          <a:xfrm>
            <a:off x="0" y="-1"/>
            <a:ext cx="6192456" cy="6858001"/>
            <a:chOff x="0" y="-1"/>
            <a:chExt cx="6192456" cy="6858001"/>
          </a:xfrm>
        </p:grpSpPr>
        <p:sp>
          <p:nvSpPr>
            <p:cNvPr id="2" name="Rectangle 1">
              <a:extLst>
                <a:ext uri="{FF2B5EF4-FFF2-40B4-BE49-F238E27FC236}">
                  <a16:creationId xmlns:a16="http://schemas.microsoft.com/office/drawing/2014/main" id="{CAAA7979-38E2-9813-5857-4F5D8D2B7067}"/>
                </a:ext>
              </a:extLst>
            </p:cNvPr>
            <p:cNvSpPr/>
            <p:nvPr/>
          </p:nvSpPr>
          <p:spPr>
            <a:xfrm>
              <a:off x="0" y="-1"/>
              <a:ext cx="6192456" cy="6858001"/>
            </a:xfrm>
            <a:prstGeom prst="rect">
              <a:avLst/>
            </a:prstGeom>
            <a:solidFill>
              <a:srgbClr val="2E2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98" name="Picture 2" descr="257 Economic Production Quantity Images, Stock Photos &amp; Vectors |  Shutterstock">
              <a:extLst>
                <a:ext uri="{FF2B5EF4-FFF2-40B4-BE49-F238E27FC236}">
                  <a16:creationId xmlns:a16="http://schemas.microsoft.com/office/drawing/2014/main" id="{25AD5CAC-CCB2-B310-5D9B-4551B6F10C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58"/>
            <a:stretch/>
          </p:blipFill>
          <p:spPr bwMode="auto">
            <a:xfrm>
              <a:off x="0" y="1196531"/>
              <a:ext cx="6192456" cy="446493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Rectangle 2">
            <a:extLst>
              <a:ext uri="{FF2B5EF4-FFF2-40B4-BE49-F238E27FC236}">
                <a16:creationId xmlns:a16="http://schemas.microsoft.com/office/drawing/2014/main" id="{B8A211AA-226E-26C6-53EB-DA427D34CCFD}"/>
              </a:ext>
            </a:extLst>
          </p:cNvPr>
          <p:cNvSpPr/>
          <p:nvPr/>
        </p:nvSpPr>
        <p:spPr>
          <a:xfrm>
            <a:off x="6192456" y="0"/>
            <a:ext cx="5999544" cy="68579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latin typeface="Candara" panose="020E0502030303020204" pitchFamily="34" charset="0"/>
              </a:rPr>
              <a:t>EPQ is the batch size that a manufacturer produces periodically to satisfy a certain demand and minimize the production cost.</a:t>
            </a:r>
          </a:p>
        </p:txBody>
      </p:sp>
    </p:spTree>
    <p:extLst>
      <p:ext uri="{BB962C8B-B14F-4D97-AF65-F5344CB8AC3E}">
        <p14:creationId xmlns:p14="http://schemas.microsoft.com/office/powerpoint/2010/main" val="3466163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F21C07-24F8-144A-6CF6-E30042EE29D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Assumptions of EPQ</a:t>
            </a:r>
          </a:p>
        </p:txBody>
      </p:sp>
      <p:grpSp>
        <p:nvGrpSpPr>
          <p:cNvPr id="10" name="Group 9">
            <a:extLst>
              <a:ext uri="{FF2B5EF4-FFF2-40B4-BE49-F238E27FC236}">
                <a16:creationId xmlns:a16="http://schemas.microsoft.com/office/drawing/2014/main" id="{B98FD3C4-E9D8-B42D-9C44-BA189A98F3C0}"/>
              </a:ext>
            </a:extLst>
          </p:cNvPr>
          <p:cNvGrpSpPr/>
          <p:nvPr/>
        </p:nvGrpSpPr>
        <p:grpSpPr>
          <a:xfrm>
            <a:off x="656410" y="1669095"/>
            <a:ext cx="2889068" cy="1759905"/>
            <a:chOff x="866503" y="1767066"/>
            <a:chExt cx="2889068" cy="1759905"/>
          </a:xfrm>
          <a:solidFill>
            <a:srgbClr val="6666FF"/>
          </a:solidFill>
        </p:grpSpPr>
        <p:sp>
          <p:nvSpPr>
            <p:cNvPr id="2" name="Rectangle 1">
              <a:extLst>
                <a:ext uri="{FF2B5EF4-FFF2-40B4-BE49-F238E27FC236}">
                  <a16:creationId xmlns:a16="http://schemas.microsoft.com/office/drawing/2014/main" id="{977F15C4-286A-7213-C0F7-E0AC7EB8EAAC}"/>
                </a:ext>
              </a:extLst>
            </p:cNvPr>
            <p:cNvSpPr/>
            <p:nvPr/>
          </p:nvSpPr>
          <p:spPr>
            <a:xfrm>
              <a:off x="1186543" y="1981200"/>
              <a:ext cx="2569028" cy="15457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Only one product is involved</a:t>
              </a:r>
            </a:p>
          </p:txBody>
        </p:sp>
        <p:sp>
          <p:nvSpPr>
            <p:cNvPr id="6" name="Rectangle 5">
              <a:extLst>
                <a:ext uri="{FF2B5EF4-FFF2-40B4-BE49-F238E27FC236}">
                  <a16:creationId xmlns:a16="http://schemas.microsoft.com/office/drawing/2014/main" id="{EE763386-9F25-0DEE-F57E-D10924A72046}"/>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1</a:t>
              </a:r>
            </a:p>
          </p:txBody>
        </p:sp>
      </p:grpSp>
      <p:grpSp>
        <p:nvGrpSpPr>
          <p:cNvPr id="11" name="Group 10">
            <a:extLst>
              <a:ext uri="{FF2B5EF4-FFF2-40B4-BE49-F238E27FC236}">
                <a16:creationId xmlns:a16="http://schemas.microsoft.com/office/drawing/2014/main" id="{44498E56-845F-1765-C7B1-59F080F6E534}"/>
              </a:ext>
            </a:extLst>
          </p:cNvPr>
          <p:cNvGrpSpPr/>
          <p:nvPr/>
        </p:nvGrpSpPr>
        <p:grpSpPr>
          <a:xfrm>
            <a:off x="4589963" y="1669095"/>
            <a:ext cx="2889068" cy="1759905"/>
            <a:chOff x="866503" y="1767066"/>
            <a:chExt cx="2889068" cy="1759905"/>
          </a:xfrm>
        </p:grpSpPr>
        <p:sp>
          <p:nvSpPr>
            <p:cNvPr id="12" name="Rectangle 11">
              <a:extLst>
                <a:ext uri="{FF2B5EF4-FFF2-40B4-BE49-F238E27FC236}">
                  <a16:creationId xmlns:a16="http://schemas.microsoft.com/office/drawing/2014/main" id="{B2BCF42B-8368-3491-E748-9C78F83EE30A}"/>
                </a:ext>
              </a:extLst>
            </p:cNvPr>
            <p:cNvSpPr/>
            <p:nvPr/>
          </p:nvSpPr>
          <p:spPr>
            <a:xfrm>
              <a:off x="1186543" y="1981200"/>
              <a:ext cx="2569028" cy="1545771"/>
            </a:xfrm>
            <a:prstGeom prst="rect">
              <a:avLst/>
            </a:prstGeom>
            <a:solidFill>
              <a:srgbClr val="770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Annual demand requirements are known</a:t>
              </a:r>
            </a:p>
          </p:txBody>
        </p:sp>
        <p:sp>
          <p:nvSpPr>
            <p:cNvPr id="13" name="Rectangle 12">
              <a:extLst>
                <a:ext uri="{FF2B5EF4-FFF2-40B4-BE49-F238E27FC236}">
                  <a16:creationId xmlns:a16="http://schemas.microsoft.com/office/drawing/2014/main" id="{0861CCB9-F09B-ECCA-A924-E27DDF137679}"/>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2</a:t>
              </a:r>
            </a:p>
          </p:txBody>
        </p:sp>
      </p:grpSp>
      <p:grpSp>
        <p:nvGrpSpPr>
          <p:cNvPr id="14" name="Group 13">
            <a:extLst>
              <a:ext uri="{FF2B5EF4-FFF2-40B4-BE49-F238E27FC236}">
                <a16:creationId xmlns:a16="http://schemas.microsoft.com/office/drawing/2014/main" id="{C2319B9B-BA52-6DB7-1E69-BA79E0529810}"/>
              </a:ext>
            </a:extLst>
          </p:cNvPr>
          <p:cNvGrpSpPr/>
          <p:nvPr/>
        </p:nvGrpSpPr>
        <p:grpSpPr>
          <a:xfrm>
            <a:off x="8523515" y="1669095"/>
            <a:ext cx="2889068" cy="1759905"/>
            <a:chOff x="866503" y="1767066"/>
            <a:chExt cx="2889068" cy="1759905"/>
          </a:xfrm>
        </p:grpSpPr>
        <p:sp>
          <p:nvSpPr>
            <p:cNvPr id="15" name="Rectangle 14">
              <a:extLst>
                <a:ext uri="{FF2B5EF4-FFF2-40B4-BE49-F238E27FC236}">
                  <a16:creationId xmlns:a16="http://schemas.microsoft.com/office/drawing/2014/main" id="{E5634B87-FD06-1BA7-92CF-4BE35F6D08C5}"/>
                </a:ext>
              </a:extLst>
            </p:cNvPr>
            <p:cNvSpPr/>
            <p:nvPr/>
          </p:nvSpPr>
          <p:spPr>
            <a:xfrm>
              <a:off x="1186543" y="1981200"/>
              <a:ext cx="2569028" cy="1545771"/>
            </a:xfrm>
            <a:prstGeom prst="rect">
              <a:avLst/>
            </a:prstGeom>
            <a:solidFill>
              <a:srgbClr val="3320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Consumption rate is constant; consumption occurs continuously</a:t>
              </a:r>
            </a:p>
          </p:txBody>
        </p:sp>
        <p:sp>
          <p:nvSpPr>
            <p:cNvPr id="16" name="Rectangle 15">
              <a:extLst>
                <a:ext uri="{FF2B5EF4-FFF2-40B4-BE49-F238E27FC236}">
                  <a16:creationId xmlns:a16="http://schemas.microsoft.com/office/drawing/2014/main" id="{AB5EE6D4-D24F-F23C-86EB-96AA562B0B44}"/>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3</a:t>
              </a:r>
            </a:p>
          </p:txBody>
        </p:sp>
      </p:grpSp>
      <p:grpSp>
        <p:nvGrpSpPr>
          <p:cNvPr id="17" name="Group 16">
            <a:extLst>
              <a:ext uri="{FF2B5EF4-FFF2-40B4-BE49-F238E27FC236}">
                <a16:creationId xmlns:a16="http://schemas.microsoft.com/office/drawing/2014/main" id="{02D8351B-63AC-0E9B-CBC0-3CBD9CA0B2B1}"/>
              </a:ext>
            </a:extLst>
          </p:cNvPr>
          <p:cNvGrpSpPr/>
          <p:nvPr/>
        </p:nvGrpSpPr>
        <p:grpSpPr>
          <a:xfrm>
            <a:off x="656410" y="4325208"/>
            <a:ext cx="2889068" cy="1759905"/>
            <a:chOff x="866503" y="1767066"/>
            <a:chExt cx="2889068" cy="1759905"/>
          </a:xfrm>
        </p:grpSpPr>
        <p:sp>
          <p:nvSpPr>
            <p:cNvPr id="18" name="Rectangle 17">
              <a:extLst>
                <a:ext uri="{FF2B5EF4-FFF2-40B4-BE49-F238E27FC236}">
                  <a16:creationId xmlns:a16="http://schemas.microsoft.com/office/drawing/2014/main" id="{6C8524AC-4A07-AEA5-C1C1-54028D0F4EA1}"/>
                </a:ext>
              </a:extLst>
            </p:cNvPr>
            <p:cNvSpPr/>
            <p:nvPr/>
          </p:nvSpPr>
          <p:spPr>
            <a:xfrm>
              <a:off x="1186543" y="1981200"/>
              <a:ext cx="2569028" cy="1545771"/>
            </a:xfrm>
            <a:prstGeom prst="rect">
              <a:avLst/>
            </a:prstGeom>
            <a:solidFill>
              <a:srgbClr val="3400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Production rate is constant; production occurs periodically</a:t>
              </a:r>
            </a:p>
          </p:txBody>
        </p:sp>
        <p:sp>
          <p:nvSpPr>
            <p:cNvPr id="19" name="Rectangle 18">
              <a:extLst>
                <a:ext uri="{FF2B5EF4-FFF2-40B4-BE49-F238E27FC236}">
                  <a16:creationId xmlns:a16="http://schemas.microsoft.com/office/drawing/2014/main" id="{A16C3335-C514-87FE-5E6D-BA036894DA8F}"/>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4</a:t>
              </a:r>
            </a:p>
          </p:txBody>
        </p:sp>
      </p:grpSp>
      <p:grpSp>
        <p:nvGrpSpPr>
          <p:cNvPr id="20" name="Group 19">
            <a:extLst>
              <a:ext uri="{FF2B5EF4-FFF2-40B4-BE49-F238E27FC236}">
                <a16:creationId xmlns:a16="http://schemas.microsoft.com/office/drawing/2014/main" id="{2BA935BE-330F-F985-8B75-DA6F84A8AB40}"/>
              </a:ext>
            </a:extLst>
          </p:cNvPr>
          <p:cNvGrpSpPr/>
          <p:nvPr/>
        </p:nvGrpSpPr>
        <p:grpSpPr>
          <a:xfrm>
            <a:off x="4589963" y="4325208"/>
            <a:ext cx="2889068" cy="1759905"/>
            <a:chOff x="866503" y="1767066"/>
            <a:chExt cx="2889068" cy="1759905"/>
          </a:xfrm>
        </p:grpSpPr>
        <p:sp>
          <p:nvSpPr>
            <p:cNvPr id="21" name="Rectangle 20">
              <a:extLst>
                <a:ext uri="{FF2B5EF4-FFF2-40B4-BE49-F238E27FC236}">
                  <a16:creationId xmlns:a16="http://schemas.microsoft.com/office/drawing/2014/main" id="{7574AE71-ACF4-E61D-7FF2-38943AF2C0D7}"/>
                </a:ext>
              </a:extLst>
            </p:cNvPr>
            <p:cNvSpPr/>
            <p:nvPr/>
          </p:nvSpPr>
          <p:spPr>
            <a:xfrm>
              <a:off x="1186543" y="1981200"/>
              <a:ext cx="2569028" cy="1545771"/>
            </a:xfrm>
            <a:prstGeom prst="rect">
              <a:avLst/>
            </a:prstGeom>
            <a:solidFill>
              <a:srgbClr val="4D61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Lead time is known and constant</a:t>
              </a:r>
            </a:p>
          </p:txBody>
        </p:sp>
        <p:sp>
          <p:nvSpPr>
            <p:cNvPr id="22" name="Rectangle 21">
              <a:extLst>
                <a:ext uri="{FF2B5EF4-FFF2-40B4-BE49-F238E27FC236}">
                  <a16:creationId xmlns:a16="http://schemas.microsoft.com/office/drawing/2014/main" id="{45FAC64D-F88F-3D6E-6F52-09D8CE1031B0}"/>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5</a:t>
              </a:r>
            </a:p>
          </p:txBody>
        </p:sp>
      </p:grpSp>
      <p:grpSp>
        <p:nvGrpSpPr>
          <p:cNvPr id="23" name="Group 22">
            <a:extLst>
              <a:ext uri="{FF2B5EF4-FFF2-40B4-BE49-F238E27FC236}">
                <a16:creationId xmlns:a16="http://schemas.microsoft.com/office/drawing/2014/main" id="{63C27EC2-E01A-CA81-D596-D280B506A3C4}"/>
              </a:ext>
            </a:extLst>
          </p:cNvPr>
          <p:cNvGrpSpPr/>
          <p:nvPr/>
        </p:nvGrpSpPr>
        <p:grpSpPr>
          <a:xfrm>
            <a:off x="8523515" y="4325208"/>
            <a:ext cx="2889068" cy="1759905"/>
            <a:chOff x="866503" y="1767066"/>
            <a:chExt cx="2889068" cy="1759905"/>
          </a:xfrm>
        </p:grpSpPr>
        <p:sp>
          <p:nvSpPr>
            <p:cNvPr id="24" name="Rectangle 23">
              <a:extLst>
                <a:ext uri="{FF2B5EF4-FFF2-40B4-BE49-F238E27FC236}">
                  <a16:creationId xmlns:a16="http://schemas.microsoft.com/office/drawing/2014/main" id="{C9E40198-146A-7414-9044-3616B7EA4EA6}"/>
                </a:ext>
              </a:extLst>
            </p:cNvPr>
            <p:cNvSpPr/>
            <p:nvPr/>
          </p:nvSpPr>
          <p:spPr>
            <a:xfrm>
              <a:off x="1186543" y="1981200"/>
              <a:ext cx="2569028" cy="1545771"/>
            </a:xfrm>
            <a:prstGeom prst="rect">
              <a:avLst/>
            </a:prstGeom>
            <a:solidFill>
              <a:srgbClr val="9B0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andara" panose="020E0502030303020204" pitchFamily="34" charset="0"/>
                </a:rPr>
                <a:t>There are no quantity discounts</a:t>
              </a:r>
            </a:p>
          </p:txBody>
        </p:sp>
        <p:sp>
          <p:nvSpPr>
            <p:cNvPr id="25" name="Rectangle 24">
              <a:extLst>
                <a:ext uri="{FF2B5EF4-FFF2-40B4-BE49-F238E27FC236}">
                  <a16:creationId xmlns:a16="http://schemas.microsoft.com/office/drawing/2014/main" id="{97607E07-B42A-B2A4-B592-B6461AEDF5E8}"/>
                </a:ext>
              </a:extLst>
            </p:cNvPr>
            <p:cNvSpPr/>
            <p:nvPr/>
          </p:nvSpPr>
          <p:spPr>
            <a:xfrm>
              <a:off x="866503" y="1767066"/>
              <a:ext cx="640080" cy="64008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Candara" panose="020E0502030303020204" pitchFamily="34" charset="0"/>
                </a:rPr>
                <a:t>6</a:t>
              </a:r>
            </a:p>
          </p:txBody>
        </p:sp>
      </p:grpSp>
    </p:spTree>
    <p:extLst>
      <p:ext uri="{BB962C8B-B14F-4D97-AF65-F5344CB8AC3E}">
        <p14:creationId xmlns:p14="http://schemas.microsoft.com/office/powerpoint/2010/main" val="178655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78C5CAA-4CCF-38BA-C88B-73BBFFD1FB5C}"/>
              </a:ext>
            </a:extLst>
          </p:cNvPr>
          <p:cNvSpPr/>
          <p:nvPr/>
        </p:nvSpPr>
        <p:spPr>
          <a:xfrm>
            <a:off x="7955269" y="2052306"/>
            <a:ext cx="2225028" cy="4312916"/>
          </a:xfrm>
          <a:prstGeom prst="rect">
            <a:avLst/>
          </a:pr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05DB16E-03FB-507A-3709-335F679E8A9F}"/>
              </a:ext>
            </a:extLst>
          </p:cNvPr>
          <p:cNvSpPr/>
          <p:nvPr/>
        </p:nvSpPr>
        <p:spPr>
          <a:xfrm>
            <a:off x="6217908" y="2052312"/>
            <a:ext cx="1737360" cy="43129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35FD7FF-FA22-5052-D200-A163CBE35084}"/>
              </a:ext>
            </a:extLst>
          </p:cNvPr>
          <p:cNvSpPr/>
          <p:nvPr/>
        </p:nvSpPr>
        <p:spPr>
          <a:xfrm>
            <a:off x="3969876" y="2052315"/>
            <a:ext cx="2248032" cy="4312916"/>
          </a:xfrm>
          <a:prstGeom prst="rect">
            <a:avLst/>
          </a:pr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ED5F5F0-A216-6586-6616-377ED56C0B90}"/>
              </a:ext>
            </a:extLst>
          </p:cNvPr>
          <p:cNvSpPr/>
          <p:nvPr/>
        </p:nvSpPr>
        <p:spPr>
          <a:xfrm>
            <a:off x="2255520" y="2052321"/>
            <a:ext cx="1737360" cy="43129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712F2EC8-DF58-F03F-5E8C-5224F173264E}"/>
              </a:ext>
            </a:extLst>
          </p:cNvPr>
          <p:cNvCxnSpPr/>
          <p:nvPr/>
        </p:nvCxnSpPr>
        <p:spPr>
          <a:xfrm>
            <a:off x="2255520" y="6365240"/>
            <a:ext cx="8153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F8DA56FE-7123-3CE1-3FB6-98C21EAFCB6E}"/>
              </a:ext>
            </a:extLst>
          </p:cNvPr>
          <p:cNvCxnSpPr>
            <a:cxnSpLocks/>
          </p:cNvCxnSpPr>
          <p:nvPr/>
        </p:nvCxnSpPr>
        <p:spPr>
          <a:xfrm rot="16200000">
            <a:off x="57103" y="4170680"/>
            <a:ext cx="43891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F254BD1-81B3-E944-05B4-93C3C164227C}"/>
              </a:ext>
            </a:extLst>
          </p:cNvPr>
          <p:cNvCxnSpPr/>
          <p:nvPr/>
        </p:nvCxnSpPr>
        <p:spPr>
          <a:xfrm>
            <a:off x="2251662" y="3117493"/>
            <a:ext cx="8153400" cy="0"/>
          </a:xfrm>
          <a:prstGeom prst="straightConnector1">
            <a:avLst/>
          </a:prstGeom>
          <a:ln w="127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A57A78F-D93A-9741-4D4B-DB29AB9CD9BC}"/>
              </a:ext>
            </a:extLst>
          </p:cNvPr>
          <p:cNvCxnSpPr/>
          <p:nvPr/>
        </p:nvCxnSpPr>
        <p:spPr>
          <a:xfrm>
            <a:off x="2251662" y="4285893"/>
            <a:ext cx="8153400" cy="0"/>
          </a:xfrm>
          <a:prstGeom prst="straightConnector1">
            <a:avLst/>
          </a:prstGeom>
          <a:ln w="127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8A3EF68-59E3-4759-D825-7A073D20FF34}"/>
              </a:ext>
            </a:extLst>
          </p:cNvPr>
          <p:cNvCxnSpPr>
            <a:cxnSpLocks/>
          </p:cNvCxnSpPr>
          <p:nvPr/>
        </p:nvCxnSpPr>
        <p:spPr>
          <a:xfrm flipV="1">
            <a:off x="2255520" y="3124394"/>
            <a:ext cx="1739900" cy="3240828"/>
          </a:xfrm>
          <a:prstGeom prst="straightConnector1">
            <a:avLst/>
          </a:prstGeom>
          <a:ln w="28575">
            <a:solidFill>
              <a:srgbClr val="FF0000"/>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4F12C0A-92CF-D24E-339F-6AA5ECA091E7}"/>
              </a:ext>
            </a:extLst>
          </p:cNvPr>
          <p:cNvCxnSpPr>
            <a:cxnSpLocks/>
          </p:cNvCxnSpPr>
          <p:nvPr/>
        </p:nvCxnSpPr>
        <p:spPr>
          <a:xfrm flipV="1">
            <a:off x="6217908" y="3124394"/>
            <a:ext cx="1731577" cy="3240828"/>
          </a:xfrm>
          <a:prstGeom prst="straightConnector1">
            <a:avLst/>
          </a:prstGeom>
          <a:ln w="28575">
            <a:solidFill>
              <a:srgbClr val="FF0000"/>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43EDAD8-CADE-2A7E-8083-034A431AB1DC}"/>
              </a:ext>
            </a:extLst>
          </p:cNvPr>
          <p:cNvCxnSpPr>
            <a:cxnSpLocks/>
          </p:cNvCxnSpPr>
          <p:nvPr/>
        </p:nvCxnSpPr>
        <p:spPr>
          <a:xfrm flipV="1">
            <a:off x="2255519" y="4296131"/>
            <a:ext cx="1736046" cy="2069091"/>
          </a:xfrm>
          <a:prstGeom prst="straightConnector1">
            <a:avLst/>
          </a:prstGeom>
          <a:ln w="28575">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70B7D51-63BE-C17E-2F64-25ADE0FEC78B}"/>
              </a:ext>
            </a:extLst>
          </p:cNvPr>
          <p:cNvCxnSpPr>
            <a:cxnSpLocks/>
          </p:cNvCxnSpPr>
          <p:nvPr/>
        </p:nvCxnSpPr>
        <p:spPr>
          <a:xfrm>
            <a:off x="3990898" y="4296113"/>
            <a:ext cx="2238578" cy="2069109"/>
          </a:xfrm>
          <a:prstGeom prst="straightConnector1">
            <a:avLst/>
          </a:prstGeom>
          <a:ln w="28575">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1CC9B6F-124E-10A7-A03B-15A277FF1F6A}"/>
              </a:ext>
            </a:extLst>
          </p:cNvPr>
          <p:cNvSpPr/>
          <p:nvPr/>
        </p:nvSpPr>
        <p:spPr>
          <a:xfrm>
            <a:off x="2483077" y="2137218"/>
            <a:ext cx="1282246"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Production and Consumption</a:t>
            </a:r>
          </a:p>
        </p:txBody>
      </p:sp>
      <p:sp>
        <p:nvSpPr>
          <p:cNvPr id="23" name="Rectangle 22">
            <a:extLst>
              <a:ext uri="{FF2B5EF4-FFF2-40B4-BE49-F238E27FC236}">
                <a16:creationId xmlns:a16="http://schemas.microsoft.com/office/drawing/2014/main" id="{DEE92651-3625-0AB8-D3DD-D1C5B6DE56DF}"/>
              </a:ext>
            </a:extLst>
          </p:cNvPr>
          <p:cNvSpPr/>
          <p:nvPr/>
        </p:nvSpPr>
        <p:spPr>
          <a:xfrm>
            <a:off x="6445465" y="2137218"/>
            <a:ext cx="1282246"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Production and Consumption</a:t>
            </a:r>
          </a:p>
        </p:txBody>
      </p:sp>
      <p:sp>
        <p:nvSpPr>
          <p:cNvPr id="24" name="Rectangle 23">
            <a:extLst>
              <a:ext uri="{FF2B5EF4-FFF2-40B4-BE49-F238E27FC236}">
                <a16:creationId xmlns:a16="http://schemas.microsoft.com/office/drawing/2014/main" id="{AB8FACC4-254F-F0EC-5A65-D53B8A4AB12A}"/>
              </a:ext>
            </a:extLst>
          </p:cNvPr>
          <p:cNvSpPr/>
          <p:nvPr/>
        </p:nvSpPr>
        <p:spPr>
          <a:xfrm>
            <a:off x="4452769" y="2137218"/>
            <a:ext cx="1282246"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Only Consumption</a:t>
            </a:r>
          </a:p>
        </p:txBody>
      </p:sp>
      <p:sp>
        <p:nvSpPr>
          <p:cNvPr id="25" name="Rectangle 24">
            <a:extLst>
              <a:ext uri="{FF2B5EF4-FFF2-40B4-BE49-F238E27FC236}">
                <a16:creationId xmlns:a16="http://schemas.microsoft.com/office/drawing/2014/main" id="{C8948DB8-488D-A237-B62B-AF9EBDBB59E3}"/>
              </a:ext>
            </a:extLst>
          </p:cNvPr>
          <p:cNvSpPr/>
          <p:nvPr/>
        </p:nvSpPr>
        <p:spPr>
          <a:xfrm>
            <a:off x="8426660" y="2137218"/>
            <a:ext cx="1282246"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Only Consumption</a:t>
            </a:r>
          </a:p>
        </p:txBody>
      </p:sp>
      <p:sp>
        <p:nvSpPr>
          <p:cNvPr id="27" name="Rectangle 26">
            <a:extLst>
              <a:ext uri="{FF2B5EF4-FFF2-40B4-BE49-F238E27FC236}">
                <a16:creationId xmlns:a16="http://schemas.microsoft.com/office/drawing/2014/main" id="{BA8B0CEB-3EA3-68CC-92BE-CFE1EB815C54}"/>
              </a:ext>
            </a:extLst>
          </p:cNvPr>
          <p:cNvSpPr/>
          <p:nvPr/>
        </p:nvSpPr>
        <p:spPr>
          <a:xfrm>
            <a:off x="3758016" y="6416118"/>
            <a:ext cx="478698" cy="2393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2</a:t>
            </a:r>
          </a:p>
        </p:txBody>
      </p:sp>
      <p:sp>
        <p:nvSpPr>
          <p:cNvPr id="28" name="Rectangle 27">
            <a:extLst>
              <a:ext uri="{FF2B5EF4-FFF2-40B4-BE49-F238E27FC236}">
                <a16:creationId xmlns:a16="http://schemas.microsoft.com/office/drawing/2014/main" id="{710BF5BF-B9A2-F749-CF1F-BE21741552D0}"/>
              </a:ext>
            </a:extLst>
          </p:cNvPr>
          <p:cNvSpPr/>
          <p:nvPr/>
        </p:nvSpPr>
        <p:spPr>
          <a:xfrm>
            <a:off x="5966991" y="6416118"/>
            <a:ext cx="478698" cy="2393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5</a:t>
            </a:r>
          </a:p>
        </p:txBody>
      </p:sp>
      <p:sp>
        <p:nvSpPr>
          <p:cNvPr id="29" name="Rectangle 28">
            <a:extLst>
              <a:ext uri="{FF2B5EF4-FFF2-40B4-BE49-F238E27FC236}">
                <a16:creationId xmlns:a16="http://schemas.microsoft.com/office/drawing/2014/main" id="{09F1A87D-7B77-245B-E671-BA34AA0367EA}"/>
              </a:ext>
            </a:extLst>
          </p:cNvPr>
          <p:cNvSpPr/>
          <p:nvPr/>
        </p:nvSpPr>
        <p:spPr>
          <a:xfrm>
            <a:off x="7720404" y="6416118"/>
            <a:ext cx="478698" cy="2393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7</a:t>
            </a:r>
          </a:p>
        </p:txBody>
      </p:sp>
      <p:sp>
        <p:nvSpPr>
          <p:cNvPr id="30" name="Rectangle 29">
            <a:extLst>
              <a:ext uri="{FF2B5EF4-FFF2-40B4-BE49-F238E27FC236}">
                <a16:creationId xmlns:a16="http://schemas.microsoft.com/office/drawing/2014/main" id="{3B1E0DC6-92D6-014C-769F-6D554A09D6DF}"/>
              </a:ext>
            </a:extLst>
          </p:cNvPr>
          <p:cNvSpPr/>
          <p:nvPr/>
        </p:nvSpPr>
        <p:spPr>
          <a:xfrm>
            <a:off x="9926364" y="6416118"/>
            <a:ext cx="478698" cy="2393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10</a:t>
            </a:r>
          </a:p>
        </p:txBody>
      </p:sp>
      <p:sp>
        <p:nvSpPr>
          <p:cNvPr id="31" name="Rectangle 30">
            <a:extLst>
              <a:ext uri="{FF2B5EF4-FFF2-40B4-BE49-F238E27FC236}">
                <a16:creationId xmlns:a16="http://schemas.microsoft.com/office/drawing/2014/main" id="{148CDE55-05FB-5BAC-3161-B833D47BDF38}"/>
              </a:ext>
            </a:extLst>
          </p:cNvPr>
          <p:cNvSpPr/>
          <p:nvPr/>
        </p:nvSpPr>
        <p:spPr>
          <a:xfrm>
            <a:off x="10348776" y="6233595"/>
            <a:ext cx="548640" cy="2632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ndara" panose="020E0502030303020204" pitchFamily="34" charset="0"/>
              </a:rPr>
              <a:t>Day</a:t>
            </a:r>
          </a:p>
        </p:txBody>
      </p:sp>
      <p:sp>
        <p:nvSpPr>
          <p:cNvPr id="24576" name="Rectangle 24575">
            <a:extLst>
              <a:ext uri="{FF2B5EF4-FFF2-40B4-BE49-F238E27FC236}">
                <a16:creationId xmlns:a16="http://schemas.microsoft.com/office/drawing/2014/main" id="{FF49904A-8AED-3B42-61D6-235BD45C93A9}"/>
              </a:ext>
            </a:extLst>
          </p:cNvPr>
          <p:cNvSpPr/>
          <p:nvPr/>
        </p:nvSpPr>
        <p:spPr>
          <a:xfrm>
            <a:off x="1611582" y="1682939"/>
            <a:ext cx="1280160" cy="2632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ndara" panose="020E0502030303020204" pitchFamily="34" charset="0"/>
              </a:rPr>
              <a:t>Quantity</a:t>
            </a:r>
          </a:p>
        </p:txBody>
      </p:sp>
      <p:sp>
        <p:nvSpPr>
          <p:cNvPr id="24577" name="Rectangle 24576">
            <a:extLst>
              <a:ext uri="{FF2B5EF4-FFF2-40B4-BE49-F238E27FC236}">
                <a16:creationId xmlns:a16="http://schemas.microsoft.com/office/drawing/2014/main" id="{A9B102A4-E3B3-DC1C-BA0A-7710D39B07C5}"/>
              </a:ext>
            </a:extLst>
          </p:cNvPr>
          <p:cNvSpPr/>
          <p:nvPr/>
        </p:nvSpPr>
        <p:spPr>
          <a:xfrm>
            <a:off x="818225" y="2801095"/>
            <a:ext cx="1485082"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ndara" panose="020E0502030303020204" pitchFamily="34" charset="0"/>
              </a:rPr>
              <a:t>Production Run Size (or EPQ)</a:t>
            </a:r>
          </a:p>
        </p:txBody>
      </p:sp>
      <p:sp>
        <p:nvSpPr>
          <p:cNvPr id="24579" name="Rectangle 24578">
            <a:extLst>
              <a:ext uri="{FF2B5EF4-FFF2-40B4-BE49-F238E27FC236}">
                <a16:creationId xmlns:a16="http://schemas.microsoft.com/office/drawing/2014/main" id="{D7DAF18A-40B3-5355-8336-9941C629C739}"/>
              </a:ext>
            </a:extLst>
          </p:cNvPr>
          <p:cNvSpPr/>
          <p:nvPr/>
        </p:nvSpPr>
        <p:spPr>
          <a:xfrm>
            <a:off x="747433" y="3936560"/>
            <a:ext cx="1485082" cy="646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ndara" panose="020E0502030303020204" pitchFamily="34" charset="0"/>
              </a:rPr>
              <a:t>Maximum Inventory Level</a:t>
            </a:r>
          </a:p>
        </p:txBody>
      </p:sp>
      <p:cxnSp>
        <p:nvCxnSpPr>
          <p:cNvPr id="24583" name="Straight Arrow Connector 24582">
            <a:extLst>
              <a:ext uri="{FF2B5EF4-FFF2-40B4-BE49-F238E27FC236}">
                <a16:creationId xmlns:a16="http://schemas.microsoft.com/office/drawing/2014/main" id="{A14919FF-CE66-240B-B74B-B87E661AC71B}"/>
              </a:ext>
            </a:extLst>
          </p:cNvPr>
          <p:cNvCxnSpPr>
            <a:cxnSpLocks/>
          </p:cNvCxnSpPr>
          <p:nvPr/>
        </p:nvCxnSpPr>
        <p:spPr>
          <a:xfrm flipV="1">
            <a:off x="6225014" y="4296131"/>
            <a:ext cx="1736046" cy="2069091"/>
          </a:xfrm>
          <a:prstGeom prst="straightConnector1">
            <a:avLst/>
          </a:prstGeom>
          <a:ln w="28575">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87" name="Straight Arrow Connector 24586">
            <a:extLst>
              <a:ext uri="{FF2B5EF4-FFF2-40B4-BE49-F238E27FC236}">
                <a16:creationId xmlns:a16="http://schemas.microsoft.com/office/drawing/2014/main" id="{B70E639E-F82F-9ECE-8E29-56A32F9A4611}"/>
              </a:ext>
            </a:extLst>
          </p:cNvPr>
          <p:cNvCxnSpPr>
            <a:cxnSpLocks/>
          </p:cNvCxnSpPr>
          <p:nvPr/>
        </p:nvCxnSpPr>
        <p:spPr>
          <a:xfrm>
            <a:off x="7942867" y="4285875"/>
            <a:ext cx="2238578" cy="2069109"/>
          </a:xfrm>
          <a:prstGeom prst="straightConnector1">
            <a:avLst/>
          </a:prstGeom>
          <a:ln w="28575">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92" name="Straight Arrow Connector 24591">
            <a:extLst>
              <a:ext uri="{FF2B5EF4-FFF2-40B4-BE49-F238E27FC236}">
                <a16:creationId xmlns:a16="http://schemas.microsoft.com/office/drawing/2014/main" id="{C66B9C83-00C5-60E5-1821-7CF4304BEB67}"/>
              </a:ext>
            </a:extLst>
          </p:cNvPr>
          <p:cNvCxnSpPr>
            <a:cxnSpLocks/>
          </p:cNvCxnSpPr>
          <p:nvPr/>
        </p:nvCxnSpPr>
        <p:spPr>
          <a:xfrm flipH="1">
            <a:off x="3489135" y="1682939"/>
            <a:ext cx="914400" cy="0"/>
          </a:xfrm>
          <a:prstGeom prst="straightConnector1">
            <a:avLst/>
          </a:prstGeom>
          <a:ln w="28575">
            <a:solidFill>
              <a:srgbClr val="FF0000"/>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97" name="Straight Arrow Connector 24596">
            <a:extLst>
              <a:ext uri="{FF2B5EF4-FFF2-40B4-BE49-F238E27FC236}">
                <a16:creationId xmlns:a16="http://schemas.microsoft.com/office/drawing/2014/main" id="{08572012-68C2-A50C-678D-98D98156DC4C}"/>
              </a:ext>
            </a:extLst>
          </p:cNvPr>
          <p:cNvCxnSpPr>
            <a:cxnSpLocks/>
          </p:cNvCxnSpPr>
          <p:nvPr/>
        </p:nvCxnSpPr>
        <p:spPr>
          <a:xfrm>
            <a:off x="7128271" y="1668875"/>
            <a:ext cx="914400" cy="0"/>
          </a:xfrm>
          <a:prstGeom prst="straightConnector1">
            <a:avLst/>
          </a:prstGeom>
          <a:ln w="28575">
            <a:solidFill>
              <a:srgbClr val="00206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598" name="Rectangle 24597">
            <a:extLst>
              <a:ext uri="{FF2B5EF4-FFF2-40B4-BE49-F238E27FC236}">
                <a16:creationId xmlns:a16="http://schemas.microsoft.com/office/drawing/2014/main" id="{73875650-8456-18EF-55DF-2F83645B0C15}"/>
              </a:ext>
            </a:extLst>
          </p:cNvPr>
          <p:cNvSpPr/>
          <p:nvPr/>
        </p:nvSpPr>
        <p:spPr>
          <a:xfrm>
            <a:off x="4452770" y="1457516"/>
            <a:ext cx="2240370" cy="4361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Cumulative Production</a:t>
            </a:r>
          </a:p>
        </p:txBody>
      </p:sp>
      <p:sp>
        <p:nvSpPr>
          <p:cNvPr id="24599" name="Rectangle 24598">
            <a:extLst>
              <a:ext uri="{FF2B5EF4-FFF2-40B4-BE49-F238E27FC236}">
                <a16:creationId xmlns:a16="http://schemas.microsoft.com/office/drawing/2014/main" id="{88F92A96-E08F-CBF2-1193-99EFEAFBED9E}"/>
              </a:ext>
            </a:extLst>
          </p:cNvPr>
          <p:cNvSpPr/>
          <p:nvPr/>
        </p:nvSpPr>
        <p:spPr>
          <a:xfrm>
            <a:off x="8162842" y="1457516"/>
            <a:ext cx="1661877" cy="4361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Inventory on Hand</a:t>
            </a:r>
          </a:p>
        </p:txBody>
      </p:sp>
      <p:sp>
        <p:nvSpPr>
          <p:cNvPr id="24600" name="Rectangle 24599">
            <a:extLst>
              <a:ext uri="{FF2B5EF4-FFF2-40B4-BE49-F238E27FC236}">
                <a16:creationId xmlns:a16="http://schemas.microsoft.com/office/drawing/2014/main" id="{84F2390C-A0AA-C8A4-9C7B-C30C4782E7C7}"/>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Cycle of Production and Consumption</a:t>
            </a:r>
          </a:p>
        </p:txBody>
      </p:sp>
    </p:spTree>
    <p:extLst>
      <p:ext uri="{BB962C8B-B14F-4D97-AF65-F5344CB8AC3E}">
        <p14:creationId xmlns:p14="http://schemas.microsoft.com/office/powerpoint/2010/main" val="224007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3000"/>
                                        <p:tgtEl>
                                          <p:spTgt spid="16"/>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3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3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3000"/>
                                        <p:tgtEl>
                                          <p:spTgt spid="15"/>
                                        </p:tgtEl>
                                      </p:cBhvr>
                                    </p:animEffect>
                                  </p:childTnLst>
                                </p:cTn>
                              </p:par>
                              <p:par>
                                <p:cTn id="21" presetID="22" presetClass="entr" presetSubtype="4" fill="hold" nodeType="withEffect">
                                  <p:stCondLst>
                                    <p:cond delay="0"/>
                                  </p:stCondLst>
                                  <p:childTnLst>
                                    <p:set>
                                      <p:cBhvr>
                                        <p:cTn id="22" dur="1" fill="hold">
                                          <p:stCondLst>
                                            <p:cond delay="0"/>
                                          </p:stCondLst>
                                        </p:cTn>
                                        <p:tgtEl>
                                          <p:spTgt spid="24583"/>
                                        </p:tgtEl>
                                        <p:attrNameLst>
                                          <p:attrName>style.visibility</p:attrName>
                                        </p:attrNameLst>
                                      </p:cBhvr>
                                      <p:to>
                                        <p:strVal val="visible"/>
                                      </p:to>
                                    </p:set>
                                    <p:animEffect transition="in" filter="wipe(down)">
                                      <p:cBhvr>
                                        <p:cTn id="23" dur="3000"/>
                                        <p:tgtEl>
                                          <p:spTgt spid="2458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4587"/>
                                        </p:tgtEl>
                                        <p:attrNameLst>
                                          <p:attrName>style.visibility</p:attrName>
                                        </p:attrNameLst>
                                      </p:cBhvr>
                                      <p:to>
                                        <p:strVal val="visible"/>
                                      </p:to>
                                    </p:set>
                                    <p:animEffect transition="in" filter="wipe(up)">
                                      <p:cBhvr>
                                        <p:cTn id="28" dur="3000"/>
                                        <p:tgtEl>
                                          <p:spTgt spid="2458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577"/>
                                        </p:tgtEl>
                                        <p:attrNameLst>
                                          <p:attrName>style.visibility</p:attrName>
                                        </p:attrNameLst>
                                      </p:cBhvr>
                                      <p:to>
                                        <p:strVal val="visible"/>
                                      </p:to>
                                    </p:set>
                                    <p:animEffect transition="in" filter="fade">
                                      <p:cBhvr>
                                        <p:cTn id="36" dur="1000"/>
                                        <p:tgtEl>
                                          <p:spTgt spid="2457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579"/>
                                        </p:tgtEl>
                                        <p:attrNameLst>
                                          <p:attrName>style.visibility</p:attrName>
                                        </p:attrNameLst>
                                      </p:cBhvr>
                                      <p:to>
                                        <p:strVal val="visible"/>
                                      </p:to>
                                    </p:set>
                                    <p:animEffect transition="in" filter="fade">
                                      <p:cBhvr>
                                        <p:cTn id="44" dur="1000"/>
                                        <p:tgtEl>
                                          <p:spTgt spid="2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 grpId="0"/>
      <p:bldP spid="2457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5FA58F-E2D6-96D8-42F9-71C83F1232BF}"/>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Economic Production Quantity Model</a:t>
            </a:r>
          </a:p>
        </p:txBody>
      </p:sp>
      <p:sp>
        <p:nvSpPr>
          <p:cNvPr id="4" name="Rectangle 3">
            <a:extLst>
              <a:ext uri="{FF2B5EF4-FFF2-40B4-BE49-F238E27FC236}">
                <a16:creationId xmlns:a16="http://schemas.microsoft.com/office/drawing/2014/main" id="{CA22FCF5-7E22-8366-A9F3-4A5582A73A40}"/>
              </a:ext>
            </a:extLst>
          </p:cNvPr>
          <p:cNvSpPr/>
          <p:nvPr/>
        </p:nvSpPr>
        <p:spPr>
          <a:xfrm>
            <a:off x="8488364" y="2608263"/>
            <a:ext cx="3703636" cy="26546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200000"/>
              </a:lnSpc>
            </a:pPr>
            <a:r>
              <a:rPr lang="en-US" sz="1600" b="1" dirty="0">
                <a:solidFill>
                  <a:schemeClr val="tx1"/>
                </a:solidFill>
                <a:latin typeface="Candara" panose="020E0502030303020204" pitchFamily="34" charset="0"/>
              </a:rPr>
              <a:t>Q = No. of pieces per production run</a:t>
            </a:r>
          </a:p>
          <a:p>
            <a:pPr>
              <a:lnSpc>
                <a:spcPct val="200000"/>
              </a:lnSpc>
            </a:pPr>
            <a:r>
              <a:rPr lang="en-US" sz="1600" b="1" dirty="0">
                <a:solidFill>
                  <a:schemeClr val="tx1"/>
                </a:solidFill>
                <a:latin typeface="Candara" panose="020E0502030303020204" pitchFamily="34" charset="0"/>
              </a:rPr>
              <a:t>p = Daily production rate</a:t>
            </a:r>
          </a:p>
          <a:p>
            <a:pPr>
              <a:lnSpc>
                <a:spcPct val="200000"/>
              </a:lnSpc>
            </a:pPr>
            <a:r>
              <a:rPr lang="en-US" sz="1600" b="1" dirty="0">
                <a:solidFill>
                  <a:schemeClr val="tx1"/>
                </a:solidFill>
                <a:latin typeface="Candara" panose="020E0502030303020204" pitchFamily="34" charset="0"/>
              </a:rPr>
              <a:t>H = Holding cost per unit per year</a:t>
            </a:r>
          </a:p>
          <a:p>
            <a:pPr>
              <a:lnSpc>
                <a:spcPct val="200000"/>
              </a:lnSpc>
            </a:pPr>
            <a:r>
              <a:rPr lang="en-US" sz="1600" b="1" dirty="0">
                <a:solidFill>
                  <a:schemeClr val="tx1"/>
                </a:solidFill>
                <a:latin typeface="Candara" panose="020E0502030303020204" pitchFamily="34" charset="0"/>
              </a:rPr>
              <a:t>d = Daily demand/usage rate</a:t>
            </a:r>
          </a:p>
          <a:p>
            <a:pPr>
              <a:lnSpc>
                <a:spcPct val="200000"/>
              </a:lnSpc>
            </a:pPr>
            <a:r>
              <a:rPr lang="en-US" sz="1600" b="1" dirty="0">
                <a:solidFill>
                  <a:schemeClr val="tx1"/>
                </a:solidFill>
                <a:latin typeface="Candara" panose="020E0502030303020204" pitchFamily="34" charset="0"/>
              </a:rPr>
              <a:t>t = Length of the production run in days</a:t>
            </a:r>
          </a:p>
        </p:txBody>
      </p:sp>
      <p:cxnSp>
        <p:nvCxnSpPr>
          <p:cNvPr id="38" name="Straight Connector 37">
            <a:extLst>
              <a:ext uri="{FF2B5EF4-FFF2-40B4-BE49-F238E27FC236}">
                <a16:creationId xmlns:a16="http://schemas.microsoft.com/office/drawing/2014/main" id="{48F58264-CBE7-1B3E-85B8-FD68D7580D1B}"/>
              </a:ext>
            </a:extLst>
          </p:cNvPr>
          <p:cNvCxnSpPr/>
          <p:nvPr/>
        </p:nvCxnSpPr>
        <p:spPr>
          <a:xfrm>
            <a:off x="8280400" y="1599883"/>
            <a:ext cx="0" cy="448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3D439E3-E66E-2490-DBF7-9B880D06CC98}"/>
              </a:ext>
            </a:extLst>
          </p:cNvPr>
          <p:cNvGrpSpPr/>
          <p:nvPr/>
        </p:nvGrpSpPr>
        <p:grpSpPr>
          <a:xfrm>
            <a:off x="2027782" y="1242530"/>
            <a:ext cx="4237734" cy="3060550"/>
            <a:chOff x="1601406" y="1138358"/>
            <a:chExt cx="4237734" cy="3060550"/>
          </a:xfrm>
        </p:grpSpPr>
        <p:pic>
          <p:nvPicPr>
            <p:cNvPr id="30722" name="Picture 2" descr="Economic Order Quantity &amp; Economic Order Quantity Formula">
              <a:extLst>
                <a:ext uri="{FF2B5EF4-FFF2-40B4-BE49-F238E27FC236}">
                  <a16:creationId xmlns:a16="http://schemas.microsoft.com/office/drawing/2014/main" id="{F7DD2BBE-D725-3C9F-9483-D233AA536C3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51647" y="1138358"/>
              <a:ext cx="3879530" cy="30605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3C37691-B590-BD81-FAF8-32FFC8AA0F86}"/>
                </a:ext>
              </a:extLst>
            </p:cNvPr>
            <p:cNvSpPr/>
            <p:nvPr/>
          </p:nvSpPr>
          <p:spPr>
            <a:xfrm>
              <a:off x="4192203" y="3935571"/>
              <a:ext cx="877508" cy="263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latin typeface="Candara" panose="020E0502030303020204" pitchFamily="34" charset="0"/>
                </a:rPr>
                <a:t>Quantity</a:t>
              </a:r>
            </a:p>
          </p:txBody>
        </p:sp>
        <p:sp>
          <p:nvSpPr>
            <p:cNvPr id="5" name="Rectangle 4">
              <a:extLst>
                <a:ext uri="{FF2B5EF4-FFF2-40B4-BE49-F238E27FC236}">
                  <a16:creationId xmlns:a16="http://schemas.microsoft.com/office/drawing/2014/main" id="{598C0C32-599B-DFF6-3C14-302CC715FEB2}"/>
                </a:ext>
              </a:extLst>
            </p:cNvPr>
            <p:cNvSpPr/>
            <p:nvPr/>
          </p:nvSpPr>
          <p:spPr>
            <a:xfrm>
              <a:off x="1601406" y="1599883"/>
              <a:ext cx="457200" cy="263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latin typeface="Candara" panose="020E0502030303020204" pitchFamily="34" charset="0"/>
                </a:rPr>
                <a:t>Cost</a:t>
              </a:r>
            </a:p>
          </p:txBody>
        </p:sp>
        <p:sp>
          <p:nvSpPr>
            <p:cNvPr id="6" name="Rectangle 5">
              <a:extLst>
                <a:ext uri="{FF2B5EF4-FFF2-40B4-BE49-F238E27FC236}">
                  <a16:creationId xmlns:a16="http://schemas.microsoft.com/office/drawing/2014/main" id="{8C20BE53-6D02-5D6B-9BE9-D8E1ABCE7607}"/>
                </a:ext>
              </a:extLst>
            </p:cNvPr>
            <p:cNvSpPr/>
            <p:nvPr/>
          </p:nvSpPr>
          <p:spPr>
            <a:xfrm>
              <a:off x="4753669" y="2464865"/>
              <a:ext cx="877508" cy="4575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Holding Cost</a:t>
              </a:r>
            </a:p>
          </p:txBody>
        </p:sp>
        <p:sp>
          <p:nvSpPr>
            <p:cNvPr id="7" name="Rectangle 6">
              <a:extLst>
                <a:ext uri="{FF2B5EF4-FFF2-40B4-BE49-F238E27FC236}">
                  <a16:creationId xmlns:a16="http://schemas.microsoft.com/office/drawing/2014/main" id="{F557CE64-3509-5590-CA1E-37ACC2A9C391}"/>
                </a:ext>
              </a:extLst>
            </p:cNvPr>
            <p:cNvSpPr/>
            <p:nvPr/>
          </p:nvSpPr>
          <p:spPr>
            <a:xfrm>
              <a:off x="4961632" y="3316274"/>
              <a:ext cx="877508" cy="4575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Setup Cost</a:t>
              </a:r>
            </a:p>
          </p:txBody>
        </p:sp>
        <p:sp>
          <p:nvSpPr>
            <p:cNvPr id="11" name="Rectangle 10">
              <a:extLst>
                <a:ext uri="{FF2B5EF4-FFF2-40B4-BE49-F238E27FC236}">
                  <a16:creationId xmlns:a16="http://schemas.microsoft.com/office/drawing/2014/main" id="{4F7358C9-4537-169C-306A-A945886D6C51}"/>
                </a:ext>
              </a:extLst>
            </p:cNvPr>
            <p:cNvSpPr/>
            <p:nvPr/>
          </p:nvSpPr>
          <p:spPr>
            <a:xfrm>
              <a:off x="3053677" y="2465044"/>
              <a:ext cx="877508" cy="4575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ndara" panose="020E0502030303020204" pitchFamily="34" charset="0"/>
                </a:rPr>
                <a:t>EPQ</a:t>
              </a:r>
            </a:p>
          </p:txBody>
        </p:sp>
      </p:grpSp>
      <p:sp>
        <p:nvSpPr>
          <p:cNvPr id="13" name="Rectangle 12">
            <a:extLst>
              <a:ext uri="{FF2B5EF4-FFF2-40B4-BE49-F238E27FC236}">
                <a16:creationId xmlns:a16="http://schemas.microsoft.com/office/drawing/2014/main" id="{99046494-6B94-DC2B-1D20-043819FDE1D7}"/>
              </a:ext>
            </a:extLst>
          </p:cNvPr>
          <p:cNvSpPr/>
          <p:nvPr/>
        </p:nvSpPr>
        <p:spPr>
          <a:xfrm>
            <a:off x="2361236" y="4780344"/>
            <a:ext cx="4231132" cy="76526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US" sz="2800" b="1" dirty="0">
                <a:solidFill>
                  <a:schemeClr val="bg1"/>
                </a:solidFill>
                <a:latin typeface="Candara" panose="020E0502030303020204" pitchFamily="34" charset="0"/>
              </a:rPr>
              <a:t>Condition of Finding EPQ</a:t>
            </a:r>
          </a:p>
        </p:txBody>
      </p:sp>
      <p:sp>
        <p:nvSpPr>
          <p:cNvPr id="15" name="Rectangle 14">
            <a:extLst>
              <a:ext uri="{FF2B5EF4-FFF2-40B4-BE49-F238E27FC236}">
                <a16:creationId xmlns:a16="http://schemas.microsoft.com/office/drawing/2014/main" id="{99A2E67B-D6CA-5F80-C02D-938D01B1B9A7}"/>
              </a:ext>
            </a:extLst>
          </p:cNvPr>
          <p:cNvSpPr/>
          <p:nvPr/>
        </p:nvSpPr>
        <p:spPr>
          <a:xfrm>
            <a:off x="2256382" y="5471584"/>
            <a:ext cx="4440839" cy="6623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US" sz="2800" dirty="0">
                <a:solidFill>
                  <a:schemeClr val="tx1"/>
                </a:solidFill>
                <a:latin typeface="Candara" panose="020E0502030303020204" pitchFamily="34" charset="0"/>
              </a:rPr>
              <a:t>Holding Cost = Setup Cost</a:t>
            </a:r>
          </a:p>
        </p:txBody>
      </p:sp>
    </p:spTree>
    <p:extLst>
      <p:ext uri="{BB962C8B-B14F-4D97-AF65-F5344CB8AC3E}">
        <p14:creationId xmlns:p14="http://schemas.microsoft.com/office/powerpoint/2010/main" val="3831567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5FA58F-E2D6-96D8-42F9-71C83F1232BF}"/>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Economic Production Quantity Model</a:t>
            </a:r>
          </a:p>
        </p:txBody>
      </p:sp>
      <p:sp>
        <p:nvSpPr>
          <p:cNvPr id="4" name="Rectangle 3">
            <a:extLst>
              <a:ext uri="{FF2B5EF4-FFF2-40B4-BE49-F238E27FC236}">
                <a16:creationId xmlns:a16="http://schemas.microsoft.com/office/drawing/2014/main" id="{CA22FCF5-7E22-8366-A9F3-4A5582A73A40}"/>
              </a:ext>
            </a:extLst>
          </p:cNvPr>
          <p:cNvSpPr/>
          <p:nvPr/>
        </p:nvSpPr>
        <p:spPr>
          <a:xfrm>
            <a:off x="8025765" y="1418664"/>
            <a:ext cx="3703636" cy="36905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200000"/>
              </a:lnSpc>
            </a:pPr>
            <a:r>
              <a:rPr lang="en-US" sz="1600" b="1" dirty="0">
                <a:solidFill>
                  <a:schemeClr val="bg1"/>
                </a:solidFill>
                <a:latin typeface="Candara" panose="020E0502030303020204" pitchFamily="34" charset="0"/>
              </a:rPr>
              <a:t>Q = No. of pieces per production run</a:t>
            </a:r>
          </a:p>
          <a:p>
            <a:pPr>
              <a:lnSpc>
                <a:spcPct val="200000"/>
              </a:lnSpc>
            </a:pPr>
            <a:r>
              <a:rPr lang="en-US" sz="1600" b="1" dirty="0">
                <a:solidFill>
                  <a:schemeClr val="bg1"/>
                </a:solidFill>
                <a:latin typeface="Candara" panose="020E0502030303020204" pitchFamily="34" charset="0"/>
              </a:rPr>
              <a:t>p = Daily production rate</a:t>
            </a:r>
          </a:p>
          <a:p>
            <a:pPr>
              <a:lnSpc>
                <a:spcPct val="200000"/>
              </a:lnSpc>
            </a:pPr>
            <a:r>
              <a:rPr lang="en-US" sz="1600" b="1" dirty="0">
                <a:solidFill>
                  <a:schemeClr val="bg1"/>
                </a:solidFill>
                <a:latin typeface="Candara" panose="020E0502030303020204" pitchFamily="34" charset="0"/>
              </a:rPr>
              <a:t>H = Holding cost per unit per year</a:t>
            </a:r>
          </a:p>
          <a:p>
            <a:pPr>
              <a:lnSpc>
                <a:spcPct val="200000"/>
              </a:lnSpc>
            </a:pPr>
            <a:r>
              <a:rPr lang="en-US" sz="1600" b="1" dirty="0">
                <a:solidFill>
                  <a:schemeClr val="bg1"/>
                </a:solidFill>
                <a:latin typeface="Candara" panose="020E0502030303020204" pitchFamily="34" charset="0"/>
              </a:rPr>
              <a:t>d = Daily demand/usage rate</a:t>
            </a:r>
          </a:p>
          <a:p>
            <a:pPr>
              <a:lnSpc>
                <a:spcPct val="200000"/>
              </a:lnSpc>
            </a:pPr>
            <a:r>
              <a:rPr lang="en-US" sz="1600" b="1" dirty="0">
                <a:solidFill>
                  <a:schemeClr val="bg1"/>
                </a:solidFill>
                <a:latin typeface="Candara" panose="020E0502030303020204" pitchFamily="34" charset="0"/>
              </a:rPr>
              <a:t>D = Annual Demand</a:t>
            </a:r>
          </a:p>
          <a:p>
            <a:pPr>
              <a:lnSpc>
                <a:spcPct val="200000"/>
              </a:lnSpc>
            </a:pPr>
            <a:r>
              <a:rPr lang="en-US" sz="1600" b="1" dirty="0">
                <a:solidFill>
                  <a:schemeClr val="bg1"/>
                </a:solidFill>
                <a:latin typeface="Candara" panose="020E0502030303020204" pitchFamily="34" charset="0"/>
              </a:rPr>
              <a:t>t = Length of the production run in days</a:t>
            </a:r>
          </a:p>
          <a:p>
            <a:pPr>
              <a:lnSpc>
                <a:spcPct val="200000"/>
              </a:lnSpc>
            </a:pPr>
            <a:r>
              <a:rPr lang="en-US" sz="1600" b="1" dirty="0">
                <a:solidFill>
                  <a:schemeClr val="bg1"/>
                </a:solidFill>
                <a:latin typeface="Candara" panose="020E0502030303020204" pitchFamily="34" charset="0"/>
              </a:rPr>
              <a:t>S = Setup cost per production run</a:t>
            </a:r>
          </a:p>
        </p:txBody>
      </p:sp>
      <p:grpSp>
        <p:nvGrpSpPr>
          <p:cNvPr id="8" name="Group 39">
            <a:extLst>
              <a:ext uri="{FF2B5EF4-FFF2-40B4-BE49-F238E27FC236}">
                <a16:creationId xmlns:a16="http://schemas.microsoft.com/office/drawing/2014/main" id="{19F405F4-C111-4FB8-4237-F151C565C599}"/>
              </a:ext>
            </a:extLst>
          </p:cNvPr>
          <p:cNvGrpSpPr>
            <a:grpSpLocks/>
          </p:cNvGrpSpPr>
          <p:nvPr/>
        </p:nvGrpSpPr>
        <p:grpSpPr bwMode="auto">
          <a:xfrm>
            <a:off x="650240" y="3109595"/>
            <a:ext cx="6559550" cy="565150"/>
            <a:chOff x="596" y="3056"/>
            <a:chExt cx="4132" cy="356"/>
          </a:xfrm>
        </p:grpSpPr>
        <p:sp>
          <p:nvSpPr>
            <p:cNvPr id="10" name="Rectangle 22">
              <a:extLst>
                <a:ext uri="{FF2B5EF4-FFF2-40B4-BE49-F238E27FC236}">
                  <a16:creationId xmlns:a16="http://schemas.microsoft.com/office/drawing/2014/main" id="{DC3C3DDC-9673-A3DF-7F76-1BF9181E9CE3}"/>
                </a:ext>
              </a:extLst>
            </p:cNvPr>
            <p:cNvSpPr>
              <a:spLocks noChangeArrowheads="1"/>
            </p:cNvSpPr>
            <p:nvPr/>
          </p:nvSpPr>
          <p:spPr bwMode="auto">
            <a:xfrm>
              <a:off x="1665" y="3129"/>
              <a:ext cx="176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nSpc>
                  <a:spcPct val="85000"/>
                </a:lnSpc>
              </a:pPr>
              <a:r>
                <a:rPr lang="en-US" altLang="en-US" b="0" dirty="0">
                  <a:latin typeface="Candara" panose="020E0502030303020204" pitchFamily="34" charset="0"/>
                </a:rPr>
                <a:t>=                                                –</a:t>
              </a:r>
            </a:p>
          </p:txBody>
        </p:sp>
        <p:sp>
          <p:nvSpPr>
            <p:cNvPr id="18" name="Rectangle 24">
              <a:extLst>
                <a:ext uri="{FF2B5EF4-FFF2-40B4-BE49-F238E27FC236}">
                  <a16:creationId xmlns:a16="http://schemas.microsoft.com/office/drawing/2014/main" id="{E99EB17A-B933-1526-AE25-3B49F3E5C221}"/>
                </a:ext>
              </a:extLst>
            </p:cNvPr>
            <p:cNvSpPr>
              <a:spLocks noChangeArrowheads="1"/>
            </p:cNvSpPr>
            <p:nvPr/>
          </p:nvSpPr>
          <p:spPr bwMode="auto">
            <a:xfrm>
              <a:off x="596" y="3056"/>
              <a:ext cx="1156"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dirty="0">
                  <a:latin typeface="Candara" panose="020E0502030303020204" pitchFamily="34" charset="0"/>
                </a:rPr>
                <a:t>Maximum inventory level</a:t>
              </a:r>
            </a:p>
          </p:txBody>
        </p:sp>
        <p:sp>
          <p:nvSpPr>
            <p:cNvPr id="16" name="Rectangle 31">
              <a:extLst>
                <a:ext uri="{FF2B5EF4-FFF2-40B4-BE49-F238E27FC236}">
                  <a16:creationId xmlns:a16="http://schemas.microsoft.com/office/drawing/2014/main" id="{FB51F10A-5A59-79BE-A30E-F623B982C3DB}"/>
                </a:ext>
              </a:extLst>
            </p:cNvPr>
            <p:cNvSpPr>
              <a:spLocks noChangeArrowheads="1"/>
            </p:cNvSpPr>
            <p:nvPr/>
          </p:nvSpPr>
          <p:spPr bwMode="auto">
            <a:xfrm>
              <a:off x="1753" y="3056"/>
              <a:ext cx="1532"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Total produced during the production run</a:t>
              </a:r>
            </a:p>
          </p:txBody>
        </p:sp>
        <p:sp>
          <p:nvSpPr>
            <p:cNvPr id="14" name="Rectangle 35">
              <a:extLst>
                <a:ext uri="{FF2B5EF4-FFF2-40B4-BE49-F238E27FC236}">
                  <a16:creationId xmlns:a16="http://schemas.microsoft.com/office/drawing/2014/main" id="{22BF0424-4224-12A9-A76E-78FF27EC99AB}"/>
                </a:ext>
              </a:extLst>
            </p:cNvPr>
            <p:cNvSpPr>
              <a:spLocks noChangeArrowheads="1"/>
            </p:cNvSpPr>
            <p:nvPr/>
          </p:nvSpPr>
          <p:spPr bwMode="auto">
            <a:xfrm>
              <a:off x="3349" y="3056"/>
              <a:ext cx="1379"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Total used during the production run</a:t>
              </a:r>
            </a:p>
          </p:txBody>
        </p:sp>
      </p:grpSp>
      <mc:AlternateContent xmlns:mc="http://schemas.openxmlformats.org/markup-compatibility/2006" xmlns:a14="http://schemas.microsoft.com/office/drawing/2010/main">
        <mc:Choice Requires="a14">
          <p:sp>
            <p:nvSpPr>
              <p:cNvPr id="9" name="Rectangle 40">
                <a:extLst>
                  <a:ext uri="{FF2B5EF4-FFF2-40B4-BE49-F238E27FC236}">
                    <a16:creationId xmlns:a16="http://schemas.microsoft.com/office/drawing/2014/main" id="{F6BCF821-891E-D7FF-436B-CB83D1029254}"/>
                  </a:ext>
                </a:extLst>
              </p:cNvPr>
              <p:cNvSpPr>
                <a:spLocks noChangeArrowheads="1"/>
              </p:cNvSpPr>
              <p:nvPr/>
            </p:nvSpPr>
            <p:spPr bwMode="auto">
              <a:xfrm>
                <a:off x="2347277" y="3780316"/>
                <a:ext cx="4903787" cy="5439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14:m>
                  <m:oMath xmlns:m="http://schemas.openxmlformats.org/officeDocument/2006/math">
                    <m:r>
                      <a:rPr lang="en-US" altLang="en-US" b="0" i="0" dirty="0" smtClean="0">
                        <a:latin typeface="Cambria Math" panose="02040503050406030204" pitchFamily="18" charset="0"/>
                      </a:rPr>
                      <m:t>=  </m:t>
                    </m:r>
                    <m:r>
                      <m:rPr>
                        <m:sty m:val="p"/>
                      </m:rPr>
                      <a:rPr lang="en-US" altLang="en-US" b="0" i="0" dirty="0">
                        <a:latin typeface="Cambria Math" panose="02040503050406030204" pitchFamily="18" charset="0"/>
                      </a:rPr>
                      <m:t>pt</m:t>
                    </m:r>
                    <m:r>
                      <a:rPr lang="en-US" altLang="en-US" b="0" i="0" dirty="0">
                        <a:latin typeface="Cambria Math" panose="02040503050406030204" pitchFamily="18" charset="0"/>
                      </a:rPr>
                      <m:t>  –  </m:t>
                    </m:r>
                    <m:r>
                      <m:rPr>
                        <m:sty m:val="p"/>
                      </m:rPr>
                      <a:rPr lang="en-US" altLang="en-US" b="0" i="0" dirty="0">
                        <a:latin typeface="Cambria Math" panose="02040503050406030204" pitchFamily="18" charset="0"/>
                      </a:rPr>
                      <m:t>dt</m:t>
                    </m:r>
                  </m:oMath>
                </a14:m>
                <a:r>
                  <a:rPr lang="en-US" altLang="en-US" b="0" dirty="0">
                    <a:latin typeface="Candara" panose="020E0502030303020204" pitchFamily="34" charset="0"/>
                  </a:rPr>
                  <a:t>   </a:t>
                </a:r>
                <a14:m>
                  <m:oMath xmlns:m="http://schemas.openxmlformats.org/officeDocument/2006/math">
                    <m:r>
                      <a:rPr lang="en-US" altLang="en-US" b="0" i="1" dirty="0" smtClean="0">
                        <a:latin typeface="Cambria Math" panose="02040503050406030204" pitchFamily="18" charset="0"/>
                      </a:rPr>
                      <m:t>=</m:t>
                    </m:r>
                    <m:r>
                      <m:rPr>
                        <m:sty m:val="p"/>
                      </m:rPr>
                      <a:rPr lang="en-US" altLang="en-US" b="0" i="0" dirty="0" smtClean="0">
                        <a:latin typeface="Cambria Math" panose="02040503050406030204" pitchFamily="18" charset="0"/>
                      </a:rPr>
                      <m:t>p</m:t>
                    </m:r>
                    <m:d>
                      <m:dPr>
                        <m:ctrlPr>
                          <a:rPr lang="en-US" altLang="en-US" b="0" i="1" dirty="0" smtClean="0">
                            <a:latin typeface="Cambria Math" panose="02040503050406030204" pitchFamily="18" charset="0"/>
                          </a:rPr>
                        </m:ctrlPr>
                      </m:dPr>
                      <m:e>
                        <m:f>
                          <m:fPr>
                            <m:ctrlPr>
                              <a:rPr lang="en-US" altLang="en-US" b="0" i="1" dirty="0" smtClean="0">
                                <a:latin typeface="Cambria Math" panose="02040503050406030204" pitchFamily="18" charset="0"/>
                              </a:rPr>
                            </m:ctrlPr>
                          </m:fPr>
                          <m:num>
                            <m:r>
                              <m:rPr>
                                <m:sty m:val="p"/>
                              </m:rPr>
                              <a:rPr lang="en-US" altLang="en-US" b="0" i="0" dirty="0" smtClean="0">
                                <a:latin typeface="Cambria Math" panose="02040503050406030204" pitchFamily="18" charset="0"/>
                              </a:rPr>
                              <m:t>Q</m:t>
                            </m:r>
                          </m:num>
                          <m:den>
                            <m:r>
                              <m:rPr>
                                <m:sty m:val="p"/>
                              </m:rPr>
                              <a:rPr lang="en-US" altLang="en-US" b="0" i="0" dirty="0" smtClean="0">
                                <a:latin typeface="Cambria Math" panose="02040503050406030204" pitchFamily="18" charset="0"/>
                              </a:rPr>
                              <m:t>p</m:t>
                            </m:r>
                          </m:den>
                        </m:f>
                      </m:e>
                    </m:d>
                    <m:r>
                      <a:rPr lang="en-US" altLang="en-US" b="0" i="0" dirty="0" smtClean="0">
                        <a:latin typeface="Cambria Math" panose="02040503050406030204" pitchFamily="18" charset="0"/>
                      </a:rPr>
                      <m:t> −</m:t>
                    </m:r>
                    <m:r>
                      <m:rPr>
                        <m:sty m:val="p"/>
                      </m:rPr>
                      <a:rPr lang="en-US" altLang="en-US" b="0" i="0" dirty="0" smtClean="0">
                        <a:latin typeface="Cambria Math" panose="02040503050406030204" pitchFamily="18" charset="0"/>
                      </a:rPr>
                      <m:t>d</m:t>
                    </m:r>
                    <m:d>
                      <m:dPr>
                        <m:ctrlPr>
                          <a:rPr lang="en-US" altLang="en-US" b="0" i="1" dirty="0" smtClean="0">
                            <a:latin typeface="Cambria Math" panose="02040503050406030204" pitchFamily="18" charset="0"/>
                          </a:rPr>
                        </m:ctrlPr>
                      </m:dPr>
                      <m:e>
                        <m:f>
                          <m:fPr>
                            <m:ctrlPr>
                              <a:rPr lang="en-US" altLang="en-US" b="0" i="1" dirty="0">
                                <a:latin typeface="Cambria Math" panose="02040503050406030204" pitchFamily="18" charset="0"/>
                              </a:rPr>
                            </m:ctrlPr>
                          </m:fPr>
                          <m:num>
                            <m:r>
                              <m:rPr>
                                <m:sty m:val="p"/>
                              </m:rPr>
                              <a:rPr lang="en-US" altLang="en-US" b="0" i="0" dirty="0">
                                <a:latin typeface="Cambria Math" panose="02040503050406030204" pitchFamily="18" charset="0"/>
                              </a:rPr>
                              <m:t>Q</m:t>
                            </m:r>
                          </m:num>
                          <m:den>
                            <m:r>
                              <m:rPr>
                                <m:sty m:val="p"/>
                              </m:rPr>
                              <a:rPr lang="en-US" altLang="en-US" b="0" i="0" dirty="0">
                                <a:latin typeface="Cambria Math" panose="02040503050406030204" pitchFamily="18" charset="0"/>
                              </a:rPr>
                              <m:t>p</m:t>
                            </m:r>
                          </m:den>
                        </m:f>
                      </m:e>
                    </m:d>
                    <m:r>
                      <a:rPr lang="en-US" altLang="en-US" b="1" i="0" dirty="0" smtClean="0">
                        <a:latin typeface="Cambria Math" panose="02040503050406030204" pitchFamily="18" charset="0"/>
                      </a:rPr>
                      <m:t>=</m:t>
                    </m:r>
                    <m:r>
                      <a:rPr lang="en-US" altLang="en-US" b="1" i="0" dirty="0" smtClean="0">
                        <a:latin typeface="Cambria Math" panose="02040503050406030204" pitchFamily="18" charset="0"/>
                      </a:rPr>
                      <m:t>𝐐</m:t>
                    </m:r>
                    <m:d>
                      <m:dPr>
                        <m:ctrlPr>
                          <a:rPr lang="en-US" altLang="en-US" b="1" i="1" dirty="0" smtClean="0">
                            <a:latin typeface="Cambria Math" panose="02040503050406030204" pitchFamily="18" charset="0"/>
                          </a:rPr>
                        </m:ctrlPr>
                      </m:dPr>
                      <m:e>
                        <m:r>
                          <a:rPr lang="en-US" altLang="en-US" b="1" i="0" dirty="0" smtClean="0">
                            <a:latin typeface="Cambria Math" panose="02040503050406030204" pitchFamily="18" charset="0"/>
                          </a:rPr>
                          <m:t>𝟏</m:t>
                        </m:r>
                        <m:r>
                          <a:rPr lang="en-US" altLang="en-US" b="1" i="0" dirty="0" smtClean="0">
                            <a:latin typeface="Cambria Math" panose="02040503050406030204" pitchFamily="18" charset="0"/>
                          </a:rPr>
                          <m:t>−</m:t>
                        </m:r>
                        <m:f>
                          <m:fPr>
                            <m:ctrlPr>
                              <a:rPr lang="en-US" altLang="en-US" i="1" dirty="0" smtClean="0">
                                <a:latin typeface="Cambria Math" panose="02040503050406030204" pitchFamily="18" charset="0"/>
                              </a:rPr>
                            </m:ctrlPr>
                          </m:fPr>
                          <m:num>
                            <m:r>
                              <a:rPr lang="en-US" altLang="en-US" b="1" i="0" dirty="0" smtClean="0">
                                <a:latin typeface="Cambria Math" panose="02040503050406030204" pitchFamily="18" charset="0"/>
                              </a:rPr>
                              <m:t>𝐝</m:t>
                            </m:r>
                          </m:num>
                          <m:den>
                            <m:r>
                              <a:rPr lang="en-US" altLang="en-US" i="0" dirty="0">
                                <a:latin typeface="Cambria Math" panose="02040503050406030204" pitchFamily="18" charset="0"/>
                              </a:rPr>
                              <m:t>𝐩</m:t>
                            </m:r>
                          </m:den>
                        </m:f>
                      </m:e>
                    </m:d>
                  </m:oMath>
                </a14:m>
                <a:r>
                  <a:rPr lang="en-US" altLang="en-US" dirty="0">
                    <a:latin typeface="Candara" panose="020E0502030303020204" pitchFamily="34" charset="0"/>
                  </a:rPr>
                  <a:t> </a:t>
                </a:r>
              </a:p>
            </p:txBody>
          </p:sp>
        </mc:Choice>
        <mc:Fallback xmlns="">
          <p:sp>
            <p:nvSpPr>
              <p:cNvPr id="9" name="Rectangle 40">
                <a:extLst>
                  <a:ext uri="{FF2B5EF4-FFF2-40B4-BE49-F238E27FC236}">
                    <a16:creationId xmlns:a16="http://schemas.microsoft.com/office/drawing/2014/main" id="{F6BCF821-891E-D7FF-436B-CB83D1029254}"/>
                  </a:ext>
                </a:extLst>
              </p:cNvPr>
              <p:cNvSpPr>
                <a:spLocks noRot="1" noChangeAspect="1" noMove="1" noResize="1" noEditPoints="1" noAdjustHandles="1" noChangeArrowheads="1" noChangeShapeType="1" noTextEdit="1"/>
              </p:cNvSpPr>
              <p:nvPr/>
            </p:nvSpPr>
            <p:spPr bwMode="auto">
              <a:xfrm>
                <a:off x="2347277" y="3780316"/>
                <a:ext cx="4903787" cy="543931"/>
              </a:xfrm>
              <a:prstGeom prst="rect">
                <a:avLst/>
              </a:prstGeom>
              <a:blipFill>
                <a:blip r:embed="rId2"/>
                <a:stretch>
                  <a:fillRect b="-22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0" name="Group 20">
            <a:extLst>
              <a:ext uri="{FF2B5EF4-FFF2-40B4-BE49-F238E27FC236}">
                <a16:creationId xmlns:a16="http://schemas.microsoft.com/office/drawing/2014/main" id="{5101CAA7-91C6-2EFC-8D1B-06D43827943C}"/>
              </a:ext>
            </a:extLst>
          </p:cNvPr>
          <p:cNvGrpSpPr>
            <a:grpSpLocks/>
          </p:cNvGrpSpPr>
          <p:nvPr/>
        </p:nvGrpSpPr>
        <p:grpSpPr bwMode="auto">
          <a:xfrm>
            <a:off x="650240" y="4544062"/>
            <a:ext cx="4903788" cy="565150"/>
            <a:chOff x="543" y="2496"/>
            <a:chExt cx="3089" cy="356"/>
          </a:xfrm>
        </p:grpSpPr>
        <p:sp>
          <p:nvSpPr>
            <p:cNvPr id="21" name="Rectangle 13">
              <a:extLst>
                <a:ext uri="{FF2B5EF4-FFF2-40B4-BE49-F238E27FC236}">
                  <a16:creationId xmlns:a16="http://schemas.microsoft.com/office/drawing/2014/main" id="{6FBE848F-BB48-39CB-F220-ACAF4302361D}"/>
                </a:ext>
              </a:extLst>
            </p:cNvPr>
            <p:cNvSpPr>
              <a:spLocks noChangeArrowheads="1"/>
            </p:cNvSpPr>
            <p:nvPr/>
          </p:nvSpPr>
          <p:spPr bwMode="auto">
            <a:xfrm>
              <a:off x="1612" y="2570"/>
              <a:ext cx="202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 (Maximum inventory level)/2</a:t>
              </a:r>
            </a:p>
          </p:txBody>
        </p:sp>
        <p:sp>
          <p:nvSpPr>
            <p:cNvPr id="23" name="Rectangle 15">
              <a:extLst>
                <a:ext uri="{FF2B5EF4-FFF2-40B4-BE49-F238E27FC236}">
                  <a16:creationId xmlns:a16="http://schemas.microsoft.com/office/drawing/2014/main" id="{CB96885E-1D1C-4716-084C-E866920A5C3F}"/>
                </a:ext>
              </a:extLst>
            </p:cNvPr>
            <p:cNvSpPr>
              <a:spLocks noChangeArrowheads="1"/>
            </p:cNvSpPr>
            <p:nvPr/>
          </p:nvSpPr>
          <p:spPr bwMode="auto">
            <a:xfrm>
              <a:off x="543" y="2496"/>
              <a:ext cx="1107"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dirty="0">
                  <a:latin typeface="Candara" panose="020E0502030303020204" pitchFamily="34" charset="0"/>
                </a:rPr>
                <a:t>Average inventory level</a:t>
              </a:r>
            </a:p>
          </p:txBody>
        </p:sp>
      </p:grpSp>
      <mc:AlternateContent xmlns:mc="http://schemas.openxmlformats.org/markup-compatibility/2006" xmlns:a14="http://schemas.microsoft.com/office/drawing/2010/main">
        <mc:Choice Requires="a14">
          <p:sp>
            <p:nvSpPr>
              <p:cNvPr id="25" name="Rectangle 40">
                <a:extLst>
                  <a:ext uri="{FF2B5EF4-FFF2-40B4-BE49-F238E27FC236}">
                    <a16:creationId xmlns:a16="http://schemas.microsoft.com/office/drawing/2014/main" id="{38E0348A-EE7A-86CE-70CD-581D7F1397E4}"/>
                  </a:ext>
                </a:extLst>
              </p:cNvPr>
              <p:cNvSpPr>
                <a:spLocks noChangeArrowheads="1"/>
              </p:cNvSpPr>
              <p:nvPr/>
            </p:nvSpPr>
            <p:spPr bwMode="auto">
              <a:xfrm>
                <a:off x="2404587" y="5160884"/>
                <a:ext cx="3589812" cy="6455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14:m>
                  <m:oMathPara xmlns:m="http://schemas.openxmlformats.org/officeDocument/2006/math">
                    <m:oMathParaPr>
                      <m:jc m:val="left"/>
                    </m:oMathParaPr>
                    <m:oMath xmlns:m="http://schemas.openxmlformats.org/officeDocument/2006/math">
                      <m:r>
                        <a:rPr lang="en-US" altLang="en-US" sz="1600" b="1" i="0" dirty="0" smtClean="0">
                          <a:latin typeface="Cambria Math" panose="02040503050406030204" pitchFamily="18" charset="0"/>
                        </a:rPr>
                        <m:t>=</m:t>
                      </m:r>
                      <m:f>
                        <m:fPr>
                          <m:ctrlPr>
                            <a:rPr lang="en-US" altLang="en-US" sz="1600" b="1" i="1" dirty="0" smtClean="0">
                              <a:latin typeface="Cambria Math" panose="02040503050406030204" pitchFamily="18" charset="0"/>
                            </a:rPr>
                          </m:ctrlPr>
                        </m:fPr>
                        <m:num>
                          <m:r>
                            <a:rPr lang="en-US" altLang="en-US" sz="1600" b="1" i="0" dirty="0" smtClean="0">
                              <a:latin typeface="Cambria Math" panose="02040503050406030204" pitchFamily="18" charset="0"/>
                            </a:rPr>
                            <m:t>𝐐</m:t>
                          </m:r>
                        </m:num>
                        <m:den>
                          <m:r>
                            <a:rPr lang="en-US" altLang="en-US" sz="1600" b="1" i="0" dirty="0" smtClean="0">
                              <a:latin typeface="Cambria Math" panose="02040503050406030204" pitchFamily="18" charset="0"/>
                            </a:rPr>
                            <m:t>𝟐</m:t>
                          </m:r>
                        </m:den>
                      </m:f>
                      <m:d>
                        <m:dPr>
                          <m:ctrlPr>
                            <a:rPr lang="en-US" altLang="en-US" sz="1600" i="1" dirty="0">
                              <a:latin typeface="Cambria Math" panose="02040503050406030204" pitchFamily="18" charset="0"/>
                            </a:rPr>
                          </m:ctrlPr>
                        </m:dPr>
                        <m:e>
                          <m:r>
                            <a:rPr lang="en-US" altLang="en-US" sz="1600" i="0" dirty="0">
                              <a:latin typeface="Cambria Math" panose="02040503050406030204" pitchFamily="18" charset="0"/>
                            </a:rPr>
                            <m:t>𝟏</m:t>
                          </m:r>
                          <m:r>
                            <a:rPr lang="en-US" altLang="en-US" sz="1600" i="0" dirty="0">
                              <a:latin typeface="Cambria Math" panose="02040503050406030204" pitchFamily="18" charset="0"/>
                            </a:rPr>
                            <m:t>−</m:t>
                          </m:r>
                          <m:f>
                            <m:fPr>
                              <m:ctrlPr>
                                <a:rPr lang="en-US" altLang="en-US" sz="1600" i="1" dirty="0" smtClean="0">
                                  <a:latin typeface="Cambria Math" panose="02040503050406030204" pitchFamily="18" charset="0"/>
                                </a:rPr>
                              </m:ctrlPr>
                            </m:fPr>
                            <m:num>
                              <m:r>
                                <a:rPr lang="en-US" altLang="en-US" sz="1600" i="0" dirty="0">
                                  <a:latin typeface="Cambria Math" panose="02040503050406030204" pitchFamily="18" charset="0"/>
                                </a:rPr>
                                <m:t>𝐝</m:t>
                              </m:r>
                            </m:num>
                            <m:den>
                              <m:r>
                                <a:rPr lang="en-US" altLang="en-US" sz="1600" i="0" dirty="0">
                                  <a:latin typeface="Cambria Math" panose="02040503050406030204" pitchFamily="18" charset="0"/>
                                </a:rPr>
                                <m:t>𝐩</m:t>
                              </m:r>
                            </m:den>
                          </m:f>
                        </m:e>
                      </m:d>
                    </m:oMath>
                  </m:oMathPara>
                </a14:m>
                <a:endParaRPr lang="en-US" altLang="en-US" sz="1600" dirty="0">
                  <a:latin typeface="Candara" panose="020E0502030303020204" pitchFamily="34" charset="0"/>
                </a:endParaRPr>
              </a:p>
            </p:txBody>
          </p:sp>
        </mc:Choice>
        <mc:Fallback xmlns="">
          <p:sp>
            <p:nvSpPr>
              <p:cNvPr id="25" name="Rectangle 40">
                <a:extLst>
                  <a:ext uri="{FF2B5EF4-FFF2-40B4-BE49-F238E27FC236}">
                    <a16:creationId xmlns:a16="http://schemas.microsoft.com/office/drawing/2014/main" id="{38E0348A-EE7A-86CE-70CD-581D7F1397E4}"/>
                  </a:ext>
                </a:extLst>
              </p:cNvPr>
              <p:cNvSpPr>
                <a:spLocks noRot="1" noChangeAspect="1" noMove="1" noResize="1" noEditPoints="1" noAdjustHandles="1" noChangeArrowheads="1" noChangeShapeType="1" noTextEdit="1"/>
              </p:cNvSpPr>
              <p:nvPr/>
            </p:nvSpPr>
            <p:spPr bwMode="auto">
              <a:xfrm>
                <a:off x="2404587" y="5160884"/>
                <a:ext cx="3589812" cy="645561"/>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55" name="Group 54">
            <a:extLst>
              <a:ext uri="{FF2B5EF4-FFF2-40B4-BE49-F238E27FC236}">
                <a16:creationId xmlns:a16="http://schemas.microsoft.com/office/drawing/2014/main" id="{6A913863-FBA8-A78A-71D6-164B12FD9EA9}"/>
              </a:ext>
            </a:extLst>
          </p:cNvPr>
          <p:cNvGrpSpPr/>
          <p:nvPr/>
        </p:nvGrpSpPr>
        <p:grpSpPr>
          <a:xfrm>
            <a:off x="504826" y="5945871"/>
            <a:ext cx="7618847" cy="645561"/>
            <a:chOff x="504826" y="5945871"/>
            <a:chExt cx="7618847" cy="645561"/>
          </a:xfrm>
        </p:grpSpPr>
        <p:grpSp>
          <p:nvGrpSpPr>
            <p:cNvPr id="54" name="Group 53">
              <a:extLst>
                <a:ext uri="{FF2B5EF4-FFF2-40B4-BE49-F238E27FC236}">
                  <a16:creationId xmlns:a16="http://schemas.microsoft.com/office/drawing/2014/main" id="{20D87E2B-ADF1-AE4B-DEA4-8CE998FE8061}"/>
                </a:ext>
              </a:extLst>
            </p:cNvPr>
            <p:cNvGrpSpPr/>
            <p:nvPr/>
          </p:nvGrpSpPr>
          <p:grpSpPr>
            <a:xfrm>
              <a:off x="504826" y="6012882"/>
              <a:ext cx="5835650" cy="565150"/>
              <a:chOff x="504826" y="6012882"/>
              <a:chExt cx="5835650" cy="565150"/>
            </a:xfrm>
          </p:grpSpPr>
          <p:grpSp>
            <p:nvGrpSpPr>
              <p:cNvPr id="26" name="Group 11">
                <a:extLst>
                  <a:ext uri="{FF2B5EF4-FFF2-40B4-BE49-F238E27FC236}">
                    <a16:creationId xmlns:a16="http://schemas.microsoft.com/office/drawing/2014/main" id="{CB4F30AE-2C5E-4DBC-87D8-4F2B3094C0F5}"/>
                  </a:ext>
                </a:extLst>
              </p:cNvPr>
              <p:cNvGrpSpPr>
                <a:grpSpLocks/>
              </p:cNvGrpSpPr>
              <p:nvPr/>
            </p:nvGrpSpPr>
            <p:grpSpPr bwMode="auto">
              <a:xfrm>
                <a:off x="504826" y="6012882"/>
                <a:ext cx="5835650" cy="565150"/>
                <a:chOff x="542" y="2024"/>
                <a:chExt cx="3676" cy="356"/>
              </a:xfrm>
            </p:grpSpPr>
            <p:sp>
              <p:nvSpPr>
                <p:cNvPr id="27" name="Rectangle 5">
                  <a:extLst>
                    <a:ext uri="{FF2B5EF4-FFF2-40B4-BE49-F238E27FC236}">
                      <a16:creationId xmlns:a16="http://schemas.microsoft.com/office/drawing/2014/main" id="{49EEB30E-F912-483B-3B9F-338AF7E35F15}"/>
                    </a:ext>
                  </a:extLst>
                </p:cNvPr>
                <p:cNvSpPr>
                  <a:spLocks noChangeArrowheads="1"/>
                </p:cNvSpPr>
                <p:nvPr/>
              </p:nvSpPr>
              <p:spPr bwMode="auto">
                <a:xfrm>
                  <a:off x="1987" y="2024"/>
                  <a:ext cx="955"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 Average </a:t>
                  </a:r>
                </a:p>
                <a:p>
                  <a:pPr algn="ctr">
                    <a:lnSpc>
                      <a:spcPct val="85000"/>
                    </a:lnSpc>
                  </a:pPr>
                  <a:r>
                    <a:rPr lang="en-US" altLang="en-US" b="0" dirty="0">
                      <a:latin typeface="Candara" panose="020E0502030303020204" pitchFamily="34" charset="0"/>
                    </a:rPr>
                    <a:t>inventory level </a:t>
                  </a:r>
                </a:p>
              </p:txBody>
            </p:sp>
            <p:sp>
              <p:nvSpPr>
                <p:cNvPr id="32" name="Rectangle 4">
                  <a:extLst>
                    <a:ext uri="{FF2B5EF4-FFF2-40B4-BE49-F238E27FC236}">
                      <a16:creationId xmlns:a16="http://schemas.microsoft.com/office/drawing/2014/main" id="{110BDE3D-0F19-A970-EA3B-62B98C9198C7}"/>
                    </a:ext>
                  </a:extLst>
                </p:cNvPr>
                <p:cNvSpPr>
                  <a:spLocks noChangeArrowheads="1"/>
                </p:cNvSpPr>
                <p:nvPr/>
              </p:nvSpPr>
              <p:spPr bwMode="auto">
                <a:xfrm>
                  <a:off x="542" y="2024"/>
                  <a:ext cx="1340"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dirty="0">
                      <a:latin typeface="Candara" panose="020E0502030303020204" pitchFamily="34" charset="0"/>
                    </a:rPr>
                    <a:t>Annual inventory holding cost</a:t>
                  </a:r>
                </a:p>
              </p:txBody>
            </p:sp>
            <p:sp>
              <p:nvSpPr>
                <p:cNvPr id="30" name="Rectangle 6">
                  <a:extLst>
                    <a:ext uri="{FF2B5EF4-FFF2-40B4-BE49-F238E27FC236}">
                      <a16:creationId xmlns:a16="http://schemas.microsoft.com/office/drawing/2014/main" id="{6BAE368C-5E67-BE65-4D90-70F411D430D5}"/>
                    </a:ext>
                  </a:extLst>
                </p:cNvPr>
                <p:cNvSpPr>
                  <a:spLocks noChangeArrowheads="1"/>
                </p:cNvSpPr>
                <p:nvPr/>
              </p:nvSpPr>
              <p:spPr bwMode="auto">
                <a:xfrm>
                  <a:off x="3095" y="2024"/>
                  <a:ext cx="1123"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Holding cost </a:t>
                  </a:r>
                  <a:br>
                    <a:rPr lang="en-US" altLang="en-US" b="0" dirty="0">
                      <a:latin typeface="Candara" panose="020E0502030303020204" pitchFamily="34" charset="0"/>
                    </a:rPr>
                  </a:br>
                  <a:r>
                    <a:rPr lang="en-US" altLang="en-US" b="0" dirty="0">
                      <a:latin typeface="Candara" panose="020E0502030303020204" pitchFamily="34" charset="0"/>
                    </a:rPr>
                    <a:t>per unit per year</a:t>
                  </a:r>
                </a:p>
              </p:txBody>
            </p:sp>
          </p:grpSp>
          <p:sp>
            <p:nvSpPr>
              <p:cNvPr id="35" name="Rectangle 22">
                <a:extLst>
                  <a:ext uri="{FF2B5EF4-FFF2-40B4-BE49-F238E27FC236}">
                    <a16:creationId xmlns:a16="http://schemas.microsoft.com/office/drawing/2014/main" id="{21467AC3-AA58-5082-436F-72371E130A42}"/>
                  </a:ext>
                </a:extLst>
              </p:cNvPr>
              <p:cNvSpPr>
                <a:spLocks noChangeArrowheads="1"/>
              </p:cNvSpPr>
              <p:nvPr/>
            </p:nvSpPr>
            <p:spPr bwMode="auto">
              <a:xfrm>
                <a:off x="2433582" y="6141318"/>
                <a:ext cx="222218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nSpc>
                    <a:spcPct val="85000"/>
                  </a:lnSpc>
                </a:pPr>
                <a:r>
                  <a:rPr lang="en-US" altLang="en-US" b="0" dirty="0">
                    <a:latin typeface="Candara" panose="020E0502030303020204" pitchFamily="34" charset="0"/>
                  </a:rPr>
                  <a:t>=                                    x</a:t>
                </a:r>
              </a:p>
            </p:txBody>
          </p:sp>
        </p:grpSp>
        <mc:AlternateContent xmlns:mc="http://schemas.openxmlformats.org/markup-compatibility/2006" xmlns:a14="http://schemas.microsoft.com/office/drawing/2010/main">
          <mc:Choice Requires="a14">
            <p:sp>
              <p:nvSpPr>
                <p:cNvPr id="36" name="Rectangle 40">
                  <a:extLst>
                    <a:ext uri="{FF2B5EF4-FFF2-40B4-BE49-F238E27FC236}">
                      <a16:creationId xmlns:a16="http://schemas.microsoft.com/office/drawing/2014/main" id="{29A5378A-F8AD-2E9C-A7E4-6EC336FF7840}"/>
                    </a:ext>
                  </a:extLst>
                </p:cNvPr>
                <p:cNvSpPr>
                  <a:spLocks noChangeArrowheads="1"/>
                </p:cNvSpPr>
                <p:nvPr/>
              </p:nvSpPr>
              <p:spPr bwMode="auto">
                <a:xfrm>
                  <a:off x="6340909" y="5945871"/>
                  <a:ext cx="1782764" cy="6455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14:m>
                    <m:oMathPara xmlns:m="http://schemas.openxmlformats.org/officeDocument/2006/math">
                      <m:oMathParaPr>
                        <m:jc m:val="centerGroup"/>
                      </m:oMathParaPr>
                      <m:oMath xmlns:m="http://schemas.openxmlformats.org/officeDocument/2006/math">
                        <m:r>
                          <a:rPr lang="en-US" altLang="en-US" sz="1600" dirty="0">
                            <a:latin typeface="Cambria Math" panose="02040503050406030204" pitchFamily="18" charset="0"/>
                          </a:rPr>
                          <m:t>=</m:t>
                        </m:r>
                        <m:f>
                          <m:fPr>
                            <m:ctrlPr>
                              <a:rPr lang="en-US" altLang="en-US" sz="1600" i="1" dirty="0">
                                <a:latin typeface="Cambria Math" panose="02040503050406030204" pitchFamily="18" charset="0"/>
                              </a:rPr>
                            </m:ctrlPr>
                          </m:fPr>
                          <m:num>
                            <m:r>
                              <a:rPr lang="en-US" altLang="en-US" sz="1600" dirty="0">
                                <a:latin typeface="Cambria Math" panose="02040503050406030204" pitchFamily="18" charset="0"/>
                              </a:rPr>
                              <m:t>𝐐</m:t>
                            </m:r>
                          </m:num>
                          <m:den>
                            <m:r>
                              <a:rPr lang="en-US" altLang="en-US" sz="1600" dirty="0">
                                <a:latin typeface="Cambria Math" panose="02040503050406030204" pitchFamily="18" charset="0"/>
                              </a:rPr>
                              <m:t>𝟐</m:t>
                            </m:r>
                          </m:den>
                        </m:f>
                        <m:d>
                          <m:dPr>
                            <m:ctrlPr>
                              <a:rPr lang="en-US" altLang="en-US" sz="1600" i="1" dirty="0">
                                <a:latin typeface="Cambria Math" panose="02040503050406030204" pitchFamily="18" charset="0"/>
                              </a:rPr>
                            </m:ctrlPr>
                          </m:dPr>
                          <m:e>
                            <m:r>
                              <a:rPr lang="en-US" altLang="en-US" sz="1600" dirty="0">
                                <a:latin typeface="Cambria Math" panose="02040503050406030204" pitchFamily="18" charset="0"/>
                              </a:rPr>
                              <m:t>𝟏</m:t>
                            </m:r>
                            <m:r>
                              <a:rPr lang="en-US" altLang="en-US" sz="1600" dirty="0">
                                <a:latin typeface="Cambria Math" panose="02040503050406030204" pitchFamily="18" charset="0"/>
                              </a:rPr>
                              <m:t>−</m:t>
                            </m:r>
                            <m:f>
                              <m:fPr>
                                <m:ctrlPr>
                                  <a:rPr lang="en-US" altLang="en-US" sz="1600" i="1" dirty="0">
                                    <a:latin typeface="Cambria Math" panose="02040503050406030204" pitchFamily="18" charset="0"/>
                                  </a:rPr>
                                </m:ctrlPr>
                              </m:fPr>
                              <m:num>
                                <m:r>
                                  <a:rPr lang="en-US" altLang="en-US" sz="1600" dirty="0">
                                    <a:latin typeface="Cambria Math" panose="02040503050406030204" pitchFamily="18" charset="0"/>
                                  </a:rPr>
                                  <m:t>𝐝</m:t>
                                </m:r>
                              </m:num>
                              <m:den>
                                <m:r>
                                  <a:rPr lang="en-US" altLang="en-US" sz="1600" dirty="0">
                                    <a:latin typeface="Cambria Math" panose="02040503050406030204" pitchFamily="18" charset="0"/>
                                  </a:rPr>
                                  <m:t>𝐩</m:t>
                                </m:r>
                              </m:den>
                            </m:f>
                          </m:e>
                        </m:d>
                        <m:r>
                          <a:rPr lang="en-US" altLang="en-US" sz="2000" b="1" i="0" dirty="0" smtClean="0">
                            <a:latin typeface="Cambria Math" panose="02040503050406030204" pitchFamily="18" charset="0"/>
                            <a:ea typeface="Cambria Math" panose="02040503050406030204" pitchFamily="18" charset="0"/>
                          </a:rPr>
                          <m:t>×</m:t>
                        </m:r>
                        <m:r>
                          <a:rPr lang="en-US" altLang="en-US" sz="2000" b="1" i="0" dirty="0" smtClean="0">
                            <a:latin typeface="Cambria Math" panose="02040503050406030204" pitchFamily="18" charset="0"/>
                            <a:ea typeface="Cambria Math" panose="02040503050406030204" pitchFamily="18" charset="0"/>
                          </a:rPr>
                          <m:t>𝐇</m:t>
                        </m:r>
                      </m:oMath>
                    </m:oMathPara>
                  </a14:m>
                  <a:endParaRPr lang="en-US" altLang="en-US" sz="1600" dirty="0">
                    <a:latin typeface="Candara" panose="020E0502030303020204" pitchFamily="34" charset="0"/>
                  </a:endParaRPr>
                </a:p>
              </p:txBody>
            </p:sp>
          </mc:Choice>
          <mc:Fallback xmlns="">
            <p:sp>
              <p:nvSpPr>
                <p:cNvPr id="36" name="Rectangle 40">
                  <a:extLst>
                    <a:ext uri="{FF2B5EF4-FFF2-40B4-BE49-F238E27FC236}">
                      <a16:creationId xmlns:a16="http://schemas.microsoft.com/office/drawing/2014/main" id="{29A5378A-F8AD-2E9C-A7E4-6EC336FF7840}"/>
                    </a:ext>
                  </a:extLst>
                </p:cNvPr>
                <p:cNvSpPr>
                  <a:spLocks noRot="1" noChangeAspect="1" noMove="1" noResize="1" noEditPoints="1" noAdjustHandles="1" noChangeArrowheads="1" noChangeShapeType="1" noTextEdit="1"/>
                </p:cNvSpPr>
                <p:nvPr/>
              </p:nvSpPr>
              <p:spPr bwMode="auto">
                <a:xfrm>
                  <a:off x="6340909" y="5945871"/>
                  <a:ext cx="1782764" cy="645561"/>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grpSp>
        <p:nvGrpSpPr>
          <p:cNvPr id="40" name="Group 39">
            <a:extLst>
              <a:ext uri="{FF2B5EF4-FFF2-40B4-BE49-F238E27FC236}">
                <a16:creationId xmlns:a16="http://schemas.microsoft.com/office/drawing/2014/main" id="{70E85548-E97D-098E-9F44-A861BFD5030C}"/>
              </a:ext>
            </a:extLst>
          </p:cNvPr>
          <p:cNvGrpSpPr>
            <a:grpSpLocks/>
          </p:cNvGrpSpPr>
          <p:nvPr/>
        </p:nvGrpSpPr>
        <p:grpSpPr bwMode="auto">
          <a:xfrm>
            <a:off x="707549" y="1515871"/>
            <a:ext cx="6210300" cy="833438"/>
            <a:chOff x="596" y="3035"/>
            <a:chExt cx="3912" cy="525"/>
          </a:xfrm>
        </p:grpSpPr>
        <p:sp>
          <p:nvSpPr>
            <p:cNvPr id="41" name="Rectangle 22">
              <a:extLst>
                <a:ext uri="{FF2B5EF4-FFF2-40B4-BE49-F238E27FC236}">
                  <a16:creationId xmlns:a16="http://schemas.microsoft.com/office/drawing/2014/main" id="{C8738F0D-1CC4-5382-9F90-48CFBC7D8071}"/>
                </a:ext>
              </a:extLst>
            </p:cNvPr>
            <p:cNvSpPr>
              <a:spLocks noChangeArrowheads="1"/>
            </p:cNvSpPr>
            <p:nvPr/>
          </p:nvSpPr>
          <p:spPr bwMode="auto">
            <a:xfrm>
              <a:off x="1665" y="3129"/>
              <a:ext cx="149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nSpc>
                  <a:spcPct val="85000"/>
                </a:lnSpc>
              </a:pPr>
              <a:r>
                <a:rPr lang="en-US" altLang="en-US" b="0" dirty="0">
                  <a:latin typeface="Candara" panose="020E0502030303020204" pitchFamily="34" charset="0"/>
                </a:rPr>
                <a:t>=                                      x</a:t>
              </a:r>
            </a:p>
          </p:txBody>
        </p:sp>
        <p:sp>
          <p:nvSpPr>
            <p:cNvPr id="42" name="Rectangle 24">
              <a:extLst>
                <a:ext uri="{FF2B5EF4-FFF2-40B4-BE49-F238E27FC236}">
                  <a16:creationId xmlns:a16="http://schemas.microsoft.com/office/drawing/2014/main" id="{57EA8A00-74CD-BFC1-616F-1DD69930B932}"/>
                </a:ext>
              </a:extLst>
            </p:cNvPr>
            <p:cNvSpPr>
              <a:spLocks noChangeArrowheads="1"/>
            </p:cNvSpPr>
            <p:nvPr/>
          </p:nvSpPr>
          <p:spPr bwMode="auto">
            <a:xfrm>
              <a:off x="596" y="3056"/>
              <a:ext cx="1156"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dirty="0">
                  <a:latin typeface="Candara" panose="020E0502030303020204" pitchFamily="34" charset="0"/>
                </a:rPr>
                <a:t>No. of pieces per production run, Q</a:t>
              </a:r>
            </a:p>
          </p:txBody>
        </p:sp>
        <p:sp>
          <p:nvSpPr>
            <p:cNvPr id="43" name="Rectangle 31">
              <a:extLst>
                <a:ext uri="{FF2B5EF4-FFF2-40B4-BE49-F238E27FC236}">
                  <a16:creationId xmlns:a16="http://schemas.microsoft.com/office/drawing/2014/main" id="{C0347FA4-90D3-F44D-97ED-57ADD22BD21C}"/>
                </a:ext>
              </a:extLst>
            </p:cNvPr>
            <p:cNvSpPr>
              <a:spLocks noChangeArrowheads="1"/>
            </p:cNvSpPr>
            <p:nvPr/>
          </p:nvSpPr>
          <p:spPr bwMode="auto">
            <a:xfrm>
              <a:off x="1833" y="3056"/>
              <a:ext cx="1068"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Daily production rate</a:t>
              </a:r>
            </a:p>
          </p:txBody>
        </p:sp>
        <p:sp>
          <p:nvSpPr>
            <p:cNvPr id="44" name="Rectangle 35">
              <a:extLst>
                <a:ext uri="{FF2B5EF4-FFF2-40B4-BE49-F238E27FC236}">
                  <a16:creationId xmlns:a16="http://schemas.microsoft.com/office/drawing/2014/main" id="{DEDAA60F-26B5-9BD8-A159-2119861A19D7}"/>
                </a:ext>
              </a:extLst>
            </p:cNvPr>
            <p:cNvSpPr>
              <a:spLocks noChangeArrowheads="1"/>
            </p:cNvSpPr>
            <p:nvPr/>
          </p:nvSpPr>
          <p:spPr bwMode="auto">
            <a:xfrm>
              <a:off x="3129" y="3035"/>
              <a:ext cx="1379"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b="0" dirty="0">
                  <a:latin typeface="Candara" panose="020E0502030303020204" pitchFamily="34" charset="0"/>
                </a:rPr>
                <a:t>Total used Length of the production run in days</a:t>
              </a:r>
            </a:p>
          </p:txBody>
        </p:sp>
      </p:grpSp>
      <mc:AlternateContent xmlns:mc="http://schemas.openxmlformats.org/markup-compatibility/2006" xmlns:a14="http://schemas.microsoft.com/office/drawing/2010/main">
        <mc:Choice Requires="a14">
          <p:sp>
            <p:nvSpPr>
              <p:cNvPr id="46" name="Rectangle 40">
                <a:extLst>
                  <a:ext uri="{FF2B5EF4-FFF2-40B4-BE49-F238E27FC236}">
                    <a16:creationId xmlns:a16="http://schemas.microsoft.com/office/drawing/2014/main" id="{5C4F3A4A-FE13-0E98-AF84-BEA256EEDBE5}"/>
                  </a:ext>
                </a:extLst>
              </p:cNvPr>
              <p:cNvSpPr>
                <a:spLocks noChangeArrowheads="1"/>
              </p:cNvSpPr>
              <p:nvPr/>
            </p:nvSpPr>
            <p:spPr bwMode="auto">
              <a:xfrm>
                <a:off x="2314417" y="2510000"/>
                <a:ext cx="1525931"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14:m>
                  <m:oMathPara xmlns:m="http://schemas.openxmlformats.org/officeDocument/2006/math">
                    <m:oMathParaPr>
                      <m:jc m:val="centerGroup"/>
                    </m:oMathParaPr>
                    <m:oMath xmlns:m="http://schemas.openxmlformats.org/officeDocument/2006/math">
                      <m:r>
                        <a:rPr lang="en-US" altLang="en-US" i="0" dirty="0" smtClean="0">
                          <a:latin typeface="Cambria Math" panose="02040503050406030204" pitchFamily="18" charset="0"/>
                        </a:rPr>
                        <m:t>⇒  </m:t>
                      </m:r>
                      <m:r>
                        <a:rPr lang="en-US" altLang="en-US" i="0" dirty="0">
                          <a:latin typeface="Cambria Math" panose="02040503050406030204" pitchFamily="18" charset="0"/>
                        </a:rPr>
                        <m:t>𝐭</m:t>
                      </m:r>
                      <m:r>
                        <a:rPr lang="en-US" altLang="en-US" i="0" dirty="0">
                          <a:latin typeface="Cambria Math" panose="02040503050406030204" pitchFamily="18" charset="0"/>
                        </a:rPr>
                        <m:t> </m:t>
                      </m:r>
                      <m:r>
                        <a:rPr lang="en-US" altLang="en-US" b="1" i="0" dirty="0" smtClean="0">
                          <a:latin typeface="Cambria Math" panose="02040503050406030204" pitchFamily="18" charset="0"/>
                        </a:rPr>
                        <m:t>= </m:t>
                      </m:r>
                      <m:f>
                        <m:fPr>
                          <m:type m:val="lin"/>
                          <m:ctrlPr>
                            <a:rPr lang="en-US" altLang="en-US" b="1" i="1" dirty="0" smtClean="0">
                              <a:latin typeface="Cambria Math" panose="02040503050406030204" pitchFamily="18" charset="0"/>
                            </a:rPr>
                          </m:ctrlPr>
                        </m:fPr>
                        <m:num>
                          <m:r>
                            <a:rPr lang="en-US" altLang="en-US" b="1" i="0" dirty="0" smtClean="0">
                              <a:latin typeface="Cambria Math" panose="02040503050406030204" pitchFamily="18" charset="0"/>
                            </a:rPr>
                            <m:t>𝐐</m:t>
                          </m:r>
                        </m:num>
                        <m:den>
                          <m:r>
                            <a:rPr lang="en-US" altLang="en-US" b="1" i="0" dirty="0" smtClean="0">
                              <a:latin typeface="Cambria Math" panose="02040503050406030204" pitchFamily="18" charset="0"/>
                            </a:rPr>
                            <m:t>𝐩</m:t>
                          </m:r>
                        </m:den>
                      </m:f>
                    </m:oMath>
                  </m:oMathPara>
                </a14:m>
                <a:endParaRPr lang="en-US" altLang="en-US" dirty="0">
                  <a:latin typeface="Candara" panose="020E0502030303020204" pitchFamily="34" charset="0"/>
                </a:endParaRPr>
              </a:p>
            </p:txBody>
          </p:sp>
        </mc:Choice>
        <mc:Fallback xmlns="">
          <p:sp>
            <p:nvSpPr>
              <p:cNvPr id="46" name="Rectangle 40">
                <a:extLst>
                  <a:ext uri="{FF2B5EF4-FFF2-40B4-BE49-F238E27FC236}">
                    <a16:creationId xmlns:a16="http://schemas.microsoft.com/office/drawing/2014/main" id="{5C4F3A4A-FE13-0E98-AF84-BEA256EEDBE5}"/>
                  </a:ext>
                </a:extLst>
              </p:cNvPr>
              <p:cNvSpPr>
                <a:spLocks noRot="1" noChangeAspect="1" noMove="1" noResize="1" noEditPoints="1" noAdjustHandles="1" noChangeArrowheads="1" noChangeShapeType="1" noTextEdit="1"/>
              </p:cNvSpPr>
              <p:nvPr/>
            </p:nvSpPr>
            <p:spPr bwMode="auto">
              <a:xfrm>
                <a:off x="2314417" y="2510000"/>
                <a:ext cx="1525931" cy="369332"/>
              </a:xfrm>
              <a:prstGeom prst="rect">
                <a:avLst/>
              </a:prstGeom>
              <a:blipFill>
                <a:blip r:embed="rId5"/>
                <a:stretch>
                  <a:fillRect t="-118333" r="-30800" b="-18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0">
                <a:extLst>
                  <a:ext uri="{FF2B5EF4-FFF2-40B4-BE49-F238E27FC236}">
                    <a16:creationId xmlns:a16="http://schemas.microsoft.com/office/drawing/2014/main" id="{2B947D9F-A3C6-B1B9-6BBD-A5DC96384E24}"/>
                  </a:ext>
                </a:extLst>
              </p:cNvPr>
              <p:cNvSpPr>
                <a:spLocks noChangeArrowheads="1"/>
              </p:cNvSpPr>
              <p:nvPr/>
            </p:nvSpPr>
            <p:spPr bwMode="auto">
              <a:xfrm>
                <a:off x="2314417" y="2144521"/>
                <a:ext cx="1614545"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14:m>
                  <m:oMathPara xmlns:m="http://schemas.openxmlformats.org/officeDocument/2006/math">
                    <m:oMathParaPr>
                      <m:jc m:val="centerGroup"/>
                    </m:oMathParaPr>
                    <m:oMath xmlns:m="http://schemas.openxmlformats.org/officeDocument/2006/math">
                      <m:r>
                        <a:rPr lang="en-US" altLang="en-US" i="0" dirty="0" smtClean="0">
                          <a:latin typeface="Cambria Math" panose="02040503050406030204" pitchFamily="18" charset="0"/>
                        </a:rPr>
                        <m:t>⇒  </m:t>
                      </m:r>
                      <m:r>
                        <a:rPr lang="en-US" altLang="en-US" b="1" i="0" dirty="0" smtClean="0">
                          <a:latin typeface="Cambria Math" panose="02040503050406030204" pitchFamily="18" charset="0"/>
                        </a:rPr>
                        <m:t>𝐐</m:t>
                      </m:r>
                      <m:r>
                        <a:rPr lang="en-US" altLang="en-US" i="0" dirty="0">
                          <a:latin typeface="Cambria Math" panose="02040503050406030204" pitchFamily="18" charset="0"/>
                        </a:rPr>
                        <m:t> </m:t>
                      </m:r>
                      <m:r>
                        <a:rPr lang="en-US" altLang="en-US" b="1" i="0" dirty="0" smtClean="0">
                          <a:latin typeface="Cambria Math" panose="02040503050406030204" pitchFamily="18" charset="0"/>
                        </a:rPr>
                        <m:t>=</m:t>
                      </m:r>
                      <m:r>
                        <a:rPr lang="en-US" altLang="en-US" b="1" i="0" dirty="0" smtClean="0">
                          <a:latin typeface="Cambria Math" panose="02040503050406030204" pitchFamily="18" charset="0"/>
                        </a:rPr>
                        <m:t>𝐩</m:t>
                      </m:r>
                      <m:r>
                        <a:rPr lang="en-US" altLang="en-US" b="1" i="1" dirty="0" smtClean="0">
                          <a:latin typeface="Cambria Math" panose="02040503050406030204" pitchFamily="18" charset="0"/>
                          <a:ea typeface="Cambria Math" panose="02040503050406030204" pitchFamily="18" charset="0"/>
                        </a:rPr>
                        <m:t>×</m:t>
                      </m:r>
                      <m:r>
                        <a:rPr lang="en-US" altLang="en-US" b="1" i="0" dirty="0" smtClean="0">
                          <a:latin typeface="Cambria Math" panose="02040503050406030204" pitchFamily="18" charset="0"/>
                        </a:rPr>
                        <m:t>𝐭</m:t>
                      </m:r>
                    </m:oMath>
                  </m:oMathPara>
                </a14:m>
                <a:endParaRPr lang="en-US" altLang="en-US" dirty="0">
                  <a:latin typeface="Candara" panose="020E0502030303020204" pitchFamily="34" charset="0"/>
                </a:endParaRPr>
              </a:p>
            </p:txBody>
          </p:sp>
        </mc:Choice>
        <mc:Fallback xmlns="">
          <p:sp>
            <p:nvSpPr>
              <p:cNvPr id="47" name="Rectangle 40">
                <a:extLst>
                  <a:ext uri="{FF2B5EF4-FFF2-40B4-BE49-F238E27FC236}">
                    <a16:creationId xmlns:a16="http://schemas.microsoft.com/office/drawing/2014/main" id="{2B947D9F-A3C6-B1B9-6BBD-A5DC96384E24}"/>
                  </a:ext>
                </a:extLst>
              </p:cNvPr>
              <p:cNvSpPr>
                <a:spLocks noRot="1" noChangeAspect="1" noMove="1" noResize="1" noEditPoints="1" noAdjustHandles="1" noChangeArrowheads="1" noChangeShapeType="1" noTextEdit="1"/>
              </p:cNvSpPr>
              <p:nvPr/>
            </p:nvSpPr>
            <p:spPr bwMode="auto">
              <a:xfrm>
                <a:off x="2314417" y="2144521"/>
                <a:ext cx="1614545" cy="369332"/>
              </a:xfrm>
              <a:prstGeom prst="rect">
                <a:avLst/>
              </a:prstGeom>
              <a:blipFill>
                <a:blip r:embed="rId6"/>
                <a:stretch>
                  <a:fillRect b="-1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8" name="Rectangle 47">
            <a:extLst>
              <a:ext uri="{FF2B5EF4-FFF2-40B4-BE49-F238E27FC236}">
                <a16:creationId xmlns:a16="http://schemas.microsoft.com/office/drawing/2014/main" id="{A43D9BF2-8381-69E7-3CD2-24FC55157584}"/>
              </a:ext>
            </a:extLst>
          </p:cNvPr>
          <p:cNvSpPr/>
          <p:nvPr/>
        </p:nvSpPr>
        <p:spPr>
          <a:xfrm>
            <a:off x="504826" y="5806445"/>
            <a:ext cx="7618846" cy="8366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11">
            <a:extLst>
              <a:ext uri="{FF2B5EF4-FFF2-40B4-BE49-F238E27FC236}">
                <a16:creationId xmlns:a16="http://schemas.microsoft.com/office/drawing/2014/main" id="{F45DC5F3-3FE4-AB26-43C4-C6C1690E5159}"/>
              </a:ext>
            </a:extLst>
          </p:cNvPr>
          <p:cNvGrpSpPr>
            <a:grpSpLocks/>
          </p:cNvGrpSpPr>
          <p:nvPr/>
        </p:nvGrpSpPr>
        <p:grpSpPr bwMode="auto">
          <a:xfrm>
            <a:off x="8532663" y="5918676"/>
            <a:ext cx="3234181" cy="622300"/>
            <a:chOff x="542" y="1988"/>
            <a:chExt cx="2125" cy="392"/>
          </a:xfrm>
        </p:grpSpPr>
        <p:sp>
          <p:nvSpPr>
            <p:cNvPr id="51" name="Rectangle 4">
              <a:extLst>
                <a:ext uri="{FF2B5EF4-FFF2-40B4-BE49-F238E27FC236}">
                  <a16:creationId xmlns:a16="http://schemas.microsoft.com/office/drawing/2014/main" id="{200BEBAC-C55B-3CF5-C6B9-18EDD7BE6CA9}"/>
                </a:ext>
              </a:extLst>
            </p:cNvPr>
            <p:cNvSpPr>
              <a:spLocks noChangeArrowheads="1"/>
            </p:cNvSpPr>
            <p:nvPr/>
          </p:nvSpPr>
          <p:spPr bwMode="auto">
            <a:xfrm>
              <a:off x="542" y="2024"/>
              <a:ext cx="1340"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lnSpc>
                  <a:spcPct val="85000"/>
                </a:lnSpc>
              </a:pPr>
              <a:r>
                <a:rPr lang="en-US" altLang="en-US" dirty="0">
                  <a:latin typeface="Candara" panose="020E0502030303020204" pitchFamily="34" charset="0"/>
                </a:rPr>
                <a:t>Annual Production Setup cost</a:t>
              </a:r>
            </a:p>
          </p:txBody>
        </p:sp>
        <mc:AlternateContent xmlns:mc="http://schemas.openxmlformats.org/markup-compatibility/2006" xmlns:a14="http://schemas.microsoft.com/office/drawing/2010/main">
          <mc:Choice Requires="a14">
            <p:sp>
              <p:nvSpPr>
                <p:cNvPr id="52" name="Rectangle 6">
                  <a:extLst>
                    <a:ext uri="{FF2B5EF4-FFF2-40B4-BE49-F238E27FC236}">
                      <a16:creationId xmlns:a16="http://schemas.microsoft.com/office/drawing/2014/main" id="{88EF2902-B096-E567-9512-06CD7507124C}"/>
                    </a:ext>
                  </a:extLst>
                </p:cNvPr>
                <p:cNvSpPr>
                  <a:spLocks noChangeArrowheads="1"/>
                </p:cNvSpPr>
                <p:nvPr/>
              </p:nvSpPr>
              <p:spPr bwMode="auto">
                <a:xfrm>
                  <a:off x="1887" y="1988"/>
                  <a:ext cx="780" cy="3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14:m>
                    <m:oMathPara xmlns:m="http://schemas.openxmlformats.org/officeDocument/2006/math">
                      <m:oMathParaPr>
                        <m:jc m:val="centerGroup"/>
                      </m:oMathParaPr>
                      <m:oMath xmlns:m="http://schemas.openxmlformats.org/officeDocument/2006/math">
                        <m:r>
                          <a:rPr lang="en-US" altLang="en-US" sz="1600" i="0" dirty="0" smtClean="0">
                            <a:latin typeface="Cambria Math" panose="02040503050406030204" pitchFamily="18" charset="0"/>
                          </a:rPr>
                          <m:t>=</m:t>
                        </m:r>
                        <m:f>
                          <m:fPr>
                            <m:ctrlPr>
                              <a:rPr lang="en-US" altLang="en-US" sz="1600" i="1" dirty="0">
                                <a:latin typeface="Cambria Math" panose="02040503050406030204" pitchFamily="18" charset="0"/>
                              </a:rPr>
                            </m:ctrlPr>
                          </m:fPr>
                          <m:num>
                            <m:r>
                              <a:rPr lang="en-US" altLang="en-US" sz="1600" b="1" i="0" dirty="0" smtClean="0">
                                <a:latin typeface="Cambria Math" panose="02040503050406030204" pitchFamily="18" charset="0"/>
                              </a:rPr>
                              <m:t>𝐃</m:t>
                            </m:r>
                          </m:num>
                          <m:den>
                            <m:r>
                              <a:rPr lang="en-US" altLang="en-US" sz="1600" b="1" i="0" dirty="0" smtClean="0">
                                <a:latin typeface="Cambria Math" panose="02040503050406030204" pitchFamily="18" charset="0"/>
                              </a:rPr>
                              <m:t>𝐐</m:t>
                            </m:r>
                          </m:den>
                        </m:f>
                        <m:r>
                          <a:rPr lang="en-US" altLang="en-US" sz="2000" b="1" i="0" dirty="0" smtClean="0">
                            <a:latin typeface="Cambria Math" panose="02040503050406030204" pitchFamily="18" charset="0"/>
                            <a:ea typeface="Cambria Math" panose="02040503050406030204" pitchFamily="18" charset="0"/>
                          </a:rPr>
                          <m:t>×</m:t>
                        </m:r>
                        <m:r>
                          <a:rPr lang="en-US" altLang="en-US" sz="2000" b="1" i="0" dirty="0" smtClean="0">
                            <a:latin typeface="Cambria Math" panose="02040503050406030204" pitchFamily="18" charset="0"/>
                            <a:ea typeface="Cambria Math" panose="02040503050406030204" pitchFamily="18" charset="0"/>
                          </a:rPr>
                          <m:t>𝐒</m:t>
                        </m:r>
                        <m:r>
                          <a:rPr lang="en-US" altLang="en-US" sz="2000" b="1" i="0" dirty="0" smtClean="0">
                            <a:latin typeface="Cambria Math" panose="02040503050406030204" pitchFamily="18" charset="0"/>
                            <a:ea typeface="Cambria Math" panose="02040503050406030204" pitchFamily="18" charset="0"/>
                          </a:rPr>
                          <m:t> </m:t>
                        </m:r>
                      </m:oMath>
                    </m:oMathPara>
                  </a14:m>
                  <a:endParaRPr lang="en-US" altLang="en-US" sz="1600" dirty="0">
                    <a:latin typeface="Candara" panose="020E0502030303020204" pitchFamily="34" charset="0"/>
                  </a:endParaRPr>
                </a:p>
              </p:txBody>
            </p:sp>
          </mc:Choice>
          <mc:Fallback xmlns="">
            <p:sp>
              <p:nvSpPr>
                <p:cNvPr id="52" name="Rectangle 6">
                  <a:extLst>
                    <a:ext uri="{FF2B5EF4-FFF2-40B4-BE49-F238E27FC236}">
                      <a16:creationId xmlns:a16="http://schemas.microsoft.com/office/drawing/2014/main" id="{88EF2902-B096-E567-9512-06CD7507124C}"/>
                    </a:ext>
                  </a:extLst>
                </p:cNvPr>
                <p:cNvSpPr>
                  <a:spLocks noRot="1" noChangeAspect="1" noMove="1" noResize="1" noEditPoints="1" noAdjustHandles="1" noChangeArrowheads="1" noChangeShapeType="1" noTextEdit="1"/>
                </p:cNvSpPr>
                <p:nvPr/>
              </p:nvSpPr>
              <p:spPr bwMode="auto">
                <a:xfrm>
                  <a:off x="1887" y="1988"/>
                  <a:ext cx="780" cy="372"/>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sp>
        <p:nvSpPr>
          <p:cNvPr id="53" name="Rectangle 52">
            <a:extLst>
              <a:ext uri="{FF2B5EF4-FFF2-40B4-BE49-F238E27FC236}">
                <a16:creationId xmlns:a16="http://schemas.microsoft.com/office/drawing/2014/main" id="{87151F0D-C914-C9AB-FFEA-C4AF1B12FF78}"/>
              </a:ext>
            </a:extLst>
          </p:cNvPr>
          <p:cNvSpPr/>
          <p:nvPr/>
        </p:nvSpPr>
        <p:spPr>
          <a:xfrm>
            <a:off x="8504873" y="5806445"/>
            <a:ext cx="3182300" cy="8366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35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10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10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10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1000"/>
                                        <p:tgtEl>
                                          <p:spTgt spid="5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10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10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5" grpId="0"/>
      <p:bldP spid="46" grpId="0"/>
      <p:bldP spid="47" grpId="0"/>
      <p:bldP spid="48" grpId="0" animBg="1"/>
      <p:bldP spid="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5FA58F-E2D6-96D8-42F9-71C83F1232BF}"/>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Economic Production Quantity Model</a:t>
            </a:r>
          </a:p>
        </p:txBody>
      </p:sp>
      <p:sp>
        <p:nvSpPr>
          <p:cNvPr id="4" name="Rectangle 3">
            <a:extLst>
              <a:ext uri="{FF2B5EF4-FFF2-40B4-BE49-F238E27FC236}">
                <a16:creationId xmlns:a16="http://schemas.microsoft.com/office/drawing/2014/main" id="{CA22FCF5-7E22-8366-A9F3-4A5582A73A40}"/>
              </a:ext>
            </a:extLst>
          </p:cNvPr>
          <p:cNvSpPr/>
          <p:nvPr/>
        </p:nvSpPr>
        <p:spPr>
          <a:xfrm>
            <a:off x="8025765" y="1418664"/>
            <a:ext cx="3703636" cy="369054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200000"/>
              </a:lnSpc>
            </a:pPr>
            <a:r>
              <a:rPr lang="en-US" sz="1600" b="1" dirty="0">
                <a:solidFill>
                  <a:schemeClr val="bg1"/>
                </a:solidFill>
                <a:latin typeface="Candara" panose="020E0502030303020204" pitchFamily="34" charset="0"/>
              </a:rPr>
              <a:t>Q = No. of pieces per production run</a:t>
            </a:r>
          </a:p>
          <a:p>
            <a:pPr>
              <a:lnSpc>
                <a:spcPct val="200000"/>
              </a:lnSpc>
            </a:pPr>
            <a:r>
              <a:rPr lang="en-US" sz="1600" b="1" dirty="0">
                <a:solidFill>
                  <a:schemeClr val="bg1"/>
                </a:solidFill>
                <a:latin typeface="Candara" panose="020E0502030303020204" pitchFamily="34" charset="0"/>
              </a:rPr>
              <a:t>p = Daily production rate</a:t>
            </a:r>
          </a:p>
          <a:p>
            <a:pPr>
              <a:lnSpc>
                <a:spcPct val="200000"/>
              </a:lnSpc>
            </a:pPr>
            <a:r>
              <a:rPr lang="en-US" sz="1600" b="1" dirty="0">
                <a:solidFill>
                  <a:schemeClr val="bg1"/>
                </a:solidFill>
                <a:latin typeface="Candara" panose="020E0502030303020204" pitchFamily="34" charset="0"/>
              </a:rPr>
              <a:t>H = Holding cost per unit per year</a:t>
            </a:r>
          </a:p>
          <a:p>
            <a:pPr>
              <a:lnSpc>
                <a:spcPct val="200000"/>
              </a:lnSpc>
            </a:pPr>
            <a:r>
              <a:rPr lang="en-US" sz="1600" b="1" dirty="0">
                <a:solidFill>
                  <a:schemeClr val="bg1"/>
                </a:solidFill>
                <a:latin typeface="Candara" panose="020E0502030303020204" pitchFamily="34" charset="0"/>
              </a:rPr>
              <a:t>d = Daily demand/usage rate</a:t>
            </a:r>
          </a:p>
          <a:p>
            <a:pPr>
              <a:lnSpc>
                <a:spcPct val="200000"/>
              </a:lnSpc>
            </a:pPr>
            <a:r>
              <a:rPr lang="en-US" sz="1600" b="1" dirty="0">
                <a:solidFill>
                  <a:schemeClr val="bg1"/>
                </a:solidFill>
                <a:latin typeface="Candara" panose="020E0502030303020204" pitchFamily="34" charset="0"/>
              </a:rPr>
              <a:t>D = Annual Demand</a:t>
            </a:r>
          </a:p>
          <a:p>
            <a:pPr>
              <a:lnSpc>
                <a:spcPct val="200000"/>
              </a:lnSpc>
            </a:pPr>
            <a:r>
              <a:rPr lang="en-US" sz="1600" b="1" dirty="0">
                <a:solidFill>
                  <a:schemeClr val="bg1"/>
                </a:solidFill>
                <a:latin typeface="Candara" panose="020E0502030303020204" pitchFamily="34" charset="0"/>
              </a:rPr>
              <a:t>t = Length of the production run in days</a:t>
            </a:r>
          </a:p>
          <a:p>
            <a:pPr>
              <a:lnSpc>
                <a:spcPct val="200000"/>
              </a:lnSpc>
            </a:pPr>
            <a:r>
              <a:rPr lang="en-US" sz="1600" b="1" dirty="0">
                <a:solidFill>
                  <a:schemeClr val="bg1"/>
                </a:solidFill>
                <a:latin typeface="Candara" panose="020E0502030303020204" pitchFamily="34" charset="0"/>
              </a:rPr>
              <a:t>S = Setup cost per production run</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98F8E2E-C235-3D41-6C7C-4F944E0F05EB}"/>
                  </a:ext>
                </a:extLst>
              </p:cNvPr>
              <p:cNvSpPr/>
              <p:nvPr/>
            </p:nvSpPr>
            <p:spPr>
              <a:xfrm>
                <a:off x="648181" y="1779263"/>
                <a:ext cx="11250593" cy="47488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dirty="0">
                    <a:solidFill>
                      <a:schemeClr val="tx1"/>
                    </a:solidFill>
                    <a:latin typeface="Candara" panose="020E0502030303020204" pitchFamily="34" charset="0"/>
                  </a:rPr>
                  <a:t>From the condition of EPQ, </a:t>
                </a:r>
              </a:p>
              <a:p>
                <a:pPr>
                  <a:lnSpc>
                    <a:spcPct val="150000"/>
                  </a:lnSpc>
                </a:pPr>
                <a:r>
                  <a:rPr lang="en-US" sz="2400" dirty="0">
                    <a:solidFill>
                      <a:schemeClr val="tx1"/>
                    </a:solidFill>
                    <a:latin typeface="Candara" panose="020E0502030303020204" pitchFamily="34" charset="0"/>
                  </a:rPr>
                  <a:t>	Holding Cost = Setup Cost</a:t>
                </a:r>
              </a:p>
              <a:p>
                <a:pPr>
                  <a:lnSpc>
                    <a:spcPct val="150000"/>
                  </a:lnSpc>
                </a:pPr>
                <a:r>
                  <a:rPr lang="en-US" sz="2400" dirty="0">
                    <a:solidFill>
                      <a:schemeClr val="tx1"/>
                    </a:solidFill>
                    <a:latin typeface="Candara" panose="020E0502030303020204" pitchFamily="34" charset="0"/>
                  </a:rPr>
                  <a:t>	</a:t>
                </a:r>
                <a14:m>
                  <m:oMath xmlns:m="http://schemas.openxmlformats.org/officeDocument/2006/math">
                    <m:r>
                      <a:rPr lang="en-US" sz="2400" b="0" i="1" smtClean="0">
                        <a:solidFill>
                          <a:schemeClr val="tx1"/>
                        </a:solidFill>
                        <a:latin typeface="Cambria Math" panose="02040503050406030204" pitchFamily="18" charset="0"/>
                      </a:rPr>
                      <m:t>⇒</m:t>
                    </m:r>
                    <m:f>
                      <m:fPr>
                        <m:ctrlPr>
                          <a:rPr lang="en-US" altLang="en-US" sz="2400" i="1" dirty="0">
                            <a:solidFill>
                              <a:schemeClr val="tx1"/>
                            </a:solidFill>
                            <a:latin typeface="Cambria Math" panose="02040503050406030204" pitchFamily="18" charset="0"/>
                          </a:rPr>
                        </m:ctrlPr>
                      </m:fPr>
                      <m:num>
                        <m:r>
                          <a:rPr lang="en-US" altLang="en-US" sz="2400" dirty="0">
                            <a:solidFill>
                              <a:schemeClr val="tx1"/>
                            </a:solidFill>
                            <a:latin typeface="Cambria Math" panose="02040503050406030204" pitchFamily="18" charset="0"/>
                          </a:rPr>
                          <m:t>𝐐</m:t>
                        </m:r>
                      </m:num>
                      <m:den>
                        <m:r>
                          <a:rPr lang="en-US" altLang="en-US" sz="2400" dirty="0">
                            <a:solidFill>
                              <a:schemeClr val="tx1"/>
                            </a:solidFill>
                            <a:latin typeface="Cambria Math" panose="02040503050406030204" pitchFamily="18" charset="0"/>
                          </a:rPr>
                          <m:t>𝟐</m:t>
                        </m:r>
                      </m:den>
                    </m:f>
                    <m:d>
                      <m:dPr>
                        <m:ctrlPr>
                          <a:rPr lang="en-US" altLang="en-US" sz="2400" i="1" dirty="0">
                            <a:solidFill>
                              <a:schemeClr val="tx1"/>
                            </a:solidFill>
                            <a:latin typeface="Cambria Math" panose="02040503050406030204" pitchFamily="18" charset="0"/>
                          </a:rPr>
                        </m:ctrlPr>
                      </m:dPr>
                      <m:e>
                        <m:r>
                          <a:rPr lang="en-US" altLang="en-US" sz="2400" dirty="0">
                            <a:solidFill>
                              <a:schemeClr val="tx1"/>
                            </a:solidFill>
                            <a:latin typeface="Cambria Math" panose="02040503050406030204" pitchFamily="18" charset="0"/>
                          </a:rPr>
                          <m:t>𝟏</m:t>
                        </m:r>
                        <m:r>
                          <a:rPr lang="en-US" altLang="en-US" sz="2400" dirty="0">
                            <a:solidFill>
                              <a:schemeClr val="tx1"/>
                            </a:solidFill>
                            <a:latin typeface="Cambria Math" panose="02040503050406030204" pitchFamily="18" charset="0"/>
                          </a:rPr>
                          <m:t>−</m:t>
                        </m:r>
                        <m:f>
                          <m:fPr>
                            <m:ctrlPr>
                              <a:rPr lang="en-US" altLang="en-US" sz="2400" i="1" dirty="0">
                                <a:solidFill>
                                  <a:schemeClr val="tx1"/>
                                </a:solidFill>
                                <a:latin typeface="Cambria Math" panose="02040503050406030204" pitchFamily="18" charset="0"/>
                              </a:rPr>
                            </m:ctrlPr>
                          </m:fPr>
                          <m:num>
                            <m:r>
                              <a:rPr lang="en-US" altLang="en-US" sz="2400" dirty="0">
                                <a:solidFill>
                                  <a:schemeClr val="tx1"/>
                                </a:solidFill>
                                <a:latin typeface="Cambria Math" panose="02040503050406030204" pitchFamily="18" charset="0"/>
                              </a:rPr>
                              <m:t>𝐝</m:t>
                            </m:r>
                          </m:num>
                          <m:den>
                            <m:r>
                              <a:rPr lang="en-US" altLang="en-US" sz="2400" dirty="0">
                                <a:solidFill>
                                  <a:schemeClr val="tx1"/>
                                </a:solidFill>
                                <a:latin typeface="Cambria Math" panose="02040503050406030204" pitchFamily="18" charset="0"/>
                              </a:rPr>
                              <m:t>𝐩</m:t>
                            </m:r>
                          </m:den>
                        </m:f>
                      </m:e>
                    </m:d>
                    <m:r>
                      <a:rPr lang="en-US" altLang="en-US" sz="3200" b="1" i="0" dirty="0" smtClean="0">
                        <a:solidFill>
                          <a:schemeClr val="tx1"/>
                        </a:solidFill>
                        <a:latin typeface="Cambria Math" panose="02040503050406030204" pitchFamily="18" charset="0"/>
                        <a:ea typeface="Cambria Math" panose="02040503050406030204" pitchFamily="18" charset="0"/>
                      </a:rPr>
                      <m:t>×</m:t>
                    </m:r>
                    <m:r>
                      <a:rPr lang="en-US" altLang="en-US" sz="3200" b="1" i="0" dirty="0" smtClean="0">
                        <a:solidFill>
                          <a:schemeClr val="tx1"/>
                        </a:solidFill>
                        <a:latin typeface="Cambria Math" panose="02040503050406030204" pitchFamily="18" charset="0"/>
                        <a:ea typeface="Cambria Math" panose="02040503050406030204" pitchFamily="18" charset="0"/>
                      </a:rPr>
                      <m:t>𝐇</m:t>
                    </m:r>
                    <m:r>
                      <a:rPr lang="en-US" altLang="en-US" sz="3200" b="0" i="0" dirty="0" smtClean="0">
                        <a:solidFill>
                          <a:schemeClr val="tx1"/>
                        </a:solidFill>
                        <a:latin typeface="Cambria Math" panose="02040503050406030204" pitchFamily="18" charset="0"/>
                        <a:ea typeface="Cambria Math" panose="02040503050406030204" pitchFamily="18" charset="0"/>
                      </a:rPr>
                      <m:t>= </m:t>
                    </m:r>
                    <m:f>
                      <m:fPr>
                        <m:ctrlPr>
                          <a:rPr lang="en-US" altLang="en-US" sz="2400" i="1" dirty="0">
                            <a:solidFill>
                              <a:schemeClr val="tx1"/>
                            </a:solidFill>
                            <a:latin typeface="Cambria Math" panose="02040503050406030204" pitchFamily="18" charset="0"/>
                          </a:rPr>
                        </m:ctrlPr>
                      </m:fPr>
                      <m:num>
                        <m:r>
                          <a:rPr lang="en-US" altLang="en-US" sz="2400" b="1" i="0" dirty="0">
                            <a:solidFill>
                              <a:schemeClr val="tx1"/>
                            </a:solidFill>
                            <a:latin typeface="Cambria Math" panose="02040503050406030204" pitchFamily="18" charset="0"/>
                          </a:rPr>
                          <m:t>𝐃</m:t>
                        </m:r>
                      </m:num>
                      <m:den>
                        <m:r>
                          <a:rPr lang="en-US" altLang="en-US" sz="2400" b="1" i="0" dirty="0">
                            <a:solidFill>
                              <a:schemeClr val="tx1"/>
                            </a:solidFill>
                            <a:latin typeface="Cambria Math" panose="02040503050406030204" pitchFamily="18" charset="0"/>
                          </a:rPr>
                          <m:t>𝐐</m:t>
                        </m:r>
                      </m:den>
                    </m:f>
                    <m:r>
                      <a:rPr lang="en-US" altLang="en-US" sz="3200" b="1" i="0" dirty="0" smtClean="0">
                        <a:solidFill>
                          <a:schemeClr val="tx1"/>
                        </a:solidFill>
                        <a:latin typeface="Cambria Math" panose="02040503050406030204" pitchFamily="18" charset="0"/>
                        <a:ea typeface="Cambria Math" panose="02040503050406030204" pitchFamily="18" charset="0"/>
                      </a:rPr>
                      <m:t>×</m:t>
                    </m:r>
                    <m:r>
                      <a:rPr lang="en-US" altLang="en-US" sz="3200" b="1" i="0" dirty="0" smtClean="0">
                        <a:solidFill>
                          <a:schemeClr val="tx1"/>
                        </a:solidFill>
                        <a:latin typeface="Cambria Math" panose="02040503050406030204" pitchFamily="18" charset="0"/>
                        <a:ea typeface="Cambria Math" panose="02040503050406030204" pitchFamily="18" charset="0"/>
                      </a:rPr>
                      <m:t>𝐒</m:t>
                    </m:r>
                  </m:oMath>
                </a14:m>
                <a:endParaRPr lang="en-US" altLang="en-US" sz="3200" b="1" i="0" dirty="0">
                  <a:solidFill>
                    <a:schemeClr val="tx1"/>
                  </a:solidFill>
                  <a:latin typeface="Cambria Math" panose="02040503050406030204" pitchFamily="18" charset="0"/>
                  <a:ea typeface="Cambria Math" panose="02040503050406030204" pitchFamily="18" charset="0"/>
                </a:endParaRPr>
              </a:p>
              <a:p>
                <a:pPr>
                  <a:lnSpc>
                    <a:spcPct val="150000"/>
                  </a:lnSpc>
                </a:pPr>
                <a:r>
                  <a:rPr lang="en-US" altLang="en-US" sz="3200" b="1" dirty="0">
                    <a:solidFill>
                      <a:schemeClr val="tx1"/>
                    </a:solidFill>
                    <a:ea typeface="Cambria Math" panose="02040503050406030204" pitchFamily="18" charset="0"/>
                  </a:rPr>
                  <a:t>	</a:t>
                </a:r>
                <a14:m>
                  <m:oMath xmlns:m="http://schemas.openxmlformats.org/officeDocument/2006/math">
                    <m:r>
                      <a:rPr lang="en-US" altLang="en-US" sz="2400" b="1" i="0" dirty="0" smtClean="0">
                        <a:solidFill>
                          <a:schemeClr val="tx1"/>
                        </a:solidFill>
                        <a:latin typeface="Cambria Math" panose="02040503050406030204" pitchFamily="18" charset="0"/>
                        <a:ea typeface="Cambria Math" panose="02040503050406030204" pitchFamily="18" charset="0"/>
                      </a:rPr>
                      <m:t>⇒ </m:t>
                    </m:r>
                    <m:sSup>
                      <m:sSupPr>
                        <m:ctrlPr>
                          <a:rPr lang="en-US" altLang="en-US" sz="2400" b="1" i="1" dirty="0" smtClean="0">
                            <a:solidFill>
                              <a:schemeClr val="tx1"/>
                            </a:solidFill>
                            <a:latin typeface="Cambria Math" panose="02040503050406030204" pitchFamily="18" charset="0"/>
                            <a:ea typeface="Cambria Math" panose="02040503050406030204" pitchFamily="18" charset="0"/>
                          </a:rPr>
                        </m:ctrlPr>
                      </m:sSupPr>
                      <m:e>
                        <m:r>
                          <a:rPr lang="en-US" altLang="en-US" sz="2400" b="1" i="0" dirty="0" smtClean="0">
                            <a:solidFill>
                              <a:schemeClr val="tx1"/>
                            </a:solidFill>
                            <a:latin typeface="Cambria Math" panose="02040503050406030204" pitchFamily="18" charset="0"/>
                            <a:ea typeface="Cambria Math" panose="02040503050406030204" pitchFamily="18" charset="0"/>
                          </a:rPr>
                          <m:t>𝐐</m:t>
                        </m:r>
                      </m:e>
                      <m:sup>
                        <m:r>
                          <a:rPr lang="en-US" altLang="en-US" sz="2400" b="1" i="0" dirty="0" smtClean="0">
                            <a:solidFill>
                              <a:schemeClr val="tx1"/>
                            </a:solidFill>
                            <a:latin typeface="Cambria Math" panose="02040503050406030204" pitchFamily="18" charset="0"/>
                            <a:ea typeface="Cambria Math" panose="02040503050406030204" pitchFamily="18" charset="0"/>
                          </a:rPr>
                          <m:t>𝟐</m:t>
                        </m:r>
                      </m:sup>
                    </m:sSup>
                    <m:r>
                      <a:rPr lang="en-US" altLang="en-US" sz="2400" b="1" i="0" dirty="0" smtClean="0">
                        <a:solidFill>
                          <a:schemeClr val="tx1"/>
                        </a:solidFill>
                        <a:latin typeface="Cambria Math" panose="02040503050406030204" pitchFamily="18" charset="0"/>
                        <a:ea typeface="Cambria Math" panose="02040503050406030204" pitchFamily="18" charset="0"/>
                      </a:rPr>
                      <m:t>=</m:t>
                    </m:r>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𝟐𝐃𝐒</m:t>
                        </m:r>
                      </m:num>
                      <m:den>
                        <m:r>
                          <a:rPr lang="en-US" altLang="en-US" sz="2400" b="1" i="0" dirty="0" smtClean="0">
                            <a:solidFill>
                              <a:schemeClr val="tx1"/>
                            </a:solidFill>
                            <a:latin typeface="Cambria Math" panose="02040503050406030204" pitchFamily="18" charset="0"/>
                            <a:ea typeface="Cambria Math" panose="02040503050406030204" pitchFamily="18" charset="0"/>
                          </a:rPr>
                          <m:t>𝐇</m:t>
                        </m:r>
                        <m:d>
                          <m:dPr>
                            <m:begChr m:val="["/>
                            <m:endChr m:val="]"/>
                            <m:ctrlPr>
                              <a:rPr lang="en-US" altLang="en-US" sz="2400" b="1" i="1" dirty="0" smtClean="0">
                                <a:solidFill>
                                  <a:schemeClr val="tx1"/>
                                </a:solidFill>
                                <a:latin typeface="Cambria Math" panose="02040503050406030204" pitchFamily="18" charset="0"/>
                                <a:ea typeface="Cambria Math" panose="02040503050406030204" pitchFamily="18" charset="0"/>
                              </a:rPr>
                            </m:ctrlPr>
                          </m:dPr>
                          <m:e>
                            <m:r>
                              <a:rPr lang="en-US" altLang="en-US" sz="2400" b="1" i="0" dirty="0" smtClean="0">
                                <a:solidFill>
                                  <a:schemeClr val="tx1"/>
                                </a:solidFill>
                                <a:latin typeface="Cambria Math" panose="02040503050406030204" pitchFamily="18" charset="0"/>
                                <a:ea typeface="Cambria Math" panose="02040503050406030204" pitchFamily="18" charset="0"/>
                              </a:rPr>
                              <m:t>𝟏</m:t>
                            </m:r>
                            <m:r>
                              <a:rPr lang="en-US" altLang="en-US" sz="2400" b="1" i="0" dirty="0" smtClean="0">
                                <a:solidFill>
                                  <a:schemeClr val="tx1"/>
                                </a:solidFill>
                                <a:latin typeface="Cambria Math" panose="02040503050406030204" pitchFamily="18" charset="0"/>
                                <a:ea typeface="Cambria Math" panose="02040503050406030204" pitchFamily="18" charset="0"/>
                              </a:rPr>
                              <m:t>−</m:t>
                            </m:r>
                            <m:d>
                              <m:dPr>
                                <m:ctrlPr>
                                  <a:rPr lang="en-US" altLang="en-US" sz="2400" b="1" i="1" dirty="0" smtClean="0">
                                    <a:solidFill>
                                      <a:schemeClr val="tx1"/>
                                    </a:solidFill>
                                    <a:latin typeface="Cambria Math" panose="02040503050406030204" pitchFamily="18" charset="0"/>
                                    <a:ea typeface="Cambria Math" panose="02040503050406030204" pitchFamily="18" charset="0"/>
                                  </a:rPr>
                                </m:ctrlPr>
                              </m:dPr>
                              <m:e>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𝐝</m:t>
                                    </m:r>
                                  </m:num>
                                  <m:den>
                                    <m:r>
                                      <a:rPr lang="en-US" altLang="en-US" sz="2400" b="1" i="0" dirty="0" smtClean="0">
                                        <a:solidFill>
                                          <a:schemeClr val="tx1"/>
                                        </a:solidFill>
                                        <a:latin typeface="Cambria Math" panose="02040503050406030204" pitchFamily="18" charset="0"/>
                                        <a:ea typeface="Cambria Math" panose="02040503050406030204" pitchFamily="18" charset="0"/>
                                      </a:rPr>
                                      <m:t>𝐩</m:t>
                                    </m:r>
                                  </m:den>
                                </m:f>
                              </m:e>
                            </m:d>
                          </m:e>
                        </m:d>
                      </m:den>
                    </m:f>
                    <m:r>
                      <a:rPr lang="en-US" altLang="en-US" sz="2400" b="1" i="0" dirty="0"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latin typeface="Candara" panose="020E0502030303020204" pitchFamily="34" charset="0"/>
                  </a:rPr>
                  <a:t> </a:t>
                </a:r>
                <a14:m>
                  <m:oMath xmlns:m="http://schemas.openxmlformats.org/officeDocument/2006/math">
                    <m:d>
                      <m:dPr>
                        <m:ctrlPr>
                          <a:rPr lang="en-US" altLang="en-US" sz="2400" b="1" i="1" dirty="0" smtClean="0">
                            <a:solidFill>
                              <a:schemeClr val="tx1"/>
                            </a:solidFill>
                            <a:latin typeface="Cambria Math" panose="02040503050406030204" pitchFamily="18" charset="0"/>
                            <a:ea typeface="Cambria Math" panose="02040503050406030204" pitchFamily="18" charset="0"/>
                          </a:rPr>
                        </m:ctrlPr>
                      </m:dPr>
                      <m:e>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𝟐𝐃𝐒</m:t>
                            </m:r>
                          </m:num>
                          <m:den>
                            <m:r>
                              <a:rPr lang="en-US" altLang="en-US" sz="2400" b="1" i="0" dirty="0" smtClean="0">
                                <a:solidFill>
                                  <a:schemeClr val="tx1"/>
                                </a:solidFill>
                                <a:latin typeface="Cambria Math" panose="02040503050406030204" pitchFamily="18" charset="0"/>
                                <a:ea typeface="Cambria Math" panose="02040503050406030204" pitchFamily="18" charset="0"/>
                              </a:rPr>
                              <m:t>𝐇</m:t>
                            </m:r>
                          </m:den>
                        </m:f>
                      </m:e>
                    </m:d>
                    <m:d>
                      <m:dPr>
                        <m:ctrlPr>
                          <a:rPr lang="en-US" altLang="en-US" sz="2400" b="1" i="1" dirty="0" smtClean="0">
                            <a:solidFill>
                              <a:schemeClr val="tx1"/>
                            </a:solidFill>
                            <a:latin typeface="Cambria Math" panose="02040503050406030204" pitchFamily="18" charset="0"/>
                            <a:ea typeface="Cambria Math" panose="02040503050406030204" pitchFamily="18" charset="0"/>
                          </a:rPr>
                        </m:ctrlPr>
                      </m:dPr>
                      <m:e>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𝐩</m:t>
                            </m:r>
                          </m:num>
                          <m:den>
                            <m:r>
                              <a:rPr lang="en-US" altLang="en-US" sz="2400" b="1" i="0" dirty="0" smtClean="0">
                                <a:solidFill>
                                  <a:schemeClr val="tx1"/>
                                </a:solidFill>
                                <a:latin typeface="Cambria Math" panose="02040503050406030204" pitchFamily="18" charset="0"/>
                                <a:ea typeface="Cambria Math" panose="02040503050406030204" pitchFamily="18" charset="0"/>
                              </a:rPr>
                              <m:t>𝐩</m:t>
                            </m:r>
                            <m:r>
                              <a:rPr lang="en-US" altLang="en-US" sz="2400" b="1" i="0" dirty="0" smtClean="0">
                                <a:solidFill>
                                  <a:schemeClr val="tx1"/>
                                </a:solidFill>
                                <a:latin typeface="Cambria Math" panose="02040503050406030204" pitchFamily="18" charset="0"/>
                                <a:ea typeface="Cambria Math" panose="02040503050406030204" pitchFamily="18" charset="0"/>
                              </a:rPr>
                              <m:t>−</m:t>
                            </m:r>
                            <m:r>
                              <a:rPr lang="en-US" altLang="en-US" sz="2400" b="1" i="0" dirty="0" smtClean="0">
                                <a:solidFill>
                                  <a:schemeClr val="tx1"/>
                                </a:solidFill>
                                <a:latin typeface="Cambria Math" panose="02040503050406030204" pitchFamily="18" charset="0"/>
                                <a:ea typeface="Cambria Math" panose="02040503050406030204" pitchFamily="18" charset="0"/>
                              </a:rPr>
                              <m:t>𝐝</m:t>
                            </m:r>
                          </m:den>
                        </m:f>
                      </m:e>
                    </m:d>
                  </m:oMath>
                </a14:m>
                <a:endParaRPr lang="en-US" sz="2400" dirty="0">
                  <a:solidFill>
                    <a:schemeClr val="tx1"/>
                  </a:solidFill>
                  <a:latin typeface="Candara" panose="020E0502030303020204" pitchFamily="34" charset="0"/>
                </a:endParaRPr>
              </a:p>
              <a:p>
                <a:pPr lvl="2">
                  <a:lnSpc>
                    <a:spcPct val="150000"/>
                  </a:lnSpc>
                </a:pPr>
                <a14:m>
                  <m:oMath xmlns:m="http://schemas.openxmlformats.org/officeDocument/2006/math">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r>
                      <a:rPr lang="en-US" sz="2400" b="0" i="1" smtClean="0">
                        <a:solidFill>
                          <a:schemeClr val="tx1"/>
                        </a:solidFill>
                        <a:latin typeface="Cambria Math" panose="02040503050406030204" pitchFamily="18" charset="0"/>
                      </a:rPr>
                      <m:t>=</m:t>
                    </m:r>
                    <m:rad>
                      <m:radPr>
                        <m:degHide m:val="on"/>
                        <m:ctrlPr>
                          <a:rPr lang="en-US" sz="2400" b="0" i="1" smtClean="0">
                            <a:solidFill>
                              <a:schemeClr val="tx1"/>
                            </a:solidFill>
                            <a:latin typeface="Cambria Math" panose="02040503050406030204" pitchFamily="18" charset="0"/>
                          </a:rPr>
                        </m:ctrlPr>
                      </m:radPr>
                      <m:deg/>
                      <m:e>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𝟐𝐃𝐒</m:t>
                            </m:r>
                          </m:num>
                          <m:den>
                            <m:r>
                              <a:rPr lang="en-US" altLang="en-US" sz="2400" b="1" i="0" dirty="0" smtClean="0">
                                <a:solidFill>
                                  <a:schemeClr val="tx1"/>
                                </a:solidFill>
                                <a:latin typeface="Cambria Math" panose="02040503050406030204" pitchFamily="18" charset="0"/>
                                <a:ea typeface="Cambria Math" panose="02040503050406030204" pitchFamily="18" charset="0"/>
                              </a:rPr>
                              <m:t>𝐇</m:t>
                            </m:r>
                          </m:den>
                        </m:f>
                      </m:e>
                    </m:rad>
                    <m:rad>
                      <m:radPr>
                        <m:degHide m:val="on"/>
                        <m:ctrlPr>
                          <a:rPr lang="en-US" altLang="en-US" sz="2400" b="1" i="1" dirty="0" smtClean="0">
                            <a:solidFill>
                              <a:schemeClr val="tx1"/>
                            </a:solidFill>
                            <a:latin typeface="Cambria Math" panose="02040503050406030204" pitchFamily="18" charset="0"/>
                            <a:ea typeface="Cambria Math" panose="02040503050406030204" pitchFamily="18" charset="0"/>
                          </a:rPr>
                        </m:ctrlPr>
                      </m:radPr>
                      <m:deg/>
                      <m:e>
                        <m:f>
                          <m:fPr>
                            <m:ctrlPr>
                              <a:rPr lang="en-US" altLang="en-US" sz="2400" b="1" i="1" dirty="0" smtClean="0">
                                <a:solidFill>
                                  <a:schemeClr val="tx1"/>
                                </a:solidFill>
                                <a:latin typeface="Cambria Math" panose="02040503050406030204" pitchFamily="18" charset="0"/>
                                <a:ea typeface="Cambria Math" panose="02040503050406030204" pitchFamily="18" charset="0"/>
                              </a:rPr>
                            </m:ctrlPr>
                          </m:fPr>
                          <m:num>
                            <m:r>
                              <a:rPr lang="en-US" altLang="en-US" sz="2400" b="1" i="0" dirty="0" smtClean="0">
                                <a:solidFill>
                                  <a:schemeClr val="tx1"/>
                                </a:solidFill>
                                <a:latin typeface="Cambria Math" panose="02040503050406030204" pitchFamily="18" charset="0"/>
                                <a:ea typeface="Cambria Math" panose="02040503050406030204" pitchFamily="18" charset="0"/>
                              </a:rPr>
                              <m:t>𝐩</m:t>
                            </m:r>
                          </m:num>
                          <m:den>
                            <m:r>
                              <a:rPr lang="en-US" altLang="en-US" sz="2400" b="1" i="0" dirty="0" smtClean="0">
                                <a:solidFill>
                                  <a:schemeClr val="tx1"/>
                                </a:solidFill>
                                <a:latin typeface="Cambria Math" panose="02040503050406030204" pitchFamily="18" charset="0"/>
                                <a:ea typeface="Cambria Math" panose="02040503050406030204" pitchFamily="18" charset="0"/>
                              </a:rPr>
                              <m:t>𝐩</m:t>
                            </m:r>
                            <m:r>
                              <a:rPr lang="en-US" altLang="en-US" sz="2400" b="1" i="0" dirty="0" smtClean="0">
                                <a:solidFill>
                                  <a:schemeClr val="tx1"/>
                                </a:solidFill>
                                <a:latin typeface="Cambria Math" panose="02040503050406030204" pitchFamily="18" charset="0"/>
                                <a:ea typeface="Cambria Math" panose="02040503050406030204" pitchFamily="18" charset="0"/>
                              </a:rPr>
                              <m:t>−</m:t>
                            </m:r>
                            <m:r>
                              <a:rPr lang="en-US" altLang="en-US" sz="2400" b="1" i="0" dirty="0" smtClean="0">
                                <a:solidFill>
                                  <a:schemeClr val="tx1"/>
                                </a:solidFill>
                                <a:latin typeface="Cambria Math" panose="02040503050406030204" pitchFamily="18" charset="0"/>
                                <a:ea typeface="Cambria Math" panose="02040503050406030204" pitchFamily="18" charset="0"/>
                              </a:rPr>
                              <m:t>𝐝</m:t>
                            </m:r>
                          </m:den>
                        </m:f>
                      </m:e>
                    </m:rad>
                  </m:oMath>
                </a14:m>
                <a:r>
                  <a:rPr lang="en-US" sz="2400" b="1" dirty="0">
                    <a:solidFill>
                      <a:schemeClr val="tx1"/>
                    </a:solidFill>
                    <a:latin typeface="Candara" panose="020E0502030303020204" pitchFamily="34" charset="0"/>
                  </a:rPr>
                  <a:t> </a:t>
                </a:r>
                <a:r>
                  <a:rPr lang="en-US" sz="2400" dirty="0">
                    <a:solidFill>
                      <a:schemeClr val="tx1"/>
                    </a:solidFill>
                    <a:latin typeface="Candara" panose="020E0502030303020204" pitchFamily="34" charset="0"/>
                  </a:rPr>
                  <a:t>	(Putting </a:t>
                </a:r>
                <a14:m>
                  <m:oMath xmlns:m="http://schemas.openxmlformats.org/officeDocument/2006/math">
                    <m:sSub>
                      <m:sSubPr>
                        <m:ctrlPr>
                          <a:rPr lang="en-US" sz="2400" b="0" i="1" smtClean="0">
                            <a:solidFill>
                              <a:schemeClr val="tx1"/>
                            </a:solidFill>
                            <a:latin typeface="Cambria Math" panose="02040503050406030204" pitchFamily="18" charset="0"/>
                          </a:rPr>
                        </m:ctrlPr>
                      </m:sSubPr>
                      <m:e>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r>
                      <a:rPr lang="en-US" sz="2400" b="0" i="1" smtClean="0">
                        <a:solidFill>
                          <a:schemeClr val="tx1"/>
                        </a:solidFill>
                        <a:latin typeface="Cambria Math" panose="02040503050406030204" pitchFamily="18" charset="0"/>
                      </a:rPr>
                      <m:t> </m:t>
                    </m:r>
                  </m:oMath>
                </a14:m>
                <a:r>
                  <a:rPr lang="en-US" sz="2400" dirty="0">
                    <a:solidFill>
                      <a:schemeClr val="tx1"/>
                    </a:solidFill>
                    <a:latin typeface="Candara" panose="020E0502030303020204" pitchFamily="34" charset="0"/>
                  </a:rPr>
                  <a:t>in place of </a:t>
                </a:r>
                <a:r>
                  <a:rPr lang="en-US" sz="2400" b="1" dirty="0">
                    <a:solidFill>
                      <a:schemeClr val="tx1"/>
                    </a:solidFill>
                    <a:latin typeface="Candara" panose="020E0502030303020204" pitchFamily="34" charset="0"/>
                  </a:rPr>
                  <a:t>Q </a:t>
                </a:r>
                <a:r>
                  <a:rPr lang="en-US" sz="2400" dirty="0">
                    <a:solidFill>
                      <a:schemeClr val="tx1"/>
                    </a:solidFill>
                    <a:latin typeface="Candara" panose="020E0502030303020204" pitchFamily="34" charset="0"/>
                  </a:rPr>
                  <a:t>to denote EPQ)</a:t>
                </a:r>
                <a:endParaRPr lang="en-US" sz="2400" b="1" dirty="0">
                  <a:solidFill>
                    <a:schemeClr val="tx1"/>
                  </a:solidFill>
                  <a:latin typeface="Candara" panose="020E0502030303020204" pitchFamily="34" charset="0"/>
                </a:endParaRPr>
              </a:p>
            </p:txBody>
          </p:sp>
        </mc:Choice>
        <mc:Fallback xmlns="">
          <p:sp>
            <p:nvSpPr>
              <p:cNvPr id="3" name="Rectangle 2">
                <a:extLst>
                  <a:ext uri="{FF2B5EF4-FFF2-40B4-BE49-F238E27FC236}">
                    <a16:creationId xmlns:a16="http://schemas.microsoft.com/office/drawing/2014/main" id="{698F8E2E-C235-3D41-6C7C-4F944E0F05EB}"/>
                  </a:ext>
                </a:extLst>
              </p:cNvPr>
              <p:cNvSpPr>
                <a:spLocks noRot="1" noChangeAspect="1" noMove="1" noResize="1" noEditPoints="1" noAdjustHandles="1" noChangeArrowheads="1" noChangeShapeType="1" noTextEdit="1"/>
              </p:cNvSpPr>
              <p:nvPr/>
            </p:nvSpPr>
            <p:spPr>
              <a:xfrm>
                <a:off x="648181" y="1779263"/>
                <a:ext cx="11250593" cy="4748862"/>
              </a:xfrm>
              <a:prstGeom prst="rect">
                <a:avLst/>
              </a:prstGeom>
              <a:blipFill>
                <a:blip r:embed="rId2"/>
                <a:stretch>
                  <a:fillRect l="-813"/>
                </a:stretch>
              </a:blipFill>
              <a:ln>
                <a:no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2BB73B48-A8A1-2D05-63A2-FC6302B3E718}"/>
              </a:ext>
            </a:extLst>
          </p:cNvPr>
          <p:cNvSpPr/>
          <p:nvPr/>
        </p:nvSpPr>
        <p:spPr>
          <a:xfrm>
            <a:off x="1898248" y="5127343"/>
            <a:ext cx="2453833" cy="9262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97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5FA58F-E2D6-96D8-42F9-71C83F1232BF}"/>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Economic Production Quantity Model</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98F8E2E-C235-3D41-6C7C-4F944E0F05EB}"/>
                  </a:ext>
                </a:extLst>
              </p:cNvPr>
              <p:cNvSpPr/>
              <p:nvPr/>
            </p:nvSpPr>
            <p:spPr>
              <a:xfrm>
                <a:off x="752353" y="1304697"/>
                <a:ext cx="10764457" cy="47488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US" sz="3600" b="1" dirty="0">
                    <a:solidFill>
                      <a:schemeClr val="tx1"/>
                    </a:solidFill>
                    <a:latin typeface="Candara" panose="020E0502030303020204" pitchFamily="34" charset="0"/>
                  </a:rPr>
                  <a:t>Equations</a:t>
                </a:r>
                <a:endParaRPr lang="en-US" sz="2400" b="1" dirty="0">
                  <a:solidFill>
                    <a:schemeClr val="tx1"/>
                  </a:solidFill>
                  <a:latin typeface="Candara" panose="020E0502030303020204" pitchFamily="34" charset="0"/>
                </a:endParaRPr>
              </a:p>
              <a:p>
                <a:pPr marL="342900" indent="-342900">
                  <a:lnSpc>
                    <a:spcPct val="150000"/>
                  </a:lnSpc>
                  <a:buFont typeface="Arial" panose="020B0604020202020204" pitchFamily="34" charset="0"/>
                  <a:buChar char="•"/>
                </a:pPr>
                <a:r>
                  <a:rPr lang="en-US" altLang="en-US" sz="2400" dirty="0">
                    <a:solidFill>
                      <a:schemeClr val="tx1"/>
                    </a:solidFill>
                    <a:latin typeface="Candara" panose="020E0502030303020204" pitchFamily="34" charset="0"/>
                    <a:ea typeface="Cambria Math" panose="02040503050406030204" pitchFamily="18" charset="0"/>
                  </a:rPr>
                  <a:t>Economic Production Quantity,</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r>
                      <a:rPr lang="en-US" sz="2400" b="0" i="1" smtClean="0">
                        <a:solidFill>
                          <a:schemeClr val="tx1"/>
                        </a:solidFill>
                        <a:latin typeface="Cambria Math" panose="02040503050406030204" pitchFamily="18" charset="0"/>
                      </a:rPr>
                      <m:t>=</m:t>
                    </m:r>
                    <m:rad>
                      <m:radPr>
                        <m:degHide m:val="on"/>
                        <m:ctrlPr>
                          <a:rPr lang="en-US" sz="2400" i="1" smtClean="0">
                            <a:solidFill>
                              <a:schemeClr val="tx1"/>
                            </a:solidFill>
                            <a:latin typeface="Cambria Math" panose="02040503050406030204" pitchFamily="18" charset="0"/>
                          </a:rPr>
                        </m:ctrlPr>
                      </m:radPr>
                      <m:deg/>
                      <m:e>
                        <m:f>
                          <m:fPr>
                            <m:ctrlPr>
                              <a:rPr lang="en-US" altLang="en-US" sz="2400" i="1" dirty="0" smtClean="0">
                                <a:solidFill>
                                  <a:schemeClr val="tx1"/>
                                </a:solidFill>
                                <a:latin typeface="Cambria Math" panose="02040503050406030204" pitchFamily="18" charset="0"/>
                                <a:ea typeface="Cambria Math" panose="02040503050406030204" pitchFamily="18" charset="0"/>
                              </a:rPr>
                            </m:ctrlPr>
                          </m:fPr>
                          <m:num>
                            <m:r>
                              <a:rPr lang="en-US" altLang="en-US" sz="2400" b="0" i="0" dirty="0" smtClean="0">
                                <a:solidFill>
                                  <a:schemeClr val="tx1"/>
                                </a:solidFill>
                                <a:latin typeface="Cambria Math" panose="02040503050406030204" pitchFamily="18" charset="0"/>
                                <a:ea typeface="Cambria Math" panose="02040503050406030204" pitchFamily="18" charset="0"/>
                              </a:rPr>
                              <m:t>2</m:t>
                            </m:r>
                            <m:r>
                              <m:rPr>
                                <m:sty m:val="p"/>
                              </m:rPr>
                              <a:rPr lang="en-US" altLang="en-US" sz="2400" b="0" i="0" dirty="0" smtClean="0">
                                <a:solidFill>
                                  <a:schemeClr val="tx1"/>
                                </a:solidFill>
                                <a:latin typeface="Cambria Math" panose="02040503050406030204" pitchFamily="18" charset="0"/>
                                <a:ea typeface="Cambria Math" panose="02040503050406030204" pitchFamily="18" charset="0"/>
                              </a:rPr>
                              <m:t>DS</m:t>
                            </m:r>
                          </m:num>
                          <m:den>
                            <m:r>
                              <m:rPr>
                                <m:sty m:val="p"/>
                              </m:rPr>
                              <a:rPr lang="en-US" altLang="en-US" sz="2400" b="0" i="0" dirty="0" smtClean="0">
                                <a:solidFill>
                                  <a:schemeClr val="tx1"/>
                                </a:solidFill>
                                <a:latin typeface="Cambria Math" panose="02040503050406030204" pitchFamily="18" charset="0"/>
                                <a:ea typeface="Cambria Math" panose="02040503050406030204" pitchFamily="18" charset="0"/>
                              </a:rPr>
                              <m:t>H</m:t>
                            </m:r>
                          </m:den>
                        </m:f>
                      </m:e>
                    </m:rad>
                    <m:rad>
                      <m:radPr>
                        <m:degHide m:val="on"/>
                        <m:ctrlPr>
                          <a:rPr lang="en-US" altLang="en-US" sz="2400" i="1" dirty="0" smtClean="0">
                            <a:solidFill>
                              <a:schemeClr val="tx1"/>
                            </a:solidFill>
                            <a:latin typeface="Cambria Math" panose="02040503050406030204" pitchFamily="18" charset="0"/>
                            <a:ea typeface="Cambria Math" panose="02040503050406030204" pitchFamily="18" charset="0"/>
                          </a:rPr>
                        </m:ctrlPr>
                      </m:radPr>
                      <m:deg/>
                      <m:e>
                        <m:f>
                          <m:fPr>
                            <m:ctrlPr>
                              <a:rPr lang="en-US" altLang="en-US" sz="2400" i="1" dirty="0" smtClean="0">
                                <a:solidFill>
                                  <a:schemeClr val="tx1"/>
                                </a:solidFill>
                                <a:latin typeface="Cambria Math" panose="02040503050406030204" pitchFamily="18" charset="0"/>
                                <a:ea typeface="Cambria Math" panose="02040503050406030204" pitchFamily="18" charset="0"/>
                              </a:rPr>
                            </m:ctrlPr>
                          </m:fPr>
                          <m:num>
                            <m:r>
                              <m:rPr>
                                <m:sty m:val="p"/>
                              </m:rPr>
                              <a:rPr lang="en-US" altLang="en-US" sz="2400" b="0" i="0" dirty="0" smtClean="0">
                                <a:solidFill>
                                  <a:schemeClr val="tx1"/>
                                </a:solidFill>
                                <a:latin typeface="Cambria Math" panose="02040503050406030204" pitchFamily="18" charset="0"/>
                                <a:ea typeface="Cambria Math" panose="02040503050406030204" pitchFamily="18" charset="0"/>
                              </a:rPr>
                              <m:t>p</m:t>
                            </m:r>
                          </m:num>
                          <m:den>
                            <m:r>
                              <m:rPr>
                                <m:sty m:val="p"/>
                              </m:rPr>
                              <a:rPr lang="en-US" altLang="en-US" sz="2400" b="0" i="0" dirty="0" smtClean="0">
                                <a:solidFill>
                                  <a:schemeClr val="tx1"/>
                                </a:solidFill>
                                <a:latin typeface="Cambria Math" panose="02040503050406030204" pitchFamily="18" charset="0"/>
                                <a:ea typeface="Cambria Math" panose="02040503050406030204" pitchFamily="18" charset="0"/>
                              </a:rPr>
                              <m:t>p</m:t>
                            </m:r>
                            <m:r>
                              <a:rPr lang="en-US" altLang="en-US" sz="2400" b="0" i="0" dirty="0" smtClean="0">
                                <a:solidFill>
                                  <a:schemeClr val="tx1"/>
                                </a:solidFill>
                                <a:latin typeface="Cambria Math" panose="02040503050406030204" pitchFamily="18" charset="0"/>
                                <a:ea typeface="Cambria Math" panose="02040503050406030204" pitchFamily="18" charset="0"/>
                              </a:rPr>
                              <m:t>−</m:t>
                            </m:r>
                            <m:r>
                              <m:rPr>
                                <m:sty m:val="p"/>
                              </m:rPr>
                              <a:rPr lang="en-US" altLang="en-US" sz="2400" b="0" i="0" dirty="0" smtClean="0">
                                <a:solidFill>
                                  <a:schemeClr val="tx1"/>
                                </a:solidFill>
                                <a:latin typeface="Cambria Math" panose="02040503050406030204" pitchFamily="18" charset="0"/>
                                <a:ea typeface="Cambria Math" panose="02040503050406030204" pitchFamily="18" charset="0"/>
                              </a:rPr>
                              <m:t>d</m:t>
                            </m:r>
                          </m:den>
                        </m:f>
                      </m:e>
                    </m:rad>
                  </m:oMath>
                </a14:m>
                <a:endParaRPr lang="en-US" sz="2400" dirty="0">
                  <a:solidFill>
                    <a:schemeClr val="tx1"/>
                  </a:solidFill>
                  <a:latin typeface="Candara" panose="020E0502030303020204" pitchFamily="34" charset="0"/>
                </a:endParaRPr>
              </a:p>
              <a:p>
                <a:pPr marL="342900" indent="-342900">
                  <a:lnSpc>
                    <a:spcPct val="150000"/>
                  </a:lnSpc>
                  <a:buFont typeface="Arial" panose="020B0604020202020204" pitchFamily="34" charset="0"/>
                  <a:buChar char="•"/>
                </a:pPr>
                <a:r>
                  <a:rPr lang="en-US" sz="2400" dirty="0">
                    <a:solidFill>
                      <a:schemeClr val="tx1"/>
                    </a:solidFill>
                    <a:latin typeface="Candara" panose="020E0502030303020204" pitchFamily="34" charset="0"/>
                  </a:rPr>
                  <a:t>Cycle Time</a:t>
                </a:r>
                <a:r>
                  <a:rPr lang="en-US" sz="2400" dirty="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m:t>
                    </m:r>
                    <m:f>
                      <m:fPr>
                        <m:ctrlPr>
                          <a:rPr lang="en-US" altLang="en-US" sz="2400" i="1" dirty="0" smtClean="0">
                            <a:solidFill>
                              <a:schemeClr val="tx1"/>
                            </a:solidFill>
                            <a:latin typeface="Cambria Math" panose="02040503050406030204" pitchFamily="18" charset="0"/>
                          </a:rPr>
                        </m:ctrlPr>
                      </m:fPr>
                      <m:num>
                        <m:sSub>
                          <m:sSubPr>
                            <m:ctrlPr>
                              <a:rPr lang="en-US" sz="2400" i="1" smtClean="0">
                                <a:solidFill>
                                  <a:schemeClr val="tx1"/>
                                </a:solidFill>
                                <a:latin typeface="Cambria Math" panose="02040503050406030204" pitchFamily="18" charset="0"/>
                              </a:rPr>
                            </m:ctrlPr>
                          </m:sSubPr>
                          <m:e>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num>
                      <m:den>
                        <m:r>
                          <m:rPr>
                            <m:sty m:val="p"/>
                          </m:rPr>
                          <a:rPr lang="en-US" altLang="en-US" sz="2400" b="0" i="0" dirty="0" smtClean="0">
                            <a:solidFill>
                              <a:schemeClr val="tx1"/>
                            </a:solidFill>
                            <a:latin typeface="Cambria Math" panose="02040503050406030204" pitchFamily="18" charset="0"/>
                          </a:rPr>
                          <m:t>d</m:t>
                        </m:r>
                      </m:den>
                    </m:f>
                  </m:oMath>
                </a14:m>
                <a:endParaRPr lang="en-US" sz="2400" dirty="0">
                  <a:solidFill>
                    <a:schemeClr val="tx1"/>
                  </a:solidFill>
                  <a:latin typeface="Candara" panose="020E0502030303020204" pitchFamily="34" charset="0"/>
                </a:endParaRPr>
              </a:p>
              <a:p>
                <a:pPr marL="342900" indent="-342900">
                  <a:lnSpc>
                    <a:spcPct val="150000"/>
                  </a:lnSpc>
                  <a:buFont typeface="Arial" panose="020B0604020202020204" pitchFamily="34" charset="0"/>
                  <a:buChar char="•"/>
                </a:pPr>
                <a:r>
                  <a:rPr lang="en-US" sz="2400" dirty="0">
                    <a:solidFill>
                      <a:schemeClr val="tx1"/>
                    </a:solidFill>
                    <a:latin typeface="Candara" panose="020E0502030303020204" pitchFamily="34" charset="0"/>
                  </a:rPr>
                  <a:t>Run Time </a:t>
                </a:r>
                <a14:m>
                  <m:oMath xmlns:m="http://schemas.openxmlformats.org/officeDocument/2006/math">
                    <m:r>
                      <a:rPr lang="en-US" sz="2400" b="0" i="1" smtClean="0">
                        <a:solidFill>
                          <a:schemeClr val="tx1"/>
                        </a:solidFill>
                        <a:latin typeface="Cambria Math" panose="02040503050406030204" pitchFamily="18" charset="0"/>
                      </a:rPr>
                      <m:t>=</m:t>
                    </m:r>
                    <m:f>
                      <m:fPr>
                        <m:ctrlPr>
                          <a:rPr lang="en-US" altLang="en-US" sz="2400" i="1" dirty="0" smtClean="0">
                            <a:solidFill>
                              <a:schemeClr val="tx1"/>
                            </a:solidFill>
                            <a:latin typeface="Cambria Math" panose="02040503050406030204" pitchFamily="18" charset="0"/>
                          </a:rPr>
                        </m:ctrlPr>
                      </m:fPr>
                      <m:num>
                        <m:sSub>
                          <m:sSubPr>
                            <m:ctrlPr>
                              <a:rPr lang="en-US" sz="2400" i="1" smtClean="0">
                                <a:solidFill>
                                  <a:schemeClr val="tx1"/>
                                </a:solidFill>
                                <a:latin typeface="Cambria Math" panose="02040503050406030204" pitchFamily="18" charset="0"/>
                              </a:rPr>
                            </m:ctrlPr>
                          </m:sSubPr>
                          <m:e>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num>
                      <m:den>
                        <m:r>
                          <m:rPr>
                            <m:sty m:val="p"/>
                          </m:rPr>
                          <a:rPr lang="en-US" sz="2400" b="0" i="0" smtClean="0">
                            <a:solidFill>
                              <a:schemeClr val="tx1"/>
                            </a:solidFill>
                            <a:latin typeface="Cambria Math" panose="02040503050406030204" pitchFamily="18" charset="0"/>
                          </a:rPr>
                          <m:t>p</m:t>
                        </m:r>
                      </m:den>
                    </m:f>
                  </m:oMath>
                </a14:m>
                <a:endParaRPr lang="en-US" sz="2400" dirty="0">
                  <a:solidFill>
                    <a:schemeClr val="tx1"/>
                  </a:solidFill>
                  <a:latin typeface="Candara" panose="020E0502030303020204" pitchFamily="34" charset="0"/>
                </a:endParaRPr>
              </a:p>
              <a:p>
                <a:pPr marL="342900" indent="-342900">
                  <a:lnSpc>
                    <a:spcPct val="150000"/>
                  </a:lnSpc>
                  <a:buFont typeface="Arial" panose="020B0604020202020204" pitchFamily="34" charset="0"/>
                  <a:buChar char="•"/>
                </a:pPr>
                <a:r>
                  <a:rPr lang="en-US" sz="2400" dirty="0">
                    <a:solidFill>
                      <a:schemeClr val="tx1"/>
                    </a:solidFill>
                    <a:latin typeface="Candara" panose="020E0502030303020204" pitchFamily="34" charset="0"/>
                  </a:rPr>
                  <a:t>Maximum Inventory Level, </a:t>
                </a:r>
                <a14:m>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𝐼</m:t>
                        </m:r>
                      </m:e>
                      <m:sub>
                        <m:r>
                          <a:rPr lang="en-US" sz="2400" b="0" i="1" smtClean="0">
                            <a:solidFill>
                              <a:schemeClr val="tx1"/>
                            </a:solidFill>
                            <a:latin typeface="Cambria Math" panose="02040503050406030204" pitchFamily="18" charset="0"/>
                          </a:rPr>
                          <m:t>𝑚𝑎𝑥</m:t>
                        </m:r>
                      </m:sub>
                    </m:sSub>
                    <m:r>
                      <a:rPr lang="en-US" sz="2400" b="0" i="1" smtClean="0">
                        <a:solidFill>
                          <a:schemeClr val="tx1"/>
                        </a:solidFill>
                        <a:latin typeface="Cambria Math" panose="02040503050406030204" pitchFamily="18" charset="0"/>
                      </a:rPr>
                      <m:t>=</m:t>
                    </m:r>
                    <m:sSub>
                      <m:sSubPr>
                        <m:ctrlPr>
                          <a:rPr lang="en-US" sz="2400" i="1" smtClean="0">
                            <a:solidFill>
                              <a:schemeClr val="tx1"/>
                            </a:solidFill>
                            <a:latin typeface="Cambria Math" panose="02040503050406030204" pitchFamily="18" charset="0"/>
                          </a:rPr>
                        </m:ctrlPr>
                      </m:sSubPr>
                      <m:e>
                        <m:r>
                          <a:rPr lang="en-US" sz="2400" b="0" i="0" smtClean="0">
                            <a:solidFill>
                              <a:schemeClr val="tx1"/>
                            </a:solidFill>
                            <a:latin typeface="Cambria Math" panose="02040503050406030204" pitchFamily="18" charset="0"/>
                          </a:rPr>
                          <m:t> </m:t>
                        </m:r>
                        <m:r>
                          <m:rPr>
                            <m:sty m:val="p"/>
                          </m:rPr>
                          <a:rPr lang="en-US" sz="2400" b="0" i="0" smtClean="0">
                            <a:solidFill>
                              <a:schemeClr val="tx1"/>
                            </a:solidFill>
                            <a:latin typeface="Cambria Math" panose="02040503050406030204" pitchFamily="18" charset="0"/>
                          </a:rPr>
                          <m:t>Q</m:t>
                        </m:r>
                      </m:e>
                      <m:sub>
                        <m:r>
                          <m:rPr>
                            <m:sty m:val="p"/>
                          </m:rPr>
                          <a:rPr lang="en-US" sz="2400" b="0" i="0" smtClean="0">
                            <a:solidFill>
                              <a:schemeClr val="tx1"/>
                            </a:solidFill>
                            <a:latin typeface="Cambria Math" panose="02040503050406030204" pitchFamily="18" charset="0"/>
                          </a:rPr>
                          <m:t>p</m:t>
                        </m:r>
                      </m:sub>
                    </m:sSub>
                    <m:d>
                      <m:dPr>
                        <m:ctrlPr>
                          <a:rPr lang="en-US" altLang="en-US" sz="2400" i="1" dirty="0" smtClean="0">
                            <a:solidFill>
                              <a:schemeClr val="tx1"/>
                            </a:solidFill>
                            <a:latin typeface="Cambria Math" panose="02040503050406030204" pitchFamily="18" charset="0"/>
                          </a:rPr>
                        </m:ctrlPr>
                      </m:dPr>
                      <m:e>
                        <m:r>
                          <a:rPr lang="en-US" altLang="en-US" sz="2400" b="0" i="0" dirty="0" smtClean="0">
                            <a:solidFill>
                              <a:schemeClr val="tx1"/>
                            </a:solidFill>
                            <a:latin typeface="Cambria Math" panose="02040503050406030204" pitchFamily="18" charset="0"/>
                          </a:rPr>
                          <m:t>1−</m:t>
                        </m:r>
                        <m:f>
                          <m:fPr>
                            <m:ctrlPr>
                              <a:rPr lang="en-US" altLang="en-US" sz="2400" i="1" dirty="0" smtClean="0">
                                <a:solidFill>
                                  <a:schemeClr val="tx1"/>
                                </a:solidFill>
                                <a:latin typeface="Cambria Math" panose="02040503050406030204" pitchFamily="18" charset="0"/>
                              </a:rPr>
                            </m:ctrlPr>
                          </m:fPr>
                          <m:num>
                            <m:r>
                              <m:rPr>
                                <m:sty m:val="p"/>
                              </m:rPr>
                              <a:rPr lang="en-US" altLang="en-US" sz="2400" b="0" i="0" dirty="0" smtClean="0">
                                <a:solidFill>
                                  <a:schemeClr val="tx1"/>
                                </a:solidFill>
                                <a:latin typeface="Cambria Math" panose="02040503050406030204" pitchFamily="18" charset="0"/>
                              </a:rPr>
                              <m:t>d</m:t>
                            </m:r>
                          </m:num>
                          <m:den>
                            <m:r>
                              <m:rPr>
                                <m:sty m:val="p"/>
                              </m:rPr>
                              <a:rPr lang="en-US" altLang="en-US" sz="2400" b="0" i="0" dirty="0">
                                <a:solidFill>
                                  <a:schemeClr val="tx1"/>
                                </a:solidFill>
                                <a:latin typeface="Cambria Math" panose="02040503050406030204" pitchFamily="18" charset="0"/>
                              </a:rPr>
                              <m:t>p</m:t>
                            </m:r>
                          </m:den>
                        </m:f>
                      </m:e>
                    </m:d>
                  </m:oMath>
                </a14:m>
                <a:r>
                  <a:rPr lang="en-US" altLang="en-US" sz="2400" dirty="0">
                    <a:solidFill>
                      <a:schemeClr val="tx1"/>
                    </a:solidFill>
                    <a:latin typeface="Candara" panose="020E0502030303020204" pitchFamily="34" charset="0"/>
                  </a:rPr>
                  <a:t> </a:t>
                </a:r>
                <a:endParaRPr lang="en-US" sz="2400" dirty="0">
                  <a:solidFill>
                    <a:schemeClr val="tx1"/>
                  </a:solidFill>
                  <a:latin typeface="Candara" panose="020E0502030303020204" pitchFamily="34" charset="0"/>
                </a:endParaRPr>
              </a:p>
              <a:p>
                <a:pPr>
                  <a:lnSpc>
                    <a:spcPct val="150000"/>
                  </a:lnSpc>
                </a:pPr>
                <a:endParaRPr lang="en-US" sz="2400" b="1" dirty="0">
                  <a:solidFill>
                    <a:schemeClr val="tx1"/>
                  </a:solidFill>
                  <a:latin typeface="Candara" panose="020E0502030303020204" pitchFamily="34" charset="0"/>
                </a:endParaRPr>
              </a:p>
            </p:txBody>
          </p:sp>
        </mc:Choice>
        <mc:Fallback xmlns="">
          <p:sp>
            <p:nvSpPr>
              <p:cNvPr id="3" name="Rectangle 2">
                <a:extLst>
                  <a:ext uri="{FF2B5EF4-FFF2-40B4-BE49-F238E27FC236}">
                    <a16:creationId xmlns:a16="http://schemas.microsoft.com/office/drawing/2014/main" id="{698F8E2E-C235-3D41-6C7C-4F944E0F05EB}"/>
                  </a:ext>
                </a:extLst>
              </p:cNvPr>
              <p:cNvSpPr>
                <a:spLocks noRot="1" noChangeAspect="1" noMove="1" noResize="1" noEditPoints="1" noAdjustHandles="1" noChangeArrowheads="1" noChangeShapeType="1" noTextEdit="1"/>
              </p:cNvSpPr>
              <p:nvPr/>
            </p:nvSpPr>
            <p:spPr>
              <a:xfrm>
                <a:off x="752353" y="1304697"/>
                <a:ext cx="10764457" cy="4748862"/>
              </a:xfrm>
              <a:prstGeom prst="rect">
                <a:avLst/>
              </a:prstGeom>
              <a:blipFill>
                <a:blip r:embed="rId2"/>
                <a:stretch>
                  <a:fillRect l="-73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824427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latin typeface="Candara" panose="020E0502030303020204" pitchFamily="34" charset="0"/>
              </a:rPr>
              <a:t>Example 3: EPQ</a:t>
            </a:r>
          </a:p>
        </p:txBody>
      </p:sp>
      <p:sp>
        <p:nvSpPr>
          <p:cNvPr id="23556" name="Rectangle 23555">
            <a:extLst>
              <a:ext uri="{FF2B5EF4-FFF2-40B4-BE49-F238E27FC236}">
                <a16:creationId xmlns:a16="http://schemas.microsoft.com/office/drawing/2014/main" id="{76AE5C3E-33C7-5905-5C82-561444AE95ED}"/>
              </a:ext>
            </a:extLst>
          </p:cNvPr>
          <p:cNvSpPr/>
          <p:nvPr/>
        </p:nvSpPr>
        <p:spPr>
          <a:xfrm>
            <a:off x="731520" y="1554479"/>
            <a:ext cx="11025173" cy="5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400" dirty="0">
                <a:solidFill>
                  <a:schemeClr val="tx1"/>
                </a:solidFill>
                <a:latin typeface="Candara" panose="020E0502030303020204" pitchFamily="34" charset="0"/>
              </a:rPr>
              <a:t>A toy manufacturer uses 48,000 rubber wheels per year for its popular dump truck series. The firm makes its own wheels, which it can produce at a rate of 800 per day. The toy  trucks are assembled uniformly over the entire year. Carrying cost is $1 per wheel a year.  Setup cost for a production run of wheels is $45. The firm operates 240 days per year. Determine the – </a:t>
            </a:r>
          </a:p>
          <a:p>
            <a:pPr>
              <a:lnSpc>
                <a:spcPct val="150000"/>
              </a:lnSpc>
            </a:pPr>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a. Optimal run size. </a:t>
            </a:r>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b. Minimum total annual cost for carrying and setup. </a:t>
            </a:r>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c. Cycle time for the optimal run size. </a:t>
            </a:r>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d. Run time</a:t>
            </a:r>
          </a:p>
        </p:txBody>
      </p:sp>
    </p:spTree>
    <p:extLst>
      <p:ext uri="{BB962C8B-B14F-4D97-AF65-F5344CB8AC3E}">
        <p14:creationId xmlns:p14="http://schemas.microsoft.com/office/powerpoint/2010/main" val="2566339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latin typeface="Candara" panose="020E0502030303020204" pitchFamily="34" charset="0"/>
              </a:rPr>
              <a:t>Solution of Example 3: EPQ</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1CD03C9-E10C-5A77-D8F6-3532022D1CE8}"/>
                  </a:ext>
                </a:extLst>
              </p:cNvPr>
              <p:cNvSpPr/>
              <p:nvPr/>
            </p:nvSpPr>
            <p:spPr>
              <a:xfrm>
                <a:off x="365760" y="1522452"/>
                <a:ext cx="11460480" cy="53355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000" dirty="0">
                    <a:solidFill>
                      <a:schemeClr val="tx1"/>
                    </a:solidFill>
                    <a:latin typeface="Candara" panose="020E0502030303020204" pitchFamily="34" charset="0"/>
                  </a:rPr>
                  <a:t>Given That,</a:t>
                </a:r>
              </a:p>
              <a:p>
                <a:r>
                  <a:rPr lang="en-US" altLang="en-US" sz="2000" dirty="0">
                    <a:solidFill>
                      <a:schemeClr val="tx1"/>
                    </a:solidFill>
                    <a:latin typeface="Candara" panose="020E0502030303020204" pitchFamily="34" charset="0"/>
                  </a:rPr>
                  <a:t>Demand, D = 48,000 wheels per year</a:t>
                </a:r>
              </a:p>
              <a:p>
                <a:r>
                  <a:rPr lang="en-US" altLang="en-US" sz="2000" dirty="0">
                    <a:solidFill>
                      <a:schemeClr val="tx1"/>
                    </a:solidFill>
                    <a:latin typeface="Candara" panose="020E0502030303020204" pitchFamily="34" charset="0"/>
                  </a:rPr>
                  <a:t>Carrying Cost, H = $1 per wheel per year</a:t>
                </a:r>
              </a:p>
              <a:p>
                <a:r>
                  <a:rPr lang="en-US" altLang="en-US" sz="2000" dirty="0">
                    <a:solidFill>
                      <a:schemeClr val="tx1"/>
                    </a:solidFill>
                    <a:latin typeface="Candara" panose="020E0502030303020204" pitchFamily="34" charset="0"/>
                  </a:rPr>
                  <a:t>Setup Cost, S = $45 per production run</a:t>
                </a:r>
              </a:p>
              <a:p>
                <a:r>
                  <a:rPr lang="en-US" altLang="en-US" sz="2000" dirty="0">
                    <a:solidFill>
                      <a:schemeClr val="tx1"/>
                    </a:solidFill>
                    <a:latin typeface="Candara" panose="020E0502030303020204" pitchFamily="34" charset="0"/>
                  </a:rPr>
                  <a:t>Production Rate, p = 800 wheels per day</a:t>
                </a:r>
              </a:p>
              <a:p>
                <a:r>
                  <a:rPr lang="en-US" altLang="en-US" sz="2000" dirty="0">
                    <a:solidFill>
                      <a:schemeClr val="tx1"/>
                    </a:solidFill>
                    <a:latin typeface="Candara" panose="020E0502030303020204" pitchFamily="34" charset="0"/>
                  </a:rPr>
                  <a:t>Demand rate, d </a:t>
                </a:r>
                <a14:m>
                  <m:oMath xmlns:m="http://schemas.openxmlformats.org/officeDocument/2006/math">
                    <m:r>
                      <a:rPr lang="en-US" altLang="en-US" sz="2000" b="0" i="0" smtClean="0">
                        <a:solidFill>
                          <a:schemeClr val="tx1"/>
                        </a:solidFill>
                        <a:latin typeface="Cambria Math" panose="02040503050406030204" pitchFamily="18" charset="0"/>
                      </a:rPr>
                      <m:t>=</m:t>
                    </m:r>
                    <m:f>
                      <m:fPr>
                        <m:ctrlPr>
                          <a:rPr lang="en-US" altLang="en-US" sz="2000" i="1" smtClean="0">
                            <a:solidFill>
                              <a:schemeClr val="tx1"/>
                            </a:solidFill>
                            <a:latin typeface="Cambria Math" panose="02040503050406030204" pitchFamily="18" charset="0"/>
                          </a:rPr>
                        </m:ctrlPr>
                      </m:fPr>
                      <m:num>
                        <m:r>
                          <a:rPr lang="en-US" altLang="en-US" sz="2000" b="0" i="1" smtClean="0">
                            <a:solidFill>
                              <a:schemeClr val="tx1"/>
                            </a:solidFill>
                            <a:latin typeface="Cambria Math" panose="02040503050406030204" pitchFamily="18" charset="0"/>
                          </a:rPr>
                          <m:t>48,000</m:t>
                        </m:r>
                      </m:num>
                      <m:den>
                        <m:r>
                          <a:rPr lang="en-US" altLang="en-US" sz="2000" b="0" i="1" smtClean="0">
                            <a:solidFill>
                              <a:schemeClr val="tx1"/>
                            </a:solidFill>
                            <a:latin typeface="Cambria Math" panose="02040503050406030204" pitchFamily="18" charset="0"/>
                          </a:rPr>
                          <m:t>240</m:t>
                        </m:r>
                      </m:den>
                    </m:f>
                    <m:r>
                      <a:rPr lang="en-US" altLang="en-US" sz="2000" b="0" i="1" smtClean="0">
                        <a:solidFill>
                          <a:schemeClr val="tx1"/>
                        </a:solidFill>
                        <a:latin typeface="Cambria Math" panose="02040503050406030204" pitchFamily="18" charset="0"/>
                      </a:rPr>
                      <m:t>=</m:t>
                    </m:r>
                  </m:oMath>
                </a14:m>
                <a:r>
                  <a:rPr lang="en-US" altLang="en-US" sz="2000" dirty="0">
                    <a:solidFill>
                      <a:schemeClr val="tx1"/>
                    </a:solidFill>
                    <a:latin typeface="Candara" panose="020E0502030303020204" pitchFamily="34" charset="0"/>
                  </a:rPr>
                  <a:t> 200 wheels per day</a:t>
                </a:r>
              </a:p>
              <a:p>
                <a:pPr>
                  <a:lnSpc>
                    <a:spcPct val="150000"/>
                  </a:lnSpc>
                </a:pPr>
                <a:r>
                  <a:rPr lang="en-US" altLang="en-US" sz="2000" dirty="0">
                    <a:solidFill>
                      <a:schemeClr val="tx1"/>
                    </a:solidFill>
                    <a:latin typeface="Candara" panose="020E0502030303020204" pitchFamily="34" charset="0"/>
                  </a:rPr>
                  <a:t>a. Optimal Run Size, EPQ,  </a:t>
                </a:r>
                <a14:m>
                  <m:oMath xmlns:m="http://schemas.openxmlformats.org/officeDocument/2006/math">
                    <m:sSub>
                      <m:sSubPr>
                        <m:ctrlPr>
                          <a:rPr lang="en-US" altLang="en-US" sz="2000" b="0" i="1" smtClean="0">
                            <a:solidFill>
                              <a:schemeClr val="tx1"/>
                            </a:solidFill>
                            <a:latin typeface="Cambria Math" panose="02040503050406030204" pitchFamily="18" charset="0"/>
                          </a:rPr>
                        </m:ctrlPr>
                      </m:sSubPr>
                      <m:e>
                        <m:r>
                          <m:rPr>
                            <m:sty m:val="p"/>
                          </m:rPr>
                          <a:rPr lang="en-US" altLang="en-US" sz="2000" b="0" i="0" smtClean="0">
                            <a:solidFill>
                              <a:schemeClr val="tx1"/>
                            </a:solidFill>
                            <a:latin typeface="Cambria Math" panose="02040503050406030204" pitchFamily="18" charset="0"/>
                          </a:rPr>
                          <m:t>Q</m:t>
                        </m:r>
                      </m:e>
                      <m:sub>
                        <m:r>
                          <m:rPr>
                            <m:sty m:val="p"/>
                          </m:rPr>
                          <a:rPr lang="en-US" altLang="en-US" sz="2000" b="0" i="0" smtClean="0">
                            <a:solidFill>
                              <a:schemeClr val="tx1"/>
                            </a:solidFill>
                            <a:latin typeface="Cambria Math" panose="02040503050406030204" pitchFamily="18" charset="0"/>
                          </a:rPr>
                          <m:t>p</m:t>
                        </m:r>
                      </m:sub>
                    </m:sSub>
                    <m:r>
                      <a:rPr lang="en-US" altLang="en-US" sz="2000" b="0" i="1" smtClean="0">
                        <a:solidFill>
                          <a:schemeClr val="tx1"/>
                        </a:solidFill>
                        <a:latin typeface="Cambria Math" panose="02040503050406030204" pitchFamily="18" charset="0"/>
                      </a:rPr>
                      <m:t>= </m:t>
                    </m:r>
                    <m:rad>
                      <m:radPr>
                        <m:degHide m:val="on"/>
                        <m:ctrlPr>
                          <a:rPr lang="en-US" altLang="en-US" sz="2000" i="1" smtClean="0">
                            <a:solidFill>
                              <a:schemeClr val="tx1"/>
                            </a:solidFill>
                            <a:latin typeface="Cambria Math" panose="02040503050406030204" pitchFamily="18" charset="0"/>
                          </a:rPr>
                        </m:ctrlPr>
                      </m:radPr>
                      <m:deg/>
                      <m:e>
                        <m:f>
                          <m:fPr>
                            <m:ctrlPr>
                              <a:rPr lang="en-US" altLang="en-US" sz="2000" i="1" smtClean="0">
                                <a:solidFill>
                                  <a:schemeClr val="tx1"/>
                                </a:solidFill>
                                <a:latin typeface="Cambria Math" panose="02040503050406030204" pitchFamily="18" charset="0"/>
                              </a:rPr>
                            </m:ctrlPr>
                          </m:fPr>
                          <m:num>
                            <m:r>
                              <a:rPr lang="en-US" altLang="en-US" sz="2000" b="0" i="0" smtClean="0">
                                <a:solidFill>
                                  <a:schemeClr val="tx1"/>
                                </a:solidFill>
                                <a:latin typeface="Cambria Math" panose="02040503050406030204" pitchFamily="18" charset="0"/>
                              </a:rPr>
                              <m:t>2</m:t>
                            </m:r>
                            <m:r>
                              <m:rPr>
                                <m:sty m:val="p"/>
                              </m:rPr>
                              <a:rPr lang="en-US" altLang="en-US" sz="2000" b="0" i="0" smtClean="0">
                                <a:solidFill>
                                  <a:schemeClr val="tx1"/>
                                </a:solidFill>
                                <a:latin typeface="Cambria Math" panose="02040503050406030204" pitchFamily="18" charset="0"/>
                              </a:rPr>
                              <m:t>DS</m:t>
                            </m:r>
                          </m:num>
                          <m:den>
                            <m:r>
                              <m:rPr>
                                <m:sty m:val="p"/>
                              </m:rPr>
                              <a:rPr lang="en-US" altLang="en-US" sz="2000" b="0" i="0" smtClean="0">
                                <a:solidFill>
                                  <a:schemeClr val="tx1"/>
                                </a:solidFill>
                                <a:latin typeface="Cambria Math" panose="02040503050406030204" pitchFamily="18" charset="0"/>
                              </a:rPr>
                              <m:t>H</m:t>
                            </m:r>
                          </m:den>
                        </m:f>
                      </m:e>
                    </m:rad>
                    <m:rad>
                      <m:radPr>
                        <m:degHide m:val="on"/>
                        <m:ctrlPr>
                          <a:rPr lang="en-US" altLang="en-US" sz="2000" i="1" dirty="0" smtClean="0">
                            <a:solidFill>
                              <a:schemeClr val="tx1"/>
                            </a:solidFill>
                            <a:latin typeface="Cambria Math" panose="02040503050406030204" pitchFamily="18" charset="0"/>
                            <a:ea typeface="Cambria Math" panose="02040503050406030204" pitchFamily="18" charset="0"/>
                          </a:rPr>
                        </m:ctrlPr>
                      </m:radPr>
                      <m:deg/>
                      <m:e>
                        <m:f>
                          <m:fPr>
                            <m:ctrlPr>
                              <a:rPr lang="en-US" altLang="en-US" sz="2000" i="1" dirty="0" smtClean="0">
                                <a:solidFill>
                                  <a:schemeClr val="tx1"/>
                                </a:solidFill>
                                <a:latin typeface="Cambria Math" panose="02040503050406030204" pitchFamily="18" charset="0"/>
                                <a:ea typeface="Cambria Math" panose="02040503050406030204" pitchFamily="18" charset="0"/>
                              </a:rPr>
                            </m:ctrlPr>
                          </m:fPr>
                          <m:num>
                            <m:r>
                              <m:rPr>
                                <m:sty m:val="p"/>
                              </m:rPr>
                              <a:rPr lang="en-US" altLang="en-US" sz="2000" b="0" i="0" dirty="0" smtClean="0">
                                <a:solidFill>
                                  <a:schemeClr val="tx1"/>
                                </a:solidFill>
                                <a:latin typeface="Cambria Math" panose="02040503050406030204" pitchFamily="18" charset="0"/>
                                <a:ea typeface="Cambria Math" panose="02040503050406030204" pitchFamily="18" charset="0"/>
                              </a:rPr>
                              <m:t>p</m:t>
                            </m:r>
                          </m:num>
                          <m:den>
                            <m:r>
                              <m:rPr>
                                <m:sty m:val="p"/>
                              </m:rPr>
                              <a:rPr lang="en-US" altLang="en-US" sz="2000" b="0" i="0" dirty="0" smtClean="0">
                                <a:solidFill>
                                  <a:schemeClr val="tx1"/>
                                </a:solidFill>
                                <a:latin typeface="Cambria Math" panose="02040503050406030204" pitchFamily="18" charset="0"/>
                                <a:ea typeface="Cambria Math" panose="02040503050406030204" pitchFamily="18" charset="0"/>
                              </a:rPr>
                              <m:t>p</m:t>
                            </m:r>
                            <m:r>
                              <a:rPr lang="en-US" altLang="en-US" sz="2000" b="0" i="0" dirty="0" smtClean="0">
                                <a:solidFill>
                                  <a:schemeClr val="tx1"/>
                                </a:solidFill>
                                <a:latin typeface="Cambria Math" panose="02040503050406030204" pitchFamily="18" charset="0"/>
                                <a:ea typeface="Cambria Math" panose="02040503050406030204" pitchFamily="18" charset="0"/>
                              </a:rPr>
                              <m:t>−</m:t>
                            </m:r>
                            <m:r>
                              <m:rPr>
                                <m:sty m:val="p"/>
                              </m:rPr>
                              <a:rPr lang="en-US" altLang="en-US" sz="2000" b="0" i="0" dirty="0" smtClean="0">
                                <a:solidFill>
                                  <a:schemeClr val="tx1"/>
                                </a:solidFill>
                                <a:latin typeface="Cambria Math" panose="02040503050406030204" pitchFamily="18" charset="0"/>
                                <a:ea typeface="Cambria Math" panose="02040503050406030204" pitchFamily="18" charset="0"/>
                              </a:rPr>
                              <m:t>d</m:t>
                            </m:r>
                          </m:den>
                        </m:f>
                      </m:e>
                    </m:rad>
                    <m:r>
                      <a:rPr lang="en-US" altLang="en-US" sz="2000" b="0" i="1" smtClean="0">
                        <a:solidFill>
                          <a:schemeClr val="tx1"/>
                        </a:solidFill>
                        <a:latin typeface="Cambria Math" panose="02040503050406030204" pitchFamily="18" charset="0"/>
                      </a:rPr>
                      <m:t>=</m:t>
                    </m:r>
                    <m:rad>
                      <m:radPr>
                        <m:degHide m:val="on"/>
                        <m:ctrlPr>
                          <a:rPr lang="en-US" altLang="en-US" sz="2000" i="1" smtClean="0">
                            <a:solidFill>
                              <a:schemeClr val="tx1"/>
                            </a:solidFill>
                            <a:latin typeface="Cambria Math" panose="02040503050406030204" pitchFamily="18" charset="0"/>
                          </a:rPr>
                        </m:ctrlPr>
                      </m:radPr>
                      <m:deg/>
                      <m:e>
                        <m:f>
                          <m:fPr>
                            <m:ctrlPr>
                              <a:rPr lang="en-US" altLang="en-US" sz="2000" i="1" smtClean="0">
                                <a:solidFill>
                                  <a:schemeClr val="tx1"/>
                                </a:solidFill>
                                <a:latin typeface="Cambria Math" panose="02040503050406030204" pitchFamily="18" charset="0"/>
                              </a:rPr>
                            </m:ctrlPr>
                          </m:fPr>
                          <m:num>
                            <m:r>
                              <a:rPr lang="en-US" altLang="en-US" sz="2000" b="0" i="1" smtClean="0">
                                <a:solidFill>
                                  <a:schemeClr val="tx1"/>
                                </a:solidFill>
                                <a:latin typeface="Cambria Math" panose="02040503050406030204" pitchFamily="18" charset="0"/>
                              </a:rPr>
                              <m:t>2</m:t>
                            </m:r>
                            <m:r>
                              <a:rPr lang="en-US" altLang="en-US" sz="2000" b="0" i="1" smtClean="0">
                                <a:solidFill>
                                  <a:schemeClr val="tx1"/>
                                </a:solidFill>
                                <a:latin typeface="Cambria Math" panose="02040503050406030204" pitchFamily="18" charset="0"/>
                                <a:ea typeface="Cambria Math" panose="02040503050406030204" pitchFamily="18" charset="0"/>
                              </a:rPr>
                              <m:t>×48,000×45</m:t>
                            </m:r>
                          </m:num>
                          <m:den>
                            <m:r>
                              <a:rPr lang="en-US" altLang="en-US" sz="2000" b="0" i="1" smtClean="0">
                                <a:solidFill>
                                  <a:schemeClr val="tx1"/>
                                </a:solidFill>
                                <a:latin typeface="Cambria Math" panose="02040503050406030204" pitchFamily="18" charset="0"/>
                              </a:rPr>
                              <m:t>1</m:t>
                            </m:r>
                          </m:den>
                        </m:f>
                      </m:e>
                    </m:rad>
                    <m:rad>
                      <m:radPr>
                        <m:degHide m:val="on"/>
                        <m:ctrlPr>
                          <a:rPr lang="en-US" altLang="en-US" sz="2000" i="1" dirty="0" smtClean="0">
                            <a:solidFill>
                              <a:schemeClr val="tx1"/>
                            </a:solidFill>
                            <a:latin typeface="Cambria Math" panose="02040503050406030204" pitchFamily="18" charset="0"/>
                            <a:ea typeface="Cambria Math" panose="02040503050406030204" pitchFamily="18" charset="0"/>
                          </a:rPr>
                        </m:ctrlPr>
                      </m:radPr>
                      <m:deg/>
                      <m:e>
                        <m:f>
                          <m:fPr>
                            <m:ctrlPr>
                              <a:rPr lang="en-US" altLang="en-US" sz="2000" i="1" dirty="0" smtClean="0">
                                <a:solidFill>
                                  <a:schemeClr val="tx1"/>
                                </a:solidFill>
                                <a:latin typeface="Cambria Math" panose="02040503050406030204" pitchFamily="18" charset="0"/>
                                <a:ea typeface="Cambria Math" panose="02040503050406030204" pitchFamily="18" charset="0"/>
                              </a:rPr>
                            </m:ctrlPr>
                          </m:fPr>
                          <m:num>
                            <m:r>
                              <a:rPr lang="en-US" altLang="en-US" sz="2000" b="0" i="0" dirty="0" smtClean="0">
                                <a:solidFill>
                                  <a:schemeClr val="tx1"/>
                                </a:solidFill>
                                <a:latin typeface="Cambria Math" panose="02040503050406030204" pitchFamily="18" charset="0"/>
                                <a:ea typeface="Cambria Math" panose="02040503050406030204" pitchFamily="18" charset="0"/>
                              </a:rPr>
                              <m:t>800</m:t>
                            </m:r>
                          </m:num>
                          <m:den>
                            <m:r>
                              <a:rPr lang="en-US" altLang="en-US" sz="2000" b="0" i="0" dirty="0" smtClean="0">
                                <a:solidFill>
                                  <a:schemeClr val="tx1"/>
                                </a:solidFill>
                                <a:latin typeface="Cambria Math" panose="02040503050406030204" pitchFamily="18" charset="0"/>
                                <a:ea typeface="Cambria Math" panose="02040503050406030204" pitchFamily="18" charset="0"/>
                              </a:rPr>
                              <m:t>800−200</m:t>
                            </m:r>
                          </m:den>
                        </m:f>
                      </m:e>
                    </m:rad>
                    <m:r>
                      <a:rPr lang="en-US" altLang="en-US" sz="2000" b="0" i="1" smtClean="0">
                        <a:solidFill>
                          <a:schemeClr val="tx1"/>
                        </a:solidFill>
                        <a:latin typeface="Cambria Math" panose="02040503050406030204" pitchFamily="18" charset="0"/>
                      </a:rPr>
                      <m:t>=2400</m:t>
                    </m:r>
                  </m:oMath>
                </a14:m>
                <a:r>
                  <a:rPr lang="en-US" altLang="en-US" sz="2000" dirty="0">
                    <a:solidFill>
                      <a:schemeClr val="tx1"/>
                    </a:solidFill>
                    <a:latin typeface="Candara" panose="020E0502030303020204" pitchFamily="34" charset="0"/>
                  </a:rPr>
                  <a:t> wheels</a:t>
                </a:r>
              </a:p>
              <a:p>
                <a:pPr>
                  <a:lnSpc>
                    <a:spcPct val="200000"/>
                  </a:lnSpc>
                </a:pPr>
                <a:r>
                  <a:rPr lang="en-US" altLang="en-US" sz="2000" dirty="0">
                    <a:solidFill>
                      <a:schemeClr val="tx1"/>
                    </a:solidFill>
                    <a:latin typeface="Candara" panose="020E0502030303020204" pitchFamily="34" charset="0"/>
                  </a:rPr>
                  <a:t>b. Minimum Total Cost =  Carrying cost + Setup Cost </a:t>
                </a:r>
                <a14:m>
                  <m:oMath xmlns:m="http://schemas.openxmlformats.org/officeDocument/2006/math">
                    <m:r>
                      <a:rPr lang="en-US" altLang="en-US" sz="2000" dirty="0" smtClean="0">
                        <a:solidFill>
                          <a:schemeClr val="tx1"/>
                        </a:solidFill>
                        <a:latin typeface="Cambria Math" panose="02040503050406030204" pitchFamily="18" charset="0"/>
                      </a:rPr>
                      <m:t>=</m:t>
                    </m:r>
                    <m:d>
                      <m:dPr>
                        <m:begChr m:val="["/>
                        <m:endChr m:val="]"/>
                        <m:ctrlPr>
                          <a:rPr lang="en-US" altLang="en-US" sz="2000" i="1" dirty="0" smtClean="0">
                            <a:solidFill>
                              <a:schemeClr val="tx1"/>
                            </a:solidFill>
                            <a:latin typeface="Cambria Math" panose="02040503050406030204" pitchFamily="18" charset="0"/>
                          </a:rPr>
                        </m:ctrlPr>
                      </m:dPr>
                      <m:e>
                        <m:f>
                          <m:fPr>
                            <m:ctrlPr>
                              <a:rPr lang="en-US" altLang="en-US" sz="2000" i="1" dirty="0" smtClean="0">
                                <a:solidFill>
                                  <a:schemeClr val="tx1"/>
                                </a:solidFill>
                                <a:latin typeface="Cambria Math" panose="02040503050406030204" pitchFamily="18" charset="0"/>
                              </a:rPr>
                            </m:ctrlPr>
                          </m:fPr>
                          <m:num>
                            <m:sSub>
                              <m:sSubPr>
                                <m:ctrlPr>
                                  <a:rPr lang="en-US" altLang="en-US" sz="2000" b="0" i="1" smtClean="0">
                                    <a:solidFill>
                                      <a:schemeClr val="tx1"/>
                                    </a:solidFill>
                                    <a:latin typeface="Cambria Math" panose="02040503050406030204" pitchFamily="18" charset="0"/>
                                  </a:rPr>
                                </m:ctrlPr>
                              </m:sSubPr>
                              <m:e>
                                <m:r>
                                  <m:rPr>
                                    <m:sty m:val="p"/>
                                  </m:rPr>
                                  <a:rPr lang="en-US" altLang="en-US" sz="2000" b="0" i="0" smtClean="0">
                                    <a:solidFill>
                                      <a:schemeClr val="tx1"/>
                                    </a:solidFill>
                                    <a:latin typeface="Cambria Math" panose="02040503050406030204" pitchFamily="18" charset="0"/>
                                  </a:rPr>
                                  <m:t>Q</m:t>
                                </m:r>
                              </m:e>
                              <m:sub>
                                <m:r>
                                  <m:rPr>
                                    <m:sty m:val="p"/>
                                  </m:rPr>
                                  <a:rPr lang="en-US" altLang="en-US" sz="2000" b="0" i="0" smtClean="0">
                                    <a:solidFill>
                                      <a:schemeClr val="tx1"/>
                                    </a:solidFill>
                                    <a:latin typeface="Cambria Math" panose="02040503050406030204" pitchFamily="18" charset="0"/>
                                  </a:rPr>
                                  <m:t>p</m:t>
                                </m:r>
                              </m:sub>
                            </m:sSub>
                          </m:num>
                          <m:den>
                            <m:r>
                              <a:rPr lang="en-US" altLang="en-US" sz="2000" b="0" i="1" dirty="0">
                                <a:solidFill>
                                  <a:schemeClr val="tx1"/>
                                </a:solidFill>
                                <a:latin typeface="Cambria Math" panose="02040503050406030204" pitchFamily="18" charset="0"/>
                              </a:rPr>
                              <m:t>2</m:t>
                            </m:r>
                          </m:den>
                        </m:f>
                        <m:d>
                          <m:dPr>
                            <m:ctrlPr>
                              <a:rPr lang="en-US" altLang="en-US" sz="2000" i="1" dirty="0">
                                <a:solidFill>
                                  <a:schemeClr val="tx1"/>
                                </a:solidFill>
                                <a:latin typeface="Cambria Math" panose="02040503050406030204" pitchFamily="18" charset="0"/>
                              </a:rPr>
                            </m:ctrlPr>
                          </m:dPr>
                          <m:e>
                            <m:r>
                              <a:rPr lang="en-US" altLang="en-US" sz="2000" b="0" i="1" dirty="0">
                                <a:solidFill>
                                  <a:schemeClr val="tx1"/>
                                </a:solidFill>
                                <a:latin typeface="Cambria Math" panose="02040503050406030204" pitchFamily="18" charset="0"/>
                              </a:rPr>
                              <m:t>1</m:t>
                            </m:r>
                            <m:r>
                              <a:rPr lang="en-US" altLang="en-US" sz="2000" b="0" dirty="0">
                                <a:solidFill>
                                  <a:schemeClr val="tx1"/>
                                </a:solidFill>
                                <a:latin typeface="Cambria Math" panose="02040503050406030204" pitchFamily="18" charset="0"/>
                              </a:rPr>
                              <m:t>−</m:t>
                            </m:r>
                            <m:f>
                              <m:fPr>
                                <m:ctrlPr>
                                  <a:rPr lang="en-US" altLang="en-US" sz="2000" i="1" dirty="0">
                                    <a:solidFill>
                                      <a:schemeClr val="tx1"/>
                                    </a:solidFill>
                                    <a:latin typeface="Cambria Math" panose="02040503050406030204" pitchFamily="18" charset="0"/>
                                  </a:rPr>
                                </m:ctrlPr>
                              </m:fPr>
                              <m:num>
                                <m:r>
                                  <m:rPr>
                                    <m:sty m:val="p"/>
                                  </m:rPr>
                                  <a:rPr lang="en-US" altLang="en-US" sz="2000" b="0" i="1" dirty="0">
                                    <a:solidFill>
                                      <a:schemeClr val="tx1"/>
                                    </a:solidFill>
                                    <a:latin typeface="Cambria Math" panose="02040503050406030204" pitchFamily="18" charset="0"/>
                                  </a:rPr>
                                  <m:t>d</m:t>
                                </m:r>
                              </m:num>
                              <m:den>
                                <m:r>
                                  <m:rPr>
                                    <m:sty m:val="p"/>
                                  </m:rPr>
                                  <a:rPr lang="en-US" altLang="en-US" sz="2000" b="0" i="1" dirty="0">
                                    <a:solidFill>
                                      <a:schemeClr val="tx1"/>
                                    </a:solidFill>
                                    <a:latin typeface="Cambria Math" panose="02040503050406030204" pitchFamily="18" charset="0"/>
                                  </a:rPr>
                                  <m:t>p</m:t>
                                </m:r>
                              </m:den>
                            </m:f>
                          </m:e>
                        </m:d>
                        <m:r>
                          <a:rPr lang="en-US" altLang="en-US" sz="2000" b="0" i="0" dirty="0" smtClean="0">
                            <a:solidFill>
                              <a:schemeClr val="tx1"/>
                            </a:solidFill>
                            <a:latin typeface="Cambria Math" panose="02040503050406030204" pitchFamily="18" charset="0"/>
                            <a:ea typeface="Cambria Math" panose="02040503050406030204" pitchFamily="18" charset="0"/>
                          </a:rPr>
                          <m:t>×</m:t>
                        </m:r>
                        <m:r>
                          <m:rPr>
                            <m:sty m:val="p"/>
                          </m:rPr>
                          <a:rPr lang="en-US" altLang="en-US" sz="2000" b="0" i="0" dirty="0" smtClean="0">
                            <a:solidFill>
                              <a:schemeClr val="tx1"/>
                            </a:solidFill>
                            <a:latin typeface="Cambria Math" panose="02040503050406030204" pitchFamily="18" charset="0"/>
                            <a:ea typeface="Cambria Math" panose="02040503050406030204" pitchFamily="18" charset="0"/>
                          </a:rPr>
                          <m:t>H</m:t>
                        </m:r>
                      </m:e>
                    </m:d>
                    <m:r>
                      <a:rPr lang="en-US" altLang="en-US" sz="2000" b="0" i="1" dirty="0" smtClean="0">
                        <a:solidFill>
                          <a:schemeClr val="tx1"/>
                        </a:solidFill>
                        <a:latin typeface="Cambria Math" panose="02040503050406030204" pitchFamily="18" charset="0"/>
                      </a:rPr>
                      <m:t>+</m:t>
                    </m:r>
                    <m:d>
                      <m:dPr>
                        <m:begChr m:val="["/>
                        <m:endChr m:val="]"/>
                        <m:ctrlPr>
                          <a:rPr lang="en-US" altLang="en-US" sz="2000" b="0" i="1" dirty="0" smtClean="0">
                            <a:solidFill>
                              <a:schemeClr val="tx1"/>
                            </a:solidFill>
                            <a:latin typeface="Cambria Math" panose="02040503050406030204" pitchFamily="18" charset="0"/>
                          </a:rPr>
                        </m:ctrlPr>
                      </m:dPr>
                      <m:e>
                        <m:f>
                          <m:fPr>
                            <m:ctrlPr>
                              <a:rPr lang="en-US" altLang="en-US" sz="2000" i="1" dirty="0" smtClean="0">
                                <a:solidFill>
                                  <a:schemeClr val="tx1"/>
                                </a:solidFill>
                                <a:latin typeface="Cambria Math" panose="02040503050406030204" pitchFamily="18" charset="0"/>
                              </a:rPr>
                            </m:ctrlPr>
                          </m:fPr>
                          <m:num>
                            <m:r>
                              <m:rPr>
                                <m:sty m:val="p"/>
                              </m:rPr>
                              <a:rPr lang="en-US" altLang="en-US" sz="2000" b="0" i="0" dirty="0" smtClean="0">
                                <a:solidFill>
                                  <a:schemeClr val="tx1"/>
                                </a:solidFill>
                                <a:latin typeface="Cambria Math" panose="02040503050406030204" pitchFamily="18" charset="0"/>
                              </a:rPr>
                              <m:t>D</m:t>
                            </m:r>
                          </m:num>
                          <m:den>
                            <m:sSub>
                              <m:sSubPr>
                                <m:ctrlPr>
                                  <a:rPr lang="en-US" altLang="en-US" sz="2000" b="0" i="1" smtClean="0">
                                    <a:solidFill>
                                      <a:schemeClr val="tx1"/>
                                    </a:solidFill>
                                    <a:latin typeface="Cambria Math" panose="02040503050406030204" pitchFamily="18" charset="0"/>
                                  </a:rPr>
                                </m:ctrlPr>
                              </m:sSubPr>
                              <m:e>
                                <m:r>
                                  <m:rPr>
                                    <m:sty m:val="p"/>
                                  </m:rPr>
                                  <a:rPr lang="en-US" altLang="en-US" sz="2000" b="0" i="0" smtClean="0">
                                    <a:solidFill>
                                      <a:schemeClr val="tx1"/>
                                    </a:solidFill>
                                    <a:latin typeface="Cambria Math" panose="02040503050406030204" pitchFamily="18" charset="0"/>
                                  </a:rPr>
                                  <m:t>Q</m:t>
                                </m:r>
                              </m:e>
                              <m:sub>
                                <m:r>
                                  <m:rPr>
                                    <m:sty m:val="p"/>
                                  </m:rPr>
                                  <a:rPr lang="en-US" altLang="en-US" sz="2000" b="0" i="0" smtClean="0">
                                    <a:solidFill>
                                      <a:schemeClr val="tx1"/>
                                    </a:solidFill>
                                    <a:latin typeface="Cambria Math" panose="02040503050406030204" pitchFamily="18" charset="0"/>
                                  </a:rPr>
                                  <m:t>p</m:t>
                                </m:r>
                              </m:sub>
                            </m:sSub>
                          </m:den>
                        </m:f>
                        <m:r>
                          <a:rPr lang="en-US" altLang="en-US" sz="2000" b="0" i="0" dirty="0" smtClean="0">
                            <a:solidFill>
                              <a:schemeClr val="tx1"/>
                            </a:solidFill>
                            <a:latin typeface="Cambria Math" panose="02040503050406030204" pitchFamily="18" charset="0"/>
                            <a:ea typeface="Cambria Math" panose="02040503050406030204" pitchFamily="18" charset="0"/>
                          </a:rPr>
                          <m:t>×</m:t>
                        </m:r>
                        <m:r>
                          <m:rPr>
                            <m:sty m:val="p"/>
                          </m:rPr>
                          <a:rPr lang="en-US" altLang="en-US" sz="2000" b="0" i="0" dirty="0" smtClean="0">
                            <a:solidFill>
                              <a:schemeClr val="tx1"/>
                            </a:solidFill>
                            <a:latin typeface="Cambria Math" panose="02040503050406030204" pitchFamily="18" charset="0"/>
                            <a:ea typeface="Cambria Math" panose="02040503050406030204" pitchFamily="18" charset="0"/>
                          </a:rPr>
                          <m:t>S</m:t>
                        </m:r>
                      </m:e>
                    </m:d>
                  </m:oMath>
                </a14:m>
                <a:endParaRPr lang="en-US" altLang="en-US" sz="2000" dirty="0">
                  <a:solidFill>
                    <a:schemeClr val="tx1"/>
                  </a:solidFill>
                  <a:latin typeface="Candara" panose="020E0502030303020204" pitchFamily="34" charset="0"/>
                </a:endParaRPr>
              </a:p>
              <a:p>
                <a:pPr>
                  <a:lnSpc>
                    <a:spcPct val="200000"/>
                  </a:lnSpc>
                </a:pPr>
                <a:r>
                  <a:rPr lang="en-US" altLang="en-US" sz="2000" dirty="0">
                    <a:solidFill>
                      <a:schemeClr val="tx1"/>
                    </a:solidFill>
                    <a:latin typeface="Candara" panose="020E0502030303020204" pitchFamily="34" charset="0"/>
                  </a:rPr>
                  <a:t>			   =</a:t>
                </a:r>
                <a:r>
                  <a:rPr lang="en-US" altLang="en-US" sz="2000" dirty="0">
                    <a:solidFill>
                      <a:schemeClr val="tx1"/>
                    </a:solidFill>
                  </a:rPr>
                  <a:t> </a:t>
                </a:r>
                <a14:m>
                  <m:oMath xmlns:m="http://schemas.openxmlformats.org/officeDocument/2006/math">
                    <m:d>
                      <m:dPr>
                        <m:begChr m:val="["/>
                        <m:endChr m:val="]"/>
                        <m:ctrlPr>
                          <a:rPr lang="en-US" altLang="en-US" sz="2000" i="1" dirty="0" smtClean="0">
                            <a:solidFill>
                              <a:schemeClr val="tx1"/>
                            </a:solidFill>
                            <a:latin typeface="Cambria Math" panose="02040503050406030204" pitchFamily="18" charset="0"/>
                          </a:rPr>
                        </m:ctrlPr>
                      </m:dPr>
                      <m:e>
                        <m:f>
                          <m:fPr>
                            <m:ctrlPr>
                              <a:rPr lang="en-US" altLang="en-US" sz="2000" i="1" dirty="0" smtClean="0">
                                <a:solidFill>
                                  <a:schemeClr val="tx1"/>
                                </a:solidFill>
                                <a:latin typeface="Cambria Math" panose="02040503050406030204" pitchFamily="18" charset="0"/>
                              </a:rPr>
                            </m:ctrlPr>
                          </m:fPr>
                          <m:num>
                            <m:r>
                              <a:rPr lang="en-US" altLang="en-US" sz="2000" b="0" i="1" dirty="0" smtClean="0">
                                <a:solidFill>
                                  <a:schemeClr val="tx1"/>
                                </a:solidFill>
                                <a:latin typeface="Cambria Math" panose="02040503050406030204" pitchFamily="18" charset="0"/>
                              </a:rPr>
                              <m:t>2400</m:t>
                            </m:r>
                          </m:num>
                          <m:den>
                            <m:r>
                              <a:rPr lang="en-US" altLang="en-US" sz="2000" b="0" i="1" dirty="0">
                                <a:solidFill>
                                  <a:schemeClr val="tx1"/>
                                </a:solidFill>
                                <a:latin typeface="Cambria Math" panose="02040503050406030204" pitchFamily="18" charset="0"/>
                              </a:rPr>
                              <m:t>2</m:t>
                            </m:r>
                          </m:den>
                        </m:f>
                        <m:d>
                          <m:dPr>
                            <m:ctrlPr>
                              <a:rPr lang="en-US" altLang="en-US" sz="2000" i="1" dirty="0">
                                <a:solidFill>
                                  <a:schemeClr val="tx1"/>
                                </a:solidFill>
                                <a:latin typeface="Cambria Math" panose="02040503050406030204" pitchFamily="18" charset="0"/>
                              </a:rPr>
                            </m:ctrlPr>
                          </m:dPr>
                          <m:e>
                            <m:r>
                              <a:rPr lang="en-US" altLang="en-US" sz="2000" b="0" i="1" dirty="0">
                                <a:solidFill>
                                  <a:schemeClr val="tx1"/>
                                </a:solidFill>
                                <a:latin typeface="Cambria Math" panose="02040503050406030204" pitchFamily="18" charset="0"/>
                              </a:rPr>
                              <m:t>1</m:t>
                            </m:r>
                            <m:r>
                              <a:rPr lang="en-US" altLang="en-US" sz="2000" b="0" dirty="0">
                                <a:solidFill>
                                  <a:schemeClr val="tx1"/>
                                </a:solidFill>
                                <a:latin typeface="Cambria Math" panose="02040503050406030204" pitchFamily="18" charset="0"/>
                              </a:rPr>
                              <m:t>−</m:t>
                            </m:r>
                            <m:f>
                              <m:fPr>
                                <m:ctrlPr>
                                  <a:rPr lang="en-US" altLang="en-US" sz="2000" i="1" dirty="0">
                                    <a:solidFill>
                                      <a:schemeClr val="tx1"/>
                                    </a:solidFill>
                                    <a:latin typeface="Cambria Math" panose="02040503050406030204" pitchFamily="18" charset="0"/>
                                  </a:rPr>
                                </m:ctrlPr>
                              </m:fPr>
                              <m:num>
                                <m:r>
                                  <a:rPr lang="en-US" altLang="en-US" sz="2000" b="0" i="1" dirty="0" smtClean="0">
                                    <a:solidFill>
                                      <a:schemeClr val="tx1"/>
                                    </a:solidFill>
                                    <a:latin typeface="Cambria Math" panose="02040503050406030204" pitchFamily="18" charset="0"/>
                                  </a:rPr>
                                  <m:t>200</m:t>
                                </m:r>
                              </m:num>
                              <m:den>
                                <m:r>
                                  <a:rPr lang="en-US" altLang="en-US" sz="2000" b="0" i="1" dirty="0" smtClean="0">
                                    <a:solidFill>
                                      <a:schemeClr val="tx1"/>
                                    </a:solidFill>
                                    <a:latin typeface="Cambria Math" panose="02040503050406030204" pitchFamily="18" charset="0"/>
                                  </a:rPr>
                                  <m:t>800</m:t>
                                </m:r>
                              </m:den>
                            </m:f>
                          </m:e>
                        </m:d>
                        <m:r>
                          <a:rPr lang="en-US" altLang="en-US" sz="2000" b="0" i="0" dirty="0" smtClean="0">
                            <a:solidFill>
                              <a:schemeClr val="tx1"/>
                            </a:solidFill>
                            <a:latin typeface="Cambria Math" panose="02040503050406030204" pitchFamily="18" charset="0"/>
                            <a:ea typeface="Cambria Math" panose="02040503050406030204" pitchFamily="18" charset="0"/>
                          </a:rPr>
                          <m:t>×</m:t>
                        </m:r>
                        <m:r>
                          <a:rPr lang="en-US" altLang="en-US" sz="2000" b="0" i="1" dirty="0" smtClean="0">
                            <a:solidFill>
                              <a:schemeClr val="tx1"/>
                            </a:solidFill>
                            <a:latin typeface="Cambria Math" panose="02040503050406030204" pitchFamily="18" charset="0"/>
                            <a:ea typeface="Cambria Math" panose="02040503050406030204" pitchFamily="18" charset="0"/>
                          </a:rPr>
                          <m:t>$1</m:t>
                        </m:r>
                      </m:e>
                    </m:d>
                    <m:r>
                      <a:rPr lang="en-US" altLang="en-US" sz="2000" b="0" i="1" dirty="0" smtClean="0">
                        <a:solidFill>
                          <a:schemeClr val="tx1"/>
                        </a:solidFill>
                        <a:latin typeface="Cambria Math" panose="02040503050406030204" pitchFamily="18" charset="0"/>
                      </a:rPr>
                      <m:t>+</m:t>
                    </m:r>
                    <m:d>
                      <m:dPr>
                        <m:begChr m:val="["/>
                        <m:endChr m:val="]"/>
                        <m:ctrlPr>
                          <a:rPr lang="en-US" altLang="en-US" sz="2000" b="0" i="1" dirty="0" smtClean="0">
                            <a:solidFill>
                              <a:schemeClr val="tx1"/>
                            </a:solidFill>
                            <a:latin typeface="Cambria Math" panose="02040503050406030204" pitchFamily="18" charset="0"/>
                          </a:rPr>
                        </m:ctrlPr>
                      </m:dPr>
                      <m:e>
                        <m:f>
                          <m:fPr>
                            <m:ctrlPr>
                              <a:rPr lang="en-US" altLang="en-US" sz="2000" i="1" dirty="0" smtClean="0">
                                <a:solidFill>
                                  <a:schemeClr val="tx1"/>
                                </a:solidFill>
                                <a:latin typeface="Cambria Math" panose="02040503050406030204" pitchFamily="18" charset="0"/>
                              </a:rPr>
                            </m:ctrlPr>
                          </m:fPr>
                          <m:num>
                            <m:r>
                              <a:rPr lang="en-US" altLang="en-US" sz="2000" b="0" i="0" dirty="0" smtClean="0">
                                <a:solidFill>
                                  <a:schemeClr val="tx1"/>
                                </a:solidFill>
                                <a:latin typeface="Cambria Math" panose="02040503050406030204" pitchFamily="18" charset="0"/>
                              </a:rPr>
                              <m:t>48,000</m:t>
                            </m:r>
                          </m:num>
                          <m:den>
                            <m:r>
                              <a:rPr lang="en-US" altLang="en-US" sz="2000" b="0" i="1" dirty="0" smtClean="0">
                                <a:solidFill>
                                  <a:schemeClr val="tx1"/>
                                </a:solidFill>
                                <a:latin typeface="Cambria Math" panose="02040503050406030204" pitchFamily="18" charset="0"/>
                              </a:rPr>
                              <m:t>2400</m:t>
                            </m:r>
                          </m:den>
                        </m:f>
                        <m:r>
                          <a:rPr lang="en-US" altLang="en-US" sz="2000" b="0" i="0" dirty="0" smtClean="0">
                            <a:solidFill>
                              <a:schemeClr val="tx1"/>
                            </a:solidFill>
                            <a:latin typeface="Cambria Math" panose="02040503050406030204" pitchFamily="18" charset="0"/>
                            <a:ea typeface="Cambria Math" panose="02040503050406030204" pitchFamily="18" charset="0"/>
                          </a:rPr>
                          <m:t>×</m:t>
                        </m:r>
                        <m:r>
                          <a:rPr lang="en-US" altLang="en-US" sz="2000" b="0" i="1" dirty="0" smtClean="0">
                            <a:solidFill>
                              <a:schemeClr val="tx1"/>
                            </a:solidFill>
                            <a:latin typeface="Cambria Math" panose="02040503050406030204" pitchFamily="18" charset="0"/>
                            <a:ea typeface="Cambria Math" panose="02040503050406030204" pitchFamily="18" charset="0"/>
                          </a:rPr>
                          <m:t>$45</m:t>
                        </m:r>
                      </m:e>
                    </m:d>
                    <m:r>
                      <a:rPr lang="en-US" altLang="en-US" sz="2000" b="0" i="1" dirty="0" smtClean="0">
                        <a:solidFill>
                          <a:schemeClr val="tx1"/>
                        </a:solidFill>
                        <a:latin typeface="Cambria Math" panose="02040503050406030204" pitchFamily="18" charset="0"/>
                        <a:ea typeface="Cambria Math" panose="02040503050406030204" pitchFamily="18" charset="0"/>
                      </a:rPr>
                      <m:t>=$900+$900=$1800</m:t>
                    </m:r>
                  </m:oMath>
                </a14:m>
                <a:r>
                  <a:rPr lang="en-US" altLang="en-US" sz="2000" dirty="0">
                    <a:solidFill>
                      <a:schemeClr val="tx1"/>
                    </a:solidFill>
                    <a:latin typeface="Candara" panose="020E0502030303020204" pitchFamily="34" charset="0"/>
                  </a:rPr>
                  <a:t> </a:t>
                </a:r>
              </a:p>
            </p:txBody>
          </p:sp>
        </mc:Choice>
        <mc:Fallback xmlns="">
          <p:sp>
            <p:nvSpPr>
              <p:cNvPr id="4" name="Rectangle 3">
                <a:extLst>
                  <a:ext uri="{FF2B5EF4-FFF2-40B4-BE49-F238E27FC236}">
                    <a16:creationId xmlns:a16="http://schemas.microsoft.com/office/drawing/2014/main" id="{41CD03C9-E10C-5A77-D8F6-3532022D1CE8}"/>
                  </a:ext>
                </a:extLst>
              </p:cNvPr>
              <p:cNvSpPr>
                <a:spLocks noRot="1" noChangeAspect="1" noMove="1" noResize="1" noEditPoints="1" noAdjustHandles="1" noChangeArrowheads="1" noChangeShapeType="1" noTextEdit="1"/>
              </p:cNvSpPr>
              <p:nvPr/>
            </p:nvSpPr>
            <p:spPr>
              <a:xfrm>
                <a:off x="365760" y="1522452"/>
                <a:ext cx="11460480" cy="5335547"/>
              </a:xfrm>
              <a:prstGeom prst="rect">
                <a:avLst/>
              </a:prstGeom>
              <a:blipFill>
                <a:blip r:embed="rId2"/>
                <a:stretch>
                  <a:fillRect l="-532" t="-68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058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500"/>
                                        <p:tgtEl>
                                          <p:spTgt spid="4">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fade">
                                      <p:cBhvr>
                                        <p:cTn id="12" dur="500"/>
                                        <p:tgtEl>
                                          <p:spTgt spid="4">
                                            <p:txEl>
                                              <p:pRg st="7" end="7"/>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Effect transition="in" filter="fade">
                                      <p:cBhvr>
                                        <p:cTn id="1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latin typeface="Candara" panose="020E0502030303020204" pitchFamily="34" charset="0"/>
              </a:rPr>
              <a:t>Solution of Example 3: EPQ</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1CD03C9-E10C-5A77-D8F6-3532022D1CE8}"/>
                  </a:ext>
                </a:extLst>
              </p:cNvPr>
              <p:cNvSpPr/>
              <p:nvPr/>
            </p:nvSpPr>
            <p:spPr>
              <a:xfrm>
                <a:off x="731520" y="1766293"/>
                <a:ext cx="10434320" cy="44516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altLang="en-US" sz="2000" dirty="0">
                    <a:solidFill>
                      <a:schemeClr val="tx1"/>
                    </a:solidFill>
                    <a:latin typeface="Candara" panose="020E0502030303020204" pitchFamily="34" charset="0"/>
                  </a:rPr>
                  <a:t>c. Cycle time </a:t>
                </a:r>
                <a14:m>
                  <m:oMath xmlns:m="http://schemas.openxmlformats.org/officeDocument/2006/math">
                    <m:r>
                      <a:rPr lang="en-US" altLang="en-US" sz="2000" b="0" i="1" smtClean="0">
                        <a:solidFill>
                          <a:schemeClr val="tx1"/>
                        </a:solidFill>
                        <a:latin typeface="Cambria Math" panose="02040503050406030204" pitchFamily="18" charset="0"/>
                      </a:rPr>
                      <m:t>=</m:t>
                    </m:r>
                    <m:f>
                      <m:fPr>
                        <m:ctrlPr>
                          <a:rPr lang="en-US" altLang="en-US" sz="2000" i="1" dirty="0" smtClean="0">
                            <a:solidFill>
                              <a:schemeClr val="tx1"/>
                            </a:solidFill>
                            <a:latin typeface="Cambria Math" panose="02040503050406030204" pitchFamily="18" charset="0"/>
                          </a:rPr>
                        </m:ctrlPr>
                      </m:fPr>
                      <m:num>
                        <m:sSub>
                          <m:sSubPr>
                            <m:ctrlPr>
                              <a:rPr lang="en-US" sz="2000" i="1" smtClean="0">
                                <a:solidFill>
                                  <a:schemeClr val="tx1"/>
                                </a:solidFill>
                                <a:latin typeface="Cambria Math" panose="02040503050406030204" pitchFamily="18" charset="0"/>
                              </a:rPr>
                            </m:ctrlPr>
                          </m:sSubPr>
                          <m:e>
                            <m:r>
                              <a:rPr lang="en-US" sz="2000" b="0" i="0" smtClean="0">
                                <a:solidFill>
                                  <a:schemeClr val="tx1"/>
                                </a:solidFill>
                                <a:latin typeface="Cambria Math" panose="02040503050406030204" pitchFamily="18" charset="0"/>
                              </a:rPr>
                              <m:t> </m:t>
                            </m:r>
                            <m:r>
                              <m:rPr>
                                <m:sty m:val="p"/>
                              </m:rPr>
                              <a:rPr lang="en-US" sz="2000" b="0" i="0" smtClean="0">
                                <a:solidFill>
                                  <a:schemeClr val="tx1"/>
                                </a:solidFill>
                                <a:latin typeface="Cambria Math" panose="02040503050406030204" pitchFamily="18" charset="0"/>
                              </a:rPr>
                              <m:t>Q</m:t>
                            </m:r>
                          </m:e>
                          <m:sub>
                            <m:r>
                              <m:rPr>
                                <m:sty m:val="p"/>
                              </m:rPr>
                              <a:rPr lang="en-US" sz="2000" b="0" i="0" smtClean="0">
                                <a:solidFill>
                                  <a:schemeClr val="tx1"/>
                                </a:solidFill>
                                <a:latin typeface="Cambria Math" panose="02040503050406030204" pitchFamily="18" charset="0"/>
                              </a:rPr>
                              <m:t>p</m:t>
                            </m:r>
                          </m:sub>
                        </m:sSub>
                      </m:num>
                      <m:den>
                        <m:r>
                          <m:rPr>
                            <m:sty m:val="p"/>
                          </m:rPr>
                          <a:rPr lang="en-US" altLang="en-US" sz="2000" b="0" i="0" dirty="0" smtClean="0">
                            <a:solidFill>
                              <a:schemeClr val="tx1"/>
                            </a:solidFill>
                            <a:latin typeface="Cambria Math" panose="02040503050406030204" pitchFamily="18" charset="0"/>
                          </a:rPr>
                          <m:t>d</m:t>
                        </m:r>
                      </m:den>
                    </m:f>
                    <m:r>
                      <a:rPr lang="en-US" altLang="en-US" sz="2000" b="0" i="1" smtClean="0">
                        <a:solidFill>
                          <a:schemeClr val="tx1"/>
                        </a:solidFill>
                        <a:latin typeface="Cambria Math" panose="02040503050406030204" pitchFamily="18" charset="0"/>
                      </a:rPr>
                      <m:t>=</m:t>
                    </m:r>
                    <m:f>
                      <m:fPr>
                        <m:ctrlPr>
                          <a:rPr lang="en-US" altLang="en-US" sz="2000" i="1" dirty="0" smtClean="0">
                            <a:solidFill>
                              <a:schemeClr val="tx1"/>
                            </a:solidFill>
                            <a:latin typeface="Cambria Math" panose="02040503050406030204" pitchFamily="18" charset="0"/>
                          </a:rPr>
                        </m:ctrlPr>
                      </m:fPr>
                      <m:num>
                        <m:r>
                          <a:rPr lang="en-US" altLang="en-US" sz="2000" b="0" i="1" dirty="0" smtClean="0">
                            <a:solidFill>
                              <a:schemeClr val="tx1"/>
                            </a:solidFill>
                            <a:latin typeface="Cambria Math" panose="02040503050406030204" pitchFamily="18" charset="0"/>
                          </a:rPr>
                          <m:t>2400</m:t>
                        </m:r>
                      </m:num>
                      <m:den>
                        <m:r>
                          <a:rPr lang="en-US" sz="2000" b="0" i="0" smtClean="0">
                            <a:solidFill>
                              <a:schemeClr val="tx1"/>
                            </a:solidFill>
                            <a:latin typeface="Cambria Math" panose="02040503050406030204" pitchFamily="18" charset="0"/>
                          </a:rPr>
                          <m:t>200</m:t>
                        </m:r>
                      </m:den>
                    </m:f>
                    <m:r>
                      <a:rPr lang="en-US" altLang="en-US" sz="2000" b="0" i="1" smtClean="0">
                        <a:solidFill>
                          <a:schemeClr val="tx1"/>
                        </a:solidFill>
                        <a:latin typeface="Cambria Math" panose="02040503050406030204" pitchFamily="18" charset="0"/>
                      </a:rPr>
                      <m:t>=12</m:t>
                    </m:r>
                  </m:oMath>
                </a14:m>
                <a:r>
                  <a:rPr lang="en-US" altLang="en-US" sz="2000" dirty="0">
                    <a:solidFill>
                      <a:schemeClr val="tx1"/>
                    </a:solidFill>
                    <a:latin typeface="Candara" panose="020E0502030303020204" pitchFamily="34" charset="0"/>
                  </a:rPr>
                  <a:t> days</a:t>
                </a:r>
              </a:p>
              <a:p>
                <a:pPr>
                  <a:lnSpc>
                    <a:spcPct val="150000"/>
                  </a:lnSpc>
                </a:pPr>
                <a:r>
                  <a:rPr lang="en-US" altLang="en-US" sz="2000" dirty="0">
                    <a:solidFill>
                      <a:schemeClr val="tx1"/>
                    </a:solidFill>
                    <a:latin typeface="Candara" panose="020E0502030303020204" pitchFamily="34" charset="0"/>
                  </a:rPr>
                  <a:t>     thus a run of wheels will be made every 12 days</a:t>
                </a:r>
              </a:p>
              <a:p>
                <a:pPr>
                  <a:lnSpc>
                    <a:spcPct val="200000"/>
                  </a:lnSpc>
                </a:pPr>
                <a:r>
                  <a:rPr lang="en-US" altLang="en-US" sz="2000" dirty="0">
                    <a:solidFill>
                      <a:schemeClr val="tx1"/>
                    </a:solidFill>
                    <a:latin typeface="Candara" panose="020E0502030303020204" pitchFamily="34" charset="0"/>
                  </a:rPr>
                  <a:t>d. Run time </a:t>
                </a:r>
                <a14:m>
                  <m:oMath xmlns:m="http://schemas.openxmlformats.org/officeDocument/2006/math">
                    <m:r>
                      <a:rPr lang="en-US" altLang="en-US" sz="2000" b="0" i="1" smtClean="0">
                        <a:solidFill>
                          <a:schemeClr val="tx1"/>
                        </a:solidFill>
                        <a:latin typeface="Cambria Math" panose="02040503050406030204" pitchFamily="18" charset="0"/>
                      </a:rPr>
                      <m:t>=</m:t>
                    </m:r>
                    <m:f>
                      <m:fPr>
                        <m:ctrlPr>
                          <a:rPr lang="en-US" altLang="en-US" sz="2000" i="1" dirty="0" smtClean="0">
                            <a:solidFill>
                              <a:schemeClr val="tx1"/>
                            </a:solidFill>
                            <a:latin typeface="Cambria Math" panose="02040503050406030204" pitchFamily="18" charset="0"/>
                          </a:rPr>
                        </m:ctrlPr>
                      </m:fPr>
                      <m:num>
                        <m:sSub>
                          <m:sSubPr>
                            <m:ctrlPr>
                              <a:rPr lang="en-US" sz="2000" i="1" smtClean="0">
                                <a:solidFill>
                                  <a:schemeClr val="tx1"/>
                                </a:solidFill>
                                <a:latin typeface="Cambria Math" panose="02040503050406030204" pitchFamily="18" charset="0"/>
                              </a:rPr>
                            </m:ctrlPr>
                          </m:sSubPr>
                          <m:e>
                            <m:r>
                              <a:rPr lang="en-US" sz="2000" b="0" i="0" smtClean="0">
                                <a:solidFill>
                                  <a:schemeClr val="tx1"/>
                                </a:solidFill>
                                <a:latin typeface="Cambria Math" panose="02040503050406030204" pitchFamily="18" charset="0"/>
                              </a:rPr>
                              <m:t> </m:t>
                            </m:r>
                            <m:r>
                              <m:rPr>
                                <m:sty m:val="p"/>
                              </m:rPr>
                              <a:rPr lang="en-US" sz="2000" b="0" i="0" smtClean="0">
                                <a:solidFill>
                                  <a:schemeClr val="tx1"/>
                                </a:solidFill>
                                <a:latin typeface="Cambria Math" panose="02040503050406030204" pitchFamily="18" charset="0"/>
                              </a:rPr>
                              <m:t>Q</m:t>
                            </m:r>
                          </m:e>
                          <m:sub>
                            <m:r>
                              <m:rPr>
                                <m:sty m:val="p"/>
                              </m:rPr>
                              <a:rPr lang="en-US" sz="2000" b="0" i="0" smtClean="0">
                                <a:solidFill>
                                  <a:schemeClr val="tx1"/>
                                </a:solidFill>
                                <a:latin typeface="Cambria Math" panose="02040503050406030204" pitchFamily="18" charset="0"/>
                              </a:rPr>
                              <m:t>p</m:t>
                            </m:r>
                          </m:sub>
                        </m:sSub>
                      </m:num>
                      <m:den>
                        <m:r>
                          <m:rPr>
                            <m:sty m:val="p"/>
                          </m:rPr>
                          <a:rPr lang="en-US" sz="2000" b="0" i="0" smtClean="0">
                            <a:solidFill>
                              <a:schemeClr val="tx1"/>
                            </a:solidFill>
                            <a:latin typeface="Cambria Math" panose="02040503050406030204" pitchFamily="18" charset="0"/>
                          </a:rPr>
                          <m:t>p</m:t>
                        </m:r>
                      </m:den>
                    </m:f>
                    <m:r>
                      <a:rPr lang="en-US" altLang="en-US" sz="2000" b="0" i="1" smtClean="0">
                        <a:solidFill>
                          <a:schemeClr val="tx1"/>
                        </a:solidFill>
                        <a:latin typeface="Cambria Math" panose="02040503050406030204" pitchFamily="18" charset="0"/>
                      </a:rPr>
                      <m:t>=</m:t>
                    </m:r>
                    <m:f>
                      <m:fPr>
                        <m:ctrlPr>
                          <a:rPr lang="en-US" altLang="en-US" sz="2000" i="1" dirty="0" smtClean="0">
                            <a:solidFill>
                              <a:schemeClr val="tx1"/>
                            </a:solidFill>
                            <a:latin typeface="Cambria Math" panose="02040503050406030204" pitchFamily="18" charset="0"/>
                          </a:rPr>
                        </m:ctrlPr>
                      </m:fPr>
                      <m:num>
                        <m:r>
                          <a:rPr lang="en-US" altLang="en-US" sz="2000" b="0" i="1" dirty="0" smtClean="0">
                            <a:solidFill>
                              <a:schemeClr val="tx1"/>
                            </a:solidFill>
                            <a:latin typeface="Cambria Math" panose="02040503050406030204" pitchFamily="18" charset="0"/>
                          </a:rPr>
                          <m:t>2400</m:t>
                        </m:r>
                      </m:num>
                      <m:den>
                        <m:r>
                          <a:rPr lang="en-US" altLang="en-US" sz="2000" b="0" i="0" dirty="0" smtClean="0">
                            <a:solidFill>
                              <a:schemeClr val="tx1"/>
                            </a:solidFill>
                            <a:latin typeface="Cambria Math" panose="02040503050406030204" pitchFamily="18" charset="0"/>
                          </a:rPr>
                          <m:t>8</m:t>
                        </m:r>
                        <m:r>
                          <a:rPr lang="en-US" sz="2000" b="0" i="0" smtClean="0">
                            <a:solidFill>
                              <a:schemeClr val="tx1"/>
                            </a:solidFill>
                            <a:latin typeface="Cambria Math" panose="02040503050406030204" pitchFamily="18" charset="0"/>
                          </a:rPr>
                          <m:t>00</m:t>
                        </m:r>
                      </m:den>
                    </m:f>
                    <m:r>
                      <a:rPr lang="en-US" altLang="en-US" sz="2000" b="0" i="1" smtClean="0">
                        <a:solidFill>
                          <a:schemeClr val="tx1"/>
                        </a:solidFill>
                        <a:latin typeface="Cambria Math" panose="02040503050406030204" pitchFamily="18" charset="0"/>
                      </a:rPr>
                      <m:t>=3</m:t>
                    </m:r>
                  </m:oMath>
                </a14:m>
                <a:r>
                  <a:rPr lang="en-US" altLang="en-US" sz="2000" dirty="0">
                    <a:solidFill>
                      <a:schemeClr val="tx1"/>
                    </a:solidFill>
                    <a:latin typeface="Candara" panose="020E0502030303020204" pitchFamily="34" charset="0"/>
                  </a:rPr>
                  <a:t> days</a:t>
                </a:r>
              </a:p>
              <a:p>
                <a:pPr>
                  <a:lnSpc>
                    <a:spcPct val="200000"/>
                  </a:lnSpc>
                </a:pPr>
                <a:r>
                  <a:rPr lang="en-US" altLang="en-US" sz="2000" dirty="0">
                    <a:solidFill>
                      <a:schemeClr val="tx1"/>
                    </a:solidFill>
                    <a:latin typeface="Candara" panose="020E0502030303020204" pitchFamily="34" charset="0"/>
                  </a:rPr>
                  <a:t>     thus each run will require three days to complete</a:t>
                </a:r>
              </a:p>
              <a:p>
                <a:pPr>
                  <a:lnSpc>
                    <a:spcPct val="200000"/>
                  </a:lnSpc>
                </a:pPr>
                <a:r>
                  <a:rPr lang="en-US" altLang="en-US" sz="2000" dirty="0">
                    <a:solidFill>
                      <a:schemeClr val="tx1"/>
                    </a:solidFill>
                    <a:latin typeface="Candara" panose="020E0502030303020204" pitchFamily="34" charset="0"/>
                  </a:rPr>
                  <a:t>			</a:t>
                </a:r>
              </a:p>
            </p:txBody>
          </p:sp>
        </mc:Choice>
        <mc:Fallback xmlns="">
          <p:sp>
            <p:nvSpPr>
              <p:cNvPr id="4" name="Rectangle 3">
                <a:extLst>
                  <a:ext uri="{FF2B5EF4-FFF2-40B4-BE49-F238E27FC236}">
                    <a16:creationId xmlns:a16="http://schemas.microsoft.com/office/drawing/2014/main" id="{41CD03C9-E10C-5A77-D8F6-3532022D1CE8}"/>
                  </a:ext>
                </a:extLst>
              </p:cNvPr>
              <p:cNvSpPr>
                <a:spLocks noRot="1" noChangeAspect="1" noMove="1" noResize="1" noEditPoints="1" noAdjustHandles="1" noChangeArrowheads="1" noChangeShapeType="1" noTextEdit="1"/>
              </p:cNvSpPr>
              <p:nvPr/>
            </p:nvSpPr>
            <p:spPr>
              <a:xfrm>
                <a:off x="731520" y="1766293"/>
                <a:ext cx="10434320" cy="4451628"/>
              </a:xfrm>
              <a:prstGeom prst="rect">
                <a:avLst/>
              </a:prstGeom>
              <a:blipFill>
                <a:blip r:embed="rId2"/>
                <a:stretch>
                  <a:fillRect l="-58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7466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2000"/>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219D0D-5A99-0D4C-2A01-FF4BFE5C37E1}"/>
              </a:ext>
            </a:extLst>
          </p:cNvPr>
          <p:cNvSpPr/>
          <p:nvPr/>
        </p:nvSpPr>
        <p:spPr>
          <a:xfrm>
            <a:off x="6827520" y="1"/>
            <a:ext cx="5212080" cy="838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4400" b="1" dirty="0">
                <a:solidFill>
                  <a:schemeClr val="tx1"/>
                </a:solidFill>
                <a:latin typeface="Candara" panose="020E0502030303020204" pitchFamily="34" charset="0"/>
              </a:rPr>
              <a:t>Reorder Point (ROP)</a:t>
            </a:r>
          </a:p>
        </p:txBody>
      </p:sp>
      <p:sp>
        <p:nvSpPr>
          <p:cNvPr id="3" name="Rectangle 2">
            <a:extLst>
              <a:ext uri="{FF2B5EF4-FFF2-40B4-BE49-F238E27FC236}">
                <a16:creationId xmlns:a16="http://schemas.microsoft.com/office/drawing/2014/main" id="{AFB7CF51-9570-AAAD-7512-FF188F7CFEFA}"/>
              </a:ext>
            </a:extLst>
          </p:cNvPr>
          <p:cNvSpPr/>
          <p:nvPr/>
        </p:nvSpPr>
        <p:spPr>
          <a:xfrm>
            <a:off x="137160" y="5516880"/>
            <a:ext cx="12054840" cy="13411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Candara" panose="020E0502030303020204" pitchFamily="34" charset="0"/>
              </a:rPr>
              <a:t>When the quantity on hand of an item drops to ROP amount, </a:t>
            </a:r>
          </a:p>
          <a:p>
            <a:r>
              <a:rPr lang="en-US" sz="2800" b="1" dirty="0">
                <a:solidFill>
                  <a:schemeClr val="tx1"/>
                </a:solidFill>
                <a:latin typeface="Candara" panose="020E0502030303020204" pitchFamily="34" charset="0"/>
              </a:rPr>
              <a:t>the item is reordered</a:t>
            </a:r>
          </a:p>
        </p:txBody>
      </p:sp>
    </p:spTree>
    <p:extLst>
      <p:ext uri="{BB962C8B-B14F-4D97-AF65-F5344CB8AC3E}">
        <p14:creationId xmlns:p14="http://schemas.microsoft.com/office/powerpoint/2010/main" val="175609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a:extLst>
              <a:ext uri="{FF2B5EF4-FFF2-40B4-BE49-F238E27FC236}">
                <a16:creationId xmlns:a16="http://schemas.microsoft.com/office/drawing/2014/main" id="{CFE84107-9EB3-517B-B9AE-106D97B91C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D70F2A0-FDA2-4F08-96E8-AA1F4634751C}" type="slidenum">
              <a:rPr lang="en-US" altLang="en-US">
                <a:solidFill>
                  <a:schemeClr val="tx2"/>
                </a:solidFill>
              </a:rPr>
              <a:pPr/>
              <a:t>37</a:t>
            </a:fld>
            <a:endParaRPr lang="en-US" altLang="en-US">
              <a:solidFill>
                <a:schemeClr val="tx2"/>
              </a:solidFill>
            </a:endParaRPr>
          </a:p>
        </p:txBody>
      </p:sp>
      <p:sp>
        <p:nvSpPr>
          <p:cNvPr id="2" name="Rectangle 1">
            <a:extLst>
              <a:ext uri="{FF2B5EF4-FFF2-40B4-BE49-F238E27FC236}">
                <a16:creationId xmlns:a16="http://schemas.microsoft.com/office/drawing/2014/main" id="{AC60273C-9EDB-F263-3AE8-2246872C8CED}"/>
              </a:ext>
            </a:extLst>
          </p:cNvPr>
          <p:cNvSpPr/>
          <p:nvPr/>
        </p:nvSpPr>
        <p:spPr>
          <a:xfrm>
            <a:off x="0" y="0"/>
            <a:ext cx="4221480"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chemeClr val="bg1"/>
                </a:solidFill>
                <a:latin typeface="Candara" panose="020E0502030303020204" pitchFamily="34" charset="0"/>
              </a:rPr>
              <a:t>Determinants </a:t>
            </a:r>
          </a:p>
          <a:p>
            <a:pPr algn="ctr"/>
            <a:r>
              <a:rPr lang="en-US" altLang="en-US" sz="4400" b="1" dirty="0">
                <a:solidFill>
                  <a:schemeClr val="bg1"/>
                </a:solidFill>
                <a:latin typeface="Candara" panose="020E0502030303020204" pitchFamily="34" charset="0"/>
              </a:rPr>
              <a:t>of the </a:t>
            </a:r>
          </a:p>
          <a:p>
            <a:pPr algn="ctr"/>
            <a:r>
              <a:rPr lang="en-US" altLang="en-US" sz="4400" b="1" dirty="0">
                <a:solidFill>
                  <a:schemeClr val="bg1"/>
                </a:solidFill>
                <a:latin typeface="Candara" panose="020E0502030303020204" pitchFamily="34" charset="0"/>
              </a:rPr>
              <a:t>Reorder Point</a:t>
            </a:r>
          </a:p>
        </p:txBody>
      </p:sp>
      <p:sp>
        <p:nvSpPr>
          <p:cNvPr id="3" name="Rectangle 2">
            <a:extLst>
              <a:ext uri="{FF2B5EF4-FFF2-40B4-BE49-F238E27FC236}">
                <a16:creationId xmlns:a16="http://schemas.microsoft.com/office/drawing/2014/main" id="{E5DA8DA8-6CD8-ED5B-5EF2-CDAEFC82E66A}"/>
              </a:ext>
            </a:extLst>
          </p:cNvPr>
          <p:cNvSpPr/>
          <p:nvPr/>
        </p:nvSpPr>
        <p:spPr>
          <a:xfrm>
            <a:off x="4465320" y="499745"/>
            <a:ext cx="7726680" cy="58585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nSpc>
                <a:spcPct val="150000"/>
              </a:lnSpc>
              <a:buFont typeface="+mj-lt"/>
              <a:buAutoNum type="arabicPeriod"/>
            </a:pPr>
            <a:r>
              <a:rPr lang="en-US" sz="3200" dirty="0">
                <a:solidFill>
                  <a:schemeClr val="tx1"/>
                </a:solidFill>
                <a:latin typeface="Candara" panose="020E0502030303020204" pitchFamily="34" charset="0"/>
              </a:rPr>
              <a:t>The rate of demand</a:t>
            </a:r>
          </a:p>
          <a:p>
            <a:pPr marL="514350" indent="-514350">
              <a:lnSpc>
                <a:spcPct val="150000"/>
              </a:lnSpc>
              <a:buFont typeface="+mj-lt"/>
              <a:buAutoNum type="arabicPeriod"/>
            </a:pPr>
            <a:r>
              <a:rPr lang="en-US" sz="3200" dirty="0">
                <a:solidFill>
                  <a:schemeClr val="tx1"/>
                </a:solidFill>
                <a:latin typeface="Candara" panose="020E0502030303020204" pitchFamily="34" charset="0"/>
              </a:rPr>
              <a:t>The lead time</a:t>
            </a:r>
          </a:p>
          <a:p>
            <a:pPr marL="514350" indent="-514350">
              <a:lnSpc>
                <a:spcPct val="150000"/>
              </a:lnSpc>
              <a:buFont typeface="+mj-lt"/>
              <a:buAutoNum type="arabicPeriod"/>
            </a:pPr>
            <a:r>
              <a:rPr lang="en-US" sz="3200" dirty="0">
                <a:solidFill>
                  <a:schemeClr val="tx1"/>
                </a:solidFill>
                <a:latin typeface="Candara" panose="020E0502030303020204" pitchFamily="34" charset="0"/>
              </a:rPr>
              <a:t>The extent of demand and/or lead time variability</a:t>
            </a:r>
          </a:p>
          <a:p>
            <a:pPr marL="514350" indent="-514350">
              <a:lnSpc>
                <a:spcPct val="150000"/>
              </a:lnSpc>
              <a:buFont typeface="+mj-lt"/>
              <a:buAutoNum type="arabicPeriod"/>
            </a:pPr>
            <a:r>
              <a:rPr lang="en-US" sz="3200" dirty="0">
                <a:solidFill>
                  <a:schemeClr val="tx1"/>
                </a:solidFill>
                <a:latin typeface="Candara" panose="020E0502030303020204" pitchFamily="34" charset="0"/>
              </a:rPr>
              <a:t>The degree of stockout risk acceptable to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2B84B0-ACBD-8A9B-2AE3-E0EA8599BF70}"/>
              </a:ext>
            </a:extLst>
          </p:cNvPr>
          <p:cNvSpPr/>
          <p:nvPr/>
        </p:nvSpPr>
        <p:spPr>
          <a:xfrm>
            <a:off x="0" y="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Reorder Point Under Certainty</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92D29FE-D1D7-86BC-D79D-363D57BF084B}"/>
                  </a:ext>
                </a:extLst>
              </p:cNvPr>
              <p:cNvSpPr/>
              <p:nvPr/>
            </p:nvSpPr>
            <p:spPr>
              <a:xfrm>
                <a:off x="543498" y="2600863"/>
                <a:ext cx="4978712" cy="19048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latin typeface="Candara" panose="020E0502030303020204" pitchFamily="34" charset="0"/>
                    <a:ea typeface="Cambria Math" panose="02040503050406030204" pitchFamily="18" charset="0"/>
                  </a:rPr>
                  <a:t>Reorder Point, ROP </a:t>
                </a:r>
                <a14:m>
                  <m:oMath xmlns:m="http://schemas.openxmlformats.org/officeDocument/2006/math">
                    <m:r>
                      <a:rPr lang="en-US" sz="2400" b="1" i="0" smtClean="0">
                        <a:solidFill>
                          <a:schemeClr val="tx1"/>
                        </a:solidFill>
                        <a:latin typeface="Cambria Math" panose="02040503050406030204" pitchFamily="18" charset="0"/>
                        <a:ea typeface="Cambria Math" panose="02040503050406030204" pitchFamily="18" charset="0"/>
                      </a:rPr>
                      <m:t>=</m:t>
                    </m:r>
                    <m:r>
                      <a:rPr lang="en-US" sz="2400" b="1" i="0" smtClean="0">
                        <a:solidFill>
                          <a:schemeClr val="tx1"/>
                        </a:solidFill>
                        <a:latin typeface="Cambria Math" panose="02040503050406030204" pitchFamily="18" charset="0"/>
                        <a:ea typeface="Cambria Math" panose="02040503050406030204" pitchFamily="18" charset="0"/>
                      </a:rPr>
                      <m:t>𝐝</m:t>
                    </m:r>
                    <m:r>
                      <a:rPr lang="en-US" sz="2400" b="1" i="0" smtClean="0">
                        <a:solidFill>
                          <a:schemeClr val="tx1"/>
                        </a:solidFill>
                        <a:latin typeface="Cambria Math" panose="02040503050406030204" pitchFamily="18" charset="0"/>
                        <a:ea typeface="Cambria Math" panose="02040503050406030204" pitchFamily="18" charset="0"/>
                      </a:rPr>
                      <m:t>×</m:t>
                    </m:r>
                    <m:r>
                      <a:rPr lang="en-US" sz="2400" b="1" i="0" smtClean="0">
                        <a:solidFill>
                          <a:schemeClr val="tx1"/>
                        </a:solidFill>
                        <a:latin typeface="Cambria Math" panose="02040503050406030204" pitchFamily="18" charset="0"/>
                        <a:ea typeface="Cambria Math" panose="02040503050406030204" pitchFamily="18" charset="0"/>
                      </a:rPr>
                      <m:t>𝐋𝐓</m:t>
                    </m:r>
                  </m:oMath>
                </a14:m>
                <a:endParaRPr lang="en-US" sz="2400" b="1" dirty="0">
                  <a:solidFill>
                    <a:schemeClr val="tx1"/>
                  </a:solidFill>
                  <a:latin typeface="Candara" panose="020E0502030303020204" pitchFamily="34" charset="0"/>
                </a:endParaRPr>
              </a:p>
              <a:p>
                <a:pPr>
                  <a:lnSpc>
                    <a:spcPct val="150000"/>
                  </a:lnSpc>
                </a:pPr>
                <a:r>
                  <a:rPr lang="en-US" sz="2400" dirty="0">
                    <a:solidFill>
                      <a:schemeClr val="tx1"/>
                    </a:solidFill>
                    <a:latin typeface="Candara" panose="020E0502030303020204" pitchFamily="34" charset="0"/>
                  </a:rPr>
                  <a:t>d = Demand rate (units per period)</a:t>
                </a:r>
              </a:p>
              <a:p>
                <a:pPr>
                  <a:lnSpc>
                    <a:spcPct val="150000"/>
                  </a:lnSpc>
                </a:pPr>
                <a:r>
                  <a:rPr lang="en-US" sz="2400" dirty="0">
                    <a:solidFill>
                      <a:schemeClr val="tx1"/>
                    </a:solidFill>
                    <a:latin typeface="Candara" panose="020E0502030303020204" pitchFamily="34" charset="0"/>
                  </a:rPr>
                  <a:t>LT = Lead time (same time unit as d)</a:t>
                </a:r>
              </a:p>
            </p:txBody>
          </p:sp>
        </mc:Choice>
        <mc:Fallback xmlns="">
          <p:sp>
            <p:nvSpPr>
              <p:cNvPr id="4" name="Rectangle 3">
                <a:extLst>
                  <a:ext uri="{FF2B5EF4-FFF2-40B4-BE49-F238E27FC236}">
                    <a16:creationId xmlns:a16="http://schemas.microsoft.com/office/drawing/2014/main" id="{792D29FE-D1D7-86BC-D79D-363D57BF084B}"/>
                  </a:ext>
                </a:extLst>
              </p:cNvPr>
              <p:cNvSpPr>
                <a:spLocks noRot="1" noChangeAspect="1" noMove="1" noResize="1" noEditPoints="1" noAdjustHandles="1" noChangeArrowheads="1" noChangeShapeType="1" noTextEdit="1"/>
              </p:cNvSpPr>
              <p:nvPr/>
            </p:nvSpPr>
            <p:spPr>
              <a:xfrm>
                <a:off x="543498" y="2600863"/>
                <a:ext cx="4978712" cy="1904847"/>
              </a:xfrm>
              <a:prstGeom prst="rect">
                <a:avLst/>
              </a:prstGeom>
              <a:blipFill>
                <a:blip r:embed="rId2"/>
                <a:stretch>
                  <a:fillRect l="-1836"/>
                </a:stretch>
              </a:blipFill>
              <a:ln>
                <a:noFill/>
              </a:ln>
            </p:spPr>
            <p:txBody>
              <a:bodyPr/>
              <a:lstStyle/>
              <a:p>
                <a:r>
                  <a:rPr lang="en-US">
                    <a:noFill/>
                  </a:rPr>
                  <a:t> </a:t>
                </a:r>
              </a:p>
            </p:txBody>
          </p:sp>
        </mc:Fallback>
      </mc:AlternateContent>
      <p:grpSp>
        <p:nvGrpSpPr>
          <p:cNvPr id="43009" name="Group 43008">
            <a:extLst>
              <a:ext uri="{FF2B5EF4-FFF2-40B4-BE49-F238E27FC236}">
                <a16:creationId xmlns:a16="http://schemas.microsoft.com/office/drawing/2014/main" id="{520F0F56-8C77-C1D5-41B9-F900ECB484D2}"/>
              </a:ext>
            </a:extLst>
          </p:cNvPr>
          <p:cNvGrpSpPr/>
          <p:nvPr/>
        </p:nvGrpSpPr>
        <p:grpSpPr>
          <a:xfrm>
            <a:off x="5385050" y="1854377"/>
            <a:ext cx="6112743" cy="3397818"/>
            <a:chOff x="5423150" y="1970842"/>
            <a:chExt cx="6112743" cy="3397818"/>
          </a:xfrm>
        </p:grpSpPr>
        <p:sp>
          <p:nvSpPr>
            <p:cNvPr id="5" name="Rectangle 4">
              <a:extLst>
                <a:ext uri="{FF2B5EF4-FFF2-40B4-BE49-F238E27FC236}">
                  <a16:creationId xmlns:a16="http://schemas.microsoft.com/office/drawing/2014/main" id="{74243068-0CC2-BBCB-20C1-9D92A9197888}"/>
                </a:ext>
              </a:extLst>
            </p:cNvPr>
            <p:cNvSpPr/>
            <p:nvPr/>
          </p:nvSpPr>
          <p:spPr>
            <a:xfrm>
              <a:off x="5423150" y="4778330"/>
              <a:ext cx="1701073" cy="5125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A – Reorder point</a:t>
              </a:r>
            </a:p>
            <a:p>
              <a:r>
                <a:rPr lang="en-US" sz="1200" dirty="0">
                  <a:solidFill>
                    <a:schemeClr val="tx1"/>
                  </a:solidFill>
                  <a:latin typeface="Candara" panose="020E0502030303020204" pitchFamily="34" charset="0"/>
                  <a:ea typeface="Cambria Math" panose="02040503050406030204" pitchFamily="18" charset="0"/>
                </a:rPr>
                <a:t>B – Material Received</a:t>
              </a:r>
              <a:endParaRPr lang="en-US" sz="1200" dirty="0">
                <a:solidFill>
                  <a:schemeClr val="tx1"/>
                </a:solidFill>
                <a:latin typeface="Candara" panose="020E0502030303020204" pitchFamily="34" charset="0"/>
              </a:endParaRPr>
            </a:p>
          </p:txBody>
        </p:sp>
        <p:sp>
          <p:nvSpPr>
            <p:cNvPr id="6" name="Rectangle 5">
              <a:extLst>
                <a:ext uri="{FF2B5EF4-FFF2-40B4-BE49-F238E27FC236}">
                  <a16:creationId xmlns:a16="http://schemas.microsoft.com/office/drawing/2014/main" id="{6E206991-DF24-3FD7-C50A-7D6787167088}"/>
                </a:ext>
              </a:extLst>
            </p:cNvPr>
            <p:cNvSpPr/>
            <p:nvPr/>
          </p:nvSpPr>
          <p:spPr>
            <a:xfrm>
              <a:off x="10841415" y="4793925"/>
              <a:ext cx="655168"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Time</a:t>
              </a:r>
              <a:endParaRPr lang="en-US" sz="1200" b="1" dirty="0">
                <a:solidFill>
                  <a:schemeClr val="tx1"/>
                </a:solidFill>
                <a:latin typeface="Candara" panose="020E0502030303020204" pitchFamily="34" charset="0"/>
              </a:endParaRPr>
            </a:p>
          </p:txBody>
        </p:sp>
        <p:sp>
          <p:nvSpPr>
            <p:cNvPr id="7" name="Rectangle 6">
              <a:extLst>
                <a:ext uri="{FF2B5EF4-FFF2-40B4-BE49-F238E27FC236}">
                  <a16:creationId xmlns:a16="http://schemas.microsoft.com/office/drawing/2014/main" id="{ED69FB0C-8854-C8EC-F199-7F3086388A2D}"/>
                </a:ext>
              </a:extLst>
            </p:cNvPr>
            <p:cNvSpPr/>
            <p:nvPr/>
          </p:nvSpPr>
          <p:spPr>
            <a:xfrm>
              <a:off x="7372731" y="4922359"/>
              <a:ext cx="1195226" cy="446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latin typeface="Candara" panose="020E0502030303020204" pitchFamily="34" charset="0"/>
                  <a:ea typeface="Cambria Math" panose="02040503050406030204" pitchFamily="18" charset="0"/>
                </a:rPr>
                <a:t>Lead Time</a:t>
              </a:r>
            </a:p>
            <a:p>
              <a:pPr algn="ctr"/>
              <a:r>
                <a:rPr lang="en-US" sz="1200" dirty="0">
                  <a:solidFill>
                    <a:schemeClr val="tx1"/>
                  </a:solidFill>
                  <a:latin typeface="Candara" panose="020E0502030303020204" pitchFamily="34" charset="0"/>
                  <a:ea typeface="Cambria Math" panose="02040503050406030204" pitchFamily="18" charset="0"/>
                </a:rPr>
                <a:t>100 days</a:t>
              </a:r>
              <a:endParaRPr lang="en-US" sz="1200" dirty="0">
                <a:solidFill>
                  <a:schemeClr val="tx1"/>
                </a:solidFill>
                <a:latin typeface="Candara" panose="020E0502030303020204" pitchFamily="34" charset="0"/>
              </a:endParaRPr>
            </a:p>
          </p:txBody>
        </p:sp>
        <p:sp>
          <p:nvSpPr>
            <p:cNvPr id="8" name="Rectangle 7">
              <a:extLst>
                <a:ext uri="{FF2B5EF4-FFF2-40B4-BE49-F238E27FC236}">
                  <a16:creationId xmlns:a16="http://schemas.microsoft.com/office/drawing/2014/main" id="{419B6B73-E13D-474A-305A-A5C2DB8001D3}"/>
                </a:ext>
              </a:extLst>
            </p:cNvPr>
            <p:cNvSpPr/>
            <p:nvPr/>
          </p:nvSpPr>
          <p:spPr>
            <a:xfrm rot="16200000">
              <a:off x="5323361" y="3300265"/>
              <a:ext cx="655168"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Stock</a:t>
              </a:r>
              <a:endParaRPr lang="en-US" sz="1200" b="1" dirty="0">
                <a:solidFill>
                  <a:schemeClr val="tx1"/>
                </a:solidFill>
                <a:latin typeface="Candara" panose="020E0502030303020204" pitchFamily="34" charset="0"/>
              </a:endParaRPr>
            </a:p>
          </p:txBody>
        </p:sp>
        <p:cxnSp>
          <p:nvCxnSpPr>
            <p:cNvPr id="10" name="Straight Connector 9">
              <a:extLst>
                <a:ext uri="{FF2B5EF4-FFF2-40B4-BE49-F238E27FC236}">
                  <a16:creationId xmlns:a16="http://schemas.microsoft.com/office/drawing/2014/main" id="{A5D2AD90-8176-DDC7-EC05-8A87F3C903B3}"/>
                </a:ext>
              </a:extLst>
            </p:cNvPr>
            <p:cNvCxnSpPr/>
            <p:nvPr/>
          </p:nvCxnSpPr>
          <p:spPr>
            <a:xfrm>
              <a:off x="6135310" y="4714043"/>
              <a:ext cx="540058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098C31-C8D9-EE92-A485-D4089BF6EA52}"/>
                </a:ext>
              </a:extLst>
            </p:cNvPr>
            <p:cNvCxnSpPr>
              <a:cxnSpLocks/>
            </p:cNvCxnSpPr>
            <p:nvPr/>
          </p:nvCxnSpPr>
          <p:spPr>
            <a:xfrm rot="16200000">
              <a:off x="4772546" y="3342442"/>
              <a:ext cx="2743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7F1431D-A8CF-191B-6FD1-0690ABFAE768}"/>
                </a:ext>
              </a:extLst>
            </p:cNvPr>
            <p:cNvCxnSpPr/>
            <p:nvPr/>
          </p:nvCxnSpPr>
          <p:spPr>
            <a:xfrm>
              <a:off x="6135309" y="3342441"/>
              <a:ext cx="5400583" cy="0"/>
            </a:xfrm>
            <a:prstGeom prst="line">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F33BCB-8DA7-02D3-47C5-C85E8CDF5BC2}"/>
                </a:ext>
              </a:extLst>
            </p:cNvPr>
            <p:cNvCxnSpPr>
              <a:cxnSpLocks/>
            </p:cNvCxnSpPr>
            <p:nvPr/>
          </p:nvCxnSpPr>
          <p:spPr>
            <a:xfrm>
              <a:off x="6152983" y="2600863"/>
              <a:ext cx="2682617"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470921-EC6E-19EE-244A-B9ECBE5C43DB}"/>
                </a:ext>
              </a:extLst>
            </p:cNvPr>
            <p:cNvCxnSpPr>
              <a:cxnSpLocks/>
            </p:cNvCxnSpPr>
            <p:nvPr/>
          </p:nvCxnSpPr>
          <p:spPr>
            <a:xfrm>
              <a:off x="8813966" y="2600862"/>
              <a:ext cx="2682617"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530029-79DE-9B80-8383-E50238FE56B7}"/>
                </a:ext>
              </a:extLst>
            </p:cNvPr>
            <p:cNvCxnSpPr>
              <a:cxnSpLocks/>
            </p:cNvCxnSpPr>
            <p:nvPr/>
          </p:nvCxnSpPr>
          <p:spPr>
            <a:xfrm>
              <a:off x="8817376" y="2595781"/>
              <a:ext cx="0"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E4A7B60-D981-AB64-EBDD-06B197B4FA00}"/>
                </a:ext>
              </a:extLst>
            </p:cNvPr>
            <p:cNvCxnSpPr>
              <a:cxnSpLocks/>
            </p:cNvCxnSpPr>
            <p:nvPr/>
          </p:nvCxnSpPr>
          <p:spPr>
            <a:xfrm rot="16200000">
              <a:off x="6304166" y="4157781"/>
              <a:ext cx="155448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47BD2AF-F64D-5A71-0AEC-561F18B41936}"/>
                </a:ext>
              </a:extLst>
            </p:cNvPr>
            <p:cNvSpPr/>
            <p:nvPr/>
          </p:nvSpPr>
          <p:spPr>
            <a:xfrm>
              <a:off x="6739314" y="4439056"/>
              <a:ext cx="302782" cy="216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A</a:t>
              </a:r>
              <a:endParaRPr lang="en-US" sz="1200" dirty="0">
                <a:solidFill>
                  <a:schemeClr val="tx1"/>
                </a:solidFill>
                <a:latin typeface="Candara" panose="020E0502030303020204" pitchFamily="34" charset="0"/>
              </a:endParaRPr>
            </a:p>
          </p:txBody>
        </p:sp>
        <p:sp>
          <p:nvSpPr>
            <p:cNvPr id="25" name="Rectangle 24">
              <a:extLst>
                <a:ext uri="{FF2B5EF4-FFF2-40B4-BE49-F238E27FC236}">
                  <a16:creationId xmlns:a16="http://schemas.microsoft.com/office/drawing/2014/main" id="{BB20CC20-1FF9-2394-7B13-859E9FAFA4F4}"/>
                </a:ext>
              </a:extLst>
            </p:cNvPr>
            <p:cNvSpPr/>
            <p:nvPr/>
          </p:nvSpPr>
          <p:spPr>
            <a:xfrm>
              <a:off x="8874910" y="4428899"/>
              <a:ext cx="302782" cy="216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B</a:t>
              </a:r>
              <a:endParaRPr lang="en-US" sz="1200" dirty="0">
                <a:solidFill>
                  <a:schemeClr val="tx1"/>
                </a:solidFill>
                <a:latin typeface="Candara" panose="020E0502030303020204" pitchFamily="34" charset="0"/>
              </a:endParaRPr>
            </a:p>
          </p:txBody>
        </p:sp>
        <p:cxnSp>
          <p:nvCxnSpPr>
            <p:cNvPr id="26" name="Straight Connector 25">
              <a:extLst>
                <a:ext uri="{FF2B5EF4-FFF2-40B4-BE49-F238E27FC236}">
                  <a16:creationId xmlns:a16="http://schemas.microsoft.com/office/drawing/2014/main" id="{50D7669B-619E-29DB-AEA7-E715942B5320}"/>
                </a:ext>
              </a:extLst>
            </p:cNvPr>
            <p:cNvCxnSpPr>
              <a:cxnSpLocks/>
            </p:cNvCxnSpPr>
            <p:nvPr/>
          </p:nvCxnSpPr>
          <p:spPr>
            <a:xfrm rot="16200000">
              <a:off x="8721727" y="4831219"/>
              <a:ext cx="18288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273812B-62D5-FD85-C8B2-6B75BD956D91}"/>
                </a:ext>
              </a:extLst>
            </p:cNvPr>
            <p:cNvCxnSpPr/>
            <p:nvPr/>
          </p:nvCxnSpPr>
          <p:spPr>
            <a:xfrm>
              <a:off x="7081406" y="4897062"/>
              <a:ext cx="1737360" cy="0"/>
            </a:xfrm>
            <a:prstGeom prst="line">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025ABBC-BED5-8B98-CFD1-2A3AEB85933A}"/>
                </a:ext>
              </a:extLst>
            </p:cNvPr>
            <p:cNvCxnSpPr>
              <a:cxnSpLocks/>
            </p:cNvCxnSpPr>
            <p:nvPr/>
          </p:nvCxnSpPr>
          <p:spPr>
            <a:xfrm flipV="1">
              <a:off x="7081406" y="2692400"/>
              <a:ext cx="487794" cy="650041"/>
            </a:xfrm>
            <a:prstGeom prst="line">
              <a:avLst/>
            </a:prstGeom>
            <a:ln w="63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BC5C5025-70D9-E656-C463-990BB29AA70B}"/>
                </a:ext>
              </a:extLst>
            </p:cNvPr>
            <p:cNvSpPr/>
            <p:nvPr/>
          </p:nvSpPr>
          <p:spPr>
            <a:xfrm>
              <a:off x="7124223" y="2217473"/>
              <a:ext cx="1195226" cy="446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Reorder </a:t>
              </a:r>
            </a:p>
            <a:p>
              <a:pPr algn="ctr"/>
              <a:r>
                <a:rPr lang="en-US" sz="1200" b="1" dirty="0">
                  <a:solidFill>
                    <a:schemeClr val="tx1"/>
                  </a:solidFill>
                  <a:latin typeface="Candara" panose="020E0502030303020204" pitchFamily="34" charset="0"/>
                  <a:ea typeface="Cambria Math" panose="02040503050406030204" pitchFamily="18" charset="0"/>
                </a:rPr>
                <a:t>Point</a:t>
              </a:r>
              <a:endParaRPr lang="en-US" sz="1200" b="1" dirty="0">
                <a:solidFill>
                  <a:schemeClr val="tx1"/>
                </a:solidFill>
                <a:latin typeface="Candara" panose="020E0502030303020204" pitchFamily="34" charset="0"/>
              </a:endParaRPr>
            </a:p>
          </p:txBody>
        </p:sp>
        <p:sp>
          <p:nvSpPr>
            <p:cNvPr id="43008" name="Rectangle 43007">
              <a:extLst>
                <a:ext uri="{FF2B5EF4-FFF2-40B4-BE49-F238E27FC236}">
                  <a16:creationId xmlns:a16="http://schemas.microsoft.com/office/drawing/2014/main" id="{2D12CE52-29E4-9E80-0B64-BD99BBC61531}"/>
                </a:ext>
              </a:extLst>
            </p:cNvPr>
            <p:cNvSpPr/>
            <p:nvPr/>
          </p:nvSpPr>
          <p:spPr>
            <a:xfrm>
              <a:off x="10363200" y="3030688"/>
              <a:ext cx="1133383"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Reorder Stock</a:t>
              </a:r>
              <a:endParaRPr lang="en-US" sz="1200" b="1" dirty="0">
                <a:solidFill>
                  <a:schemeClr val="tx1"/>
                </a:solidFill>
                <a:latin typeface="Candara" panose="020E0502030303020204" pitchFamily="34" charset="0"/>
              </a:endParaRPr>
            </a:p>
          </p:txBody>
        </p:sp>
      </p:grpSp>
    </p:spTree>
    <p:extLst>
      <p:ext uri="{BB962C8B-B14F-4D97-AF65-F5344CB8AC3E}">
        <p14:creationId xmlns:p14="http://schemas.microsoft.com/office/powerpoint/2010/main" val="1738092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2B84B0-ACBD-8A9B-2AE3-E0EA8599BF70}"/>
              </a:ext>
            </a:extLst>
          </p:cNvPr>
          <p:cNvSpPr/>
          <p:nvPr/>
        </p:nvSpPr>
        <p:spPr>
          <a:xfrm>
            <a:off x="0" y="142241"/>
            <a:ext cx="121920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002060"/>
                </a:solidFill>
                <a:latin typeface="Candara" panose="020E0502030303020204" pitchFamily="34" charset="0"/>
              </a:rPr>
              <a:t>Reorder Point Under Certainty with </a:t>
            </a:r>
            <a:r>
              <a:rPr lang="en-US" sz="5400" b="1" dirty="0">
                <a:solidFill>
                  <a:srgbClr val="FF0000"/>
                </a:solidFill>
                <a:latin typeface="Candara" panose="020E0502030303020204" pitchFamily="34" charset="0"/>
              </a:rPr>
              <a:t>Safety Stock</a:t>
            </a:r>
          </a:p>
        </p:txBody>
      </p:sp>
      <p:grpSp>
        <p:nvGrpSpPr>
          <p:cNvPr id="14" name="Group 13">
            <a:extLst>
              <a:ext uri="{FF2B5EF4-FFF2-40B4-BE49-F238E27FC236}">
                <a16:creationId xmlns:a16="http://schemas.microsoft.com/office/drawing/2014/main" id="{EF79287D-80CE-FA6C-CDE5-BEDCC4BA0634}"/>
              </a:ext>
            </a:extLst>
          </p:cNvPr>
          <p:cNvGrpSpPr/>
          <p:nvPr/>
        </p:nvGrpSpPr>
        <p:grpSpPr>
          <a:xfrm>
            <a:off x="5188705" y="2030250"/>
            <a:ext cx="6640124" cy="4037898"/>
            <a:chOff x="2784090" y="1661337"/>
            <a:chExt cx="6640124" cy="4037898"/>
          </a:xfrm>
        </p:grpSpPr>
        <p:sp>
          <p:nvSpPr>
            <p:cNvPr id="5" name="Rectangle 4">
              <a:extLst>
                <a:ext uri="{FF2B5EF4-FFF2-40B4-BE49-F238E27FC236}">
                  <a16:creationId xmlns:a16="http://schemas.microsoft.com/office/drawing/2014/main" id="{74243068-0CC2-BBCB-20C1-9D92A9197888}"/>
                </a:ext>
              </a:extLst>
            </p:cNvPr>
            <p:cNvSpPr/>
            <p:nvPr/>
          </p:nvSpPr>
          <p:spPr>
            <a:xfrm>
              <a:off x="2784090" y="5108905"/>
              <a:ext cx="1701073" cy="5125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A – Reorder point</a:t>
              </a:r>
            </a:p>
            <a:p>
              <a:r>
                <a:rPr lang="en-US" sz="1200" dirty="0">
                  <a:solidFill>
                    <a:schemeClr val="tx1"/>
                  </a:solidFill>
                  <a:latin typeface="Candara" panose="020E0502030303020204" pitchFamily="34" charset="0"/>
                  <a:ea typeface="Cambria Math" panose="02040503050406030204" pitchFamily="18" charset="0"/>
                </a:rPr>
                <a:t>B – Material Received</a:t>
              </a:r>
              <a:endParaRPr lang="en-US" sz="1200" dirty="0">
                <a:solidFill>
                  <a:schemeClr val="tx1"/>
                </a:solidFill>
                <a:latin typeface="Candara" panose="020E0502030303020204" pitchFamily="34" charset="0"/>
              </a:endParaRPr>
            </a:p>
          </p:txBody>
        </p:sp>
        <p:sp>
          <p:nvSpPr>
            <p:cNvPr id="6" name="Rectangle 5">
              <a:extLst>
                <a:ext uri="{FF2B5EF4-FFF2-40B4-BE49-F238E27FC236}">
                  <a16:creationId xmlns:a16="http://schemas.microsoft.com/office/drawing/2014/main" id="{6E206991-DF24-3FD7-C50A-7D6787167088}"/>
                </a:ext>
              </a:extLst>
            </p:cNvPr>
            <p:cNvSpPr/>
            <p:nvPr/>
          </p:nvSpPr>
          <p:spPr>
            <a:xfrm>
              <a:off x="8202355" y="5124500"/>
              <a:ext cx="655168"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Time</a:t>
              </a:r>
              <a:endParaRPr lang="en-US" sz="1200" b="1" dirty="0">
                <a:solidFill>
                  <a:schemeClr val="tx1"/>
                </a:solidFill>
                <a:latin typeface="Candara" panose="020E0502030303020204" pitchFamily="34" charset="0"/>
              </a:endParaRPr>
            </a:p>
          </p:txBody>
        </p:sp>
        <p:sp>
          <p:nvSpPr>
            <p:cNvPr id="7" name="Rectangle 6">
              <a:extLst>
                <a:ext uri="{FF2B5EF4-FFF2-40B4-BE49-F238E27FC236}">
                  <a16:creationId xmlns:a16="http://schemas.microsoft.com/office/drawing/2014/main" id="{ED69FB0C-8854-C8EC-F199-7F3086388A2D}"/>
                </a:ext>
              </a:extLst>
            </p:cNvPr>
            <p:cNvSpPr/>
            <p:nvPr/>
          </p:nvSpPr>
          <p:spPr>
            <a:xfrm>
              <a:off x="4733671" y="5252934"/>
              <a:ext cx="1195226" cy="446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dirty="0">
                  <a:solidFill>
                    <a:schemeClr val="tx1"/>
                  </a:solidFill>
                  <a:latin typeface="Candara" panose="020E0502030303020204" pitchFamily="34" charset="0"/>
                  <a:ea typeface="Cambria Math" panose="02040503050406030204" pitchFamily="18" charset="0"/>
                </a:rPr>
                <a:t>Lead Time</a:t>
              </a:r>
            </a:p>
            <a:p>
              <a:pPr algn="ctr"/>
              <a:r>
                <a:rPr lang="en-US" sz="1200" dirty="0">
                  <a:solidFill>
                    <a:schemeClr val="tx1"/>
                  </a:solidFill>
                  <a:latin typeface="Candara" panose="020E0502030303020204" pitchFamily="34" charset="0"/>
                  <a:ea typeface="Cambria Math" panose="02040503050406030204" pitchFamily="18" charset="0"/>
                </a:rPr>
                <a:t>100 days</a:t>
              </a:r>
              <a:endParaRPr lang="en-US" sz="1200" dirty="0">
                <a:solidFill>
                  <a:schemeClr val="tx1"/>
                </a:solidFill>
                <a:latin typeface="Candara" panose="020E0502030303020204" pitchFamily="34" charset="0"/>
              </a:endParaRPr>
            </a:p>
          </p:txBody>
        </p:sp>
        <p:sp>
          <p:nvSpPr>
            <p:cNvPr id="8" name="Rectangle 7">
              <a:extLst>
                <a:ext uri="{FF2B5EF4-FFF2-40B4-BE49-F238E27FC236}">
                  <a16:creationId xmlns:a16="http://schemas.microsoft.com/office/drawing/2014/main" id="{419B6B73-E13D-474A-305A-A5C2DB8001D3}"/>
                </a:ext>
              </a:extLst>
            </p:cNvPr>
            <p:cNvSpPr/>
            <p:nvPr/>
          </p:nvSpPr>
          <p:spPr>
            <a:xfrm rot="16200000">
              <a:off x="2684301" y="3630840"/>
              <a:ext cx="655168"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Stock</a:t>
              </a:r>
              <a:endParaRPr lang="en-US" sz="1200" b="1" dirty="0">
                <a:solidFill>
                  <a:schemeClr val="tx1"/>
                </a:solidFill>
                <a:latin typeface="Candara" panose="020E0502030303020204" pitchFamily="34" charset="0"/>
              </a:endParaRPr>
            </a:p>
          </p:txBody>
        </p:sp>
        <p:cxnSp>
          <p:nvCxnSpPr>
            <p:cNvPr id="10" name="Straight Connector 9">
              <a:extLst>
                <a:ext uri="{FF2B5EF4-FFF2-40B4-BE49-F238E27FC236}">
                  <a16:creationId xmlns:a16="http://schemas.microsoft.com/office/drawing/2014/main" id="{A5D2AD90-8176-DDC7-EC05-8A87F3C903B3}"/>
                </a:ext>
              </a:extLst>
            </p:cNvPr>
            <p:cNvCxnSpPr/>
            <p:nvPr/>
          </p:nvCxnSpPr>
          <p:spPr>
            <a:xfrm>
              <a:off x="3496249" y="5044618"/>
              <a:ext cx="57607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098C31-C8D9-EE92-A485-D4089BF6EA52}"/>
                </a:ext>
              </a:extLst>
            </p:cNvPr>
            <p:cNvCxnSpPr>
              <a:cxnSpLocks/>
            </p:cNvCxnSpPr>
            <p:nvPr/>
          </p:nvCxnSpPr>
          <p:spPr>
            <a:xfrm rot="16200000">
              <a:off x="1813446" y="3352977"/>
              <a:ext cx="33832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7F1431D-A8CF-191B-6FD1-0690ABFAE768}"/>
                </a:ext>
              </a:extLst>
            </p:cNvPr>
            <p:cNvCxnSpPr/>
            <p:nvPr/>
          </p:nvCxnSpPr>
          <p:spPr>
            <a:xfrm>
              <a:off x="3496248" y="2951656"/>
              <a:ext cx="5760720" cy="0"/>
            </a:xfrm>
            <a:prstGeom prst="line">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F33BCB-8DA7-02D3-47C5-C85E8CDF5BC2}"/>
                </a:ext>
              </a:extLst>
            </p:cNvPr>
            <p:cNvCxnSpPr>
              <a:cxnSpLocks/>
            </p:cNvCxnSpPr>
            <p:nvPr/>
          </p:nvCxnSpPr>
          <p:spPr>
            <a:xfrm>
              <a:off x="3513923" y="2210078"/>
              <a:ext cx="2682617"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470921-EC6E-19EE-244A-B9ECBE5C43DB}"/>
                </a:ext>
              </a:extLst>
            </p:cNvPr>
            <p:cNvCxnSpPr>
              <a:cxnSpLocks/>
            </p:cNvCxnSpPr>
            <p:nvPr/>
          </p:nvCxnSpPr>
          <p:spPr>
            <a:xfrm>
              <a:off x="6174906" y="2210077"/>
              <a:ext cx="2682617"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530029-79DE-9B80-8383-E50238FE56B7}"/>
                </a:ext>
              </a:extLst>
            </p:cNvPr>
            <p:cNvCxnSpPr>
              <a:cxnSpLocks/>
            </p:cNvCxnSpPr>
            <p:nvPr/>
          </p:nvCxnSpPr>
          <p:spPr>
            <a:xfrm>
              <a:off x="6178316" y="2204996"/>
              <a:ext cx="0" cy="211317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E4A7B60-D981-AB64-EBDD-06B197B4FA00}"/>
                </a:ext>
              </a:extLst>
            </p:cNvPr>
            <p:cNvCxnSpPr>
              <a:cxnSpLocks/>
            </p:cNvCxnSpPr>
            <p:nvPr/>
          </p:nvCxnSpPr>
          <p:spPr>
            <a:xfrm rot="16200000">
              <a:off x="3299346" y="4122596"/>
              <a:ext cx="22860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47BD2AF-F64D-5A71-0AEC-561F18B41936}"/>
                </a:ext>
              </a:extLst>
            </p:cNvPr>
            <p:cNvSpPr/>
            <p:nvPr/>
          </p:nvSpPr>
          <p:spPr>
            <a:xfrm>
              <a:off x="4100254" y="4769631"/>
              <a:ext cx="302782" cy="216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A</a:t>
              </a:r>
              <a:endParaRPr lang="en-US" sz="1200" dirty="0">
                <a:solidFill>
                  <a:schemeClr val="tx1"/>
                </a:solidFill>
                <a:latin typeface="Candara" panose="020E0502030303020204" pitchFamily="34" charset="0"/>
              </a:endParaRPr>
            </a:p>
          </p:txBody>
        </p:sp>
        <p:sp>
          <p:nvSpPr>
            <p:cNvPr id="25" name="Rectangle 24">
              <a:extLst>
                <a:ext uri="{FF2B5EF4-FFF2-40B4-BE49-F238E27FC236}">
                  <a16:creationId xmlns:a16="http://schemas.microsoft.com/office/drawing/2014/main" id="{BB20CC20-1FF9-2394-7B13-859E9FAFA4F4}"/>
                </a:ext>
              </a:extLst>
            </p:cNvPr>
            <p:cNvSpPr/>
            <p:nvPr/>
          </p:nvSpPr>
          <p:spPr>
            <a:xfrm>
              <a:off x="6235850" y="4759474"/>
              <a:ext cx="302782" cy="2167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latin typeface="Candara" panose="020E0502030303020204" pitchFamily="34" charset="0"/>
                  <a:ea typeface="Cambria Math" panose="02040503050406030204" pitchFamily="18" charset="0"/>
                </a:rPr>
                <a:t>B</a:t>
              </a:r>
              <a:endParaRPr lang="en-US" sz="1200" dirty="0">
                <a:solidFill>
                  <a:schemeClr val="tx1"/>
                </a:solidFill>
                <a:latin typeface="Candara" panose="020E0502030303020204" pitchFamily="34" charset="0"/>
              </a:endParaRPr>
            </a:p>
          </p:txBody>
        </p:sp>
        <p:cxnSp>
          <p:nvCxnSpPr>
            <p:cNvPr id="26" name="Straight Connector 25">
              <a:extLst>
                <a:ext uri="{FF2B5EF4-FFF2-40B4-BE49-F238E27FC236}">
                  <a16:creationId xmlns:a16="http://schemas.microsoft.com/office/drawing/2014/main" id="{50D7669B-619E-29DB-AEA7-E715942B5320}"/>
                </a:ext>
              </a:extLst>
            </p:cNvPr>
            <p:cNvCxnSpPr>
              <a:cxnSpLocks/>
            </p:cNvCxnSpPr>
            <p:nvPr/>
          </p:nvCxnSpPr>
          <p:spPr>
            <a:xfrm rot="16200000">
              <a:off x="5716907" y="4796034"/>
              <a:ext cx="9144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273812B-62D5-FD85-C8B2-6B75BD956D91}"/>
                </a:ext>
              </a:extLst>
            </p:cNvPr>
            <p:cNvCxnSpPr/>
            <p:nvPr/>
          </p:nvCxnSpPr>
          <p:spPr>
            <a:xfrm>
              <a:off x="4442346" y="5227637"/>
              <a:ext cx="1737360" cy="0"/>
            </a:xfrm>
            <a:prstGeom prst="line">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025ABBC-BED5-8B98-CFD1-2A3AEB85933A}"/>
                </a:ext>
              </a:extLst>
            </p:cNvPr>
            <p:cNvCxnSpPr>
              <a:cxnSpLocks/>
            </p:cNvCxnSpPr>
            <p:nvPr/>
          </p:nvCxnSpPr>
          <p:spPr>
            <a:xfrm flipV="1">
              <a:off x="4442346" y="2301615"/>
              <a:ext cx="487794" cy="650041"/>
            </a:xfrm>
            <a:prstGeom prst="line">
              <a:avLst/>
            </a:prstGeom>
            <a:ln w="63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BC5C5025-70D9-E656-C463-990BB29AA70B}"/>
                </a:ext>
              </a:extLst>
            </p:cNvPr>
            <p:cNvSpPr/>
            <p:nvPr/>
          </p:nvSpPr>
          <p:spPr>
            <a:xfrm>
              <a:off x="4485163" y="1826688"/>
              <a:ext cx="1195226" cy="446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Reorder </a:t>
              </a:r>
            </a:p>
            <a:p>
              <a:pPr algn="ctr"/>
              <a:r>
                <a:rPr lang="en-US" sz="1200" b="1" dirty="0">
                  <a:solidFill>
                    <a:schemeClr val="tx1"/>
                  </a:solidFill>
                  <a:latin typeface="Candara" panose="020E0502030303020204" pitchFamily="34" charset="0"/>
                  <a:ea typeface="Cambria Math" panose="02040503050406030204" pitchFamily="18" charset="0"/>
                </a:rPr>
                <a:t>Point</a:t>
              </a:r>
              <a:endParaRPr lang="en-US" sz="1200" b="1" dirty="0">
                <a:solidFill>
                  <a:schemeClr val="tx1"/>
                </a:solidFill>
                <a:latin typeface="Candara" panose="020E0502030303020204" pitchFamily="34" charset="0"/>
              </a:endParaRPr>
            </a:p>
          </p:txBody>
        </p:sp>
        <p:sp>
          <p:nvSpPr>
            <p:cNvPr id="43008" name="Rectangle 43007">
              <a:extLst>
                <a:ext uri="{FF2B5EF4-FFF2-40B4-BE49-F238E27FC236}">
                  <a16:creationId xmlns:a16="http://schemas.microsoft.com/office/drawing/2014/main" id="{2D12CE52-29E4-9E80-0B64-BD99BBC61531}"/>
                </a:ext>
              </a:extLst>
            </p:cNvPr>
            <p:cNvSpPr/>
            <p:nvPr/>
          </p:nvSpPr>
          <p:spPr>
            <a:xfrm>
              <a:off x="8165053" y="2618117"/>
              <a:ext cx="1133383"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Reorder Stock</a:t>
              </a:r>
              <a:endParaRPr lang="en-US" sz="1200" b="1" dirty="0">
                <a:solidFill>
                  <a:schemeClr val="tx1"/>
                </a:solidFill>
                <a:latin typeface="Candara" panose="020E0502030303020204" pitchFamily="34" charset="0"/>
              </a:endParaRPr>
            </a:p>
          </p:txBody>
        </p:sp>
        <p:cxnSp>
          <p:nvCxnSpPr>
            <p:cNvPr id="2" name="Straight Connector 1">
              <a:extLst>
                <a:ext uri="{FF2B5EF4-FFF2-40B4-BE49-F238E27FC236}">
                  <a16:creationId xmlns:a16="http://schemas.microsoft.com/office/drawing/2014/main" id="{39F0022C-AF8B-ACA2-6390-769BAF5C32C9}"/>
                </a:ext>
              </a:extLst>
            </p:cNvPr>
            <p:cNvCxnSpPr/>
            <p:nvPr/>
          </p:nvCxnSpPr>
          <p:spPr>
            <a:xfrm>
              <a:off x="3505084" y="4323431"/>
              <a:ext cx="57607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FB164B74-B4DB-CACF-BFB7-068C0C976194}"/>
                </a:ext>
              </a:extLst>
            </p:cNvPr>
            <p:cNvSpPr/>
            <p:nvPr/>
          </p:nvSpPr>
          <p:spPr>
            <a:xfrm>
              <a:off x="8290831" y="4360540"/>
              <a:ext cx="1133383" cy="2574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Safety Stock</a:t>
              </a:r>
              <a:endParaRPr lang="en-US" sz="1200" b="1" dirty="0">
                <a:solidFill>
                  <a:schemeClr val="tx1"/>
                </a:solidFill>
                <a:latin typeface="Candara" panose="020E0502030303020204" pitchFamily="34" charset="0"/>
              </a:endParaRPr>
            </a:p>
          </p:txBody>
        </p:sp>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2884BD3-62B4-C84E-1137-48A336111C76}"/>
                  </a:ext>
                </a:extLst>
              </p:cNvPr>
              <p:cNvSpPr/>
              <p:nvPr/>
            </p:nvSpPr>
            <p:spPr>
              <a:xfrm>
                <a:off x="209993" y="2661701"/>
                <a:ext cx="4978712" cy="19048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n-US" sz="2400" b="1" dirty="0">
                    <a:solidFill>
                      <a:schemeClr val="tx1"/>
                    </a:solidFill>
                    <a:latin typeface="Candara" panose="020E0502030303020204" pitchFamily="34" charset="0"/>
                    <a:ea typeface="Cambria Math" panose="02040503050406030204" pitchFamily="18" charset="0"/>
                  </a:rPr>
                  <a:t>Reorder Point, ROP </a:t>
                </a:r>
                <a14:m>
                  <m:oMath xmlns:m="http://schemas.openxmlformats.org/officeDocument/2006/math">
                    <m:r>
                      <a:rPr lang="en-US" sz="2400" b="1" i="0" smtClean="0">
                        <a:solidFill>
                          <a:schemeClr val="tx1"/>
                        </a:solidFill>
                        <a:latin typeface="Cambria Math" panose="02040503050406030204" pitchFamily="18" charset="0"/>
                        <a:ea typeface="Cambria Math" panose="02040503050406030204" pitchFamily="18" charset="0"/>
                      </a:rPr>
                      <m:t>=</m:t>
                    </m:r>
                    <m:r>
                      <a:rPr lang="en-US" sz="2400" b="1" i="0" smtClean="0">
                        <a:solidFill>
                          <a:schemeClr val="tx1"/>
                        </a:solidFill>
                        <a:latin typeface="Cambria Math" panose="02040503050406030204" pitchFamily="18" charset="0"/>
                        <a:ea typeface="Cambria Math" panose="02040503050406030204" pitchFamily="18" charset="0"/>
                      </a:rPr>
                      <m:t>𝐒𝐒</m:t>
                    </m:r>
                    <m:r>
                      <a:rPr lang="en-US" sz="2400" b="1" i="0" smtClean="0">
                        <a:solidFill>
                          <a:schemeClr val="tx1"/>
                        </a:solidFill>
                        <a:latin typeface="Cambria Math" panose="02040503050406030204" pitchFamily="18" charset="0"/>
                        <a:ea typeface="Cambria Math" panose="02040503050406030204" pitchFamily="18" charset="0"/>
                      </a:rPr>
                      <m:t>+(</m:t>
                    </m:r>
                    <m:r>
                      <a:rPr lang="en-US" sz="2400" b="1" i="0" smtClean="0">
                        <a:solidFill>
                          <a:schemeClr val="tx1"/>
                        </a:solidFill>
                        <a:latin typeface="Cambria Math" panose="02040503050406030204" pitchFamily="18" charset="0"/>
                        <a:ea typeface="Cambria Math" panose="02040503050406030204" pitchFamily="18" charset="0"/>
                      </a:rPr>
                      <m:t>𝐝</m:t>
                    </m:r>
                    <m:r>
                      <a:rPr lang="en-US" sz="2400" b="1" i="0" smtClean="0">
                        <a:solidFill>
                          <a:schemeClr val="tx1"/>
                        </a:solidFill>
                        <a:latin typeface="Cambria Math" panose="02040503050406030204" pitchFamily="18" charset="0"/>
                        <a:ea typeface="Cambria Math" panose="02040503050406030204" pitchFamily="18" charset="0"/>
                      </a:rPr>
                      <m:t>×</m:t>
                    </m:r>
                    <m:r>
                      <a:rPr lang="en-US" sz="2400" b="1" i="0" smtClean="0">
                        <a:solidFill>
                          <a:schemeClr val="tx1"/>
                        </a:solidFill>
                        <a:latin typeface="Cambria Math" panose="02040503050406030204" pitchFamily="18" charset="0"/>
                        <a:ea typeface="Cambria Math" panose="02040503050406030204" pitchFamily="18" charset="0"/>
                      </a:rPr>
                      <m:t>𝐋𝐓</m:t>
                    </m:r>
                    <m:r>
                      <a:rPr lang="en-US" sz="2400" b="1" i="0" smtClean="0">
                        <a:solidFill>
                          <a:schemeClr val="tx1"/>
                        </a:solidFill>
                        <a:latin typeface="Cambria Math" panose="02040503050406030204" pitchFamily="18" charset="0"/>
                        <a:ea typeface="Cambria Math" panose="02040503050406030204" pitchFamily="18" charset="0"/>
                      </a:rPr>
                      <m:t>)</m:t>
                    </m:r>
                  </m:oMath>
                </a14:m>
                <a:endParaRPr lang="en-US" sz="2400" b="1" dirty="0">
                  <a:solidFill>
                    <a:schemeClr val="tx1"/>
                  </a:solidFill>
                  <a:latin typeface="Candara" panose="020E0502030303020204" pitchFamily="34" charset="0"/>
                </a:endParaRPr>
              </a:p>
              <a:p>
                <a:pPr>
                  <a:lnSpc>
                    <a:spcPct val="150000"/>
                  </a:lnSpc>
                </a:pPr>
                <a:r>
                  <a:rPr lang="en-US" sz="2400" dirty="0">
                    <a:solidFill>
                      <a:schemeClr val="tx1"/>
                    </a:solidFill>
                    <a:latin typeface="Candara" panose="020E0502030303020204" pitchFamily="34" charset="0"/>
                  </a:rPr>
                  <a:t>SS = Safety Stock</a:t>
                </a:r>
              </a:p>
              <a:p>
                <a:pPr>
                  <a:lnSpc>
                    <a:spcPct val="150000"/>
                  </a:lnSpc>
                </a:pPr>
                <a:r>
                  <a:rPr lang="en-US" sz="2400" dirty="0">
                    <a:solidFill>
                      <a:schemeClr val="tx1"/>
                    </a:solidFill>
                    <a:latin typeface="Candara" panose="020E0502030303020204" pitchFamily="34" charset="0"/>
                  </a:rPr>
                  <a:t>d = Demand rate (units per period)</a:t>
                </a:r>
              </a:p>
              <a:p>
                <a:pPr>
                  <a:lnSpc>
                    <a:spcPct val="150000"/>
                  </a:lnSpc>
                </a:pPr>
                <a:r>
                  <a:rPr lang="en-US" sz="2400" dirty="0">
                    <a:solidFill>
                      <a:schemeClr val="tx1"/>
                    </a:solidFill>
                    <a:latin typeface="Candara" panose="020E0502030303020204" pitchFamily="34" charset="0"/>
                  </a:rPr>
                  <a:t>LT = Lead time (same time unit as d)</a:t>
                </a:r>
              </a:p>
            </p:txBody>
          </p:sp>
        </mc:Choice>
        <mc:Fallback xmlns="">
          <p:sp>
            <p:nvSpPr>
              <p:cNvPr id="4" name="Rectangle 3">
                <a:extLst>
                  <a:ext uri="{FF2B5EF4-FFF2-40B4-BE49-F238E27FC236}">
                    <a16:creationId xmlns:a16="http://schemas.microsoft.com/office/drawing/2014/main" id="{92884BD3-62B4-C84E-1137-48A336111C76}"/>
                  </a:ext>
                </a:extLst>
              </p:cNvPr>
              <p:cNvSpPr>
                <a:spLocks noRot="1" noChangeAspect="1" noMove="1" noResize="1" noEditPoints="1" noAdjustHandles="1" noChangeArrowheads="1" noChangeShapeType="1" noTextEdit="1"/>
              </p:cNvSpPr>
              <p:nvPr/>
            </p:nvSpPr>
            <p:spPr>
              <a:xfrm>
                <a:off x="209993" y="2661701"/>
                <a:ext cx="4978712" cy="1904847"/>
              </a:xfrm>
              <a:prstGeom prst="rect">
                <a:avLst/>
              </a:prstGeom>
              <a:blipFill>
                <a:blip r:embed="rId2"/>
                <a:stretch>
                  <a:fillRect l="-1836" r="-367" b="-2467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060818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F71FD2-1CD9-3659-7C73-69BE2E1A6F9E}"/>
              </a:ext>
            </a:extLst>
          </p:cNvPr>
          <p:cNvSpPr/>
          <p:nvPr/>
        </p:nvSpPr>
        <p:spPr>
          <a:xfrm>
            <a:off x="0" y="1"/>
            <a:ext cx="12192000" cy="140053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latin typeface="Candara" panose="020E0502030303020204" pitchFamily="34" charset="0"/>
              </a:rPr>
              <a:t>Example 4: Reorder Point</a:t>
            </a:r>
          </a:p>
        </p:txBody>
      </p:sp>
      <p:sp>
        <p:nvSpPr>
          <p:cNvPr id="23556" name="Rectangle 23555">
            <a:extLst>
              <a:ext uri="{FF2B5EF4-FFF2-40B4-BE49-F238E27FC236}">
                <a16:creationId xmlns:a16="http://schemas.microsoft.com/office/drawing/2014/main" id="{76AE5C3E-33C7-5905-5C82-561444AE95ED}"/>
              </a:ext>
            </a:extLst>
          </p:cNvPr>
          <p:cNvSpPr/>
          <p:nvPr/>
        </p:nvSpPr>
        <p:spPr>
          <a:xfrm>
            <a:off x="195492" y="1554479"/>
            <a:ext cx="11906119" cy="5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en-US" sz="2400" dirty="0">
                <a:solidFill>
                  <a:schemeClr val="tx1"/>
                </a:solidFill>
                <a:latin typeface="Candara" panose="020E0502030303020204" pitchFamily="34" charset="0"/>
              </a:rPr>
              <a:t>A famous burger restaurant at Dhaka city has a daily demand of 100 burger buns. However, the burger bun supplier doesn’t provide the bun immediately, rather they take 2 days to deliver. </a:t>
            </a:r>
          </a:p>
          <a:p>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a. What would be the reorder point of the burger bun?</a:t>
            </a:r>
            <a:br>
              <a:rPr lang="en-US" altLang="en-US" sz="2400" dirty="0">
                <a:solidFill>
                  <a:schemeClr val="tx1"/>
                </a:solidFill>
                <a:latin typeface="Candara" panose="020E0502030303020204" pitchFamily="34" charset="0"/>
              </a:rPr>
            </a:br>
            <a:r>
              <a:rPr lang="en-US" altLang="en-US" sz="2400" dirty="0">
                <a:solidFill>
                  <a:schemeClr val="tx1"/>
                </a:solidFill>
                <a:latin typeface="Candara" panose="020E0502030303020204" pitchFamily="34" charset="0"/>
              </a:rPr>
              <a:t>b. If the restaurant decides to keep a safety stock of 80 burger buns, then what would be the reorder point in this case?</a:t>
            </a:r>
          </a:p>
          <a:p>
            <a:endParaRPr lang="en-US" altLang="en-US" sz="2400" dirty="0">
              <a:solidFill>
                <a:schemeClr val="tx1"/>
              </a:solidFill>
              <a:latin typeface="Candara" panose="020E0502030303020204" pitchFamily="34" charset="0"/>
            </a:endParaRPr>
          </a:p>
          <a:p>
            <a:endParaRPr lang="en-US" altLang="en-US" sz="2400" dirty="0">
              <a:solidFill>
                <a:schemeClr val="tx1"/>
              </a:solidFill>
              <a:latin typeface="Candara" panose="020E0502030303020204" pitchFamily="34" charset="0"/>
            </a:endParaRPr>
          </a:p>
          <a:p>
            <a:r>
              <a:rPr lang="en-US" altLang="en-US" sz="2400" dirty="0">
                <a:solidFill>
                  <a:schemeClr val="tx1"/>
                </a:solidFill>
                <a:latin typeface="Candara" panose="020E0502030303020204" pitchFamily="34" charset="0"/>
              </a:rPr>
              <a:t>a. ROP = d x LT = 100 x 2 = 200 burger buns</a:t>
            </a:r>
          </a:p>
          <a:p>
            <a:endParaRPr lang="en-US" altLang="en-US" sz="2400" dirty="0">
              <a:solidFill>
                <a:schemeClr val="tx1"/>
              </a:solidFill>
              <a:latin typeface="Candara" panose="020E0502030303020204" pitchFamily="34" charset="0"/>
            </a:endParaRPr>
          </a:p>
          <a:p>
            <a:r>
              <a:rPr lang="en-US" altLang="en-US" sz="2400" dirty="0">
                <a:solidFill>
                  <a:schemeClr val="tx1"/>
                </a:solidFill>
                <a:latin typeface="Candara" panose="020E0502030303020204" pitchFamily="34" charset="0"/>
              </a:rPr>
              <a:t>b. ROP = SS + (d x LT ) = 80 + (100 x 2) = 280 burger buns</a:t>
            </a:r>
            <a:br>
              <a:rPr lang="en-US" altLang="en-US" sz="2400" dirty="0">
                <a:solidFill>
                  <a:schemeClr val="tx1"/>
                </a:solidFill>
                <a:latin typeface="Candara" panose="020E0502030303020204" pitchFamily="34" charset="0"/>
              </a:rPr>
            </a:br>
            <a:endParaRPr lang="en-US" altLang="en-US" sz="2400" dirty="0">
              <a:solidFill>
                <a:schemeClr val="tx1"/>
              </a:solidFill>
              <a:latin typeface="Candara" panose="020E0502030303020204" pitchFamily="34" charset="0"/>
            </a:endParaRPr>
          </a:p>
        </p:txBody>
      </p:sp>
    </p:spTree>
    <p:extLst>
      <p:ext uri="{BB962C8B-B14F-4D97-AF65-F5344CB8AC3E}">
        <p14:creationId xmlns:p14="http://schemas.microsoft.com/office/powerpoint/2010/main" val="172174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6">
                                            <p:txEl>
                                              <p:pRg st="4" end="4"/>
                                            </p:txEl>
                                          </p:spTgt>
                                        </p:tgtEl>
                                        <p:attrNameLst>
                                          <p:attrName>style.visibility</p:attrName>
                                        </p:attrNameLst>
                                      </p:cBhvr>
                                      <p:to>
                                        <p:strVal val="visible"/>
                                      </p:to>
                                    </p:set>
                                    <p:animEffect transition="in" filter="fade">
                                      <p:cBhvr>
                                        <p:cTn id="7" dur="500"/>
                                        <p:tgtEl>
                                          <p:spTgt spid="2355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6">
                                            <p:txEl>
                                              <p:pRg st="6" end="6"/>
                                            </p:txEl>
                                          </p:spTgt>
                                        </p:tgtEl>
                                        <p:attrNameLst>
                                          <p:attrName>style.visibility</p:attrName>
                                        </p:attrNameLst>
                                      </p:cBhvr>
                                      <p:to>
                                        <p:strVal val="visible"/>
                                      </p:to>
                                    </p:set>
                                    <p:animEffect transition="in" filter="fade">
                                      <p:cBhvr>
                                        <p:cTn id="12" dur="500"/>
                                        <p:tgtEl>
                                          <p:spTgt spid="235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57F569-9BC5-B51D-B7B7-2F58694633EC}"/>
              </a:ext>
            </a:extLst>
          </p:cNvPr>
          <p:cNvSpPr/>
          <p:nvPr/>
        </p:nvSpPr>
        <p:spPr>
          <a:xfrm>
            <a:off x="640080" y="1"/>
            <a:ext cx="98298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solidFill>
                  <a:srgbClr val="002060"/>
                </a:solidFill>
                <a:latin typeface="Candara" panose="020E0502030303020204" pitchFamily="34" charset="0"/>
              </a:rPr>
              <a:t>Quantity Discounts</a:t>
            </a:r>
          </a:p>
        </p:txBody>
      </p:sp>
      <p:sp>
        <p:nvSpPr>
          <p:cNvPr id="9" name="Content Placeholder 2">
            <a:extLst>
              <a:ext uri="{FF2B5EF4-FFF2-40B4-BE49-F238E27FC236}">
                <a16:creationId xmlns:a16="http://schemas.microsoft.com/office/drawing/2014/main" id="{EC9B5E78-6251-6A9A-89E0-46F3EF093CB1}"/>
              </a:ext>
            </a:extLst>
          </p:cNvPr>
          <p:cNvSpPr txBox="1">
            <a:spLocks/>
          </p:cNvSpPr>
          <p:nvPr/>
        </p:nvSpPr>
        <p:spPr>
          <a:xfrm>
            <a:off x="502920" y="1400533"/>
            <a:ext cx="11186160" cy="48478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ndara" panose="020E0502030303020204" pitchFamily="34" charset="0"/>
              </a:rPr>
              <a:t>A quantity discount is an incentive offered to a buyer that results in a decreased cost per unit of goods or materials when purchased in greater numbers.</a:t>
            </a:r>
          </a:p>
          <a:p>
            <a:endParaRPr lang="en-US" altLang="en-US" dirty="0">
              <a:latin typeface="Candara" panose="020E0502030303020204" pitchFamily="34" charset="0"/>
            </a:endParaRPr>
          </a:p>
          <a:p>
            <a:r>
              <a:rPr lang="en-US" altLang="en-US" dirty="0">
                <a:latin typeface="Candara" panose="020E0502030303020204" pitchFamily="34" charset="0"/>
              </a:rPr>
              <a:t>If quantity discounts are offered, the buyer must weigh the potential benefits of reduced purchase price and fewer orders that will result from buying in large quantities against the increase in carrying costs caused by higher average inventories.</a:t>
            </a:r>
          </a:p>
          <a:p>
            <a:endParaRPr lang="en-US" altLang="en-US" dirty="0">
              <a:latin typeface="Candara" panose="020E0502030303020204" pitchFamily="34" charset="0"/>
            </a:endParaRPr>
          </a:p>
          <a:p>
            <a:r>
              <a:rPr lang="en-US" altLang="en-US" dirty="0">
                <a:latin typeface="Candara" panose="020E0502030303020204" pitchFamily="34" charset="0"/>
              </a:rPr>
              <a:t>TC=Carrying cost+ Ordering cost+ Purchasing cost=(Q/2)H+(D/Q)S+PD; where </a:t>
            </a:r>
            <a:r>
              <a:rPr lang="en-US" altLang="en-US" i="1" dirty="0">
                <a:latin typeface="Candara" panose="020E0502030303020204" pitchFamily="34" charset="0"/>
              </a:rPr>
              <a:t>P</a:t>
            </a:r>
            <a:r>
              <a:rPr lang="en-US" altLang="en-US" dirty="0">
                <a:latin typeface="Candara" panose="020E0502030303020204" pitchFamily="34" charset="0"/>
              </a:rPr>
              <a:t> = Unit price</a:t>
            </a:r>
            <a:br>
              <a:rPr lang="en-US" altLang="en-US" dirty="0">
                <a:latin typeface="Candara" panose="020E0502030303020204" pitchFamily="34" charset="0"/>
              </a:rPr>
            </a:br>
            <a:endParaRPr lang="en-US" altLang="en-US" dirty="0">
              <a:latin typeface="Candara" panose="020E0502030303020204" pitchFamily="34" charset="0"/>
            </a:endParaRPr>
          </a:p>
        </p:txBody>
      </p:sp>
    </p:spTree>
    <p:extLst>
      <p:ext uri="{BB962C8B-B14F-4D97-AF65-F5344CB8AC3E}">
        <p14:creationId xmlns:p14="http://schemas.microsoft.com/office/powerpoint/2010/main" val="81060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5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BF0343-1C82-19F6-BE1B-6A856B181266}"/>
              </a:ext>
            </a:extLst>
          </p:cNvPr>
          <p:cNvSpPr/>
          <p:nvPr/>
        </p:nvSpPr>
        <p:spPr>
          <a:xfrm>
            <a:off x="4876801" y="5303519"/>
            <a:ext cx="1828800" cy="1554480"/>
          </a:xfrm>
          <a:prstGeom prst="rect">
            <a:avLst/>
          </a:prstGeom>
          <a:solidFill>
            <a:srgbClr val="00AE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000" dirty="0">
                <a:latin typeface="Candara" panose="020E0502030303020204" pitchFamily="34" charset="0"/>
              </a:rPr>
              <a:t>1</a:t>
            </a:r>
            <a:r>
              <a:rPr lang="en-US" sz="2000" baseline="30000" dirty="0">
                <a:latin typeface="Candara" panose="020E0502030303020204" pitchFamily="34" charset="0"/>
              </a:rPr>
              <a:t>st</a:t>
            </a:r>
            <a:r>
              <a:rPr lang="en-US" sz="2000" dirty="0">
                <a:latin typeface="Candara" panose="020E0502030303020204" pitchFamily="34" charset="0"/>
              </a:rPr>
              <a:t> 500 Qty</a:t>
            </a:r>
          </a:p>
          <a:p>
            <a:pPr algn="ctr"/>
            <a:r>
              <a:rPr lang="en-US" sz="2000" dirty="0">
                <a:latin typeface="Candara" panose="020E0502030303020204" pitchFamily="34" charset="0"/>
              </a:rPr>
              <a:t>(0-500)</a:t>
            </a:r>
          </a:p>
          <a:p>
            <a:pPr algn="ctr"/>
            <a:endParaRPr lang="en-US" sz="2000" dirty="0">
              <a:latin typeface="Candara" panose="020E0502030303020204" pitchFamily="34" charset="0"/>
            </a:endParaRPr>
          </a:p>
          <a:p>
            <a:pPr algn="ctr"/>
            <a:r>
              <a:rPr lang="en-US" sz="1200" dirty="0">
                <a:latin typeface="Candara" panose="020E0502030303020204" pitchFamily="34" charset="0"/>
              </a:rPr>
              <a:t>at </a:t>
            </a:r>
            <a:r>
              <a:rPr lang="en-US" sz="2000" dirty="0">
                <a:latin typeface="Candara" panose="020E0502030303020204" pitchFamily="34" charset="0"/>
              </a:rPr>
              <a:t>$10</a:t>
            </a:r>
          </a:p>
        </p:txBody>
      </p:sp>
      <p:sp>
        <p:nvSpPr>
          <p:cNvPr id="4" name="Rectangle 3">
            <a:extLst>
              <a:ext uri="{FF2B5EF4-FFF2-40B4-BE49-F238E27FC236}">
                <a16:creationId xmlns:a16="http://schemas.microsoft.com/office/drawing/2014/main" id="{02406881-8AF5-8B2D-854A-53D45981CCAB}"/>
              </a:ext>
            </a:extLst>
          </p:cNvPr>
          <p:cNvSpPr/>
          <p:nvPr/>
        </p:nvSpPr>
        <p:spPr>
          <a:xfrm>
            <a:off x="6705601" y="4389120"/>
            <a:ext cx="1828800" cy="2468880"/>
          </a:xfrm>
          <a:prstGeom prst="rect">
            <a:avLst/>
          </a:prstGeom>
          <a:solidFill>
            <a:srgbClr val="A1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Candara" panose="020E0502030303020204" pitchFamily="34" charset="0"/>
              </a:rPr>
              <a:t>2</a:t>
            </a:r>
            <a:r>
              <a:rPr lang="en-US" baseline="30000" dirty="0">
                <a:solidFill>
                  <a:schemeClr val="tx1"/>
                </a:solidFill>
                <a:latin typeface="Candara" panose="020E0502030303020204" pitchFamily="34" charset="0"/>
              </a:rPr>
              <a:t>nd</a:t>
            </a:r>
            <a:r>
              <a:rPr lang="en-US" dirty="0">
                <a:solidFill>
                  <a:schemeClr val="tx1"/>
                </a:solidFill>
                <a:latin typeface="Candara" panose="020E0502030303020204" pitchFamily="34" charset="0"/>
              </a:rPr>
              <a:t> </a:t>
            </a:r>
            <a:r>
              <a:rPr lang="en-US" sz="1800" dirty="0">
                <a:solidFill>
                  <a:schemeClr val="tx1"/>
                </a:solidFill>
                <a:latin typeface="Candara" panose="020E0502030303020204" pitchFamily="34" charset="0"/>
              </a:rPr>
              <a:t>500 Qty</a:t>
            </a:r>
          </a:p>
          <a:p>
            <a:pPr algn="ctr"/>
            <a:r>
              <a:rPr lang="en-US" sz="1800" dirty="0">
                <a:solidFill>
                  <a:schemeClr val="tx1"/>
                </a:solidFill>
                <a:latin typeface="Candara" panose="020E0502030303020204" pitchFamily="34" charset="0"/>
              </a:rPr>
              <a:t>(501-1000)</a:t>
            </a:r>
          </a:p>
          <a:p>
            <a:pPr algn="ctr"/>
            <a:endParaRPr lang="en-US" sz="1800" dirty="0">
              <a:solidFill>
                <a:schemeClr val="tx1"/>
              </a:solidFill>
              <a:latin typeface="Candara" panose="020E0502030303020204" pitchFamily="34" charset="0"/>
            </a:endParaRPr>
          </a:p>
          <a:p>
            <a:pPr algn="ctr"/>
            <a:r>
              <a:rPr lang="en-US" sz="1100" dirty="0">
                <a:solidFill>
                  <a:schemeClr val="tx1"/>
                </a:solidFill>
                <a:latin typeface="Candara" panose="020E0502030303020204" pitchFamily="34" charset="0"/>
              </a:rPr>
              <a:t>at </a:t>
            </a:r>
            <a:r>
              <a:rPr lang="en-US" sz="1800" dirty="0">
                <a:solidFill>
                  <a:schemeClr val="tx1"/>
                </a:solidFill>
                <a:latin typeface="Candara" panose="020E0502030303020204" pitchFamily="34" charset="0"/>
              </a:rPr>
              <a:t>$9.3</a:t>
            </a:r>
          </a:p>
          <a:p>
            <a:pPr algn="ctr"/>
            <a:endParaRPr lang="en-US" dirty="0">
              <a:solidFill>
                <a:schemeClr val="tx1"/>
              </a:solidFill>
            </a:endParaRPr>
          </a:p>
        </p:txBody>
      </p:sp>
      <p:sp>
        <p:nvSpPr>
          <p:cNvPr id="5" name="Rectangle 4">
            <a:extLst>
              <a:ext uri="{FF2B5EF4-FFF2-40B4-BE49-F238E27FC236}">
                <a16:creationId xmlns:a16="http://schemas.microsoft.com/office/drawing/2014/main" id="{A6E7E966-A293-CCA5-E2C7-C37034C06F21}"/>
              </a:ext>
            </a:extLst>
          </p:cNvPr>
          <p:cNvSpPr/>
          <p:nvPr/>
        </p:nvSpPr>
        <p:spPr>
          <a:xfrm>
            <a:off x="8534401" y="3566160"/>
            <a:ext cx="1828800" cy="3291840"/>
          </a:xfrm>
          <a:prstGeom prst="rect">
            <a:avLst/>
          </a:prstGeom>
          <a:solidFill>
            <a:srgbClr val="FFE5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latin typeface="Candara" panose="020E0502030303020204" pitchFamily="34" charset="0"/>
              </a:rPr>
              <a:t>3</a:t>
            </a:r>
            <a:r>
              <a:rPr lang="en-US" baseline="30000" dirty="0">
                <a:solidFill>
                  <a:schemeClr val="tx1"/>
                </a:solidFill>
                <a:latin typeface="Candara" panose="020E0502030303020204" pitchFamily="34" charset="0"/>
              </a:rPr>
              <a:t>rd</a:t>
            </a:r>
            <a:r>
              <a:rPr lang="en-US" dirty="0">
                <a:solidFill>
                  <a:schemeClr val="tx1"/>
                </a:solidFill>
                <a:latin typeface="Candara" panose="020E0502030303020204" pitchFamily="34" charset="0"/>
              </a:rPr>
              <a:t>  </a:t>
            </a:r>
            <a:r>
              <a:rPr lang="en-US" sz="1800" dirty="0">
                <a:solidFill>
                  <a:schemeClr val="tx1"/>
                </a:solidFill>
                <a:latin typeface="Candara" panose="020E0502030303020204" pitchFamily="34" charset="0"/>
              </a:rPr>
              <a:t>500 Qty</a:t>
            </a:r>
          </a:p>
          <a:p>
            <a:pPr algn="ctr"/>
            <a:r>
              <a:rPr lang="en-US" sz="1800" dirty="0">
                <a:solidFill>
                  <a:schemeClr val="tx1"/>
                </a:solidFill>
                <a:latin typeface="Candara" panose="020E0502030303020204" pitchFamily="34" charset="0"/>
              </a:rPr>
              <a:t>(1001-1500)</a:t>
            </a:r>
          </a:p>
          <a:p>
            <a:pPr algn="ctr"/>
            <a:endParaRPr lang="en-US" sz="1800" dirty="0">
              <a:solidFill>
                <a:schemeClr val="tx1"/>
              </a:solidFill>
              <a:latin typeface="Candara" panose="020E0502030303020204" pitchFamily="34" charset="0"/>
            </a:endParaRPr>
          </a:p>
          <a:p>
            <a:pPr algn="ctr"/>
            <a:r>
              <a:rPr lang="en-US" sz="1100" dirty="0">
                <a:solidFill>
                  <a:schemeClr val="tx1"/>
                </a:solidFill>
                <a:latin typeface="Candara" panose="020E0502030303020204" pitchFamily="34" charset="0"/>
              </a:rPr>
              <a:t>at </a:t>
            </a:r>
            <a:r>
              <a:rPr lang="en-US" sz="1800" dirty="0">
                <a:solidFill>
                  <a:schemeClr val="tx1"/>
                </a:solidFill>
                <a:latin typeface="Candara" panose="020E0502030303020204" pitchFamily="34" charset="0"/>
              </a:rPr>
              <a:t>$8.5</a:t>
            </a:r>
          </a:p>
          <a:p>
            <a:pPr algn="ctr"/>
            <a:endParaRPr lang="en-US" dirty="0">
              <a:solidFill>
                <a:schemeClr val="tx1"/>
              </a:solidFill>
            </a:endParaRPr>
          </a:p>
          <a:p>
            <a:pPr algn="ctr"/>
            <a:endParaRPr lang="en-US" dirty="0"/>
          </a:p>
        </p:txBody>
      </p:sp>
      <p:sp>
        <p:nvSpPr>
          <p:cNvPr id="6" name="Rectangle 5">
            <a:extLst>
              <a:ext uri="{FF2B5EF4-FFF2-40B4-BE49-F238E27FC236}">
                <a16:creationId xmlns:a16="http://schemas.microsoft.com/office/drawing/2014/main" id="{3DD9E4A1-C20E-2695-E9B8-6C6FA98154B5}"/>
              </a:ext>
            </a:extLst>
          </p:cNvPr>
          <p:cNvSpPr/>
          <p:nvPr/>
        </p:nvSpPr>
        <p:spPr>
          <a:xfrm>
            <a:off x="10363200" y="2743200"/>
            <a:ext cx="1828800" cy="4114800"/>
          </a:xfrm>
          <a:prstGeom prst="rect">
            <a:avLst/>
          </a:prstGeom>
          <a:solidFill>
            <a:srgbClr val="80D8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800" dirty="0">
                <a:solidFill>
                  <a:schemeClr val="tx1"/>
                </a:solidFill>
                <a:latin typeface="Candara" panose="020E0502030303020204" pitchFamily="34" charset="0"/>
              </a:rPr>
              <a:t>More than 1500 Qty</a:t>
            </a:r>
          </a:p>
          <a:p>
            <a:pPr algn="ctr"/>
            <a:r>
              <a:rPr lang="en-US" sz="1800" dirty="0">
                <a:solidFill>
                  <a:schemeClr val="tx1"/>
                </a:solidFill>
                <a:latin typeface="Candara" panose="020E0502030303020204" pitchFamily="34" charset="0"/>
              </a:rPr>
              <a:t>(1500+)</a:t>
            </a:r>
          </a:p>
          <a:p>
            <a:pPr algn="ctr"/>
            <a:endParaRPr lang="en-US" sz="1800" dirty="0">
              <a:solidFill>
                <a:schemeClr val="tx1"/>
              </a:solidFill>
              <a:latin typeface="Candara" panose="020E0502030303020204" pitchFamily="34" charset="0"/>
            </a:endParaRPr>
          </a:p>
          <a:p>
            <a:pPr algn="ctr"/>
            <a:r>
              <a:rPr lang="en-US" sz="1100" dirty="0">
                <a:solidFill>
                  <a:schemeClr val="tx1"/>
                </a:solidFill>
                <a:latin typeface="Candara" panose="020E0502030303020204" pitchFamily="34" charset="0"/>
              </a:rPr>
              <a:t>at </a:t>
            </a:r>
            <a:r>
              <a:rPr lang="en-US" sz="1800" dirty="0">
                <a:solidFill>
                  <a:schemeClr val="tx1"/>
                </a:solidFill>
                <a:latin typeface="Candara" panose="020E0502030303020204" pitchFamily="34" charset="0"/>
              </a:rPr>
              <a:t>$7</a:t>
            </a:r>
          </a:p>
          <a:p>
            <a:pPr algn="ctr"/>
            <a:endParaRPr lang="en-US" dirty="0">
              <a:solidFill>
                <a:schemeClr val="tx1"/>
              </a:solidFill>
            </a:endParaRPr>
          </a:p>
          <a:p>
            <a:pPr algn="ctr"/>
            <a:endParaRPr lang="en-US" dirty="0">
              <a:solidFill>
                <a:schemeClr val="tx1"/>
              </a:solidFill>
            </a:endParaRPr>
          </a:p>
        </p:txBody>
      </p:sp>
      <p:sp>
        <p:nvSpPr>
          <p:cNvPr id="8" name="Content Placeholder 2">
            <a:extLst>
              <a:ext uri="{FF2B5EF4-FFF2-40B4-BE49-F238E27FC236}">
                <a16:creationId xmlns:a16="http://schemas.microsoft.com/office/drawing/2014/main" id="{936BBCEE-C71F-A99A-C418-23D3FB6247A2}"/>
              </a:ext>
            </a:extLst>
          </p:cNvPr>
          <p:cNvSpPr txBox="1">
            <a:spLocks/>
          </p:cNvSpPr>
          <p:nvPr/>
        </p:nvSpPr>
        <p:spPr>
          <a:xfrm>
            <a:off x="746758" y="1439407"/>
            <a:ext cx="11049002" cy="14382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Candara" panose="020E0502030303020204" pitchFamily="34" charset="0"/>
              </a:rPr>
              <a:t>A bicycle manufacturer sells bicycles at $10 in general. However it provides quantity discounts in the following way if the purchased quantity is higher</a:t>
            </a:r>
          </a:p>
        </p:txBody>
      </p:sp>
      <p:sp>
        <p:nvSpPr>
          <p:cNvPr id="10" name="Arrow: Up 9">
            <a:extLst>
              <a:ext uri="{FF2B5EF4-FFF2-40B4-BE49-F238E27FC236}">
                <a16:creationId xmlns:a16="http://schemas.microsoft.com/office/drawing/2014/main" id="{15FCF970-9BCB-77A2-77C0-B1AE2F7B6D2E}"/>
              </a:ext>
            </a:extLst>
          </p:cNvPr>
          <p:cNvSpPr/>
          <p:nvPr/>
        </p:nvSpPr>
        <p:spPr>
          <a:xfrm>
            <a:off x="510537" y="3980370"/>
            <a:ext cx="411480" cy="830724"/>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A6F770C2-1061-217E-9AA2-B4E9A9DE4C66}"/>
              </a:ext>
            </a:extLst>
          </p:cNvPr>
          <p:cNvSpPr txBox="1">
            <a:spLocks/>
          </p:cNvSpPr>
          <p:nvPr/>
        </p:nvSpPr>
        <p:spPr>
          <a:xfrm>
            <a:off x="746758" y="3370056"/>
            <a:ext cx="5074918" cy="488333"/>
          </a:xfrm>
          <a:prstGeom prst="rect">
            <a:avLst/>
          </a:prstGeom>
          <a:solidFill>
            <a:srgbClr val="34006A"/>
          </a:solidFill>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000" b="1" dirty="0">
                <a:solidFill>
                  <a:schemeClr val="bg1"/>
                </a:solidFill>
                <a:latin typeface="Candara" panose="020E0502030303020204" pitchFamily="34" charset="0"/>
              </a:rPr>
              <a:t>Impact of Achieving Quantity Discounts</a:t>
            </a:r>
          </a:p>
        </p:txBody>
      </p:sp>
      <p:sp>
        <p:nvSpPr>
          <p:cNvPr id="13" name="Content Placeholder 2">
            <a:extLst>
              <a:ext uri="{FF2B5EF4-FFF2-40B4-BE49-F238E27FC236}">
                <a16:creationId xmlns:a16="http://schemas.microsoft.com/office/drawing/2014/main" id="{1CCCDF15-60BC-A44F-2E91-0DDD1328421C}"/>
              </a:ext>
            </a:extLst>
          </p:cNvPr>
          <p:cNvSpPr txBox="1">
            <a:spLocks/>
          </p:cNvSpPr>
          <p:nvPr/>
        </p:nvSpPr>
        <p:spPr>
          <a:xfrm>
            <a:off x="784854" y="3980370"/>
            <a:ext cx="1295390" cy="975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000" dirty="0">
                <a:latin typeface="Candara" panose="020E0502030303020204" pitchFamily="34" charset="0"/>
              </a:rPr>
              <a:t>Total Inventory Level</a:t>
            </a:r>
          </a:p>
        </p:txBody>
      </p:sp>
      <p:sp>
        <p:nvSpPr>
          <p:cNvPr id="14" name="Arrow: Up 13">
            <a:extLst>
              <a:ext uri="{FF2B5EF4-FFF2-40B4-BE49-F238E27FC236}">
                <a16:creationId xmlns:a16="http://schemas.microsoft.com/office/drawing/2014/main" id="{C201CA0B-89D0-1544-56E4-A206564ADF87}"/>
              </a:ext>
            </a:extLst>
          </p:cNvPr>
          <p:cNvSpPr/>
          <p:nvPr/>
        </p:nvSpPr>
        <p:spPr>
          <a:xfrm rot="10800000">
            <a:off x="2080257" y="3980370"/>
            <a:ext cx="411480" cy="830724"/>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43F87C3C-E37B-8DBE-C3ED-EEA00AC47DC2}"/>
              </a:ext>
            </a:extLst>
          </p:cNvPr>
          <p:cNvSpPr txBox="1">
            <a:spLocks/>
          </p:cNvSpPr>
          <p:nvPr/>
        </p:nvSpPr>
        <p:spPr>
          <a:xfrm>
            <a:off x="2400300" y="3980370"/>
            <a:ext cx="937260" cy="975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000" dirty="0">
                <a:latin typeface="Candara" panose="020E0502030303020204" pitchFamily="34" charset="0"/>
              </a:rPr>
              <a:t>Per Unit Cost</a:t>
            </a:r>
          </a:p>
        </p:txBody>
      </p:sp>
      <p:sp>
        <p:nvSpPr>
          <p:cNvPr id="16" name="Arrow: Up 15">
            <a:extLst>
              <a:ext uri="{FF2B5EF4-FFF2-40B4-BE49-F238E27FC236}">
                <a16:creationId xmlns:a16="http://schemas.microsoft.com/office/drawing/2014/main" id="{6B061A0C-67DE-4602-C506-3EA261D3D928}"/>
              </a:ext>
            </a:extLst>
          </p:cNvPr>
          <p:cNvSpPr/>
          <p:nvPr/>
        </p:nvSpPr>
        <p:spPr>
          <a:xfrm rot="10800000">
            <a:off x="4709156" y="3980370"/>
            <a:ext cx="411480" cy="830724"/>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780CDF0D-7B45-3C6A-A8A4-775D05896B5D}"/>
              </a:ext>
            </a:extLst>
          </p:cNvPr>
          <p:cNvSpPr txBox="1">
            <a:spLocks/>
          </p:cNvSpPr>
          <p:nvPr/>
        </p:nvSpPr>
        <p:spPr>
          <a:xfrm>
            <a:off x="5097775" y="4055522"/>
            <a:ext cx="937260" cy="6845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000" dirty="0">
                <a:latin typeface="Candara" panose="020E0502030303020204" pitchFamily="34" charset="0"/>
              </a:rPr>
              <a:t>No. of Orders</a:t>
            </a:r>
          </a:p>
        </p:txBody>
      </p:sp>
      <p:sp>
        <p:nvSpPr>
          <p:cNvPr id="18" name="Rectangle 17">
            <a:extLst>
              <a:ext uri="{FF2B5EF4-FFF2-40B4-BE49-F238E27FC236}">
                <a16:creationId xmlns:a16="http://schemas.microsoft.com/office/drawing/2014/main" id="{57346D68-3DF0-8A86-F349-7B43D81C8895}"/>
              </a:ext>
            </a:extLst>
          </p:cNvPr>
          <p:cNvSpPr/>
          <p:nvPr/>
        </p:nvSpPr>
        <p:spPr>
          <a:xfrm>
            <a:off x="640080" y="1"/>
            <a:ext cx="98298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solidFill>
                  <a:srgbClr val="002060"/>
                </a:solidFill>
                <a:latin typeface="Candara" panose="020E0502030303020204" pitchFamily="34" charset="0"/>
              </a:rPr>
              <a:t>Quantity Discounts</a:t>
            </a:r>
          </a:p>
        </p:txBody>
      </p:sp>
      <p:sp>
        <p:nvSpPr>
          <p:cNvPr id="19" name="Arrow: Up 18">
            <a:extLst>
              <a:ext uri="{FF2B5EF4-FFF2-40B4-BE49-F238E27FC236}">
                <a16:creationId xmlns:a16="http://schemas.microsoft.com/office/drawing/2014/main" id="{D8EED8D4-4148-83AD-2CC8-7B9D192D1ED9}"/>
              </a:ext>
            </a:extLst>
          </p:cNvPr>
          <p:cNvSpPr/>
          <p:nvPr/>
        </p:nvSpPr>
        <p:spPr>
          <a:xfrm>
            <a:off x="3352809" y="3980370"/>
            <a:ext cx="411480" cy="830724"/>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1A43FF34-D115-670A-2B5F-3CF4ECD7F5F0}"/>
              </a:ext>
            </a:extLst>
          </p:cNvPr>
          <p:cNvSpPr txBox="1">
            <a:spLocks/>
          </p:cNvSpPr>
          <p:nvPr/>
        </p:nvSpPr>
        <p:spPr>
          <a:xfrm>
            <a:off x="3623303" y="4073492"/>
            <a:ext cx="937260" cy="7596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000" dirty="0">
                <a:latin typeface="Candara" panose="020E0502030303020204" pitchFamily="34" charset="0"/>
              </a:rPr>
              <a:t>Total Cost</a:t>
            </a:r>
          </a:p>
        </p:txBody>
      </p:sp>
    </p:spTree>
    <p:extLst>
      <p:ext uri="{BB962C8B-B14F-4D97-AF65-F5344CB8AC3E}">
        <p14:creationId xmlns:p14="http://schemas.microsoft.com/office/powerpoint/2010/main" val="87248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childTnLst>
                          </p:cTn>
                        </p:par>
                        <p:par>
                          <p:cTn id="33" fill="hold">
                            <p:stCondLst>
                              <p:cond delay="1000"/>
                            </p:stCondLst>
                            <p:childTnLst>
                              <p:par>
                                <p:cTn id="34" presetID="22" presetClass="entr" presetSubtype="4" fill="hold" grpId="0" nodeType="afterEffect">
                                  <p:stCondLst>
                                    <p:cond delay="25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childTnLst>
                                </p:cTn>
                              </p:par>
                            </p:childTnLst>
                          </p:cTn>
                        </p:par>
                        <p:par>
                          <p:cTn id="42" fill="hold">
                            <p:stCondLst>
                              <p:cond delay="1000"/>
                            </p:stCondLst>
                            <p:childTnLst>
                              <p:par>
                                <p:cTn id="43" presetID="22" presetClass="entr" presetSubtype="1" fill="hold" grpId="0" nodeType="afterEffect">
                                  <p:stCondLst>
                                    <p:cond delay="25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10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1000"/>
                                        <p:tgtEl>
                                          <p:spTgt spid="20"/>
                                        </p:tgtEl>
                                      </p:cBhvr>
                                    </p:animEffect>
                                  </p:childTnLst>
                                </p:cTn>
                              </p:par>
                            </p:childTnLst>
                          </p:cTn>
                        </p:par>
                        <p:par>
                          <p:cTn id="51" fill="hold">
                            <p:stCondLst>
                              <p:cond delay="1000"/>
                            </p:stCondLst>
                            <p:childTnLst>
                              <p:par>
                                <p:cTn id="52" presetID="22" presetClass="entr" presetSubtype="4" fill="hold" grpId="0" nodeType="afterEffect">
                                  <p:stCondLst>
                                    <p:cond delay="250"/>
                                  </p:stCondLst>
                                  <p:childTnLst>
                                    <p:set>
                                      <p:cBhvr>
                                        <p:cTn id="53" dur="1" fill="hold">
                                          <p:stCondLst>
                                            <p:cond delay="0"/>
                                          </p:stCondLst>
                                        </p:cTn>
                                        <p:tgtEl>
                                          <p:spTgt spid="19"/>
                                        </p:tgtEl>
                                        <p:attrNameLst>
                                          <p:attrName>style.visibility</p:attrName>
                                        </p:attrNameLst>
                                      </p:cBhvr>
                                      <p:to>
                                        <p:strVal val="visible"/>
                                      </p:to>
                                    </p:set>
                                    <p:animEffect transition="in" filter="wipe(down)">
                                      <p:cBhvr>
                                        <p:cTn id="54" dur="10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1000"/>
                                        <p:tgtEl>
                                          <p:spTgt spid="17"/>
                                        </p:tgtEl>
                                      </p:cBhvr>
                                    </p:animEffect>
                                  </p:childTnLst>
                                </p:cTn>
                              </p:par>
                            </p:childTnLst>
                          </p:cTn>
                        </p:par>
                        <p:par>
                          <p:cTn id="60" fill="hold">
                            <p:stCondLst>
                              <p:cond delay="1000"/>
                            </p:stCondLst>
                            <p:childTnLst>
                              <p:par>
                                <p:cTn id="61" presetID="22" presetClass="entr" presetSubtype="1" fill="hold" grpId="0" nodeType="afterEffect">
                                  <p:stCondLst>
                                    <p:cond delay="250"/>
                                  </p:stCondLst>
                                  <p:childTnLst>
                                    <p:set>
                                      <p:cBhvr>
                                        <p:cTn id="62" dur="1" fill="hold">
                                          <p:stCondLst>
                                            <p:cond delay="0"/>
                                          </p:stCondLst>
                                        </p:cTn>
                                        <p:tgtEl>
                                          <p:spTgt spid="16"/>
                                        </p:tgtEl>
                                        <p:attrNameLst>
                                          <p:attrName>style.visibility</p:attrName>
                                        </p:attrNameLst>
                                      </p:cBhvr>
                                      <p:to>
                                        <p:strVal val="visible"/>
                                      </p:to>
                                    </p:set>
                                    <p:animEffect transition="in" filter="wipe(up)">
                                      <p:cBhvr>
                                        <p:cTn id="63"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10" grpId="0" animBg="1"/>
      <p:bldP spid="12" grpId="0" animBg="1"/>
      <p:bldP spid="13" grpId="0"/>
      <p:bldP spid="14" grpId="0" animBg="1"/>
      <p:bldP spid="15" grpId="0"/>
      <p:bldP spid="16" grpId="0" animBg="1"/>
      <p:bldP spid="17" grpId="0"/>
      <p:bldP spid="19" grpId="0" animBg="1"/>
      <p:bldP spid="2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47CFD4-7587-3F76-E30C-C8D1E1407FDD}"/>
              </a:ext>
            </a:extLst>
          </p:cNvPr>
          <p:cNvSpPr/>
          <p:nvPr/>
        </p:nvSpPr>
        <p:spPr>
          <a:xfrm>
            <a:off x="640080" y="1"/>
            <a:ext cx="982980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solidFill>
                  <a:srgbClr val="002060"/>
                </a:solidFill>
                <a:latin typeface="Candara" panose="020E0502030303020204" pitchFamily="34" charset="0"/>
              </a:rPr>
              <a:t>EOQ in Quantity Discount Cases</a:t>
            </a:r>
          </a:p>
        </p:txBody>
      </p:sp>
      <p:sp>
        <p:nvSpPr>
          <p:cNvPr id="3" name="Content Placeholder 2">
            <a:extLst>
              <a:ext uri="{FF2B5EF4-FFF2-40B4-BE49-F238E27FC236}">
                <a16:creationId xmlns:a16="http://schemas.microsoft.com/office/drawing/2014/main" id="{00A0EAF3-0398-6344-AA19-1699CE350A00}"/>
              </a:ext>
            </a:extLst>
          </p:cNvPr>
          <p:cNvSpPr txBox="1">
            <a:spLocks/>
          </p:cNvSpPr>
          <p:nvPr/>
        </p:nvSpPr>
        <p:spPr>
          <a:xfrm>
            <a:off x="594360" y="1400533"/>
            <a:ext cx="11186160" cy="1129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latin typeface="Candara" panose="020E0502030303020204" pitchFamily="34" charset="0"/>
              </a:rPr>
              <a:t>Total Cost, TC =Carrying cost+ Ordering cost+ </a:t>
            </a:r>
            <a:r>
              <a:rPr lang="en-US" altLang="en-US" b="1" dirty="0">
                <a:latin typeface="Candara" panose="020E0502030303020204" pitchFamily="34" charset="0"/>
              </a:rPr>
              <a:t>Purchasing cost (PD) </a:t>
            </a:r>
          </a:p>
          <a:p>
            <a:pPr marL="0" indent="0">
              <a:buNone/>
            </a:pPr>
            <a:r>
              <a:rPr lang="en-US" altLang="en-US" dirty="0">
                <a:latin typeface="Candara" panose="020E0502030303020204" pitchFamily="34" charset="0"/>
              </a:rPr>
              <a:t>		       = (Q/2)H + (D/Q)S + PD, 	where </a:t>
            </a:r>
            <a:r>
              <a:rPr lang="en-US" altLang="en-US" i="1" dirty="0">
                <a:latin typeface="Candara" panose="020E0502030303020204" pitchFamily="34" charset="0"/>
              </a:rPr>
              <a:t>P</a:t>
            </a:r>
            <a:r>
              <a:rPr lang="en-US" altLang="en-US" dirty="0">
                <a:latin typeface="Candara" panose="020E0502030303020204" pitchFamily="34" charset="0"/>
              </a:rPr>
              <a:t> = Unit price</a:t>
            </a:r>
            <a:br>
              <a:rPr lang="en-US" altLang="en-US" dirty="0">
                <a:latin typeface="Candara" panose="020E0502030303020204" pitchFamily="34" charset="0"/>
              </a:rPr>
            </a:br>
            <a:endParaRPr lang="en-US" altLang="en-US" dirty="0">
              <a:latin typeface="Candara" panose="020E0502030303020204" pitchFamily="34" charset="0"/>
            </a:endParaRPr>
          </a:p>
        </p:txBody>
      </p:sp>
      <p:grpSp>
        <p:nvGrpSpPr>
          <p:cNvPr id="18" name="Group 17">
            <a:extLst>
              <a:ext uri="{FF2B5EF4-FFF2-40B4-BE49-F238E27FC236}">
                <a16:creationId xmlns:a16="http://schemas.microsoft.com/office/drawing/2014/main" id="{BF67799A-1C3F-21FC-42FD-581EBC01A592}"/>
              </a:ext>
            </a:extLst>
          </p:cNvPr>
          <p:cNvGrpSpPr/>
          <p:nvPr/>
        </p:nvGrpSpPr>
        <p:grpSpPr>
          <a:xfrm>
            <a:off x="37966" y="2818483"/>
            <a:ext cx="3523217" cy="3293707"/>
            <a:chOff x="37966" y="2818483"/>
            <a:chExt cx="3523217" cy="3293707"/>
          </a:xfrm>
        </p:grpSpPr>
        <p:pic>
          <p:nvPicPr>
            <p:cNvPr id="4" name="Picture 2">
              <a:extLst>
                <a:ext uri="{FF2B5EF4-FFF2-40B4-BE49-F238E27FC236}">
                  <a16:creationId xmlns:a16="http://schemas.microsoft.com/office/drawing/2014/main" id="{6F6C9E05-FA38-DBBF-BC67-29E46068A3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44" t="12505" r="10026"/>
            <a:stretch/>
          </p:blipFill>
          <p:spPr bwMode="auto">
            <a:xfrm>
              <a:off x="174171" y="2818483"/>
              <a:ext cx="3387012" cy="3293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2A2397F4-D6A4-7DCA-5E5F-900222452A78}"/>
                </a:ext>
              </a:extLst>
            </p:cNvPr>
            <p:cNvSpPr/>
            <p:nvPr/>
          </p:nvSpPr>
          <p:spPr>
            <a:xfrm>
              <a:off x="2748775" y="5809270"/>
              <a:ext cx="812408"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Quantity</a:t>
              </a:r>
              <a:endParaRPr lang="en-US" sz="1200" b="1" dirty="0">
                <a:solidFill>
                  <a:schemeClr val="tx1"/>
                </a:solidFill>
                <a:latin typeface="Candara" panose="020E0502030303020204" pitchFamily="34" charset="0"/>
              </a:endParaRPr>
            </a:p>
          </p:txBody>
        </p:sp>
        <p:sp>
          <p:nvSpPr>
            <p:cNvPr id="10" name="Rectangle 9">
              <a:extLst>
                <a:ext uri="{FF2B5EF4-FFF2-40B4-BE49-F238E27FC236}">
                  <a16:creationId xmlns:a16="http://schemas.microsoft.com/office/drawing/2014/main" id="{22781313-8076-977C-88D5-F7FBB66A5B59}"/>
                </a:ext>
              </a:extLst>
            </p:cNvPr>
            <p:cNvSpPr/>
            <p:nvPr/>
          </p:nvSpPr>
          <p:spPr>
            <a:xfrm>
              <a:off x="37966" y="2818483"/>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Cost</a:t>
              </a:r>
              <a:endParaRPr lang="en-US" sz="1200" b="1" dirty="0">
                <a:solidFill>
                  <a:schemeClr val="tx1"/>
                </a:solidFill>
                <a:latin typeface="Candara" panose="020E0502030303020204" pitchFamily="34" charset="0"/>
              </a:endParaRPr>
            </a:p>
          </p:txBody>
        </p:sp>
        <p:sp>
          <p:nvSpPr>
            <p:cNvPr id="13" name="Rectangle 12">
              <a:extLst>
                <a:ext uri="{FF2B5EF4-FFF2-40B4-BE49-F238E27FC236}">
                  <a16:creationId xmlns:a16="http://schemas.microsoft.com/office/drawing/2014/main" id="{E7203E58-F54E-9A7A-D951-A0E205B09791}"/>
                </a:ext>
              </a:extLst>
            </p:cNvPr>
            <p:cNvSpPr/>
            <p:nvPr/>
          </p:nvSpPr>
          <p:spPr>
            <a:xfrm>
              <a:off x="1293533" y="5807635"/>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EOQ</a:t>
              </a:r>
              <a:endParaRPr lang="en-US" sz="1200" b="1" dirty="0">
                <a:solidFill>
                  <a:schemeClr val="tx1"/>
                </a:solidFill>
                <a:latin typeface="Candara" panose="020E0502030303020204" pitchFamily="34" charset="0"/>
              </a:endParaRPr>
            </a:p>
          </p:txBody>
        </p:sp>
        <p:sp>
          <p:nvSpPr>
            <p:cNvPr id="14" name="Rectangle 13">
              <a:extLst>
                <a:ext uri="{FF2B5EF4-FFF2-40B4-BE49-F238E27FC236}">
                  <a16:creationId xmlns:a16="http://schemas.microsoft.com/office/drawing/2014/main" id="{F2BBCC22-277E-3143-BC85-439345189666}"/>
                </a:ext>
              </a:extLst>
            </p:cNvPr>
            <p:cNvSpPr/>
            <p:nvPr/>
          </p:nvSpPr>
          <p:spPr>
            <a:xfrm>
              <a:off x="2606339" y="4840362"/>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PD</a:t>
              </a:r>
              <a:endParaRPr lang="en-US" sz="1200" b="1" dirty="0">
                <a:solidFill>
                  <a:schemeClr val="tx1"/>
                </a:solidFill>
                <a:latin typeface="Candara" panose="020E0502030303020204" pitchFamily="34" charset="0"/>
              </a:endParaRPr>
            </a:p>
          </p:txBody>
        </p:sp>
        <p:sp>
          <p:nvSpPr>
            <p:cNvPr id="15" name="Rectangle 14">
              <a:extLst>
                <a:ext uri="{FF2B5EF4-FFF2-40B4-BE49-F238E27FC236}">
                  <a16:creationId xmlns:a16="http://schemas.microsoft.com/office/drawing/2014/main" id="{E09C7C8E-8C0D-5ED5-FF68-898BD06E705C}"/>
                </a:ext>
              </a:extLst>
            </p:cNvPr>
            <p:cNvSpPr/>
            <p:nvPr/>
          </p:nvSpPr>
          <p:spPr>
            <a:xfrm>
              <a:off x="2057699" y="3891426"/>
              <a:ext cx="1188720" cy="253993"/>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TC Without PD</a:t>
              </a:r>
              <a:endParaRPr lang="en-US" sz="1200" b="1" dirty="0">
                <a:solidFill>
                  <a:schemeClr val="tx1"/>
                </a:solidFill>
                <a:latin typeface="Candara" panose="020E0502030303020204" pitchFamily="34" charset="0"/>
              </a:endParaRPr>
            </a:p>
          </p:txBody>
        </p:sp>
        <p:sp>
          <p:nvSpPr>
            <p:cNvPr id="16" name="Rectangle 15">
              <a:extLst>
                <a:ext uri="{FF2B5EF4-FFF2-40B4-BE49-F238E27FC236}">
                  <a16:creationId xmlns:a16="http://schemas.microsoft.com/office/drawing/2014/main" id="{D466C4F8-34E8-D236-8ACA-891487D88AED}"/>
                </a:ext>
              </a:extLst>
            </p:cNvPr>
            <p:cNvSpPr/>
            <p:nvPr/>
          </p:nvSpPr>
          <p:spPr>
            <a:xfrm>
              <a:off x="2011979" y="3280480"/>
              <a:ext cx="1188720" cy="253993"/>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TC With PD</a:t>
              </a:r>
              <a:endParaRPr lang="en-US" sz="1200" b="1" dirty="0">
                <a:solidFill>
                  <a:schemeClr val="tx1"/>
                </a:solidFill>
                <a:latin typeface="Candara" panose="020E0502030303020204" pitchFamily="34" charset="0"/>
              </a:endParaRPr>
            </a:p>
          </p:txBody>
        </p:sp>
        <p:sp>
          <p:nvSpPr>
            <p:cNvPr id="17" name="Rectangle 16">
              <a:extLst>
                <a:ext uri="{FF2B5EF4-FFF2-40B4-BE49-F238E27FC236}">
                  <a16:creationId xmlns:a16="http://schemas.microsoft.com/office/drawing/2014/main" id="{FA17DFBB-4F27-29E2-C38D-23388847E769}"/>
                </a:ext>
              </a:extLst>
            </p:cNvPr>
            <p:cNvSpPr/>
            <p:nvPr/>
          </p:nvSpPr>
          <p:spPr>
            <a:xfrm>
              <a:off x="342743" y="5779641"/>
              <a:ext cx="548640"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latin typeface="Candara" panose="020E0502030303020204" pitchFamily="34" charset="0"/>
                  <a:ea typeface="Cambria Math" panose="02040503050406030204" pitchFamily="18" charset="0"/>
                </a:rPr>
                <a:t>0</a:t>
              </a:r>
              <a:endParaRPr lang="en-US" sz="1400" dirty="0">
                <a:solidFill>
                  <a:schemeClr val="tx1"/>
                </a:solidFill>
                <a:latin typeface="Candara" panose="020E0502030303020204" pitchFamily="34" charset="0"/>
              </a:endParaRPr>
            </a:p>
          </p:txBody>
        </p:sp>
      </p:grpSp>
      <p:sp>
        <p:nvSpPr>
          <p:cNvPr id="19" name="Rectangle 18">
            <a:extLst>
              <a:ext uri="{FF2B5EF4-FFF2-40B4-BE49-F238E27FC236}">
                <a16:creationId xmlns:a16="http://schemas.microsoft.com/office/drawing/2014/main" id="{86AB572C-BFD0-B5D3-7915-E3592373AAD2}"/>
              </a:ext>
            </a:extLst>
          </p:cNvPr>
          <p:cNvSpPr/>
          <p:nvPr/>
        </p:nvSpPr>
        <p:spPr>
          <a:xfrm>
            <a:off x="1258712" y="6263791"/>
            <a:ext cx="5212080" cy="403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Candara" panose="020E0502030303020204" pitchFamily="34" charset="0"/>
                <a:ea typeface="Cambria Math" panose="02040503050406030204" pitchFamily="18" charset="0"/>
              </a:rPr>
              <a:t>Adding purchasing cost to the total cost doesn’t change the EOQ</a:t>
            </a:r>
            <a:endParaRPr lang="en-US" sz="1400" b="1" dirty="0">
              <a:solidFill>
                <a:schemeClr val="tx1"/>
              </a:solidFill>
              <a:latin typeface="Candara" panose="020E0502030303020204" pitchFamily="34" charset="0"/>
            </a:endParaRPr>
          </a:p>
        </p:txBody>
      </p:sp>
      <p:grpSp>
        <p:nvGrpSpPr>
          <p:cNvPr id="34" name="Group 33">
            <a:extLst>
              <a:ext uri="{FF2B5EF4-FFF2-40B4-BE49-F238E27FC236}">
                <a16:creationId xmlns:a16="http://schemas.microsoft.com/office/drawing/2014/main" id="{A210EB3B-31B1-1928-2C8C-734158B4C2B0}"/>
              </a:ext>
            </a:extLst>
          </p:cNvPr>
          <p:cNvGrpSpPr/>
          <p:nvPr/>
        </p:nvGrpSpPr>
        <p:grpSpPr>
          <a:xfrm>
            <a:off x="8015666" y="2769788"/>
            <a:ext cx="3800669" cy="3291840"/>
            <a:chOff x="3561183" y="2801065"/>
            <a:chExt cx="3800669" cy="3291840"/>
          </a:xfrm>
        </p:grpSpPr>
        <p:pic>
          <p:nvPicPr>
            <p:cNvPr id="5" name="Picture 3">
              <a:extLst>
                <a:ext uri="{FF2B5EF4-FFF2-40B4-BE49-F238E27FC236}">
                  <a16:creationId xmlns:a16="http://schemas.microsoft.com/office/drawing/2014/main" id="{8407DDD4-0230-BA7C-D1E9-AFF392317A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28" r="4701"/>
            <a:stretch/>
          </p:blipFill>
          <p:spPr bwMode="auto">
            <a:xfrm>
              <a:off x="3744685" y="2801065"/>
              <a:ext cx="3610947" cy="3291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B35832AE-231B-3234-5320-2E56708288AD}"/>
                </a:ext>
              </a:extLst>
            </p:cNvPr>
            <p:cNvSpPr/>
            <p:nvPr/>
          </p:nvSpPr>
          <p:spPr>
            <a:xfrm>
              <a:off x="6549444" y="5828748"/>
              <a:ext cx="812408"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Quantity</a:t>
              </a:r>
              <a:endParaRPr lang="en-US" sz="1200" b="1" dirty="0">
                <a:solidFill>
                  <a:schemeClr val="tx1"/>
                </a:solidFill>
                <a:latin typeface="Candara" panose="020E0502030303020204" pitchFamily="34" charset="0"/>
              </a:endParaRPr>
            </a:p>
          </p:txBody>
        </p:sp>
        <p:sp>
          <p:nvSpPr>
            <p:cNvPr id="11" name="Rectangle 10">
              <a:extLst>
                <a:ext uri="{FF2B5EF4-FFF2-40B4-BE49-F238E27FC236}">
                  <a16:creationId xmlns:a16="http://schemas.microsoft.com/office/drawing/2014/main" id="{932A5B44-FABD-A69C-22AF-87A28053AFA0}"/>
                </a:ext>
              </a:extLst>
            </p:cNvPr>
            <p:cNvSpPr/>
            <p:nvPr/>
          </p:nvSpPr>
          <p:spPr>
            <a:xfrm>
              <a:off x="3561183" y="2818483"/>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Cost</a:t>
              </a:r>
              <a:endParaRPr lang="en-US" sz="1200" b="1" dirty="0">
                <a:solidFill>
                  <a:schemeClr val="tx1"/>
                </a:solidFill>
                <a:latin typeface="Candara" panose="020E0502030303020204" pitchFamily="34" charset="0"/>
              </a:endParaRPr>
            </a:p>
          </p:txBody>
        </p:sp>
        <p:sp>
          <p:nvSpPr>
            <p:cNvPr id="20" name="Rectangle 19">
              <a:extLst>
                <a:ext uri="{FF2B5EF4-FFF2-40B4-BE49-F238E27FC236}">
                  <a16:creationId xmlns:a16="http://schemas.microsoft.com/office/drawing/2014/main" id="{F0A8552C-3DB5-15E7-3448-3A08A7D363CC}"/>
                </a:ext>
              </a:extLst>
            </p:cNvPr>
            <p:cNvSpPr/>
            <p:nvPr/>
          </p:nvSpPr>
          <p:spPr>
            <a:xfrm>
              <a:off x="3872048" y="5807635"/>
              <a:ext cx="548640"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latin typeface="Candara" panose="020E0502030303020204" pitchFamily="34" charset="0"/>
                  <a:ea typeface="Cambria Math" panose="02040503050406030204" pitchFamily="18" charset="0"/>
                </a:rPr>
                <a:t>0</a:t>
              </a:r>
              <a:endParaRPr lang="en-US" sz="1400" dirty="0">
                <a:solidFill>
                  <a:schemeClr val="tx1"/>
                </a:solidFill>
                <a:latin typeface="Candara" panose="020E0502030303020204" pitchFamily="34" charset="0"/>
              </a:endParaRPr>
            </a:p>
          </p:txBody>
        </p:sp>
        <p:sp>
          <p:nvSpPr>
            <p:cNvPr id="21" name="Rectangle 20">
              <a:extLst>
                <a:ext uri="{FF2B5EF4-FFF2-40B4-BE49-F238E27FC236}">
                  <a16:creationId xmlns:a16="http://schemas.microsoft.com/office/drawing/2014/main" id="{0751B834-DFCD-E9AF-B5E9-6B41F2C78984}"/>
                </a:ext>
              </a:extLst>
            </p:cNvPr>
            <p:cNvSpPr/>
            <p:nvPr/>
          </p:nvSpPr>
          <p:spPr>
            <a:xfrm>
              <a:off x="4696085" y="5807635"/>
              <a:ext cx="548640"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latin typeface="Candara" panose="020E0502030303020204" pitchFamily="34" charset="0"/>
                  <a:ea typeface="Cambria Math" panose="02040503050406030204" pitchFamily="18" charset="0"/>
                </a:rPr>
                <a:t>45</a:t>
              </a:r>
              <a:endParaRPr lang="en-US" sz="1400" dirty="0">
                <a:solidFill>
                  <a:schemeClr val="tx1"/>
                </a:solidFill>
                <a:latin typeface="Candara" panose="020E0502030303020204" pitchFamily="34" charset="0"/>
              </a:endParaRPr>
            </a:p>
          </p:txBody>
        </p:sp>
        <p:sp>
          <p:nvSpPr>
            <p:cNvPr id="22" name="Rectangle 21">
              <a:extLst>
                <a:ext uri="{FF2B5EF4-FFF2-40B4-BE49-F238E27FC236}">
                  <a16:creationId xmlns:a16="http://schemas.microsoft.com/office/drawing/2014/main" id="{B7316325-CF16-6B84-C358-F41817371B59}"/>
                </a:ext>
              </a:extLst>
            </p:cNvPr>
            <p:cNvSpPr/>
            <p:nvPr/>
          </p:nvSpPr>
          <p:spPr>
            <a:xfrm>
              <a:off x="5520122" y="5802450"/>
              <a:ext cx="548640"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latin typeface="Candara" panose="020E0502030303020204" pitchFamily="34" charset="0"/>
                  <a:ea typeface="Cambria Math" panose="02040503050406030204" pitchFamily="18" charset="0"/>
                </a:rPr>
                <a:t>70</a:t>
              </a:r>
              <a:endParaRPr lang="en-US" sz="1400" dirty="0">
                <a:solidFill>
                  <a:schemeClr val="tx1"/>
                </a:solidFill>
                <a:latin typeface="Candara" panose="020E0502030303020204" pitchFamily="34" charset="0"/>
              </a:endParaRPr>
            </a:p>
          </p:txBody>
        </p:sp>
        <p:sp>
          <p:nvSpPr>
            <p:cNvPr id="23" name="Rectangle 22">
              <a:extLst>
                <a:ext uri="{FF2B5EF4-FFF2-40B4-BE49-F238E27FC236}">
                  <a16:creationId xmlns:a16="http://schemas.microsoft.com/office/drawing/2014/main" id="{EAB7B204-2251-76B8-21CA-349C666221E0}"/>
                </a:ext>
              </a:extLst>
            </p:cNvPr>
            <p:cNvSpPr/>
            <p:nvPr/>
          </p:nvSpPr>
          <p:spPr>
            <a:xfrm>
              <a:off x="4193165" y="4732027"/>
              <a:ext cx="777240" cy="38099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dirty="0">
                  <a:solidFill>
                    <a:schemeClr val="tx1"/>
                  </a:solidFill>
                  <a:latin typeface="Candara" panose="020E0502030303020204" pitchFamily="34" charset="0"/>
                  <a:ea typeface="Cambria Math" panose="02040503050406030204" pitchFamily="18" charset="0"/>
                </a:rPr>
                <a:t>PD @ $2.00 each</a:t>
              </a:r>
              <a:endParaRPr lang="en-US" sz="1050" b="1" dirty="0">
                <a:solidFill>
                  <a:schemeClr val="tx1"/>
                </a:solidFill>
                <a:latin typeface="Candara" panose="020E0502030303020204" pitchFamily="34" charset="0"/>
              </a:endParaRPr>
            </a:p>
          </p:txBody>
        </p:sp>
        <p:sp>
          <p:nvSpPr>
            <p:cNvPr id="25" name="Rectangle 24">
              <a:extLst>
                <a:ext uri="{FF2B5EF4-FFF2-40B4-BE49-F238E27FC236}">
                  <a16:creationId xmlns:a16="http://schemas.microsoft.com/office/drawing/2014/main" id="{62334CA8-230A-7D28-0AA8-8DA8E8FD1869}"/>
                </a:ext>
              </a:extLst>
            </p:cNvPr>
            <p:cNvSpPr/>
            <p:nvPr/>
          </p:nvSpPr>
          <p:spPr>
            <a:xfrm>
              <a:off x="5872842" y="3933917"/>
              <a:ext cx="1143000" cy="22860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Candara" panose="020E0502030303020204" pitchFamily="34" charset="0"/>
                  <a:ea typeface="Cambria Math" panose="02040503050406030204" pitchFamily="18" charset="0"/>
                </a:rPr>
                <a:t>TC @ $1.40 each</a:t>
              </a:r>
              <a:endParaRPr lang="en-US" sz="1050" b="1" dirty="0">
                <a:solidFill>
                  <a:schemeClr val="tx1"/>
                </a:solidFill>
                <a:latin typeface="Candara" panose="020E0502030303020204" pitchFamily="34" charset="0"/>
              </a:endParaRPr>
            </a:p>
          </p:txBody>
        </p:sp>
        <p:sp>
          <p:nvSpPr>
            <p:cNvPr id="26" name="Rectangle 25">
              <a:extLst>
                <a:ext uri="{FF2B5EF4-FFF2-40B4-BE49-F238E27FC236}">
                  <a16:creationId xmlns:a16="http://schemas.microsoft.com/office/drawing/2014/main" id="{4C341CE6-216F-3662-E216-7DBE71C036B2}"/>
                </a:ext>
              </a:extLst>
            </p:cNvPr>
            <p:cNvSpPr/>
            <p:nvPr/>
          </p:nvSpPr>
          <p:spPr>
            <a:xfrm>
              <a:off x="5872842" y="3573748"/>
              <a:ext cx="1143000" cy="22860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Candara" panose="020E0502030303020204" pitchFamily="34" charset="0"/>
                  <a:ea typeface="Cambria Math" panose="02040503050406030204" pitchFamily="18" charset="0"/>
                </a:rPr>
                <a:t>TC @ $1.70 each</a:t>
              </a:r>
              <a:endParaRPr lang="en-US" sz="1050" b="1" dirty="0">
                <a:solidFill>
                  <a:schemeClr val="tx1"/>
                </a:solidFill>
                <a:latin typeface="Candara" panose="020E0502030303020204" pitchFamily="34" charset="0"/>
              </a:endParaRPr>
            </a:p>
          </p:txBody>
        </p:sp>
        <p:sp>
          <p:nvSpPr>
            <p:cNvPr id="27" name="Rectangle 26">
              <a:extLst>
                <a:ext uri="{FF2B5EF4-FFF2-40B4-BE49-F238E27FC236}">
                  <a16:creationId xmlns:a16="http://schemas.microsoft.com/office/drawing/2014/main" id="{7246D426-9EB2-9865-E1F2-48086A4FE462}"/>
                </a:ext>
              </a:extLst>
            </p:cNvPr>
            <p:cNvSpPr/>
            <p:nvPr/>
          </p:nvSpPr>
          <p:spPr>
            <a:xfrm>
              <a:off x="5005706" y="4870888"/>
              <a:ext cx="777240" cy="38099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dirty="0">
                  <a:solidFill>
                    <a:schemeClr val="tx1"/>
                  </a:solidFill>
                  <a:latin typeface="Candara" panose="020E0502030303020204" pitchFamily="34" charset="0"/>
                  <a:ea typeface="Cambria Math" panose="02040503050406030204" pitchFamily="18" charset="0"/>
                </a:rPr>
                <a:t>PD @ $1.70 each</a:t>
              </a:r>
              <a:endParaRPr lang="en-US" sz="1050" b="1" dirty="0">
                <a:solidFill>
                  <a:schemeClr val="tx1"/>
                </a:solidFill>
                <a:latin typeface="Candara" panose="020E0502030303020204" pitchFamily="34" charset="0"/>
              </a:endParaRPr>
            </a:p>
          </p:txBody>
        </p:sp>
        <p:sp>
          <p:nvSpPr>
            <p:cNvPr id="28" name="Rectangle 27">
              <a:extLst>
                <a:ext uri="{FF2B5EF4-FFF2-40B4-BE49-F238E27FC236}">
                  <a16:creationId xmlns:a16="http://schemas.microsoft.com/office/drawing/2014/main" id="{D9F98230-8FA0-F0C6-6C87-D21A4ECEA896}"/>
                </a:ext>
              </a:extLst>
            </p:cNvPr>
            <p:cNvSpPr/>
            <p:nvPr/>
          </p:nvSpPr>
          <p:spPr>
            <a:xfrm>
              <a:off x="5934957" y="5079953"/>
              <a:ext cx="777240" cy="38099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50" b="1" dirty="0">
                  <a:solidFill>
                    <a:schemeClr val="tx1"/>
                  </a:solidFill>
                  <a:latin typeface="Candara" panose="020E0502030303020204" pitchFamily="34" charset="0"/>
                  <a:ea typeface="Cambria Math" panose="02040503050406030204" pitchFamily="18" charset="0"/>
                </a:rPr>
                <a:t>PD @ $1.40 each</a:t>
              </a:r>
              <a:endParaRPr lang="en-US" sz="1050" b="1" dirty="0">
                <a:solidFill>
                  <a:schemeClr val="tx1"/>
                </a:solidFill>
                <a:latin typeface="Candara" panose="020E0502030303020204" pitchFamily="34" charset="0"/>
              </a:endParaRPr>
            </a:p>
          </p:txBody>
        </p:sp>
        <p:sp>
          <p:nvSpPr>
            <p:cNvPr id="29" name="Rectangle 28">
              <a:extLst>
                <a:ext uri="{FF2B5EF4-FFF2-40B4-BE49-F238E27FC236}">
                  <a16:creationId xmlns:a16="http://schemas.microsoft.com/office/drawing/2014/main" id="{164C7AA4-A971-0774-2598-EE31D28C6F1E}"/>
                </a:ext>
              </a:extLst>
            </p:cNvPr>
            <p:cNvSpPr/>
            <p:nvPr/>
          </p:nvSpPr>
          <p:spPr>
            <a:xfrm>
              <a:off x="5890915" y="3128572"/>
              <a:ext cx="1143000" cy="228600"/>
            </a:xfrm>
            <a:prstGeom prst="rect">
              <a:avLst/>
            </a:prstGeom>
            <a:solidFill>
              <a:srgbClr val="FFFE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50" b="1" dirty="0">
                  <a:solidFill>
                    <a:schemeClr val="tx1"/>
                  </a:solidFill>
                  <a:latin typeface="Candara" panose="020E0502030303020204" pitchFamily="34" charset="0"/>
                  <a:ea typeface="Cambria Math" panose="02040503050406030204" pitchFamily="18" charset="0"/>
                </a:rPr>
                <a:t>TC @ $2.00 each</a:t>
              </a:r>
              <a:endParaRPr lang="en-US" sz="1050" b="1" dirty="0">
                <a:solidFill>
                  <a:schemeClr val="tx1"/>
                </a:solidFill>
                <a:latin typeface="Candara" panose="020E0502030303020204" pitchFamily="34" charset="0"/>
              </a:endParaRPr>
            </a:p>
          </p:txBody>
        </p:sp>
        <p:sp>
          <p:nvSpPr>
            <p:cNvPr id="31" name="Oval 30">
              <a:extLst>
                <a:ext uri="{FF2B5EF4-FFF2-40B4-BE49-F238E27FC236}">
                  <a16:creationId xmlns:a16="http://schemas.microsoft.com/office/drawing/2014/main" id="{033E8F95-F349-F113-8BF2-CD09E3515BDE}"/>
                </a:ext>
              </a:extLst>
            </p:cNvPr>
            <p:cNvSpPr/>
            <p:nvPr/>
          </p:nvSpPr>
          <p:spPr>
            <a:xfrm>
              <a:off x="5092247" y="3606406"/>
              <a:ext cx="137160" cy="13716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FE9ACAC-D42D-E987-1CF2-0A95E2CABA3B}"/>
                </a:ext>
              </a:extLst>
            </p:cNvPr>
            <p:cNvSpPr/>
            <p:nvPr/>
          </p:nvSpPr>
          <p:spPr>
            <a:xfrm>
              <a:off x="5238738" y="3925831"/>
              <a:ext cx="137160" cy="13716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467153C-5487-76D6-AB9E-2E135C835B49}"/>
                </a:ext>
              </a:extLst>
            </p:cNvPr>
            <p:cNvSpPr/>
            <p:nvPr/>
          </p:nvSpPr>
          <p:spPr>
            <a:xfrm>
              <a:off x="5550158" y="4333790"/>
              <a:ext cx="137160" cy="13716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512E0B26-0C4D-BF9B-9189-049BE3D0B97D}"/>
              </a:ext>
            </a:extLst>
          </p:cNvPr>
          <p:cNvGrpSpPr/>
          <p:nvPr/>
        </p:nvGrpSpPr>
        <p:grpSpPr>
          <a:xfrm>
            <a:off x="3362130" y="3075385"/>
            <a:ext cx="4662196" cy="2743200"/>
            <a:chOff x="7172130" y="3075385"/>
            <a:chExt cx="4662196" cy="2743200"/>
          </a:xfrm>
        </p:grpSpPr>
        <p:pic>
          <p:nvPicPr>
            <p:cNvPr id="6" name="Picture 4">
              <a:extLst>
                <a:ext uri="{FF2B5EF4-FFF2-40B4-BE49-F238E27FC236}">
                  <a16:creationId xmlns:a16="http://schemas.microsoft.com/office/drawing/2014/main" id="{71EE8DBA-79D9-E858-91C5-21C3253F7A7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58" r="4218"/>
            <a:stretch/>
          </p:blipFill>
          <p:spPr bwMode="auto">
            <a:xfrm>
              <a:off x="7355632" y="3075385"/>
              <a:ext cx="4478694"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4F91E6BA-63C5-0239-048E-2B5314F844F6}"/>
                </a:ext>
              </a:extLst>
            </p:cNvPr>
            <p:cNvSpPr/>
            <p:nvPr/>
          </p:nvSpPr>
          <p:spPr>
            <a:xfrm>
              <a:off x="11021918" y="5457467"/>
              <a:ext cx="812408"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Quantity</a:t>
              </a:r>
              <a:endParaRPr lang="en-US" sz="1200" b="1" dirty="0">
                <a:solidFill>
                  <a:schemeClr val="tx1"/>
                </a:solidFill>
                <a:latin typeface="Candara" panose="020E0502030303020204" pitchFamily="34" charset="0"/>
              </a:endParaRPr>
            </a:p>
          </p:txBody>
        </p:sp>
        <p:sp>
          <p:nvSpPr>
            <p:cNvPr id="12" name="Rectangle 11">
              <a:extLst>
                <a:ext uri="{FF2B5EF4-FFF2-40B4-BE49-F238E27FC236}">
                  <a16:creationId xmlns:a16="http://schemas.microsoft.com/office/drawing/2014/main" id="{2BA5B2FB-FE79-55E3-7CC7-8EE4BBECE87F}"/>
                </a:ext>
              </a:extLst>
            </p:cNvPr>
            <p:cNvSpPr/>
            <p:nvPr/>
          </p:nvSpPr>
          <p:spPr>
            <a:xfrm>
              <a:off x="7172130" y="3175007"/>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Cost</a:t>
              </a:r>
              <a:endParaRPr lang="en-US" sz="1200" b="1" dirty="0">
                <a:solidFill>
                  <a:schemeClr val="tx1"/>
                </a:solidFill>
                <a:latin typeface="Candara" panose="020E0502030303020204" pitchFamily="34" charset="0"/>
              </a:endParaRPr>
            </a:p>
          </p:txBody>
        </p:sp>
        <p:sp>
          <p:nvSpPr>
            <p:cNvPr id="35" name="Rectangle 34">
              <a:extLst>
                <a:ext uri="{FF2B5EF4-FFF2-40B4-BE49-F238E27FC236}">
                  <a16:creationId xmlns:a16="http://schemas.microsoft.com/office/drawing/2014/main" id="{23A69F30-1D41-A65D-6EE8-C9775D4B3118}"/>
                </a:ext>
              </a:extLst>
            </p:cNvPr>
            <p:cNvSpPr/>
            <p:nvPr/>
          </p:nvSpPr>
          <p:spPr>
            <a:xfrm>
              <a:off x="8772019" y="5463889"/>
              <a:ext cx="54864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dirty="0">
                  <a:solidFill>
                    <a:schemeClr val="tx1"/>
                  </a:solidFill>
                  <a:latin typeface="Candara" panose="020E0502030303020204" pitchFamily="34" charset="0"/>
                  <a:ea typeface="Cambria Math" panose="02040503050406030204" pitchFamily="18" charset="0"/>
                </a:rPr>
                <a:t>EOQ</a:t>
              </a:r>
              <a:endParaRPr lang="en-US" sz="1200" b="1" dirty="0">
                <a:solidFill>
                  <a:schemeClr val="tx1"/>
                </a:solidFill>
                <a:latin typeface="Candara" panose="020E0502030303020204" pitchFamily="34" charset="0"/>
              </a:endParaRPr>
            </a:p>
          </p:txBody>
        </p:sp>
        <p:sp>
          <p:nvSpPr>
            <p:cNvPr id="36" name="Rectangle 35">
              <a:extLst>
                <a:ext uri="{FF2B5EF4-FFF2-40B4-BE49-F238E27FC236}">
                  <a16:creationId xmlns:a16="http://schemas.microsoft.com/office/drawing/2014/main" id="{F6FBCAF1-41D8-877C-0EE1-B37335DD8B64}"/>
                </a:ext>
              </a:extLst>
            </p:cNvPr>
            <p:cNvSpPr/>
            <p:nvPr/>
          </p:nvSpPr>
          <p:spPr>
            <a:xfrm>
              <a:off x="7515185" y="5457467"/>
              <a:ext cx="548640"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dirty="0">
                  <a:solidFill>
                    <a:schemeClr val="tx1"/>
                  </a:solidFill>
                  <a:latin typeface="Candara" panose="020E0502030303020204" pitchFamily="34" charset="0"/>
                  <a:ea typeface="Cambria Math" panose="02040503050406030204" pitchFamily="18" charset="0"/>
                </a:rPr>
                <a:t>0</a:t>
              </a:r>
              <a:endParaRPr lang="en-US" sz="1400" dirty="0">
                <a:solidFill>
                  <a:schemeClr val="tx1"/>
                </a:solidFill>
                <a:latin typeface="Candara" panose="020E0502030303020204" pitchFamily="34" charset="0"/>
              </a:endParaRP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27190A37-AE22-1ED0-BEE9-FE4790D01C7C}"/>
                    </a:ext>
                  </a:extLst>
                </p:cNvPr>
                <p:cNvSpPr/>
                <p:nvPr/>
              </p:nvSpPr>
              <p:spPr>
                <a:xfrm>
                  <a:off x="9905701" y="3501816"/>
                  <a:ext cx="36576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14:m>
                    <m:oMathPara xmlns:m="http://schemas.openxmlformats.org/officeDocument/2006/math">
                      <m:oMathParaPr>
                        <m:jc m:val="centerGroup"/>
                      </m:oMathParaPr>
                      <m:oMath xmlns:m="http://schemas.openxmlformats.org/officeDocument/2006/math">
                        <m:sSub>
                          <m:sSubPr>
                            <m:ctrlPr>
                              <a:rPr lang="en-US" sz="1200" b="1" i="1" dirty="0" smtClean="0">
                                <a:solidFill>
                                  <a:schemeClr val="tx1"/>
                                </a:solidFill>
                                <a:latin typeface="Cambria Math" panose="02040503050406030204" pitchFamily="18" charset="0"/>
                                <a:ea typeface="Cambria Math" panose="02040503050406030204" pitchFamily="18" charset="0"/>
                              </a:rPr>
                            </m:ctrlPr>
                          </m:sSubPr>
                          <m:e>
                            <m:r>
                              <a:rPr lang="en-US" sz="1200" b="1" i="0" dirty="0" smtClean="0">
                                <a:solidFill>
                                  <a:schemeClr val="tx1"/>
                                </a:solidFill>
                                <a:latin typeface="Cambria Math" panose="02040503050406030204" pitchFamily="18" charset="0"/>
                                <a:ea typeface="Cambria Math" panose="02040503050406030204" pitchFamily="18" charset="0"/>
                              </a:rPr>
                              <m:t>𝐓𝐂</m:t>
                            </m:r>
                          </m:e>
                          <m:sub>
                            <m:r>
                              <a:rPr lang="en-US" sz="1200" b="1" i="0" dirty="0" smtClean="0">
                                <a:solidFill>
                                  <a:schemeClr val="tx1"/>
                                </a:solidFill>
                                <a:latin typeface="Cambria Math" panose="02040503050406030204" pitchFamily="18" charset="0"/>
                                <a:ea typeface="Cambria Math" panose="02040503050406030204" pitchFamily="18" charset="0"/>
                              </a:rPr>
                              <m:t>𝐚</m:t>
                            </m:r>
                          </m:sub>
                        </m:sSub>
                      </m:oMath>
                    </m:oMathPara>
                  </a14:m>
                  <a:endParaRPr lang="en-US" sz="1200" b="1" dirty="0">
                    <a:solidFill>
                      <a:schemeClr val="tx1"/>
                    </a:solidFill>
                    <a:latin typeface="Candara" panose="020E0502030303020204" pitchFamily="34" charset="0"/>
                  </a:endParaRPr>
                </a:p>
              </p:txBody>
            </p:sp>
          </mc:Choice>
          <mc:Fallback xmlns="">
            <p:sp>
              <p:nvSpPr>
                <p:cNvPr id="37" name="Rectangle 36">
                  <a:extLst>
                    <a:ext uri="{FF2B5EF4-FFF2-40B4-BE49-F238E27FC236}">
                      <a16:creationId xmlns:a16="http://schemas.microsoft.com/office/drawing/2014/main" id="{27190A37-AE22-1ED0-BEE9-FE4790D01C7C}"/>
                    </a:ext>
                  </a:extLst>
                </p:cNvPr>
                <p:cNvSpPr>
                  <a:spLocks noRot="1" noChangeAspect="1" noMove="1" noResize="1" noEditPoints="1" noAdjustHandles="1" noChangeArrowheads="1" noChangeShapeType="1" noTextEdit="1"/>
                </p:cNvSpPr>
                <p:nvPr/>
              </p:nvSpPr>
              <p:spPr>
                <a:xfrm>
                  <a:off x="9905701" y="3501816"/>
                  <a:ext cx="365760" cy="253993"/>
                </a:xfrm>
                <a:prstGeom prst="rect">
                  <a:avLst/>
                </a:prstGeom>
                <a:blipFill>
                  <a:blip r:embed="rId6"/>
                  <a:stretch>
                    <a:fillRect r="-1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8E511E6E-56A0-EFAC-2CC7-5229E4302545}"/>
                    </a:ext>
                  </a:extLst>
                </p:cNvPr>
                <p:cNvSpPr/>
                <p:nvPr/>
              </p:nvSpPr>
              <p:spPr>
                <a:xfrm>
                  <a:off x="9906957" y="3756163"/>
                  <a:ext cx="36576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14:m>
                    <m:oMathPara xmlns:m="http://schemas.openxmlformats.org/officeDocument/2006/math">
                      <m:oMathParaPr>
                        <m:jc m:val="centerGroup"/>
                      </m:oMathParaPr>
                      <m:oMath xmlns:m="http://schemas.openxmlformats.org/officeDocument/2006/math">
                        <m:sSub>
                          <m:sSubPr>
                            <m:ctrlPr>
                              <a:rPr lang="en-US" sz="1200" b="1" i="1" dirty="0" smtClean="0">
                                <a:solidFill>
                                  <a:schemeClr val="tx1"/>
                                </a:solidFill>
                                <a:latin typeface="Cambria Math" panose="02040503050406030204" pitchFamily="18" charset="0"/>
                                <a:ea typeface="Cambria Math" panose="02040503050406030204" pitchFamily="18" charset="0"/>
                              </a:rPr>
                            </m:ctrlPr>
                          </m:sSubPr>
                          <m:e>
                            <m:r>
                              <a:rPr lang="en-US" sz="1200" b="1" i="0" dirty="0" smtClean="0">
                                <a:solidFill>
                                  <a:schemeClr val="tx1"/>
                                </a:solidFill>
                                <a:latin typeface="Cambria Math" panose="02040503050406030204" pitchFamily="18" charset="0"/>
                                <a:ea typeface="Cambria Math" panose="02040503050406030204" pitchFamily="18" charset="0"/>
                              </a:rPr>
                              <m:t>𝐓𝐂</m:t>
                            </m:r>
                          </m:e>
                          <m:sub>
                            <m:r>
                              <a:rPr lang="en-US" sz="1200" b="1" i="0" dirty="0" smtClean="0">
                                <a:solidFill>
                                  <a:schemeClr val="tx1"/>
                                </a:solidFill>
                                <a:latin typeface="Cambria Math" panose="02040503050406030204" pitchFamily="18" charset="0"/>
                                <a:ea typeface="Cambria Math" panose="02040503050406030204" pitchFamily="18" charset="0"/>
                              </a:rPr>
                              <m:t>𝐛</m:t>
                            </m:r>
                          </m:sub>
                        </m:sSub>
                      </m:oMath>
                    </m:oMathPara>
                  </a14:m>
                  <a:endParaRPr lang="en-US" sz="1200" b="1" dirty="0">
                    <a:solidFill>
                      <a:schemeClr val="tx1"/>
                    </a:solidFill>
                    <a:latin typeface="Candara" panose="020E0502030303020204" pitchFamily="34" charset="0"/>
                  </a:endParaRPr>
                </a:p>
              </p:txBody>
            </p:sp>
          </mc:Choice>
          <mc:Fallback xmlns="">
            <p:sp>
              <p:nvSpPr>
                <p:cNvPr id="38" name="Rectangle 37">
                  <a:extLst>
                    <a:ext uri="{FF2B5EF4-FFF2-40B4-BE49-F238E27FC236}">
                      <a16:creationId xmlns:a16="http://schemas.microsoft.com/office/drawing/2014/main" id="{8E511E6E-56A0-EFAC-2CC7-5229E4302545}"/>
                    </a:ext>
                  </a:extLst>
                </p:cNvPr>
                <p:cNvSpPr>
                  <a:spLocks noRot="1" noChangeAspect="1" noMove="1" noResize="1" noEditPoints="1" noAdjustHandles="1" noChangeArrowheads="1" noChangeShapeType="1" noTextEdit="1"/>
                </p:cNvSpPr>
                <p:nvPr/>
              </p:nvSpPr>
              <p:spPr>
                <a:xfrm>
                  <a:off x="9906957" y="3756163"/>
                  <a:ext cx="365760" cy="253993"/>
                </a:xfrm>
                <a:prstGeom prst="rect">
                  <a:avLst/>
                </a:prstGeom>
                <a:blipFill>
                  <a:blip r:embed="rId7"/>
                  <a:stretch>
                    <a:fillRect r="-8333" b="-238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29DFB97E-620F-A1F3-95D1-DA4ADC166BBF}"/>
                    </a:ext>
                  </a:extLst>
                </p:cNvPr>
                <p:cNvSpPr/>
                <p:nvPr/>
              </p:nvSpPr>
              <p:spPr>
                <a:xfrm>
                  <a:off x="9907411" y="4048217"/>
                  <a:ext cx="365760" cy="253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14:m>
                    <m:oMathPara xmlns:m="http://schemas.openxmlformats.org/officeDocument/2006/math">
                      <m:oMathParaPr>
                        <m:jc m:val="centerGroup"/>
                      </m:oMathParaPr>
                      <m:oMath xmlns:m="http://schemas.openxmlformats.org/officeDocument/2006/math">
                        <m:sSub>
                          <m:sSubPr>
                            <m:ctrlPr>
                              <a:rPr lang="en-US" sz="1200" b="1" i="1" dirty="0" smtClean="0">
                                <a:solidFill>
                                  <a:schemeClr val="tx1"/>
                                </a:solidFill>
                                <a:latin typeface="Cambria Math" panose="02040503050406030204" pitchFamily="18" charset="0"/>
                                <a:ea typeface="Cambria Math" panose="02040503050406030204" pitchFamily="18" charset="0"/>
                              </a:rPr>
                            </m:ctrlPr>
                          </m:sSubPr>
                          <m:e>
                            <m:r>
                              <a:rPr lang="en-US" sz="1200" b="1" i="0" dirty="0" smtClean="0">
                                <a:solidFill>
                                  <a:schemeClr val="tx1"/>
                                </a:solidFill>
                                <a:latin typeface="Cambria Math" panose="02040503050406030204" pitchFamily="18" charset="0"/>
                                <a:ea typeface="Cambria Math" panose="02040503050406030204" pitchFamily="18" charset="0"/>
                              </a:rPr>
                              <m:t>𝐓𝐂</m:t>
                            </m:r>
                          </m:e>
                          <m:sub>
                            <m:r>
                              <a:rPr lang="en-US" sz="1200" b="1" i="0" dirty="0" smtClean="0">
                                <a:solidFill>
                                  <a:schemeClr val="tx1"/>
                                </a:solidFill>
                                <a:latin typeface="Cambria Math" panose="02040503050406030204" pitchFamily="18" charset="0"/>
                                <a:ea typeface="Cambria Math" panose="02040503050406030204" pitchFamily="18" charset="0"/>
                              </a:rPr>
                              <m:t>𝐜</m:t>
                            </m:r>
                          </m:sub>
                        </m:sSub>
                      </m:oMath>
                    </m:oMathPara>
                  </a14:m>
                  <a:endParaRPr lang="en-US" sz="1200" b="1" dirty="0">
                    <a:solidFill>
                      <a:schemeClr val="tx1"/>
                    </a:solidFill>
                    <a:latin typeface="Candara" panose="020E0502030303020204" pitchFamily="34" charset="0"/>
                  </a:endParaRPr>
                </a:p>
              </p:txBody>
            </p:sp>
          </mc:Choice>
          <mc:Fallback xmlns="">
            <p:sp>
              <p:nvSpPr>
                <p:cNvPr id="39" name="Rectangle 38">
                  <a:extLst>
                    <a:ext uri="{FF2B5EF4-FFF2-40B4-BE49-F238E27FC236}">
                      <a16:creationId xmlns:a16="http://schemas.microsoft.com/office/drawing/2014/main" id="{29DFB97E-620F-A1F3-95D1-DA4ADC166BBF}"/>
                    </a:ext>
                  </a:extLst>
                </p:cNvPr>
                <p:cNvSpPr>
                  <a:spLocks noRot="1" noChangeAspect="1" noMove="1" noResize="1" noEditPoints="1" noAdjustHandles="1" noChangeArrowheads="1" noChangeShapeType="1" noTextEdit="1"/>
                </p:cNvSpPr>
                <p:nvPr/>
              </p:nvSpPr>
              <p:spPr>
                <a:xfrm>
                  <a:off x="9907411" y="4048217"/>
                  <a:ext cx="365760" cy="253993"/>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F8E6C7F-39DB-12AD-134F-EAEEB1EAC1A6}"/>
                    </a:ext>
                  </a:extLst>
                </p:cNvPr>
                <p:cNvSpPr/>
                <p:nvPr/>
              </p:nvSpPr>
              <p:spPr>
                <a:xfrm>
                  <a:off x="9975834" y="4709648"/>
                  <a:ext cx="64008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14:m>
                    <m:oMathPara xmlns:m="http://schemas.openxmlformats.org/officeDocument/2006/math">
                      <m:oMathParaPr>
                        <m:jc m:val="centerGroup"/>
                      </m:oMathParaPr>
                      <m:oMath xmlns:m="http://schemas.openxmlformats.org/officeDocument/2006/math">
                        <m:sSub>
                          <m:sSubPr>
                            <m:ctrlPr>
                              <a:rPr lang="en-US" sz="1200" b="1" i="1" dirty="0" smtClean="0">
                                <a:solidFill>
                                  <a:schemeClr val="tx1"/>
                                </a:solidFill>
                                <a:latin typeface="Cambria Math" panose="02040503050406030204" pitchFamily="18" charset="0"/>
                                <a:ea typeface="Cambria Math" panose="02040503050406030204" pitchFamily="18" charset="0"/>
                              </a:rPr>
                            </m:ctrlPr>
                          </m:sSubPr>
                          <m:e>
                            <m:r>
                              <a:rPr lang="en-US" sz="1200" b="1" i="0" dirty="0" smtClean="0">
                                <a:solidFill>
                                  <a:schemeClr val="tx1"/>
                                </a:solidFill>
                                <a:latin typeface="Cambria Math" panose="02040503050406030204" pitchFamily="18" charset="0"/>
                                <a:ea typeface="Cambria Math" panose="02040503050406030204" pitchFamily="18" charset="0"/>
                              </a:rPr>
                              <m:t>𝐂𝐂</m:t>
                            </m:r>
                          </m:e>
                          <m:sub>
                            <m:r>
                              <a:rPr lang="en-US" sz="1200" b="1" i="0" dirty="0" smtClean="0">
                                <a:solidFill>
                                  <a:schemeClr val="tx1"/>
                                </a:solidFill>
                                <a:latin typeface="Cambria Math" panose="02040503050406030204" pitchFamily="18" charset="0"/>
                                <a:ea typeface="Cambria Math" panose="02040503050406030204" pitchFamily="18" charset="0"/>
                              </a:rPr>
                              <m:t>𝐚</m:t>
                            </m:r>
                            <m:r>
                              <a:rPr lang="en-US" sz="1200" b="1" i="0" dirty="0" smtClean="0">
                                <a:solidFill>
                                  <a:schemeClr val="tx1"/>
                                </a:solidFill>
                                <a:latin typeface="Cambria Math" panose="02040503050406030204" pitchFamily="18" charset="0"/>
                                <a:ea typeface="Cambria Math" panose="02040503050406030204" pitchFamily="18" charset="0"/>
                              </a:rPr>
                              <m:t>,</m:t>
                            </m:r>
                            <m:r>
                              <a:rPr lang="en-US" sz="1200" b="1" i="0" dirty="0" smtClean="0">
                                <a:solidFill>
                                  <a:schemeClr val="tx1"/>
                                </a:solidFill>
                                <a:latin typeface="Cambria Math" panose="02040503050406030204" pitchFamily="18" charset="0"/>
                                <a:ea typeface="Cambria Math" panose="02040503050406030204" pitchFamily="18" charset="0"/>
                              </a:rPr>
                              <m:t>𝐛</m:t>
                            </m:r>
                            <m:r>
                              <a:rPr lang="en-US" sz="1200" b="1" i="0" dirty="0" smtClean="0">
                                <a:solidFill>
                                  <a:schemeClr val="tx1"/>
                                </a:solidFill>
                                <a:latin typeface="Cambria Math" panose="02040503050406030204" pitchFamily="18" charset="0"/>
                                <a:ea typeface="Cambria Math" panose="02040503050406030204" pitchFamily="18" charset="0"/>
                              </a:rPr>
                              <m:t>,</m:t>
                            </m:r>
                            <m:r>
                              <a:rPr lang="en-US" sz="1200" b="1" i="0" dirty="0" smtClean="0">
                                <a:solidFill>
                                  <a:schemeClr val="tx1"/>
                                </a:solidFill>
                                <a:latin typeface="Cambria Math" panose="02040503050406030204" pitchFamily="18" charset="0"/>
                                <a:ea typeface="Cambria Math" panose="02040503050406030204" pitchFamily="18" charset="0"/>
                              </a:rPr>
                              <m:t>𝐜</m:t>
                            </m:r>
                          </m:sub>
                        </m:sSub>
                      </m:oMath>
                    </m:oMathPara>
                  </a14:m>
                  <a:endParaRPr lang="en-US" sz="1200" b="1" dirty="0">
                    <a:solidFill>
                      <a:schemeClr val="tx1"/>
                    </a:solidFill>
                    <a:latin typeface="Candara" panose="020E0502030303020204" pitchFamily="34" charset="0"/>
                  </a:endParaRPr>
                </a:p>
              </p:txBody>
            </p:sp>
          </mc:Choice>
          <mc:Fallback xmlns="">
            <p:sp>
              <p:nvSpPr>
                <p:cNvPr id="40" name="Rectangle 39">
                  <a:extLst>
                    <a:ext uri="{FF2B5EF4-FFF2-40B4-BE49-F238E27FC236}">
                      <a16:creationId xmlns:a16="http://schemas.microsoft.com/office/drawing/2014/main" id="{7F8E6C7F-39DB-12AD-134F-EAEEB1EAC1A6}"/>
                    </a:ext>
                  </a:extLst>
                </p:cNvPr>
                <p:cNvSpPr>
                  <a:spLocks noRot="1" noChangeAspect="1" noMove="1" noResize="1" noEditPoints="1" noAdjustHandles="1" noChangeArrowheads="1" noChangeShapeType="1" noTextEdit="1"/>
                </p:cNvSpPr>
                <p:nvPr/>
              </p:nvSpPr>
              <p:spPr>
                <a:xfrm>
                  <a:off x="9975834" y="4709648"/>
                  <a:ext cx="640080" cy="274320"/>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C0C1C02A-7FA6-9F3D-61DA-1E1EE12BFCB7}"/>
                    </a:ext>
                  </a:extLst>
                </p:cNvPr>
                <p:cNvSpPr/>
                <p:nvPr/>
              </p:nvSpPr>
              <p:spPr>
                <a:xfrm>
                  <a:off x="9915032" y="5153079"/>
                  <a:ext cx="36576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14:m>
                    <m:oMathPara xmlns:m="http://schemas.openxmlformats.org/officeDocument/2006/math">
                      <m:oMathParaPr>
                        <m:jc m:val="centerGroup"/>
                      </m:oMathParaPr>
                      <m:oMath xmlns:m="http://schemas.openxmlformats.org/officeDocument/2006/math">
                        <m:r>
                          <a:rPr lang="en-US" sz="1200" b="1" i="0" dirty="0" smtClean="0">
                            <a:solidFill>
                              <a:schemeClr val="tx1"/>
                            </a:solidFill>
                            <a:latin typeface="Cambria Math" panose="02040503050406030204" pitchFamily="18" charset="0"/>
                            <a:ea typeface="Cambria Math" panose="02040503050406030204" pitchFamily="18" charset="0"/>
                          </a:rPr>
                          <m:t>𝐎𝐂</m:t>
                        </m:r>
                      </m:oMath>
                    </m:oMathPara>
                  </a14:m>
                  <a:endParaRPr lang="en-US" sz="1200" b="1" dirty="0">
                    <a:solidFill>
                      <a:schemeClr val="tx1"/>
                    </a:solidFill>
                    <a:latin typeface="Candara" panose="020E0502030303020204" pitchFamily="34" charset="0"/>
                  </a:endParaRPr>
                </a:p>
              </p:txBody>
            </p:sp>
          </mc:Choice>
          <mc:Fallback xmlns="">
            <p:sp>
              <p:nvSpPr>
                <p:cNvPr id="41" name="Rectangle 40">
                  <a:extLst>
                    <a:ext uri="{FF2B5EF4-FFF2-40B4-BE49-F238E27FC236}">
                      <a16:creationId xmlns:a16="http://schemas.microsoft.com/office/drawing/2014/main" id="{C0C1C02A-7FA6-9F3D-61DA-1E1EE12BFCB7}"/>
                    </a:ext>
                  </a:extLst>
                </p:cNvPr>
                <p:cNvSpPr>
                  <a:spLocks noRot="1" noChangeAspect="1" noMove="1" noResize="1" noEditPoints="1" noAdjustHandles="1" noChangeArrowheads="1" noChangeShapeType="1" noTextEdit="1"/>
                </p:cNvSpPr>
                <p:nvPr/>
              </p:nvSpPr>
              <p:spPr>
                <a:xfrm>
                  <a:off x="9915032" y="5153079"/>
                  <a:ext cx="365760" cy="274320"/>
                </a:xfrm>
                <a:prstGeom prst="rect">
                  <a:avLst/>
                </a:prstGeom>
                <a:blipFill>
                  <a:blip r:embed="rId10"/>
                  <a:stretch>
                    <a:fillRect/>
                  </a:stretch>
                </a:blipFill>
                <a:ln>
                  <a:noFill/>
                </a:ln>
              </p:spPr>
              <p:txBody>
                <a:bodyPr/>
                <a:lstStyle/>
                <a:p>
                  <a:r>
                    <a:rPr lang="en-US">
                      <a:noFill/>
                    </a:rPr>
                    <a:t> </a:t>
                  </a:r>
                </a:p>
              </p:txBody>
            </p:sp>
          </mc:Fallback>
        </mc:AlternateContent>
        <p:sp>
          <p:nvSpPr>
            <p:cNvPr id="42" name="Rectangle 41">
              <a:extLst>
                <a:ext uri="{FF2B5EF4-FFF2-40B4-BE49-F238E27FC236}">
                  <a16:creationId xmlns:a16="http://schemas.microsoft.com/office/drawing/2014/main" id="{7BFC6EB8-551B-8440-2EBD-0D1A87C87F27}"/>
                </a:ext>
              </a:extLst>
            </p:cNvPr>
            <p:cNvSpPr/>
            <p:nvPr/>
          </p:nvSpPr>
          <p:spPr>
            <a:xfrm>
              <a:off x="10516821" y="3629166"/>
              <a:ext cx="931840" cy="501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dirty="0">
                  <a:solidFill>
                    <a:schemeClr val="tx1"/>
                  </a:solidFill>
                  <a:latin typeface="Candara" panose="020E0502030303020204" pitchFamily="34" charset="0"/>
                  <a:ea typeface="Cambria Math" panose="02040503050406030204" pitchFamily="18" charset="0"/>
                </a:rPr>
                <a:t>Decreasing Price</a:t>
              </a:r>
              <a:endParaRPr lang="en-US" sz="1200" b="1" dirty="0">
                <a:solidFill>
                  <a:schemeClr val="tx1"/>
                </a:solidFill>
                <a:latin typeface="Candara" panose="020E0502030303020204" pitchFamily="34" charset="0"/>
              </a:endParaRPr>
            </a:p>
          </p:txBody>
        </p:sp>
        <p:sp>
          <p:nvSpPr>
            <p:cNvPr id="45" name="Rectangle 44">
              <a:extLst>
                <a:ext uri="{FF2B5EF4-FFF2-40B4-BE49-F238E27FC236}">
                  <a16:creationId xmlns:a16="http://schemas.microsoft.com/office/drawing/2014/main" id="{E6071E98-54AF-5102-B692-63B67AEFE52C}"/>
                </a:ext>
              </a:extLst>
            </p:cNvPr>
            <p:cNvSpPr/>
            <p:nvPr/>
          </p:nvSpPr>
          <p:spPr>
            <a:xfrm>
              <a:off x="10280792" y="3576408"/>
              <a:ext cx="266256" cy="658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200" b="1" dirty="0">
                <a:solidFill>
                  <a:schemeClr val="tx1"/>
                </a:solidFill>
                <a:latin typeface="Candara" panose="020E0502030303020204" pitchFamily="34" charset="0"/>
              </a:endParaRPr>
            </a:p>
          </p:txBody>
        </p:sp>
        <p:cxnSp>
          <p:nvCxnSpPr>
            <p:cNvPr id="44" name="Straight Arrow Connector 43">
              <a:extLst>
                <a:ext uri="{FF2B5EF4-FFF2-40B4-BE49-F238E27FC236}">
                  <a16:creationId xmlns:a16="http://schemas.microsoft.com/office/drawing/2014/main" id="{CA319BB0-E63C-5985-A8BD-73D64F549C64}"/>
                </a:ext>
              </a:extLst>
            </p:cNvPr>
            <p:cNvCxnSpPr/>
            <p:nvPr/>
          </p:nvCxnSpPr>
          <p:spPr>
            <a:xfrm>
              <a:off x="10547048" y="3520602"/>
              <a:ext cx="0" cy="6812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48FA21B5-4C6A-7195-A677-C4937AB78D8F}"/>
              </a:ext>
            </a:extLst>
          </p:cNvPr>
          <p:cNvSpPr/>
          <p:nvPr/>
        </p:nvSpPr>
        <p:spPr>
          <a:xfrm>
            <a:off x="8199169" y="6189402"/>
            <a:ext cx="3610946" cy="403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Candara" panose="020E0502030303020204" pitchFamily="34" charset="0"/>
                <a:ea typeface="Cambria Math" panose="02040503050406030204" pitchFamily="18" charset="0"/>
              </a:rPr>
              <a:t>EOQ increases with quantity discounts</a:t>
            </a:r>
            <a:endParaRPr lang="en-US" sz="1400" b="1" dirty="0">
              <a:solidFill>
                <a:schemeClr val="tx1"/>
              </a:solidFill>
              <a:latin typeface="Candara" panose="020E0502030303020204" pitchFamily="34" charset="0"/>
            </a:endParaRPr>
          </a:p>
        </p:txBody>
      </p:sp>
    </p:spTree>
    <p:extLst>
      <p:ext uri="{BB962C8B-B14F-4D97-AF65-F5344CB8AC3E}">
        <p14:creationId xmlns:p14="http://schemas.microsoft.com/office/powerpoint/2010/main" val="224456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10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D1DD15-D320-3851-2F28-09BBEEA913D6}"/>
              </a:ext>
            </a:extLst>
          </p:cNvPr>
          <p:cNvSpPr/>
          <p:nvPr/>
        </p:nvSpPr>
        <p:spPr>
          <a:xfrm>
            <a:off x="-1" y="0"/>
            <a:ext cx="398169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solidFill>
                  <a:srgbClr val="002060"/>
                </a:solidFill>
                <a:latin typeface="Candara" panose="020E0502030303020204" pitchFamily="34" charset="0"/>
              </a:rPr>
              <a:t>Steps in Analyzing a Quantity Discount </a:t>
            </a:r>
          </a:p>
        </p:txBody>
      </p:sp>
      <p:sp>
        <p:nvSpPr>
          <p:cNvPr id="3" name="Rectangle 2">
            <a:extLst>
              <a:ext uri="{FF2B5EF4-FFF2-40B4-BE49-F238E27FC236}">
                <a16:creationId xmlns:a16="http://schemas.microsoft.com/office/drawing/2014/main" id="{2FA851BE-06F6-CC24-0D9D-3D970DEC2640}"/>
              </a:ext>
            </a:extLst>
          </p:cNvPr>
          <p:cNvSpPr/>
          <p:nvPr/>
        </p:nvSpPr>
        <p:spPr>
          <a:xfrm>
            <a:off x="3981690" y="0"/>
            <a:ext cx="8210310" cy="171907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tx1"/>
                </a:solidFill>
                <a:latin typeface="Candara" panose="020E0502030303020204" pitchFamily="34" charset="0"/>
              </a:rPr>
              <a:t>For each discount, calculate Q*</a:t>
            </a:r>
          </a:p>
        </p:txBody>
      </p:sp>
      <p:sp>
        <p:nvSpPr>
          <p:cNvPr id="4" name="Rectangle 3">
            <a:extLst>
              <a:ext uri="{FF2B5EF4-FFF2-40B4-BE49-F238E27FC236}">
                <a16:creationId xmlns:a16="http://schemas.microsoft.com/office/drawing/2014/main" id="{41145057-1F9F-BC1B-BDA8-41DAC37AEF2E}"/>
              </a:ext>
            </a:extLst>
          </p:cNvPr>
          <p:cNvSpPr/>
          <p:nvPr/>
        </p:nvSpPr>
        <p:spPr>
          <a:xfrm>
            <a:off x="3981689" y="1719072"/>
            <a:ext cx="8210310" cy="1719072"/>
          </a:xfrm>
          <a:prstGeom prst="rect">
            <a:avLst/>
          </a:prstGeom>
          <a:solidFill>
            <a:srgbClr val="C6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tx1"/>
                </a:solidFill>
                <a:latin typeface="Candara" panose="020E0502030303020204" pitchFamily="34" charset="0"/>
              </a:rPr>
              <a:t>	If Q* for a discount doesn’t qualify, choose the 	smallest possible order size to get the discount</a:t>
            </a:r>
          </a:p>
        </p:txBody>
      </p:sp>
      <p:sp>
        <p:nvSpPr>
          <p:cNvPr id="5" name="Rectangle 4">
            <a:extLst>
              <a:ext uri="{FF2B5EF4-FFF2-40B4-BE49-F238E27FC236}">
                <a16:creationId xmlns:a16="http://schemas.microsoft.com/office/drawing/2014/main" id="{A39DF750-6614-5795-379E-A7FBDB4D3144}"/>
              </a:ext>
            </a:extLst>
          </p:cNvPr>
          <p:cNvSpPr/>
          <p:nvPr/>
        </p:nvSpPr>
        <p:spPr>
          <a:xfrm>
            <a:off x="3981690" y="3429000"/>
            <a:ext cx="8210310" cy="1719072"/>
          </a:xfrm>
          <a:prstGeom prst="rect">
            <a:avLst/>
          </a:prstGeom>
          <a:solidFill>
            <a:srgbClr val="A1C6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tx1"/>
                </a:solidFill>
                <a:latin typeface="Candara" panose="020E0502030303020204" pitchFamily="34" charset="0"/>
              </a:rPr>
              <a:t>	     Compute the total cost for each Q* or adjusted value from Step 2</a:t>
            </a:r>
          </a:p>
        </p:txBody>
      </p:sp>
      <p:sp>
        <p:nvSpPr>
          <p:cNvPr id="6" name="Rectangle 5">
            <a:extLst>
              <a:ext uri="{FF2B5EF4-FFF2-40B4-BE49-F238E27FC236}">
                <a16:creationId xmlns:a16="http://schemas.microsoft.com/office/drawing/2014/main" id="{581D5922-F838-243A-5C0A-7270B8996305}"/>
              </a:ext>
            </a:extLst>
          </p:cNvPr>
          <p:cNvSpPr/>
          <p:nvPr/>
        </p:nvSpPr>
        <p:spPr>
          <a:xfrm>
            <a:off x="3981690" y="5138928"/>
            <a:ext cx="8210310" cy="1719072"/>
          </a:xfrm>
          <a:prstGeom prst="rect">
            <a:avLst/>
          </a:prstGeom>
          <a:solidFill>
            <a:srgbClr val="6DA6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tx1"/>
                </a:solidFill>
                <a:latin typeface="Candara" panose="020E0502030303020204" pitchFamily="34" charset="0"/>
              </a:rPr>
              <a:t>	Select the Q* that gives the lowest total cost</a:t>
            </a:r>
          </a:p>
        </p:txBody>
      </p:sp>
      <p:sp>
        <p:nvSpPr>
          <p:cNvPr id="8" name="Isosceles Triangle 7">
            <a:extLst>
              <a:ext uri="{FF2B5EF4-FFF2-40B4-BE49-F238E27FC236}">
                <a16:creationId xmlns:a16="http://schemas.microsoft.com/office/drawing/2014/main" id="{48411DDF-2D3D-A6E5-0E28-43F718174267}"/>
              </a:ext>
            </a:extLst>
          </p:cNvPr>
          <p:cNvSpPr/>
          <p:nvPr/>
        </p:nvSpPr>
        <p:spPr>
          <a:xfrm rot="5400000" flipH="1">
            <a:off x="3601289" y="380402"/>
            <a:ext cx="1709928" cy="949124"/>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0297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500"/>
                                        <p:tgtEl>
                                          <p:spTgt spid="3"/>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4.79167E-6 2.96296E-6 L -0.00039 0.2493 " pathEditMode="relative" rAng="0" ptsTypes="AA">
                                      <p:cBhvr>
                                        <p:cTn id="14" dur="2000" fill="hold"/>
                                        <p:tgtEl>
                                          <p:spTgt spid="8"/>
                                        </p:tgtEl>
                                        <p:attrNameLst>
                                          <p:attrName>ppt_x</p:attrName>
                                          <p:attrName>ppt_y</p:attrName>
                                        </p:attrNameLst>
                                      </p:cBhvr>
                                      <p:rCtr x="-26" y="12454"/>
                                    </p:animMotion>
                                  </p:childTnLst>
                                </p:cTn>
                              </p:par>
                            </p:childTnLst>
                          </p:cTn>
                        </p:par>
                        <p:par>
                          <p:cTn id="15" fill="hold">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1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2" nodeType="clickEffect">
                                  <p:stCondLst>
                                    <p:cond delay="0"/>
                                  </p:stCondLst>
                                  <p:childTnLst>
                                    <p:animMotion origin="layout" path="M -0.00039 0.2493 L -0.00039 0.50139 " pathEditMode="relative" rAng="0" ptsTypes="AA">
                                      <p:cBhvr>
                                        <p:cTn id="22" dur="2000" fill="hold"/>
                                        <p:tgtEl>
                                          <p:spTgt spid="8"/>
                                        </p:tgtEl>
                                        <p:attrNameLst>
                                          <p:attrName>ppt_x</p:attrName>
                                          <p:attrName>ppt_y</p:attrName>
                                        </p:attrNameLst>
                                      </p:cBhvr>
                                      <p:rCtr x="-39" y="12523"/>
                                    </p:animMotion>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1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3" nodeType="clickEffect">
                                  <p:stCondLst>
                                    <p:cond delay="0"/>
                                  </p:stCondLst>
                                  <p:childTnLst>
                                    <p:animMotion origin="layout" path="M -0.00039 0.50138 L -0.00039 0.75023 " pathEditMode="relative" rAng="0" ptsTypes="AA">
                                      <p:cBhvr>
                                        <p:cTn id="30" dur="2000" fill="hold"/>
                                        <p:tgtEl>
                                          <p:spTgt spid="8"/>
                                        </p:tgtEl>
                                        <p:attrNameLst>
                                          <p:attrName>ppt_x</p:attrName>
                                          <p:attrName>ppt_y</p:attrName>
                                        </p:attrNameLst>
                                      </p:cBhvr>
                                      <p:rCtr x="0" y="12523"/>
                                    </p:animMotion>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1500"/>
                                        <p:tgtEl>
                                          <p:spTgt spid="6"/>
                                        </p:tgtEl>
                                      </p:cBhvr>
                                    </p:animEffect>
                                  </p:childTnLst>
                                </p:cTn>
                              </p:par>
                            </p:childTnLst>
                          </p:cTn>
                        </p:par>
                        <p:par>
                          <p:cTn id="35" fill="hold">
                            <p:stCondLst>
                              <p:cond delay="3500"/>
                            </p:stCondLst>
                            <p:childTnLst>
                              <p:par>
                                <p:cTn id="36" presetID="1" presetClass="exit" presetSubtype="0" fill="hold" grpId="4" nodeType="afterEffect">
                                  <p:stCondLst>
                                    <p:cond delay="0"/>
                                  </p:stCondLst>
                                  <p:childTnLst>
                                    <p:set>
                                      <p:cBhvr>
                                        <p:cTn id="37"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8" grpId="1" animBg="1"/>
      <p:bldP spid="8" grpId="2" animBg="1"/>
      <p:bldP spid="8" grpId="3" animBg="1"/>
      <p:bldP spid="8" grpId="4"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7DFD38-B602-F303-20BF-6A978BFE5076}"/>
              </a:ext>
            </a:extLst>
          </p:cNvPr>
          <p:cNvSpPr/>
          <p:nvPr/>
        </p:nvSpPr>
        <p:spPr>
          <a:xfrm>
            <a:off x="640080" y="1"/>
            <a:ext cx="11140440"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solidFill>
                  <a:srgbClr val="002060"/>
                </a:solidFill>
                <a:latin typeface="Candara" panose="020E0502030303020204" pitchFamily="34" charset="0"/>
              </a:rPr>
              <a:t>Example 5: Quantity Discount Model</a:t>
            </a:r>
          </a:p>
        </p:txBody>
      </p:sp>
      <p:sp>
        <p:nvSpPr>
          <p:cNvPr id="3" name="Content Placeholder 2">
            <a:extLst>
              <a:ext uri="{FF2B5EF4-FFF2-40B4-BE49-F238E27FC236}">
                <a16:creationId xmlns:a16="http://schemas.microsoft.com/office/drawing/2014/main" id="{E9AD8140-4BC3-96F9-E351-D7E876EA5EDE}"/>
              </a:ext>
            </a:extLst>
          </p:cNvPr>
          <p:cNvSpPr txBox="1">
            <a:spLocks/>
          </p:cNvSpPr>
          <p:nvPr/>
        </p:nvSpPr>
        <p:spPr>
          <a:xfrm>
            <a:off x="594360" y="1400532"/>
            <a:ext cx="10751664" cy="17897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dirty="0">
                <a:latin typeface="Candara" panose="020E0502030303020204" pitchFamily="34" charset="0"/>
              </a:rPr>
              <a:t>A typical quantity discount schedule of a car manufacturer is given below. The annual demand is 5,000 unit of cars. The holding cost is 20% of the purchasing cost and the ordering cost is $49 per order. Determine the EOQ.</a:t>
            </a:r>
          </a:p>
        </p:txBody>
      </p:sp>
      <p:graphicFrame>
        <p:nvGraphicFramePr>
          <p:cNvPr id="4" name="Group 4">
            <a:extLst>
              <a:ext uri="{FF2B5EF4-FFF2-40B4-BE49-F238E27FC236}">
                <a16:creationId xmlns:a16="http://schemas.microsoft.com/office/drawing/2014/main" id="{8876C374-62FD-2078-E3B3-821D1D2C48DD}"/>
              </a:ext>
            </a:extLst>
          </p:cNvPr>
          <p:cNvGraphicFramePr>
            <a:graphicFrameLocks noGrp="1"/>
          </p:cNvGraphicFramePr>
          <p:nvPr>
            <p:extLst>
              <p:ext uri="{D42A27DB-BD31-4B8C-83A1-F6EECF244321}">
                <p14:modId xmlns:p14="http://schemas.microsoft.com/office/powerpoint/2010/main" val="4109481523"/>
              </p:ext>
            </p:extLst>
          </p:nvPr>
        </p:nvGraphicFramePr>
        <p:xfrm>
          <a:off x="2241550" y="3789101"/>
          <a:ext cx="7708900" cy="2185988"/>
        </p:xfrm>
        <a:graphic>
          <a:graphicData uri="http://schemas.openxmlformats.org/drawingml/2006/table">
            <a:tbl>
              <a:tblPr/>
              <a:tblGrid>
                <a:gridCol w="1384300">
                  <a:extLst>
                    <a:ext uri="{9D8B030D-6E8A-4147-A177-3AD203B41FA5}">
                      <a16:colId xmlns:a16="http://schemas.microsoft.com/office/drawing/2014/main" val="20000"/>
                    </a:ext>
                  </a:extLst>
                </a:gridCol>
                <a:gridCol w="29337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673100">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Discount Number</a:t>
                      </a:r>
                    </a:p>
                  </a:txBody>
                  <a:tcPr anchor="ctr" horzOverflow="overflow">
                    <a:lnL cap="flat">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Discount Quantity</a:t>
                      </a: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Discount (%)</a:t>
                      </a: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Discount Price (P)</a:t>
                      </a:r>
                    </a:p>
                  </a:txBody>
                  <a:tcPr anchor="ctr" horzOverflow="overflow">
                    <a:lnL>
                      <a:noFill/>
                    </a:lnL>
                    <a:lnR cap="flat">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4188">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1</a:t>
                      </a:r>
                    </a:p>
                  </a:txBody>
                  <a:tcPr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0 to 999</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no discount</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$5.00</a:t>
                      </a:r>
                    </a:p>
                  </a:txBody>
                  <a:tcPr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2</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1,000 to 1,999</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4</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$4.80</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33400">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3</a:t>
                      </a:r>
                    </a:p>
                  </a:txBody>
                  <a:tcPr anchor="ctr" horzOverflow="overflow">
                    <a:lnL cap="flat">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2,000 and over</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5</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20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$4.75</a:t>
                      </a:r>
                    </a:p>
                  </a:txBody>
                  <a:tcPr anchor="ctr" horzOverflow="overflow">
                    <a:lnL>
                      <a:noFill/>
                    </a:lnL>
                    <a:lnR cap="flat">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7237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1E66D0DD-770D-52D6-1E9D-0D05D286EE34}"/>
              </a:ext>
            </a:extLst>
          </p:cNvPr>
          <p:cNvSpPr>
            <a:spLocks/>
          </p:cNvSpPr>
          <p:nvPr/>
        </p:nvSpPr>
        <p:spPr bwMode="auto">
          <a:xfrm>
            <a:off x="3038413" y="2849724"/>
            <a:ext cx="1098550" cy="587375"/>
          </a:xfrm>
          <a:custGeom>
            <a:avLst/>
            <a:gdLst>
              <a:gd name="T0" fmla="*/ 0 w 588"/>
              <a:gd name="T1" fmla="*/ 0 h 370"/>
              <a:gd name="T2" fmla="*/ 251313864 w 588"/>
              <a:gd name="T3" fmla="*/ 493950625 h 370"/>
              <a:gd name="T4" fmla="*/ 530552943 w 588"/>
              <a:gd name="T5" fmla="*/ 816530625 h 370"/>
              <a:gd name="T6" fmla="*/ 935448954 w 588"/>
              <a:gd name="T7" fmla="*/ 927417500 h 370"/>
              <a:gd name="T8" fmla="*/ 1354304771 w 588"/>
              <a:gd name="T9" fmla="*/ 846772500 h 370"/>
              <a:gd name="T10" fmla="*/ 1703354087 w 588"/>
              <a:gd name="T11" fmla="*/ 554434375 h 370"/>
              <a:gd name="T12" fmla="*/ 2052401535 w 588"/>
              <a:gd name="T13" fmla="*/ 100806250 h 370"/>
              <a:gd name="T14" fmla="*/ 0 60000 65536"/>
              <a:gd name="T15" fmla="*/ 0 60000 65536"/>
              <a:gd name="T16" fmla="*/ 0 60000 65536"/>
              <a:gd name="T17" fmla="*/ 0 60000 65536"/>
              <a:gd name="T18" fmla="*/ 0 60000 65536"/>
              <a:gd name="T19" fmla="*/ 0 60000 65536"/>
              <a:gd name="T20" fmla="*/ 0 60000 65536"/>
              <a:gd name="T21" fmla="*/ 0 w 588"/>
              <a:gd name="T22" fmla="*/ 0 h 370"/>
              <a:gd name="T23" fmla="*/ 588 w 588"/>
              <a:gd name="T24" fmla="*/ 370 h 3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8" h="370">
                <a:moveTo>
                  <a:pt x="0" y="0"/>
                </a:moveTo>
                <a:cubicBezTo>
                  <a:pt x="12" y="33"/>
                  <a:pt x="47" y="142"/>
                  <a:pt x="72" y="196"/>
                </a:cubicBezTo>
                <a:cubicBezTo>
                  <a:pt x="97" y="250"/>
                  <a:pt x="119" y="295"/>
                  <a:pt x="152" y="324"/>
                </a:cubicBezTo>
                <a:cubicBezTo>
                  <a:pt x="185" y="353"/>
                  <a:pt x="229" y="366"/>
                  <a:pt x="268" y="368"/>
                </a:cubicBezTo>
                <a:cubicBezTo>
                  <a:pt x="307" y="370"/>
                  <a:pt x="351" y="361"/>
                  <a:pt x="388" y="336"/>
                </a:cubicBezTo>
                <a:cubicBezTo>
                  <a:pt x="425" y="311"/>
                  <a:pt x="455" y="269"/>
                  <a:pt x="488" y="220"/>
                </a:cubicBezTo>
                <a:cubicBezTo>
                  <a:pt x="521" y="171"/>
                  <a:pt x="567" y="78"/>
                  <a:pt x="588" y="40"/>
                </a:cubicBezTo>
              </a:path>
            </a:pathLst>
          </a:custGeom>
          <a:noFill/>
          <a:ln w="101600" cmpd="sng">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anose="020E0502030303020204" pitchFamily="34" charset="0"/>
            </a:endParaRPr>
          </a:p>
        </p:txBody>
      </p:sp>
      <p:sp>
        <p:nvSpPr>
          <p:cNvPr id="3" name="Freeform 11">
            <a:extLst>
              <a:ext uri="{FF2B5EF4-FFF2-40B4-BE49-F238E27FC236}">
                <a16:creationId xmlns:a16="http://schemas.microsoft.com/office/drawing/2014/main" id="{9978AF95-146A-08B2-AB36-286B27555FFE}"/>
              </a:ext>
            </a:extLst>
          </p:cNvPr>
          <p:cNvSpPr>
            <a:spLocks/>
          </p:cNvSpPr>
          <p:nvPr/>
        </p:nvSpPr>
        <p:spPr bwMode="auto">
          <a:xfrm>
            <a:off x="5225988" y="2456024"/>
            <a:ext cx="1063625" cy="1322388"/>
          </a:xfrm>
          <a:custGeom>
            <a:avLst/>
            <a:gdLst>
              <a:gd name="T0" fmla="*/ 75604688 w 670"/>
              <a:gd name="T1" fmla="*/ 1965722618 h 833"/>
              <a:gd name="T2" fmla="*/ 156249688 w 670"/>
              <a:gd name="T3" fmla="*/ 1945561361 h 833"/>
              <a:gd name="T4" fmla="*/ 1013102813 w 670"/>
              <a:gd name="T5" fmla="*/ 1048385396 h 833"/>
              <a:gd name="T6" fmla="*/ 1688504688 w 670"/>
              <a:gd name="T7" fmla="*/ 0 h 833"/>
              <a:gd name="T8" fmla="*/ 0 60000 65536"/>
              <a:gd name="T9" fmla="*/ 0 60000 65536"/>
              <a:gd name="T10" fmla="*/ 0 60000 65536"/>
              <a:gd name="T11" fmla="*/ 0 60000 65536"/>
              <a:gd name="T12" fmla="*/ 0 w 670"/>
              <a:gd name="T13" fmla="*/ 0 h 833"/>
              <a:gd name="T14" fmla="*/ 670 w 670"/>
              <a:gd name="T15" fmla="*/ 833 h 833"/>
            </a:gdLst>
            <a:ahLst/>
            <a:cxnLst>
              <a:cxn ang="T8">
                <a:pos x="T0" y="T1"/>
              </a:cxn>
              <a:cxn ang="T9">
                <a:pos x="T2" y="T3"/>
              </a:cxn>
              <a:cxn ang="T10">
                <a:pos x="T4" y="T5"/>
              </a:cxn>
              <a:cxn ang="T11">
                <a:pos x="T6" y="T7"/>
              </a:cxn>
            </a:cxnLst>
            <a:rect l="T12" t="T13" r="T14" b="T15"/>
            <a:pathLst>
              <a:path w="670" h="833">
                <a:moveTo>
                  <a:pt x="30" y="780"/>
                </a:moveTo>
                <a:cubicBezTo>
                  <a:pt x="15" y="806"/>
                  <a:pt x="0" y="833"/>
                  <a:pt x="62" y="772"/>
                </a:cubicBezTo>
                <a:cubicBezTo>
                  <a:pt x="124" y="711"/>
                  <a:pt x="301" y="545"/>
                  <a:pt x="402" y="416"/>
                </a:cubicBezTo>
                <a:cubicBezTo>
                  <a:pt x="503" y="287"/>
                  <a:pt x="586" y="143"/>
                  <a:pt x="670" y="0"/>
                </a:cubicBezTo>
              </a:path>
            </a:pathLst>
          </a:custGeom>
          <a:noFill/>
          <a:ln w="101600" cmpd="sng">
            <a:solidFill>
              <a:srgbClr val="2FFF74"/>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anose="020E0502030303020204" pitchFamily="34" charset="0"/>
            </a:endParaRPr>
          </a:p>
        </p:txBody>
      </p:sp>
      <p:grpSp>
        <p:nvGrpSpPr>
          <p:cNvPr id="4" name="Group 43">
            <a:extLst>
              <a:ext uri="{FF2B5EF4-FFF2-40B4-BE49-F238E27FC236}">
                <a16:creationId xmlns:a16="http://schemas.microsoft.com/office/drawing/2014/main" id="{F202E7FF-AC5B-709D-263D-78CB4B53648E}"/>
              </a:ext>
            </a:extLst>
          </p:cNvPr>
          <p:cNvGrpSpPr>
            <a:grpSpLocks/>
          </p:cNvGrpSpPr>
          <p:nvPr/>
        </p:nvGrpSpPr>
        <p:grpSpPr bwMode="auto">
          <a:xfrm>
            <a:off x="3708338" y="1935324"/>
            <a:ext cx="701675" cy="4191000"/>
            <a:chOff x="1566" y="1272"/>
            <a:chExt cx="442" cy="2640"/>
          </a:xfrm>
        </p:grpSpPr>
        <p:sp>
          <p:nvSpPr>
            <p:cNvPr id="5" name="Line 7">
              <a:extLst>
                <a:ext uri="{FF2B5EF4-FFF2-40B4-BE49-F238E27FC236}">
                  <a16:creationId xmlns:a16="http://schemas.microsoft.com/office/drawing/2014/main" id="{D8B6D1A3-2789-5501-EA0D-00D2C1DCEFEE}"/>
                </a:ext>
              </a:extLst>
            </p:cNvPr>
            <p:cNvSpPr>
              <a:spLocks noChangeShapeType="1"/>
            </p:cNvSpPr>
            <p:nvPr/>
          </p:nvSpPr>
          <p:spPr bwMode="auto">
            <a:xfrm>
              <a:off x="1808" y="1272"/>
              <a:ext cx="0" cy="2384"/>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sp>
          <p:nvSpPr>
            <p:cNvPr id="6" name="Rectangle 17">
              <a:extLst>
                <a:ext uri="{FF2B5EF4-FFF2-40B4-BE49-F238E27FC236}">
                  <a16:creationId xmlns:a16="http://schemas.microsoft.com/office/drawing/2014/main" id="{C6D4D018-CE5B-2A13-E5F0-802363620A27}"/>
                </a:ext>
              </a:extLst>
            </p:cNvPr>
            <p:cNvSpPr>
              <a:spLocks noChangeArrowheads="1"/>
            </p:cNvSpPr>
            <p:nvPr/>
          </p:nvSpPr>
          <p:spPr bwMode="auto">
            <a:xfrm>
              <a:off x="1566" y="3679"/>
              <a:ext cx="442" cy="233"/>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Candara" panose="020E0502030303020204" pitchFamily="34" charset="0"/>
                </a:rPr>
                <a:t>1,000</a:t>
              </a:r>
            </a:p>
          </p:txBody>
        </p:sp>
      </p:grpSp>
      <p:grpSp>
        <p:nvGrpSpPr>
          <p:cNvPr id="7" name="Group 44">
            <a:extLst>
              <a:ext uri="{FF2B5EF4-FFF2-40B4-BE49-F238E27FC236}">
                <a16:creationId xmlns:a16="http://schemas.microsoft.com/office/drawing/2014/main" id="{6C551340-4FF9-CD49-E1D4-F281A4EC1567}"/>
              </a:ext>
            </a:extLst>
          </p:cNvPr>
          <p:cNvGrpSpPr>
            <a:grpSpLocks/>
          </p:cNvGrpSpPr>
          <p:nvPr/>
        </p:nvGrpSpPr>
        <p:grpSpPr bwMode="auto">
          <a:xfrm>
            <a:off x="4876738" y="1948024"/>
            <a:ext cx="755650" cy="4175125"/>
            <a:chOff x="2302" y="1280"/>
            <a:chExt cx="476" cy="2630"/>
          </a:xfrm>
        </p:grpSpPr>
        <p:sp>
          <p:nvSpPr>
            <p:cNvPr id="8" name="Line 8">
              <a:extLst>
                <a:ext uri="{FF2B5EF4-FFF2-40B4-BE49-F238E27FC236}">
                  <a16:creationId xmlns:a16="http://schemas.microsoft.com/office/drawing/2014/main" id="{1E93F30E-CBED-F59F-89CD-640B76AED0F1}"/>
                </a:ext>
              </a:extLst>
            </p:cNvPr>
            <p:cNvSpPr>
              <a:spLocks noChangeShapeType="1"/>
            </p:cNvSpPr>
            <p:nvPr/>
          </p:nvSpPr>
          <p:spPr bwMode="auto">
            <a:xfrm>
              <a:off x="2536" y="1280"/>
              <a:ext cx="0" cy="2384"/>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sp>
          <p:nvSpPr>
            <p:cNvPr id="9" name="Rectangle 18">
              <a:extLst>
                <a:ext uri="{FF2B5EF4-FFF2-40B4-BE49-F238E27FC236}">
                  <a16:creationId xmlns:a16="http://schemas.microsoft.com/office/drawing/2014/main" id="{4711D7F2-7966-1274-BB2E-C03B7EC6316D}"/>
                </a:ext>
              </a:extLst>
            </p:cNvPr>
            <p:cNvSpPr>
              <a:spLocks noChangeArrowheads="1"/>
            </p:cNvSpPr>
            <p:nvPr/>
          </p:nvSpPr>
          <p:spPr bwMode="auto">
            <a:xfrm>
              <a:off x="2302" y="3679"/>
              <a:ext cx="476" cy="231"/>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Candara" panose="020E0502030303020204" pitchFamily="34" charset="0"/>
                </a:rPr>
                <a:t>2,000</a:t>
              </a:r>
            </a:p>
          </p:txBody>
        </p:sp>
      </p:grpSp>
      <p:grpSp>
        <p:nvGrpSpPr>
          <p:cNvPr id="10" name="Group 42">
            <a:extLst>
              <a:ext uri="{FF2B5EF4-FFF2-40B4-BE49-F238E27FC236}">
                <a16:creationId xmlns:a16="http://schemas.microsoft.com/office/drawing/2014/main" id="{607F226F-037F-F2B5-8243-6779AB3423FF}"/>
              </a:ext>
            </a:extLst>
          </p:cNvPr>
          <p:cNvGrpSpPr>
            <a:grpSpLocks/>
          </p:cNvGrpSpPr>
          <p:nvPr/>
        </p:nvGrpSpPr>
        <p:grpSpPr bwMode="auto">
          <a:xfrm>
            <a:off x="2408176" y="1909924"/>
            <a:ext cx="6319838" cy="4559300"/>
            <a:chOff x="747" y="1256"/>
            <a:chExt cx="3981" cy="2872"/>
          </a:xfrm>
        </p:grpSpPr>
        <p:sp>
          <p:nvSpPr>
            <p:cNvPr id="11" name="Freeform 6">
              <a:extLst>
                <a:ext uri="{FF2B5EF4-FFF2-40B4-BE49-F238E27FC236}">
                  <a16:creationId xmlns:a16="http://schemas.microsoft.com/office/drawing/2014/main" id="{8E011256-AAB9-78CA-3562-07AA4D3C29E7}"/>
                </a:ext>
              </a:extLst>
            </p:cNvPr>
            <p:cNvSpPr>
              <a:spLocks/>
            </p:cNvSpPr>
            <p:nvPr/>
          </p:nvSpPr>
          <p:spPr bwMode="auto">
            <a:xfrm>
              <a:off x="1048" y="1256"/>
              <a:ext cx="3680" cy="2408"/>
            </a:xfrm>
            <a:custGeom>
              <a:avLst/>
              <a:gdLst>
                <a:gd name="T0" fmla="*/ 10 w 3392"/>
                <a:gd name="T1" fmla="*/ 0 h 2408"/>
                <a:gd name="T2" fmla="*/ 0 w 3392"/>
                <a:gd name="T3" fmla="*/ 2408 h 2408"/>
                <a:gd name="T4" fmla="*/ 3992 w 3392"/>
                <a:gd name="T5" fmla="*/ 2408 h 2408"/>
                <a:gd name="T6" fmla="*/ 0 60000 65536"/>
                <a:gd name="T7" fmla="*/ 0 60000 65536"/>
                <a:gd name="T8" fmla="*/ 0 60000 65536"/>
                <a:gd name="T9" fmla="*/ 0 w 3392"/>
                <a:gd name="T10" fmla="*/ 0 h 2408"/>
                <a:gd name="T11" fmla="*/ 3392 w 3392"/>
                <a:gd name="T12" fmla="*/ 2408 h 2408"/>
              </a:gdLst>
              <a:ahLst/>
              <a:cxnLst>
                <a:cxn ang="T6">
                  <a:pos x="T0" y="T1"/>
                </a:cxn>
                <a:cxn ang="T7">
                  <a:pos x="T2" y="T3"/>
                </a:cxn>
                <a:cxn ang="T8">
                  <a:pos x="T4" y="T5"/>
                </a:cxn>
              </a:cxnLst>
              <a:rect l="T9" t="T10" r="T11" b="T12"/>
              <a:pathLst>
                <a:path w="3392" h="2408">
                  <a:moveTo>
                    <a:pt x="8" y="0"/>
                  </a:moveTo>
                  <a:cubicBezTo>
                    <a:pt x="5" y="802"/>
                    <a:pt x="0" y="2408"/>
                    <a:pt x="0" y="2408"/>
                  </a:cubicBezTo>
                  <a:lnTo>
                    <a:pt x="3392" y="2408"/>
                  </a:lnTo>
                </a:path>
              </a:pathLst>
            </a:custGeom>
            <a:noFill/>
            <a:ln w="57150" cmpd="sng">
              <a:solidFill>
                <a:schemeClr val="tx1"/>
              </a:solidFill>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anose="020E0502030303020204" pitchFamily="34" charset="0"/>
              </a:endParaRPr>
            </a:p>
          </p:txBody>
        </p:sp>
        <p:sp>
          <p:nvSpPr>
            <p:cNvPr id="12" name="Rectangle 15">
              <a:extLst>
                <a:ext uri="{FF2B5EF4-FFF2-40B4-BE49-F238E27FC236}">
                  <a16:creationId xmlns:a16="http://schemas.microsoft.com/office/drawing/2014/main" id="{46C6122D-9E2F-D74C-E648-2CEC4D404538}"/>
                </a:ext>
              </a:extLst>
            </p:cNvPr>
            <p:cNvSpPr>
              <a:spLocks noChangeArrowheads="1"/>
            </p:cNvSpPr>
            <p:nvPr/>
          </p:nvSpPr>
          <p:spPr bwMode="auto">
            <a:xfrm rot="16200000">
              <a:off x="461" y="2278"/>
              <a:ext cx="806" cy="233"/>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Candara" panose="020E0502030303020204" pitchFamily="34" charset="0"/>
                </a:rPr>
                <a:t>Total cost $</a:t>
              </a:r>
            </a:p>
          </p:txBody>
        </p:sp>
        <p:sp>
          <p:nvSpPr>
            <p:cNvPr id="13" name="Rectangle 16">
              <a:extLst>
                <a:ext uri="{FF2B5EF4-FFF2-40B4-BE49-F238E27FC236}">
                  <a16:creationId xmlns:a16="http://schemas.microsoft.com/office/drawing/2014/main" id="{C7FFA1C5-0DF0-DFBA-5EE4-A7104697B5B6}"/>
                </a:ext>
              </a:extLst>
            </p:cNvPr>
            <p:cNvSpPr>
              <a:spLocks noChangeArrowheads="1"/>
            </p:cNvSpPr>
            <p:nvPr/>
          </p:nvSpPr>
          <p:spPr bwMode="auto">
            <a:xfrm>
              <a:off x="862" y="3679"/>
              <a:ext cx="196" cy="231"/>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Candara" panose="020E0502030303020204" pitchFamily="34" charset="0"/>
                </a:rPr>
                <a:t>0</a:t>
              </a:r>
            </a:p>
          </p:txBody>
        </p:sp>
        <p:sp>
          <p:nvSpPr>
            <p:cNvPr id="14" name="Rectangle 22">
              <a:extLst>
                <a:ext uri="{FF2B5EF4-FFF2-40B4-BE49-F238E27FC236}">
                  <a16:creationId xmlns:a16="http://schemas.microsoft.com/office/drawing/2014/main" id="{B08D0301-5C69-D50C-68C2-33A07F41D359}"/>
                </a:ext>
              </a:extLst>
            </p:cNvPr>
            <p:cNvSpPr>
              <a:spLocks noChangeArrowheads="1"/>
            </p:cNvSpPr>
            <p:nvPr/>
          </p:nvSpPr>
          <p:spPr bwMode="auto">
            <a:xfrm>
              <a:off x="2406" y="3895"/>
              <a:ext cx="1019" cy="233"/>
            </a:xfrm>
            <a:prstGeom prst="rect">
              <a:avLst/>
            </a:prstGeom>
            <a:noFill/>
            <a:ln w="9525">
              <a:noFill/>
              <a:miter lim="800000"/>
              <a:headEnd/>
              <a:tailEnd/>
            </a:ln>
            <a:effectLst/>
          </p:spPr>
          <p:txBody>
            <a:bodyPr wrap="none">
              <a:spAutoFit/>
            </a:bodyPr>
            <a:lstStyle/>
            <a:p>
              <a:pPr>
                <a:defRPr/>
              </a:pPr>
              <a:r>
                <a:rPr lang="en-US" dirty="0">
                  <a:effectLst>
                    <a:outerShdw blurRad="38100" dist="38100" dir="2700000" algn="tl">
                      <a:srgbClr val="C0C0C0"/>
                    </a:outerShdw>
                  </a:effectLst>
                  <a:latin typeface="Candara" panose="020E0502030303020204" pitchFamily="34" charset="0"/>
                </a:rPr>
                <a:t>Order quantity</a:t>
              </a:r>
            </a:p>
          </p:txBody>
        </p:sp>
      </p:grpSp>
      <p:grpSp>
        <p:nvGrpSpPr>
          <p:cNvPr id="15" name="Group 24">
            <a:extLst>
              <a:ext uri="{FF2B5EF4-FFF2-40B4-BE49-F238E27FC236}">
                <a16:creationId xmlns:a16="http://schemas.microsoft.com/office/drawing/2014/main" id="{7E0DF076-C7EE-2497-C521-1F3C90171E4D}"/>
              </a:ext>
            </a:extLst>
          </p:cNvPr>
          <p:cNvGrpSpPr>
            <a:grpSpLocks/>
          </p:cNvGrpSpPr>
          <p:nvPr/>
        </p:nvGrpSpPr>
        <p:grpSpPr bwMode="auto">
          <a:xfrm>
            <a:off x="2930463" y="2379824"/>
            <a:ext cx="2393950" cy="1838325"/>
            <a:chOff x="1076" y="1552"/>
            <a:chExt cx="1508" cy="1158"/>
          </a:xfrm>
        </p:grpSpPr>
        <p:sp>
          <p:nvSpPr>
            <p:cNvPr id="16" name="Freeform 10">
              <a:extLst>
                <a:ext uri="{FF2B5EF4-FFF2-40B4-BE49-F238E27FC236}">
                  <a16:creationId xmlns:a16="http://schemas.microsoft.com/office/drawing/2014/main" id="{FA7B36DE-2149-8ED9-301B-B26F252B7B2C}"/>
                </a:ext>
              </a:extLst>
            </p:cNvPr>
            <p:cNvSpPr>
              <a:spLocks/>
            </p:cNvSpPr>
            <p:nvPr/>
          </p:nvSpPr>
          <p:spPr bwMode="auto">
            <a:xfrm>
              <a:off x="1808" y="1552"/>
              <a:ext cx="776" cy="1029"/>
            </a:xfrm>
            <a:custGeom>
              <a:avLst/>
              <a:gdLst>
                <a:gd name="T0" fmla="*/ 0 w 776"/>
                <a:gd name="T1" fmla="*/ 1029 h 1029"/>
                <a:gd name="T2" fmla="*/ 136 w 776"/>
                <a:gd name="T3" fmla="*/ 916 h 1029"/>
                <a:gd name="T4" fmla="*/ 440 w 776"/>
                <a:gd name="T5" fmla="*/ 572 h 1029"/>
                <a:gd name="T6" fmla="*/ 624 w 776"/>
                <a:gd name="T7" fmla="*/ 284 h 1029"/>
                <a:gd name="T8" fmla="*/ 776 w 776"/>
                <a:gd name="T9" fmla="*/ 0 h 1029"/>
                <a:gd name="T10" fmla="*/ 0 60000 65536"/>
                <a:gd name="T11" fmla="*/ 0 60000 65536"/>
                <a:gd name="T12" fmla="*/ 0 60000 65536"/>
                <a:gd name="T13" fmla="*/ 0 60000 65536"/>
                <a:gd name="T14" fmla="*/ 0 60000 65536"/>
                <a:gd name="T15" fmla="*/ 0 w 776"/>
                <a:gd name="T16" fmla="*/ 0 h 1029"/>
                <a:gd name="T17" fmla="*/ 776 w 776"/>
                <a:gd name="T18" fmla="*/ 1029 h 1029"/>
              </a:gdLst>
              <a:ahLst/>
              <a:cxnLst>
                <a:cxn ang="T10">
                  <a:pos x="T0" y="T1"/>
                </a:cxn>
                <a:cxn ang="T11">
                  <a:pos x="T2" y="T3"/>
                </a:cxn>
                <a:cxn ang="T12">
                  <a:pos x="T4" y="T5"/>
                </a:cxn>
                <a:cxn ang="T13">
                  <a:pos x="T6" y="T7"/>
                </a:cxn>
                <a:cxn ang="T14">
                  <a:pos x="T8" y="T9"/>
                </a:cxn>
              </a:cxnLst>
              <a:rect l="T15" t="T16" r="T17" b="T18"/>
              <a:pathLst>
                <a:path w="776" h="1029">
                  <a:moveTo>
                    <a:pt x="0" y="1029"/>
                  </a:moveTo>
                  <a:cubicBezTo>
                    <a:pt x="23" y="1010"/>
                    <a:pt x="63" y="992"/>
                    <a:pt x="136" y="916"/>
                  </a:cubicBezTo>
                  <a:cubicBezTo>
                    <a:pt x="209" y="840"/>
                    <a:pt x="359" y="677"/>
                    <a:pt x="440" y="572"/>
                  </a:cubicBezTo>
                  <a:cubicBezTo>
                    <a:pt x="522" y="467"/>
                    <a:pt x="568" y="379"/>
                    <a:pt x="624" y="284"/>
                  </a:cubicBezTo>
                  <a:cubicBezTo>
                    <a:pt x="680" y="189"/>
                    <a:pt x="730" y="96"/>
                    <a:pt x="776" y="0"/>
                  </a:cubicBezTo>
                </a:path>
              </a:pathLst>
            </a:custGeom>
            <a:noFill/>
            <a:ln w="101600" cmpd="sng">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anose="020E0502030303020204" pitchFamily="34" charset="0"/>
              </a:endParaRPr>
            </a:p>
          </p:txBody>
        </p:sp>
        <p:sp>
          <p:nvSpPr>
            <p:cNvPr id="17" name="Freeform 23">
              <a:extLst>
                <a:ext uri="{FF2B5EF4-FFF2-40B4-BE49-F238E27FC236}">
                  <a16:creationId xmlns:a16="http://schemas.microsoft.com/office/drawing/2014/main" id="{F900C659-DCE5-83D6-C98D-E7F3C7B9A793}"/>
                </a:ext>
              </a:extLst>
            </p:cNvPr>
            <p:cNvSpPr>
              <a:spLocks/>
            </p:cNvSpPr>
            <p:nvPr/>
          </p:nvSpPr>
          <p:spPr bwMode="auto">
            <a:xfrm>
              <a:off x="1076" y="2212"/>
              <a:ext cx="740" cy="498"/>
            </a:xfrm>
            <a:custGeom>
              <a:avLst/>
              <a:gdLst>
                <a:gd name="T0" fmla="*/ 0 w 740"/>
                <a:gd name="T1" fmla="*/ 0 h 498"/>
                <a:gd name="T2" fmla="*/ 215 w 740"/>
                <a:gd name="T3" fmla="*/ 352 h 498"/>
                <a:gd name="T4" fmla="*/ 443 w 740"/>
                <a:gd name="T5" fmla="*/ 488 h 498"/>
                <a:gd name="T6" fmla="*/ 671 w 740"/>
                <a:gd name="T7" fmla="*/ 412 h 498"/>
                <a:gd name="T8" fmla="*/ 740 w 740"/>
                <a:gd name="T9" fmla="*/ 375 h 498"/>
                <a:gd name="T10" fmla="*/ 0 60000 65536"/>
                <a:gd name="T11" fmla="*/ 0 60000 65536"/>
                <a:gd name="T12" fmla="*/ 0 60000 65536"/>
                <a:gd name="T13" fmla="*/ 0 60000 65536"/>
                <a:gd name="T14" fmla="*/ 0 60000 65536"/>
                <a:gd name="T15" fmla="*/ 0 w 740"/>
                <a:gd name="T16" fmla="*/ 0 h 498"/>
                <a:gd name="T17" fmla="*/ 740 w 740"/>
                <a:gd name="T18" fmla="*/ 498 h 498"/>
              </a:gdLst>
              <a:ahLst/>
              <a:cxnLst>
                <a:cxn ang="T10">
                  <a:pos x="T0" y="T1"/>
                </a:cxn>
                <a:cxn ang="T11">
                  <a:pos x="T2" y="T3"/>
                </a:cxn>
                <a:cxn ang="T12">
                  <a:pos x="T4" y="T5"/>
                </a:cxn>
                <a:cxn ang="T13">
                  <a:pos x="T6" y="T7"/>
                </a:cxn>
                <a:cxn ang="T14">
                  <a:pos x="T8" y="T9"/>
                </a:cxn>
              </a:cxnLst>
              <a:rect l="T15" t="T16" r="T17" b="T18"/>
              <a:pathLst>
                <a:path w="740" h="498">
                  <a:moveTo>
                    <a:pt x="0" y="0"/>
                  </a:moveTo>
                  <a:cubicBezTo>
                    <a:pt x="70" y="135"/>
                    <a:pt x="141" y="271"/>
                    <a:pt x="215" y="352"/>
                  </a:cubicBezTo>
                  <a:cubicBezTo>
                    <a:pt x="289" y="433"/>
                    <a:pt x="367" y="478"/>
                    <a:pt x="443" y="488"/>
                  </a:cubicBezTo>
                  <a:cubicBezTo>
                    <a:pt x="519" y="498"/>
                    <a:pt x="628" y="436"/>
                    <a:pt x="671" y="412"/>
                  </a:cubicBezTo>
                  <a:cubicBezTo>
                    <a:pt x="714" y="388"/>
                    <a:pt x="726" y="383"/>
                    <a:pt x="740" y="375"/>
                  </a:cubicBezTo>
                </a:path>
              </a:pathLst>
            </a:custGeom>
            <a:noFill/>
            <a:ln w="101600" cap="flat" cmpd="sng">
              <a:solidFill>
                <a:schemeClr val="fo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Candara" panose="020E0502030303020204" pitchFamily="34" charset="0"/>
              </a:endParaRPr>
            </a:p>
          </p:txBody>
        </p:sp>
      </p:grpSp>
      <p:grpSp>
        <p:nvGrpSpPr>
          <p:cNvPr id="18" name="Group 35">
            <a:extLst>
              <a:ext uri="{FF2B5EF4-FFF2-40B4-BE49-F238E27FC236}">
                <a16:creationId xmlns:a16="http://schemas.microsoft.com/office/drawing/2014/main" id="{6386B83C-9656-2C12-39E9-EA43676B04BF}"/>
              </a:ext>
            </a:extLst>
          </p:cNvPr>
          <p:cNvGrpSpPr>
            <a:grpSpLocks/>
          </p:cNvGrpSpPr>
          <p:nvPr/>
        </p:nvGrpSpPr>
        <p:grpSpPr bwMode="auto">
          <a:xfrm>
            <a:off x="3454338" y="3927637"/>
            <a:ext cx="6591300" cy="917575"/>
            <a:chOff x="1406" y="2527"/>
            <a:chExt cx="4152" cy="578"/>
          </a:xfrm>
        </p:grpSpPr>
        <p:grpSp>
          <p:nvGrpSpPr>
            <p:cNvPr id="19" name="Group 34">
              <a:extLst>
                <a:ext uri="{FF2B5EF4-FFF2-40B4-BE49-F238E27FC236}">
                  <a16:creationId xmlns:a16="http://schemas.microsoft.com/office/drawing/2014/main" id="{226BBF21-CB4A-5F7F-2CE5-A663F9350D88}"/>
                </a:ext>
              </a:extLst>
            </p:cNvPr>
            <p:cNvGrpSpPr>
              <a:grpSpLocks/>
            </p:cNvGrpSpPr>
            <p:nvPr/>
          </p:nvGrpSpPr>
          <p:grpSpPr bwMode="auto">
            <a:xfrm>
              <a:off x="1406" y="2527"/>
              <a:ext cx="4152" cy="578"/>
              <a:chOff x="1406" y="2527"/>
              <a:chExt cx="4152" cy="578"/>
            </a:xfrm>
          </p:grpSpPr>
          <p:sp>
            <p:nvSpPr>
              <p:cNvPr id="21" name="Rectangle 21">
                <a:extLst>
                  <a:ext uri="{FF2B5EF4-FFF2-40B4-BE49-F238E27FC236}">
                    <a16:creationId xmlns:a16="http://schemas.microsoft.com/office/drawing/2014/main" id="{1AA4A824-E309-C133-56C5-BDD59DA72428}"/>
                  </a:ext>
                </a:extLst>
              </p:cNvPr>
              <p:cNvSpPr>
                <a:spLocks noChangeArrowheads="1"/>
              </p:cNvSpPr>
              <p:nvPr/>
            </p:nvSpPr>
            <p:spPr bwMode="auto">
              <a:xfrm>
                <a:off x="1990" y="2785"/>
                <a:ext cx="3568" cy="320"/>
              </a:xfrm>
              <a:prstGeom prst="rect">
                <a:avLst/>
              </a:prstGeom>
              <a:solidFill>
                <a:schemeClr val="bg1"/>
              </a:solidFill>
              <a:ln w="9525">
                <a:noFill/>
                <a:miter lim="800000"/>
                <a:headEnd/>
                <a:tailEnd/>
              </a:ln>
              <a:effectLst/>
            </p:spPr>
            <p:txBody>
              <a:bodyPr>
                <a:spAutoFit/>
              </a:bodyPr>
              <a:lstStyle/>
              <a:p>
                <a:pPr>
                  <a:lnSpc>
                    <a:spcPct val="85000"/>
                  </a:lnSpc>
                  <a:defRPr/>
                </a:pPr>
                <a:r>
                  <a:rPr lang="en-US" sz="1600">
                    <a:effectLst>
                      <a:outerShdw blurRad="38100" dist="38100" dir="2700000" algn="tl">
                        <a:srgbClr val="C0C0C0"/>
                      </a:outerShdw>
                    </a:effectLst>
                    <a:latin typeface="Candara" panose="020E0502030303020204" pitchFamily="34" charset="0"/>
                  </a:rPr>
                  <a:t>Q* for discount 2 is below the allowable range at point a and must be adjusted upward to 1,000 units at point b</a:t>
                </a:r>
              </a:p>
            </p:txBody>
          </p:sp>
          <p:sp>
            <p:nvSpPr>
              <p:cNvPr id="22" name="Rectangle 25">
                <a:extLst>
                  <a:ext uri="{FF2B5EF4-FFF2-40B4-BE49-F238E27FC236}">
                    <a16:creationId xmlns:a16="http://schemas.microsoft.com/office/drawing/2014/main" id="{43446FA7-5859-2B70-1CE1-3F8E9EF37743}"/>
                  </a:ext>
                </a:extLst>
              </p:cNvPr>
              <p:cNvSpPr>
                <a:spLocks noChangeArrowheads="1"/>
              </p:cNvSpPr>
              <p:nvPr/>
            </p:nvSpPr>
            <p:spPr bwMode="auto">
              <a:xfrm>
                <a:off x="1406" y="2719"/>
                <a:ext cx="196" cy="252"/>
              </a:xfrm>
              <a:prstGeom prst="rect">
                <a:avLst/>
              </a:prstGeom>
              <a:noFill/>
              <a:ln w="9525">
                <a:noFill/>
                <a:miter lim="800000"/>
                <a:headEnd/>
                <a:tailEnd/>
              </a:ln>
              <a:effectLst/>
            </p:spPr>
            <p:txBody>
              <a:bodyPr wrap="none">
                <a:spAutoFit/>
              </a:bodyPr>
              <a:lstStyle/>
              <a:p>
                <a:pPr>
                  <a:defRPr/>
                </a:pPr>
                <a:r>
                  <a:rPr lang="en-US" sz="2000">
                    <a:effectLst>
                      <a:outerShdw blurRad="38100" dist="38100" dir="2700000" algn="tl">
                        <a:srgbClr val="C0C0C0"/>
                      </a:outerShdw>
                    </a:effectLst>
                    <a:latin typeface="Candara" panose="020E0502030303020204" pitchFamily="34" charset="0"/>
                  </a:rPr>
                  <a:t>a</a:t>
                </a:r>
              </a:p>
            </p:txBody>
          </p:sp>
          <p:sp>
            <p:nvSpPr>
              <p:cNvPr id="23" name="Rectangle 26">
                <a:extLst>
                  <a:ext uri="{FF2B5EF4-FFF2-40B4-BE49-F238E27FC236}">
                    <a16:creationId xmlns:a16="http://schemas.microsoft.com/office/drawing/2014/main" id="{966F2DFE-2335-93AC-C377-61A99A01AC40}"/>
                  </a:ext>
                </a:extLst>
              </p:cNvPr>
              <p:cNvSpPr>
                <a:spLocks noChangeArrowheads="1"/>
              </p:cNvSpPr>
              <p:nvPr/>
            </p:nvSpPr>
            <p:spPr bwMode="auto">
              <a:xfrm>
                <a:off x="1798" y="2527"/>
                <a:ext cx="214" cy="250"/>
              </a:xfrm>
              <a:prstGeom prst="rect">
                <a:avLst/>
              </a:prstGeom>
              <a:noFill/>
              <a:ln w="9525">
                <a:noFill/>
                <a:miter lim="800000"/>
                <a:headEnd/>
                <a:tailEnd/>
              </a:ln>
              <a:effectLst/>
            </p:spPr>
            <p:txBody>
              <a:bodyPr wrap="none">
                <a:spAutoFit/>
              </a:bodyPr>
              <a:lstStyle/>
              <a:p>
                <a:pPr>
                  <a:defRPr/>
                </a:pPr>
                <a:r>
                  <a:rPr lang="en-US" sz="2000">
                    <a:effectLst>
                      <a:outerShdw blurRad="38100" dist="38100" dir="2700000" algn="tl">
                        <a:srgbClr val="C0C0C0"/>
                      </a:outerShdw>
                    </a:effectLst>
                    <a:latin typeface="Candara" panose="020E0502030303020204" pitchFamily="34" charset="0"/>
                  </a:rPr>
                  <a:t>b</a:t>
                </a:r>
              </a:p>
            </p:txBody>
          </p:sp>
          <p:sp>
            <p:nvSpPr>
              <p:cNvPr id="24" name="Oval 27">
                <a:extLst>
                  <a:ext uri="{FF2B5EF4-FFF2-40B4-BE49-F238E27FC236}">
                    <a16:creationId xmlns:a16="http://schemas.microsoft.com/office/drawing/2014/main" id="{E24A959B-D370-8FCB-8F15-C58A8944B1B1}"/>
                  </a:ext>
                </a:extLst>
              </p:cNvPr>
              <p:cNvSpPr>
                <a:spLocks noChangeArrowheads="1"/>
              </p:cNvSpPr>
              <p:nvPr/>
            </p:nvSpPr>
            <p:spPr bwMode="auto">
              <a:xfrm>
                <a:off x="1760" y="2528"/>
                <a:ext cx="104" cy="104"/>
              </a:xfrm>
              <a:prstGeom prst="ellipse">
                <a:avLst/>
              </a:prstGeom>
              <a:solidFill>
                <a:schemeClr val="folHlink"/>
              </a:solidFill>
              <a:ln w="9525">
                <a:solidFill>
                  <a:schemeClr val="folHlink"/>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latin typeface="Candara" panose="020E0502030303020204" pitchFamily="34" charset="0"/>
                </a:endParaRPr>
              </a:p>
            </p:txBody>
          </p:sp>
          <p:sp>
            <p:nvSpPr>
              <p:cNvPr id="25" name="Oval 28">
                <a:extLst>
                  <a:ext uri="{FF2B5EF4-FFF2-40B4-BE49-F238E27FC236}">
                    <a16:creationId xmlns:a16="http://schemas.microsoft.com/office/drawing/2014/main" id="{E40A52E5-0DFE-FB45-8B0F-31F2F42DD0C2}"/>
                  </a:ext>
                </a:extLst>
              </p:cNvPr>
              <p:cNvSpPr>
                <a:spLocks noChangeArrowheads="1"/>
              </p:cNvSpPr>
              <p:nvPr/>
            </p:nvSpPr>
            <p:spPr bwMode="auto">
              <a:xfrm>
                <a:off x="1464" y="2640"/>
                <a:ext cx="104" cy="104"/>
              </a:xfrm>
              <a:prstGeom prst="ellipse">
                <a:avLst/>
              </a:prstGeom>
              <a:solidFill>
                <a:schemeClr val="folHlink"/>
              </a:solidFill>
              <a:ln w="9525">
                <a:solidFill>
                  <a:schemeClr val="folHlink"/>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latin typeface="Candara" panose="020E0502030303020204" pitchFamily="34" charset="0"/>
                </a:endParaRPr>
              </a:p>
            </p:txBody>
          </p:sp>
        </p:grpSp>
        <p:sp>
          <p:nvSpPr>
            <p:cNvPr id="20" name="Line 30">
              <a:extLst>
                <a:ext uri="{FF2B5EF4-FFF2-40B4-BE49-F238E27FC236}">
                  <a16:creationId xmlns:a16="http://schemas.microsoft.com/office/drawing/2014/main" id="{4B83298B-7252-BA0E-920A-14C81D661A62}"/>
                </a:ext>
              </a:extLst>
            </p:cNvPr>
            <p:cNvSpPr>
              <a:spLocks noChangeShapeType="1"/>
            </p:cNvSpPr>
            <p:nvPr/>
          </p:nvSpPr>
          <p:spPr bwMode="auto">
            <a:xfrm flipH="1" flipV="1">
              <a:off x="1536" y="2712"/>
              <a:ext cx="480" cy="1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grpSp>
        <p:nvGrpSpPr>
          <p:cNvPr id="26" name="Group 45">
            <a:extLst>
              <a:ext uri="{FF2B5EF4-FFF2-40B4-BE49-F238E27FC236}">
                <a16:creationId xmlns:a16="http://schemas.microsoft.com/office/drawing/2014/main" id="{DA3B2C4D-0D84-03DF-41D6-C2518AE58AB0}"/>
              </a:ext>
            </a:extLst>
          </p:cNvPr>
          <p:cNvGrpSpPr>
            <a:grpSpLocks/>
          </p:cNvGrpSpPr>
          <p:nvPr/>
        </p:nvGrpSpPr>
        <p:grpSpPr bwMode="auto">
          <a:xfrm>
            <a:off x="2920938" y="5111912"/>
            <a:ext cx="1111250" cy="544512"/>
            <a:chOff x="1070" y="3273"/>
            <a:chExt cx="700" cy="343"/>
          </a:xfrm>
        </p:grpSpPr>
        <p:sp>
          <p:nvSpPr>
            <p:cNvPr id="27" name="Rectangle 19">
              <a:extLst>
                <a:ext uri="{FF2B5EF4-FFF2-40B4-BE49-F238E27FC236}">
                  <a16:creationId xmlns:a16="http://schemas.microsoft.com/office/drawing/2014/main" id="{D4E65B29-952B-3236-9C59-94CA5865B363}"/>
                </a:ext>
              </a:extLst>
            </p:cNvPr>
            <p:cNvSpPr>
              <a:spLocks noChangeArrowheads="1"/>
            </p:cNvSpPr>
            <p:nvPr/>
          </p:nvSpPr>
          <p:spPr bwMode="auto">
            <a:xfrm>
              <a:off x="1070" y="3273"/>
              <a:ext cx="700" cy="320"/>
            </a:xfrm>
            <a:prstGeom prst="rect">
              <a:avLst/>
            </a:prstGeom>
            <a:noFill/>
            <a:ln w="9525">
              <a:noFill/>
              <a:miter lim="800000"/>
              <a:headEnd/>
              <a:tailEnd/>
            </a:ln>
            <a:effectLst/>
          </p:spPr>
          <p:txBody>
            <a:bodyPr>
              <a:spAutoFit/>
            </a:bodyPr>
            <a:lstStyle/>
            <a:p>
              <a:pPr>
                <a:lnSpc>
                  <a:spcPct val="85000"/>
                </a:lnSpc>
                <a:defRPr/>
              </a:pPr>
              <a:r>
                <a:rPr lang="en-US" sz="1600">
                  <a:effectLst>
                    <a:outerShdw blurRad="38100" dist="38100" dir="2700000" algn="tl">
                      <a:srgbClr val="C0C0C0"/>
                    </a:outerShdw>
                  </a:effectLst>
                  <a:latin typeface="Candara" panose="020E0502030303020204" pitchFamily="34" charset="0"/>
                </a:rPr>
                <a:t>1st price break</a:t>
              </a:r>
            </a:p>
          </p:txBody>
        </p:sp>
        <p:sp>
          <p:nvSpPr>
            <p:cNvPr id="28" name="Line 32">
              <a:extLst>
                <a:ext uri="{FF2B5EF4-FFF2-40B4-BE49-F238E27FC236}">
                  <a16:creationId xmlns:a16="http://schemas.microsoft.com/office/drawing/2014/main" id="{1BF900CB-170C-788B-9563-B145B07AE455}"/>
                </a:ext>
              </a:extLst>
            </p:cNvPr>
            <p:cNvSpPr>
              <a:spLocks noChangeShapeType="1"/>
            </p:cNvSpPr>
            <p:nvPr/>
          </p:nvSpPr>
          <p:spPr bwMode="auto">
            <a:xfrm>
              <a:off x="1504" y="3480"/>
              <a:ext cx="235" cy="136"/>
            </a:xfrm>
            <a:prstGeom prst="line">
              <a:avLst/>
            </a:prstGeom>
            <a:noFill/>
            <a:ln w="38100">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grpSp>
        <p:nvGrpSpPr>
          <p:cNvPr id="29" name="Group 46">
            <a:extLst>
              <a:ext uri="{FF2B5EF4-FFF2-40B4-BE49-F238E27FC236}">
                <a16:creationId xmlns:a16="http://schemas.microsoft.com/office/drawing/2014/main" id="{C8E35945-7635-C9A7-63E0-6F6E95C5DE13}"/>
              </a:ext>
            </a:extLst>
          </p:cNvPr>
          <p:cNvGrpSpPr>
            <a:grpSpLocks/>
          </p:cNvGrpSpPr>
          <p:nvPr/>
        </p:nvGrpSpPr>
        <p:grpSpPr bwMode="auto">
          <a:xfrm>
            <a:off x="4089338" y="5111912"/>
            <a:ext cx="1165225" cy="544512"/>
            <a:chOff x="1806" y="3273"/>
            <a:chExt cx="734" cy="343"/>
          </a:xfrm>
        </p:grpSpPr>
        <p:sp>
          <p:nvSpPr>
            <p:cNvPr id="30" name="Rectangle 20">
              <a:extLst>
                <a:ext uri="{FF2B5EF4-FFF2-40B4-BE49-F238E27FC236}">
                  <a16:creationId xmlns:a16="http://schemas.microsoft.com/office/drawing/2014/main" id="{03EAC065-7267-2B4A-CEF7-8EC9558E5FED}"/>
                </a:ext>
              </a:extLst>
            </p:cNvPr>
            <p:cNvSpPr>
              <a:spLocks noChangeArrowheads="1"/>
            </p:cNvSpPr>
            <p:nvPr/>
          </p:nvSpPr>
          <p:spPr bwMode="auto">
            <a:xfrm>
              <a:off x="1806" y="3273"/>
              <a:ext cx="734" cy="320"/>
            </a:xfrm>
            <a:prstGeom prst="rect">
              <a:avLst/>
            </a:prstGeom>
            <a:noFill/>
            <a:ln w="9525">
              <a:noFill/>
              <a:miter lim="800000"/>
              <a:headEnd/>
              <a:tailEnd/>
            </a:ln>
            <a:effectLst/>
          </p:spPr>
          <p:txBody>
            <a:bodyPr>
              <a:spAutoFit/>
            </a:bodyPr>
            <a:lstStyle/>
            <a:p>
              <a:pPr>
                <a:lnSpc>
                  <a:spcPct val="85000"/>
                </a:lnSpc>
                <a:defRPr/>
              </a:pPr>
              <a:r>
                <a:rPr lang="en-US" sz="1600">
                  <a:effectLst>
                    <a:outerShdw blurRad="38100" dist="38100" dir="2700000" algn="tl">
                      <a:srgbClr val="C0C0C0"/>
                    </a:outerShdw>
                  </a:effectLst>
                  <a:latin typeface="Candara" panose="020E0502030303020204" pitchFamily="34" charset="0"/>
                </a:rPr>
                <a:t>2nd price break</a:t>
              </a:r>
            </a:p>
          </p:txBody>
        </p:sp>
        <p:sp>
          <p:nvSpPr>
            <p:cNvPr id="31" name="Line 33">
              <a:extLst>
                <a:ext uri="{FF2B5EF4-FFF2-40B4-BE49-F238E27FC236}">
                  <a16:creationId xmlns:a16="http://schemas.microsoft.com/office/drawing/2014/main" id="{943EED3A-CFD1-48EF-14A8-1285C8267899}"/>
                </a:ext>
              </a:extLst>
            </p:cNvPr>
            <p:cNvSpPr>
              <a:spLocks noChangeShapeType="1"/>
            </p:cNvSpPr>
            <p:nvPr/>
          </p:nvSpPr>
          <p:spPr bwMode="auto">
            <a:xfrm>
              <a:off x="2248" y="3480"/>
              <a:ext cx="235" cy="136"/>
            </a:xfrm>
            <a:prstGeom prst="line">
              <a:avLst/>
            </a:prstGeom>
            <a:noFill/>
            <a:ln w="38100">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grpSp>
        <p:nvGrpSpPr>
          <p:cNvPr id="32" name="Group 41">
            <a:extLst>
              <a:ext uri="{FF2B5EF4-FFF2-40B4-BE49-F238E27FC236}">
                <a16:creationId xmlns:a16="http://schemas.microsoft.com/office/drawing/2014/main" id="{7364B99D-229F-0E35-F760-9EBBC931FE87}"/>
              </a:ext>
            </a:extLst>
          </p:cNvPr>
          <p:cNvGrpSpPr>
            <a:grpSpLocks/>
          </p:cNvGrpSpPr>
          <p:nvPr/>
        </p:nvGrpSpPr>
        <p:grpSpPr bwMode="auto">
          <a:xfrm>
            <a:off x="2819338" y="2086137"/>
            <a:ext cx="1377950" cy="1220787"/>
            <a:chOff x="1006" y="1367"/>
            <a:chExt cx="868" cy="769"/>
          </a:xfrm>
        </p:grpSpPr>
        <p:sp>
          <p:nvSpPr>
            <p:cNvPr id="33" name="Rectangle 12">
              <a:extLst>
                <a:ext uri="{FF2B5EF4-FFF2-40B4-BE49-F238E27FC236}">
                  <a16:creationId xmlns:a16="http://schemas.microsoft.com/office/drawing/2014/main" id="{91060A33-EACE-3F88-EB90-19DC295B74BA}"/>
                </a:ext>
              </a:extLst>
            </p:cNvPr>
            <p:cNvSpPr>
              <a:spLocks noChangeArrowheads="1"/>
            </p:cNvSpPr>
            <p:nvPr/>
          </p:nvSpPr>
          <p:spPr bwMode="auto">
            <a:xfrm>
              <a:off x="1006" y="1367"/>
              <a:ext cx="868" cy="451"/>
            </a:xfrm>
            <a:prstGeom prst="rect">
              <a:avLst/>
            </a:prstGeom>
            <a:noFill/>
            <a:ln w="9525">
              <a:noFill/>
              <a:miter lim="800000"/>
              <a:headEnd/>
              <a:tailEnd/>
            </a:ln>
            <a:effectLst/>
          </p:spPr>
          <p:txBody>
            <a:bodyPr>
              <a:spAutoFit/>
            </a:bodyPr>
            <a:lstStyle/>
            <a:p>
              <a:pPr algn="ctr">
                <a:lnSpc>
                  <a:spcPct val="85000"/>
                </a:lnSpc>
                <a:defRPr/>
              </a:pPr>
              <a:r>
                <a:rPr lang="en-US" sz="1600">
                  <a:effectLst>
                    <a:outerShdw blurRad="38100" dist="38100" dir="2700000" algn="tl">
                      <a:srgbClr val="C0C0C0"/>
                    </a:outerShdw>
                  </a:effectLst>
                  <a:latin typeface="Candara" panose="020E0502030303020204" pitchFamily="34" charset="0"/>
                </a:rPr>
                <a:t>Total cost curve for discount 1</a:t>
              </a:r>
            </a:p>
          </p:txBody>
        </p:sp>
        <p:sp>
          <p:nvSpPr>
            <p:cNvPr id="34" name="Line 36">
              <a:extLst>
                <a:ext uri="{FF2B5EF4-FFF2-40B4-BE49-F238E27FC236}">
                  <a16:creationId xmlns:a16="http://schemas.microsoft.com/office/drawing/2014/main" id="{50406855-B782-52CA-41EF-746FCAE9BF96}"/>
                </a:ext>
              </a:extLst>
            </p:cNvPr>
            <p:cNvSpPr>
              <a:spLocks noChangeShapeType="1"/>
            </p:cNvSpPr>
            <p:nvPr/>
          </p:nvSpPr>
          <p:spPr bwMode="auto">
            <a:xfrm>
              <a:off x="1456" y="1816"/>
              <a:ext cx="0" cy="320"/>
            </a:xfrm>
            <a:prstGeom prst="line">
              <a:avLst/>
            </a:prstGeom>
            <a:noFill/>
            <a:ln w="38100">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grpSp>
        <p:nvGrpSpPr>
          <p:cNvPr id="35" name="Group 40">
            <a:extLst>
              <a:ext uri="{FF2B5EF4-FFF2-40B4-BE49-F238E27FC236}">
                <a16:creationId xmlns:a16="http://schemas.microsoft.com/office/drawing/2014/main" id="{BCA1E2BE-5217-B93A-73B1-25CBC0EA4D4A}"/>
              </a:ext>
            </a:extLst>
          </p:cNvPr>
          <p:cNvGrpSpPr>
            <a:grpSpLocks/>
          </p:cNvGrpSpPr>
          <p:nvPr/>
        </p:nvGrpSpPr>
        <p:grpSpPr bwMode="auto">
          <a:xfrm>
            <a:off x="5362513" y="1932149"/>
            <a:ext cx="3252788" cy="612775"/>
            <a:chOff x="2608" y="1270"/>
            <a:chExt cx="2049" cy="386"/>
          </a:xfrm>
        </p:grpSpPr>
        <p:sp>
          <p:nvSpPr>
            <p:cNvPr id="36" name="Rectangle 13">
              <a:extLst>
                <a:ext uri="{FF2B5EF4-FFF2-40B4-BE49-F238E27FC236}">
                  <a16:creationId xmlns:a16="http://schemas.microsoft.com/office/drawing/2014/main" id="{62B305D8-7D7C-0B57-498A-8190EBEF058C}"/>
                </a:ext>
              </a:extLst>
            </p:cNvPr>
            <p:cNvSpPr>
              <a:spLocks noChangeArrowheads="1"/>
            </p:cNvSpPr>
            <p:nvPr/>
          </p:nvSpPr>
          <p:spPr bwMode="auto">
            <a:xfrm>
              <a:off x="2902" y="1270"/>
              <a:ext cx="1755" cy="213"/>
            </a:xfrm>
            <a:prstGeom prst="rect">
              <a:avLst/>
            </a:prstGeom>
            <a:noFill/>
            <a:ln w="9525">
              <a:noFill/>
              <a:miter lim="800000"/>
              <a:headEnd/>
              <a:tailEnd/>
            </a:ln>
            <a:effectLst/>
          </p:spPr>
          <p:txBody>
            <a:bodyPr wrap="none">
              <a:spAutoFit/>
            </a:bodyPr>
            <a:lstStyle/>
            <a:p>
              <a:pPr>
                <a:defRPr/>
              </a:pPr>
              <a:r>
                <a:rPr lang="en-US" sz="1600">
                  <a:effectLst>
                    <a:outerShdw blurRad="38100" dist="38100" dir="2700000" algn="tl">
                      <a:srgbClr val="C0C0C0"/>
                    </a:outerShdw>
                  </a:effectLst>
                  <a:latin typeface="Candara" panose="020E0502030303020204" pitchFamily="34" charset="0"/>
                </a:rPr>
                <a:t>Total cost curve for discount 2</a:t>
              </a:r>
            </a:p>
          </p:txBody>
        </p:sp>
        <p:sp>
          <p:nvSpPr>
            <p:cNvPr id="37" name="Line 37">
              <a:extLst>
                <a:ext uri="{FF2B5EF4-FFF2-40B4-BE49-F238E27FC236}">
                  <a16:creationId xmlns:a16="http://schemas.microsoft.com/office/drawing/2014/main" id="{E711896C-E134-0219-4983-4EB1564991BA}"/>
                </a:ext>
              </a:extLst>
            </p:cNvPr>
            <p:cNvSpPr>
              <a:spLocks noChangeShapeType="1"/>
            </p:cNvSpPr>
            <p:nvPr/>
          </p:nvSpPr>
          <p:spPr bwMode="auto">
            <a:xfrm flipH="1">
              <a:off x="2608" y="1472"/>
              <a:ext cx="472" cy="184"/>
            </a:xfrm>
            <a:prstGeom prst="line">
              <a:avLst/>
            </a:prstGeom>
            <a:noFill/>
            <a:ln w="38100">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grpSp>
        <p:nvGrpSpPr>
          <p:cNvPr id="38" name="Group 39">
            <a:extLst>
              <a:ext uri="{FF2B5EF4-FFF2-40B4-BE49-F238E27FC236}">
                <a16:creationId xmlns:a16="http://schemas.microsoft.com/office/drawing/2014/main" id="{6A1FC05B-77BC-597C-ADC2-B607FE538E17}"/>
              </a:ext>
            </a:extLst>
          </p:cNvPr>
          <p:cNvGrpSpPr>
            <a:grpSpLocks/>
          </p:cNvGrpSpPr>
          <p:nvPr/>
        </p:nvGrpSpPr>
        <p:grpSpPr bwMode="auto">
          <a:xfrm>
            <a:off x="5540312" y="3560928"/>
            <a:ext cx="3130550" cy="474663"/>
            <a:chOff x="2720" y="2296"/>
            <a:chExt cx="1972" cy="299"/>
          </a:xfrm>
        </p:grpSpPr>
        <p:sp>
          <p:nvSpPr>
            <p:cNvPr id="39" name="Rectangle 14">
              <a:extLst>
                <a:ext uri="{FF2B5EF4-FFF2-40B4-BE49-F238E27FC236}">
                  <a16:creationId xmlns:a16="http://schemas.microsoft.com/office/drawing/2014/main" id="{50BF0D72-0ECF-DB99-C40C-5B7956C16685}"/>
                </a:ext>
              </a:extLst>
            </p:cNvPr>
            <p:cNvSpPr>
              <a:spLocks noChangeArrowheads="1"/>
            </p:cNvSpPr>
            <p:nvPr/>
          </p:nvSpPr>
          <p:spPr bwMode="auto">
            <a:xfrm>
              <a:off x="2934" y="2382"/>
              <a:ext cx="1758" cy="213"/>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Candara" panose="020E0502030303020204" pitchFamily="34" charset="0"/>
                </a:rPr>
                <a:t>Total cost curve for discount 3</a:t>
              </a:r>
            </a:p>
          </p:txBody>
        </p:sp>
        <p:sp>
          <p:nvSpPr>
            <p:cNvPr id="40" name="Line 38">
              <a:extLst>
                <a:ext uri="{FF2B5EF4-FFF2-40B4-BE49-F238E27FC236}">
                  <a16:creationId xmlns:a16="http://schemas.microsoft.com/office/drawing/2014/main" id="{5B4889BE-37F3-AA1D-5C64-C25C15CC4D41}"/>
                </a:ext>
              </a:extLst>
            </p:cNvPr>
            <p:cNvSpPr>
              <a:spLocks noChangeShapeType="1"/>
            </p:cNvSpPr>
            <p:nvPr/>
          </p:nvSpPr>
          <p:spPr bwMode="auto">
            <a:xfrm flipH="1" flipV="1">
              <a:off x="2720" y="2296"/>
              <a:ext cx="232" cy="192"/>
            </a:xfrm>
            <a:prstGeom prst="line">
              <a:avLst/>
            </a:prstGeom>
            <a:noFill/>
            <a:ln w="38100">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a:latin typeface="Candara" panose="020E0502030303020204" pitchFamily="34" charset="0"/>
              </a:endParaRPr>
            </a:p>
          </p:txBody>
        </p:sp>
      </p:grpSp>
      <p:sp>
        <p:nvSpPr>
          <p:cNvPr id="42" name="Rectangle 41">
            <a:extLst>
              <a:ext uri="{FF2B5EF4-FFF2-40B4-BE49-F238E27FC236}">
                <a16:creationId xmlns:a16="http://schemas.microsoft.com/office/drawing/2014/main" id="{95471A7C-7FB3-92C1-FBCB-12A4C23E3AA9}"/>
              </a:ext>
            </a:extLst>
          </p:cNvPr>
          <p:cNvSpPr/>
          <p:nvPr/>
        </p:nvSpPr>
        <p:spPr>
          <a:xfrm>
            <a:off x="401216" y="1"/>
            <a:ext cx="11790784"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b="1" dirty="0">
                <a:solidFill>
                  <a:srgbClr val="002060"/>
                </a:solidFill>
                <a:latin typeface="Candara" panose="020E0502030303020204" pitchFamily="34" charset="0"/>
              </a:rPr>
              <a:t>Solution of Example 5: Quantity Discount Model</a:t>
            </a:r>
          </a:p>
        </p:txBody>
      </p:sp>
    </p:spTree>
    <p:extLst>
      <p:ext uri="{BB962C8B-B14F-4D97-AF65-F5344CB8AC3E}">
        <p14:creationId xmlns:p14="http://schemas.microsoft.com/office/powerpoint/2010/main" val="2026983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10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left)">
                                      <p:cBhvr>
                                        <p:cTn id="20" dur="10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1000"/>
                                        <p:tgtEl>
                                          <p:spTgt spid="2"/>
                                        </p:tgtEl>
                                      </p:cBhvr>
                                    </p:animEffect>
                                  </p:childTnLst>
                                </p:cTn>
                              </p:par>
                            </p:childTnLst>
                          </p:cTn>
                        </p:par>
                        <p:par>
                          <p:cTn id="26" fill="hold">
                            <p:stCondLst>
                              <p:cond delay="1000"/>
                            </p:stCondLst>
                            <p:childTnLst>
                              <p:par>
                                <p:cTn id="27" presetID="22" presetClass="entr" presetSubtype="1"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up)">
                                      <p:cBhvr>
                                        <p:cTn id="29" dur="10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1000"/>
                                        <p:tgtEl>
                                          <p:spTgt spid="15"/>
                                        </p:tgtEl>
                                      </p:cBhvr>
                                    </p:animEffect>
                                  </p:childTnLst>
                                </p:cTn>
                              </p:par>
                            </p:childTnLst>
                          </p:cTn>
                        </p:par>
                        <p:par>
                          <p:cTn id="35" fill="hold">
                            <p:stCondLst>
                              <p:cond delay="1000"/>
                            </p:stCondLst>
                            <p:childTnLst>
                              <p:par>
                                <p:cTn id="36" presetID="22" presetClass="entr" presetSubtype="2" fill="hold"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right)">
                                      <p:cBhvr>
                                        <p:cTn id="38" dur="1000"/>
                                        <p:tgtEl>
                                          <p:spTgt spid="3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1000"/>
                                        <p:tgtEl>
                                          <p:spTgt spid="3"/>
                                        </p:tgtEl>
                                      </p:cBhvr>
                                    </p:animEffect>
                                  </p:childTnLst>
                                </p:cTn>
                              </p:par>
                            </p:childTnLst>
                          </p:cTn>
                        </p:par>
                        <p:par>
                          <p:cTn id="44" fill="hold">
                            <p:stCondLst>
                              <p:cond delay="1000"/>
                            </p:stCondLst>
                            <p:childTnLst>
                              <p:par>
                                <p:cTn id="45" presetID="22" presetClass="entr" presetSubtype="2" fill="hold"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right)">
                                      <p:cBhvr>
                                        <p:cTn id="47" dur="10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right)">
                                      <p:cBhvr>
                                        <p:cTn id="5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F4CA4C-593D-8A15-88C8-4593B8918188}"/>
              </a:ext>
            </a:extLst>
          </p:cNvPr>
          <p:cNvSpPr/>
          <p:nvPr/>
        </p:nvSpPr>
        <p:spPr>
          <a:xfrm>
            <a:off x="401216" y="1"/>
            <a:ext cx="11790784"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b="1" dirty="0">
                <a:solidFill>
                  <a:srgbClr val="002060"/>
                </a:solidFill>
                <a:latin typeface="Candara" panose="020E0502030303020204" pitchFamily="34" charset="0"/>
              </a:rPr>
              <a:t>Solution of Example 5: Quantity Discount Model</a:t>
            </a: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95F7336-7976-0FD0-47C7-191A7A0C72BD}"/>
                  </a:ext>
                </a:extLst>
              </p:cNvPr>
              <p:cNvSpPr/>
              <p:nvPr/>
            </p:nvSpPr>
            <p:spPr>
              <a:xfrm>
                <a:off x="401216" y="1603304"/>
                <a:ext cx="11709504" cy="429364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solidFill>
                      <a:schemeClr val="tx1"/>
                    </a:solidFill>
                    <a:latin typeface="Candara" panose="020E0502030303020204" pitchFamily="34" charset="0"/>
                  </a:rPr>
                  <a:t>Calculate Q* for every discount using the following formula</a:t>
                </a:r>
              </a:p>
              <a:p>
                <a:pPr/>
                <a14:m>
                  <m:oMathPara xmlns:m="http://schemas.openxmlformats.org/officeDocument/2006/math">
                    <m:oMathParaPr>
                      <m:jc m:val="centerGroup"/>
                    </m:oMathParaPr>
                    <m:oMath xmlns:m="http://schemas.openxmlformats.org/officeDocument/2006/math">
                      <m:sSup>
                        <m:sSupPr>
                          <m:ctrlPr>
                            <a:rPr lang="en-US" sz="2400" b="1" i="1" smtClean="0">
                              <a:solidFill>
                                <a:schemeClr val="tx1"/>
                              </a:solidFill>
                              <a:latin typeface="Cambria Math" panose="02040503050406030204" pitchFamily="18" charset="0"/>
                            </a:rPr>
                          </m:ctrlPr>
                        </m:sSupPr>
                        <m:e>
                          <m:r>
                            <a:rPr lang="en-US" sz="2400" b="1" i="0" smtClean="0">
                              <a:solidFill>
                                <a:schemeClr val="tx1"/>
                              </a:solidFill>
                              <a:latin typeface="Cambria Math" panose="02040503050406030204" pitchFamily="18" charset="0"/>
                            </a:rPr>
                            <m:t>𝐐</m:t>
                          </m:r>
                        </m:e>
                        <m:sup>
                          <m:r>
                            <a:rPr lang="en-US" sz="2400" b="1" i="0" smtClean="0">
                              <a:solidFill>
                                <a:schemeClr val="tx1"/>
                              </a:solidFill>
                              <a:latin typeface="Cambria Math" panose="02040503050406030204" pitchFamily="18" charset="0"/>
                            </a:rPr>
                            <m:t>∗</m:t>
                          </m:r>
                        </m:sup>
                      </m:sSup>
                      <m:r>
                        <a:rPr lang="en-US" sz="2400" b="1" i="0" smtClean="0">
                          <a:solidFill>
                            <a:schemeClr val="tx1"/>
                          </a:solidFill>
                          <a:latin typeface="Cambria Math" panose="02040503050406030204" pitchFamily="18" charset="0"/>
                        </a:rPr>
                        <m:t>=</m:t>
                      </m:r>
                      <m:rad>
                        <m:radPr>
                          <m:degHide m:val="on"/>
                          <m:ctrlPr>
                            <a:rPr lang="en-US" sz="2400" b="1" i="1" smtClean="0">
                              <a:solidFill>
                                <a:schemeClr val="tx1"/>
                              </a:solidFill>
                              <a:latin typeface="Cambria Math" panose="02040503050406030204" pitchFamily="18" charset="0"/>
                            </a:rPr>
                          </m:ctrlPr>
                        </m:radPr>
                        <m:deg/>
                        <m:e>
                          <m:f>
                            <m:fPr>
                              <m:ctrlPr>
                                <a:rPr lang="en-US" sz="2400" b="1" i="1" smtClean="0">
                                  <a:solidFill>
                                    <a:schemeClr val="tx1"/>
                                  </a:solidFill>
                                  <a:latin typeface="Cambria Math" panose="02040503050406030204" pitchFamily="18" charset="0"/>
                                </a:rPr>
                              </m:ctrlPr>
                            </m:fPr>
                            <m:num>
                              <m:r>
                                <a:rPr lang="en-US" sz="2400" b="1" i="0" smtClean="0">
                                  <a:solidFill>
                                    <a:schemeClr val="tx1"/>
                                  </a:solidFill>
                                  <a:latin typeface="Cambria Math" panose="02040503050406030204" pitchFamily="18" charset="0"/>
                                </a:rPr>
                                <m:t>𝟐𝐃𝐒</m:t>
                              </m:r>
                            </m:num>
                            <m:den>
                              <m:r>
                                <a:rPr lang="en-US" sz="2400" b="1" i="0" smtClean="0">
                                  <a:solidFill>
                                    <a:schemeClr val="tx1"/>
                                  </a:solidFill>
                                  <a:latin typeface="Cambria Math" panose="02040503050406030204" pitchFamily="18" charset="0"/>
                                </a:rPr>
                                <m:t>𝐇</m:t>
                              </m:r>
                            </m:den>
                          </m:f>
                        </m:e>
                      </m:rad>
                    </m:oMath>
                  </m:oMathPara>
                </a14:m>
                <a:endParaRPr lang="en-US" sz="2400" b="1" dirty="0">
                  <a:solidFill>
                    <a:schemeClr val="tx1"/>
                  </a:solidFill>
                  <a:latin typeface="Candara" panose="020E0502030303020204" pitchFamily="34" charset="0"/>
                </a:endParaRPr>
              </a:p>
              <a:p>
                <a:r>
                  <a:rPr lang="en-US" sz="2400" dirty="0">
                    <a:solidFill>
                      <a:schemeClr val="tx1"/>
                    </a:solidFill>
                  </a:rPr>
                  <a:t>	</a:t>
                </a:r>
                <a14:m>
                  <m:oMath xmlns:m="http://schemas.openxmlformats.org/officeDocument/2006/math">
                    <m:sSup>
                      <m:sSupPr>
                        <m:ctrlPr>
                          <a:rPr lang="en-US" sz="2800" i="1" smtClean="0">
                            <a:solidFill>
                              <a:schemeClr val="tx1"/>
                            </a:solidFill>
                            <a:latin typeface="Cambria Math" panose="02040503050406030204" pitchFamily="18" charset="0"/>
                          </a:rPr>
                        </m:ctrlPr>
                      </m:sSupPr>
                      <m:e>
                        <m:sSub>
                          <m:sSubPr>
                            <m:ctrlPr>
                              <a:rPr lang="en-US" sz="2800" i="1" smtClean="0">
                                <a:solidFill>
                                  <a:schemeClr val="tx1"/>
                                </a:solidFill>
                                <a:latin typeface="Cambria Math" panose="02040503050406030204" pitchFamily="18" charset="0"/>
                              </a:rPr>
                            </m:ctrlPr>
                          </m:sSubPr>
                          <m:e>
                            <m:r>
                              <m:rPr>
                                <m:sty m:val="p"/>
                              </m:rPr>
                              <a:rPr lang="en-US" sz="2800" b="0" i="0" smtClean="0">
                                <a:solidFill>
                                  <a:schemeClr val="tx1"/>
                                </a:solidFill>
                                <a:latin typeface="Cambria Math" panose="02040503050406030204" pitchFamily="18" charset="0"/>
                              </a:rPr>
                              <m:t>Q</m:t>
                            </m:r>
                          </m:e>
                          <m:sub>
                            <m:r>
                              <a:rPr lang="en-US" sz="2800" b="0" i="0" smtClean="0">
                                <a:solidFill>
                                  <a:schemeClr val="tx1"/>
                                </a:solidFill>
                                <a:latin typeface="Cambria Math" panose="02040503050406030204" pitchFamily="18" charset="0"/>
                              </a:rPr>
                              <m:t>1</m:t>
                            </m:r>
                          </m:sub>
                        </m:sSub>
                      </m:e>
                      <m:sup>
                        <m:r>
                          <a:rPr lang="en-US" sz="2800" b="0" i="0" smtClean="0">
                            <a:solidFill>
                              <a:schemeClr val="tx1"/>
                            </a:solidFill>
                            <a:latin typeface="Cambria Math" panose="02040503050406030204" pitchFamily="18" charset="0"/>
                          </a:rPr>
                          <m:t>∗</m:t>
                        </m:r>
                      </m:sup>
                    </m:sSup>
                    <m:r>
                      <a:rPr lang="en-US" sz="2800" b="0" i="0" smtClean="0">
                        <a:solidFill>
                          <a:schemeClr val="tx1"/>
                        </a:solidFill>
                        <a:latin typeface="Cambria Math" panose="02040503050406030204" pitchFamily="18" charset="0"/>
                      </a:rPr>
                      <m:t>=</m:t>
                    </m:r>
                    <m:rad>
                      <m:radPr>
                        <m:degHide m:val="on"/>
                        <m:ctrlPr>
                          <a:rPr lang="en-US" sz="2800" i="1" smtClean="0">
                            <a:solidFill>
                              <a:schemeClr val="tx1"/>
                            </a:solidFill>
                            <a:latin typeface="Cambria Math" panose="02040503050406030204" pitchFamily="18" charset="0"/>
                          </a:rPr>
                        </m:ctrlPr>
                      </m:radPr>
                      <m:deg/>
                      <m:e>
                        <m:f>
                          <m:fPr>
                            <m:ctrlPr>
                              <a:rPr lang="en-US" sz="2800" i="1" smtClean="0">
                                <a:solidFill>
                                  <a:schemeClr val="tx1"/>
                                </a:solidFill>
                                <a:latin typeface="Cambria Math" panose="02040503050406030204" pitchFamily="18" charset="0"/>
                              </a:rPr>
                            </m:ctrlPr>
                          </m:fPr>
                          <m:num>
                            <m:r>
                              <a:rPr lang="en-US" sz="2800" b="0" i="0"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0" smtClean="0">
                                <a:solidFill>
                                  <a:schemeClr val="tx1"/>
                                </a:solidFill>
                                <a:latin typeface="Cambria Math" panose="02040503050406030204" pitchFamily="18" charset="0"/>
                                <a:ea typeface="Cambria Math" panose="02040503050406030204" pitchFamily="18" charset="0"/>
                              </a:rPr>
                              <m:t>5000</m:t>
                            </m:r>
                            <m:r>
                              <a:rPr lang="en-US" sz="2800" b="0" i="1" smtClean="0">
                                <a:solidFill>
                                  <a:schemeClr val="tx1"/>
                                </a:solidFill>
                                <a:latin typeface="Cambria Math" panose="02040503050406030204" pitchFamily="18" charset="0"/>
                                <a:ea typeface="Cambria Math" panose="02040503050406030204" pitchFamily="18" charset="0"/>
                              </a:rPr>
                              <m:t>×49</m:t>
                            </m:r>
                          </m:num>
                          <m:den>
                            <m:r>
                              <a:rPr lang="en-US" sz="2800" b="0" i="0" smtClean="0">
                                <a:solidFill>
                                  <a:schemeClr val="tx1"/>
                                </a:solidFill>
                                <a:latin typeface="Cambria Math" panose="02040503050406030204" pitchFamily="18" charset="0"/>
                              </a:rPr>
                              <m:t>0.2</m:t>
                            </m:r>
                            <m:r>
                              <a:rPr lang="en-US" sz="2800" b="0" i="1" smtClean="0">
                                <a:solidFill>
                                  <a:schemeClr val="tx1"/>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𝟓</m:t>
                            </m:r>
                          </m:den>
                        </m:f>
                      </m:e>
                    </m:rad>
                    <m:r>
                      <a:rPr lang="en-US" sz="2800" b="0" i="0" smtClean="0">
                        <a:solidFill>
                          <a:schemeClr val="tx1"/>
                        </a:solidFill>
                        <a:latin typeface="Cambria Math" panose="02040503050406030204" pitchFamily="18" charset="0"/>
                      </a:rPr>
                      <m:t>=</m:t>
                    </m:r>
                  </m:oMath>
                </a14:m>
                <a:r>
                  <a:rPr lang="en-US" sz="2800" dirty="0">
                    <a:solidFill>
                      <a:schemeClr val="tx1"/>
                    </a:solidFill>
                    <a:latin typeface="Candara" panose="020E0502030303020204" pitchFamily="34" charset="0"/>
                  </a:rPr>
                  <a:t> 700 cars per order</a:t>
                </a:r>
              </a:p>
              <a:p>
                <a:r>
                  <a:rPr lang="en-US" sz="2800" dirty="0">
                    <a:solidFill>
                      <a:schemeClr val="tx1"/>
                    </a:solidFill>
                  </a:rPr>
                  <a:t>	</a:t>
                </a:r>
                <a14:m>
                  <m:oMath xmlns:m="http://schemas.openxmlformats.org/officeDocument/2006/math">
                    <m:sSup>
                      <m:sSupPr>
                        <m:ctrlPr>
                          <a:rPr lang="en-US" sz="2800" i="1" smtClean="0">
                            <a:solidFill>
                              <a:schemeClr val="tx1"/>
                            </a:solidFill>
                            <a:latin typeface="Cambria Math" panose="02040503050406030204" pitchFamily="18" charset="0"/>
                          </a:rPr>
                        </m:ctrlPr>
                      </m:sSupPr>
                      <m:e>
                        <m:sSub>
                          <m:sSubPr>
                            <m:ctrlPr>
                              <a:rPr lang="en-US" sz="2800" i="1" smtClean="0">
                                <a:solidFill>
                                  <a:schemeClr val="tx1"/>
                                </a:solidFill>
                                <a:latin typeface="Cambria Math" panose="02040503050406030204" pitchFamily="18" charset="0"/>
                              </a:rPr>
                            </m:ctrlPr>
                          </m:sSubPr>
                          <m:e>
                            <m:r>
                              <m:rPr>
                                <m:sty m:val="p"/>
                              </m:rPr>
                              <a:rPr lang="en-US" sz="2800" b="0" i="0" smtClean="0">
                                <a:solidFill>
                                  <a:schemeClr val="tx1"/>
                                </a:solidFill>
                                <a:latin typeface="Cambria Math" panose="02040503050406030204" pitchFamily="18" charset="0"/>
                              </a:rPr>
                              <m:t>Q</m:t>
                            </m:r>
                          </m:e>
                          <m:sub>
                            <m:r>
                              <a:rPr lang="en-US" sz="2800" b="0" i="0" smtClean="0">
                                <a:solidFill>
                                  <a:schemeClr val="tx1"/>
                                </a:solidFill>
                                <a:latin typeface="Cambria Math" panose="02040503050406030204" pitchFamily="18" charset="0"/>
                              </a:rPr>
                              <m:t>2</m:t>
                            </m:r>
                          </m:sub>
                        </m:sSub>
                      </m:e>
                      <m:sup>
                        <m:r>
                          <a:rPr lang="en-US" sz="2800" b="0" i="0" smtClean="0">
                            <a:solidFill>
                              <a:schemeClr val="tx1"/>
                            </a:solidFill>
                            <a:latin typeface="Cambria Math" panose="02040503050406030204" pitchFamily="18" charset="0"/>
                          </a:rPr>
                          <m:t>∗</m:t>
                        </m:r>
                      </m:sup>
                    </m:sSup>
                    <m:r>
                      <a:rPr lang="en-US" sz="2800" b="0" i="0" smtClean="0">
                        <a:solidFill>
                          <a:schemeClr val="tx1"/>
                        </a:solidFill>
                        <a:latin typeface="Cambria Math" panose="02040503050406030204" pitchFamily="18" charset="0"/>
                      </a:rPr>
                      <m:t>=</m:t>
                    </m:r>
                    <m:rad>
                      <m:radPr>
                        <m:degHide m:val="on"/>
                        <m:ctrlPr>
                          <a:rPr lang="en-US" sz="2800" i="1" smtClean="0">
                            <a:solidFill>
                              <a:schemeClr val="tx1"/>
                            </a:solidFill>
                            <a:latin typeface="Cambria Math" panose="02040503050406030204" pitchFamily="18" charset="0"/>
                          </a:rPr>
                        </m:ctrlPr>
                      </m:radPr>
                      <m:deg/>
                      <m:e>
                        <m:f>
                          <m:fPr>
                            <m:ctrlPr>
                              <a:rPr lang="en-US" sz="2800" i="1" smtClean="0">
                                <a:solidFill>
                                  <a:schemeClr val="tx1"/>
                                </a:solidFill>
                                <a:latin typeface="Cambria Math" panose="02040503050406030204" pitchFamily="18" charset="0"/>
                              </a:rPr>
                            </m:ctrlPr>
                          </m:fPr>
                          <m:num>
                            <m:r>
                              <a:rPr lang="en-US" sz="2800" b="0" i="0"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0" smtClean="0">
                                <a:solidFill>
                                  <a:schemeClr val="tx1"/>
                                </a:solidFill>
                                <a:latin typeface="Cambria Math" panose="02040503050406030204" pitchFamily="18" charset="0"/>
                                <a:ea typeface="Cambria Math" panose="02040503050406030204" pitchFamily="18" charset="0"/>
                              </a:rPr>
                              <m:t>5000</m:t>
                            </m:r>
                            <m:r>
                              <a:rPr lang="en-US" sz="2800" b="0" i="1" smtClean="0">
                                <a:solidFill>
                                  <a:schemeClr val="tx1"/>
                                </a:solidFill>
                                <a:latin typeface="Cambria Math" panose="02040503050406030204" pitchFamily="18" charset="0"/>
                                <a:ea typeface="Cambria Math" panose="02040503050406030204" pitchFamily="18" charset="0"/>
                              </a:rPr>
                              <m:t>×49</m:t>
                            </m:r>
                          </m:num>
                          <m:den>
                            <m:r>
                              <a:rPr lang="en-US" sz="2800" b="0" i="0" smtClean="0">
                                <a:solidFill>
                                  <a:schemeClr val="tx1"/>
                                </a:solidFill>
                                <a:latin typeface="Cambria Math" panose="02040503050406030204" pitchFamily="18" charset="0"/>
                              </a:rPr>
                              <m:t>0.2</m:t>
                            </m:r>
                            <m:r>
                              <a:rPr lang="en-US" sz="2800" b="0" i="1" smtClean="0">
                                <a:solidFill>
                                  <a:schemeClr val="tx1"/>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𝟒</m:t>
                            </m:r>
                            <m:r>
                              <a:rPr lang="en-US" sz="2800" b="1" i="1" smtClean="0">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𝟖</m:t>
                            </m:r>
                          </m:den>
                        </m:f>
                      </m:e>
                    </m:rad>
                    <m:r>
                      <a:rPr lang="en-US" sz="2800" b="0" i="0" smtClean="0">
                        <a:solidFill>
                          <a:schemeClr val="tx1"/>
                        </a:solidFill>
                        <a:latin typeface="Cambria Math" panose="02040503050406030204" pitchFamily="18" charset="0"/>
                      </a:rPr>
                      <m:t>=</m:t>
                    </m:r>
                  </m:oMath>
                </a14:m>
                <a:r>
                  <a:rPr lang="en-US" sz="2800" dirty="0">
                    <a:solidFill>
                      <a:schemeClr val="tx1"/>
                    </a:solidFill>
                    <a:latin typeface="Candara" panose="020E0502030303020204" pitchFamily="34" charset="0"/>
                  </a:rPr>
                  <a:t> 714 cars per order </a:t>
                </a:r>
              </a:p>
              <a:p>
                <a:r>
                  <a:rPr lang="en-US" sz="2800" dirty="0">
                    <a:solidFill>
                      <a:schemeClr val="tx1"/>
                    </a:solidFill>
                  </a:rPr>
                  <a:t>	</a:t>
                </a:r>
                <a14:m>
                  <m:oMath xmlns:m="http://schemas.openxmlformats.org/officeDocument/2006/math">
                    <m:sSup>
                      <m:sSupPr>
                        <m:ctrlPr>
                          <a:rPr lang="en-US" sz="2800" i="1" smtClean="0">
                            <a:solidFill>
                              <a:schemeClr val="tx1"/>
                            </a:solidFill>
                            <a:latin typeface="Cambria Math" panose="02040503050406030204" pitchFamily="18" charset="0"/>
                          </a:rPr>
                        </m:ctrlPr>
                      </m:sSupPr>
                      <m:e>
                        <m:sSub>
                          <m:sSubPr>
                            <m:ctrlPr>
                              <a:rPr lang="en-US" sz="2800" i="1" smtClean="0">
                                <a:solidFill>
                                  <a:schemeClr val="tx1"/>
                                </a:solidFill>
                                <a:latin typeface="Cambria Math" panose="02040503050406030204" pitchFamily="18" charset="0"/>
                              </a:rPr>
                            </m:ctrlPr>
                          </m:sSubPr>
                          <m:e>
                            <m:r>
                              <m:rPr>
                                <m:sty m:val="p"/>
                              </m:rPr>
                              <a:rPr lang="en-US" sz="2800" b="0" i="0" smtClean="0">
                                <a:solidFill>
                                  <a:schemeClr val="tx1"/>
                                </a:solidFill>
                                <a:latin typeface="Cambria Math" panose="02040503050406030204" pitchFamily="18" charset="0"/>
                              </a:rPr>
                              <m:t>Q</m:t>
                            </m:r>
                          </m:e>
                          <m:sub>
                            <m:r>
                              <a:rPr lang="en-US" sz="2800" b="0" i="0" smtClean="0">
                                <a:solidFill>
                                  <a:schemeClr val="tx1"/>
                                </a:solidFill>
                                <a:latin typeface="Cambria Math" panose="02040503050406030204" pitchFamily="18" charset="0"/>
                              </a:rPr>
                              <m:t>3</m:t>
                            </m:r>
                          </m:sub>
                        </m:sSub>
                      </m:e>
                      <m:sup>
                        <m:r>
                          <a:rPr lang="en-US" sz="2800" b="0" i="0" smtClean="0">
                            <a:solidFill>
                              <a:schemeClr val="tx1"/>
                            </a:solidFill>
                            <a:latin typeface="Cambria Math" panose="02040503050406030204" pitchFamily="18" charset="0"/>
                          </a:rPr>
                          <m:t>∗</m:t>
                        </m:r>
                      </m:sup>
                    </m:sSup>
                    <m:r>
                      <a:rPr lang="en-US" sz="2800" b="0" i="0" smtClean="0">
                        <a:solidFill>
                          <a:schemeClr val="tx1"/>
                        </a:solidFill>
                        <a:latin typeface="Cambria Math" panose="02040503050406030204" pitchFamily="18" charset="0"/>
                      </a:rPr>
                      <m:t>=</m:t>
                    </m:r>
                    <m:rad>
                      <m:radPr>
                        <m:degHide m:val="on"/>
                        <m:ctrlPr>
                          <a:rPr lang="en-US" sz="2800" i="1" smtClean="0">
                            <a:solidFill>
                              <a:schemeClr val="tx1"/>
                            </a:solidFill>
                            <a:latin typeface="Cambria Math" panose="02040503050406030204" pitchFamily="18" charset="0"/>
                          </a:rPr>
                        </m:ctrlPr>
                      </m:radPr>
                      <m:deg/>
                      <m:e>
                        <m:f>
                          <m:fPr>
                            <m:ctrlPr>
                              <a:rPr lang="en-US" sz="2800" i="1" smtClean="0">
                                <a:solidFill>
                                  <a:schemeClr val="tx1"/>
                                </a:solidFill>
                                <a:latin typeface="Cambria Math" panose="02040503050406030204" pitchFamily="18" charset="0"/>
                              </a:rPr>
                            </m:ctrlPr>
                          </m:fPr>
                          <m:num>
                            <m:r>
                              <a:rPr lang="en-US" sz="2800" b="0" i="0"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0" smtClean="0">
                                <a:solidFill>
                                  <a:schemeClr val="tx1"/>
                                </a:solidFill>
                                <a:latin typeface="Cambria Math" panose="02040503050406030204" pitchFamily="18" charset="0"/>
                                <a:ea typeface="Cambria Math" panose="02040503050406030204" pitchFamily="18" charset="0"/>
                              </a:rPr>
                              <m:t>5000</m:t>
                            </m:r>
                            <m:r>
                              <a:rPr lang="en-US" sz="2800" b="0" i="1" smtClean="0">
                                <a:solidFill>
                                  <a:schemeClr val="tx1"/>
                                </a:solidFill>
                                <a:latin typeface="Cambria Math" panose="02040503050406030204" pitchFamily="18" charset="0"/>
                                <a:ea typeface="Cambria Math" panose="02040503050406030204" pitchFamily="18" charset="0"/>
                              </a:rPr>
                              <m:t>×49</m:t>
                            </m:r>
                          </m:num>
                          <m:den>
                            <m:r>
                              <a:rPr lang="en-US" sz="2800" b="0" i="0" smtClean="0">
                                <a:solidFill>
                                  <a:schemeClr val="tx1"/>
                                </a:solidFill>
                                <a:latin typeface="Cambria Math" panose="02040503050406030204" pitchFamily="18" charset="0"/>
                              </a:rPr>
                              <m:t>0.2</m:t>
                            </m:r>
                            <m:r>
                              <a:rPr lang="en-US" sz="2800" b="0" i="1" smtClean="0">
                                <a:solidFill>
                                  <a:schemeClr val="tx1"/>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𝟒</m:t>
                            </m:r>
                            <m:r>
                              <a:rPr lang="en-US" sz="2800" b="1" i="1" smtClean="0">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𝟕𝟓</m:t>
                            </m:r>
                          </m:den>
                        </m:f>
                      </m:e>
                    </m:rad>
                    <m:r>
                      <a:rPr lang="en-US" sz="2800" b="0" i="0" smtClean="0">
                        <a:solidFill>
                          <a:schemeClr val="tx1"/>
                        </a:solidFill>
                        <a:latin typeface="Cambria Math" panose="02040503050406030204" pitchFamily="18" charset="0"/>
                      </a:rPr>
                      <m:t>=</m:t>
                    </m:r>
                  </m:oMath>
                </a14:m>
                <a:r>
                  <a:rPr lang="en-US" sz="2800" dirty="0">
                    <a:solidFill>
                      <a:schemeClr val="tx1"/>
                    </a:solidFill>
                    <a:latin typeface="Candara" panose="020E0502030303020204" pitchFamily="34" charset="0"/>
                  </a:rPr>
                  <a:t> 718 cars per order</a:t>
                </a:r>
              </a:p>
              <a:p>
                <a:endParaRPr lang="en-US" sz="2800" dirty="0">
                  <a:solidFill>
                    <a:schemeClr val="tx1"/>
                  </a:solidFill>
                  <a:latin typeface="Candara" panose="020E0502030303020204" pitchFamily="34" charset="0"/>
                </a:endParaRPr>
              </a:p>
            </p:txBody>
          </p:sp>
        </mc:Choice>
        <mc:Fallback xmlns="">
          <p:sp>
            <p:nvSpPr>
              <p:cNvPr id="28" name="Rectangle 27">
                <a:extLst>
                  <a:ext uri="{FF2B5EF4-FFF2-40B4-BE49-F238E27FC236}">
                    <a16:creationId xmlns:a16="http://schemas.microsoft.com/office/drawing/2014/main" id="{D95F7336-7976-0FD0-47C7-191A7A0C72BD}"/>
                  </a:ext>
                </a:extLst>
              </p:cNvPr>
              <p:cNvSpPr>
                <a:spLocks noRot="1" noChangeAspect="1" noMove="1" noResize="1" noEditPoints="1" noAdjustHandles="1" noChangeArrowheads="1" noChangeShapeType="1" noTextEdit="1"/>
              </p:cNvSpPr>
              <p:nvPr/>
            </p:nvSpPr>
            <p:spPr>
              <a:xfrm>
                <a:off x="401216" y="1603304"/>
                <a:ext cx="11709504" cy="4293644"/>
              </a:xfrm>
              <a:prstGeom prst="rect">
                <a:avLst/>
              </a:prstGeom>
              <a:blipFill>
                <a:blip r:embed="rId2"/>
                <a:stretch>
                  <a:fillRect l="-833" t="-113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B4018358-6D00-1878-F84A-3D50A9BFA980}"/>
                  </a:ext>
                </a:extLst>
              </p:cNvPr>
              <p:cNvSpPr/>
              <p:nvPr/>
            </p:nvSpPr>
            <p:spPr>
              <a:xfrm>
                <a:off x="7481174" y="4169319"/>
                <a:ext cx="3924599" cy="5275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14:m>
                  <m:oMath xmlns:m="http://schemas.openxmlformats.org/officeDocument/2006/math">
                    <m:r>
                      <a:rPr lang="en-US" sz="2800">
                        <a:solidFill>
                          <a:schemeClr val="tx1"/>
                        </a:solidFill>
                        <a:latin typeface="Cambria Math" panose="02040503050406030204" pitchFamily="18" charset="0"/>
                      </a:rPr>
                      <m:t>=</m:t>
                    </m:r>
                  </m:oMath>
                </a14:m>
                <a:r>
                  <a:rPr lang="en-US" sz="2800" dirty="0">
                    <a:solidFill>
                      <a:schemeClr val="tx1"/>
                    </a:solidFill>
                    <a:latin typeface="Candara" panose="020E0502030303020204" pitchFamily="34" charset="0"/>
                  </a:rPr>
                  <a:t> 1000 cars per order</a:t>
                </a:r>
              </a:p>
            </p:txBody>
          </p:sp>
        </mc:Choice>
        <mc:Fallback xmlns="">
          <p:sp>
            <p:nvSpPr>
              <p:cNvPr id="29" name="Rectangle 28">
                <a:extLst>
                  <a:ext uri="{FF2B5EF4-FFF2-40B4-BE49-F238E27FC236}">
                    <a16:creationId xmlns:a16="http://schemas.microsoft.com/office/drawing/2014/main" id="{B4018358-6D00-1878-F84A-3D50A9BFA980}"/>
                  </a:ext>
                </a:extLst>
              </p:cNvPr>
              <p:cNvSpPr>
                <a:spLocks noRot="1" noChangeAspect="1" noMove="1" noResize="1" noEditPoints="1" noAdjustHandles="1" noChangeArrowheads="1" noChangeShapeType="1" noTextEdit="1"/>
              </p:cNvSpPr>
              <p:nvPr/>
            </p:nvSpPr>
            <p:spPr>
              <a:xfrm>
                <a:off x="7481174" y="4169319"/>
                <a:ext cx="3924599" cy="527539"/>
              </a:xfrm>
              <a:prstGeom prst="rect">
                <a:avLst/>
              </a:prstGeom>
              <a:blipFill>
                <a:blip r:embed="rId3"/>
                <a:stretch>
                  <a:fillRect t="-11628" b="-32558"/>
                </a:stretch>
              </a:blipFill>
              <a:ln>
                <a:noFill/>
              </a:ln>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5D22C6C3-D499-71F2-8F33-70B95621E11F}"/>
              </a:ext>
            </a:extLst>
          </p:cNvPr>
          <p:cNvCxnSpPr/>
          <p:nvPr/>
        </p:nvCxnSpPr>
        <p:spPr>
          <a:xfrm>
            <a:off x="4514454" y="4460240"/>
            <a:ext cx="2743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5C04941-BF43-F751-E084-3A49FC21A16D}"/>
              </a:ext>
            </a:extLst>
          </p:cNvPr>
          <p:cNvCxnSpPr/>
          <p:nvPr/>
        </p:nvCxnSpPr>
        <p:spPr>
          <a:xfrm>
            <a:off x="4514454" y="5344160"/>
            <a:ext cx="2743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E74CF944-947E-0EFB-9C53-6CA9CCF97F38}"/>
                  </a:ext>
                </a:extLst>
              </p:cNvPr>
              <p:cNvSpPr/>
              <p:nvPr/>
            </p:nvSpPr>
            <p:spPr>
              <a:xfrm>
                <a:off x="7481174" y="5033133"/>
                <a:ext cx="3924599" cy="5275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14:m>
                  <m:oMath xmlns:m="http://schemas.openxmlformats.org/officeDocument/2006/math">
                    <m:r>
                      <a:rPr lang="en-US" sz="2800">
                        <a:solidFill>
                          <a:schemeClr val="tx1"/>
                        </a:solidFill>
                        <a:latin typeface="Cambria Math" panose="02040503050406030204" pitchFamily="18" charset="0"/>
                      </a:rPr>
                      <m:t>=</m:t>
                    </m:r>
                  </m:oMath>
                </a14:m>
                <a:r>
                  <a:rPr lang="en-US" sz="2800" dirty="0">
                    <a:solidFill>
                      <a:schemeClr val="tx1"/>
                    </a:solidFill>
                    <a:latin typeface="Candara" panose="020E0502030303020204" pitchFamily="34" charset="0"/>
                  </a:rPr>
                  <a:t> 2000 cars per order</a:t>
                </a:r>
              </a:p>
            </p:txBody>
          </p:sp>
        </mc:Choice>
        <mc:Fallback xmlns="">
          <p:sp>
            <p:nvSpPr>
              <p:cNvPr id="36" name="Rectangle 35">
                <a:extLst>
                  <a:ext uri="{FF2B5EF4-FFF2-40B4-BE49-F238E27FC236}">
                    <a16:creationId xmlns:a16="http://schemas.microsoft.com/office/drawing/2014/main" id="{E74CF944-947E-0EFB-9C53-6CA9CCF97F38}"/>
                  </a:ext>
                </a:extLst>
              </p:cNvPr>
              <p:cNvSpPr>
                <a:spLocks noRot="1" noChangeAspect="1" noMove="1" noResize="1" noEditPoints="1" noAdjustHandles="1" noChangeArrowheads="1" noChangeShapeType="1" noTextEdit="1"/>
              </p:cNvSpPr>
              <p:nvPr/>
            </p:nvSpPr>
            <p:spPr>
              <a:xfrm>
                <a:off x="7481174" y="5033133"/>
                <a:ext cx="3924599" cy="527539"/>
              </a:xfrm>
              <a:prstGeom prst="rect">
                <a:avLst/>
              </a:prstGeom>
              <a:blipFill>
                <a:blip r:embed="rId4"/>
                <a:stretch>
                  <a:fillRect t="-11628" b="-3255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79378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animEffect transition="in" filter="fade">
                                      <p:cBhvr>
                                        <p:cTn id="7" dur="1000"/>
                                        <p:tgtEl>
                                          <p:spTgt spid="2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3" end="3"/>
                                            </p:txEl>
                                          </p:spTgt>
                                        </p:tgtEl>
                                        <p:attrNameLst>
                                          <p:attrName>style.visibility</p:attrName>
                                        </p:attrNameLst>
                                      </p:cBhvr>
                                      <p:to>
                                        <p:strVal val="visible"/>
                                      </p:to>
                                    </p:set>
                                    <p:animEffect transition="in" filter="fade">
                                      <p:cBhvr>
                                        <p:cTn id="12" dur="1000"/>
                                        <p:tgtEl>
                                          <p:spTgt spid="2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1000"/>
                                        <p:tgtEl>
                                          <p:spTgt spid="34"/>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8">
                                            <p:txEl>
                                              <p:pRg st="4" end="4"/>
                                            </p:txEl>
                                          </p:spTgt>
                                        </p:tgtEl>
                                        <p:attrNameLst>
                                          <p:attrName>style.visibility</p:attrName>
                                        </p:attrNameLst>
                                      </p:cBhvr>
                                      <p:to>
                                        <p:strVal val="visible"/>
                                      </p:to>
                                    </p:set>
                                    <p:animEffect transition="in" filter="fade">
                                      <p:cBhvr>
                                        <p:cTn id="26" dur="1000"/>
                                        <p:tgtEl>
                                          <p:spTgt spid="28">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1000"/>
                                        <p:tgtEl>
                                          <p:spTgt spid="35"/>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72EC63-23A1-111E-05F5-C885388E42D6}"/>
              </a:ext>
            </a:extLst>
          </p:cNvPr>
          <p:cNvSpPr/>
          <p:nvPr/>
        </p:nvSpPr>
        <p:spPr>
          <a:xfrm>
            <a:off x="401216" y="1"/>
            <a:ext cx="11790784" cy="14005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b="1" dirty="0">
                <a:solidFill>
                  <a:srgbClr val="002060"/>
                </a:solidFill>
                <a:latin typeface="Candara" panose="020E0502030303020204" pitchFamily="34" charset="0"/>
              </a:rPr>
              <a:t>Solution of Example 5: Quantity Discount Model</a:t>
            </a:r>
          </a:p>
        </p:txBody>
      </p:sp>
      <p:graphicFrame>
        <p:nvGraphicFramePr>
          <p:cNvPr id="3" name="Group 183">
            <a:extLst>
              <a:ext uri="{FF2B5EF4-FFF2-40B4-BE49-F238E27FC236}">
                <a16:creationId xmlns:a16="http://schemas.microsoft.com/office/drawing/2014/main" id="{8320689B-2C93-EA04-B6A9-526588D8DDB3}"/>
              </a:ext>
            </a:extLst>
          </p:cNvPr>
          <p:cNvGraphicFramePr>
            <a:graphicFrameLocks noGrp="1"/>
          </p:cNvGraphicFramePr>
          <p:nvPr>
            <p:extLst>
              <p:ext uri="{D42A27DB-BD31-4B8C-83A1-F6EECF244321}">
                <p14:modId xmlns:p14="http://schemas.microsoft.com/office/powerpoint/2010/main" val="2804843240"/>
              </p:ext>
            </p:extLst>
          </p:nvPr>
        </p:nvGraphicFramePr>
        <p:xfrm>
          <a:off x="770890" y="1625600"/>
          <a:ext cx="10650221" cy="3216807"/>
        </p:xfrm>
        <a:graphic>
          <a:graphicData uri="http://schemas.openxmlformats.org/drawingml/2006/table">
            <a:tbl>
              <a:tblPr/>
              <a:tblGrid>
                <a:gridCol w="1579055">
                  <a:extLst>
                    <a:ext uri="{9D8B030D-6E8A-4147-A177-3AD203B41FA5}">
                      <a16:colId xmlns:a16="http://schemas.microsoft.com/office/drawing/2014/main" val="20000"/>
                    </a:ext>
                  </a:extLst>
                </a:gridCol>
                <a:gridCol w="1075101">
                  <a:extLst>
                    <a:ext uri="{9D8B030D-6E8A-4147-A177-3AD203B41FA5}">
                      <a16:colId xmlns:a16="http://schemas.microsoft.com/office/drawing/2014/main" val="20001"/>
                    </a:ext>
                  </a:extLst>
                </a:gridCol>
                <a:gridCol w="1511861">
                  <a:extLst>
                    <a:ext uri="{9D8B030D-6E8A-4147-A177-3AD203B41FA5}">
                      <a16:colId xmlns:a16="http://schemas.microsoft.com/office/drawing/2014/main" val="20002"/>
                    </a:ext>
                  </a:extLst>
                </a:gridCol>
                <a:gridCol w="1612652">
                  <a:extLst>
                    <a:ext uri="{9D8B030D-6E8A-4147-A177-3AD203B41FA5}">
                      <a16:colId xmlns:a16="http://schemas.microsoft.com/office/drawing/2014/main" val="20003"/>
                    </a:ext>
                  </a:extLst>
                </a:gridCol>
                <a:gridCol w="1595853">
                  <a:extLst>
                    <a:ext uri="{9D8B030D-6E8A-4147-A177-3AD203B41FA5}">
                      <a16:colId xmlns:a16="http://schemas.microsoft.com/office/drawing/2014/main" val="20004"/>
                    </a:ext>
                  </a:extLst>
                </a:gridCol>
                <a:gridCol w="1578375">
                  <a:extLst>
                    <a:ext uri="{9D8B030D-6E8A-4147-A177-3AD203B41FA5}">
                      <a16:colId xmlns:a16="http://schemas.microsoft.com/office/drawing/2014/main" val="20005"/>
                    </a:ext>
                  </a:extLst>
                </a:gridCol>
                <a:gridCol w="1697324">
                  <a:extLst>
                    <a:ext uri="{9D8B030D-6E8A-4147-A177-3AD203B41FA5}">
                      <a16:colId xmlns:a16="http://schemas.microsoft.com/office/drawing/2014/main" val="20006"/>
                    </a:ext>
                  </a:extLst>
                </a:gridCol>
              </a:tblGrid>
              <a:tr h="458521">
                <a:tc gridSpan="7">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Annual Demand, D = 5,000</a:t>
                      </a:r>
                    </a:p>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Ordering Cost, S = $49 per order</a:t>
                      </a:r>
                    </a:p>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Holding Cost, H = 20% of Purchasing Cost</a:t>
                      </a:r>
                    </a:p>
                  </a:txBody>
                  <a:tcPr anchor="ctr" horzOverflow="overflow">
                    <a:lnL cap="flat">
                      <a:noFill/>
                    </a:lnL>
                    <a:lnR cap="flat">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90000"/>
                        </a:lnSpc>
                        <a:spcBef>
                          <a:spcPct val="40000"/>
                        </a:spcBef>
                        <a:spcAft>
                          <a:spcPct val="0"/>
                        </a:spcAft>
                        <a:buClrTx/>
                        <a:buSzTx/>
                        <a:buFontTx/>
                        <a:buNone/>
                        <a:tabLst/>
                      </a:pPr>
                      <a:endPar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endParaRPr>
                    </a:p>
                  </a:txBody>
                  <a:tcPr anchor="ctr" horzOverflow="overflow">
                    <a:lnL>
                      <a:noFill/>
                    </a:lnL>
                    <a:lnR cap="flat">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9905739"/>
                  </a:ext>
                </a:extLst>
              </a:tr>
              <a:tr h="768658">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Discount Number</a:t>
                      </a:r>
                    </a:p>
                  </a:txBody>
                  <a:tcPr anchor="ct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Unit Price, P</a:t>
                      </a:r>
                    </a:p>
                  </a:txBody>
                  <a:tcPr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Order Quantity, Q</a:t>
                      </a:r>
                    </a:p>
                  </a:txBody>
                  <a:tcPr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Annual Product Cost, P x D</a:t>
                      </a:r>
                    </a:p>
                  </a:txBody>
                  <a:tcPr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Annual Ordering Cost, (D/Q) x S</a:t>
                      </a:r>
                    </a:p>
                  </a:txBody>
                  <a:tcPr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Annual Holding Cost, (Q/2) x H</a:t>
                      </a:r>
                    </a:p>
                  </a:txBody>
                  <a:tcPr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1"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Total</a:t>
                      </a:r>
                    </a:p>
                  </a:txBody>
                  <a:tcPr anchor="ct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4381">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1</a:t>
                      </a:r>
                    </a:p>
                  </a:txBody>
                  <a:tcPr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$5.00</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762000" algn="r"/>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	700</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$25,000</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863600" algn="r"/>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	$350</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$350</a:t>
                      </a:r>
                    </a:p>
                  </a:txBody>
                  <a:tcPr anchor="ct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$25,700</a:t>
                      </a:r>
                    </a:p>
                  </a:txBody>
                  <a:tcPr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44381">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2</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$4.80</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762000" algn="r"/>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	1,000</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$24,000</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863600" algn="r"/>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	$245</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$480</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1054100" algn="r"/>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$24,725</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44381">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3</a:t>
                      </a:r>
                    </a:p>
                  </a:txBody>
                  <a:tcPr anchor="ctr" horzOverflow="overflow">
                    <a:lnL cap="flat">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$4.75</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762000" algn="r"/>
                        </a:tabLst>
                      </a:pPr>
                      <a:r>
                        <a:rPr kumimoji="0" lang="en-US" sz="1800" b="0" i="0" u="none" strike="noStrike" cap="none" normalizeH="0" baseline="0">
                          <a:ln>
                            <a:noFill/>
                          </a:ln>
                          <a:solidFill>
                            <a:schemeClr val="tx1"/>
                          </a:solidFill>
                          <a:effectLst>
                            <a:outerShdw blurRad="38100" dist="38100" dir="2700000" algn="tl">
                              <a:srgbClr val="C0C0C0"/>
                            </a:outerShdw>
                          </a:effectLst>
                          <a:latin typeface="Candara" panose="020E0502030303020204" pitchFamily="34" charset="0"/>
                        </a:rPr>
                        <a:t>	2,000</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$23.750</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tab pos="863600" algn="r"/>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	$122.50</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$950</a:t>
                      </a:r>
                    </a:p>
                  </a:txBody>
                  <a:tcPr anchor="ctr"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40000"/>
                        </a:spcBef>
                        <a:spcAft>
                          <a:spcPct val="0"/>
                        </a:spcAft>
                        <a:buClrTx/>
                        <a:buSzTx/>
                        <a:buFontTx/>
                        <a:buNone/>
                        <a:tabLst/>
                      </a:pPr>
                      <a:r>
                        <a:rPr kumimoji="0" lang="en-US" sz="1800" b="0" i="0" u="none" strike="noStrike" cap="none" normalizeH="0" baseline="0" dirty="0">
                          <a:ln>
                            <a:noFill/>
                          </a:ln>
                          <a:solidFill>
                            <a:schemeClr val="tx1"/>
                          </a:solidFill>
                          <a:effectLst>
                            <a:outerShdw blurRad="38100" dist="38100" dir="2700000" algn="tl">
                              <a:srgbClr val="C0C0C0"/>
                            </a:outerShdw>
                          </a:effectLst>
                          <a:latin typeface="Candara" panose="020E0502030303020204" pitchFamily="34" charset="0"/>
                        </a:rPr>
                        <a:t>$24,822.50</a:t>
                      </a:r>
                    </a:p>
                  </a:txBody>
                  <a:tcPr anchor="ctr" horzOverflow="overflow">
                    <a:lnL>
                      <a:noFill/>
                    </a:lnL>
                    <a:lnR cap="flat">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Oval 3">
            <a:extLst>
              <a:ext uri="{FF2B5EF4-FFF2-40B4-BE49-F238E27FC236}">
                <a16:creationId xmlns:a16="http://schemas.microsoft.com/office/drawing/2014/main" id="{BBA5BF8C-D96B-9D2F-2275-3308C5ACD8C1}"/>
              </a:ext>
            </a:extLst>
          </p:cNvPr>
          <p:cNvSpPr/>
          <p:nvPr/>
        </p:nvSpPr>
        <p:spPr>
          <a:xfrm>
            <a:off x="9530080" y="3935044"/>
            <a:ext cx="1351280" cy="48768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F428E5F5-11F7-B272-DF68-52B11482B4C0}"/>
              </a:ext>
            </a:extLst>
          </p:cNvPr>
          <p:cNvSpPr txBox="1">
            <a:spLocks/>
          </p:cNvSpPr>
          <p:nvPr/>
        </p:nvSpPr>
        <p:spPr>
          <a:xfrm>
            <a:off x="3733204" y="5342612"/>
            <a:ext cx="4725592" cy="661947"/>
          </a:xfrm>
          <a:prstGeom prst="rect">
            <a:avLst/>
          </a:prstGeom>
          <a:ln>
            <a:solidFill>
              <a:schemeClr val="tx1"/>
            </a:solidFill>
          </a:ln>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b="1" dirty="0">
                <a:latin typeface="Candara" panose="020E0502030303020204" pitchFamily="34" charset="0"/>
                <a:ea typeface="Yu Mincho Light" panose="02020300000000000000" pitchFamily="18" charset="-128"/>
              </a:rPr>
              <a:t>∴ EOQ = 1000 units at $4.80</a:t>
            </a:r>
            <a:endParaRPr lang="en-US" altLang="en-US" b="1" dirty="0">
              <a:latin typeface="Candara" panose="020E0502030303020204" pitchFamily="34" charset="0"/>
            </a:endParaRPr>
          </a:p>
        </p:txBody>
      </p:sp>
    </p:spTree>
    <p:extLst>
      <p:ext uri="{BB962C8B-B14F-4D97-AF65-F5344CB8AC3E}">
        <p14:creationId xmlns:p14="http://schemas.microsoft.com/office/powerpoint/2010/main" val="142114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25" descr="44,100+ Thank You Illustrations, Royalty-Free Vector Graphics &amp; Clip Art -  iStock | Thank you card, Appreciation, Gratitude"/>
          <p:cNvPicPr preferRelativeResize="0"/>
          <p:nvPr/>
        </p:nvPicPr>
        <p:blipFill rotWithShape="1">
          <a:blip r:embed="rId3">
            <a:alphaModFix/>
          </a:blip>
          <a:srcRect/>
          <a:stretch/>
        </p:blipFill>
        <p:spPr>
          <a:xfrm>
            <a:off x="2711723" y="553470"/>
            <a:ext cx="6768554" cy="57510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ams_Channel_Section_Location xmlns="1cae1180-1625-432d-9564-536efa86ebf4" xsi:nil="true"/>
    <AppVersion xmlns="1cae1180-1625-432d-9564-536efa86ebf4" xsi:nil="true"/>
    <LMS_Mappings xmlns="1cae1180-1625-432d-9564-536efa86ebf4" xsi:nil="true"/>
    <Invited_Students xmlns="1cae1180-1625-432d-9564-536efa86ebf4" xsi:nil="true"/>
    <FolderType xmlns="1cae1180-1625-432d-9564-536efa86ebf4" xsi:nil="true"/>
    <CultureName xmlns="1cae1180-1625-432d-9564-536efa86ebf4" xsi:nil="true"/>
    <Student_Groups xmlns="1cae1180-1625-432d-9564-536efa86ebf4">
      <UserInfo>
        <DisplayName/>
        <AccountId xsi:nil="true"/>
        <AccountType/>
      </UserInfo>
    </Student_Groups>
    <Templates xmlns="1cae1180-1625-432d-9564-536efa86ebf4" xsi:nil="true"/>
    <Self_Registration_Enabled xmlns="1cae1180-1625-432d-9564-536efa86ebf4" xsi:nil="true"/>
    <Invited_Teachers xmlns="1cae1180-1625-432d-9564-536efa86ebf4" xsi:nil="true"/>
    <NotebookType xmlns="1cae1180-1625-432d-9564-536efa86ebf4" xsi:nil="true"/>
    <Teachers xmlns="1cae1180-1625-432d-9564-536efa86ebf4">
      <UserInfo>
        <DisplayName/>
        <AccountId xsi:nil="true"/>
        <AccountType/>
      </UserInfo>
    </Teachers>
    <Students xmlns="1cae1180-1625-432d-9564-536efa86ebf4">
      <UserInfo>
        <DisplayName/>
        <AccountId xsi:nil="true"/>
        <AccountType/>
      </UserInfo>
    </Students>
    <_activity xmlns="1cae1180-1625-432d-9564-536efa86ebf4" xsi:nil="true"/>
    <DefaultSectionNames xmlns="1cae1180-1625-432d-9564-536efa86ebf4" xsi:nil="true"/>
    <TeamsChannelId xmlns="1cae1180-1625-432d-9564-536efa86ebf4" xsi:nil="true"/>
    <Owner xmlns="1cae1180-1625-432d-9564-536efa86ebf4">
      <UserInfo>
        <DisplayName/>
        <AccountId xsi:nil="true"/>
        <AccountType/>
      </UserInfo>
    </Owner>
    <Distribution_Groups xmlns="1cae1180-1625-432d-9564-536efa86ebf4" xsi:nil="true"/>
    <Math_Settings xmlns="1cae1180-1625-432d-9564-536efa86ebf4" xsi:nil="true"/>
    <Has_Teacher_Only_SectionGroup xmlns="1cae1180-1625-432d-9564-536efa86ebf4" xsi:nil="true"/>
    <Is_Collaboration_Space_Locked xmlns="1cae1180-1625-432d-9564-536efa86ebf4" xsi:nil="true"/>
    <IsNotebookLocked xmlns="1cae1180-1625-432d-9564-536efa86ebf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2EF0998C0FD5458491B7BD1DB5A06D" ma:contentTypeVersion="37" ma:contentTypeDescription="Create a new document." ma:contentTypeScope="" ma:versionID="24d66aa2097453d8246a58f2abbcb0b7">
  <xsd:schema xmlns:xsd="http://www.w3.org/2001/XMLSchema" xmlns:xs="http://www.w3.org/2001/XMLSchema" xmlns:p="http://schemas.microsoft.com/office/2006/metadata/properties" xmlns:ns3="1cae1180-1625-432d-9564-536efa86ebf4" xmlns:ns4="ffb30838-8472-4825-b0d2-54d0c48054e1" targetNamespace="http://schemas.microsoft.com/office/2006/metadata/properties" ma:root="true" ma:fieldsID="0dce25ea3b8f06e331cef4b5752c53f3" ns3:_="" ns4:_="">
    <xsd:import namespace="1cae1180-1625-432d-9564-536efa86ebf4"/>
    <xsd:import namespace="ffb30838-8472-4825-b0d2-54d0c48054e1"/>
    <xsd:element name="properties">
      <xsd:complexType>
        <xsd:sequence>
          <xsd:element name="documentManagement">
            <xsd:complexType>
              <xsd:all>
                <xsd:element ref="ns3:_activity" minOccurs="0"/>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Teams_Channel_Section_Location" minOccurs="0"/>
                <xsd:element ref="ns4:SharedWithUsers" minOccurs="0"/>
                <xsd:element ref="ns4:SharedWithDetails" minOccurs="0"/>
                <xsd:element ref="ns4:SharingHintHash" minOccurs="0"/>
                <xsd:element ref="ns3:MediaServiceDateTaken" minOccurs="0"/>
                <xsd:element ref="ns3:MediaServiceObjectDetectorVersions" minOccurs="0"/>
                <xsd:element ref="ns3:MediaServiceAutoTags" minOccurs="0"/>
                <xsd:element ref="ns3:MediaLengthInSeconds" minOccurs="0"/>
                <xsd:element ref="ns3:MediaServiceOCR" minOccurs="0"/>
                <xsd:element ref="ns3:MediaServiceGenerationTime" minOccurs="0"/>
                <xsd:element ref="ns3:MediaServiceEventHashCode"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ae1180-1625-432d-9564-536efa86ebf4"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5" nillable="true" ma:displayName="MediaServiceDateTaken" ma:hidden="true" ma:indexed="true" ma:internalName="MediaServiceDateTake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AutoTags" ma:index="37" nillable="true" ma:displayName="Tags" ma:internalName="MediaServiceAutoTags" ma:readOnly="true">
      <xsd:simpleType>
        <xsd:restriction base="dms:Text"/>
      </xsd:simpleType>
    </xsd:element>
    <xsd:element name="MediaLengthInSeconds" ma:index="38" nillable="true" ma:displayName="MediaLengthInSeconds" ma:hidden="true" ma:internalName="MediaLengthInSeconds" ma:readOnly="true">
      <xsd:simpleType>
        <xsd:restriction base="dms:Unknown"/>
      </xsd:simpleType>
    </xsd:element>
    <xsd:element name="MediaServiceOCR" ma:index="39" nillable="true" ma:displayName="Extracted Text" ma:internalName="MediaServiceOCR" ma:readOnly="true">
      <xsd:simpleType>
        <xsd:restriction base="dms:Note">
          <xsd:maxLength value="255"/>
        </xsd:restriction>
      </xsd:simpleType>
    </xsd:element>
    <xsd:element name="MediaServiceGenerationTime" ma:index="40" nillable="true" ma:displayName="MediaServiceGenerationTime" ma:hidden="true" ma:internalName="MediaServiceGenerationTime" ma:readOnly="true">
      <xsd:simpleType>
        <xsd:restriction base="dms:Text"/>
      </xsd:simpleType>
    </xsd:element>
    <xsd:element name="MediaServiceEventHashCode" ma:index="41" nillable="true" ma:displayName="MediaServiceEventHashCode" ma:hidden="true" ma:internalName="MediaServiceEventHashCode" ma:readOnly="true">
      <xsd:simpleType>
        <xsd:restriction base="dms:Text"/>
      </xsd:simpleType>
    </xsd:element>
    <xsd:element name="MediaServiceSystemTags" ma:index="42" nillable="true" ma:displayName="MediaServiceSystemTags" ma:hidden="true" ma:internalName="MediaServiceSystemTags" ma:readOnly="true">
      <xsd:simpleType>
        <xsd:restriction base="dms:Note"/>
      </xsd:simpleType>
    </xsd:element>
    <xsd:element name="MediaServiceSearchProperties" ma:index="43" nillable="true" ma:displayName="MediaServiceSearchProperties" ma:hidden="true" ma:internalName="MediaServiceSearchProperties" ma:readOnly="true">
      <xsd:simpleType>
        <xsd:restriction base="dms:Note"/>
      </xsd:simpleType>
    </xsd:element>
    <xsd:element name="MediaServiceLocation" ma:index="4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b30838-8472-4825-b0d2-54d0c48054e1" elementFormDefault="qualified">
    <xsd:import namespace="http://schemas.microsoft.com/office/2006/documentManagement/types"/>
    <xsd:import namespace="http://schemas.microsoft.com/office/infopath/2007/PartnerControls"/>
    <xsd:element name="SharedWithUsers" ma:index="3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3" nillable="true" ma:displayName="Shared With Details" ma:internalName="SharedWithDetails" ma:readOnly="true">
      <xsd:simpleType>
        <xsd:restriction base="dms:Note">
          <xsd:maxLength value="255"/>
        </xsd:restriction>
      </xsd:simpleType>
    </xsd:element>
    <xsd:element name="SharingHintHash" ma:index="3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FE157C-7C34-4270-9ACE-5AFAD09762A3}">
  <ds:schemaRefs>
    <ds:schemaRef ds:uri="http://purl.org/dc/terms/"/>
    <ds:schemaRef ds:uri="ffb30838-8472-4825-b0d2-54d0c48054e1"/>
    <ds:schemaRef ds:uri="http://schemas.openxmlformats.org/package/2006/metadata/core-properties"/>
    <ds:schemaRef ds:uri="1cae1180-1625-432d-9564-536efa86ebf4"/>
    <ds:schemaRef ds:uri="http://purl.org/dc/elements/1.1/"/>
    <ds:schemaRef ds:uri="http://schemas.microsoft.com/office/2006/metadata/properties"/>
    <ds:schemaRef ds:uri="http://schemas.microsoft.com/office/2006/documentManagement/types"/>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C8F2D752-FBC4-4899-86E7-ECB3C8302392}">
  <ds:schemaRefs>
    <ds:schemaRef ds:uri="http://schemas.microsoft.com/sharepoint/v3/contenttype/forms"/>
  </ds:schemaRefs>
</ds:datastoreItem>
</file>

<file path=customXml/itemProps3.xml><?xml version="1.0" encoding="utf-8"?>
<ds:datastoreItem xmlns:ds="http://schemas.openxmlformats.org/officeDocument/2006/customXml" ds:itemID="{6B9D1F64-9174-4D93-A028-C47061B0A3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ae1180-1625-432d-9564-536efa86ebf4"/>
    <ds:schemaRef ds:uri="ffb30838-8472-4825-b0d2-54d0c48054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43521</TotalTime>
  <Words>3342</Words>
  <Application>Microsoft Office PowerPoint</Application>
  <PresentationFormat>Widescreen</PresentationFormat>
  <Paragraphs>759</Paragraphs>
  <Slides>49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Cambria Math</vt:lpstr>
      <vt:lpstr>Candara</vt:lpstr>
      <vt:lpstr>Office Theme</vt:lpstr>
      <vt:lpstr>Lecture 3 Inventory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dc:title>
  <dc:creator>Rashik Ahnaf</dc:creator>
  <cp:lastModifiedBy>common</cp:lastModifiedBy>
  <cp:revision>25</cp:revision>
  <dcterms:created xsi:type="dcterms:W3CDTF">2023-06-28T05:48:40Z</dcterms:created>
  <dcterms:modified xsi:type="dcterms:W3CDTF">2025-08-06T07:21:56Z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0x010100F72EF0998C0FD5458491B7BD1DB5A06D</vt:lpwstr>
  </property>
</Properties>
</file>