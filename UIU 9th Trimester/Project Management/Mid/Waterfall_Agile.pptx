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Montserrat"/>
      <p:regular r:id="rId33"/>
      <p:bold r:id="rId34"/>
      <p:italic r:id="rId35"/>
      <p:boldItalic r:id="rId36"/>
    </p:embeddedFont>
    <p:embeddedFont>
      <p:font typeface="Montserrat Medium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MontserratMedium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Medium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Medium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de3d6d94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de3d6d94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543d469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543d469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543d469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543d469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543d4690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543d4690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de3d6d94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de3d6d94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de3d6d94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de3d6d94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543d4690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543d4690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543d469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543d469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543d4690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543d4690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543d4690f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543d4690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543d4690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543d4690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543d4690f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543d4690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543d4690f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543d4690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543d4690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543d4690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de3d6d94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de3d6d94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de3d6d94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de3d6d94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de3d6d94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de3d6d94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de3d6d94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de3d6d94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de3d6d94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cde3d6d94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de3d6d94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cde3d6d94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de3d6d94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cde3d6d94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de3d6d94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cde3d6d94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543d4690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543d4690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1c31ca928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1c31ca928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de3d6d94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de3d6d94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1c31ca928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1c31ca928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1912760"/>
            <a:ext cx="91440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Cambria"/>
              <a:buNone/>
              <a:defRPr b="1" sz="4800">
                <a:latin typeface="Cambria"/>
                <a:ea typeface="Cambria"/>
                <a:cs typeface="Cambria"/>
                <a:sym typeface="Cambr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5200"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83788"/>
            <a:ext cx="8520600" cy="11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Medium"/>
              <a:buNone/>
              <a:defRPr sz="24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2857500" y="1871050"/>
            <a:ext cx="3429000" cy="1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2857500" y="2868271"/>
            <a:ext cx="3429000" cy="12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mbria"/>
              <a:buNone/>
              <a:defRPr b="1" sz="45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Font typeface="Montserrat"/>
              <a:buNone/>
              <a:defRPr b="1" sz="45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4002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0" y="572425"/>
            <a:ext cx="914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9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0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6837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2489525"/>
            <a:ext cx="8520600" cy="21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2"/>
          <p:cNvSpPr/>
          <p:nvPr/>
        </p:nvSpPr>
        <p:spPr>
          <a:xfrm>
            <a:off x="0" y="4920000"/>
            <a:ext cx="9168900" cy="22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/>
        </p:nvSpPr>
        <p:spPr>
          <a:xfrm>
            <a:off x="0" y="4473300"/>
            <a:ext cx="9144000" cy="670200"/>
          </a:xfrm>
          <a:prstGeom prst="rect">
            <a:avLst/>
          </a:prstGeom>
          <a:solidFill>
            <a:srgbClr val="FF57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31275" y="248150"/>
            <a:ext cx="989000" cy="90092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b="1" sz="1500">
                <a:solidFill>
                  <a:schemeClr val="lt1"/>
                </a:solidFill>
              </a:defRPr>
            </a:lvl1pPr>
            <a:lvl2pPr lvl="1" algn="ctr">
              <a:buNone/>
              <a:defRPr b="1" sz="1500">
                <a:solidFill>
                  <a:schemeClr val="lt1"/>
                </a:solidFill>
              </a:defRPr>
            </a:lvl2pPr>
            <a:lvl3pPr lvl="2" algn="ctr">
              <a:buNone/>
              <a:defRPr b="1" sz="1500">
                <a:solidFill>
                  <a:schemeClr val="lt1"/>
                </a:solidFill>
              </a:defRPr>
            </a:lvl3pPr>
            <a:lvl4pPr lvl="3" algn="ctr">
              <a:buNone/>
              <a:defRPr b="1" sz="1500">
                <a:solidFill>
                  <a:schemeClr val="lt1"/>
                </a:solidFill>
              </a:defRPr>
            </a:lvl4pPr>
            <a:lvl5pPr lvl="4" algn="ctr">
              <a:buNone/>
              <a:defRPr b="1" sz="1500">
                <a:solidFill>
                  <a:schemeClr val="lt1"/>
                </a:solidFill>
              </a:defRPr>
            </a:lvl5pPr>
            <a:lvl6pPr lvl="5" algn="ctr">
              <a:buNone/>
              <a:defRPr b="1" sz="1500">
                <a:solidFill>
                  <a:schemeClr val="lt1"/>
                </a:solidFill>
              </a:defRPr>
            </a:lvl6pPr>
            <a:lvl7pPr lvl="6" algn="ctr">
              <a:buNone/>
              <a:defRPr b="1" sz="1500">
                <a:solidFill>
                  <a:schemeClr val="lt1"/>
                </a:solidFill>
              </a:defRPr>
            </a:lvl7pPr>
            <a:lvl8pPr lvl="7" algn="ctr">
              <a:buNone/>
              <a:defRPr b="1" sz="1500">
                <a:solidFill>
                  <a:schemeClr val="lt1"/>
                </a:solidFill>
              </a:defRPr>
            </a:lvl8pPr>
            <a:lvl9pPr lvl="8" algn="ctr">
              <a:buNone/>
              <a:defRPr b="1" sz="1500"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072127" y="1600761"/>
            <a:ext cx="4482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9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3089528" y="1289304"/>
            <a:ext cx="5651182" cy="2565083"/>
          </a:xfrm>
          <a:custGeom>
            <a:rect b="b" l="l" r="r" t="t"/>
            <a:pathLst>
              <a:path extrusionOk="0" h="3420110" w="7534909">
                <a:moveTo>
                  <a:pt x="7534656" y="0"/>
                </a:moveTo>
                <a:lnTo>
                  <a:pt x="0" y="0"/>
                </a:lnTo>
                <a:lnTo>
                  <a:pt x="0" y="3419855"/>
                </a:lnTo>
                <a:lnTo>
                  <a:pt x="7534656" y="3419855"/>
                </a:lnTo>
                <a:lnTo>
                  <a:pt x="7534656" y="0"/>
                </a:lnTo>
                <a:close/>
              </a:path>
            </a:pathLst>
          </a:custGeom>
          <a:solidFill>
            <a:srgbClr val="000000">
              <a:alpha val="549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9" name="Google Shape;79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181584" y="119633"/>
            <a:ext cx="8781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>
                <a:solidFill>
                  <a:srgbClr val="0076E7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751941" y="832675"/>
            <a:ext cx="3179100" cy="26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5008436" y="832675"/>
            <a:ext cx="3575100" cy="25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6" name="Google Shape;86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6583680" y="4783455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b="1"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 sz="12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0" y="1912760"/>
            <a:ext cx="9144000" cy="9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520"/>
              <a:t>PMG 4101: Project Management</a:t>
            </a:r>
            <a:endParaRPr sz="3520"/>
          </a:p>
        </p:txBody>
      </p:sp>
      <p:sp>
        <p:nvSpPr>
          <p:cNvPr id="93" name="Google Shape;93;p18"/>
          <p:cNvSpPr txBox="1"/>
          <p:nvPr>
            <p:ph idx="1" type="subTitle"/>
          </p:nvPr>
        </p:nvSpPr>
        <p:spPr>
          <a:xfrm>
            <a:off x="311700" y="2883788"/>
            <a:ext cx="8520600" cy="11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Syed Samin Sadaf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of CSE,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United International University (UIU)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Methodology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Methodology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Software Methodology</a:t>
            </a:r>
            <a:r>
              <a:rPr lang="en">
                <a:solidFill>
                  <a:schemeClr val="dk2"/>
                </a:solidFill>
              </a:rPr>
              <a:t> means a </a:t>
            </a:r>
            <a:r>
              <a:rPr b="1" lang="en">
                <a:solidFill>
                  <a:schemeClr val="dk2"/>
                </a:solidFill>
              </a:rPr>
              <a:t>proper, organized</a:t>
            </a:r>
            <a:r>
              <a:rPr lang="en">
                <a:solidFill>
                  <a:schemeClr val="dk2"/>
                </a:solidFill>
              </a:rPr>
              <a:t> way to develop software from start to finish.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It is like a </a:t>
            </a:r>
            <a:r>
              <a:rPr b="1" lang="en">
                <a:solidFill>
                  <a:schemeClr val="dk2"/>
                </a:solidFill>
              </a:rPr>
              <a:t>recipe</a:t>
            </a:r>
            <a:r>
              <a:rPr lang="en">
                <a:solidFill>
                  <a:schemeClr val="dk2"/>
                </a:solidFill>
              </a:rPr>
              <a:t> for cooking or a </a:t>
            </a:r>
            <a:r>
              <a:rPr b="1" lang="en">
                <a:solidFill>
                  <a:schemeClr val="dk2"/>
                </a:solidFill>
              </a:rPr>
              <a:t>blueprint</a:t>
            </a:r>
            <a:r>
              <a:rPr lang="en">
                <a:solidFill>
                  <a:schemeClr val="dk2"/>
                </a:solidFill>
              </a:rPr>
              <a:t> for building a house.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It tells the team:</a:t>
            </a:r>
            <a:endParaRPr>
              <a:solidFill>
                <a:schemeClr val="dk2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What steps to follow</a:t>
            </a:r>
            <a:endParaRPr>
              <a:solidFill>
                <a:schemeClr val="dk2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When to do each step</a:t>
            </a:r>
            <a:endParaRPr>
              <a:solidFill>
                <a:schemeClr val="dk2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How to plan the work</a:t>
            </a:r>
            <a:endParaRPr>
              <a:solidFill>
                <a:schemeClr val="dk2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How to communicate</a:t>
            </a:r>
            <a:endParaRPr>
              <a:solidFill>
                <a:schemeClr val="dk2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How to test the software</a:t>
            </a:r>
            <a:endParaRPr>
              <a:solidFill>
                <a:schemeClr val="dk2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>
                <a:solidFill>
                  <a:schemeClr val="dk2"/>
                </a:solidFill>
              </a:rPr>
              <a:t>How to deliver it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Without a methodology, software development becomes </a:t>
            </a:r>
            <a:r>
              <a:rPr b="1" lang="en">
                <a:solidFill>
                  <a:schemeClr val="dk2"/>
                </a:solidFill>
              </a:rPr>
              <a:t>messy, confusing, </a:t>
            </a:r>
            <a:r>
              <a:rPr lang="en">
                <a:solidFill>
                  <a:schemeClr val="dk2"/>
                </a:solidFill>
              </a:rPr>
              <a:t>and </a:t>
            </a:r>
            <a:r>
              <a:rPr b="1" lang="en">
                <a:solidFill>
                  <a:schemeClr val="dk2"/>
                </a:solidFill>
              </a:rPr>
              <a:t>risky</a:t>
            </a:r>
            <a:r>
              <a:rPr lang="en">
                <a:solidFill>
                  <a:schemeClr val="dk2"/>
                </a:solidFill>
              </a:rPr>
              <a:t>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So, a methodology gives a </a:t>
            </a:r>
            <a:r>
              <a:rPr b="1" lang="en">
                <a:solidFill>
                  <a:schemeClr val="dk2"/>
                </a:solidFill>
              </a:rPr>
              <a:t>step-by-step path</a:t>
            </a:r>
            <a:r>
              <a:rPr lang="en">
                <a:solidFill>
                  <a:schemeClr val="dk2"/>
                </a:solidFill>
              </a:rPr>
              <a:t> to follow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Software Methodology Important?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120325" y="1152475"/>
            <a:ext cx="6346800" cy="35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Ensures Organized Development: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A methodology makes sure everyone follows the same process, so work doesn’t become chaotic.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Reduces Errors and Rework: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Because tasks follow a clear plan, mistakes are found early and fixed quickly.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Improves Team Communication: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Everyone knows what to do, when to do it, and what others are doing.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Helps Understand User Needs Better: 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Some methodologies focus on collecting customer feedback early.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3275" y="1605713"/>
            <a:ext cx="2778300" cy="2407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Software Methodology Important?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5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Saves Time and Cost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A disciplined process avoids unnecessary work and delays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Improves Software Quality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Methodologies include stages for testing, review, and correction.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Makes Maintenance Easier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Good documentation and structure make future updates simple.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Software Development Methodologies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Agile Methodology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Waterfall Methodology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Rational Unified Process (RUP) Methodology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Spiral Methodology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Scrum Methodology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eXtreme Programming Methodology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Boehm’s Spiral Methodology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Software Development Methodologies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Incremental Software Development Methodology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DevOps Methodology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Rapid Application Development Methodology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Dynamic Systems Development Methodology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Prototype Methodology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Feature-driven Development Methodology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Joint Application Development Methodology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4" name="Google Shape;134;p2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Methodology</a:t>
            </a:r>
            <a:endParaRPr/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chemeClr val="dk2"/>
                </a:solidFill>
              </a:rPr>
              <a:t>‹#›</a:t>
            </a:fld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Methodology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Agile is a </a:t>
            </a:r>
            <a:r>
              <a:rPr b="1" lang="en">
                <a:solidFill>
                  <a:schemeClr val="dk2"/>
                </a:solidFill>
              </a:rPr>
              <a:t>modern, flexible, and iterative</a:t>
            </a:r>
            <a:r>
              <a:rPr lang="en">
                <a:solidFill>
                  <a:schemeClr val="dk2"/>
                </a:solidFill>
              </a:rPr>
              <a:t> approach to software development that focuses on: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delivering working software quickly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involving customers continuously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adapting to requirement changes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improving the product step-by-step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</a:rPr>
              <a:t>Agile develops software in </a:t>
            </a:r>
            <a:r>
              <a:rPr b="1" lang="en">
                <a:solidFill>
                  <a:schemeClr val="dk2"/>
                </a:solidFill>
              </a:rPr>
              <a:t>short cycles called Sprints</a:t>
            </a:r>
            <a:r>
              <a:rPr lang="en">
                <a:solidFill>
                  <a:schemeClr val="dk2"/>
                </a:solidFill>
              </a:rPr>
              <a:t>, usually lasting </a:t>
            </a:r>
            <a:r>
              <a:rPr b="1" lang="en">
                <a:solidFill>
                  <a:schemeClr val="dk2"/>
                </a:solidFill>
              </a:rPr>
              <a:t>1–4</a:t>
            </a:r>
            <a:r>
              <a:rPr lang="en">
                <a:solidFill>
                  <a:schemeClr val="dk2"/>
                </a:solidFill>
              </a:rPr>
              <a:t> weeks.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 Methodology</a:t>
            </a:r>
            <a:endParaRPr/>
          </a:p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Key Idea:</a:t>
            </a:r>
            <a:endParaRPr b="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"Deliver small, deliver fast, get feedback, improve continuously."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Agile methodology is arguably one of the most popular software development methodologies in recent days. It takes a different approach from the conventional, linear method. Agile focuses on how to satisfy the users instead of emphasizing documentation and rigid procedures.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475" y="1978263"/>
            <a:ext cx="4019050" cy="118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Software has minimal defects due to the iterative effort in testing and fine-tuning.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Clarity between team members during development, thanks to the frequent and transparent development.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Changes in project requirements are easily addressed and work on with little impact on the timeline.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An overall improvement on the </a:t>
            </a:r>
            <a:r>
              <a:rPr lang="en">
                <a:solidFill>
                  <a:schemeClr val="dk2"/>
                </a:solidFill>
              </a:rPr>
              <a:t>deliverable</a:t>
            </a:r>
            <a:r>
              <a:rPr lang="en">
                <a:solidFill>
                  <a:schemeClr val="dk2"/>
                </a:solidFill>
              </a:rPr>
              <a:t> quality.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of Agile</a:t>
            </a:r>
            <a:endParaRPr/>
          </a:p>
        </p:txBody>
      </p:sp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🚫The team can sometimes lose focus due to overwhelming change requests.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🚫Documentation takes a back seat in Agile, which can be a problem later on in development.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🚫Agile focuses on discussions and feedback, which can be too time-consuming for the team.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🚫Due to its non-structured approach, Agile requires experienced developers who can work independently.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 of Agile</a:t>
            </a:r>
            <a:endParaRPr/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Agile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Requirements are uncertain and evolving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Projects needing early and frequent delivery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High customer/stakeholder involvement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Complex projects with many unknowns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Dynamic, fast-changing markets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Cross-functional teams are available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NOT to use Agile</a:t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Requirements Are Fully Known and Fixed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If nothing is expected to change, Agile’s flexibility adds unnecessary overhead.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project requires strict documentation or compliance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Industries with heavy regulatory requirements (healthcare, aerospace, finance) may need Waterfall-style documentation.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Stakeholders are not available or engaged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Agile needs constant feedback. If feedback is slow → sprints fail.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Large, geographically distributed teams without collaboration tools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Agile requires tight communication. Distributed teams without strong collaboration struggle.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NOT to use Agile</a:t>
            </a:r>
            <a:endParaRPr/>
          </a:p>
        </p:txBody>
      </p:sp>
      <p:sp>
        <p:nvSpPr>
          <p:cNvPr id="189" name="Google Shape;18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short, simple, or one-time projects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If the work is small and predictable, Agile ceremonies (standups, sprint planning) add unnecessary overhead.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Teams lack agile experience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If the team doesn’t understand Agile principles, the process will collapse.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Fixed budget, fixed scope, fixed deadline projects</a:t>
            </a:r>
            <a:br>
              <a:rPr lang="en"/>
            </a:br>
            <a:r>
              <a:rPr lang="en">
                <a:solidFill>
                  <a:schemeClr val="dk2"/>
                </a:solidFill>
              </a:rPr>
              <a:t>Agile handles flexibility, but if everything is fixed, Agile’s value is limited.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0" name="Google Shape;190;p32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Model</a:t>
            </a:r>
            <a:endParaRPr/>
          </a:p>
        </p:txBody>
      </p:sp>
      <p:sp>
        <p:nvSpPr>
          <p:cNvPr id="196" name="Google Shape;196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chemeClr val="dk2"/>
                </a:solidFill>
              </a:rPr>
              <a:t>‹#›</a:t>
            </a:fld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Model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5824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In Waterfall methodology, developers </a:t>
            </a:r>
            <a:r>
              <a:rPr b="1" lang="en">
                <a:solidFill>
                  <a:schemeClr val="dk2"/>
                </a:solidFill>
              </a:rPr>
              <a:t>complete one stage</a:t>
            </a:r>
            <a:r>
              <a:rPr lang="en">
                <a:solidFill>
                  <a:schemeClr val="dk2"/>
                </a:solidFill>
              </a:rPr>
              <a:t> in its </a:t>
            </a:r>
            <a:r>
              <a:rPr b="1" lang="en">
                <a:solidFill>
                  <a:schemeClr val="dk2"/>
                </a:solidFill>
              </a:rPr>
              <a:t>entirety </a:t>
            </a:r>
            <a:r>
              <a:rPr lang="en">
                <a:solidFill>
                  <a:schemeClr val="dk2"/>
                </a:solidFill>
              </a:rPr>
              <a:t>before beginning the next.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Each stage has its own requirements and plan and is r</a:t>
            </a:r>
            <a:r>
              <a:rPr b="1" lang="en">
                <a:solidFill>
                  <a:schemeClr val="dk2"/>
                </a:solidFill>
              </a:rPr>
              <a:t>eliant on inputs from the previous stage</a:t>
            </a:r>
            <a:r>
              <a:rPr lang="en">
                <a:solidFill>
                  <a:schemeClr val="dk2"/>
                </a:solidFill>
              </a:rPr>
              <a:t>.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 this way, the development flows from one stage to the next, and there's </a:t>
            </a:r>
            <a:r>
              <a:rPr b="1" lang="en">
                <a:solidFill>
                  <a:schemeClr val="dk2"/>
                </a:solidFill>
              </a:rPr>
              <a:t>no overlap of work</a:t>
            </a:r>
            <a:r>
              <a:rPr lang="en">
                <a:solidFill>
                  <a:schemeClr val="dk2"/>
                </a:solidFill>
              </a:rPr>
              <a:t> between any two stages.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4" name="Google Shape;20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8600" y="1170125"/>
            <a:ext cx="2497104" cy="3278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Model</a:t>
            </a:r>
            <a:endParaRPr/>
          </a:p>
        </p:txBody>
      </p:sp>
      <p:sp>
        <p:nvSpPr>
          <p:cNvPr id="210" name="Google Shape;210;p35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875" y="955900"/>
            <a:ext cx="4999325" cy="38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vs Agile</a:t>
            </a:r>
            <a:endParaRPr/>
          </a:p>
        </p:txBody>
      </p:sp>
      <p:sp>
        <p:nvSpPr>
          <p:cNvPr id="217" name="Google Shape;217;p36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8" name="Google Shape;21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75" y="1203800"/>
            <a:ext cx="7896751" cy="333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The linearity of the waterfall model makes it </a:t>
            </a:r>
            <a:r>
              <a:rPr b="1" lang="en">
                <a:solidFill>
                  <a:schemeClr val="dk2"/>
                </a:solidFill>
              </a:rPr>
              <a:t>easy to understand</a:t>
            </a:r>
            <a:r>
              <a:rPr lang="en">
                <a:solidFill>
                  <a:schemeClr val="dk2"/>
                </a:solidFill>
              </a:rPr>
              <a:t>, particularly for new developers.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✓ All</a:t>
            </a:r>
            <a:r>
              <a:rPr b="1" lang="en">
                <a:solidFill>
                  <a:schemeClr val="dk2"/>
                </a:solidFill>
              </a:rPr>
              <a:t> specifications and deliverables are spelled out</a:t>
            </a:r>
            <a:r>
              <a:rPr lang="en">
                <a:solidFill>
                  <a:schemeClr val="dk2"/>
                </a:solidFill>
              </a:rPr>
              <a:t> before the development commence.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✓ There’s </a:t>
            </a:r>
            <a:r>
              <a:rPr b="1" lang="en">
                <a:solidFill>
                  <a:schemeClr val="dk2"/>
                </a:solidFill>
              </a:rPr>
              <a:t>no room for miscommunicating</a:t>
            </a:r>
            <a:r>
              <a:rPr lang="en">
                <a:solidFill>
                  <a:schemeClr val="dk2"/>
                </a:solidFill>
              </a:rPr>
              <a:t> information with the waterfall model as it’s clearly defined in each stage.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25" name="Google Shape;225;p37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1914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🚫It doesn’t include customer feedback in the early phases, which increases the risk of the project veering off target.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🚫Testing is only executed at the end of the development. Some problems are harder to fix at a later stage.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🚫The rigidity of the waterfall model gives no room for changes, making it unsuitable for complex projects.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🚫The team can spend too much time on documentation instead of delivering solutions that solve the user's problems.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2" name="Google Shape;232;p38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choose Waterfall?</a:t>
            </a:r>
            <a:endParaRPr/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191400" y="1017725"/>
            <a:ext cx="8520600" cy="38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Use waterfall only when you have a project with </a:t>
            </a:r>
            <a:r>
              <a:rPr b="1" lang="en">
                <a:solidFill>
                  <a:schemeClr val="dk2"/>
                </a:solidFill>
              </a:rPr>
              <a:t>clearly-defined scope.</a:t>
            </a:r>
            <a:r>
              <a:rPr lang="en">
                <a:solidFill>
                  <a:schemeClr val="dk2"/>
                </a:solidFill>
              </a:rPr>
              <a:t> It is not suitable for development that involves many unknowns. Waterfall is ideal for projects with </a:t>
            </a:r>
            <a:r>
              <a:rPr b="1" lang="en">
                <a:solidFill>
                  <a:schemeClr val="dk2"/>
                </a:solidFill>
              </a:rPr>
              <a:t>predictable outcomes</a:t>
            </a:r>
            <a:r>
              <a:rPr lang="en">
                <a:solidFill>
                  <a:schemeClr val="dk2"/>
                </a:solidFill>
              </a:rPr>
              <a:t> and when you have a team of inexperienced developers.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Requirements are clear and stable 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Project scope is well-defined from the beginning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Technology to be used is well understood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Changes are expected to be minimal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Project is small or moderately complex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Strong documentation is required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Regulated industries (e.g., government, healthcare, banking)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Teams are working sequentially where each phase must finish before the next begins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9" name="Google Shape;239;p39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NOT to choose Waterfall?</a:t>
            </a:r>
            <a:endParaRPr/>
          </a:p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191400" y="1017725"/>
            <a:ext cx="8520600" cy="38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Requirements are unclear or likely to change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Frequent client feedback is needed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Project requires rapid iterations or prototypes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Technology is new or experimental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Large or highly complex projects with uncertainty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Customer wants continuous delivery of features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Market conditions may change during development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>
                <a:solidFill>
                  <a:schemeClr val="dk2"/>
                </a:solidFill>
              </a:rPr>
              <a:t>Projects requiring high flexibility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6" name="Google Shape;246;p40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Hybrid (Agile + Waterfall)</a:t>
            </a:r>
            <a:endParaRPr/>
          </a:p>
        </p:txBody>
      </p:sp>
      <p:sp>
        <p:nvSpPr>
          <p:cNvPr id="252" name="Google Shape;25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Sometimes using both makes sense: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Scenario</a:t>
            </a:r>
            <a:endParaRPr b="1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>
                <a:solidFill>
                  <a:schemeClr val="dk2"/>
                </a:solidFill>
              </a:rPr>
              <a:t>A banking project with strict regulatory requirements (needs Waterfall).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>
                <a:solidFill>
                  <a:schemeClr val="dk2"/>
                </a:solidFill>
              </a:rPr>
              <a:t>But front-end features can evolve based on user feedback (needs Agile).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Approach</a:t>
            </a:r>
            <a:endParaRPr b="1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>
                <a:solidFill>
                  <a:schemeClr val="dk2"/>
                </a:solidFill>
              </a:rPr>
              <a:t>Requirements + architecture = Waterfall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>
                <a:solidFill>
                  <a:schemeClr val="dk2"/>
                </a:solidFill>
              </a:rPr>
              <a:t>UI development + enhancements = Agile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This hybrid approach is common in large organizations.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3" name="Google Shape;253;p41"/>
          <p:cNvSpPr txBox="1"/>
          <p:nvPr>
            <p:ph idx="12" type="sldNum"/>
          </p:nvPr>
        </p:nvSpPr>
        <p:spPr>
          <a:xfrm>
            <a:off x="8571849" y="460109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  <p:sp>
        <p:nvSpPr>
          <p:cNvPr id="259" name="Google Shape;259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311700" y="6168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50"/>
              <a:t>Acknowledgement</a:t>
            </a:r>
            <a:endParaRPr sz="2550"/>
          </a:p>
        </p:txBody>
      </p:sp>
      <p:sp>
        <p:nvSpPr>
          <p:cNvPr id="265" name="Google Shape;265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43"/>
          <p:cNvSpPr txBox="1"/>
          <p:nvPr>
            <p:ph idx="4294967295" type="body"/>
          </p:nvPr>
        </p:nvSpPr>
        <p:spPr>
          <a:xfrm>
            <a:off x="311700" y="1278350"/>
            <a:ext cx="8520600" cy="32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 Courtesy: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Dr. Suman Ahmed</a:t>
            </a:r>
            <a:r>
              <a:rPr lang="en">
                <a:solidFill>
                  <a:schemeClr val="lt1"/>
                </a:solidFill>
              </a:rPr>
              <a:t>, Professor, CSE Department, UIU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72" name="Google Shape;272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ifin UIU Blue">
  <a:themeElements>
    <a:clrScheme name="Simple Light">
      <a:dk1>
        <a:srgbClr val="023E8A"/>
      </a:dk1>
      <a:lt1>
        <a:srgbClr val="FFFFFF"/>
      </a:lt1>
      <a:dk2>
        <a:srgbClr val="000000"/>
      </a:dk2>
      <a:lt2>
        <a:srgbClr val="EEEEEE"/>
      </a:lt2>
      <a:accent1>
        <a:srgbClr val="0077B6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