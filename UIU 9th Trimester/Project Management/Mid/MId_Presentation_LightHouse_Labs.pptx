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70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49240" y="68580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0480" y="914400"/>
            <a:ext cx="1216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LIGHTHOUSE LABS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4" name="Text Box 13"/>
          <p:cNvSpPr txBox="1"/>
          <p:nvPr/>
        </p:nvSpPr>
        <p:spPr>
          <a:xfrm>
            <a:off x="2652395" y="2867025"/>
            <a:ext cx="9509125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300"/>
              <a:t>Jahidul Islam Jony		0112330060</a:t>
            </a:r>
            <a:endParaRPr lang="en-US" sz="3300"/>
          </a:p>
          <a:p>
            <a:r>
              <a:rPr lang="en-US" sz="3300"/>
              <a:t>Partha Protim Podder	0112331079</a:t>
            </a:r>
            <a:endParaRPr lang="en-US" sz="3300"/>
          </a:p>
          <a:p>
            <a:r>
              <a:rPr lang="en-US" sz="3300"/>
              <a:t>Mahin Hasan Upol		0112220520</a:t>
            </a:r>
            <a:endParaRPr lang="en-US" sz="3300"/>
          </a:p>
          <a:p>
            <a:r>
              <a:rPr lang="en-US" sz="3300"/>
              <a:t>Sourav Saha			0112330638</a:t>
            </a:r>
            <a:endParaRPr lang="en-US" sz="3300"/>
          </a:p>
          <a:p>
            <a:r>
              <a:rPr lang="en-US" sz="3300"/>
              <a:t>Saptarshi Biswas Supty	0112330221</a:t>
            </a:r>
            <a:endParaRPr lang="en-US" sz="33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349240" y="685800"/>
            <a:ext cx="146304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897880" y="1051560"/>
            <a:ext cx="365760" cy="777240"/>
          </a:xfrm>
          <a:prstGeom prst="roundRect">
            <a:avLst>
              <a:gd name="adj" fmla="val 15000"/>
            </a:avLst>
          </a:prstGeom>
          <a:solidFill>
            <a:srgbClr val="2867A6"/>
          </a:solidFill>
        </p:spPr>
      </p:sp>
      <p:sp>
        <p:nvSpPr>
          <p:cNvPr id="5" name="Shape 3"/>
          <p:cNvSpPr/>
          <p:nvPr/>
        </p:nvSpPr>
        <p:spPr>
          <a:xfrm>
            <a:off x="5669280" y="1280160"/>
            <a:ext cx="822960" cy="320040"/>
          </a:xfrm>
          <a:prstGeom prst="roundRect">
            <a:avLst>
              <a:gd name="adj" fmla="val 17143"/>
            </a:avLst>
          </a:prstGeom>
          <a:solidFill>
            <a:srgbClr val="2867A6"/>
          </a:solidFill>
        </p:spPr>
      </p:sp>
      <p:sp>
        <p:nvSpPr>
          <p:cNvPr id="6" name="Text 4"/>
          <p:cNvSpPr/>
          <p:nvPr/>
        </p:nvSpPr>
        <p:spPr>
          <a:xfrm>
            <a:off x="0" y="1965960"/>
            <a:ext cx="1216152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PMI PROJECT MANAGEMENT CASE STUDY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2331720"/>
            <a:ext cx="121615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LIGHTHOUSE LABS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0F27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Innovating in a Crisis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5166360" y="3977640"/>
            <a:ext cx="18288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4160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F2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Scaling COVID-19 testing capacity 200x in a matter of months —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0F27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in agility, lean process, and crisis leadership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ARTICLE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Crisis Demanded a New Kind of Lab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492240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585216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COVID-19 struck in spring 2020, the Scottish government urgently needed to scale diagnostic testing capacity.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Lighthouse Laboratory was created as a partnership among the UK Government, Scottish government, University of Glasgow, the NHS, and private industry.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 day one, the lab processed just 41 tests — it needed to reach a sixteen-fold increase in capacity within 3–4 months.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article's core idea: achieving that kind of scale normally takes years — this project shows how project management tools compressed that timeline into months.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0" y="1508760"/>
            <a:ext cx="4297680" cy="4709160"/>
          </a:xfrm>
          <a:prstGeom prst="roundRect">
            <a:avLst>
              <a:gd name="adj" fmla="val 1915"/>
            </a:avLst>
          </a:prstGeom>
          <a:solidFill>
            <a:srgbClr val="2867A6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635240" y="178308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6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 FOR PM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635240" y="2148840"/>
            <a:ext cx="36576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Lighthouse Labs is a real-world case of applying Agile, Lean, and Theory of Constraints principles to scale an operation under extreme time pressure — with lives on the line.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0" y="4160520"/>
            <a:ext cx="42976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16x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315200" y="4937760"/>
            <a:ext cx="42976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A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capacity increase targeted in just 3–4 months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0" y="539496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AF4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(typically a multi-year undertaking)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&amp; SYSTEM CONTEXT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One of the UK's Largest COVID Testing Facilities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Hosted by the University of Glasgow at the Queen Elizabeth University Hospital campus.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Repurposed from an existing research laboratory into a high-throughput diagnostic testing facility.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after Jerome Finlayson (Scottish Manufacturing Advisory Service) engaged the Scottish government on how to reach the needed scale.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Now capable of processing 85,000 tests within a 24-hour turnaround.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89768" y="2546793"/>
            <a:ext cx="757929" cy="887824"/>
          </a:xfrm>
          <a:prstGeom prst="line">
            <a:avLst/>
          </a:prstGeom>
          <a:noFill/>
          <a:ln w="15875">
            <a:solidFill>
              <a:srgbClr val="9FC7EA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9683103" y="2546793"/>
            <a:ext cx="757929" cy="887824"/>
          </a:xfrm>
          <a:prstGeom prst="line">
            <a:avLst/>
          </a:prstGeom>
          <a:noFill/>
          <a:ln w="15875">
            <a:solidFill>
              <a:srgbClr val="9FC7EA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7389768" y="4154903"/>
            <a:ext cx="757929" cy="887824"/>
          </a:xfrm>
          <a:prstGeom prst="line">
            <a:avLst/>
          </a:prstGeom>
          <a:noFill/>
          <a:ln w="15875">
            <a:solidFill>
              <a:srgbClr val="9FC7EA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9683103" y="4154903"/>
            <a:ext cx="757929" cy="887824"/>
          </a:xfrm>
          <a:prstGeom prst="line">
            <a:avLst/>
          </a:prstGeom>
          <a:noFill/>
          <a:ln w="15875">
            <a:solidFill>
              <a:srgbClr val="9FC7E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669280" y="185166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18516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University of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Glasgow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332720" y="185166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332720" y="185166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486918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0" y="48691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Dept. of Health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Social Care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332720" y="4869180"/>
            <a:ext cx="182880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332720" y="4869180"/>
            <a:ext cx="1828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Bio Clavis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(industry)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3177540"/>
            <a:ext cx="1737360" cy="1234440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046720" y="3177540"/>
            <a:ext cx="1737360" cy="12344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LIGHTHOUSE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PROJECT MANAGEMENT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a 12-Week Plan to an Agile Cadence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Leadership initially built a comprehensive 12-week project plan — a traditional, predictive approach.</a:t>
            </a:r>
            <a:endParaRPr lang="en-US" sz="1500" dirty="0"/>
          </a:p>
          <a:p>
            <a:pPr marL="177800" indent="-177800">
              <a:lnSpc>
                <a:spcPct val="108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pandemic's dynamic, fast-changing environment made a rigid long-range plan impractical almost immediately.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06324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91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BEFORE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Comprehensive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12-Week Plan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461772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Predictive, waterfall-style planning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Fixed long-range milestones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4206240"/>
            <a:ext cx="548640" cy="548640"/>
          </a:xfrm>
          <a:prstGeom prst="ellipse">
            <a:avLst/>
          </a:prstGeom>
          <a:solidFill>
            <a:srgbClr val="F2994A"/>
          </a:solidFill>
        </p:spPr>
      </p:sp>
      <p:sp>
        <p:nvSpPr>
          <p:cNvPr id="10" name="Text 8"/>
          <p:cNvSpPr/>
          <p:nvPr/>
        </p:nvSpPr>
        <p:spPr>
          <a:xfrm>
            <a:off x="598932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&gt;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0" y="306324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2867A6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766560" y="329184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6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AFTER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66560" y="3611880"/>
            <a:ext cx="45720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Kaizen &amp;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Focused Improvement Teams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66560" y="4709160"/>
            <a:ext cx="457200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objectives set daily and weekly</a:t>
            </a:r>
            <a:endParaRPr lang="en-US" sz="1300" dirty="0"/>
          </a:p>
          <a:p>
            <a:pPr marL="177800" indent="-1778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Tight Plan &gt; Do &gt; Check &gt; Act cycles to iterate as conditions changed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PROJECT MANAGEMENT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Theory of Constraints: Managing the Bottleneck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880360" y="3291840"/>
            <a:ext cx="1737360" cy="1737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FE0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880360" y="3291840"/>
            <a:ext cx="1737360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 FOCUSING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23260" y="2034540"/>
            <a:ext cx="1051560" cy="1051560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23260" y="203454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745141" y="3140251"/>
            <a:ext cx="1051560" cy="105156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45141" y="3140251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63834" y="4929329"/>
            <a:ext cx="1051560" cy="1051560"/>
          </a:xfrm>
          <a:prstGeom prst="ellipse">
            <a:avLst/>
          </a:prstGeom>
          <a:solidFill>
            <a:srgbClr val="3D8FD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63834" y="4929329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2282686" y="4929329"/>
            <a:ext cx="1051560" cy="1051560"/>
          </a:xfrm>
          <a:prstGeom prst="ellipse">
            <a:avLst/>
          </a:prstGeom>
          <a:solidFill>
            <a:srgbClr val="1B3A5C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282686" y="4929329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1701379" y="3140251"/>
            <a:ext cx="1051560" cy="1051560"/>
          </a:xfrm>
          <a:prstGeom prst="ellipse">
            <a:avLst/>
          </a:prstGeom>
          <a:solidFill>
            <a:srgbClr val="5AA7DE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01379" y="3140251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063240" y="1348740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constraint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85121" y="4246675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Exploit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constraint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003814" y="6035753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Subordinate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everything else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22666" y="6035753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Elevate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constraint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41359" y="4246675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 —</a:t>
            </a:r>
            <a:endParaRPr lang="en-US" sz="10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the next one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49440" y="1600200"/>
            <a:ext cx="4663440" cy="466344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0" y="187452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BOTTLENECK, IN PRACTICE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2286000"/>
            <a:ext cx="4023360" cy="3931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Time was the lab's greatest operational cost — TOC gave a structured way to attack it.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Some bottlenecks can't be removed. Opening a sample box always takes time.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 that step could still be standardized — every worker, every shift, opened boxes the same way, in the same amount of time.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Managing (not eliminating) the constraint kept throughput predictable at scale.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PROJECT MANAGEMENT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Standard Work + Short Interval Control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685800" cy="685800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Standard Work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the first weeks, work wasn't understood, reliable, or repeatable — output was inconsistent.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lab introduced identical modular workstations for every worker.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instructions and structured training turned tribal knowledge into a repeatable process.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predictable, sustainable performance instead of a one-off "brute-force" push.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394960" cy="4480560"/>
          </a:xfrm>
          <a:prstGeom prst="roundRect">
            <a:avLst>
              <a:gd name="adj" fmla="val 1837"/>
            </a:avLst>
          </a:prstGeom>
          <a:solidFill>
            <a:srgbClr val="2867A6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965960"/>
            <a:ext cx="685800" cy="685800"/>
          </a:xfrm>
          <a:prstGeom prst="ellipse">
            <a:avLst/>
          </a:prstGeom>
          <a:solidFill>
            <a:srgbClr val="FFFFFF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9659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867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0" y="1965960"/>
            <a:ext cx="40233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Short Interval Control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583680" y="2880360"/>
            <a:ext cx="466344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Progress at key bottlenecks was reviewed in brief units — e.g., hourly — not weekly.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Problems were caught and iterated on almost as soon as they appeared.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tight feedback loop is what made continuous Plan-Do-Check-Act cycles possible in practice.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Hybrid — Whatever Works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compelling, urgent mission attracted an enormous volunteer workforce almost overnight.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That sense of purpose was a critical motivator through long hours and a steep learning curve.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blended traditional planning, Lean manufacturing tools, and Agile iteration — choosing whatever approach fit the moment, rather than following one methodology dogmatically.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489204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502920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867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750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5806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volunteers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108960" y="5029200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867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108960" y="580644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roles filled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173736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PLAN &gt; DO &gt; CHECK &gt; 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23660" y="3200400"/>
            <a:ext cx="1051560" cy="1051560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3660" y="32004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PLAN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30084" y="3726180"/>
            <a:ext cx="393192" cy="0"/>
          </a:xfrm>
          <a:prstGeom prst="line">
            <a:avLst/>
          </a:prstGeom>
          <a:noFill/>
          <a:ln w="25400">
            <a:solidFill>
              <a:srgbClr val="2867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78140" y="3200400"/>
            <a:ext cx="1051560" cy="1051560"/>
          </a:xfrm>
          <a:prstGeom prst="ellipse">
            <a:avLst/>
          </a:prstGeom>
          <a:solidFill>
            <a:srgbClr val="3D8FD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8140" y="32004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DO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084564" y="3726180"/>
            <a:ext cx="393192" cy="0"/>
          </a:xfrm>
          <a:prstGeom prst="line">
            <a:avLst/>
          </a:prstGeom>
          <a:noFill/>
          <a:ln w="25400">
            <a:solidFill>
              <a:srgbClr val="2867A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532620" y="3200400"/>
            <a:ext cx="1051560" cy="105156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32620" y="32004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CHECK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639044" y="3726180"/>
            <a:ext cx="393192" cy="0"/>
          </a:xfrm>
          <a:prstGeom prst="line">
            <a:avLst/>
          </a:prstGeom>
          <a:noFill/>
          <a:ln w="25400">
            <a:solidFill>
              <a:srgbClr val="2867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1087100" y="3200400"/>
            <a:ext cx="1051560" cy="1051560"/>
          </a:xfrm>
          <a:prstGeom prst="ellipse">
            <a:avLst/>
          </a:prstGeom>
          <a:solidFill>
            <a:srgbClr val="1B3A5C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087100" y="3200400"/>
            <a:ext cx="105156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1612880" y="4251960"/>
            <a:ext cx="0" cy="685800"/>
          </a:xfrm>
          <a:prstGeom prst="line">
            <a:avLst/>
          </a:prstGeom>
          <a:noFill/>
          <a:ln w="22225">
            <a:solidFill>
              <a:srgbClr val="9FC7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4937760"/>
            <a:ext cx="4663440" cy="0"/>
          </a:xfrm>
          <a:prstGeom prst="line">
            <a:avLst/>
          </a:prstGeom>
          <a:noFill/>
          <a:ln w="22225">
            <a:solidFill>
              <a:srgbClr val="9FC7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4306824"/>
            <a:ext cx="0" cy="630936"/>
          </a:xfrm>
          <a:prstGeom prst="line">
            <a:avLst/>
          </a:prstGeom>
          <a:noFill/>
          <a:ln w="22225">
            <a:solidFill>
              <a:srgbClr val="9FC7EA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8732520" y="4965192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MANAGEMENT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Stakeholder Management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many partners and a mission-critical goal, stakeholder attention had to be prioritized, not spread evenly.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team kept close, frequent contact with elected officials and other high-influence, high-interest parties.</a:t>
            </a:r>
            <a:endParaRPr lang="en-US" sz="1450" dirty="0"/>
          </a:p>
          <a:p>
            <a:pPr marL="177800" indent="-177800">
              <a:lnSpc>
                <a:spcPct val="108000"/>
              </a:lnSpc>
              <a:spcAft>
                <a:spcPts val="1300"/>
              </a:spcAft>
              <a:buSzPct val="100000"/>
              <a:buChar char="•"/>
            </a:pPr>
            <a:r>
              <a:rPr lang="en-US" sz="14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Remaining stakeholders were segmented by their level of interest and power — so effort matched impact.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172200" y="1691640"/>
            <a:ext cx="2642616" cy="2231136"/>
          </a:xfrm>
          <a:prstGeom prst="roundRect">
            <a:avLst>
              <a:gd name="adj" fmla="val 3279"/>
            </a:avLst>
          </a:prstGeom>
          <a:solidFill>
            <a:srgbClr val="F4C95D"/>
          </a:solidFill>
        </p:spPr>
      </p:sp>
      <p:sp>
        <p:nvSpPr>
          <p:cNvPr id="6" name="Text 4"/>
          <p:cNvSpPr/>
          <p:nvPr/>
        </p:nvSpPr>
        <p:spPr>
          <a:xfrm>
            <a:off x="6172200" y="1691640"/>
            <a:ext cx="2642616" cy="2231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Informed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79408" y="1691640"/>
            <a:ext cx="2642616" cy="2231136"/>
          </a:xfrm>
          <a:prstGeom prst="roundRect">
            <a:avLst>
              <a:gd name="adj" fmla="val 3279"/>
            </a:avLst>
          </a:prstGeom>
          <a:solidFill>
            <a:srgbClr val="E8734A"/>
          </a:solidFill>
        </p:spPr>
      </p:sp>
      <p:sp>
        <p:nvSpPr>
          <p:cNvPr id="8" name="Text 6"/>
          <p:cNvSpPr/>
          <p:nvPr/>
        </p:nvSpPr>
        <p:spPr>
          <a:xfrm>
            <a:off x="8979408" y="1691640"/>
            <a:ext cx="2642616" cy="2231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Manage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Closely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172200" y="4087368"/>
            <a:ext cx="2642616" cy="2231136"/>
          </a:xfrm>
          <a:prstGeom prst="roundRect">
            <a:avLst>
              <a:gd name="adj" fmla="val 3279"/>
            </a:avLst>
          </a:prstGeom>
          <a:solidFill>
            <a:srgbClr val="5FAE8C"/>
          </a:solidFill>
        </p:spPr>
      </p:sp>
      <p:sp>
        <p:nvSpPr>
          <p:cNvPr id="10" name="Text 8"/>
          <p:cNvSpPr/>
          <p:nvPr/>
        </p:nvSpPr>
        <p:spPr>
          <a:xfrm>
            <a:off x="6172200" y="4087368"/>
            <a:ext cx="2642616" cy="2231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Keep Into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Account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79408" y="4087368"/>
            <a:ext cx="2642616" cy="2231136"/>
          </a:xfrm>
          <a:prstGeom prst="roundRect">
            <a:avLst>
              <a:gd name="adj" fmla="val 3279"/>
            </a:avLst>
          </a:prstGeom>
          <a:solidFill>
            <a:srgbClr val="3D8FD6"/>
          </a:solidFill>
        </p:spPr>
      </p:sp>
      <p:sp>
        <p:nvSpPr>
          <p:cNvPr id="12" name="Text 10"/>
          <p:cNvSpPr/>
          <p:nvPr/>
        </p:nvSpPr>
        <p:spPr>
          <a:xfrm>
            <a:off x="8979408" y="4087368"/>
            <a:ext cx="2642616" cy="22311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Meet Their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Needs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72200" y="633679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/ Influence of Stakeholder 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3657600"/>
            <a:ext cx="548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of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Interest ↑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CHALLENGES &amp; 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Growing Fast Without Breaking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548640" cy="54864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Unsustainable Scaling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54480" y="2313432"/>
            <a:ext cx="4160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June, 5,000 tests/day was hit through brute force — a pace the team knew could not hold long-term.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965960"/>
            <a:ext cx="548640" cy="54864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96596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269480" y="192024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 Standard Process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269480" y="2313432"/>
            <a:ext cx="4160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Early on, workers lacked understood, reliable, predictable ways of working, causing inconsistent throughput.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31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06240"/>
            <a:ext cx="548640" cy="54864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1605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Steep Learning Curve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54480" y="4553712"/>
            <a:ext cx="4160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Hundreds of volunteers had to be trained fast on unfamiliar, high-stakes diagnostic work.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931920"/>
            <a:ext cx="544068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4206240"/>
            <a:ext cx="548640" cy="548640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37960" y="420624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269480" y="416052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Multi-Partner Coordination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269480" y="4553712"/>
            <a:ext cx="41605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Government, university, NHS, and industry stakeholders all had different needs and priorities to balance.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41 to 85,000 Tests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2377440"/>
            <a:ext cx="32918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28346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867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on Day 1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operation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730752" y="3703320"/>
            <a:ext cx="630936" cy="0"/>
          </a:xfrm>
          <a:prstGeom prst="line">
            <a:avLst/>
          </a:prstGeom>
          <a:noFill/>
          <a:ln w="31750">
            <a:solidFill>
              <a:srgbClr val="2867A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434840" y="2377440"/>
            <a:ext cx="3291840" cy="2651760"/>
          </a:xfrm>
          <a:prstGeom prst="roundRect">
            <a:avLst>
              <a:gd name="adj" fmla="val 3103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28346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867A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5,000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617720" y="37947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tests/day by June —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reached by brute force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99832" y="3703320"/>
            <a:ext cx="630936" cy="0"/>
          </a:xfrm>
          <a:prstGeom prst="line">
            <a:avLst/>
          </a:prstGeom>
          <a:noFill/>
          <a:ln w="31750">
            <a:solidFill>
              <a:srgbClr val="2867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503920" y="2377440"/>
            <a:ext cx="3291840" cy="2651760"/>
          </a:xfrm>
          <a:prstGeom prst="roundRect">
            <a:avLst>
              <a:gd name="adj" fmla="val 3103"/>
            </a:avLst>
          </a:prstGeom>
          <a:solidFill>
            <a:srgbClr val="2867A6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503920" y="2834640"/>
            <a:ext cx="32918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85,000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8686800" y="3794760"/>
            <a:ext cx="29260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tests within a</a:t>
            </a:r>
            <a:endParaRPr lang="en-US" sz="12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2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24-hour turnaround, today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sixteen-fold increase achieved in months, not the years such scaling would normally take.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Process Lessons — and Human 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74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&amp; MANAGEMENT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Reviewing progress at the shortest useful interval keeps small problems from becoming big ones.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roles, structured process, and management attention are foundational to scale.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Regular reflection ("stop and check") is what makes continuous improvement possible.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394960" cy="4572000"/>
          </a:xfrm>
          <a:prstGeom prst="roundRect">
            <a:avLst>
              <a:gd name="adj" fmla="val 1800"/>
            </a:avLst>
          </a:prstGeom>
          <a:solidFill>
            <a:srgbClr val="2867A6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0" y="1874520"/>
            <a:ext cx="4663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FE6F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HUMAN DIMENSION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2286000"/>
            <a:ext cx="4663440" cy="3566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"Stop getting into the drama of situations" — don't let emotion derail problem-solving.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 positive energy, flexibility, and trust between teammates under pressure.</a:t>
            </a:r>
            <a:endParaRPr lang="en-US" sz="1350" dirty="0"/>
          </a:p>
          <a:p>
            <a:pPr marL="177800" indent="-177800">
              <a:lnSpc>
                <a:spcPct val="108000"/>
              </a:lnSpc>
              <a:spcAft>
                <a:spcPts val="1400"/>
              </a:spcAft>
              <a:buSzPct val="100000"/>
              <a:buChar char="•"/>
            </a:pPr>
            <a:r>
              <a:rPr lang="en-US" sz="1350" dirty="0">
                <a:solidFill>
                  <a:srgbClr val="E4F1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People sustain a crisis response as much as process does — culture is not optional.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867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Project Managers Should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25880" y="1682496"/>
            <a:ext cx="10287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00200" y="1682496"/>
            <a:ext cx="9784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 a crisis, agility beats a rigid long-range plan — pivot from waterfall to iterative cycles fast.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263347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2578608"/>
            <a:ext cx="10287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00200" y="2578608"/>
            <a:ext cx="9784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Lean tools (Kaizen, Theory of Constraints, Standard Work) scale real operations, not just factories.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566928" cy="566928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52958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325880" y="3474720"/>
            <a:ext cx="10287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600200" y="3474720"/>
            <a:ext cx="9784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can't always remove a bottleneck — but you can standardize and manage it.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25696"/>
            <a:ext cx="566928" cy="566928"/>
          </a:xfrm>
          <a:prstGeom prst="ellipse">
            <a:avLst/>
          </a:prstGeom>
          <a:solidFill>
            <a:srgbClr val="F2994A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442569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325880" y="4370832"/>
            <a:ext cx="10287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600200" y="4370832"/>
            <a:ext cx="9784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stakeholders by power and interest so limited attention goes where it matters most.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566928" cy="566928"/>
          </a:xfrm>
          <a:prstGeom prst="ellipse">
            <a:avLst/>
          </a:prstGeom>
          <a:solidFill>
            <a:srgbClr val="2867A6"/>
          </a:solidFill>
          <a:effectLst>
            <a:outerShdw blurRad="76200" dist="25400" dir="5400000" algn="bl" rotWithShape="0">
              <a:srgbClr val="1B3A5C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532180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325880" y="5266944"/>
            <a:ext cx="1028700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C8E0F5"/>
            </a:solidFill>
            <a:prstDash val="solid"/>
          </a:ln>
          <a:effectLst>
            <a:outerShdw blurRad="101600" dist="38100" dir="5400000" algn="bl" rotWithShape="0">
              <a:srgbClr val="1B3A5C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600200" y="5266944"/>
            <a:ext cx="97840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B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Culture and human factors are as decisive as process when the pressure is highest.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4F6B8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0"/>
            <a:ext cx="12161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6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0F2740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166360" y="3977640"/>
            <a:ext cx="18288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6035040"/>
            <a:ext cx="12161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2324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Source: Project Management Institute — "Lighthouse Labs: Innovating in a Crisis" Case Study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6561</Words>
  <Application>WPS Presentation</Application>
  <PresentationFormat>On-screen Show (16:9)</PresentationFormat>
  <Paragraphs>314</Paragraphs>
  <Slides>14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Jahidul Islam Jony</cp:lastModifiedBy>
  <cp:revision>2</cp:revision>
  <dcterms:created xsi:type="dcterms:W3CDTF">2026-08-15T15:18:00Z</dcterms:created>
  <dcterms:modified xsi:type="dcterms:W3CDTF">2026-08-15T15:40:05Z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D0DC592905934CFE8E82DD2A3FF67ED5_12</vt:lpwstr>
  </property>
</Properties>
</file>