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Montserrat"/>
      <p:regular r:id="rId32"/>
      <p:bold r:id="rId33"/>
      <p:italic r:id="rId34"/>
      <p:boldItalic r:id="rId35"/>
    </p:embeddedFont>
    <p:embeddedFont>
      <p:font typeface="Montserrat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bold.fntdata"/><Relationship Id="rId10" Type="http://schemas.openxmlformats.org/officeDocument/2006/relationships/slide" Target="slides/slide5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bold.fntdata"/><Relationship Id="rId14" Type="http://schemas.openxmlformats.org/officeDocument/2006/relationships/slide" Target="slides/slide9.xml"/><Relationship Id="rId36" Type="http://schemas.openxmlformats.org/officeDocument/2006/relationships/font" Target="fonts/MontserratMedium-regular.fntdata"/><Relationship Id="rId17" Type="http://schemas.openxmlformats.org/officeDocument/2006/relationships/slide" Target="slides/slide12.xml"/><Relationship Id="rId39" Type="http://schemas.openxmlformats.org/officeDocument/2006/relationships/font" Target="fonts/MontserratMedium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Medium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543d469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543d469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43d469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543d469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598fc6a3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598fc6a3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43d4690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543d4690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543d4690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543d4690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543d4690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543d4690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543d4690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543d4690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598fc6a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598fc6a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598fc6a3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598fc6a3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598fc6a3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598fc6a3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598fc6a3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598fc6a3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598fc6a3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598fc6a3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598fc6a3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598fc6a3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598fc6a3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598fc6a3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598fc6a3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598fc6a3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598fc6a3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598fc6a3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598fc6a3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598fc6a3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598fc6a3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598fc6a3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598fc6a3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598fc6a3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598fc6a3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598fc6a3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598fc6a3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598fc6a3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598fc6a3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598fc6a3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1c31ca92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1c31ca92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de3d6d94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de3d6d94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1c31ca92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1c31ca92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Cambria"/>
              <a:buNone/>
              <a:defRPr b="1" sz="4800"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857500" y="1871050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2857500" y="2868271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mbria"/>
              <a:buNone/>
              <a:defRPr b="1" sz="4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4002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0" y="572425"/>
            <a:ext cx="914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6837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2489525"/>
            <a:ext cx="8520600" cy="21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/>
        </p:nvSpPr>
        <p:spPr>
          <a:xfrm>
            <a:off x="0" y="44733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31275" y="248150"/>
            <a:ext cx="989000" cy="90092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1500">
                <a:solidFill>
                  <a:schemeClr val="lt1"/>
                </a:solidFill>
              </a:defRPr>
            </a:lvl1pPr>
            <a:lvl2pPr lvl="1" algn="ctr">
              <a:buNone/>
              <a:defRPr b="1" sz="1500">
                <a:solidFill>
                  <a:schemeClr val="lt1"/>
                </a:solidFill>
              </a:defRPr>
            </a:lvl2pPr>
            <a:lvl3pPr lvl="2" algn="ctr">
              <a:buNone/>
              <a:defRPr b="1" sz="1500">
                <a:solidFill>
                  <a:schemeClr val="lt1"/>
                </a:solidFill>
              </a:defRPr>
            </a:lvl3pPr>
            <a:lvl4pPr lvl="3" algn="ctr">
              <a:buNone/>
              <a:defRPr b="1" sz="1500">
                <a:solidFill>
                  <a:schemeClr val="lt1"/>
                </a:solidFill>
              </a:defRPr>
            </a:lvl4pPr>
            <a:lvl5pPr lvl="4" algn="ctr">
              <a:buNone/>
              <a:defRPr b="1" sz="1500">
                <a:solidFill>
                  <a:schemeClr val="lt1"/>
                </a:solidFill>
              </a:defRPr>
            </a:lvl5pPr>
            <a:lvl6pPr lvl="5" algn="ctr">
              <a:buNone/>
              <a:defRPr b="1" sz="1500">
                <a:solidFill>
                  <a:schemeClr val="lt1"/>
                </a:solidFill>
              </a:defRPr>
            </a:lvl6pPr>
            <a:lvl7pPr lvl="6" algn="ctr">
              <a:buNone/>
              <a:defRPr b="1" sz="1500">
                <a:solidFill>
                  <a:schemeClr val="lt1"/>
                </a:solidFill>
              </a:defRPr>
            </a:lvl7pPr>
            <a:lvl8pPr lvl="7" algn="ctr">
              <a:buNone/>
              <a:defRPr b="1" sz="1500">
                <a:solidFill>
                  <a:schemeClr val="lt1"/>
                </a:solidFill>
              </a:defRPr>
            </a:lvl8pPr>
            <a:lvl9pPr lvl="8" algn="ctr">
              <a:buNone/>
              <a:defRPr b="1" sz="1500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072127" y="1600761"/>
            <a:ext cx="4482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3089528" y="1289304"/>
            <a:ext cx="5651182" cy="2565083"/>
          </a:xfrm>
          <a:custGeom>
            <a:rect b="b" l="l" r="r" t="t"/>
            <a:pathLst>
              <a:path extrusionOk="0" h="3420110" w="7534909">
                <a:moveTo>
                  <a:pt x="7534656" y="0"/>
                </a:moveTo>
                <a:lnTo>
                  <a:pt x="0" y="0"/>
                </a:lnTo>
                <a:lnTo>
                  <a:pt x="0" y="3419855"/>
                </a:lnTo>
                <a:lnTo>
                  <a:pt x="7534656" y="3419855"/>
                </a:lnTo>
                <a:lnTo>
                  <a:pt x="7534656" y="0"/>
                </a:lnTo>
                <a:close/>
              </a:path>
            </a:pathLst>
          </a:custGeom>
          <a:solidFill>
            <a:srgbClr val="000000">
              <a:alpha val="549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751941" y="832675"/>
            <a:ext cx="3179100" cy="26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5008436" y="832675"/>
            <a:ext cx="35751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6" name="Google Shape;86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20"/>
              <a:t>PMG 4101: Project Management</a:t>
            </a:r>
            <a:endParaRPr sz="3520"/>
          </a:p>
        </p:txBody>
      </p:sp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Syed Samin Sadaf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of CSE,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United International University (UIU)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Rational Unified Process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(RUP) Methodology</a:t>
            </a:r>
            <a:endParaRPr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2"/>
                </a:solidFill>
              </a:rPr>
              <a:t>‹#›</a:t>
            </a:fld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Rational Unified Process (RUP) </a:t>
            </a:r>
            <a:r>
              <a:rPr lang="en"/>
              <a:t>Methodology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485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Rational Unified Process (RUP) is an agile software development method, in which the life cycle of a project, or the development of software, is divided into four phases. Various activities take place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during these phases: modelling</a:t>
            </a:r>
            <a:r>
              <a:rPr lang="en">
                <a:solidFill>
                  <a:schemeClr val="dk2"/>
                </a:solidFill>
              </a:rPr>
              <a:t>, </a:t>
            </a:r>
            <a:r>
              <a:rPr lang="en">
                <a:solidFill>
                  <a:schemeClr val="dk2"/>
                </a:solidFill>
              </a:rPr>
              <a:t>analysis and design, implementation, testing and application.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6900" y="1170125"/>
            <a:ext cx="3824699" cy="2659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Phases of RUP: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260200" cy="3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Inception:</a:t>
            </a:r>
            <a:r>
              <a:rPr lang="en">
                <a:solidFill>
                  <a:schemeClr val="dk2"/>
                </a:solidFill>
              </a:rPr>
              <a:t> Defines the project scope, core requirements, and feasibility, determining if the project is worth pursuing.</a:t>
            </a:r>
            <a:br>
              <a:rPr lang="en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Elaboration:</a:t>
            </a:r>
            <a:r>
              <a:rPr lang="en">
                <a:solidFill>
                  <a:schemeClr val="dk2"/>
                </a:solidFill>
              </a:rPr>
              <a:t> Analyzes the domain, establishes a solid architectural foundation, and mitigates high-risk elements.</a:t>
            </a:r>
            <a:br>
              <a:rPr lang="en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Construction:</a:t>
            </a:r>
            <a:r>
              <a:rPr lang="en">
                <a:solidFill>
                  <a:schemeClr val="dk2"/>
                </a:solidFill>
              </a:rPr>
              <a:t> Develops and tests the software components, turning the architecture into a fully functional product.</a:t>
            </a:r>
            <a:br>
              <a:rPr lang="en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Transition:</a:t>
            </a:r>
            <a:r>
              <a:rPr lang="en">
                <a:solidFill>
                  <a:schemeClr val="dk2"/>
                </a:solidFill>
              </a:rPr>
              <a:t> Delivers the product to the end-user, covering testing, deployment, and training.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It provides good documentation, it completes the process in itself.</a:t>
            </a:r>
            <a:br>
              <a:rPr lang="en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It provides risk-management support. </a:t>
            </a:r>
            <a:br>
              <a:rPr lang="en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It reuses the components, and hence total time duration is less.</a:t>
            </a:r>
            <a:br>
              <a:rPr lang="en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Good online support is available in the form of tutorials and training.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Team of expert professional is required, as the process is complex.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Complex and not properly organized process.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More dependency on risk management.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Hard to integrate again and again.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RUP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building a </a:t>
            </a:r>
            <a:r>
              <a:rPr b="1" lang="en">
                <a:solidFill>
                  <a:schemeClr val="dk2"/>
                </a:solidFill>
              </a:rPr>
              <a:t>customized software development process</a:t>
            </a:r>
            <a:r>
              <a:rPr lang="en">
                <a:solidFill>
                  <a:schemeClr val="dk2"/>
                </a:solidFill>
              </a:rPr>
              <a:t> suited to a specific organizational environment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development process needs to be</a:t>
            </a:r>
            <a:r>
              <a:rPr b="1" lang="en">
                <a:solidFill>
                  <a:schemeClr val="dk2"/>
                </a:solidFill>
              </a:rPr>
              <a:t> tailored using gathered project and environmental information</a:t>
            </a: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For </a:t>
            </a:r>
            <a:r>
              <a:rPr b="1" lang="en">
                <a:solidFill>
                  <a:schemeClr val="dk2"/>
                </a:solidFill>
              </a:rPr>
              <a:t>large and complex</a:t>
            </a:r>
            <a:r>
              <a:rPr lang="en">
                <a:solidFill>
                  <a:schemeClr val="dk2"/>
                </a:solidFill>
              </a:rPr>
              <a:t> software or engineered systems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</a:t>
            </a:r>
            <a:r>
              <a:rPr b="1" lang="en">
                <a:solidFill>
                  <a:schemeClr val="dk2"/>
                </a:solidFill>
              </a:rPr>
              <a:t> incremental and iterative</a:t>
            </a:r>
            <a:r>
              <a:rPr lang="en">
                <a:solidFill>
                  <a:schemeClr val="dk2"/>
                </a:solidFill>
              </a:rPr>
              <a:t> development is preferred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clear project phases and structured management are required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project involves multiple teams or stakeholders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</a:t>
            </a:r>
            <a:r>
              <a:rPr b="1" lang="en">
                <a:solidFill>
                  <a:schemeClr val="dk2"/>
                </a:solidFill>
              </a:rPr>
              <a:t>strong documentation and modeling</a:t>
            </a:r>
            <a:r>
              <a:rPr lang="en">
                <a:solidFill>
                  <a:schemeClr val="dk2"/>
                </a:solidFill>
              </a:rPr>
              <a:t> (e.g., UML) are necessary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NOT to use RUP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For small or simple projects where a heavy process is unnecessary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team requires very lightweight or fast development methods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project timelines are very short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organization lacks experience with structured processes or modeling techniques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team prefers highly flexible and informal approaches such as Agile Software Development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extensive documentation and process overhead are not desirable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For projects with very small teams where complex process frameworks add little value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Methodology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2"/>
                </a:solidFill>
              </a:rPr>
              <a:t>‹#›</a:t>
            </a:fld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Methodology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47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Instead of developing a full-fledged software, the prototype model allows developers to work on the </a:t>
            </a:r>
            <a:r>
              <a:rPr b="1" lang="en">
                <a:solidFill>
                  <a:schemeClr val="dk2"/>
                </a:solidFill>
              </a:rPr>
              <a:t>prototype version of the final product</a:t>
            </a:r>
            <a:r>
              <a:rPr lang="en">
                <a:solidFill>
                  <a:schemeClr val="dk2"/>
                </a:solidFill>
              </a:rPr>
              <a:t>. The prototype is then made available for customer testing, evaluation, and feedback.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5" name="Google Shape;155;p2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300" y="1318463"/>
            <a:ext cx="3768300" cy="2014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Methodology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47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Based on the gathered feedback, the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prototype goes through </a:t>
            </a:r>
            <a:r>
              <a:rPr b="1" lang="en">
                <a:solidFill>
                  <a:schemeClr val="dk2"/>
                </a:solidFill>
              </a:rPr>
              <a:t>several iterations of refinement</a:t>
            </a:r>
            <a:r>
              <a:rPr lang="en">
                <a:solidFill>
                  <a:schemeClr val="dk2"/>
                </a:solidFill>
              </a:rPr>
              <a:t> until it’s deemed satisfactory by the customer.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</a:t>
            </a:r>
            <a:r>
              <a:rPr lang="en">
                <a:solidFill>
                  <a:schemeClr val="dk2"/>
                </a:solidFill>
              </a:rPr>
              <a:t>he appeal of the prototype approach is its </a:t>
            </a:r>
            <a:r>
              <a:rPr b="1" lang="en">
                <a:solidFill>
                  <a:schemeClr val="dk2"/>
                </a:solidFill>
              </a:rPr>
              <a:t>rigorous evaluation that uncovers possible issues</a:t>
            </a:r>
            <a:r>
              <a:rPr lang="en">
                <a:solidFill>
                  <a:schemeClr val="dk2"/>
                </a:solidFill>
              </a:rPr>
              <a:t> before actual development begins.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300" y="1318463"/>
            <a:ext cx="3768300" cy="2014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Good in ironing out potential issues in the early development stage, which greatly reduces product failure risk.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Ensures the customer is happy with the ‘product’, before real development started.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Build rapport with the customer early on with the discussions, which helps throughout the project.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2"/>
                </a:solidFill>
              </a:rPr>
              <a:t>✓ Gather detailed information with the prototype, which is later on used in building the final version.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171" name="Google Shape;171;p2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Excessive to and from in testing out the prototype with the customer can delay the development timeline.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The customer’s expectations of the actual product may not align with the prototype.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There’s a risk of cost overrun as the works on the prototype are often paid for by the developer.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178" name="Google Shape;178;p3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Prototype Methodology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requirements are not clearly understood at the beginning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user feedback is needed early in development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system involves complex user interfaces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developers need to demonstrate system functionality to stakeholders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project involves high user interaction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exploring new ideas or innovative features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requirements need validation before full development starts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NOT to use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requirements are already clear and stable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system is very simple and straightforward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strict deadlines do not allow time for prototype development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users may confuse the prototype with the final product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project requires strong documentation and strict processes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system involves large-scale back-end processing with little user interaction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Methodology</a:t>
            </a:r>
            <a:endParaRPr/>
          </a:p>
        </p:txBody>
      </p:sp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2"/>
                </a:solidFill>
              </a:rPr>
              <a:t>‹#›</a:t>
            </a:fld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Methodology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1152475"/>
            <a:ext cx="417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Scrum is arguably one of the most flexible software development methodologies available. It is based on the Agile philosophy and is favored for its incremental and iterative approaches. The Scrum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methodology involves the Product Owner, Scrum Master, and the Development Team.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2693" y="1277825"/>
            <a:ext cx="4356600" cy="2587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Methodology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1152475"/>
            <a:ext cx="417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product owner takes input from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client and ensures that the team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is on track in fulfilling the client’s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requirements. Meanwhile, the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Scrum Master acts as a facilitator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and ensures that team members are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familiar with the Scrum process.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team takes charge of executing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development.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3" name="Google Shape;213;p3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000" y="1277825"/>
            <a:ext cx="4356600" cy="2587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Methodology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52475"/>
            <a:ext cx="417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What makes Scrum an ideal methodology in a fast-paced environment is how tasks are executed in sprints. Each sprint takes up to 4 weeks. The speedy execution allows teams to identify issues, introduce solutions, test, and gather feedback in a short period. It makes tackling fast-paced projects much easier.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1" name="Google Shape;221;p3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" name="Google Shape;2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000" y="1277825"/>
            <a:ext cx="4356600" cy="2587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Short iterations allow quick resolutions to problems.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Scrum is very responsive to changes as the process includes regular feedback.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Scrum is economical and effective.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Regular meetings ensure that team members are on the same page at all times.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Contributions of individual members are noticed and appreciated through the Scrum meetings.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8" name="Google Shape;22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229" name="Google Shape;229;p3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All team members must be equally skilled and committed for Scrum to work.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The daily Scrum meetings can be draining for team members.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May increase time-to-market if there’s no strict control on the deadline.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Not suitable for large projects.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5" name="Google Shape;2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236" name="Google Shape;236;p3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Scrum</a:t>
            </a:r>
            <a:endParaRPr/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requirements change frequently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continuous customer feedback is needed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project can be developed incrementally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team is small to medium sized (5–10 members)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regular delivery of working features is important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team collaboration and communication are strong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project benefits from short development cycles (sprints)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3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NOT to use Scrum</a:t>
            </a:r>
            <a:endParaRPr/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requirements are fixed and unlikely to change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project requires strict documentation and formal processes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team members cannot collaborate closely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project involves very large teams without proper coordination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stakeholders are unavailable for frequent feedbac</a:t>
            </a:r>
            <a:r>
              <a:rPr lang="en">
                <a:solidFill>
                  <a:schemeClr val="dk2"/>
                </a:solidFill>
              </a:rPr>
              <a:t>k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work cannot be easily divided into small increments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organization prefers predictable, sequential development models such as the Waterfall Model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0" name="Google Shape;250;p4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type="title"/>
          </p:nvPr>
        </p:nvSpPr>
        <p:spPr>
          <a:xfrm>
            <a:off x="311700" y="6168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50"/>
              <a:t>Acknowledgement</a:t>
            </a:r>
            <a:endParaRPr sz="2550"/>
          </a:p>
        </p:txBody>
      </p:sp>
      <p:sp>
        <p:nvSpPr>
          <p:cNvPr id="262" name="Google Shape;26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42"/>
          <p:cNvSpPr txBox="1"/>
          <p:nvPr>
            <p:ph idx="4294967295" type="body"/>
          </p:nvPr>
        </p:nvSpPr>
        <p:spPr>
          <a:xfrm>
            <a:off x="311700" y="1278350"/>
            <a:ext cx="8520600" cy="32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Courtesy: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Dr. Suman Ahmed</a:t>
            </a:r>
            <a:r>
              <a:rPr lang="en">
                <a:solidFill>
                  <a:schemeClr val="lt1"/>
                </a:solidFill>
              </a:rPr>
              <a:t>, Professor, CSE Department, UIU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69" name="Google Shape;269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ifin UIU Blue">
  <a:themeElements>
    <a:clrScheme name="Simple Light">
      <a:dk1>
        <a:srgbClr val="023E8A"/>
      </a:dk1>
      <a:lt1>
        <a:srgbClr val="FFFFFF"/>
      </a:lt1>
      <a:dk2>
        <a:srgbClr val="000000"/>
      </a:dk2>
      <a:lt2>
        <a:srgbClr val="EEEEEE"/>
      </a:lt2>
      <a:accent1>
        <a:srgbClr val="0077B6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