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embeddedFontLst>
    <p:embeddedFont>
      <p:font typeface="Montserrat"/>
      <p:regular r:id="rId44"/>
      <p:bold r:id="rId45"/>
      <p:italic r:id="rId46"/>
      <p:boldItalic r:id="rId47"/>
    </p:embeddedFont>
    <p:embeddedFont>
      <p:font typeface="Montserrat Medium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795B1D-68B1-47FC-B6F7-152B963F4953}">
  <a:tblStyle styleId="{84795B1D-68B1-47FC-B6F7-152B963F495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Montserrat-regular.fntdata"/><Relationship Id="rId43" Type="http://schemas.openxmlformats.org/officeDocument/2006/relationships/slide" Target="slides/slide37.xml"/><Relationship Id="rId46" Type="http://schemas.openxmlformats.org/officeDocument/2006/relationships/font" Target="fonts/Montserrat-italic.fntdata"/><Relationship Id="rId45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Medium-regular.fntdata"/><Relationship Id="rId47" Type="http://schemas.openxmlformats.org/officeDocument/2006/relationships/font" Target="fonts/Montserrat-boldItalic.fntdata"/><Relationship Id="rId49" Type="http://schemas.openxmlformats.org/officeDocument/2006/relationships/font" Target="fonts/Montserrat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Medium-boldItalic.fntdata"/><Relationship Id="rId50" Type="http://schemas.openxmlformats.org/officeDocument/2006/relationships/font" Target="fonts/MontserratMedium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0c864eaa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c0c864eaae_0_1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0c864eaa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c0c864eaae_0_6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0c864eaa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c0c864eaae_0_12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0c864eaa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c0c864eaae_0_19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0c864eaa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c0c864eaae_0_28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c864eaa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c0c864eaae_0_47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0c864eaa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c0c864eaae_0_53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0c864eaa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c0c864eaae_0_58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c864eaa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c0c864eaae_0_65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0c864eaa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c0c864eaae_0_7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0c864eaa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c0c864eaae_0_82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0c864eaa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c0c864eaae_0_87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0c864eaa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c0c864eaae_0_92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0c864eaa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c0c864eaae_0_97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0c864eaa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c0c864eaae_0_102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0c864eaa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c0c864eaae_0_106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0c864eaa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c0c864eaae_0_111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0c864eaa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c0c864eaae_0_119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0c864eaa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c0c864eaae_0_125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8009550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8009550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0c864eaa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c0c864eaae_0_131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0c864eaa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c0c864eaae_0_138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0c864eaa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c0c864eaae_0_14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0c864eaa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c0c864eaae_0_150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0c864eaa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c0c864eaae_0_155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0c864eaa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c0c864eaae_0_161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0c864eaa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c0c864eaae_0_166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c0c864eaae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c0c864eaae_0_172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0c864eaae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c0c864eaae_0_177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0c864eaae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c0c864eaae_0_183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0c864eaae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c0c864eaae_0_188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0c864eaae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c0c864eaae_0_19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0c864eaae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c0c864eaae_0_199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c0c864eaa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c0c864eaae_0_204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1c31ca928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a1c31ca928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1c31ca928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a1c31ca928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1912760"/>
            <a:ext cx="91440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Cambria"/>
              <a:buNone/>
              <a:defRPr b="1" sz="4800">
                <a:latin typeface="Cambria"/>
                <a:ea typeface="Cambria"/>
                <a:cs typeface="Cambria"/>
                <a:sym typeface="Cambr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83788"/>
            <a:ext cx="8520600" cy="11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2857500" y="1871050"/>
            <a:ext cx="3429000" cy="1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2857500" y="2868271"/>
            <a:ext cx="3429000" cy="1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mbria"/>
              <a:buNone/>
              <a:defRPr b="1" sz="4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4002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7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0" y="572425"/>
            <a:ext cx="914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9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0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6837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2489525"/>
            <a:ext cx="8520600" cy="21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2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/>
        </p:nvSpPr>
        <p:spPr>
          <a:xfrm>
            <a:off x="0" y="4473300"/>
            <a:ext cx="9144000" cy="6702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31275" y="248150"/>
            <a:ext cx="989000" cy="90092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b="1" sz="1500">
                <a:solidFill>
                  <a:schemeClr val="lt1"/>
                </a:solidFill>
              </a:defRPr>
            </a:lvl1pPr>
            <a:lvl2pPr lvl="1" algn="ctr">
              <a:buNone/>
              <a:defRPr b="1" sz="1500">
                <a:solidFill>
                  <a:schemeClr val="lt1"/>
                </a:solidFill>
              </a:defRPr>
            </a:lvl2pPr>
            <a:lvl3pPr lvl="2" algn="ctr">
              <a:buNone/>
              <a:defRPr b="1" sz="1500">
                <a:solidFill>
                  <a:schemeClr val="lt1"/>
                </a:solidFill>
              </a:defRPr>
            </a:lvl3pPr>
            <a:lvl4pPr lvl="3" algn="ctr">
              <a:buNone/>
              <a:defRPr b="1" sz="1500">
                <a:solidFill>
                  <a:schemeClr val="lt1"/>
                </a:solidFill>
              </a:defRPr>
            </a:lvl4pPr>
            <a:lvl5pPr lvl="4" algn="ctr">
              <a:buNone/>
              <a:defRPr b="1" sz="1500">
                <a:solidFill>
                  <a:schemeClr val="lt1"/>
                </a:solidFill>
              </a:defRPr>
            </a:lvl5pPr>
            <a:lvl6pPr lvl="5" algn="ctr">
              <a:buNone/>
              <a:defRPr b="1" sz="1500">
                <a:solidFill>
                  <a:schemeClr val="lt1"/>
                </a:solidFill>
              </a:defRPr>
            </a:lvl6pPr>
            <a:lvl7pPr lvl="6" algn="ctr">
              <a:buNone/>
              <a:defRPr b="1" sz="1500">
                <a:solidFill>
                  <a:schemeClr val="lt1"/>
                </a:solidFill>
              </a:defRPr>
            </a:lvl7pPr>
            <a:lvl8pPr lvl="7" algn="ctr">
              <a:buNone/>
              <a:defRPr b="1" sz="1500">
                <a:solidFill>
                  <a:schemeClr val="lt1"/>
                </a:solidFill>
              </a:defRPr>
            </a:lvl8pPr>
            <a:lvl9pPr lvl="8" algn="ctr">
              <a:buNone/>
              <a:defRPr b="1" sz="1500"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072127" y="1600761"/>
            <a:ext cx="4482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3089528" y="1289304"/>
            <a:ext cx="5651182" cy="2565083"/>
          </a:xfrm>
          <a:custGeom>
            <a:rect b="b" l="l" r="r" t="t"/>
            <a:pathLst>
              <a:path extrusionOk="0" h="3420110" w="7534909">
                <a:moveTo>
                  <a:pt x="7534656" y="0"/>
                </a:moveTo>
                <a:lnTo>
                  <a:pt x="0" y="0"/>
                </a:lnTo>
                <a:lnTo>
                  <a:pt x="0" y="3419855"/>
                </a:lnTo>
                <a:lnTo>
                  <a:pt x="7534656" y="3419855"/>
                </a:lnTo>
                <a:lnTo>
                  <a:pt x="7534656" y="0"/>
                </a:lnTo>
                <a:close/>
              </a:path>
            </a:pathLst>
          </a:custGeom>
          <a:solidFill>
            <a:srgbClr val="000000">
              <a:alpha val="549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9" name="Google Shape;79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751941" y="832675"/>
            <a:ext cx="3179100" cy="26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5008436" y="832675"/>
            <a:ext cx="35751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6" name="Google Shape;86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9.jpg"/><Relationship Id="rId9" Type="http://schemas.openxmlformats.org/officeDocument/2006/relationships/image" Target="../media/image6.jpg"/><Relationship Id="rId5" Type="http://schemas.openxmlformats.org/officeDocument/2006/relationships/image" Target="../media/image13.jpg"/><Relationship Id="rId6" Type="http://schemas.openxmlformats.org/officeDocument/2006/relationships/image" Target="../media/image3.jpg"/><Relationship Id="rId7" Type="http://schemas.openxmlformats.org/officeDocument/2006/relationships/image" Target="../media/image2.jpg"/><Relationship Id="rId8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0" y="1912760"/>
            <a:ext cx="9144000" cy="9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20"/>
              <a:t>PMG 4101: Project Management</a:t>
            </a:r>
            <a:endParaRPr sz="3520"/>
          </a:p>
        </p:txBody>
      </p:sp>
      <p:sp>
        <p:nvSpPr>
          <p:cNvPr id="93" name="Google Shape;93;p18"/>
          <p:cNvSpPr txBox="1"/>
          <p:nvPr>
            <p:ph idx="1" type="subTitle"/>
          </p:nvPr>
        </p:nvSpPr>
        <p:spPr>
          <a:xfrm>
            <a:off x="311700" y="2883788"/>
            <a:ext cx="8520600" cy="11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Syed Samin Sadaf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of CSE,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United International University (UIU)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4294967295" type="title"/>
          </p:nvPr>
        </p:nvSpPr>
        <p:spPr>
          <a:xfrm>
            <a:off x="181584" y="119633"/>
            <a:ext cx="878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sz="2700"/>
          </a:p>
        </p:txBody>
      </p:sp>
      <p:sp>
        <p:nvSpPr>
          <p:cNvPr id="99" name="Google Shape;99;p19"/>
          <p:cNvSpPr txBox="1"/>
          <p:nvPr>
            <p:ph idx="4294967295" type="body"/>
          </p:nvPr>
        </p:nvSpPr>
        <p:spPr>
          <a:xfrm>
            <a:off x="181575" y="742950"/>
            <a:ext cx="86172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1714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▪"/>
            </a:pPr>
            <a:r>
              <a:rPr lang="en" sz="1700">
                <a:solidFill>
                  <a:srgbClr val="000000"/>
                </a:solidFill>
              </a:rPr>
              <a:t>Computer hardware, software, networks, and the use of interdisciplinary and global work teams have radically changed the work environment. </a:t>
            </a:r>
            <a:endParaRPr sz="1700"/>
          </a:p>
          <a:p>
            <a:pPr indent="-171450" lvl="0" marL="17780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Char char="▪"/>
            </a:pPr>
            <a:r>
              <a:rPr lang="en" sz="1700">
                <a:solidFill>
                  <a:srgbClr val="000000"/>
                </a:solidFill>
              </a:rPr>
              <a:t>Organizations waste $97 million for every $1 billion spent on projects, according to PMI’s Pulse of the Profession® report. Many people and </a:t>
            </a:r>
            <a:r>
              <a:rPr lang="en" sz="1700">
                <a:solidFill>
                  <a:srgbClr val="3333FF"/>
                </a:solidFill>
              </a:rPr>
              <a:t>organizations today have a new or renewed interest in project management </a:t>
            </a:r>
            <a:r>
              <a:rPr lang="en" sz="1700">
                <a:solidFill>
                  <a:srgbClr val="000000"/>
                </a:solidFill>
              </a:rPr>
              <a:t>to improve team-work, problem-solving, and verbal communications.</a:t>
            </a:r>
            <a:endParaRPr sz="1700">
              <a:solidFill>
                <a:srgbClr val="3333FF"/>
              </a:solidFill>
            </a:endParaRPr>
          </a:p>
          <a:p>
            <a:pPr indent="-171450" lvl="0" marL="17780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Char char="▪"/>
            </a:pPr>
            <a:r>
              <a:rPr lang="en" sz="1700">
                <a:solidFill>
                  <a:srgbClr val="000000"/>
                </a:solidFill>
              </a:rPr>
              <a:t>The Project Management Institute (PMI) reported that the number of jobs reached almost 66 million in 2017. </a:t>
            </a:r>
            <a:r>
              <a:rPr lang="en" sz="1700">
                <a:solidFill>
                  <a:srgbClr val="0070C0"/>
                </a:solidFill>
              </a:rPr>
              <a:t>By 2027, employers will need 87.7 million individuals working in project management–oriented roles.</a:t>
            </a:r>
            <a:endParaRPr sz="1700"/>
          </a:p>
          <a:p>
            <a:pPr indent="-171450" lvl="0" marL="17780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Char char="▪"/>
            </a:pPr>
            <a:r>
              <a:rPr lang="en" sz="1700">
                <a:solidFill>
                  <a:srgbClr val="000000"/>
                </a:solidFill>
              </a:rPr>
              <a:t>In 2017, the average annual salary (without bonuses) for someone in the project management profession was $112,000 in the U.S. and $130,866 in Switzerland</a:t>
            </a:r>
            <a:endParaRPr sz="1700"/>
          </a:p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4294967295" type="title"/>
          </p:nvPr>
        </p:nvSpPr>
        <p:spPr>
          <a:xfrm>
            <a:off x="181584" y="119633"/>
            <a:ext cx="8781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06" name="Google Shape;106;p20"/>
          <p:cNvSpPr/>
          <p:nvPr/>
        </p:nvSpPr>
        <p:spPr>
          <a:xfrm>
            <a:off x="373761" y="689229"/>
            <a:ext cx="8388668" cy="3996214"/>
          </a:xfrm>
          <a:custGeom>
            <a:rect b="b" l="l" r="r" t="t"/>
            <a:pathLst>
              <a:path extrusionOk="0" h="5328285" w="11184890">
                <a:moveTo>
                  <a:pt x="11107293" y="0"/>
                </a:moveTo>
                <a:lnTo>
                  <a:pt x="77368" y="0"/>
                </a:lnTo>
                <a:lnTo>
                  <a:pt x="47250" y="6084"/>
                </a:lnTo>
                <a:lnTo>
                  <a:pt x="22658" y="22669"/>
                </a:lnTo>
                <a:lnTo>
                  <a:pt x="6079" y="47255"/>
                </a:lnTo>
                <a:lnTo>
                  <a:pt x="0" y="77342"/>
                </a:lnTo>
                <a:lnTo>
                  <a:pt x="0" y="5250535"/>
                </a:lnTo>
                <a:lnTo>
                  <a:pt x="6079" y="5280653"/>
                </a:lnTo>
                <a:lnTo>
                  <a:pt x="22658" y="5305245"/>
                </a:lnTo>
                <a:lnTo>
                  <a:pt x="47250" y="5321824"/>
                </a:lnTo>
                <a:lnTo>
                  <a:pt x="77368" y="5327904"/>
                </a:lnTo>
                <a:lnTo>
                  <a:pt x="11107293" y="5327904"/>
                </a:lnTo>
                <a:lnTo>
                  <a:pt x="11137380" y="5321824"/>
                </a:lnTo>
                <a:lnTo>
                  <a:pt x="11161966" y="5305245"/>
                </a:lnTo>
                <a:lnTo>
                  <a:pt x="11178551" y="5280653"/>
                </a:lnTo>
                <a:lnTo>
                  <a:pt x="11184636" y="5250535"/>
                </a:lnTo>
                <a:lnTo>
                  <a:pt x="11184636" y="77342"/>
                </a:lnTo>
                <a:lnTo>
                  <a:pt x="11178551" y="47255"/>
                </a:lnTo>
                <a:lnTo>
                  <a:pt x="11161966" y="22669"/>
                </a:lnTo>
                <a:lnTo>
                  <a:pt x="11137380" y="6084"/>
                </a:lnTo>
                <a:lnTo>
                  <a:pt x="11107293" y="0"/>
                </a:lnTo>
                <a:close/>
              </a:path>
            </a:pathLst>
          </a:custGeom>
          <a:solidFill>
            <a:srgbClr val="DE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7" name="Google Shape;107;p20"/>
          <p:cNvSpPr txBox="1"/>
          <p:nvPr/>
        </p:nvSpPr>
        <p:spPr>
          <a:xfrm>
            <a:off x="494350" y="1116325"/>
            <a:ext cx="7975800" cy="20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Montserrat"/>
                <a:ea typeface="Montserrat"/>
                <a:cs typeface="Montserrat"/>
                <a:sym typeface="Montserrat"/>
              </a:rPr>
              <a:t>Main questions are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Char char="✔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What is project?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Char char="✔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What is Software project?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Char char="✔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What is software project management? Is it really different from ordinary’ project management?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Char char="✔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How do you know when a project has been successful?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4294967295" type="title"/>
          </p:nvPr>
        </p:nvSpPr>
        <p:spPr>
          <a:xfrm>
            <a:off x="181584" y="119633"/>
            <a:ext cx="8781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Project?</a:t>
            </a:r>
            <a:endParaRPr/>
          </a:p>
        </p:txBody>
      </p:sp>
      <p:sp>
        <p:nvSpPr>
          <p:cNvPr id="114" name="Google Shape;114;p21"/>
          <p:cNvSpPr/>
          <p:nvPr/>
        </p:nvSpPr>
        <p:spPr>
          <a:xfrm>
            <a:off x="3863340" y="689229"/>
            <a:ext cx="4899184" cy="3996214"/>
          </a:xfrm>
          <a:custGeom>
            <a:rect b="b" l="l" r="r" t="t"/>
            <a:pathLst>
              <a:path extrusionOk="0" h="5328285" w="6532245">
                <a:moveTo>
                  <a:pt x="6454521" y="0"/>
                </a:moveTo>
                <a:lnTo>
                  <a:pt x="77342" y="0"/>
                </a:lnTo>
                <a:lnTo>
                  <a:pt x="47255" y="6084"/>
                </a:lnTo>
                <a:lnTo>
                  <a:pt x="22669" y="22669"/>
                </a:lnTo>
                <a:lnTo>
                  <a:pt x="6084" y="47255"/>
                </a:lnTo>
                <a:lnTo>
                  <a:pt x="0" y="77342"/>
                </a:lnTo>
                <a:lnTo>
                  <a:pt x="0" y="5250535"/>
                </a:lnTo>
                <a:lnTo>
                  <a:pt x="6084" y="5280653"/>
                </a:lnTo>
                <a:lnTo>
                  <a:pt x="22669" y="5305245"/>
                </a:lnTo>
                <a:lnTo>
                  <a:pt x="47255" y="5321824"/>
                </a:lnTo>
                <a:lnTo>
                  <a:pt x="77342" y="5327904"/>
                </a:lnTo>
                <a:lnTo>
                  <a:pt x="6454521" y="5327904"/>
                </a:lnTo>
                <a:lnTo>
                  <a:pt x="6484608" y="5321824"/>
                </a:lnTo>
                <a:lnTo>
                  <a:pt x="6509194" y="5305245"/>
                </a:lnTo>
                <a:lnTo>
                  <a:pt x="6525779" y="5280653"/>
                </a:lnTo>
                <a:lnTo>
                  <a:pt x="6531863" y="5250535"/>
                </a:lnTo>
                <a:lnTo>
                  <a:pt x="6531863" y="77342"/>
                </a:lnTo>
                <a:lnTo>
                  <a:pt x="6525779" y="47255"/>
                </a:lnTo>
                <a:lnTo>
                  <a:pt x="6509194" y="22669"/>
                </a:lnTo>
                <a:lnTo>
                  <a:pt x="6484608" y="6084"/>
                </a:lnTo>
                <a:lnTo>
                  <a:pt x="6454521" y="0"/>
                </a:lnTo>
                <a:close/>
              </a:path>
            </a:pathLst>
          </a:custGeom>
          <a:solidFill>
            <a:srgbClr val="DE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5" name="Google Shape;115;p21"/>
          <p:cNvSpPr txBox="1"/>
          <p:nvPr>
            <p:ph idx="4294967295" type="body"/>
          </p:nvPr>
        </p:nvSpPr>
        <p:spPr>
          <a:xfrm>
            <a:off x="4072127" y="1600761"/>
            <a:ext cx="4482300" cy="14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025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 series  of  Activities:  To  accomplish  the specific  </a:t>
            </a:r>
            <a:r>
              <a:rPr b="1" lang="en">
                <a:solidFill>
                  <a:srgbClr val="0076E7"/>
                </a:solidFill>
              </a:rPr>
              <a:t>Goal/Scope</a:t>
            </a:r>
            <a:r>
              <a:rPr lang="en"/>
              <a:t>,  within  a  limited </a:t>
            </a:r>
            <a:r>
              <a:rPr b="1" lang="en">
                <a:solidFill>
                  <a:srgbClr val="0076E7"/>
                </a:solidFill>
              </a:rPr>
              <a:t>Timeframe</a:t>
            </a:r>
            <a:r>
              <a:rPr lang="en"/>
              <a:t>, within a specific </a:t>
            </a:r>
            <a:r>
              <a:rPr b="1" lang="en">
                <a:solidFill>
                  <a:srgbClr val="0076E7"/>
                </a:solidFill>
              </a:rPr>
              <a:t>Budget </a:t>
            </a:r>
            <a:r>
              <a:rPr lang="en"/>
              <a:t>and maintaining the desired </a:t>
            </a:r>
            <a:r>
              <a:rPr b="1" lang="en">
                <a:solidFill>
                  <a:srgbClr val="0076E7"/>
                </a:solidFill>
              </a:rPr>
              <a:t>Quality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397" y="1073415"/>
            <a:ext cx="3275065" cy="305331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4294967295" type="title"/>
          </p:nvPr>
        </p:nvSpPr>
        <p:spPr>
          <a:xfrm>
            <a:off x="181584" y="867"/>
            <a:ext cx="8781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2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</a:t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181575" y="580913"/>
            <a:ext cx="84318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1F5F"/>
                </a:solidFill>
                <a:latin typeface="Montserrat"/>
                <a:ea typeface="Montserrat"/>
                <a:cs typeface="Montserrat"/>
                <a:sym typeface="Montserrat"/>
              </a:rPr>
              <a:t>A project is a </a:t>
            </a:r>
            <a:r>
              <a:rPr b="1" lang="en" sz="1800">
                <a:solidFill>
                  <a:srgbClr val="001F5F"/>
                </a:solidFill>
                <a:latin typeface="Montserrat"/>
                <a:ea typeface="Montserrat"/>
                <a:cs typeface="Montserrat"/>
                <a:sym typeface="Montserrat"/>
              </a:rPr>
              <a:t>temporary endeavor</a:t>
            </a:r>
            <a:r>
              <a:rPr lang="en" sz="1800">
                <a:solidFill>
                  <a:srgbClr val="001F5F"/>
                </a:solidFill>
                <a:latin typeface="Montserrat"/>
                <a:ea typeface="Montserrat"/>
                <a:cs typeface="Montserrat"/>
                <a:sym typeface="Montserrat"/>
              </a:rPr>
              <a:t> undertaken to create a </a:t>
            </a:r>
            <a:r>
              <a:rPr b="1" lang="en" sz="1800">
                <a:solidFill>
                  <a:srgbClr val="001F5F"/>
                </a:solidFill>
                <a:latin typeface="Montserrat"/>
                <a:ea typeface="Montserrat"/>
                <a:cs typeface="Montserrat"/>
                <a:sym typeface="Montserrat"/>
              </a:rPr>
              <a:t>unique product, service, or result</a:t>
            </a:r>
            <a:r>
              <a:rPr lang="en" sz="1800">
                <a:solidFill>
                  <a:srgbClr val="001F5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>
              <a:solidFill>
                <a:srgbClr val="001F5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181575" y="1184350"/>
            <a:ext cx="8431800" cy="3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normAutofit fontScale="92500" lnSpcReduction="20000"/>
          </a:bodyPr>
          <a:lstStyle/>
          <a:p>
            <a:pPr indent="-245428" lvl="0" marL="279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✔"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Temporary endeavor: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70828" lvl="1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Montserrat"/>
              <a:buChar char="•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indicates that a project has a </a:t>
            </a: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definite beginning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end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270828" lvl="1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Montserrat"/>
              <a:buChar char="•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does not necessarily mean a project has a short duration.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270828" lvl="1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Montserrat"/>
              <a:buChar char="•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Projects are temporary, but their deliverables may exist beyond the end of the project.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245428" lvl="0" marL="266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Montserrat"/>
              <a:buChar char="✔"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Unique product, service, or result: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70828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20000"/>
              <a:buFont typeface="Montserrat"/>
              <a:buChar char="•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Projects are undertaken to fulfill objectives by producing deliverables.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270828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20000"/>
              <a:buFont typeface="Montserrat"/>
              <a:buChar char="•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Fulfillment of project objectives may produce one or more of the following deliverables: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240506" lvl="2" marL="965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▪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 unique product that can be</a:t>
            </a:r>
            <a:r>
              <a:rPr lang="en" sz="1500" u="sng">
                <a:latin typeface="Montserrat"/>
                <a:ea typeface="Montserrat"/>
                <a:cs typeface="Montserrat"/>
                <a:sym typeface="Montserrat"/>
              </a:rPr>
              <a:t> either a component or another item</a:t>
            </a:r>
            <a:endParaRPr sz="1500" u="sng">
              <a:latin typeface="Montserrat"/>
              <a:ea typeface="Montserrat"/>
              <a:cs typeface="Montserrat"/>
              <a:sym typeface="Montserrat"/>
            </a:endParaRPr>
          </a:p>
          <a:p>
            <a:pPr indent="-240506" lvl="2" marL="965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▪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 unique </a:t>
            </a:r>
            <a:r>
              <a:rPr lang="en" sz="1500" u="sng"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(e.g., a </a:t>
            </a:r>
            <a:r>
              <a:rPr lang="en" sz="1500" u="sng">
                <a:latin typeface="Montserrat"/>
                <a:ea typeface="Montserrat"/>
                <a:cs typeface="Montserrat"/>
                <a:sym typeface="Montserrat"/>
              </a:rPr>
              <a:t>business function that supports production or distribution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240506" lvl="2" marL="965200" marR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▪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 unique result, </a:t>
            </a:r>
            <a:r>
              <a:rPr lang="en" sz="1500" u="sng">
                <a:latin typeface="Montserrat"/>
                <a:ea typeface="Montserrat"/>
                <a:cs typeface="Montserrat"/>
                <a:sym typeface="Montserrat"/>
              </a:rPr>
              <a:t>such as an outcome or document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(e.g., a research project that develops knowledge that can be used to determine whether a trend exists or a new process will benefit society)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240506" lvl="2" marL="965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▪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 unique combination </a:t>
            </a:r>
            <a:r>
              <a:rPr lang="en" sz="1500" u="sng">
                <a:latin typeface="Montserrat"/>
                <a:ea typeface="Montserrat"/>
                <a:cs typeface="Montserrat"/>
                <a:sym typeface="Montserrat"/>
              </a:rPr>
              <a:t>of one or more products, services, or resul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ts (e.g., a software application, its associated documentation, and help desk services)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262325"/>
            <a:ext cx="8520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Project</a:t>
            </a:r>
            <a:endParaRPr sz="2100"/>
          </a:p>
        </p:txBody>
      </p:sp>
      <p:pic>
        <p:nvPicPr>
          <p:cNvPr id="131" name="Google Shape;1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042" y="781812"/>
            <a:ext cx="1657351" cy="1017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8300" y="781812"/>
            <a:ext cx="1841373" cy="1018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6300" y="781812"/>
            <a:ext cx="1748790" cy="1018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71716" y="781812"/>
            <a:ext cx="1841372" cy="101841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/>
        </p:nvSpPr>
        <p:spPr>
          <a:xfrm>
            <a:off x="320350" y="3546750"/>
            <a:ext cx="8177100" cy="13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3495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✔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Outcomes of these projects were the result of leaders and managers applying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management practices, principles, processes, tools, and techniques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to their work.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266700" marR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✔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The managers of these projects used a set of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skills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applied knowledge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to satisfy their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customers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people involved in</a:t>
            </a:r>
            <a:r>
              <a:rPr b="1" lang="en" sz="15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affected by</a:t>
            </a:r>
            <a:r>
              <a:rPr b="1" lang="en" sz="15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the project.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5603" y="2110165"/>
            <a:ext cx="1893951" cy="1060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83330" y="2110165"/>
            <a:ext cx="1895093" cy="1060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87058" y="2110165"/>
            <a:ext cx="1923669" cy="106070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/>
        </p:nvSpPr>
        <p:spPr>
          <a:xfrm>
            <a:off x="714897" y="1812850"/>
            <a:ext cx="9123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Pyramids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2869678" y="1816325"/>
            <a:ext cx="10221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Taj Mahal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4639998" y="1816325"/>
            <a:ext cx="18414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Great Wall of China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6901111" y="1812850"/>
            <a:ext cx="18414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1270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Padma Bridge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6187050" y="3184675"/>
            <a:ext cx="20775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BB1 satellite launching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3764000" y="3195400"/>
            <a:ext cx="20775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Samsung Gear 360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1179550" y="3215075"/>
            <a:ext cx="2412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Human landing on moon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/>
        </p:nvSpPr>
        <p:spPr>
          <a:xfrm>
            <a:off x="400050" y="114300"/>
            <a:ext cx="7886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Operation vs Project</a:t>
            </a:r>
            <a:endParaRPr b="1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457200" y="675490"/>
            <a:ext cx="8229600" cy="857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project is </a:t>
            </a:r>
            <a:r>
              <a:rPr i="0" lang="en" sz="14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not </a:t>
            </a:r>
            <a:r>
              <a:rPr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routine </a:t>
            </a:r>
            <a:r>
              <a:rPr i="0" lang="en" sz="14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operation</a:t>
            </a:r>
            <a:r>
              <a:rPr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but a specific set of operations designed to accomplish </a:t>
            </a:r>
            <a:r>
              <a:rPr i="0" lang="en" sz="14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 singular goal</a:t>
            </a:r>
            <a:r>
              <a:rPr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1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CC"/>
                </a:solidFill>
                <a:latin typeface="Montserrat"/>
                <a:ea typeface="Montserrat"/>
                <a:cs typeface="Montserrat"/>
                <a:sym typeface="Montserrat"/>
              </a:rPr>
              <a:t>Operation </a:t>
            </a:r>
            <a:r>
              <a:rPr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 an organizational function performing the ongoing execution of activities that produce the same product or provide a </a:t>
            </a:r>
            <a:r>
              <a:rPr i="0" lang="en" sz="1400" u="none" cap="none" strike="noStrike">
                <a:solidFill>
                  <a:srgbClr val="0000CC"/>
                </a:solidFill>
                <a:latin typeface="Montserrat"/>
                <a:ea typeface="Montserrat"/>
                <a:cs typeface="Montserrat"/>
                <a:sym typeface="Montserrat"/>
              </a:rPr>
              <a:t>continuous</a:t>
            </a:r>
            <a:r>
              <a:rPr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i="0" lang="en" sz="1400" u="none" cap="none" strike="noStrike">
                <a:solidFill>
                  <a:srgbClr val="0000CC"/>
                </a:solidFill>
                <a:latin typeface="Montserrat"/>
                <a:ea typeface="Montserrat"/>
                <a:cs typeface="Montserrat"/>
                <a:sym typeface="Montserrat"/>
              </a:rPr>
              <a:t>repetitive service</a:t>
            </a:r>
            <a:r>
              <a:rPr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53" name="Google Shape;153;p24"/>
          <p:cNvGraphicFramePr/>
          <p:nvPr/>
        </p:nvGraphicFramePr>
        <p:xfrm>
          <a:off x="571499" y="16778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{84795B1D-68B1-47FC-B6F7-152B963F4953}</a:tableStyleId>
              </a:tblPr>
              <a:tblGrid>
                <a:gridCol w="1626650"/>
                <a:gridCol w="3301475"/>
                <a:gridCol w="3301475"/>
              </a:tblGrid>
              <a:tr h="50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Aspect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Operation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Definition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 temporary endeavor to create a unique product, service, or result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Ongoing and repetitive activities that produce the same result repeatedly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Duration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Definite start and end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Without a defined end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Objective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 change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 sustain and maintain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Outcome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Unique output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Repetitive outputs or services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Resources</a:t>
                      </a:r>
                      <a:endParaRPr sz="14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Temporarily assigned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Permanent/stable resource</a:t>
                      </a: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" sz="14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structure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7075" marB="17075" marR="34175" marL="341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25"/>
          <p:cNvGraphicFramePr/>
          <p:nvPr/>
        </p:nvGraphicFramePr>
        <p:xfrm>
          <a:off x="285750" y="7635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{84795B1D-68B1-47FC-B6F7-152B963F4953}</a:tableStyleId>
              </a:tblPr>
              <a:tblGrid>
                <a:gridCol w="6594075"/>
                <a:gridCol w="1215225"/>
                <a:gridCol w="763225"/>
              </a:tblGrid>
              <a:tr h="347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Details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Operation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 team of students </a:t>
                      </a:r>
                      <a:r>
                        <a:rPr lang="en" sz="1200" u="none" cap="none" strike="noStrike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creates</a:t>
                      </a:r>
                      <a:r>
                        <a:rPr lang="en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a smartphone application and sells it online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78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Montserrat"/>
                        <a:buChar char="✔"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 company is </a:t>
                      </a:r>
                      <a:r>
                        <a:rPr lang="en" sz="1200">
                          <a:solidFill>
                            <a:srgbClr val="0000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planning</a:t>
                      </a: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enough hardware capacity and servers for the applications to run smoothly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78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Montserrat"/>
                        <a:buChar char="✔"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 company </a:t>
                      </a:r>
                      <a:r>
                        <a:rPr lang="en" sz="1200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develops</a:t>
                      </a: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a driverless car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78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Montserrat"/>
                        <a:buChar char="✔"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Arial"/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 college </a:t>
                      </a:r>
                      <a:r>
                        <a:rPr lang="en" sz="1200">
                          <a:solidFill>
                            <a:srgbClr val="00B05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upgrades</a:t>
                      </a: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its technology infrastructure to provide wireless Internet access across the whole campus as well as online access to all academic and student service information.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Montserrat"/>
                        <a:buChar char="✔"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Arial"/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 government group </a:t>
                      </a:r>
                      <a:r>
                        <a:rPr lang="en" sz="1200">
                          <a:solidFill>
                            <a:srgbClr val="FF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develops</a:t>
                      </a: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a system to track child immunizations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78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Montserrat"/>
                        <a:buChar char="✔"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0000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Ensuring</a:t>
                      </a: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Microsoft Teams/Zoom/Google Meet meetings are up and running with the correct setting for DataLab software company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Montserrat"/>
                        <a:buChar char="✔"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Arial"/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 large network of healthcare providers </a:t>
                      </a:r>
                      <a:r>
                        <a:rPr lang="en" sz="1200">
                          <a:solidFill>
                            <a:srgbClr val="0000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updates</a:t>
                      </a: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its information systems and procedures.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78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Montserrat"/>
                        <a:buChar char="✔"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Arial"/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 global bank </a:t>
                      </a:r>
                      <a:r>
                        <a:rPr lang="en" sz="1200">
                          <a:solidFill>
                            <a:srgbClr val="0000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acquires</a:t>
                      </a: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other financial institutions and needs to consolidate systems and procedures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78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Montserrat"/>
                        <a:buChar char="✔"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Arial"/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DataLab software </a:t>
                      </a:r>
                      <a:r>
                        <a:rPr lang="en" sz="1200">
                          <a:solidFill>
                            <a:srgbClr val="0000C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stores</a:t>
                      </a: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securely data about the business for data analysts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Montserrat"/>
                        <a:buChar char="✔"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7800" lvl="0" marL="2540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2850" marB="22850" marR="45725" marL="4572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25"/>
          <p:cNvSpPr txBox="1"/>
          <p:nvPr/>
        </p:nvSpPr>
        <p:spPr>
          <a:xfrm>
            <a:off x="228600" y="171450"/>
            <a:ext cx="7886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Exercise</a:t>
            </a:r>
            <a:endParaRPr b="1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4294967295" type="title"/>
          </p:nvPr>
        </p:nvSpPr>
        <p:spPr>
          <a:xfrm>
            <a:off x="181584" y="119633"/>
            <a:ext cx="87810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What is Management?</a:t>
            </a:r>
            <a:endParaRPr sz="2400"/>
          </a:p>
        </p:txBody>
      </p:sp>
      <p:sp>
        <p:nvSpPr>
          <p:cNvPr id="167" name="Google Shape;167;p26"/>
          <p:cNvSpPr/>
          <p:nvPr/>
        </p:nvSpPr>
        <p:spPr>
          <a:xfrm>
            <a:off x="4772025" y="689229"/>
            <a:ext cx="3990499" cy="3996214"/>
          </a:xfrm>
          <a:custGeom>
            <a:rect b="b" l="l" r="r" t="t"/>
            <a:pathLst>
              <a:path extrusionOk="0" h="5328285" w="5320665">
                <a:moveTo>
                  <a:pt x="5243068" y="0"/>
                </a:moveTo>
                <a:lnTo>
                  <a:pt x="77215" y="0"/>
                </a:lnTo>
                <a:lnTo>
                  <a:pt x="47148" y="6064"/>
                </a:lnTo>
                <a:lnTo>
                  <a:pt x="22606" y="22605"/>
                </a:lnTo>
                <a:lnTo>
                  <a:pt x="6064" y="47148"/>
                </a:lnTo>
                <a:lnTo>
                  <a:pt x="0" y="77215"/>
                </a:lnTo>
                <a:lnTo>
                  <a:pt x="0" y="5250649"/>
                </a:lnTo>
                <a:lnTo>
                  <a:pt x="6064" y="5280723"/>
                </a:lnTo>
                <a:lnTo>
                  <a:pt x="22605" y="5305278"/>
                </a:lnTo>
                <a:lnTo>
                  <a:pt x="47148" y="5321833"/>
                </a:lnTo>
                <a:lnTo>
                  <a:pt x="77215" y="5327904"/>
                </a:lnTo>
                <a:lnTo>
                  <a:pt x="5243068" y="5327904"/>
                </a:lnTo>
                <a:lnTo>
                  <a:pt x="5273135" y="5321833"/>
                </a:lnTo>
                <a:lnTo>
                  <a:pt x="5297678" y="5305278"/>
                </a:lnTo>
                <a:lnTo>
                  <a:pt x="5314219" y="5280723"/>
                </a:lnTo>
                <a:lnTo>
                  <a:pt x="5320283" y="5250649"/>
                </a:lnTo>
                <a:lnTo>
                  <a:pt x="5320283" y="77215"/>
                </a:lnTo>
                <a:lnTo>
                  <a:pt x="5314219" y="47148"/>
                </a:lnTo>
                <a:lnTo>
                  <a:pt x="5297678" y="22606"/>
                </a:lnTo>
                <a:lnTo>
                  <a:pt x="5273135" y="6064"/>
                </a:lnTo>
                <a:lnTo>
                  <a:pt x="5243068" y="0"/>
                </a:lnTo>
                <a:close/>
              </a:path>
            </a:pathLst>
          </a:custGeom>
          <a:solidFill>
            <a:srgbClr val="DE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68" name="Google Shape;168;p26"/>
          <p:cNvSpPr txBox="1"/>
          <p:nvPr/>
        </p:nvSpPr>
        <p:spPr>
          <a:xfrm>
            <a:off x="4913376" y="1814950"/>
            <a:ext cx="3710100" cy="17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Management can be defined as all </a:t>
            </a: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activities and tasks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undertaken by one  or  more  persons  for  the purpose of </a:t>
            </a: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planning and controlling 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the activities of others in order to </a:t>
            </a: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achieve/complete objectives.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23" y="1319900"/>
            <a:ext cx="4026759" cy="264779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idx="4294967295" type="title"/>
          </p:nvPr>
        </p:nvSpPr>
        <p:spPr>
          <a:xfrm>
            <a:off x="181584" y="119633"/>
            <a:ext cx="8781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Management Functions</a:t>
            </a:r>
            <a:endParaRPr/>
          </a:p>
        </p:txBody>
      </p:sp>
      <p:sp>
        <p:nvSpPr>
          <p:cNvPr id="176" name="Google Shape;176;p27"/>
          <p:cNvSpPr/>
          <p:nvPr/>
        </p:nvSpPr>
        <p:spPr>
          <a:xfrm>
            <a:off x="373769" y="689223"/>
            <a:ext cx="8198524" cy="3996214"/>
          </a:xfrm>
          <a:custGeom>
            <a:rect b="b" l="l" r="r" t="t"/>
            <a:pathLst>
              <a:path extrusionOk="0" h="5328285" w="11184890">
                <a:moveTo>
                  <a:pt x="11107293" y="0"/>
                </a:moveTo>
                <a:lnTo>
                  <a:pt x="77368" y="0"/>
                </a:lnTo>
                <a:lnTo>
                  <a:pt x="47250" y="6084"/>
                </a:lnTo>
                <a:lnTo>
                  <a:pt x="22658" y="22669"/>
                </a:lnTo>
                <a:lnTo>
                  <a:pt x="6079" y="47255"/>
                </a:lnTo>
                <a:lnTo>
                  <a:pt x="0" y="77342"/>
                </a:lnTo>
                <a:lnTo>
                  <a:pt x="0" y="5250535"/>
                </a:lnTo>
                <a:lnTo>
                  <a:pt x="6079" y="5280653"/>
                </a:lnTo>
                <a:lnTo>
                  <a:pt x="22658" y="5305245"/>
                </a:lnTo>
                <a:lnTo>
                  <a:pt x="47250" y="5321824"/>
                </a:lnTo>
                <a:lnTo>
                  <a:pt x="77368" y="5327904"/>
                </a:lnTo>
                <a:lnTo>
                  <a:pt x="11107293" y="5327904"/>
                </a:lnTo>
                <a:lnTo>
                  <a:pt x="11137380" y="5321824"/>
                </a:lnTo>
                <a:lnTo>
                  <a:pt x="11161966" y="5305245"/>
                </a:lnTo>
                <a:lnTo>
                  <a:pt x="11178551" y="5280653"/>
                </a:lnTo>
                <a:lnTo>
                  <a:pt x="11184636" y="5250535"/>
                </a:lnTo>
                <a:lnTo>
                  <a:pt x="11184636" y="77342"/>
                </a:lnTo>
                <a:lnTo>
                  <a:pt x="11178551" y="47255"/>
                </a:lnTo>
                <a:lnTo>
                  <a:pt x="11161966" y="22669"/>
                </a:lnTo>
                <a:lnTo>
                  <a:pt x="11137380" y="6084"/>
                </a:lnTo>
                <a:lnTo>
                  <a:pt x="11107293" y="0"/>
                </a:lnTo>
                <a:close/>
              </a:path>
            </a:pathLst>
          </a:custGeom>
          <a:solidFill>
            <a:srgbClr val="DE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77" name="Google Shape;177;p27"/>
          <p:cNvSpPr txBox="1"/>
          <p:nvPr/>
        </p:nvSpPr>
        <p:spPr>
          <a:xfrm>
            <a:off x="1005950" y="761475"/>
            <a:ext cx="7994100" cy="3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Planning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Predetermining a </a:t>
            </a:r>
            <a:r>
              <a:rPr lang="en" sz="15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course of action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for accomplishing organizational Objectives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Organizing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Arranging the </a:t>
            </a:r>
            <a:r>
              <a:rPr lang="en" sz="15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relationships among work units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for accomplishment of objectives and the granting of responsibility and authority to obtain those objectives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Staffing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Selecting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15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training 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people for po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sitions in the organization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14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Directing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marR="101600" rtl="0"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Creating an atmosphere that will </a:t>
            </a:r>
            <a:r>
              <a:rPr lang="en" sz="15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assist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15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motivate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people to achieve desired end results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Controlling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Establishing, measuring,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15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evaluating 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performance of activities to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ward planned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objectives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504224" y="806115"/>
            <a:ext cx="381952" cy="381952"/>
          </a:xfrm>
          <a:custGeom>
            <a:rect b="b" l="l" r="r" t="t"/>
            <a:pathLst>
              <a:path extrusionOk="0" h="509270" w="509269">
                <a:moveTo>
                  <a:pt x="509016" y="0"/>
                </a:moveTo>
                <a:lnTo>
                  <a:pt x="0" y="0"/>
                </a:lnTo>
                <a:lnTo>
                  <a:pt x="0" y="509015"/>
                </a:lnTo>
                <a:lnTo>
                  <a:pt x="509016" y="509015"/>
                </a:lnTo>
                <a:lnTo>
                  <a:pt x="509016" y="448436"/>
                </a:lnTo>
                <a:lnTo>
                  <a:pt x="60540" y="448436"/>
                </a:lnTo>
                <a:lnTo>
                  <a:pt x="60540" y="60578"/>
                </a:lnTo>
                <a:lnTo>
                  <a:pt x="65265" y="60578"/>
                </a:lnTo>
                <a:lnTo>
                  <a:pt x="65265" y="59816"/>
                </a:lnTo>
                <a:lnTo>
                  <a:pt x="509016" y="59816"/>
                </a:lnTo>
                <a:lnTo>
                  <a:pt x="509016" y="0"/>
                </a:lnTo>
                <a:close/>
              </a:path>
              <a:path extrusionOk="0" h="509270" w="509269">
                <a:moveTo>
                  <a:pt x="94297" y="186181"/>
                </a:moveTo>
                <a:lnTo>
                  <a:pt x="68503" y="262762"/>
                </a:lnTo>
                <a:lnTo>
                  <a:pt x="108996" y="274585"/>
                </a:lnTo>
                <a:lnTo>
                  <a:pt x="143085" y="299555"/>
                </a:lnTo>
                <a:lnTo>
                  <a:pt x="172013" y="333549"/>
                </a:lnTo>
                <a:lnTo>
                  <a:pt x="197020" y="372443"/>
                </a:lnTo>
                <a:lnTo>
                  <a:pt x="219346" y="412114"/>
                </a:lnTo>
                <a:lnTo>
                  <a:pt x="240233" y="448436"/>
                </a:lnTo>
                <a:lnTo>
                  <a:pt x="247980" y="448436"/>
                </a:lnTo>
                <a:lnTo>
                  <a:pt x="268045" y="403816"/>
                </a:lnTo>
                <a:lnTo>
                  <a:pt x="289357" y="357723"/>
                </a:lnTo>
                <a:lnTo>
                  <a:pt x="311769" y="310933"/>
                </a:lnTo>
                <a:lnTo>
                  <a:pt x="316108" y="302259"/>
                </a:lnTo>
                <a:lnTo>
                  <a:pt x="242684" y="302259"/>
                </a:lnTo>
                <a:lnTo>
                  <a:pt x="213642" y="263227"/>
                </a:lnTo>
                <a:lnTo>
                  <a:pt x="184202" y="232505"/>
                </a:lnTo>
                <a:lnTo>
                  <a:pt x="146906" y="207641"/>
                </a:lnTo>
                <a:lnTo>
                  <a:pt x="94297" y="186181"/>
                </a:lnTo>
                <a:close/>
              </a:path>
              <a:path extrusionOk="0" h="509270" w="509269">
                <a:moveTo>
                  <a:pt x="509016" y="59816"/>
                </a:moveTo>
                <a:lnTo>
                  <a:pt x="449072" y="59816"/>
                </a:lnTo>
                <a:lnTo>
                  <a:pt x="449072" y="93725"/>
                </a:lnTo>
                <a:lnTo>
                  <a:pt x="448437" y="93725"/>
                </a:lnTo>
                <a:lnTo>
                  <a:pt x="448437" y="448436"/>
                </a:lnTo>
                <a:lnTo>
                  <a:pt x="509016" y="448436"/>
                </a:lnTo>
                <a:lnTo>
                  <a:pt x="509016" y="59816"/>
                </a:lnTo>
                <a:close/>
              </a:path>
              <a:path extrusionOk="0" h="509270" w="509269">
                <a:moveTo>
                  <a:pt x="435229" y="93725"/>
                </a:moveTo>
                <a:lnTo>
                  <a:pt x="350875" y="93725"/>
                </a:lnTo>
                <a:lnTo>
                  <a:pt x="324836" y="136895"/>
                </a:lnTo>
                <a:lnTo>
                  <a:pt x="303075" y="175889"/>
                </a:lnTo>
                <a:lnTo>
                  <a:pt x="283516" y="214152"/>
                </a:lnTo>
                <a:lnTo>
                  <a:pt x="264078" y="255127"/>
                </a:lnTo>
                <a:lnTo>
                  <a:pt x="242684" y="302259"/>
                </a:lnTo>
                <a:lnTo>
                  <a:pt x="316108" y="302259"/>
                </a:lnTo>
                <a:lnTo>
                  <a:pt x="335137" y="264223"/>
                </a:lnTo>
                <a:lnTo>
                  <a:pt x="359312" y="218371"/>
                </a:lnTo>
                <a:lnTo>
                  <a:pt x="384150" y="174152"/>
                </a:lnTo>
                <a:lnTo>
                  <a:pt x="409504" y="132345"/>
                </a:lnTo>
                <a:lnTo>
                  <a:pt x="435229" y="93725"/>
                </a:lnTo>
                <a:close/>
              </a:path>
            </a:pathLst>
          </a:custGeom>
          <a:solidFill>
            <a:srgbClr val="EC7C3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7"/>
          <p:cNvSpPr/>
          <p:nvPr/>
        </p:nvSpPr>
        <p:spPr>
          <a:xfrm>
            <a:off x="504224" y="1433865"/>
            <a:ext cx="381952" cy="381952"/>
          </a:xfrm>
          <a:custGeom>
            <a:rect b="b" l="l" r="r" t="t"/>
            <a:pathLst>
              <a:path extrusionOk="0" h="509270" w="509269">
                <a:moveTo>
                  <a:pt x="509016" y="0"/>
                </a:moveTo>
                <a:lnTo>
                  <a:pt x="0" y="0"/>
                </a:lnTo>
                <a:lnTo>
                  <a:pt x="0" y="509015"/>
                </a:lnTo>
                <a:lnTo>
                  <a:pt x="509016" y="509015"/>
                </a:lnTo>
                <a:lnTo>
                  <a:pt x="509016" y="448436"/>
                </a:lnTo>
                <a:lnTo>
                  <a:pt x="60540" y="448436"/>
                </a:lnTo>
                <a:lnTo>
                  <a:pt x="60540" y="60578"/>
                </a:lnTo>
                <a:lnTo>
                  <a:pt x="65265" y="60578"/>
                </a:lnTo>
                <a:lnTo>
                  <a:pt x="65265" y="59816"/>
                </a:lnTo>
                <a:lnTo>
                  <a:pt x="509016" y="59816"/>
                </a:lnTo>
                <a:lnTo>
                  <a:pt x="509016" y="0"/>
                </a:lnTo>
                <a:close/>
              </a:path>
              <a:path extrusionOk="0" h="509270" w="509269">
                <a:moveTo>
                  <a:pt x="94297" y="186181"/>
                </a:moveTo>
                <a:lnTo>
                  <a:pt x="68503" y="262762"/>
                </a:lnTo>
                <a:lnTo>
                  <a:pt x="108996" y="274585"/>
                </a:lnTo>
                <a:lnTo>
                  <a:pt x="143085" y="299555"/>
                </a:lnTo>
                <a:lnTo>
                  <a:pt x="172013" y="333549"/>
                </a:lnTo>
                <a:lnTo>
                  <a:pt x="197020" y="372443"/>
                </a:lnTo>
                <a:lnTo>
                  <a:pt x="219346" y="412114"/>
                </a:lnTo>
                <a:lnTo>
                  <a:pt x="240233" y="448436"/>
                </a:lnTo>
                <a:lnTo>
                  <a:pt x="247980" y="448436"/>
                </a:lnTo>
                <a:lnTo>
                  <a:pt x="268045" y="403816"/>
                </a:lnTo>
                <a:lnTo>
                  <a:pt x="289357" y="357723"/>
                </a:lnTo>
                <a:lnTo>
                  <a:pt x="311769" y="310933"/>
                </a:lnTo>
                <a:lnTo>
                  <a:pt x="316108" y="302259"/>
                </a:lnTo>
                <a:lnTo>
                  <a:pt x="242684" y="302259"/>
                </a:lnTo>
                <a:lnTo>
                  <a:pt x="213642" y="263227"/>
                </a:lnTo>
                <a:lnTo>
                  <a:pt x="184202" y="232505"/>
                </a:lnTo>
                <a:lnTo>
                  <a:pt x="146906" y="207641"/>
                </a:lnTo>
                <a:lnTo>
                  <a:pt x="94297" y="186181"/>
                </a:lnTo>
                <a:close/>
              </a:path>
              <a:path extrusionOk="0" h="509270" w="509269">
                <a:moveTo>
                  <a:pt x="509016" y="59816"/>
                </a:moveTo>
                <a:lnTo>
                  <a:pt x="449072" y="59816"/>
                </a:lnTo>
                <a:lnTo>
                  <a:pt x="449072" y="93725"/>
                </a:lnTo>
                <a:lnTo>
                  <a:pt x="448437" y="93725"/>
                </a:lnTo>
                <a:lnTo>
                  <a:pt x="448437" y="448436"/>
                </a:lnTo>
                <a:lnTo>
                  <a:pt x="509016" y="448436"/>
                </a:lnTo>
                <a:lnTo>
                  <a:pt x="509016" y="59816"/>
                </a:lnTo>
                <a:close/>
              </a:path>
              <a:path extrusionOk="0" h="509270" w="509269">
                <a:moveTo>
                  <a:pt x="435229" y="93725"/>
                </a:moveTo>
                <a:lnTo>
                  <a:pt x="350875" y="93725"/>
                </a:lnTo>
                <a:lnTo>
                  <a:pt x="324836" y="136895"/>
                </a:lnTo>
                <a:lnTo>
                  <a:pt x="303075" y="175889"/>
                </a:lnTo>
                <a:lnTo>
                  <a:pt x="283516" y="214152"/>
                </a:lnTo>
                <a:lnTo>
                  <a:pt x="264078" y="255127"/>
                </a:lnTo>
                <a:lnTo>
                  <a:pt x="242684" y="302259"/>
                </a:lnTo>
                <a:lnTo>
                  <a:pt x="316108" y="302259"/>
                </a:lnTo>
                <a:lnTo>
                  <a:pt x="335137" y="264223"/>
                </a:lnTo>
                <a:lnTo>
                  <a:pt x="359312" y="218371"/>
                </a:lnTo>
                <a:lnTo>
                  <a:pt x="384150" y="174152"/>
                </a:lnTo>
                <a:lnTo>
                  <a:pt x="409504" y="132345"/>
                </a:lnTo>
                <a:lnTo>
                  <a:pt x="435229" y="93725"/>
                </a:lnTo>
                <a:close/>
              </a:path>
            </a:pathLst>
          </a:custGeom>
          <a:solidFill>
            <a:srgbClr val="EC7C3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81" name="Google Shape;181;p27"/>
          <p:cNvSpPr/>
          <p:nvPr/>
        </p:nvSpPr>
        <p:spPr>
          <a:xfrm>
            <a:off x="504224" y="2380765"/>
            <a:ext cx="381952" cy="381953"/>
          </a:xfrm>
          <a:custGeom>
            <a:rect b="b" l="l" r="r" t="t"/>
            <a:pathLst>
              <a:path extrusionOk="0" h="509270" w="509269">
                <a:moveTo>
                  <a:pt x="509016" y="0"/>
                </a:moveTo>
                <a:lnTo>
                  <a:pt x="0" y="0"/>
                </a:lnTo>
                <a:lnTo>
                  <a:pt x="0" y="509015"/>
                </a:lnTo>
                <a:lnTo>
                  <a:pt x="509016" y="509015"/>
                </a:lnTo>
                <a:lnTo>
                  <a:pt x="509016" y="448436"/>
                </a:lnTo>
                <a:lnTo>
                  <a:pt x="60540" y="448436"/>
                </a:lnTo>
                <a:lnTo>
                  <a:pt x="60540" y="60578"/>
                </a:lnTo>
                <a:lnTo>
                  <a:pt x="65265" y="60578"/>
                </a:lnTo>
                <a:lnTo>
                  <a:pt x="65265" y="59816"/>
                </a:lnTo>
                <a:lnTo>
                  <a:pt x="509016" y="59816"/>
                </a:lnTo>
                <a:lnTo>
                  <a:pt x="509016" y="0"/>
                </a:lnTo>
                <a:close/>
              </a:path>
              <a:path extrusionOk="0" h="509270" w="509269">
                <a:moveTo>
                  <a:pt x="94297" y="186181"/>
                </a:moveTo>
                <a:lnTo>
                  <a:pt x="68503" y="262762"/>
                </a:lnTo>
                <a:lnTo>
                  <a:pt x="108996" y="274585"/>
                </a:lnTo>
                <a:lnTo>
                  <a:pt x="143085" y="299555"/>
                </a:lnTo>
                <a:lnTo>
                  <a:pt x="172013" y="333549"/>
                </a:lnTo>
                <a:lnTo>
                  <a:pt x="197020" y="372443"/>
                </a:lnTo>
                <a:lnTo>
                  <a:pt x="219346" y="412114"/>
                </a:lnTo>
                <a:lnTo>
                  <a:pt x="240233" y="448436"/>
                </a:lnTo>
                <a:lnTo>
                  <a:pt x="247980" y="448436"/>
                </a:lnTo>
                <a:lnTo>
                  <a:pt x="268045" y="403816"/>
                </a:lnTo>
                <a:lnTo>
                  <a:pt x="289357" y="357723"/>
                </a:lnTo>
                <a:lnTo>
                  <a:pt x="311769" y="310933"/>
                </a:lnTo>
                <a:lnTo>
                  <a:pt x="316108" y="302259"/>
                </a:lnTo>
                <a:lnTo>
                  <a:pt x="242684" y="302259"/>
                </a:lnTo>
                <a:lnTo>
                  <a:pt x="213642" y="263227"/>
                </a:lnTo>
                <a:lnTo>
                  <a:pt x="184202" y="232505"/>
                </a:lnTo>
                <a:lnTo>
                  <a:pt x="146906" y="207641"/>
                </a:lnTo>
                <a:lnTo>
                  <a:pt x="94297" y="186181"/>
                </a:lnTo>
                <a:close/>
              </a:path>
              <a:path extrusionOk="0" h="509270" w="509269">
                <a:moveTo>
                  <a:pt x="509016" y="59816"/>
                </a:moveTo>
                <a:lnTo>
                  <a:pt x="449072" y="59816"/>
                </a:lnTo>
                <a:lnTo>
                  <a:pt x="449072" y="93725"/>
                </a:lnTo>
                <a:lnTo>
                  <a:pt x="448437" y="93725"/>
                </a:lnTo>
                <a:lnTo>
                  <a:pt x="448437" y="448436"/>
                </a:lnTo>
                <a:lnTo>
                  <a:pt x="509016" y="448436"/>
                </a:lnTo>
                <a:lnTo>
                  <a:pt x="509016" y="59816"/>
                </a:lnTo>
                <a:close/>
              </a:path>
              <a:path extrusionOk="0" h="509270" w="509269">
                <a:moveTo>
                  <a:pt x="435229" y="93725"/>
                </a:moveTo>
                <a:lnTo>
                  <a:pt x="350875" y="93725"/>
                </a:lnTo>
                <a:lnTo>
                  <a:pt x="324836" y="136895"/>
                </a:lnTo>
                <a:lnTo>
                  <a:pt x="303075" y="175889"/>
                </a:lnTo>
                <a:lnTo>
                  <a:pt x="283516" y="214152"/>
                </a:lnTo>
                <a:lnTo>
                  <a:pt x="264078" y="255127"/>
                </a:lnTo>
                <a:lnTo>
                  <a:pt x="242684" y="302259"/>
                </a:lnTo>
                <a:lnTo>
                  <a:pt x="316108" y="302259"/>
                </a:lnTo>
                <a:lnTo>
                  <a:pt x="335137" y="264223"/>
                </a:lnTo>
                <a:lnTo>
                  <a:pt x="359312" y="218371"/>
                </a:lnTo>
                <a:lnTo>
                  <a:pt x="384150" y="174152"/>
                </a:lnTo>
                <a:lnTo>
                  <a:pt x="409504" y="132345"/>
                </a:lnTo>
                <a:lnTo>
                  <a:pt x="435229" y="93725"/>
                </a:lnTo>
                <a:close/>
              </a:path>
            </a:pathLst>
          </a:custGeom>
          <a:solidFill>
            <a:srgbClr val="EC7C3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82" name="Google Shape;182;p27"/>
          <p:cNvSpPr/>
          <p:nvPr/>
        </p:nvSpPr>
        <p:spPr>
          <a:xfrm>
            <a:off x="504224" y="3081315"/>
            <a:ext cx="381952" cy="381953"/>
          </a:xfrm>
          <a:custGeom>
            <a:rect b="b" l="l" r="r" t="t"/>
            <a:pathLst>
              <a:path extrusionOk="0" h="509270" w="509269">
                <a:moveTo>
                  <a:pt x="509016" y="0"/>
                </a:moveTo>
                <a:lnTo>
                  <a:pt x="0" y="0"/>
                </a:lnTo>
                <a:lnTo>
                  <a:pt x="0" y="509015"/>
                </a:lnTo>
                <a:lnTo>
                  <a:pt x="509016" y="509015"/>
                </a:lnTo>
                <a:lnTo>
                  <a:pt x="509016" y="448436"/>
                </a:lnTo>
                <a:lnTo>
                  <a:pt x="60540" y="448436"/>
                </a:lnTo>
                <a:lnTo>
                  <a:pt x="60540" y="60578"/>
                </a:lnTo>
                <a:lnTo>
                  <a:pt x="65265" y="60578"/>
                </a:lnTo>
                <a:lnTo>
                  <a:pt x="65265" y="59816"/>
                </a:lnTo>
                <a:lnTo>
                  <a:pt x="509016" y="59816"/>
                </a:lnTo>
                <a:lnTo>
                  <a:pt x="509016" y="0"/>
                </a:lnTo>
                <a:close/>
              </a:path>
              <a:path extrusionOk="0" h="509270" w="509269">
                <a:moveTo>
                  <a:pt x="94297" y="186181"/>
                </a:moveTo>
                <a:lnTo>
                  <a:pt x="68503" y="262762"/>
                </a:lnTo>
                <a:lnTo>
                  <a:pt x="108996" y="274585"/>
                </a:lnTo>
                <a:lnTo>
                  <a:pt x="143085" y="299555"/>
                </a:lnTo>
                <a:lnTo>
                  <a:pt x="172013" y="333549"/>
                </a:lnTo>
                <a:lnTo>
                  <a:pt x="197020" y="372443"/>
                </a:lnTo>
                <a:lnTo>
                  <a:pt x="219346" y="412114"/>
                </a:lnTo>
                <a:lnTo>
                  <a:pt x="240233" y="448436"/>
                </a:lnTo>
                <a:lnTo>
                  <a:pt x="247980" y="448436"/>
                </a:lnTo>
                <a:lnTo>
                  <a:pt x="268045" y="403816"/>
                </a:lnTo>
                <a:lnTo>
                  <a:pt x="289357" y="357723"/>
                </a:lnTo>
                <a:lnTo>
                  <a:pt x="311769" y="310933"/>
                </a:lnTo>
                <a:lnTo>
                  <a:pt x="316108" y="302259"/>
                </a:lnTo>
                <a:lnTo>
                  <a:pt x="242684" y="302259"/>
                </a:lnTo>
                <a:lnTo>
                  <a:pt x="213642" y="263227"/>
                </a:lnTo>
                <a:lnTo>
                  <a:pt x="184202" y="232505"/>
                </a:lnTo>
                <a:lnTo>
                  <a:pt x="146906" y="207641"/>
                </a:lnTo>
                <a:lnTo>
                  <a:pt x="94297" y="186181"/>
                </a:lnTo>
                <a:close/>
              </a:path>
              <a:path extrusionOk="0" h="509270" w="509269">
                <a:moveTo>
                  <a:pt x="509016" y="59816"/>
                </a:moveTo>
                <a:lnTo>
                  <a:pt x="449072" y="59816"/>
                </a:lnTo>
                <a:lnTo>
                  <a:pt x="449072" y="93725"/>
                </a:lnTo>
                <a:lnTo>
                  <a:pt x="448437" y="93725"/>
                </a:lnTo>
                <a:lnTo>
                  <a:pt x="448437" y="448436"/>
                </a:lnTo>
                <a:lnTo>
                  <a:pt x="509016" y="448436"/>
                </a:lnTo>
                <a:lnTo>
                  <a:pt x="509016" y="59816"/>
                </a:lnTo>
                <a:close/>
              </a:path>
              <a:path extrusionOk="0" h="509270" w="509269">
                <a:moveTo>
                  <a:pt x="435229" y="93725"/>
                </a:moveTo>
                <a:lnTo>
                  <a:pt x="350875" y="93725"/>
                </a:lnTo>
                <a:lnTo>
                  <a:pt x="324836" y="136895"/>
                </a:lnTo>
                <a:lnTo>
                  <a:pt x="303075" y="175889"/>
                </a:lnTo>
                <a:lnTo>
                  <a:pt x="283516" y="214152"/>
                </a:lnTo>
                <a:lnTo>
                  <a:pt x="264078" y="255127"/>
                </a:lnTo>
                <a:lnTo>
                  <a:pt x="242684" y="302259"/>
                </a:lnTo>
                <a:lnTo>
                  <a:pt x="316108" y="302259"/>
                </a:lnTo>
                <a:lnTo>
                  <a:pt x="335137" y="264223"/>
                </a:lnTo>
                <a:lnTo>
                  <a:pt x="359312" y="218371"/>
                </a:lnTo>
                <a:lnTo>
                  <a:pt x="384150" y="174152"/>
                </a:lnTo>
                <a:lnTo>
                  <a:pt x="409504" y="132345"/>
                </a:lnTo>
                <a:lnTo>
                  <a:pt x="435229" y="93725"/>
                </a:lnTo>
                <a:close/>
              </a:path>
            </a:pathLst>
          </a:custGeom>
          <a:solidFill>
            <a:srgbClr val="EC7C3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83" name="Google Shape;183;p27"/>
          <p:cNvSpPr/>
          <p:nvPr/>
        </p:nvSpPr>
        <p:spPr>
          <a:xfrm>
            <a:off x="504224" y="3909765"/>
            <a:ext cx="381952" cy="381953"/>
          </a:xfrm>
          <a:custGeom>
            <a:rect b="b" l="l" r="r" t="t"/>
            <a:pathLst>
              <a:path extrusionOk="0" h="509270" w="509269">
                <a:moveTo>
                  <a:pt x="509016" y="0"/>
                </a:moveTo>
                <a:lnTo>
                  <a:pt x="0" y="0"/>
                </a:lnTo>
                <a:lnTo>
                  <a:pt x="0" y="509015"/>
                </a:lnTo>
                <a:lnTo>
                  <a:pt x="509016" y="509015"/>
                </a:lnTo>
                <a:lnTo>
                  <a:pt x="509016" y="448436"/>
                </a:lnTo>
                <a:lnTo>
                  <a:pt x="60540" y="448436"/>
                </a:lnTo>
                <a:lnTo>
                  <a:pt x="60540" y="60578"/>
                </a:lnTo>
                <a:lnTo>
                  <a:pt x="65265" y="60578"/>
                </a:lnTo>
                <a:lnTo>
                  <a:pt x="65265" y="59816"/>
                </a:lnTo>
                <a:lnTo>
                  <a:pt x="509016" y="59816"/>
                </a:lnTo>
                <a:lnTo>
                  <a:pt x="509016" y="0"/>
                </a:lnTo>
                <a:close/>
              </a:path>
              <a:path extrusionOk="0" h="509270" w="509269">
                <a:moveTo>
                  <a:pt x="94297" y="186181"/>
                </a:moveTo>
                <a:lnTo>
                  <a:pt x="68503" y="262762"/>
                </a:lnTo>
                <a:lnTo>
                  <a:pt x="108996" y="274585"/>
                </a:lnTo>
                <a:lnTo>
                  <a:pt x="143085" y="299555"/>
                </a:lnTo>
                <a:lnTo>
                  <a:pt x="172013" y="333549"/>
                </a:lnTo>
                <a:lnTo>
                  <a:pt x="197020" y="372443"/>
                </a:lnTo>
                <a:lnTo>
                  <a:pt x="219346" y="412114"/>
                </a:lnTo>
                <a:lnTo>
                  <a:pt x="240233" y="448436"/>
                </a:lnTo>
                <a:lnTo>
                  <a:pt x="247980" y="448436"/>
                </a:lnTo>
                <a:lnTo>
                  <a:pt x="268045" y="403816"/>
                </a:lnTo>
                <a:lnTo>
                  <a:pt x="289357" y="357723"/>
                </a:lnTo>
                <a:lnTo>
                  <a:pt x="311769" y="310933"/>
                </a:lnTo>
                <a:lnTo>
                  <a:pt x="316108" y="302259"/>
                </a:lnTo>
                <a:lnTo>
                  <a:pt x="242684" y="302259"/>
                </a:lnTo>
                <a:lnTo>
                  <a:pt x="213642" y="263227"/>
                </a:lnTo>
                <a:lnTo>
                  <a:pt x="184202" y="232505"/>
                </a:lnTo>
                <a:lnTo>
                  <a:pt x="146906" y="207641"/>
                </a:lnTo>
                <a:lnTo>
                  <a:pt x="94297" y="186181"/>
                </a:lnTo>
                <a:close/>
              </a:path>
              <a:path extrusionOk="0" h="509270" w="509269">
                <a:moveTo>
                  <a:pt x="509016" y="59816"/>
                </a:moveTo>
                <a:lnTo>
                  <a:pt x="449072" y="59816"/>
                </a:lnTo>
                <a:lnTo>
                  <a:pt x="449072" y="93725"/>
                </a:lnTo>
                <a:lnTo>
                  <a:pt x="448437" y="93725"/>
                </a:lnTo>
                <a:lnTo>
                  <a:pt x="448437" y="448436"/>
                </a:lnTo>
                <a:lnTo>
                  <a:pt x="509016" y="448436"/>
                </a:lnTo>
                <a:lnTo>
                  <a:pt x="509016" y="59816"/>
                </a:lnTo>
                <a:close/>
              </a:path>
              <a:path extrusionOk="0" h="509270" w="509269">
                <a:moveTo>
                  <a:pt x="435229" y="93725"/>
                </a:moveTo>
                <a:lnTo>
                  <a:pt x="350875" y="93725"/>
                </a:lnTo>
                <a:lnTo>
                  <a:pt x="324836" y="136895"/>
                </a:lnTo>
                <a:lnTo>
                  <a:pt x="303075" y="175889"/>
                </a:lnTo>
                <a:lnTo>
                  <a:pt x="283516" y="214152"/>
                </a:lnTo>
                <a:lnTo>
                  <a:pt x="264078" y="255127"/>
                </a:lnTo>
                <a:lnTo>
                  <a:pt x="242684" y="302259"/>
                </a:lnTo>
                <a:lnTo>
                  <a:pt x="316108" y="302259"/>
                </a:lnTo>
                <a:lnTo>
                  <a:pt x="335137" y="264223"/>
                </a:lnTo>
                <a:lnTo>
                  <a:pt x="359312" y="218371"/>
                </a:lnTo>
                <a:lnTo>
                  <a:pt x="384150" y="174152"/>
                </a:lnTo>
                <a:lnTo>
                  <a:pt x="409504" y="132345"/>
                </a:lnTo>
                <a:lnTo>
                  <a:pt x="435229" y="93725"/>
                </a:lnTo>
                <a:close/>
              </a:path>
            </a:pathLst>
          </a:custGeom>
          <a:solidFill>
            <a:srgbClr val="EC7C3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idx="4294967295" type="title"/>
          </p:nvPr>
        </p:nvSpPr>
        <p:spPr>
          <a:xfrm>
            <a:off x="181584" y="119633"/>
            <a:ext cx="8781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Costs of Poor Management</a:t>
            </a:r>
            <a:endParaRPr/>
          </a:p>
        </p:txBody>
      </p:sp>
      <p:sp>
        <p:nvSpPr>
          <p:cNvPr id="189" name="Google Shape;189;p28"/>
          <p:cNvSpPr/>
          <p:nvPr/>
        </p:nvSpPr>
        <p:spPr>
          <a:xfrm>
            <a:off x="373761" y="689229"/>
            <a:ext cx="8388668" cy="3996214"/>
          </a:xfrm>
          <a:custGeom>
            <a:rect b="b" l="l" r="r" t="t"/>
            <a:pathLst>
              <a:path extrusionOk="0" h="5328285" w="11184890">
                <a:moveTo>
                  <a:pt x="11107293" y="0"/>
                </a:moveTo>
                <a:lnTo>
                  <a:pt x="77368" y="0"/>
                </a:lnTo>
                <a:lnTo>
                  <a:pt x="47250" y="6084"/>
                </a:lnTo>
                <a:lnTo>
                  <a:pt x="22658" y="22669"/>
                </a:lnTo>
                <a:lnTo>
                  <a:pt x="6079" y="47255"/>
                </a:lnTo>
                <a:lnTo>
                  <a:pt x="0" y="77342"/>
                </a:lnTo>
                <a:lnTo>
                  <a:pt x="0" y="5250535"/>
                </a:lnTo>
                <a:lnTo>
                  <a:pt x="6079" y="5280653"/>
                </a:lnTo>
                <a:lnTo>
                  <a:pt x="22658" y="5305245"/>
                </a:lnTo>
                <a:lnTo>
                  <a:pt x="47250" y="5321824"/>
                </a:lnTo>
                <a:lnTo>
                  <a:pt x="77368" y="5327904"/>
                </a:lnTo>
                <a:lnTo>
                  <a:pt x="11107293" y="5327904"/>
                </a:lnTo>
                <a:lnTo>
                  <a:pt x="11137380" y="5321824"/>
                </a:lnTo>
                <a:lnTo>
                  <a:pt x="11161966" y="5305245"/>
                </a:lnTo>
                <a:lnTo>
                  <a:pt x="11178551" y="5280653"/>
                </a:lnTo>
                <a:lnTo>
                  <a:pt x="11184636" y="5250535"/>
                </a:lnTo>
                <a:lnTo>
                  <a:pt x="11184636" y="77342"/>
                </a:lnTo>
                <a:lnTo>
                  <a:pt x="11178551" y="47255"/>
                </a:lnTo>
                <a:lnTo>
                  <a:pt x="11161966" y="22669"/>
                </a:lnTo>
                <a:lnTo>
                  <a:pt x="11137380" y="6084"/>
                </a:lnTo>
                <a:lnTo>
                  <a:pt x="11107293" y="0"/>
                </a:lnTo>
                <a:close/>
              </a:path>
            </a:pathLst>
          </a:custGeom>
          <a:solidFill>
            <a:srgbClr val="DE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90" name="Google Shape;190;p28"/>
          <p:cNvSpPr/>
          <p:nvPr/>
        </p:nvSpPr>
        <p:spPr>
          <a:xfrm>
            <a:off x="784947" y="1079484"/>
            <a:ext cx="381000" cy="2754630"/>
          </a:xfrm>
          <a:custGeom>
            <a:rect b="b" l="l" r="r" t="t"/>
            <a:pathLst>
              <a:path extrusionOk="0" h="3672840" w="508000">
                <a:moveTo>
                  <a:pt x="507492" y="3163824"/>
                </a:moveTo>
                <a:lnTo>
                  <a:pt x="447675" y="3163824"/>
                </a:lnTo>
                <a:lnTo>
                  <a:pt x="447675" y="3223641"/>
                </a:lnTo>
                <a:lnTo>
                  <a:pt x="447675" y="3257550"/>
                </a:lnTo>
                <a:lnTo>
                  <a:pt x="447167" y="3257550"/>
                </a:lnTo>
                <a:lnTo>
                  <a:pt x="447167" y="3612261"/>
                </a:lnTo>
                <a:lnTo>
                  <a:pt x="247243" y="3612261"/>
                </a:lnTo>
                <a:lnTo>
                  <a:pt x="267246" y="3567646"/>
                </a:lnTo>
                <a:lnTo>
                  <a:pt x="288493" y="3521557"/>
                </a:lnTo>
                <a:lnTo>
                  <a:pt x="310832" y="3474758"/>
                </a:lnTo>
                <a:lnTo>
                  <a:pt x="315163" y="3466084"/>
                </a:lnTo>
                <a:lnTo>
                  <a:pt x="334137" y="3428060"/>
                </a:lnTo>
                <a:lnTo>
                  <a:pt x="358241" y="3382200"/>
                </a:lnTo>
                <a:lnTo>
                  <a:pt x="383019" y="3337979"/>
                </a:lnTo>
                <a:lnTo>
                  <a:pt x="408305" y="3296170"/>
                </a:lnTo>
                <a:lnTo>
                  <a:pt x="433959" y="3257550"/>
                </a:lnTo>
                <a:lnTo>
                  <a:pt x="349821" y="3257550"/>
                </a:lnTo>
                <a:lnTo>
                  <a:pt x="323850" y="3300730"/>
                </a:lnTo>
                <a:lnTo>
                  <a:pt x="302158" y="3339719"/>
                </a:lnTo>
                <a:lnTo>
                  <a:pt x="282663" y="3377984"/>
                </a:lnTo>
                <a:lnTo>
                  <a:pt x="263283" y="3418954"/>
                </a:lnTo>
                <a:lnTo>
                  <a:pt x="241960" y="3466084"/>
                </a:lnTo>
                <a:lnTo>
                  <a:pt x="212991" y="3427057"/>
                </a:lnTo>
                <a:lnTo>
                  <a:pt x="183642" y="3396335"/>
                </a:lnTo>
                <a:lnTo>
                  <a:pt x="146456" y="3371469"/>
                </a:lnTo>
                <a:lnTo>
                  <a:pt x="94018" y="3350006"/>
                </a:lnTo>
                <a:lnTo>
                  <a:pt x="68300" y="3426587"/>
                </a:lnTo>
                <a:lnTo>
                  <a:pt x="108661" y="3438410"/>
                </a:lnTo>
                <a:lnTo>
                  <a:pt x="142646" y="3463391"/>
                </a:lnTo>
                <a:lnTo>
                  <a:pt x="171488" y="3497376"/>
                </a:lnTo>
                <a:lnTo>
                  <a:pt x="196418" y="3536277"/>
                </a:lnTo>
                <a:lnTo>
                  <a:pt x="218681" y="3575939"/>
                </a:lnTo>
                <a:lnTo>
                  <a:pt x="239509" y="3612261"/>
                </a:lnTo>
                <a:lnTo>
                  <a:pt x="60350" y="3612261"/>
                </a:lnTo>
                <a:lnTo>
                  <a:pt x="60350" y="3224403"/>
                </a:lnTo>
                <a:lnTo>
                  <a:pt x="65074" y="3224403"/>
                </a:lnTo>
                <a:lnTo>
                  <a:pt x="65074" y="3223641"/>
                </a:lnTo>
                <a:lnTo>
                  <a:pt x="447675" y="3223641"/>
                </a:lnTo>
                <a:lnTo>
                  <a:pt x="447675" y="3163824"/>
                </a:lnTo>
                <a:lnTo>
                  <a:pt x="0" y="3163824"/>
                </a:lnTo>
                <a:lnTo>
                  <a:pt x="0" y="3672840"/>
                </a:lnTo>
                <a:lnTo>
                  <a:pt x="507492" y="3672840"/>
                </a:lnTo>
                <a:lnTo>
                  <a:pt x="507492" y="3612261"/>
                </a:lnTo>
                <a:lnTo>
                  <a:pt x="507492" y="3223641"/>
                </a:lnTo>
                <a:lnTo>
                  <a:pt x="507492" y="3163824"/>
                </a:lnTo>
                <a:close/>
              </a:path>
              <a:path extrusionOk="0" h="3672840" w="508000">
                <a:moveTo>
                  <a:pt x="507492" y="1769364"/>
                </a:moveTo>
                <a:lnTo>
                  <a:pt x="447675" y="1769364"/>
                </a:lnTo>
                <a:lnTo>
                  <a:pt x="447675" y="1828927"/>
                </a:lnTo>
                <a:lnTo>
                  <a:pt x="447675" y="1862836"/>
                </a:lnTo>
                <a:lnTo>
                  <a:pt x="447167" y="1862836"/>
                </a:lnTo>
                <a:lnTo>
                  <a:pt x="447167" y="2216531"/>
                </a:lnTo>
                <a:lnTo>
                  <a:pt x="247243" y="2216531"/>
                </a:lnTo>
                <a:lnTo>
                  <a:pt x="267246" y="2172017"/>
                </a:lnTo>
                <a:lnTo>
                  <a:pt x="288493" y="2126030"/>
                </a:lnTo>
                <a:lnTo>
                  <a:pt x="310832" y="2079371"/>
                </a:lnTo>
                <a:lnTo>
                  <a:pt x="334137" y="2032787"/>
                </a:lnTo>
                <a:lnTo>
                  <a:pt x="358241" y="1987067"/>
                </a:lnTo>
                <a:lnTo>
                  <a:pt x="383019" y="1942985"/>
                </a:lnTo>
                <a:lnTo>
                  <a:pt x="408305" y="1901317"/>
                </a:lnTo>
                <a:lnTo>
                  <a:pt x="433959" y="1862836"/>
                </a:lnTo>
                <a:lnTo>
                  <a:pt x="349821" y="1862836"/>
                </a:lnTo>
                <a:lnTo>
                  <a:pt x="323850" y="1905876"/>
                </a:lnTo>
                <a:lnTo>
                  <a:pt x="302158" y="1944751"/>
                </a:lnTo>
                <a:lnTo>
                  <a:pt x="282663" y="1982889"/>
                </a:lnTo>
                <a:lnTo>
                  <a:pt x="263283" y="2023745"/>
                </a:lnTo>
                <a:lnTo>
                  <a:pt x="241960" y="2070735"/>
                </a:lnTo>
                <a:lnTo>
                  <a:pt x="212991" y="2031860"/>
                </a:lnTo>
                <a:lnTo>
                  <a:pt x="183642" y="2001227"/>
                </a:lnTo>
                <a:lnTo>
                  <a:pt x="146456" y="1976424"/>
                </a:lnTo>
                <a:lnTo>
                  <a:pt x="94018" y="1955038"/>
                </a:lnTo>
                <a:lnTo>
                  <a:pt x="68300" y="2031365"/>
                </a:lnTo>
                <a:lnTo>
                  <a:pt x="108661" y="2043163"/>
                </a:lnTo>
                <a:lnTo>
                  <a:pt x="142646" y="2068055"/>
                </a:lnTo>
                <a:lnTo>
                  <a:pt x="171488" y="2101951"/>
                </a:lnTo>
                <a:lnTo>
                  <a:pt x="196418" y="2140737"/>
                </a:lnTo>
                <a:lnTo>
                  <a:pt x="218681" y="2180298"/>
                </a:lnTo>
                <a:lnTo>
                  <a:pt x="239509" y="2216531"/>
                </a:lnTo>
                <a:lnTo>
                  <a:pt x="60350" y="2216531"/>
                </a:lnTo>
                <a:lnTo>
                  <a:pt x="60350" y="1829689"/>
                </a:lnTo>
                <a:lnTo>
                  <a:pt x="65074" y="1829689"/>
                </a:lnTo>
                <a:lnTo>
                  <a:pt x="65074" y="1828927"/>
                </a:lnTo>
                <a:lnTo>
                  <a:pt x="447675" y="1828927"/>
                </a:lnTo>
                <a:lnTo>
                  <a:pt x="447675" y="1769364"/>
                </a:lnTo>
                <a:lnTo>
                  <a:pt x="0" y="1769364"/>
                </a:lnTo>
                <a:lnTo>
                  <a:pt x="0" y="2276856"/>
                </a:lnTo>
                <a:lnTo>
                  <a:pt x="507492" y="2276856"/>
                </a:lnTo>
                <a:lnTo>
                  <a:pt x="507492" y="2216531"/>
                </a:lnTo>
                <a:lnTo>
                  <a:pt x="507492" y="1828927"/>
                </a:lnTo>
                <a:lnTo>
                  <a:pt x="507492" y="1769364"/>
                </a:lnTo>
                <a:close/>
              </a:path>
              <a:path extrusionOk="0" h="3672840" w="508000">
                <a:moveTo>
                  <a:pt x="507492" y="0"/>
                </a:moveTo>
                <a:lnTo>
                  <a:pt x="447675" y="0"/>
                </a:lnTo>
                <a:lnTo>
                  <a:pt x="447675" y="59563"/>
                </a:lnTo>
                <a:lnTo>
                  <a:pt x="447675" y="93472"/>
                </a:lnTo>
                <a:lnTo>
                  <a:pt x="447167" y="93472"/>
                </a:lnTo>
                <a:lnTo>
                  <a:pt x="447167" y="447167"/>
                </a:lnTo>
                <a:lnTo>
                  <a:pt x="247243" y="447167"/>
                </a:lnTo>
                <a:lnTo>
                  <a:pt x="267246" y="402653"/>
                </a:lnTo>
                <a:lnTo>
                  <a:pt x="288493" y="356666"/>
                </a:lnTo>
                <a:lnTo>
                  <a:pt x="310832" y="310007"/>
                </a:lnTo>
                <a:lnTo>
                  <a:pt x="334137" y="263423"/>
                </a:lnTo>
                <a:lnTo>
                  <a:pt x="358241" y="217703"/>
                </a:lnTo>
                <a:lnTo>
                  <a:pt x="383019" y="173621"/>
                </a:lnTo>
                <a:lnTo>
                  <a:pt x="408305" y="131953"/>
                </a:lnTo>
                <a:lnTo>
                  <a:pt x="433959" y="93472"/>
                </a:lnTo>
                <a:lnTo>
                  <a:pt x="349821" y="93472"/>
                </a:lnTo>
                <a:lnTo>
                  <a:pt x="323850" y="136512"/>
                </a:lnTo>
                <a:lnTo>
                  <a:pt x="302158" y="175387"/>
                </a:lnTo>
                <a:lnTo>
                  <a:pt x="282663" y="213525"/>
                </a:lnTo>
                <a:lnTo>
                  <a:pt x="263283" y="254381"/>
                </a:lnTo>
                <a:lnTo>
                  <a:pt x="241960" y="301371"/>
                </a:lnTo>
                <a:lnTo>
                  <a:pt x="212991" y="262496"/>
                </a:lnTo>
                <a:lnTo>
                  <a:pt x="183642" y="231863"/>
                </a:lnTo>
                <a:lnTo>
                  <a:pt x="146456" y="207060"/>
                </a:lnTo>
                <a:lnTo>
                  <a:pt x="94018" y="185674"/>
                </a:lnTo>
                <a:lnTo>
                  <a:pt x="68300" y="262001"/>
                </a:lnTo>
                <a:lnTo>
                  <a:pt x="108661" y="273799"/>
                </a:lnTo>
                <a:lnTo>
                  <a:pt x="142646" y="298691"/>
                </a:lnTo>
                <a:lnTo>
                  <a:pt x="171488" y="332587"/>
                </a:lnTo>
                <a:lnTo>
                  <a:pt x="196418" y="371373"/>
                </a:lnTo>
                <a:lnTo>
                  <a:pt x="218681" y="410933"/>
                </a:lnTo>
                <a:lnTo>
                  <a:pt x="239509" y="447167"/>
                </a:lnTo>
                <a:lnTo>
                  <a:pt x="60350" y="447167"/>
                </a:lnTo>
                <a:lnTo>
                  <a:pt x="60350" y="60325"/>
                </a:lnTo>
                <a:lnTo>
                  <a:pt x="65074" y="60325"/>
                </a:lnTo>
                <a:lnTo>
                  <a:pt x="65074" y="59563"/>
                </a:lnTo>
                <a:lnTo>
                  <a:pt x="447675" y="59563"/>
                </a:lnTo>
                <a:lnTo>
                  <a:pt x="447675" y="0"/>
                </a:lnTo>
                <a:lnTo>
                  <a:pt x="0" y="0"/>
                </a:lnTo>
                <a:lnTo>
                  <a:pt x="0" y="507492"/>
                </a:lnTo>
                <a:lnTo>
                  <a:pt x="507492" y="507492"/>
                </a:lnTo>
                <a:lnTo>
                  <a:pt x="507492" y="447167"/>
                </a:lnTo>
                <a:lnTo>
                  <a:pt x="507492" y="59563"/>
                </a:lnTo>
                <a:lnTo>
                  <a:pt x="507492" y="0"/>
                </a:lnTo>
                <a:close/>
              </a:path>
            </a:pathLst>
          </a:custGeom>
          <a:solidFill>
            <a:srgbClr val="EC7C3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91" name="Google Shape;191;p28"/>
          <p:cNvSpPr txBox="1"/>
          <p:nvPr/>
        </p:nvSpPr>
        <p:spPr>
          <a:xfrm>
            <a:off x="1416750" y="970025"/>
            <a:ext cx="5354100" cy="29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Client dissatisfaction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6096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✔"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Late delivery and communication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6096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✔"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Poor quality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609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✔"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Inability to plan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14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Staff dissatisfaction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6096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✔"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Frustration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609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✔"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Impact on family and personal life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Waste of precious resources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idx="4294967295" type="title"/>
          </p:nvPr>
        </p:nvSpPr>
        <p:spPr>
          <a:xfrm>
            <a:off x="195757" y="67151"/>
            <a:ext cx="8619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Software project</a:t>
            </a:r>
            <a:endParaRPr sz="2700"/>
          </a:p>
        </p:txBody>
      </p:sp>
      <p:sp>
        <p:nvSpPr>
          <p:cNvPr id="198" name="Google Shape;198;p29"/>
          <p:cNvSpPr txBox="1"/>
          <p:nvPr/>
        </p:nvSpPr>
        <p:spPr>
          <a:xfrm>
            <a:off x="267081" y="800100"/>
            <a:ext cx="8476800" cy="3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software project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is an organized set of activities carried out to create a </a:t>
            </a: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software application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or </a:t>
            </a: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system 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that meets user needs.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800" u="sng">
                <a:latin typeface="Montserrat"/>
                <a:ea typeface="Montserrat"/>
                <a:cs typeface="Montserrat"/>
                <a:sym typeface="Montserrat"/>
              </a:rPr>
              <a:t>A software project uses: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People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(developers, testers, managers)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Processes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(Agile, Waterfall, Scrum)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Tools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(IDEs, version control, testing tools)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-to make sure the software is delivered correctly, efficiently, and within constraints.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139700" lvl="0" marL="266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idx="4294967295" type="title"/>
          </p:nvPr>
        </p:nvSpPr>
        <p:spPr>
          <a:xfrm>
            <a:off x="181584" y="119633"/>
            <a:ext cx="878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Software Projects</a:t>
            </a:r>
            <a:endParaRPr/>
          </a:p>
        </p:txBody>
      </p:sp>
      <p:sp>
        <p:nvSpPr>
          <p:cNvPr id="205" name="Google Shape;205;p30"/>
          <p:cNvSpPr txBox="1"/>
          <p:nvPr>
            <p:ph idx="4294967295" type="body"/>
          </p:nvPr>
        </p:nvSpPr>
        <p:spPr>
          <a:xfrm>
            <a:off x="314325" y="550725"/>
            <a:ext cx="85155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1. Mobile Application Development:</a:t>
            </a:r>
            <a:endParaRPr sz="1500"/>
          </a:p>
          <a:p>
            <a:pPr indent="-273050" lvl="1" marL="596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/>
              <a:t>Creating a </a:t>
            </a:r>
            <a:r>
              <a:rPr b="1" lang="en" sz="1500"/>
              <a:t>food delivery app</a:t>
            </a:r>
            <a:r>
              <a:rPr lang="en" sz="1500"/>
              <a:t> like Foodpanda. Activities include UI design, backend development, API integration, testing, etc.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2. Website Development Project:</a:t>
            </a:r>
            <a:endParaRPr sz="1500"/>
          </a:p>
          <a:p>
            <a:pPr indent="-260350" lvl="1" marL="596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/>
              <a:t>Building an </a:t>
            </a:r>
            <a:r>
              <a:rPr b="1" lang="en" sz="1500"/>
              <a:t>e-commerce website</a:t>
            </a:r>
            <a:r>
              <a:rPr lang="en" sz="1500"/>
              <a:t>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3. Software Upgrade Project:</a:t>
            </a:r>
            <a:endParaRPr sz="1500"/>
          </a:p>
          <a:p>
            <a:pPr indent="-260350" lvl="1" marL="596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/>
              <a:t>Updating an old banking system to a newer version. Involves migrating data, updating security features, etc.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4. Automation System</a:t>
            </a:r>
            <a:endParaRPr sz="1500"/>
          </a:p>
          <a:p>
            <a:pPr indent="-273050" lvl="1" marL="596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/>
              <a:t>Building a </a:t>
            </a:r>
            <a:r>
              <a:rPr b="1" lang="en" sz="1500"/>
              <a:t>library management system</a:t>
            </a:r>
            <a:r>
              <a:rPr lang="en" sz="1500"/>
              <a:t> for a university. Includes modules for issuing books, tracking fines, managing users.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5. Game Development Project</a:t>
            </a:r>
            <a:endParaRPr sz="1500"/>
          </a:p>
          <a:p>
            <a:pPr indent="-260350" lvl="1" marL="596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/>
              <a:t>Developing a </a:t>
            </a:r>
            <a:r>
              <a:rPr b="1" lang="en" sz="1500"/>
              <a:t>3D racing game</a:t>
            </a:r>
            <a:r>
              <a:rPr lang="en" sz="1500"/>
              <a:t>. Requires graphics design, physics programming, audio integration, and testing.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6. AI/ML-Based Software Project</a:t>
            </a:r>
            <a:endParaRPr sz="1500"/>
          </a:p>
          <a:p>
            <a:pPr indent="-273050" lvl="1" marL="596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/>
              <a:t>Creating a </a:t>
            </a:r>
            <a:r>
              <a:rPr b="1" lang="en" sz="1500"/>
              <a:t>spam email detection system</a:t>
            </a:r>
            <a:r>
              <a:rPr lang="en" sz="1500"/>
              <a:t>. Requires collecting data, training models, writing algorithms, and integrating the model into an application.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6" name="Google Shape;206;p3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idx="4294967295" type="title"/>
          </p:nvPr>
        </p:nvSpPr>
        <p:spPr>
          <a:xfrm>
            <a:off x="181585" y="0"/>
            <a:ext cx="8781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4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SW Project vs Other Project</a:t>
            </a:r>
            <a:endParaRPr sz="2600"/>
          </a:p>
        </p:txBody>
      </p:sp>
      <p:sp>
        <p:nvSpPr>
          <p:cNvPr id="212" name="Google Shape;212;p31"/>
          <p:cNvSpPr txBox="1"/>
          <p:nvPr/>
        </p:nvSpPr>
        <p:spPr>
          <a:xfrm>
            <a:off x="228600" y="552451"/>
            <a:ext cx="8505300" cy="3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The product of software project have certain characteristics which make them different.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00"/>
              <a:buFont typeface="Montserrat"/>
              <a:buChar char="-"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Invisibility: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When a physical artifact such a bridge or road is being constructed the progress	being	made	can	actually	be	seen. </a:t>
            </a:r>
            <a:r>
              <a:rPr lang="en" sz="1500">
                <a:solidFill>
                  <a:srgbClr val="006FC0"/>
                </a:solidFill>
                <a:latin typeface="Montserrat"/>
                <a:ea typeface="Montserrat"/>
                <a:cs typeface="Montserrat"/>
                <a:sym typeface="Montserrat"/>
              </a:rPr>
              <a:t>With software, progress may not immediately visible.</a:t>
            </a:r>
            <a:br>
              <a:rPr lang="en" sz="1500">
                <a:solidFill>
                  <a:srgbClr val="006FC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-"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Complexity: 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Per  dollar,  pound  or  euro  spent,  </a:t>
            </a:r>
            <a:r>
              <a:rPr lang="en" sz="1500">
                <a:solidFill>
                  <a:srgbClr val="006FC0"/>
                </a:solidFill>
                <a:latin typeface="Montserrat"/>
                <a:ea typeface="Montserrat"/>
                <a:cs typeface="Montserrat"/>
                <a:sym typeface="Montserrat"/>
              </a:rPr>
              <a:t>software  products  contain  more complexity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than other engineered artifacts.</a:t>
            </a:r>
            <a:br>
              <a:rPr lang="en" sz="1500">
                <a:latin typeface="Montserrat"/>
                <a:ea typeface="Montserrat"/>
                <a:cs typeface="Montserrat"/>
                <a:sym typeface="Montserrat"/>
              </a:rPr>
            </a:b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-"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Conformity: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The traditional engineer is usually working </a:t>
            </a:r>
            <a:r>
              <a:rPr lang="en" sz="1500">
                <a:solidFill>
                  <a:srgbClr val="006FC0"/>
                </a:solidFill>
                <a:latin typeface="Montserrat"/>
                <a:ea typeface="Montserrat"/>
                <a:cs typeface="Montserrat"/>
                <a:sym typeface="Montserrat"/>
              </a:rPr>
              <a:t>with physical systems and physical materials like cement and steel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. These systems can have some complexity but are governed by physical laws that are consistent. Software developers have to confirm to the requirements of human clients </a:t>
            </a:r>
            <a:r>
              <a:rPr lang="en" sz="1500">
                <a:solidFill>
                  <a:srgbClr val="006FC0"/>
                </a:solidFill>
                <a:latin typeface="Montserrat"/>
                <a:ea typeface="Montserrat"/>
                <a:cs typeface="Montserrat"/>
                <a:sym typeface="Montserrat"/>
              </a:rPr>
              <a:t>that certainly keeps on fluctuating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" sz="1500">
                <a:latin typeface="Montserrat"/>
                <a:ea typeface="Montserrat"/>
                <a:cs typeface="Montserrat"/>
                <a:sym typeface="Montserrat"/>
              </a:rPr>
            </a:b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-"/>
            </a:pPr>
            <a:r>
              <a:rPr b="1" lang="en" sz="1500">
                <a:latin typeface="Montserrat"/>
                <a:ea typeface="Montserrat"/>
                <a:cs typeface="Montserrat"/>
                <a:sym typeface="Montserrat"/>
              </a:rPr>
              <a:t>Flexibility: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The ease with which </a:t>
            </a:r>
            <a:r>
              <a:rPr lang="en" sz="1500">
                <a:solidFill>
                  <a:srgbClr val="006FC0"/>
                </a:solidFill>
                <a:latin typeface="Montserrat"/>
                <a:ea typeface="Montserrat"/>
                <a:cs typeface="Montserrat"/>
                <a:sym typeface="Montserrat"/>
              </a:rPr>
              <a:t>software can be changed 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is usually seen as one of its strengths. Software systems are subject to a high degree of change.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3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idx="4294967295" type="title"/>
          </p:nvPr>
        </p:nvSpPr>
        <p:spPr>
          <a:xfrm>
            <a:off x="181584" y="119633"/>
            <a:ext cx="8781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0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SW Project Development Life Cycle - SDLC</a:t>
            </a:r>
            <a:endParaRPr sz="2600"/>
          </a:p>
        </p:txBody>
      </p:sp>
      <p:pic>
        <p:nvPicPr>
          <p:cNvPr id="219" name="Google Shape;2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598" y="1164046"/>
            <a:ext cx="7689261" cy="326542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type="title"/>
          </p:nvPr>
        </p:nvSpPr>
        <p:spPr>
          <a:xfrm>
            <a:off x="311700" y="2150850"/>
            <a:ext cx="85206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150">
            <a:spAutoFit/>
          </a:bodyPr>
          <a:lstStyle/>
          <a:p>
            <a:pPr indent="-431800" lvl="0" marL="44450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Software Project Management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chemeClr val="dk2"/>
                </a:solidFill>
              </a:rPr>
              <a:t>‹#›</a:t>
            </a:fld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idx="4294967295" type="title"/>
          </p:nvPr>
        </p:nvSpPr>
        <p:spPr>
          <a:xfrm>
            <a:off x="181584" y="119633"/>
            <a:ext cx="878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SMART criteria in Project  Management</a:t>
            </a:r>
            <a:endParaRPr sz="2700"/>
          </a:p>
        </p:txBody>
      </p:sp>
      <p:sp>
        <p:nvSpPr>
          <p:cNvPr id="232" name="Google Shape;232;p34"/>
          <p:cNvSpPr txBox="1"/>
          <p:nvPr/>
        </p:nvSpPr>
        <p:spPr>
          <a:xfrm>
            <a:off x="514350" y="800100"/>
            <a:ext cx="7886700" cy="3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SMART refers to criteria for setting goals and objectives. The idea is that every project goal must adhere to the SMART criteria to be effective. Therefore, while planning a project’s objectives, each one should be :</a:t>
            </a:r>
            <a:endParaRPr sz="1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4953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pecific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4953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easurable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4953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ttainable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4953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elevant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4953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ime bound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idx="4294967295" type="title"/>
          </p:nvPr>
        </p:nvSpPr>
        <p:spPr>
          <a:xfrm>
            <a:off x="181584" y="119633"/>
            <a:ext cx="8781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Software Project Management</a:t>
            </a:r>
            <a:endParaRPr/>
          </a:p>
        </p:txBody>
      </p:sp>
      <p:sp>
        <p:nvSpPr>
          <p:cNvPr id="239" name="Google Shape;239;p35"/>
          <p:cNvSpPr/>
          <p:nvPr/>
        </p:nvSpPr>
        <p:spPr>
          <a:xfrm>
            <a:off x="371475" y="612647"/>
            <a:ext cx="4134326" cy="3996214"/>
          </a:xfrm>
          <a:custGeom>
            <a:rect b="b" l="l" r="r" t="t"/>
            <a:pathLst>
              <a:path extrusionOk="0" h="5328285" w="5512435">
                <a:moveTo>
                  <a:pt x="5434965" y="0"/>
                </a:moveTo>
                <a:lnTo>
                  <a:pt x="77355" y="0"/>
                </a:lnTo>
                <a:lnTo>
                  <a:pt x="47245" y="6084"/>
                </a:lnTo>
                <a:lnTo>
                  <a:pt x="22656" y="22669"/>
                </a:lnTo>
                <a:lnTo>
                  <a:pt x="6078" y="47255"/>
                </a:lnTo>
                <a:lnTo>
                  <a:pt x="0" y="77343"/>
                </a:lnTo>
                <a:lnTo>
                  <a:pt x="0" y="5250535"/>
                </a:lnTo>
                <a:lnTo>
                  <a:pt x="6078" y="5280653"/>
                </a:lnTo>
                <a:lnTo>
                  <a:pt x="22656" y="5305245"/>
                </a:lnTo>
                <a:lnTo>
                  <a:pt x="47245" y="5321824"/>
                </a:lnTo>
                <a:lnTo>
                  <a:pt x="77355" y="5327904"/>
                </a:lnTo>
                <a:lnTo>
                  <a:pt x="5434965" y="5327904"/>
                </a:lnTo>
                <a:lnTo>
                  <a:pt x="5465052" y="5321824"/>
                </a:lnTo>
                <a:lnTo>
                  <a:pt x="5489638" y="5305245"/>
                </a:lnTo>
                <a:lnTo>
                  <a:pt x="5506223" y="5280653"/>
                </a:lnTo>
                <a:lnTo>
                  <a:pt x="5512308" y="5250535"/>
                </a:lnTo>
                <a:lnTo>
                  <a:pt x="5512308" y="77343"/>
                </a:lnTo>
                <a:lnTo>
                  <a:pt x="5506223" y="47255"/>
                </a:lnTo>
                <a:lnTo>
                  <a:pt x="5489638" y="22669"/>
                </a:lnTo>
                <a:lnTo>
                  <a:pt x="5465052" y="6084"/>
                </a:lnTo>
                <a:lnTo>
                  <a:pt x="5434965" y="0"/>
                </a:lnTo>
                <a:close/>
              </a:path>
            </a:pathLst>
          </a:custGeom>
          <a:solidFill>
            <a:srgbClr val="DE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40" name="Google Shape;240;p35"/>
          <p:cNvSpPr txBox="1"/>
          <p:nvPr>
            <p:ph idx="4294967295" type="body"/>
          </p:nvPr>
        </p:nvSpPr>
        <p:spPr>
          <a:xfrm>
            <a:off x="754301" y="1566600"/>
            <a:ext cx="3412800" cy="2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260350" lvl="0" marL="2667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Char char="✔"/>
            </a:pPr>
            <a:r>
              <a:rPr lang="en" sz="1500"/>
              <a:t>Understand the characteristics of software products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t/>
            </a:r>
            <a:endParaRPr sz="1500"/>
          </a:p>
          <a:p>
            <a:pPr indent="-260350" lvl="0" marL="266700" marR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✔"/>
            </a:pPr>
            <a:r>
              <a:rPr lang="en" sz="1500"/>
              <a:t>Understand what is meant by a project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t/>
            </a:r>
            <a:endParaRPr sz="1500"/>
          </a:p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✔"/>
            </a:pPr>
            <a:r>
              <a:rPr lang="en" sz="1500"/>
              <a:t>Understand what is meant by</a:t>
            </a:r>
            <a:endParaRPr sz="1500"/>
          </a:p>
          <a:p>
            <a:pPr indent="0" lvl="0" marL="2667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management</a:t>
            </a:r>
            <a:endParaRPr sz="1500"/>
          </a:p>
        </p:txBody>
      </p:sp>
      <p:sp>
        <p:nvSpPr>
          <p:cNvPr id="241" name="Google Shape;241;p35"/>
          <p:cNvSpPr/>
          <p:nvPr/>
        </p:nvSpPr>
        <p:spPr>
          <a:xfrm>
            <a:off x="4626864" y="650366"/>
            <a:ext cx="4135755" cy="3996214"/>
          </a:xfrm>
          <a:custGeom>
            <a:rect b="b" l="l" r="r" t="t"/>
            <a:pathLst>
              <a:path extrusionOk="0" h="5328285" w="5514340">
                <a:moveTo>
                  <a:pt x="5513832" y="77343"/>
                </a:moveTo>
                <a:lnTo>
                  <a:pt x="5507736" y="47256"/>
                </a:lnTo>
                <a:lnTo>
                  <a:pt x="5491162" y="22669"/>
                </a:lnTo>
                <a:lnTo>
                  <a:pt x="5466575" y="6096"/>
                </a:lnTo>
                <a:lnTo>
                  <a:pt x="5436489" y="0"/>
                </a:lnTo>
                <a:lnTo>
                  <a:pt x="77343" y="0"/>
                </a:lnTo>
                <a:lnTo>
                  <a:pt x="47244" y="6096"/>
                </a:lnTo>
                <a:lnTo>
                  <a:pt x="22669" y="22669"/>
                </a:lnTo>
                <a:lnTo>
                  <a:pt x="6083" y="47256"/>
                </a:lnTo>
                <a:lnTo>
                  <a:pt x="0" y="77343"/>
                </a:lnTo>
                <a:lnTo>
                  <a:pt x="0" y="5250548"/>
                </a:lnTo>
                <a:lnTo>
                  <a:pt x="6083" y="5280660"/>
                </a:lnTo>
                <a:lnTo>
                  <a:pt x="22669" y="5305247"/>
                </a:lnTo>
                <a:lnTo>
                  <a:pt x="47244" y="5321833"/>
                </a:lnTo>
                <a:lnTo>
                  <a:pt x="77343" y="5327904"/>
                </a:lnTo>
                <a:lnTo>
                  <a:pt x="5436489" y="5327904"/>
                </a:lnTo>
                <a:lnTo>
                  <a:pt x="5466575" y="5321833"/>
                </a:lnTo>
                <a:lnTo>
                  <a:pt x="5491162" y="5305247"/>
                </a:lnTo>
                <a:lnTo>
                  <a:pt x="5507736" y="5280660"/>
                </a:lnTo>
                <a:lnTo>
                  <a:pt x="5513832" y="5250548"/>
                </a:lnTo>
                <a:lnTo>
                  <a:pt x="5513832" y="77343"/>
                </a:lnTo>
                <a:close/>
              </a:path>
            </a:pathLst>
          </a:custGeom>
          <a:solidFill>
            <a:srgbClr val="FAE4D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42" name="Google Shape;242;p35"/>
          <p:cNvSpPr txBox="1"/>
          <p:nvPr>
            <p:ph idx="4294967295" type="body"/>
          </p:nvPr>
        </p:nvSpPr>
        <p:spPr>
          <a:xfrm>
            <a:off x="4783864" y="838070"/>
            <a:ext cx="3886200" cy="3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68300" lvl="0" marL="723900" marR="546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Common problems with software projects</a:t>
            </a:r>
            <a:endParaRPr b="1"/>
          </a:p>
          <a:p>
            <a:pPr indent="-222250" lvl="0" marL="2286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Char char="✔"/>
            </a:pPr>
            <a:r>
              <a:rPr lang="en" sz="1500"/>
              <a:t>Lack of quality standards and measures</a:t>
            </a:r>
            <a:endParaRPr sz="1500"/>
          </a:p>
          <a:p>
            <a:pPr indent="-222250" lvl="0" marL="2286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✔"/>
            </a:pPr>
            <a:r>
              <a:rPr lang="en" sz="1500"/>
              <a:t>Lack of measurable milestones</a:t>
            </a:r>
            <a:endParaRPr sz="1500"/>
          </a:p>
          <a:p>
            <a:pPr indent="-222250" lvl="0" marL="2286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✔"/>
            </a:pPr>
            <a:r>
              <a:rPr lang="en" sz="1500"/>
              <a:t>Difficult to make the progress visible</a:t>
            </a:r>
            <a:endParaRPr sz="1500"/>
          </a:p>
          <a:p>
            <a:pPr indent="-222250" lvl="0" marL="2286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✔"/>
            </a:pPr>
            <a:r>
              <a:rPr lang="en" sz="1500"/>
              <a:t>Poor communications &amp; documentation</a:t>
            </a:r>
            <a:endParaRPr sz="1500"/>
          </a:p>
          <a:p>
            <a:pPr indent="-222250" lvl="0" marL="2286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✔"/>
            </a:pPr>
            <a:r>
              <a:rPr lang="en" sz="1500"/>
              <a:t>Frequent changes of requirements</a:t>
            </a:r>
            <a:endParaRPr sz="1500"/>
          </a:p>
          <a:p>
            <a:pPr indent="-222250" lvl="0" marL="228600" rtl="0" algn="l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Clr>
                <a:schemeClr val="dk1"/>
              </a:buClr>
              <a:buSzPts val="1500"/>
              <a:buChar char="✔"/>
            </a:pPr>
            <a:r>
              <a:rPr lang="en" sz="1500"/>
              <a:t>Over budget and late delivery of software</a:t>
            </a:r>
            <a:endParaRPr sz="1500"/>
          </a:p>
        </p:txBody>
      </p:sp>
      <p:sp>
        <p:nvSpPr>
          <p:cNvPr id="243" name="Google Shape;243;p3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35"/>
          <p:cNvSpPr txBox="1"/>
          <p:nvPr/>
        </p:nvSpPr>
        <p:spPr>
          <a:xfrm>
            <a:off x="520750" y="749150"/>
            <a:ext cx="364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71500" lvl="0" marL="889000" marR="1270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What is software 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71500" lvl="0" marL="889000" marR="1270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project management?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>
            <p:ph idx="4294967295" type="title"/>
          </p:nvPr>
        </p:nvSpPr>
        <p:spPr>
          <a:xfrm>
            <a:off x="181584" y="119633"/>
            <a:ext cx="8781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Why Software Project Management (SPM) ?</a:t>
            </a:r>
            <a:endParaRPr/>
          </a:p>
        </p:txBody>
      </p:sp>
      <p:sp>
        <p:nvSpPr>
          <p:cNvPr id="250" name="Google Shape;250;p36"/>
          <p:cNvSpPr/>
          <p:nvPr/>
        </p:nvSpPr>
        <p:spPr>
          <a:xfrm>
            <a:off x="373761" y="689229"/>
            <a:ext cx="8388668" cy="3996214"/>
          </a:xfrm>
          <a:custGeom>
            <a:rect b="b" l="l" r="r" t="t"/>
            <a:pathLst>
              <a:path extrusionOk="0" h="5328285" w="11184890">
                <a:moveTo>
                  <a:pt x="11107293" y="0"/>
                </a:moveTo>
                <a:lnTo>
                  <a:pt x="77368" y="0"/>
                </a:lnTo>
                <a:lnTo>
                  <a:pt x="47250" y="6084"/>
                </a:lnTo>
                <a:lnTo>
                  <a:pt x="22658" y="22669"/>
                </a:lnTo>
                <a:lnTo>
                  <a:pt x="6079" y="47255"/>
                </a:lnTo>
                <a:lnTo>
                  <a:pt x="0" y="77342"/>
                </a:lnTo>
                <a:lnTo>
                  <a:pt x="0" y="5250535"/>
                </a:lnTo>
                <a:lnTo>
                  <a:pt x="6079" y="5280653"/>
                </a:lnTo>
                <a:lnTo>
                  <a:pt x="22658" y="5305245"/>
                </a:lnTo>
                <a:lnTo>
                  <a:pt x="47250" y="5321824"/>
                </a:lnTo>
                <a:lnTo>
                  <a:pt x="77368" y="5327904"/>
                </a:lnTo>
                <a:lnTo>
                  <a:pt x="11107293" y="5327904"/>
                </a:lnTo>
                <a:lnTo>
                  <a:pt x="11137380" y="5321824"/>
                </a:lnTo>
                <a:lnTo>
                  <a:pt x="11161966" y="5305245"/>
                </a:lnTo>
                <a:lnTo>
                  <a:pt x="11178551" y="5280653"/>
                </a:lnTo>
                <a:lnTo>
                  <a:pt x="11184636" y="5250535"/>
                </a:lnTo>
                <a:lnTo>
                  <a:pt x="11184636" y="77342"/>
                </a:lnTo>
                <a:lnTo>
                  <a:pt x="11178551" y="47255"/>
                </a:lnTo>
                <a:lnTo>
                  <a:pt x="11161966" y="22669"/>
                </a:lnTo>
                <a:lnTo>
                  <a:pt x="11137380" y="6084"/>
                </a:lnTo>
                <a:lnTo>
                  <a:pt x="11107293" y="0"/>
                </a:lnTo>
                <a:close/>
              </a:path>
            </a:pathLst>
          </a:custGeom>
          <a:solidFill>
            <a:srgbClr val="DE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51" name="Google Shape;251;p36"/>
          <p:cNvSpPr txBox="1"/>
          <p:nvPr/>
        </p:nvSpPr>
        <p:spPr>
          <a:xfrm>
            <a:off x="373750" y="922025"/>
            <a:ext cx="81981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b="1" lang="en" sz="2100">
                <a:latin typeface="Montserrat"/>
                <a:ea typeface="Montserrat"/>
                <a:cs typeface="Montserrat"/>
                <a:sym typeface="Montserrat"/>
              </a:rPr>
              <a:t>American failure experience for not following SPM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900"/>
              <a:buFont typeface="Montserrat"/>
              <a:buChar char="✔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25% of development projects are abandoned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900"/>
              <a:buFont typeface="Noto Sans Symbols"/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Char char="✔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Probability of cancellation rises to 50% for largest developments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900"/>
              <a:buFont typeface="Noto Sans Symbols"/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Char char="✔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Average project overshoots schedule by 50%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900"/>
              <a:buFont typeface="Noto Sans Symbols"/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Char char="✔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75% of systems are regarded as ‘operating failures’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- U.S. Bureau of Labor Statistics, 1997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36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idx="4294967295" type="title"/>
          </p:nvPr>
        </p:nvSpPr>
        <p:spPr>
          <a:xfrm>
            <a:off x="181584" y="119633"/>
            <a:ext cx="8781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Why Software Project Management (SPM) ?</a:t>
            </a:r>
            <a:endParaRPr/>
          </a:p>
        </p:txBody>
      </p:sp>
      <p:sp>
        <p:nvSpPr>
          <p:cNvPr id="258" name="Google Shape;258;p37"/>
          <p:cNvSpPr/>
          <p:nvPr/>
        </p:nvSpPr>
        <p:spPr>
          <a:xfrm>
            <a:off x="373761" y="689229"/>
            <a:ext cx="8388668" cy="3996214"/>
          </a:xfrm>
          <a:custGeom>
            <a:rect b="b" l="l" r="r" t="t"/>
            <a:pathLst>
              <a:path extrusionOk="0" h="5328285" w="11184890">
                <a:moveTo>
                  <a:pt x="11107293" y="0"/>
                </a:moveTo>
                <a:lnTo>
                  <a:pt x="77368" y="0"/>
                </a:lnTo>
                <a:lnTo>
                  <a:pt x="47250" y="6084"/>
                </a:lnTo>
                <a:lnTo>
                  <a:pt x="22658" y="22669"/>
                </a:lnTo>
                <a:lnTo>
                  <a:pt x="6079" y="47255"/>
                </a:lnTo>
                <a:lnTo>
                  <a:pt x="0" y="77342"/>
                </a:lnTo>
                <a:lnTo>
                  <a:pt x="0" y="5250535"/>
                </a:lnTo>
                <a:lnTo>
                  <a:pt x="6079" y="5280653"/>
                </a:lnTo>
                <a:lnTo>
                  <a:pt x="22658" y="5305245"/>
                </a:lnTo>
                <a:lnTo>
                  <a:pt x="47250" y="5321824"/>
                </a:lnTo>
                <a:lnTo>
                  <a:pt x="77368" y="5327904"/>
                </a:lnTo>
                <a:lnTo>
                  <a:pt x="11107293" y="5327904"/>
                </a:lnTo>
                <a:lnTo>
                  <a:pt x="11137380" y="5321824"/>
                </a:lnTo>
                <a:lnTo>
                  <a:pt x="11161966" y="5305245"/>
                </a:lnTo>
                <a:lnTo>
                  <a:pt x="11178551" y="5280653"/>
                </a:lnTo>
                <a:lnTo>
                  <a:pt x="11184636" y="5250535"/>
                </a:lnTo>
                <a:lnTo>
                  <a:pt x="11184636" y="77342"/>
                </a:lnTo>
                <a:lnTo>
                  <a:pt x="11178551" y="47255"/>
                </a:lnTo>
                <a:lnTo>
                  <a:pt x="11161966" y="22669"/>
                </a:lnTo>
                <a:lnTo>
                  <a:pt x="11137380" y="6084"/>
                </a:lnTo>
                <a:lnTo>
                  <a:pt x="11107293" y="0"/>
                </a:lnTo>
                <a:close/>
              </a:path>
            </a:pathLst>
          </a:custGeom>
          <a:solidFill>
            <a:srgbClr val="DE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59" name="Google Shape;259;p37"/>
          <p:cNvSpPr txBox="1"/>
          <p:nvPr/>
        </p:nvSpPr>
        <p:spPr>
          <a:xfrm>
            <a:off x="735254" y="978979"/>
            <a:ext cx="7593300" cy="3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260350" lvl="0" marL="266700" marR="838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Char char="✔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Maintenance is the most expensive phase and coding is the least expensive phase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900"/>
              <a:buFont typeface="Noto Sans Symbols"/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0" marL="266700" marR="279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Char char="✔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The earlier the detection of faults, the less expensive the correction of faults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900"/>
              <a:buFont typeface="Noto Sans Symbols"/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good slogan:</a:t>
            </a:r>
            <a:endParaRPr sz="1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Montserrat"/>
              <a:buChar char="✔"/>
            </a:pPr>
            <a:r>
              <a:rPr lang="en" sz="1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You may not be able to avoid making mistakes … But you must find them before they cost too much!</a:t>
            </a:r>
            <a:endParaRPr sz="1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3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>
            <p:ph idx="4294967295" type="title"/>
          </p:nvPr>
        </p:nvSpPr>
        <p:spPr>
          <a:xfrm>
            <a:off x="181584" y="119633"/>
            <a:ext cx="8781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PMI Phases</a:t>
            </a:r>
            <a:endParaRPr/>
          </a:p>
        </p:txBody>
      </p:sp>
      <p:sp>
        <p:nvSpPr>
          <p:cNvPr id="271" name="Google Shape;271;p39"/>
          <p:cNvSpPr/>
          <p:nvPr/>
        </p:nvSpPr>
        <p:spPr>
          <a:xfrm>
            <a:off x="377666" y="544750"/>
            <a:ext cx="8388668" cy="3996214"/>
          </a:xfrm>
          <a:custGeom>
            <a:rect b="b" l="l" r="r" t="t"/>
            <a:pathLst>
              <a:path extrusionOk="0" h="5328285" w="11184890">
                <a:moveTo>
                  <a:pt x="11107293" y="0"/>
                </a:moveTo>
                <a:lnTo>
                  <a:pt x="77368" y="0"/>
                </a:lnTo>
                <a:lnTo>
                  <a:pt x="47250" y="6084"/>
                </a:lnTo>
                <a:lnTo>
                  <a:pt x="22658" y="22669"/>
                </a:lnTo>
                <a:lnTo>
                  <a:pt x="6079" y="47255"/>
                </a:lnTo>
                <a:lnTo>
                  <a:pt x="0" y="77342"/>
                </a:lnTo>
                <a:lnTo>
                  <a:pt x="0" y="5250535"/>
                </a:lnTo>
                <a:lnTo>
                  <a:pt x="6079" y="5280653"/>
                </a:lnTo>
                <a:lnTo>
                  <a:pt x="22658" y="5305245"/>
                </a:lnTo>
                <a:lnTo>
                  <a:pt x="47250" y="5321824"/>
                </a:lnTo>
                <a:lnTo>
                  <a:pt x="77368" y="5327904"/>
                </a:lnTo>
                <a:lnTo>
                  <a:pt x="11107293" y="5327904"/>
                </a:lnTo>
                <a:lnTo>
                  <a:pt x="11137380" y="5321824"/>
                </a:lnTo>
                <a:lnTo>
                  <a:pt x="11161966" y="5305245"/>
                </a:lnTo>
                <a:lnTo>
                  <a:pt x="11178551" y="5280653"/>
                </a:lnTo>
                <a:lnTo>
                  <a:pt x="11184636" y="5250535"/>
                </a:lnTo>
                <a:lnTo>
                  <a:pt x="11184636" y="77342"/>
                </a:lnTo>
                <a:lnTo>
                  <a:pt x="11178551" y="47255"/>
                </a:lnTo>
                <a:lnTo>
                  <a:pt x="11161966" y="22669"/>
                </a:lnTo>
                <a:lnTo>
                  <a:pt x="11137380" y="6084"/>
                </a:lnTo>
                <a:lnTo>
                  <a:pt x="11107293" y="0"/>
                </a:lnTo>
                <a:close/>
              </a:path>
            </a:pathLst>
          </a:custGeom>
          <a:solidFill>
            <a:srgbClr val="DEEB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2" name="Google Shape;272;p39"/>
          <p:cNvSpPr txBox="1"/>
          <p:nvPr/>
        </p:nvSpPr>
        <p:spPr>
          <a:xfrm>
            <a:off x="685800" y="631650"/>
            <a:ext cx="7886100" cy="23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Project Management Institute (PMI) defines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76E7"/>
                </a:solidFill>
                <a:latin typeface="Montserrat"/>
                <a:ea typeface="Montserrat"/>
                <a:cs typeface="Montserrat"/>
                <a:sym typeface="Montserrat"/>
              </a:rPr>
              <a:t>5 phases of a Project</a:t>
            </a: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AutoNum type="arabicPeriod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Conception and initiation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AutoNum type="arabicPeriod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Planning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AutoNum type="arabicPeriod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Execution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AutoNum type="arabicPeriod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Performance Monitoring/controlling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AutoNum type="arabicPeriod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Project Closing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39"/>
          <p:cNvSpPr/>
          <p:nvPr/>
        </p:nvSpPr>
        <p:spPr>
          <a:xfrm>
            <a:off x="1200150" y="3023230"/>
            <a:ext cx="6418333" cy="1471209"/>
          </a:xfrm>
          <a:custGeom>
            <a:rect b="b" l="l" r="r" t="t"/>
            <a:pathLst>
              <a:path extrusionOk="0" h="2569798" w="11941084">
                <a:moveTo>
                  <a:pt x="0" y="0"/>
                </a:moveTo>
                <a:lnTo>
                  <a:pt x="11941083" y="0"/>
                </a:lnTo>
                <a:lnTo>
                  <a:pt x="11941083" y="2569797"/>
                </a:lnTo>
                <a:lnTo>
                  <a:pt x="0" y="2569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352" l="0" r="0" t="-37352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4" name="Google Shape;274;p3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0"/>
          <p:cNvSpPr/>
          <p:nvPr/>
        </p:nvSpPr>
        <p:spPr>
          <a:xfrm>
            <a:off x="400050" y="171450"/>
            <a:ext cx="7851263" cy="1599699"/>
          </a:xfrm>
          <a:custGeom>
            <a:rect b="b" l="l" r="r" t="t"/>
            <a:pathLst>
              <a:path extrusionOk="0" h="2569798" w="11941084">
                <a:moveTo>
                  <a:pt x="0" y="0"/>
                </a:moveTo>
                <a:lnTo>
                  <a:pt x="11941083" y="0"/>
                </a:lnTo>
                <a:lnTo>
                  <a:pt x="11941083" y="2569797"/>
                </a:lnTo>
                <a:lnTo>
                  <a:pt x="0" y="2569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352" l="0" r="0" t="-37352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80" name="Google Shape;280;p40"/>
          <p:cNvSpPr/>
          <p:nvPr/>
        </p:nvSpPr>
        <p:spPr>
          <a:xfrm>
            <a:off x="464125" y="2017125"/>
            <a:ext cx="7723136" cy="2899663"/>
          </a:xfrm>
          <a:custGeom>
            <a:rect b="b" l="l" r="r" t="t"/>
            <a:pathLst>
              <a:path extrusionOk="0" h="4013375" w="11746214">
                <a:moveTo>
                  <a:pt x="0" y="0"/>
                </a:moveTo>
                <a:lnTo>
                  <a:pt x="11746213" y="0"/>
                </a:lnTo>
                <a:lnTo>
                  <a:pt x="11746213" y="4013375"/>
                </a:lnTo>
                <a:lnTo>
                  <a:pt x="0" y="40133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721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81" name="Google Shape;281;p40"/>
          <p:cNvSpPr/>
          <p:nvPr/>
        </p:nvSpPr>
        <p:spPr>
          <a:xfrm>
            <a:off x="3714750" y="57150"/>
            <a:ext cx="3029100" cy="1828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282" name="Google Shape;282;p4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/>
        </p:nvSpPr>
        <p:spPr>
          <a:xfrm>
            <a:off x="385763" y="114300"/>
            <a:ext cx="8372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Initiation / Concept Phase</a:t>
            </a:r>
            <a:endParaRPr b="1" i="0" sz="27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8" name="Google Shape;288;p41"/>
          <p:cNvSpPr txBox="1"/>
          <p:nvPr/>
        </p:nvSpPr>
        <p:spPr>
          <a:xfrm>
            <a:off x="114300" y="791400"/>
            <a:ext cx="7726500" cy="3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▪"/>
            </a:pPr>
            <a:r>
              <a:rPr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is the </a:t>
            </a:r>
            <a:r>
              <a:rPr i="0" lang="en" sz="16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start of the project </a:t>
            </a:r>
            <a:r>
              <a:rPr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 the project manager, who is responsible for defining the project at a high level.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254000" marR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▪"/>
            </a:pPr>
            <a:r>
              <a:rPr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usually begins with a </a:t>
            </a:r>
            <a:r>
              <a:rPr i="0" lang="en" sz="16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business case</a:t>
            </a:r>
            <a:r>
              <a:rPr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i="0" lang="en" sz="16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feasibility study</a:t>
            </a:r>
            <a:r>
              <a:rPr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i="0" lang="en" sz="16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cost-benefit analysis </a:t>
            </a:r>
            <a:r>
              <a:rPr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other types of research to determine whether the project is feasible and should or shouldn’t be undertaken.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254000" marR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Montserrat"/>
              <a:buChar char="▪"/>
            </a:pPr>
            <a:r>
              <a:rPr i="0" lang="en" sz="16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Stakeholders</a:t>
            </a:r>
            <a:r>
              <a:rPr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provide </a:t>
            </a:r>
            <a:r>
              <a:rPr i="0" lang="en" sz="16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input</a:t>
            </a:r>
            <a:r>
              <a:rPr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254000" marR="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▪"/>
            </a:pPr>
            <a:r>
              <a:rPr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If the project is approved, then a </a:t>
            </a:r>
            <a:r>
              <a:rPr b="1"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charter</a:t>
            </a:r>
            <a:r>
              <a:rPr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is created, which provides an overview of the project and sets up the stage for your project plan.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A black and white rocket&#10;&#10;Description automatically generated" id="289" name="Google Shape;289;p41"/>
          <p:cNvPicPr preferRelativeResize="0"/>
          <p:nvPr/>
        </p:nvPicPr>
        <p:blipFill rotWithShape="1">
          <a:blip r:embed="rId3">
            <a:alphaModFix/>
          </a:blip>
          <a:srcRect b="11465" l="29425" r="27625" t="0"/>
          <a:stretch/>
        </p:blipFill>
        <p:spPr>
          <a:xfrm>
            <a:off x="7840775" y="1326475"/>
            <a:ext cx="91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/>
          <p:nvPr/>
        </p:nvSpPr>
        <p:spPr>
          <a:xfrm>
            <a:off x="114300" y="171450"/>
            <a:ext cx="8915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Initiation / Concept Phase </a:t>
            </a:r>
            <a:r>
              <a:rPr b="1" i="0" lang="en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…… contd</a:t>
            </a:r>
            <a:endParaRPr b="1"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6" name="Google Shape;296;p42"/>
          <p:cNvSpPr txBox="1"/>
          <p:nvPr/>
        </p:nvSpPr>
        <p:spPr>
          <a:xfrm>
            <a:off x="114300" y="857250"/>
            <a:ext cx="8457600" cy="3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556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C33"/>
              </a:buClr>
              <a:buSzPts val="1600"/>
              <a:buFont typeface="Noto Sans Symbols"/>
              <a:buChar char="▪"/>
            </a:pPr>
            <a:r>
              <a:rPr b="1" i="0" lang="en" sz="16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Undertaking a </a:t>
            </a:r>
            <a:r>
              <a:rPr b="1" i="0" lang="en" sz="1600" u="none" strike="noStrike">
                <a:latin typeface="Montserrat"/>
                <a:ea typeface="Montserrat"/>
                <a:cs typeface="Montserrat"/>
                <a:sym typeface="Montserrat"/>
              </a:rPr>
              <a:t>feasibility study</a:t>
            </a:r>
            <a:r>
              <a:rPr b="1" i="0" lang="en" sz="1600">
                <a:latin typeface="Montserrat"/>
                <a:ea typeface="Montserrat"/>
                <a:cs typeface="Montserrat"/>
                <a:sym typeface="Montserrat"/>
              </a:rPr>
              <a:t>: </a:t>
            </a:r>
            <a:r>
              <a:rPr i="0" lang="en" sz="16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Identify the primary problem your project will solve and whether your project will deliver a solution to that problem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3429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b="1" i="0" lang="en" sz="1600" u="none" strike="noStrike">
                <a:latin typeface="Montserrat"/>
                <a:ea typeface="Montserrat"/>
                <a:cs typeface="Montserrat"/>
                <a:sym typeface="Montserrat"/>
              </a:rPr>
              <a:t>Identifying scope</a:t>
            </a:r>
            <a:r>
              <a:rPr b="1" i="0" lang="en" sz="1600"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i="0" lang="en" sz="16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Define the depth and breadth of the project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3429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82C33"/>
              </a:buClr>
              <a:buSzPts val="1600"/>
              <a:buFont typeface="Noto Sans Symbols"/>
              <a:buChar char="▪"/>
            </a:pPr>
            <a:r>
              <a:rPr b="1" i="0" lang="en" sz="16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Identifying deliverables: </a:t>
            </a:r>
            <a:r>
              <a:rPr i="0" lang="en" sz="16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Define the product or service to provide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3429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b="1" i="0" lang="en" sz="1600" u="none" strike="noStrike">
                <a:latin typeface="Montserrat"/>
                <a:ea typeface="Montserrat"/>
                <a:cs typeface="Montserrat"/>
                <a:sym typeface="Montserrat"/>
              </a:rPr>
              <a:t>Identifying project stakeholders</a:t>
            </a:r>
            <a:r>
              <a:rPr b="1" i="0" lang="en" sz="1600">
                <a:latin typeface="Montserrat"/>
                <a:ea typeface="Montserrat"/>
                <a:cs typeface="Montserrat"/>
                <a:sym typeface="Montserrat"/>
              </a:rPr>
              <a:t>: </a:t>
            </a:r>
            <a:r>
              <a:rPr i="0" lang="en" sz="16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Figure out whom the project affects and what their needs may be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3429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82C33"/>
              </a:buClr>
              <a:buSzPts val="1600"/>
              <a:buFont typeface="Noto Sans Symbols"/>
              <a:buChar char="▪"/>
            </a:pPr>
            <a:r>
              <a:rPr b="1" i="0" lang="en" sz="16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Developing a business case: </a:t>
            </a:r>
            <a:r>
              <a:rPr i="0" lang="en" sz="16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Use the above criteria to compare the potential costs and benefits for the project to determine if it moves forward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3429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b="1" i="0" lang="en" sz="1600">
                <a:latin typeface="Montserrat"/>
                <a:ea typeface="Montserrat"/>
                <a:cs typeface="Montserrat"/>
                <a:sym typeface="Montserrat"/>
              </a:rPr>
              <a:t>Developing a </a:t>
            </a:r>
            <a:r>
              <a:rPr b="1" i="0" lang="en" sz="1600" u="none" strike="noStrike">
                <a:latin typeface="Montserrat"/>
                <a:ea typeface="Montserrat"/>
                <a:cs typeface="Montserrat"/>
                <a:sym typeface="Montserrat"/>
              </a:rPr>
              <a:t>statement of work</a:t>
            </a:r>
            <a:r>
              <a:rPr b="1" i="0" lang="en" sz="1600">
                <a:latin typeface="Montserrat"/>
                <a:ea typeface="Montserrat"/>
                <a:cs typeface="Montserrat"/>
                <a:sym typeface="Montserrat"/>
              </a:rPr>
              <a:t>: </a:t>
            </a:r>
            <a:r>
              <a:rPr i="0" lang="en" sz="16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Document the project’s objectives, scope, and deliverables that you have identified previously as a working agreement between the project owner and those working on the project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4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/>
        </p:nvSpPr>
        <p:spPr>
          <a:xfrm>
            <a:off x="171450" y="171450"/>
            <a:ext cx="8343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Planning Phase</a:t>
            </a:r>
            <a:endParaRPr b="1" i="0" sz="27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A diagram of a schedule&#10;&#10;Description automatically generated with medium confidence" id="303" name="Google Shape;303;p43"/>
          <p:cNvPicPr preferRelativeResize="0"/>
          <p:nvPr/>
        </p:nvPicPr>
        <p:blipFill rotWithShape="1">
          <a:blip r:embed="rId3">
            <a:alphaModFix/>
          </a:blip>
          <a:srcRect b="17825" l="13508" r="12479" t="16572"/>
          <a:stretch/>
        </p:blipFill>
        <p:spPr>
          <a:xfrm>
            <a:off x="6647450" y="1559437"/>
            <a:ext cx="2060424" cy="208447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3"/>
          <p:cNvSpPr txBox="1"/>
          <p:nvPr/>
        </p:nvSpPr>
        <p:spPr>
          <a:xfrm>
            <a:off x="185738" y="893778"/>
            <a:ext cx="6229500" cy="3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Char char="▪"/>
            </a:pPr>
            <a:r>
              <a:rPr i="0" lang="en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During this phase of the project management life cycle, larger </a:t>
            </a: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project is broken down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into smaller tasks.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2540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Montserrat"/>
              <a:buChar char="▪"/>
            </a:pP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Build teams </a:t>
            </a:r>
            <a:r>
              <a:rPr i="0" lang="en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accordingly for the tasks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2540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Char char="▪"/>
            </a:pPr>
            <a:r>
              <a:rPr i="0" lang="en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Prepare a </a:t>
            </a: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schedule</a:t>
            </a:r>
            <a:r>
              <a:rPr i="0" lang="en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the completion of assignments. 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54000" lvl="0" marL="2540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Char char="▪"/>
            </a:pPr>
            <a:r>
              <a:rPr i="0" lang="en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Create </a:t>
            </a: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smaller goals </a:t>
            </a:r>
            <a:r>
              <a:rPr i="0" lang="en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within the larger project, making sure each is </a:t>
            </a: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achievable</a:t>
            </a:r>
            <a:r>
              <a:rPr i="0" lang="en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within the time frame.</a:t>
            </a:r>
            <a:r>
              <a:rPr i="0" lang="en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Smaller goals should have a high potential for success.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43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"/>
          <p:cNvSpPr txBox="1"/>
          <p:nvPr/>
        </p:nvSpPr>
        <p:spPr>
          <a:xfrm>
            <a:off x="114300" y="114300"/>
            <a:ext cx="8972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Planning Phase</a:t>
            </a:r>
            <a:endParaRPr b="1"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11" name="Google Shape;311;p44"/>
          <p:cNvSpPr txBox="1"/>
          <p:nvPr/>
        </p:nvSpPr>
        <p:spPr>
          <a:xfrm>
            <a:off x="157175" y="610603"/>
            <a:ext cx="84756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6195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b="1"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Creating a </a:t>
            </a:r>
            <a:r>
              <a:rPr b="1" i="0" lang="en" sz="1500" u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project plan</a:t>
            </a:r>
            <a:r>
              <a:rPr b="1"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1" marL="685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○"/>
            </a:pPr>
            <a:r>
              <a:rPr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Identify the project timeline, including the phases of the project, the tasks to be performed, and possible constraints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b="1"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Creati</a:t>
            </a: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ng </a:t>
            </a:r>
            <a:r>
              <a:rPr b="1"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r>
              <a:rPr b="1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diagrams</a:t>
            </a:r>
            <a:r>
              <a:rPr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 </a:t>
            </a:r>
            <a:endParaRPr i="0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1" marL="685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○"/>
            </a:pPr>
            <a:r>
              <a:rPr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Visualize your processes using </a:t>
            </a:r>
            <a:r>
              <a:rPr i="0" lang="en" sz="1500" u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swimlanes</a:t>
            </a:r>
            <a:r>
              <a:rPr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 to make sure team members clearly understand their role in a project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b="1" i="0" lang="en" sz="1500" u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Estimating budget</a:t>
            </a:r>
            <a:r>
              <a:rPr b="1"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 and creating a financial plan:</a:t>
            </a:r>
            <a:endParaRPr b="1" i="0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1" marL="685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○"/>
            </a:pPr>
            <a:r>
              <a:rPr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Use cost estimates to determine how much to spend on the project to get the maximum return on investment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b="1"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Gathering resources: </a:t>
            </a:r>
            <a:endParaRPr b="1" i="0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1" marL="685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○"/>
            </a:pPr>
            <a:r>
              <a:rPr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Build your functional team from internal and external talent pools while making sure everyone has the necessary tools (software, hardware, etc.) to complete their tasks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b="1" i="0" lang="en" sz="1500" u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Anticipating risks</a:t>
            </a:r>
            <a:r>
              <a:rPr b="1"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 and potential quality roadblocks: </a:t>
            </a:r>
            <a:endParaRPr b="1" i="0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1" marL="685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○"/>
            </a:pPr>
            <a:r>
              <a:rPr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Identify issues that may cause your project to stall while planning to mitigate those risks and maintain the project’s quality and timeline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b="1"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Holding a </a:t>
            </a:r>
            <a:r>
              <a:rPr b="1" i="0" lang="en" sz="1500" u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project kickoff meeting</a:t>
            </a:r>
            <a:r>
              <a:rPr b="1"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 b="1" i="0"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1" marL="685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○"/>
            </a:pPr>
            <a:r>
              <a:rPr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Bring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your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on board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outline the project so</a:t>
            </a: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they can quickly get to work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4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"/>
          <p:cNvSpPr txBox="1"/>
          <p:nvPr/>
        </p:nvSpPr>
        <p:spPr>
          <a:xfrm>
            <a:off x="200025" y="114300"/>
            <a:ext cx="87441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Execution Phase</a:t>
            </a:r>
            <a:endParaRPr sz="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Mix Icon for Executing, Management and Trade Stock Illustration -  Illustration of executing, icon: 159666149" id="318" name="Google Shape;318;p45"/>
          <p:cNvPicPr preferRelativeResize="0"/>
          <p:nvPr/>
        </p:nvPicPr>
        <p:blipFill rotWithShape="1">
          <a:blip r:embed="rId3">
            <a:alphaModFix/>
          </a:blip>
          <a:srcRect b="19184" l="12685" r="12030" t="13385"/>
          <a:stretch/>
        </p:blipFill>
        <p:spPr>
          <a:xfrm>
            <a:off x="6629400" y="1428750"/>
            <a:ext cx="2388404" cy="213932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5"/>
          <p:cNvSpPr txBox="1"/>
          <p:nvPr/>
        </p:nvSpPr>
        <p:spPr>
          <a:xfrm>
            <a:off x="111172" y="887350"/>
            <a:ext cx="6165000" cy="3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334328" lvl="0" marL="4318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▪"/>
            </a:pP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The execution phase turns your </a:t>
            </a: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plan into action</a:t>
            </a: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334328" lvl="0" marL="431800" marR="0" rtl="0" algn="just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SzPct val="100000"/>
              <a:buFont typeface="Montserrat"/>
              <a:buChar char="▪"/>
            </a:pP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The project manager’s job in this phase of the project management life cycle is to keep </a:t>
            </a:r>
            <a:endParaRPr i="0" sz="1800" u="none" cap="none" strike="noStrike">
              <a:latin typeface="Montserrat"/>
              <a:ea typeface="Montserrat"/>
              <a:cs typeface="Montserrat"/>
              <a:sym typeface="Montserrat"/>
            </a:endParaRPr>
          </a:p>
          <a:p>
            <a:pPr indent="-270828" lvl="1" marL="685800" marR="0" rtl="0" algn="just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SzPct val="100000"/>
              <a:buFont typeface="Montserrat"/>
              <a:buChar char="○"/>
            </a:pP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work on track</a:t>
            </a: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i="0" sz="1800" u="none" cap="none" strike="noStrike">
              <a:latin typeface="Montserrat"/>
              <a:ea typeface="Montserrat"/>
              <a:cs typeface="Montserrat"/>
              <a:sym typeface="Montserrat"/>
            </a:endParaRPr>
          </a:p>
          <a:p>
            <a:pPr indent="-270828" lvl="1" marL="685800" marR="0" rtl="0" algn="just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SzPct val="100000"/>
              <a:buFont typeface="Montserrat"/>
              <a:buChar char="○"/>
            </a:pP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organize team members</a:t>
            </a:r>
            <a:endParaRPr i="0" sz="1800" u="none" cap="none" strike="noStrike">
              <a:latin typeface="Montserrat"/>
              <a:ea typeface="Montserrat"/>
              <a:cs typeface="Montserrat"/>
              <a:sym typeface="Montserrat"/>
            </a:endParaRPr>
          </a:p>
          <a:p>
            <a:pPr indent="-270828" lvl="1" marL="685800" marR="0" rtl="0" algn="just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SzPct val="100000"/>
              <a:buFont typeface="Montserrat"/>
              <a:buChar char="○"/>
            </a:pP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manage timelines</a:t>
            </a: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i="0" sz="1800" u="none" cap="none" strike="noStrike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and make sure the work is done according to the original plan.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6"/>
          <p:cNvSpPr txBox="1"/>
          <p:nvPr/>
        </p:nvSpPr>
        <p:spPr>
          <a:xfrm>
            <a:off x="114300" y="114300"/>
            <a:ext cx="8972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Execution Phase</a:t>
            </a:r>
            <a:endParaRPr b="1"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6" name="Google Shape;326;p46"/>
          <p:cNvSpPr txBox="1"/>
          <p:nvPr/>
        </p:nvSpPr>
        <p:spPr>
          <a:xfrm>
            <a:off x="200025" y="616886"/>
            <a:ext cx="8744100" cy="4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92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C33"/>
              </a:buClr>
              <a:buSzPts val="1700"/>
              <a:buFont typeface="Noto Sans Symbols"/>
              <a:buChar char="▪"/>
            </a:pPr>
            <a:r>
              <a:rPr b="1" i="0" lang="en" sz="17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Creating tasks and organizing workflows: </a:t>
            </a:r>
            <a:r>
              <a:rPr i="0" lang="en" sz="17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Assign granular aspects of the projects to the appropriate team members, making sure team members are not overworked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3429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82C33"/>
              </a:buClr>
              <a:buSzPts val="1700"/>
              <a:buFont typeface="Noto Sans Symbols"/>
              <a:buChar char="▪"/>
            </a:pPr>
            <a:r>
              <a:rPr b="1" i="0" lang="en" sz="17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Briefing team members on tasks: </a:t>
            </a:r>
            <a:r>
              <a:rPr i="0" lang="en" sz="17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Explain tasks to team members, providing necessary guidance on how they should be completed, and organizing process-related training if necessary</a:t>
            </a:r>
            <a:endParaRPr b="1" i="0" sz="1700">
              <a:solidFill>
                <a:srgbClr val="282C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3429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82C33"/>
              </a:buClr>
              <a:buSzPts val="1700"/>
              <a:buFont typeface="Noto Sans Symbols"/>
              <a:buChar char="▪"/>
            </a:pPr>
            <a:r>
              <a:rPr b="1" i="0" lang="en" sz="17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Communicating with team members, clients, and upper management: </a:t>
            </a:r>
            <a:r>
              <a:rPr i="0" lang="en" sz="17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Provide updates to</a:t>
            </a:r>
            <a:r>
              <a:rPr i="0" lang="en" sz="1700">
                <a:latin typeface="Montserrat"/>
                <a:ea typeface="Montserrat"/>
                <a:cs typeface="Montserrat"/>
                <a:sym typeface="Montserrat"/>
              </a:rPr>
              <a:t> </a:t>
            </a:r>
            <a:r>
              <a:rPr i="0" lang="en" sz="1700" u="none" strike="noStrike">
                <a:latin typeface="Montserrat"/>
                <a:ea typeface="Montserrat"/>
                <a:cs typeface="Montserrat"/>
                <a:sym typeface="Montserrat"/>
              </a:rPr>
              <a:t>project stakeholders</a:t>
            </a:r>
            <a:r>
              <a:rPr i="0" lang="en" sz="1700">
                <a:latin typeface="Montserrat"/>
                <a:ea typeface="Montserrat"/>
                <a:cs typeface="Montserrat"/>
                <a:sym typeface="Montserrat"/>
              </a:rPr>
              <a:t> </a:t>
            </a:r>
            <a:r>
              <a:rPr i="0" lang="en" sz="17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at all levels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3429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82C33"/>
              </a:buClr>
              <a:buSzPts val="1700"/>
              <a:buFont typeface="Noto Sans Symbols"/>
              <a:buChar char="▪"/>
            </a:pPr>
            <a:r>
              <a:rPr b="1" i="0" lang="en" sz="17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Monitoring quality of work: </a:t>
            </a:r>
            <a:r>
              <a:rPr i="0" lang="en" sz="17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Ensure that team members are meeting their time and quality goals for tasks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3429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82C33"/>
              </a:buClr>
              <a:buSzPts val="1700"/>
              <a:buFont typeface="Noto Sans Symbols"/>
              <a:buChar char="▪"/>
            </a:pPr>
            <a:r>
              <a:rPr b="1" i="0" lang="en" sz="17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Managing budget: </a:t>
            </a:r>
            <a:r>
              <a:rPr i="0" lang="en" sz="1700">
                <a:solidFill>
                  <a:srgbClr val="282C33"/>
                </a:solidFill>
                <a:latin typeface="Montserrat"/>
                <a:ea typeface="Montserrat"/>
                <a:cs typeface="Montserrat"/>
                <a:sym typeface="Montserrat"/>
              </a:rPr>
              <a:t>Monitor spending and keeping the project on track in terms of assets and resources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46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7"/>
          <p:cNvSpPr txBox="1"/>
          <p:nvPr/>
        </p:nvSpPr>
        <p:spPr>
          <a:xfrm>
            <a:off x="200025" y="114300"/>
            <a:ext cx="8744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Monitoring &amp; Control Phase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Monitoring and controlling phase concept icon Vector Image" id="333" name="Google Shape;333;p47"/>
          <p:cNvPicPr preferRelativeResize="0"/>
          <p:nvPr/>
        </p:nvPicPr>
        <p:blipFill rotWithShape="1">
          <a:blip r:embed="rId3">
            <a:alphaModFix/>
          </a:blip>
          <a:srcRect b="22816" l="12722" r="12265" t="11940"/>
          <a:stretch/>
        </p:blipFill>
        <p:spPr>
          <a:xfrm>
            <a:off x="6814775" y="2714625"/>
            <a:ext cx="2129348" cy="200025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7"/>
          <p:cNvSpPr txBox="1"/>
          <p:nvPr/>
        </p:nvSpPr>
        <p:spPr>
          <a:xfrm>
            <a:off x="200025" y="661750"/>
            <a:ext cx="80568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66700" lvl="0" marL="254000" marR="0" rtl="0" algn="just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▪"/>
            </a:pPr>
            <a:r>
              <a:rPr i="0" lang="en" sz="1800">
                <a:latin typeface="Montserrat"/>
                <a:ea typeface="Montserrat"/>
                <a:cs typeface="Montserrat"/>
                <a:sym typeface="Montserrat"/>
              </a:rPr>
              <a:t>This stage usually runs </a:t>
            </a:r>
            <a:r>
              <a:rPr i="0" lang="en" sz="1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concurrently with Execution </a:t>
            </a:r>
            <a:r>
              <a:rPr i="0" lang="en" sz="1800">
                <a:latin typeface="Montserrat"/>
                <a:ea typeface="Montserrat"/>
                <a:cs typeface="Montserrat"/>
                <a:sym typeface="Montserrat"/>
              </a:rPr>
              <a:t>stage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66700" lvl="0" marL="254000" marR="0" rtl="0" algn="just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▪"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Works with teams to resolve any issues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66700" lvl="0" marL="254000" marR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Montserrat"/>
              <a:buChar char="▪"/>
            </a:pP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Monitor</a:t>
            </a: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 problems against 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the original plan and take corrective actions when necessary’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66700" lvl="0" marL="254000" marR="0" rtl="0" algn="just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▪"/>
            </a:pP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Monitor progress against</a:t>
            </a: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 key performance indicators (KPI) or critical success factors (CSF)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>
                <a:latin typeface="Montserrat"/>
                <a:ea typeface="Montserrat"/>
                <a:cs typeface="Montserrat"/>
                <a:sym typeface="Montserrat"/>
              </a:rPr>
              <a:t>Questions to ask </a:t>
            </a:r>
            <a:r>
              <a:rPr i="0" lang="en" sz="1800">
                <a:latin typeface="Montserrat"/>
                <a:ea typeface="Montserrat"/>
                <a:cs typeface="Montserrat"/>
                <a:sym typeface="Montserrat"/>
              </a:rPr>
              <a:t>during the performance and monitoring phase: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i="0" lang="en" sz="1800">
                <a:latin typeface="Montserrat"/>
                <a:ea typeface="Montserrat"/>
                <a:cs typeface="Montserrat"/>
                <a:sym typeface="Montserrat"/>
              </a:rPr>
              <a:t>How is the </a:t>
            </a:r>
            <a:r>
              <a:rPr i="0" lang="en" sz="1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quality</a:t>
            </a:r>
            <a:r>
              <a:rPr i="0" lang="en" sz="1800">
                <a:latin typeface="Montserrat"/>
                <a:ea typeface="Montserrat"/>
                <a:cs typeface="Montserrat"/>
                <a:sym typeface="Montserrat"/>
              </a:rPr>
              <a:t> of the project?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i="0" lang="en" sz="1800">
                <a:latin typeface="Montserrat"/>
                <a:ea typeface="Montserrat"/>
                <a:cs typeface="Montserrat"/>
                <a:sym typeface="Montserrat"/>
              </a:rPr>
              <a:t>Where are we in terms of </a:t>
            </a:r>
            <a:r>
              <a:rPr i="0" lang="en" sz="1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budget</a:t>
            </a:r>
            <a:r>
              <a:rPr i="0" lang="en" sz="1800"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i="0" lang="en" sz="1800">
                <a:latin typeface="Montserrat"/>
                <a:ea typeface="Montserrat"/>
                <a:cs typeface="Montserrat"/>
                <a:sym typeface="Montserrat"/>
              </a:rPr>
              <a:t>Are we on </a:t>
            </a:r>
            <a:r>
              <a:rPr i="0" lang="en" sz="1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schedule</a:t>
            </a:r>
            <a:r>
              <a:rPr i="0" lang="en" sz="1800">
                <a:latin typeface="Montserrat"/>
                <a:ea typeface="Montserrat"/>
                <a:cs typeface="Montserrat"/>
                <a:sym typeface="Montserrat"/>
              </a:rPr>
              <a:t>? 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i="0" lang="en" sz="1800">
                <a:latin typeface="Montserrat"/>
                <a:ea typeface="Montserrat"/>
                <a:cs typeface="Montserrat"/>
                <a:sym typeface="Montserrat"/>
              </a:rPr>
              <a:t>Are there any </a:t>
            </a:r>
            <a:r>
              <a:rPr i="0" lang="en" sz="1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roadblocks</a:t>
            </a:r>
            <a:r>
              <a:rPr i="0" lang="en" sz="1800"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i="0" lang="en" sz="1800">
                <a:latin typeface="Montserrat"/>
                <a:ea typeface="Montserrat"/>
                <a:cs typeface="Montserrat"/>
                <a:sym typeface="Montserrat"/>
              </a:rPr>
              <a:t>Are we still projected to meet the </a:t>
            </a:r>
            <a:r>
              <a:rPr i="0" lang="en" sz="1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deadline</a:t>
            </a:r>
            <a:r>
              <a:rPr i="0" lang="en" sz="1800"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4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8"/>
          <p:cNvSpPr txBox="1"/>
          <p:nvPr/>
        </p:nvSpPr>
        <p:spPr>
          <a:xfrm>
            <a:off x="114300" y="114300"/>
            <a:ext cx="8972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Arial"/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Monitoring &amp; Control Phase</a:t>
            </a:r>
            <a:endParaRPr b="1" i="0" sz="11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1" name="Google Shape;341;p48"/>
          <p:cNvSpPr txBox="1"/>
          <p:nvPr/>
        </p:nvSpPr>
        <p:spPr>
          <a:xfrm>
            <a:off x="228600" y="742950"/>
            <a:ext cx="8686800" cy="38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Key Steps for Project Monitoring And Controlling: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342900" rtl="0" algn="l"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b="1" i="0" lang="en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Cost &amp; time management</a:t>
            </a:r>
            <a:r>
              <a:rPr i="0" lang="en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Review timesheets and expenses to record, control, and track against the project’s budget, timeline, and tasks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342900" rtl="0" algn="l">
              <a:spcBef>
                <a:spcPts val="2300"/>
              </a:spcBef>
              <a:spcAft>
                <a:spcPts val="0"/>
              </a:spcAft>
              <a:buSzPts val="1500"/>
              <a:buFont typeface="Noto Sans Symbols"/>
              <a:buChar char="▪"/>
            </a:pPr>
            <a:r>
              <a:rPr b="1" i="0" lang="en" sz="1500">
                <a:latin typeface="Montserrat"/>
                <a:ea typeface="Montserrat"/>
                <a:cs typeface="Montserrat"/>
                <a:sym typeface="Montserrat"/>
              </a:rPr>
              <a:t>Quality management</a:t>
            </a:r>
            <a:r>
              <a:rPr i="0" lang="en" sz="1500"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i="0" lang="en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Reviewing project deliverables and ensuring they meet the defined acceptance criteria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342900" rtl="0" algn="l"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b="1" i="0" lang="en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Risk management</a:t>
            </a:r>
            <a:r>
              <a:rPr i="0" lang="en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Monitor, control, manage, and mitigate potential risks and issues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342900" rtl="0" algn="l"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b="1" i="0" lang="en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Acceptance management</a:t>
            </a:r>
            <a:r>
              <a:rPr i="0" lang="en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Conduct user acceptance testing and create a reviewing system, ensuring that all deliverables meet the needs of the client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342900" rtl="0" algn="l"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b="1" i="0" lang="en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Change management</a:t>
            </a:r>
            <a:r>
              <a:rPr i="0" lang="en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When the project doesn’t go to plan, managing the process of acceptable changes with the client to ensure they’re happy with necessary changes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4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 txBox="1"/>
          <p:nvPr/>
        </p:nvSpPr>
        <p:spPr>
          <a:xfrm>
            <a:off x="200025" y="114300"/>
            <a:ext cx="8744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Transfer Phase</a:t>
            </a:r>
            <a:endParaRPr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Closing phase turquoise concept icon. Work finish stage. Project management  abstract idea thin line illustration. Isolated outline drawing. Editable  stroke. 13133693 Vector Art at Vecteezy" id="348" name="Google Shape;348;p49"/>
          <p:cNvPicPr preferRelativeResize="0"/>
          <p:nvPr/>
        </p:nvPicPr>
        <p:blipFill rotWithShape="1">
          <a:blip r:embed="rId3">
            <a:alphaModFix/>
          </a:blip>
          <a:srcRect b="19228" l="8259" r="6416" t="12001"/>
          <a:stretch/>
        </p:blipFill>
        <p:spPr>
          <a:xfrm>
            <a:off x="6800850" y="1657350"/>
            <a:ext cx="2268933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9"/>
          <p:cNvSpPr txBox="1"/>
          <p:nvPr/>
        </p:nvSpPr>
        <p:spPr>
          <a:xfrm>
            <a:off x="0" y="782050"/>
            <a:ext cx="6948300" cy="4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318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▪"/>
            </a:pP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Also called </a:t>
            </a: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project closure</a:t>
            </a: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318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▪"/>
            </a:pP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In the closure phase, you provide </a:t>
            </a: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final deliverables</a:t>
            </a: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, release project resources, and determine the success of the project. </a:t>
            </a:r>
            <a:b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318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▪"/>
            </a:pP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Just because the major project work is over, that doesn’t mean the project manager’s job is done—there are still important things to do, including </a:t>
            </a:r>
            <a:r>
              <a:rPr i="0" lang="en" sz="18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evaluating what did and did not work with the project</a:t>
            </a:r>
            <a:r>
              <a:rPr i="0" lang="en" sz="1800" u="none" cap="none" strike="noStrike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4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"/>
          <p:cNvSpPr txBox="1"/>
          <p:nvPr/>
        </p:nvSpPr>
        <p:spPr>
          <a:xfrm>
            <a:off x="114300" y="114300"/>
            <a:ext cx="8972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Transfer Phase</a:t>
            </a:r>
            <a:endParaRPr b="1"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6" name="Google Shape;356;p50"/>
          <p:cNvSpPr txBox="1"/>
          <p:nvPr/>
        </p:nvSpPr>
        <p:spPr>
          <a:xfrm>
            <a:off x="114300" y="676775"/>
            <a:ext cx="8858400" cy="3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47650" lvl="0" marL="2540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b="1" i="0" lang="en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Analyzing project performance: </a:t>
            </a:r>
            <a:r>
              <a:rPr i="0" lang="en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Determine whether the project's goals were met (tasks completed, on time and on budget) and the initial problem solved using a prepared checklist.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47650" lvl="0" marL="2540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b="1" i="0" lang="en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Analyzing team performance: </a:t>
            </a:r>
            <a:r>
              <a:rPr i="0" lang="en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Evaluate how team members performed, including whether they met their goals along with timeliness and quality of work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47650" lvl="0" marL="2540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b="1" i="0" lang="en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Documenting project closure: </a:t>
            </a:r>
            <a:r>
              <a:rPr i="0" lang="en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Make sure that all aspects of the project are completed with no loose ends remaining and providing reports to key stakeholders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47650" lvl="0" marL="2540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b="1" i="0" lang="en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Conducting post-implementation reviews: </a:t>
            </a:r>
            <a:r>
              <a:rPr i="0" lang="en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Conduct a final analysis of the project, taking into account lessons learned for similar projects in the future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47650" lvl="0" marL="2540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▪"/>
            </a:pPr>
            <a:r>
              <a:rPr b="1" i="0" lang="en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Accounting for used and unused budget: </a:t>
            </a:r>
            <a:r>
              <a:rPr i="0" lang="en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Allocate remaining resources for future projects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p5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>
            <p:ph idx="4294967295" type="title"/>
          </p:nvPr>
        </p:nvSpPr>
        <p:spPr>
          <a:xfrm>
            <a:off x="181584" y="119633"/>
            <a:ext cx="8781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6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Life Cycle: Software Project Management</a:t>
            </a:r>
            <a:endParaRPr sz="2100"/>
          </a:p>
        </p:txBody>
      </p:sp>
      <p:pic>
        <p:nvPicPr>
          <p:cNvPr id="363" name="Google Shape;36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898" y="672495"/>
            <a:ext cx="7537332" cy="387166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"/>
          <p:cNvSpPr txBox="1"/>
          <p:nvPr>
            <p:ph idx="4294967295" type="title"/>
          </p:nvPr>
        </p:nvSpPr>
        <p:spPr>
          <a:xfrm>
            <a:off x="181584" y="119633"/>
            <a:ext cx="87810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6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Project Management Tools</a:t>
            </a:r>
            <a:endParaRPr/>
          </a:p>
        </p:txBody>
      </p:sp>
      <p:pic>
        <p:nvPicPr>
          <p:cNvPr id="370" name="Google Shape;37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0642" y="1313297"/>
            <a:ext cx="4721375" cy="293296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  <p:sp>
        <p:nvSpPr>
          <p:cNvPr id="377" name="Google Shape;377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383" name="Google Shape;383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ifin UIU Blue">
  <a:themeElements>
    <a:clrScheme name="Simple Light">
      <a:dk1>
        <a:srgbClr val="023E8A"/>
      </a:dk1>
      <a:lt1>
        <a:srgbClr val="FFFFFF"/>
      </a:lt1>
      <a:dk2>
        <a:srgbClr val="000000"/>
      </a:dk2>
      <a:lt2>
        <a:srgbClr val="EEEEEE"/>
      </a:lt2>
      <a:accent1>
        <a:srgbClr val="0077B6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