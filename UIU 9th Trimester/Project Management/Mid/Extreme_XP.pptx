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  <p:embeddedFont>
      <p:font typeface="Montserrat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43d469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43d469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43d469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43d469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43d4690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543d4690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cd6dde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cd6dde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43d4690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543d4690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5cd6dded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5cd6dded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543d4690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543d4690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5cd6dded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5cd6dded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cd6dde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5cd6dde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5cd6dded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5cd6dded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5cd6dded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5cd6dded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cd6dded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5cd6dded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5cd6dded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5cd6dded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5cd6dded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5cd6dded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5cd6dded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5cd6dded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5cd6dded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5cd6dded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5cd6dded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5cd6dded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5cd6dded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5cd6dded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5cd6dded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5cd6dded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5cd6dded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5cd6dded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1c31ca92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1c31ca92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de3d6d94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de3d6d94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1c31ca9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1c31ca9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Cambria"/>
              <a:buNone/>
              <a:defRPr b="1" sz="48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857500" y="1871050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2857500" y="2868271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  <a:defRPr b="1" sz="4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400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0" y="572425"/>
            <a:ext cx="91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683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489525"/>
            <a:ext cx="8520600" cy="21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0" y="44733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1275" y="248150"/>
            <a:ext cx="989000" cy="9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500">
                <a:solidFill>
                  <a:schemeClr val="lt1"/>
                </a:solidFill>
              </a:defRPr>
            </a:lvl1pPr>
            <a:lvl2pPr lvl="1" algn="ctr">
              <a:buNone/>
              <a:defRPr b="1" sz="1500">
                <a:solidFill>
                  <a:schemeClr val="lt1"/>
                </a:solidFill>
              </a:defRPr>
            </a:lvl2pPr>
            <a:lvl3pPr lvl="2" algn="ctr">
              <a:buNone/>
              <a:defRPr b="1" sz="1500">
                <a:solidFill>
                  <a:schemeClr val="lt1"/>
                </a:solidFill>
              </a:defRPr>
            </a:lvl3pPr>
            <a:lvl4pPr lvl="3" algn="ctr">
              <a:buNone/>
              <a:defRPr b="1" sz="1500">
                <a:solidFill>
                  <a:schemeClr val="lt1"/>
                </a:solidFill>
              </a:defRPr>
            </a:lvl4pPr>
            <a:lvl5pPr lvl="4" algn="ctr">
              <a:buNone/>
              <a:defRPr b="1" sz="1500">
                <a:solidFill>
                  <a:schemeClr val="lt1"/>
                </a:solidFill>
              </a:defRPr>
            </a:lvl5pPr>
            <a:lvl6pPr lvl="5" algn="ctr">
              <a:buNone/>
              <a:defRPr b="1" sz="1500">
                <a:solidFill>
                  <a:schemeClr val="lt1"/>
                </a:solidFill>
              </a:defRPr>
            </a:lvl6pPr>
            <a:lvl7pPr lvl="6" algn="ctr">
              <a:buNone/>
              <a:defRPr b="1" sz="1500">
                <a:solidFill>
                  <a:schemeClr val="lt1"/>
                </a:solidFill>
              </a:defRPr>
            </a:lvl7pPr>
            <a:lvl8pPr lvl="7" algn="ctr">
              <a:buNone/>
              <a:defRPr b="1" sz="1500">
                <a:solidFill>
                  <a:schemeClr val="lt1"/>
                </a:solidFill>
              </a:defRPr>
            </a:lvl8pPr>
            <a:lvl9pPr lvl="8" algn="ctr">
              <a:buNone/>
              <a:defRPr b="1" sz="1500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72127" y="1600761"/>
            <a:ext cx="4482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089528" y="1289304"/>
            <a:ext cx="5651182" cy="2565083"/>
          </a:xfrm>
          <a:custGeom>
            <a:rect b="b" l="l" r="r" t="t"/>
            <a:pathLst>
              <a:path extrusionOk="0" h="3420110" w="7534909">
                <a:moveTo>
                  <a:pt x="7534656" y="0"/>
                </a:moveTo>
                <a:lnTo>
                  <a:pt x="0" y="0"/>
                </a:lnTo>
                <a:lnTo>
                  <a:pt x="0" y="3419855"/>
                </a:lnTo>
                <a:lnTo>
                  <a:pt x="7534656" y="3419855"/>
                </a:lnTo>
                <a:lnTo>
                  <a:pt x="7534656" y="0"/>
                </a:lnTo>
                <a:close/>
              </a:path>
            </a:pathLst>
          </a:custGeom>
          <a:solidFill>
            <a:srgbClr val="000000">
              <a:alpha val="549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51941" y="832675"/>
            <a:ext cx="31791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5008436" y="832675"/>
            <a:ext cx="3575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PMG 4101: Project Management</a:t>
            </a:r>
            <a:endParaRPr sz="352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Syed Samin Sadaf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CSE,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United International University (UIU)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Programming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Programming Methodology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8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Focuses on </a:t>
            </a:r>
            <a:r>
              <a:rPr b="1" lang="en">
                <a:solidFill>
                  <a:schemeClr val="dk2"/>
                </a:solidFill>
              </a:rPr>
              <a:t>frequent releases</a:t>
            </a:r>
            <a:r>
              <a:rPr lang="en">
                <a:solidFill>
                  <a:schemeClr val="dk2"/>
                </a:solidFill>
              </a:rPr>
              <a:t> of software versions within short time frames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Allows the developers to </a:t>
            </a:r>
            <a:r>
              <a:rPr b="1" lang="en">
                <a:solidFill>
                  <a:schemeClr val="dk2"/>
                </a:solidFill>
              </a:rPr>
              <a:t>incorporate new requirements</a:t>
            </a:r>
            <a:r>
              <a:rPr lang="en">
                <a:solidFill>
                  <a:schemeClr val="dk2"/>
                </a:solidFill>
              </a:rPr>
              <a:t> as needed with each version.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Relies on </a:t>
            </a:r>
            <a:r>
              <a:rPr b="1" lang="en">
                <a:solidFill>
                  <a:schemeClr val="dk2"/>
                </a:solidFill>
              </a:rPr>
              <a:t>regular feedback</a:t>
            </a:r>
            <a:r>
              <a:rPr lang="en">
                <a:solidFill>
                  <a:schemeClr val="dk2"/>
                </a:solidFill>
              </a:rPr>
              <a:t> and </a:t>
            </a:r>
            <a:r>
              <a:rPr b="1" lang="en">
                <a:solidFill>
                  <a:schemeClr val="dk2"/>
                </a:solidFill>
              </a:rPr>
              <a:t>open communication</a:t>
            </a:r>
            <a:r>
              <a:rPr lang="en">
                <a:solidFill>
                  <a:schemeClr val="dk2"/>
                </a:solidFill>
              </a:rPr>
              <a:t> with the client to establish these requirements.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XP helps ensure all the members of the development team are aware of the project goals and can align their efforts.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466" y="1117847"/>
            <a:ext cx="352161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Allows software development companies to save costs and time required for project realization.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Time savings are available because XP focuses on the timely delivery of final products.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Extreme Programming teams save lots of money because they don’t use too much documentation. They usually solve problems through discussions inside of the team.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Simplicity is one more advantage of Extreme Programming projects. The developers who prefer to use this methodology create extremely simple code that can be improved at any moment.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 whole process in XP is visible and accountable.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Constant feedback is also the strong side.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XP assists to create software faster thanks to the regular testing at the development stage.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Some specialists say that Extreme Programming is focused on the code rather than on design.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That may be a problem because good design is extremely important for software applications. It helps sell them in the software market.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Additionally, in XP projects the defect documentation is not always good. Lack of defect documentation may lead to the occurrence of similar bugs in the future.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Does not measure code quality assurance and may cause defects in the initial code.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XP is not the best option if programmers are separated geographically.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XP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Expect their system’s functionality to change every few months.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Experience constantly changing requirements or work with customers who aren’t sure what they want the system to do.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Want to mitigate project risk, especially around tight deadlines.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Are able to work closely with customers.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Spiral Methodology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Spiral Methodology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48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The spiral model, initially proposed by Boehm, </a:t>
            </a:r>
            <a:endParaRPr>
              <a:solidFill>
                <a:schemeClr val="dk2"/>
              </a:solidFill>
            </a:endParaRPr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○"/>
            </a:pPr>
            <a:r>
              <a:rPr lang="en">
                <a:solidFill>
                  <a:schemeClr val="dk2"/>
                </a:solidFill>
              </a:rPr>
              <a:t>is an evolutionary software process model that </a:t>
            </a:r>
            <a:endParaRPr>
              <a:solidFill>
                <a:schemeClr val="dk2"/>
              </a:solidFill>
            </a:endParaRPr>
          </a:p>
          <a:p>
            <a:pPr indent="-334327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">
                <a:solidFill>
                  <a:schemeClr val="dk2"/>
                </a:solidFill>
              </a:rPr>
              <a:t>couples the iterative feature of prototyping with </a:t>
            </a:r>
            <a:r>
              <a:rPr lang="en"/>
              <a:t>→ </a:t>
            </a:r>
            <a:r>
              <a:rPr lang="en">
                <a:solidFill>
                  <a:schemeClr val="dk2"/>
                </a:solidFill>
              </a:rPr>
              <a:t>controlled and systematic aspects of the linear sequential model.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It implements the potential for rapid development of new versions of the software.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300" y="1170125"/>
            <a:ext cx="3672300" cy="3254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Boehm’s Spiral Methodology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485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Using the spiral model, the software is developed in a series of incremental releases.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During the early iterations, the additional release may be a paper model or prototype.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During later iterations, more and more complete versions of the engineered system are produced.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300" y="1170125"/>
            <a:ext cx="3672300" cy="3254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High amount of risk analysis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Useful for large and mission-critical projects.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Can be a costly model to use.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Risk analysis needed highly particular expertise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Doesn't work well for smaller projects.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Choose Boehm’s Spiral Methodology?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51549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</a:t>
            </a:r>
            <a:r>
              <a:rPr b="1" lang="en">
                <a:solidFill>
                  <a:schemeClr val="dk2"/>
                </a:solidFill>
              </a:rPr>
              <a:t>deliverance</a:t>
            </a:r>
            <a:r>
              <a:rPr lang="en">
                <a:solidFill>
                  <a:schemeClr val="dk2"/>
                </a:solidFill>
              </a:rPr>
              <a:t> is required to be </a:t>
            </a:r>
            <a:r>
              <a:rPr b="1" lang="en">
                <a:solidFill>
                  <a:schemeClr val="dk2"/>
                </a:solidFill>
              </a:rPr>
              <a:t>frequent.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the project is </a:t>
            </a:r>
            <a:r>
              <a:rPr b="1" lang="en">
                <a:solidFill>
                  <a:schemeClr val="dk2"/>
                </a:solidFill>
              </a:rPr>
              <a:t>large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</a:t>
            </a:r>
            <a:r>
              <a:rPr b="1" lang="en">
                <a:solidFill>
                  <a:schemeClr val="dk2"/>
                </a:solidFill>
              </a:rPr>
              <a:t>requirements</a:t>
            </a:r>
            <a:r>
              <a:rPr lang="en">
                <a:solidFill>
                  <a:schemeClr val="dk2"/>
                </a:solidFill>
              </a:rPr>
              <a:t> are </a:t>
            </a:r>
            <a:r>
              <a:rPr b="1" lang="en">
                <a:solidFill>
                  <a:schemeClr val="dk2"/>
                </a:solidFill>
              </a:rPr>
              <a:t>unclear</a:t>
            </a:r>
            <a:r>
              <a:rPr lang="en">
                <a:solidFill>
                  <a:schemeClr val="dk2"/>
                </a:solidFill>
              </a:rPr>
              <a:t> and </a:t>
            </a:r>
            <a:r>
              <a:rPr b="1" lang="en">
                <a:solidFill>
                  <a:schemeClr val="dk2"/>
                </a:solidFill>
              </a:rPr>
              <a:t>complex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When changes may </a:t>
            </a:r>
            <a:r>
              <a:rPr lang="en" u="sng">
                <a:solidFill>
                  <a:schemeClr val="dk2"/>
                </a:solidFill>
              </a:rPr>
              <a:t>require at any time</a:t>
            </a:r>
            <a:endParaRPr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Large and high budget projects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406" y="1052498"/>
            <a:ext cx="3712501" cy="34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Incremental Software Development Methodology</a:t>
            </a:r>
            <a:endParaRPr/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What is Incremental Software Development Methodology</a:t>
            </a:r>
            <a:endParaRPr sz="2420"/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accent1"/>
                </a:solidFill>
              </a:rPr>
              <a:t>‹#›</a:t>
            </a:fld>
            <a:endParaRPr sz="1200">
              <a:solidFill>
                <a:schemeClr val="accent1"/>
              </a:solidFill>
            </a:endParaRPr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50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Incremental Model is a process of software development where </a:t>
            </a:r>
            <a:endParaRPr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>
                <a:solidFill>
                  <a:schemeClr val="dk2"/>
                </a:solidFill>
              </a:rPr>
              <a:t>requirements are broken down into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lang="en">
                <a:solidFill>
                  <a:schemeClr val="dk2"/>
                </a:solidFill>
              </a:rPr>
              <a:t>multiple standalone modules of software development cycle.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Incremental development is done in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steps from analysis design, implementation, testing/verification, maintenance.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000" y="1170125"/>
            <a:ext cx="3447600" cy="281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What is Incremental Software Development Methodology</a:t>
            </a:r>
            <a:endParaRPr sz="2420"/>
          </a:p>
        </p:txBody>
      </p:sp>
      <p:sp>
        <p:nvSpPr>
          <p:cNvPr id="206" name="Google Shape;206;p3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accent1"/>
                </a:solidFill>
              </a:rPr>
              <a:t>‹#›</a:t>
            </a:fld>
            <a:endParaRPr sz="1200">
              <a:solidFill>
                <a:schemeClr val="accent1"/>
              </a:solidFill>
            </a:endParaRPr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52475"/>
            <a:ext cx="50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Each iteration passes through the requirements, design, coding and testing phases.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And each subsequent release of the system adds function to the previous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release until all designed functionality has been implemented.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000" y="1170125"/>
            <a:ext cx="3447600" cy="281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What is Incremental Software Development Methodology</a:t>
            </a:r>
            <a:endParaRPr sz="2420"/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accent1"/>
                </a:solidFill>
              </a:rPr>
              <a:t>‹#›</a:t>
            </a:fld>
            <a:endParaRPr sz="1200">
              <a:solidFill>
                <a:schemeClr val="accent1"/>
              </a:solidFill>
            </a:endParaRPr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507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System development is broken down into many mini development projects.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Partial systems are successively built to produce a final total system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Highest priority requirement is tackled first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Once the requirement is developed, requirement for that increment are frozen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000" y="1170125"/>
            <a:ext cx="3447600" cy="281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Advantages</a:t>
            </a:r>
            <a:endParaRPr sz="2420"/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accent1"/>
                </a:solidFill>
              </a:rPr>
              <a:t>‹#›</a:t>
            </a:fld>
            <a:endParaRPr sz="1200">
              <a:solidFill>
                <a:schemeClr val="accent1"/>
              </a:solidFill>
            </a:endParaRPr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The software will be generated quickly during the software life cycle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It is flexible and less expensive to change requirements and scope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Throughout the development stages changes can be done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This model is less costly compared to others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 customer can respond to each building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Errors are easy to be identified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Disa</a:t>
            </a:r>
            <a:r>
              <a:rPr lang="en" sz="2420"/>
              <a:t>dvantages</a:t>
            </a:r>
            <a:endParaRPr sz="2420"/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accent1"/>
                </a:solidFill>
              </a:rPr>
              <a:t>‹#›</a:t>
            </a:fld>
            <a:endParaRPr sz="1200">
              <a:solidFill>
                <a:schemeClr val="accent1"/>
              </a:solidFill>
            </a:endParaRPr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11700" y="1152475"/>
            <a:ext cx="80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It requires a good planning designing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Problems might cause due to system architecture as such not all requirements collected up front for the entire software lifecycle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Each iteration phase is rigid and does not overlap each other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Rectifying a problem in one unit requires correction in all the units and consumes a lot of time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Choose Incremental Software Development?</a:t>
            </a:r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311700" y="1152475"/>
            <a:ext cx="521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Requirements of the system are clearly understood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When demand for an early release of a product arises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When software engineering team are not very well skilled or trained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When high-risk features and goals are involved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Such methodology is more in use for web application and product based companies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7" name="Google Shape;237;p3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500" y="1470475"/>
            <a:ext cx="3511200" cy="22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244" name="Google Shape;24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616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50"/>
              <a:t>Acknowledgement</a:t>
            </a:r>
            <a:endParaRPr sz="2550"/>
          </a:p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0"/>
          <p:cNvSpPr txBox="1"/>
          <p:nvPr>
            <p:ph idx="4294967295" type="body"/>
          </p:nvPr>
        </p:nvSpPr>
        <p:spPr>
          <a:xfrm>
            <a:off x="311700" y="1278350"/>
            <a:ext cx="85206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Courtesy: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Dr. Suman Ahmed</a:t>
            </a:r>
            <a:r>
              <a:rPr lang="en">
                <a:solidFill>
                  <a:schemeClr val="lt1"/>
                </a:solidFill>
              </a:rPr>
              <a:t>, Professor, CSE Department, UIU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57" name="Google Shape;25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ifin UIU Blue">
  <a:themeElements>
    <a:clrScheme name="Simple Light">
      <a:dk1>
        <a:srgbClr val="023E8A"/>
      </a:dk1>
      <a:lt1>
        <a:srgbClr val="FFFFFF"/>
      </a:lt1>
      <a:dk2>
        <a:srgbClr val="000000"/>
      </a:dk2>
      <a:lt2>
        <a:srgbClr val="EEEEEE"/>
      </a:lt2>
      <a:accent1>
        <a:srgbClr val="0077B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