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383AEB-8350-4722-BD54-6794445E38F9}">
  <a:tblStyle styleId="{F8383AEB-8350-4722-BD54-6794445E3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B848EB3-77D6-4C03-932F-22BCF48A0374}" styleName="Table_1">
    <a:wholeTbl>
      <a:tcTxStyle>
        <a:font>
          <a:latin typeface="Cambria"/>
          <a:ea typeface="Cambria"/>
          <a:cs typeface="Cambria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c31ca9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c31ca9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c31ca92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c31ca9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c31ca9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c31ca9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c31ca92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1c31ca92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c31ca92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c31ca92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c31ca92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1c31ca92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c31ca92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1c31ca92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c31ca92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c31ca9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0c3798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0c3798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1c31ca928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1c31ca92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c31ca92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c31ca92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c31ca9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1c31ca9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c31ca92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1c31ca92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c31ca92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1c31ca92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1c31ca92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1c31ca92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1c31ca92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1c31ca92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1c31ca92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1c31ca9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1c31ca92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1c31ca92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c31ca9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1c31ca9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Cambria"/>
              <a:buNone/>
              <a:defRPr b="1" sz="48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857500" y="1871050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2857500" y="2868271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  <a:defRPr b="1" sz="4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400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0" y="572425"/>
            <a:ext cx="91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683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489525"/>
            <a:ext cx="8520600" cy="21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0" y="44733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1275" y="248150"/>
            <a:ext cx="989000" cy="9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500">
                <a:solidFill>
                  <a:schemeClr val="lt1"/>
                </a:solidFill>
              </a:defRPr>
            </a:lvl1pPr>
            <a:lvl2pPr lvl="1" algn="ctr">
              <a:buNone/>
              <a:defRPr b="1" sz="1500">
                <a:solidFill>
                  <a:schemeClr val="lt1"/>
                </a:solidFill>
              </a:defRPr>
            </a:lvl2pPr>
            <a:lvl3pPr lvl="2" algn="ctr">
              <a:buNone/>
              <a:defRPr b="1" sz="1500">
                <a:solidFill>
                  <a:schemeClr val="lt1"/>
                </a:solidFill>
              </a:defRPr>
            </a:lvl3pPr>
            <a:lvl4pPr lvl="3" algn="ctr">
              <a:buNone/>
              <a:defRPr b="1" sz="1500">
                <a:solidFill>
                  <a:schemeClr val="lt1"/>
                </a:solidFill>
              </a:defRPr>
            </a:lvl4pPr>
            <a:lvl5pPr lvl="4" algn="ctr">
              <a:buNone/>
              <a:defRPr b="1" sz="1500">
                <a:solidFill>
                  <a:schemeClr val="lt1"/>
                </a:solidFill>
              </a:defRPr>
            </a:lvl5pPr>
            <a:lvl6pPr lvl="5" algn="ctr">
              <a:buNone/>
              <a:defRPr b="1" sz="1500">
                <a:solidFill>
                  <a:schemeClr val="lt1"/>
                </a:solidFill>
              </a:defRPr>
            </a:lvl6pPr>
            <a:lvl7pPr lvl="6" algn="ctr">
              <a:buNone/>
              <a:defRPr b="1" sz="1500">
                <a:solidFill>
                  <a:schemeClr val="lt1"/>
                </a:solidFill>
              </a:defRPr>
            </a:lvl7pPr>
            <a:lvl8pPr lvl="7" algn="ctr">
              <a:buNone/>
              <a:defRPr b="1" sz="1500">
                <a:solidFill>
                  <a:schemeClr val="lt1"/>
                </a:solidFill>
              </a:defRPr>
            </a:lvl8pPr>
            <a:lvl9pPr lvl="8" algn="ctr">
              <a:buNone/>
              <a:defRPr b="1" sz="1500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72127" y="1600761"/>
            <a:ext cx="4482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089528" y="1289304"/>
            <a:ext cx="5651182" cy="2565083"/>
          </a:xfrm>
          <a:custGeom>
            <a:rect b="b" l="l" r="r" t="t"/>
            <a:pathLst>
              <a:path extrusionOk="0" h="3420110" w="7534909">
                <a:moveTo>
                  <a:pt x="7534656" y="0"/>
                </a:moveTo>
                <a:lnTo>
                  <a:pt x="0" y="0"/>
                </a:lnTo>
                <a:lnTo>
                  <a:pt x="0" y="3419855"/>
                </a:lnTo>
                <a:lnTo>
                  <a:pt x="7534656" y="3419855"/>
                </a:lnTo>
                <a:lnTo>
                  <a:pt x="7534656" y="0"/>
                </a:lnTo>
                <a:close/>
              </a:path>
            </a:pathLst>
          </a:custGeom>
          <a:solidFill>
            <a:srgbClr val="000000">
              <a:alpha val="549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51941" y="832675"/>
            <a:ext cx="31791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5008436" y="832675"/>
            <a:ext cx="3575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PMG 4101: Project Management</a:t>
            </a:r>
            <a:endParaRPr sz="352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Syed Samin Sadaf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CSE,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United International University (UIU)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250" y="602068"/>
            <a:ext cx="4293050" cy="32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1835975" y="3937193"/>
            <a:ext cx="4993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Hey there, stranger!</a:t>
            </a:r>
            <a:endParaRPr sz="1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</a:t>
            </a:r>
            <a:r>
              <a:rPr lang="en"/>
              <a:t> Introduction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48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22"/>
              <a:t>Syed Samin Sadaf</a:t>
            </a:r>
            <a:endParaRPr b="1" sz="24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Lecturer, Dept. of CSE, UIU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BSc in Software Engineering,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Islamic University of Technology (IUT)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Office: </a:t>
            </a:r>
            <a:r>
              <a:rPr b="1" lang="en">
                <a:solidFill>
                  <a:schemeClr val="dk2"/>
                </a:solidFill>
              </a:rPr>
              <a:t>536 D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275" y="1229625"/>
            <a:ext cx="2684226" cy="268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591750" y="1418500"/>
            <a:ext cx="7960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 any queries send an email to: </a:t>
            </a:r>
            <a:r>
              <a:rPr b="1"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sadaf@cse.uiu.ac.bd</a:t>
            </a: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Counseling hour consultations are walk-in, but pre-appointments are appreciated.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859025" y="3141475"/>
            <a:ext cx="1479300" cy="66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E-mail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5413525" y="3141475"/>
            <a:ext cx="1479300" cy="66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Phone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862525" y="3245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&gt;&gt;&gt;</a:t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063" y="810988"/>
            <a:ext cx="2317876" cy="352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Introduction (2)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069325"/>
            <a:ext cx="85206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Name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are you from?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School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College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Hobby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you know about this course?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want this course to be conducted?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you want to cooperate with the class? If yes, how?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246225" y="3803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*Conditions applied</a:t>
            </a:r>
            <a:endParaRPr i="1">
              <a:solidFill>
                <a:schemeClr val="accent1"/>
              </a:solidFill>
            </a:endParaRPr>
          </a:p>
        </p:txBody>
      </p:sp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Nuances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063575"/>
            <a:ext cx="8520600" cy="15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Don’t get afraid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Don’t give up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If you follow my class closely, you will NOT need anything else for this course*.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550" y="1155375"/>
            <a:ext cx="3306900" cy="30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1383300" y="4202450"/>
            <a:ext cx="6377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Pay attention and actually take notes, not pics.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321514" y="1017725"/>
            <a:ext cx="813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Be responsive in the classroom.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675" y="1629350"/>
            <a:ext cx="2420450" cy="288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311700" y="1167650"/>
            <a:ext cx="813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Be present in class.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For absence due to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valid 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reasons,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send me an email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at your earliest convenience with proper reasoning and documents (if applicable).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The deadline</a:t>
            </a:r>
            <a:r>
              <a:rPr lang="en">
                <a:solidFill>
                  <a:schemeClr val="dk2"/>
                </a:solidFill>
              </a:rPr>
              <a:t> for the assignments will </a:t>
            </a:r>
            <a:r>
              <a:rPr b="1" lang="en">
                <a:solidFill>
                  <a:schemeClr val="dk2"/>
                </a:solidFill>
              </a:rPr>
              <a:t>NOT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be extended</a:t>
            </a:r>
            <a:r>
              <a:rPr lang="en">
                <a:solidFill>
                  <a:schemeClr val="dk2"/>
                </a:solidFill>
              </a:rPr>
              <a:t> under any circumstances.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NO makeup class tests</a:t>
            </a:r>
            <a:r>
              <a:rPr lang="en">
                <a:solidFill>
                  <a:schemeClr val="dk2"/>
                </a:solidFill>
              </a:rPr>
              <a:t> will be allowed under any circumstances.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Copying questions</a:t>
            </a:r>
            <a:r>
              <a:rPr lang="en">
                <a:solidFill>
                  <a:schemeClr val="dk2"/>
                </a:solidFill>
              </a:rPr>
              <a:t> in the answer script will </a:t>
            </a:r>
            <a:r>
              <a:rPr b="1" lang="en">
                <a:solidFill>
                  <a:schemeClr val="dk2"/>
                </a:solidFill>
              </a:rPr>
              <a:t>NOT</a:t>
            </a:r>
            <a:r>
              <a:rPr lang="en">
                <a:solidFill>
                  <a:schemeClr val="dk2"/>
                </a:solidFill>
              </a:rPr>
              <a:t> bring any marks.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23250" y="1972025"/>
            <a:ext cx="9097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Welcome to Project Management!</a:t>
            </a:r>
            <a:endParaRPr b="1"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46500" y="106250"/>
            <a:ext cx="2723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405950" y="1017725"/>
            <a:ext cx="3183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Shared Drive Folder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40325"/>
            <a:ext cx="3438650" cy="38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graphicFrame>
        <p:nvGraphicFramePr>
          <p:cNvPr id="190" name="Google Shape;190;p31"/>
          <p:cNvGraphicFramePr/>
          <p:nvPr/>
        </p:nvGraphicFramePr>
        <p:xfrm>
          <a:off x="127920" y="1114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{F8383AEB-8350-4722-BD54-6794445E38F9}</a:tableStyleId>
              </a:tblPr>
              <a:tblGrid>
                <a:gridCol w="1048400"/>
                <a:gridCol w="7177200"/>
              </a:tblGrid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1-2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management, Different methodology of project management. 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Inception on Research work and group formation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3-4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Planning and schedule on SRS documents. 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Study and consider Risk planning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5-6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Estimation through WBS method, Delphi method  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7-8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Estimation through COCOMO method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Quality/process improvement CMMI, six sigma etc.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9-10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Change management methods, Review Techniques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11-12</a:t>
                      </a:r>
                      <a:endParaRPr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Study on contemporary PM tools. Managing the Software project through modern PM tools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Closing</a:t>
                      </a:r>
                      <a:endParaRPr sz="1100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" name="Google Shape;191;p31"/>
          <p:cNvSpPr txBox="1"/>
          <p:nvPr>
            <p:ph type="title"/>
          </p:nvPr>
        </p:nvSpPr>
        <p:spPr>
          <a:xfrm>
            <a:off x="183800" y="34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graphicFrame>
        <p:nvGraphicFramePr>
          <p:cNvPr id="197" name="Google Shape;197;p32"/>
          <p:cNvGraphicFramePr/>
          <p:nvPr/>
        </p:nvGraphicFramePr>
        <p:xfrm>
          <a:off x="2902725" y="12071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{0B848EB3-77D6-4C03-932F-22BCF48A0374}</a:tableStyleId>
              </a:tblPr>
              <a:tblGrid>
                <a:gridCol w="2241600"/>
                <a:gridCol w="794925"/>
              </a:tblGrid>
              <a:tr h="262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Assessment Types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Marks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87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Attendance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7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Assignments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7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Class Tests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7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5%+5%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7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Mid Term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168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Final Exam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</a:t>
                      </a: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graphicFrame>
        <p:nvGraphicFramePr>
          <p:cNvPr id="203" name="Google Shape;203;p33"/>
          <p:cNvGraphicFramePr/>
          <p:nvPr/>
        </p:nvGraphicFramePr>
        <p:xfrm>
          <a:off x="1131325" y="15972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{0B848EB3-77D6-4C03-932F-22BCF48A0374}</a:tableStyleId>
              </a:tblPr>
              <a:tblGrid>
                <a:gridCol w="1269875"/>
                <a:gridCol w="972700"/>
                <a:gridCol w="1222025"/>
                <a:gridCol w="1269875"/>
                <a:gridCol w="924850"/>
                <a:gridCol w="1222025"/>
              </a:tblGrid>
              <a:tr h="28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Letter Grade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Marks %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Grade Point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Letter Grade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Marks%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Grade Point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(Plain)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90-100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C+ (Plus)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70-73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2.33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A- (Minus)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86-89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3.67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 (Plain)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66-69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B+ (Plus)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82-85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3.33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 (Minus)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62-65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1.67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 (Plain)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78-81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D+ (Plus)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58-61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1.33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B- (Minus)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74-77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2.67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 (Plain)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55-57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 (Fail)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&lt;55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0.00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470525" y="1171050"/>
            <a:ext cx="33144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Test, n =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Tentative Schedule: 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First CT: 3rd Week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Second CT:  6th Week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Third CT: 9th Week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Fourth CT: 11th Week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Time:</a:t>
            </a: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15-20 Minutes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Syllabus:</a:t>
            </a:r>
            <a:r>
              <a:rPr lang="en" sz="1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At max 2 lectures</a:t>
            </a:r>
            <a:endParaRPr sz="17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0" name="Google Shape;210;p34"/>
          <p:cNvCxnSpPr/>
          <p:nvPr/>
        </p:nvCxnSpPr>
        <p:spPr>
          <a:xfrm>
            <a:off x="3784913" y="1171050"/>
            <a:ext cx="0" cy="215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34"/>
          <p:cNvSpPr txBox="1"/>
          <p:nvPr/>
        </p:nvSpPr>
        <p:spPr>
          <a:xfrm>
            <a:off x="3751450" y="1949550"/>
            <a:ext cx="4901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 </a:t>
            </a: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(n-1) 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will be counted for CT Marks.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NO MAKEUP CT WILL BE ALLOWED.</a:t>
            </a:r>
            <a:endParaRPr b="1" sz="17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2" name="Google Shape;212;p34"/>
          <p:cNvGraphicFramePr/>
          <p:nvPr/>
        </p:nvGraphicFramePr>
        <p:xfrm>
          <a:off x="844550" y="4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{F8383AEB-8350-4722-BD54-6794445E38F9}</a:tableStyleId>
              </a:tblPr>
              <a:tblGrid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  <a:gridCol w="513575"/>
              </a:tblGrid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Mid</a:t>
                      </a:r>
                      <a:endParaRPr sz="13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1200">
                <a:solidFill>
                  <a:schemeClr val="accent1"/>
                </a:solidFill>
              </a:rPr>
              <a:t>‹#›</a:t>
            </a:fld>
            <a:endParaRPr b="0" sz="1200">
              <a:solidFill>
                <a:schemeClr val="accent1"/>
              </a:solidFill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199" y="968125"/>
            <a:ext cx="5816174" cy="29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224" name="Google Shape;22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30" name="Google Shape;23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ifin UIU Blue">
  <a:themeElements>
    <a:clrScheme name="Simple Light">
      <a:dk1>
        <a:srgbClr val="023E8A"/>
      </a:dk1>
      <a:lt1>
        <a:srgbClr val="FFFFFF"/>
      </a:lt1>
      <a:dk2>
        <a:srgbClr val="000000"/>
      </a:dk2>
      <a:lt2>
        <a:srgbClr val="EEEEEE"/>
      </a:lt2>
      <a:accent1>
        <a:srgbClr val="0077B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