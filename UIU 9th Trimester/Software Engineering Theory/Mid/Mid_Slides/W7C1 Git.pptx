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i8kdVF75fZQk98QiUmgKAueWFA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p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p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p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2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5" name="Google Shape;435;p2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p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p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p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5" name="Google Shape;545;p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3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7" name="Google Shape;567;p3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1" name="Google Shape;581;p3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3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6" name="Google Shape;616;p3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3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9" name="Google Shape;629;p3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8" name="Google Shape;668;p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3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3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3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5" name="Google Shape;705;p3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7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1371600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0930" y="29260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/>
          <p:nvPr/>
        </p:nvSpPr>
        <p:spPr>
          <a:xfrm>
            <a:off x="731520" y="91440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Git &amp; GitHub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Version Control?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123444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800"/>
              <a:buFont typeface="Trebuchet MS"/>
              <a:buNone/>
            </a:pPr>
            <a:r>
              <a:rPr b="1" i="0" lang="en" sz="18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1800" u="none" cap="none" strike="noStrik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report_final.docx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report_final_v2.docx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report_FINAL_FINAL.docx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onsolas"/>
              <a:buNone/>
            </a:pPr>
            <a:r>
              <a:rPr b="1" i="0" lang="en" sz="13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report_FINAL_FINAL_fixed.docx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Sound familiar? We've all been there.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2" name="Google Shape;7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/>
          <p:nvPr/>
        </p:nvSpPr>
        <p:spPr>
          <a:xfrm>
            <a:off x="553212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800"/>
              <a:buFont typeface="Trebuchet MS"/>
              <a:buNone/>
            </a:pPr>
            <a:r>
              <a:rPr b="1" i="0" lang="en" sz="18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The Solution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Version Control Systems (VCS) track every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change to your files over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 can: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Revert to any previous version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See who changed what and when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Collaborate without overwriting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  ✓  Work on features in parallel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vs GitHub. Know the Difference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2400"/>
              <a:buFont typeface="Trebuchet MS"/>
              <a:buNone/>
            </a:pPr>
            <a:r>
              <a:rPr b="1" i="0" lang="en" sz="24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Git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31520" y="265176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distributed version control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Runs locally on your machine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Tracks changes in a 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Works completely offline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Created by Linus Torvalds (2005)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Free &amp; open 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371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/>
          <p:nvPr/>
        </p:nvSpPr>
        <p:spPr>
          <a:xfrm>
            <a:off x="5029200" y="21031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2400"/>
              <a:buFont typeface="Trebuchet MS"/>
              <a:buNone/>
            </a:pPr>
            <a:r>
              <a:rPr b="1" i="0" lang="en" sz="2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029200" y="265176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cloud platform built around 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Hosts Git repositories online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Adds collaboration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Pull Requests, Issues, 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Owned by Microsoft (since 2018)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 •  Free for public repositories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Setting Up Git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363" y="118194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796563" y="1181945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800"/>
              <a:buFont typeface="Trebuchet MS"/>
              <a:buNone/>
            </a:pPr>
            <a:r>
              <a:rPr b="1" i="0" lang="en" sz="18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Installation</a:t>
            </a:r>
            <a:endParaRPr b="0" i="0" sz="18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39363" y="1730585"/>
            <a:ext cx="3840600" cy="256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22242" y="1822025"/>
            <a:ext cx="3474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Windows: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Download from git-scm.com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macOS: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brew install 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Linux (Ubuntu/Debian):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sudo apt install 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6768" y="118194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4993968" y="1181945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800"/>
              <a:buFont typeface="Trebuchet MS"/>
              <a:buNone/>
            </a:pPr>
            <a:r>
              <a:rPr b="1" i="0" lang="en" sz="18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First-Time Configuration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36750" y="1730575"/>
            <a:ext cx="4332900" cy="256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628275" y="1822025"/>
            <a:ext cx="4241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Tell Git who you are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config --global user.name "Your Name"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Tell Git your email (preferred to put your GitHub email here)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config --global user.email "you@email.com"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Verify your 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config --list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Core Concepts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114300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 (Repo)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31520" y="16916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folder tracked by Git. Contains your project files plus a hidden .git directory that stores the entire change history.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" name="Google Shape;11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544068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Directory</a:t>
            </a:r>
            <a:endParaRPr b="0" i="0" sz="16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029200" y="16916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actual files you see and edit on your computer. This is your project folder as it currently looks.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288036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017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1143000" y="3017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Staging Area (Index)</a:t>
            </a:r>
            <a:endParaRPr b="0" i="0" sz="1600" u="none" cap="none" strike="noStrik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31520" y="34747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preparation zone. You "stage" specific changes before committing them. Think of it as a draft of your next snapshot.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754880" y="288036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3017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5440680" y="3017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Commit</a:t>
            </a:r>
            <a:endParaRPr b="0" i="0" sz="16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029200" y="34747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permanent snapshot of staged changes. Each commit has a unique ID (SHA hash), author, timestamp, and message.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The Three States of Git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65760" y="1828800"/>
            <a:ext cx="2011680" cy="146304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365760" y="2514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Directory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2377455" y="233172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add →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611875" y="1828800"/>
            <a:ext cx="2011800" cy="146310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BF8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3698674" y="2491675"/>
            <a:ext cx="1838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Staging</a:t>
            </a:r>
            <a:endParaRPr b="0" i="0" sz="1400" u="none" cap="none" strike="noStrik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Area</a:t>
            </a:r>
            <a:endParaRPr b="0" i="0" sz="1400" u="none" cap="none" strike="noStrike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646485" y="2331720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commit →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949440" y="1828800"/>
            <a:ext cx="2011680" cy="146304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0" name="Google Shape;14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096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6949440" y="25146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Local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Every file in your project is in one of these states: modified, staged, or committed.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Starting a Repository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1188720" y="1280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git init: Start from Scratch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Create a directory and get started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mkdir my-project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cd my-project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b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Initialize the directory (repository) to track changes using git</a:t>
            </a:r>
            <a:endParaRPr b="1" i="0" sz="1200" u="none" cap="none" strike="noStrike">
              <a:solidFill>
                <a:srgbClr val="E8563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init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Output: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Initialized empty Git repository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in /home/user/my-project/.git/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Creates a .git folder — your repo is born!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 clone: Copy Existing Repo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Copy an existing GitHub repository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clone https://github.com/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  user/project.git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Or do it with SSH (must have it configured from Slide 4):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clone git@github.com: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    user/project.git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Downloads the full repo with all history.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add: Staging Your Changes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" y="1097280"/>
            <a:ext cx="8229600" cy="16458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31520" y="1188720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Stage a specific file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add index.html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Stage an entire folder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add src/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Stage ALL changes (use carefully!)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add 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017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914400" y="30175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Scenario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31520" y="3566160"/>
            <a:ext cx="7772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You're building a website. You've edited index.html and style.css but also have debug.log files you don't want to commit. Use git add index.html style.css to stage only what matters, not git add . which would include everything.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commit: Saving a Snapshot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57200" y="1097280"/>
            <a:ext cx="5029200" cy="18288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0080" y="1188720"/>
            <a:ext cx="4663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Git commit needs a flag -m (message)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After that, in double quotes, write your commit message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login page"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"Fix: null pointer on checkout"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One shot command to add and commit: -a auto-stages tracked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-am "Update styles"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760720" y="1097280"/>
            <a:ext cx="2926080" cy="1828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943600" y="11887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Commit Messages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943600" y="155448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800"/>
              <a:buFont typeface="Consolas"/>
              <a:buNone/>
            </a:pPr>
            <a:r>
              <a:rPr b="0" i="0" lang="en" sz="18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✓ </a:t>
            </a: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"Add user auth middleware"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✓ "Fix #42: cart total rounding"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✗ "fix stuff"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✗ "asdfgh"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✗ "changes"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Anatomy of a Commit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0080" y="37033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SHA Hash: </a:t>
            </a: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a1b2c3d  |  </a:t>
            </a:r>
            <a:r>
              <a:rPr b="1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Author: </a:t>
            </a: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Jane Doe  |  </a:t>
            </a:r>
            <a:r>
              <a:rPr b="1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2025-03-28  |  </a:t>
            </a:r>
            <a:r>
              <a:rPr b="1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Message: </a:t>
            </a: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"Add login page"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Inspecting Your Repository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1143000" y="1234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40080" y="169164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Shows the current state of your files: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On branch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Changes to be committed: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  modified: index.html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Untracked files: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  debug.log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/>
          <p:nvPr/>
        </p:nvSpPr>
        <p:spPr>
          <a:xfrm>
            <a:off x="5440680" y="1234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log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937760" y="169164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View commit history: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Track all your commits using git 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log --oneline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a1b2c3d Add login page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e4f5g6h Fix header layout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i7j8k9l Initial commit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log --graph --oneline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  Visualizes branching history!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Comparing &amp; Undoing Changes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Consola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diff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40080" y="15544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Show unstaged changes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diff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Show staged changes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diff --staged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937760" y="1188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Undo Commands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937760" y="15544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Discard working changes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restore file.txt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Unstage a file</a:t>
            </a:r>
            <a:endParaRPr b="0" i="0" sz="1100" u="none" cap="none" strike="noStrike">
              <a:solidFill>
                <a:srgbClr val="656D7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restore --staged file.txt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57200" y="2834650"/>
            <a:ext cx="8229600" cy="1810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1143000" y="2971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Advanced Undo (Use with Caution!)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731520" y="3539349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revert &lt;commit_hash&gt;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Creates a NEW commit that undoes a previous one. </a:t>
            </a:r>
            <a:r>
              <a:rPr b="1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Safe for shared branches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git reset --soft HEAD~1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Undoes last commit but keeps changes staged. </a:t>
            </a:r>
            <a:r>
              <a:rPr b="1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Good for fixing commit messages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git reset --hard HEAD~1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 Permanently discards last commit AND changes. Destructive so be very careful!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Branching: Gits Superpower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28016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branch is an independent line of development.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457200" y="2926080"/>
            <a:ext cx="260604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2" name="Google Shape;2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04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/>
          <p:nvPr/>
        </p:nvSpPr>
        <p:spPr>
          <a:xfrm>
            <a:off x="594360" y="352044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Isolation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94360" y="38404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Work on features without affecting the main codebase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3246098" y="2926055"/>
            <a:ext cx="2606100" cy="14631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6" name="Google Shape;22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30632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/>
          <p:nvPr/>
        </p:nvSpPr>
        <p:spPr>
          <a:xfrm>
            <a:off x="3383270" y="3520440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Parallel Work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3474720" y="384048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Multiple developers can build different features simultaneously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035058" y="2926005"/>
            <a:ext cx="2606100" cy="14631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0" name="Google Shape;23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2385" y="3063215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/>
          <p:nvPr/>
        </p:nvSpPr>
        <p:spPr>
          <a:xfrm>
            <a:off x="6172268" y="3520415"/>
            <a:ext cx="233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Safety Net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6172330" y="3863318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If something breaks, main branch stays untouched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with Branches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40080" y="1280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List all local branches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640080" y="16459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branch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5029200" y="16459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Create a new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640080" y="2011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checkout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5029200" y="2011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Switch to a branch (classic)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40080" y="23774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switch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5029200" y="23774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Switch to a branch (modern)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640080" y="27432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$ git switch -c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Create AND switch in one step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640080" y="3108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Delete a branch (after merge)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640080" y="34747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feature-login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Force delete (unmerged)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640080" y="38404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branch -a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5029200" y="3840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List all branches (incl. remote)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Merging Branches Together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Merge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Switch to the receiving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Merge the feature branch 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merge feature-login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Delete the branch (optional)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feature-login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4937760" y="1188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Fast-Forward Merge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4937760" y="155448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When main hasn't changed since branching. Git simply moves the pointer forward — no merge commit needed. Clean, linear history.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4754880" y="2743200"/>
            <a:ext cx="3931920" cy="15544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4937760" y="2834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Three-Way Merge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4937760" y="32004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When both branches have new commits. Git creates a special merge commit with two parents, combining work from both branches. This is the most common scenario in teams.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Merge Conflicts! Don't Panic!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Conflicts happen when two branches edit the same line(s). Git marks the conflict and asks you to decide.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457200" y="1463051"/>
            <a:ext cx="4572000" cy="23478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What a Conflict Looks Like: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40080" y="1920240"/>
            <a:ext cx="42062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&lt;&lt;&lt;&lt;&lt;&lt;&lt; 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  background: blue;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=======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  background: red;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&gt;&gt;&gt;&gt;&gt;&gt;&gt; feature-redesign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YOUR changes are above =======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THEIR changes are below =======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5303525" y="1463051"/>
            <a:ext cx="3383400" cy="2347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5486400" y="1554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Resolve: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5486400" y="192024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1. Open the conflicted 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2. Choose which code to keep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 (or combine both)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3. Remove the conflict markers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 (&lt;&lt;&lt;, ===, &gt;&gt;&gt; lines)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4. Stage &amp; commit the fix: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   git add . &amp;&amp; git commit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457200" y="4010121"/>
            <a:ext cx="8229600" cy="640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5" name="Google Shape;2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101561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5"/>
          <p:cNvSpPr/>
          <p:nvPr/>
        </p:nvSpPr>
        <p:spPr>
          <a:xfrm>
            <a:off x="1097280" y="4055841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Modern IDEs highlight conflicts with color-coded buttons: Accept Current, Accept Incoming, or Accept Both.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Setting Up Your GitHub Account &amp; SSH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457200" y="854777"/>
            <a:ext cx="3931800" cy="2011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4" name="Google Shape;2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99193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/>
          <p:nvPr/>
        </p:nvSpPr>
        <p:spPr>
          <a:xfrm>
            <a:off x="1143000" y="991937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a GitHub Account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685800" y="1449137"/>
            <a:ext cx="3520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1. Go to github.com/signup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2. Enter your email, password, username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3. Verify your account via email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4. Choose the Free plan (perfect for students!)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Tip: </a:t>
            </a:r>
            <a:r>
              <a:rPr b="0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Apply for GitHub Student Developer Pack</a:t>
            </a: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at education.github.com for free Pro features!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4754880" y="854777"/>
            <a:ext cx="3931800" cy="20118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8" name="Google Shape;29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991937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6"/>
          <p:cNvSpPr/>
          <p:nvPr/>
        </p:nvSpPr>
        <p:spPr>
          <a:xfrm>
            <a:off x="5440680" y="991937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SSH Key Setup (All Platforms)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983480" y="1449137"/>
            <a:ext cx="3520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SSH lets you push/pull without typing your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password every time. Set it up once: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1. Generate a key pair on your machine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2. Copy the public key (.pub file)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3. Add it to GitHub → Settings → SSH Keys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4. Test with: ssh -T git@github.com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457200" y="2949355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SSH Key Generation Commands by 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457200" y="3306527"/>
            <a:ext cx="8229600" cy="914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640080" y="3352247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Windows (Git Bash / PowerShell)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"you@email.com"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3291840" y="3352247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macOS (Terminal)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"you@email.com"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5943600" y="3352247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Linux (Terminal)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ssh-keygen -t ed25519 -C "you@email.com"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457190" y="4236443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1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 ssh-keygen commands create an SSH key which will help you communicate securely (with verification) with your GitHub account</a:t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Creating a GitHub Repository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96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280160" y="118872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Go to github.com → Click "+" → "New repository"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280160" y="196596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Name your repo, add description, choose public/private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1280160" y="274320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Optionally add README, .gitignore, and license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BF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1280160" y="35204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Click "Create repository"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Then connect your local repo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The Push / Pull Workflow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548640" y="1371600"/>
            <a:ext cx="3200400" cy="274320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0969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54864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YOUR MACHINE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731520" y="1920240"/>
            <a:ext cx="28346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Working Directory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↓  git add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Staging Area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   ↓  git commit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Local Repository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5394960" y="1371600"/>
            <a:ext cx="3200400" cy="2743200"/>
          </a:xfrm>
          <a:prstGeom prst="rect">
            <a:avLst/>
          </a:prstGeom>
          <a:solidFill>
            <a:srgbClr val="F6F8FA"/>
          </a:solidFill>
          <a:ln cap="flat" cmpd="sng" w="25400">
            <a:solidFill>
              <a:srgbClr val="E85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539496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Trebuchet M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(REMOTE)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60" y="22860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8"/>
          <p:cNvSpPr/>
          <p:nvPr/>
        </p:nvSpPr>
        <p:spPr>
          <a:xfrm>
            <a:off x="5394960" y="32918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Remote Repository</a:t>
            </a:r>
            <a:endParaRPr b="0" i="0" sz="1400" u="none" cap="none" strike="noStrike">
              <a:solidFill>
                <a:srgbClr val="E856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3840480" y="20116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push  →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3840480" y="32004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←  git pull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3840480" y="26060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←  git fetch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Remote Repositories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2" name="Google Shape;3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005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9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A remote is a copy of your repo hosted on a server (like GitHub).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457200" y="2286000"/>
            <a:ext cx="8229600" cy="21945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640080" y="2423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remote add origin &lt;url&gt;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5303520" y="2423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Connect local repo to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push -u origin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5303520" y="2743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Upload local commits to remote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640080" y="3063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push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5303520" y="3063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Push new commits (after first push)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pull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5303520" y="3383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Download + merge remote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640080" y="3703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$ git fetch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5303520" y="3703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Download without merging (safer)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640080" y="4023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$ git remote -v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5303520" y="40233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List connected remotes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Best Practices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457200" y="1051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4" name="Google Shape;3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0"/>
          <p:cNvSpPr/>
          <p:nvPr/>
        </p:nvSpPr>
        <p:spPr>
          <a:xfrm>
            <a:off x="100584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Commit Often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1005840" y="1463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Small, focused commits are easier to review, revert, and understand.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4754880" y="1051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8" name="Google Shape;3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0"/>
          <p:cNvSpPr/>
          <p:nvPr/>
        </p:nvSpPr>
        <p:spPr>
          <a:xfrm>
            <a:off x="5303520" y="1143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Write Good Messages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5303520" y="1463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Use imperative mood: "Add feature" not "Added feature". Explain WHY, not just what.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457200" y="2194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2" name="Google Shape;3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2331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0"/>
          <p:cNvSpPr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Pull Before Push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1005840" y="2606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Always git pull before pushing to avoid conflicts and rejected pushes.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4754880" y="2194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6" name="Google Shape;38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2331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0"/>
          <p:cNvSpPr/>
          <p:nvPr/>
        </p:nvSpPr>
        <p:spPr>
          <a:xfrm>
            <a:off x="5303520" y="2286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Never Force Push Main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5303520" y="2606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git push --force rewrites remote history. Only use on your own feature branches.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457200" y="3337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0" name="Google Shape;39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360" y="3474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0"/>
          <p:cNvSpPr/>
          <p:nvPr/>
        </p:nvSpPr>
        <p:spPr>
          <a:xfrm>
            <a:off x="1005840" y="3429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Use .gitignore Early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1005840" y="3749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Set it up before your first commit. Removing tracked files later is painful.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4754880" y="3337560"/>
            <a:ext cx="4023360" cy="96012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4" name="Google Shape;39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2040" y="3474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0"/>
          <p:cNvSpPr/>
          <p:nvPr/>
        </p:nvSpPr>
        <p:spPr>
          <a:xfrm>
            <a:off x="5303520" y="34290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Before Commit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5303520" y="37490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Use git diff and git status to verify what you're about to commit.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Command Cheat Sheet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457200" y="960120"/>
            <a:ext cx="3931920" cy="35661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640080" y="1472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init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Initialize repo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640080" y="18928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clone &lt;url&gt;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Copy remote repo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640080" y="23134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BASICS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640080" y="27340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add &lt;file&gt;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Stage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commit -m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Save snapshot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640080" y="357530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Check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640080" y="39959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log --oneline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View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4754880" y="960120"/>
            <a:ext cx="3931920" cy="356616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BRANCHING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4937760" y="14721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branch &lt;name&gt;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Create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4937760" y="18928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switch &lt;name&gt;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Switch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4937760" y="23134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merge &lt;name&gt;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Merge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4937760" y="27340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REMOTE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4937760" y="3154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Upload to remote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4937760" y="357530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pull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Download + merge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4937760" y="39959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git fetch</a:t>
            </a:r>
            <a:r>
              <a:rPr b="0" i="0" lang="en" sz="120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  Download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7" name="Google Shape;4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71600"/>
            <a:ext cx="1097280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8" name="Google Shape;4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27432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2"/>
          <p:cNvSpPr/>
          <p:nvPr/>
        </p:nvSpPr>
        <p:spPr>
          <a:xfrm>
            <a:off x="3406870" y="20472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4400"/>
              <a:buFont typeface="Trebuchet MS"/>
              <a:buNone/>
            </a:pPr>
            <a:r>
              <a:rPr b="1" i="0" lang="en" sz="44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7772400" y="4709160"/>
            <a:ext cx="10972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31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/>
          <p:nvPr/>
        </p:nvSpPr>
        <p:spPr>
          <a:xfrm>
            <a:off x="791253" y="1877650"/>
            <a:ext cx="756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4400"/>
              <a:buFont typeface="Trebuchet MS"/>
              <a:buNone/>
            </a:pPr>
            <a:r>
              <a:rPr b="1" i="0" lang="en" sz="44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Concepts for you to explore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0" y="4709160"/>
            <a:ext cx="9144000" cy="434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7772400" y="4709160"/>
            <a:ext cx="1097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31 / 31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457200" y="275557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Will not appear at your exams but good to know as these are heavily used in the industry</a:t>
            </a: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Pull Requests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Pull Request (PR) is a proposal to merge your branch into another. It enables code review, discussion, and automated checks before changes go 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45720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49" name="Google Shape;4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4"/>
          <p:cNvSpPr/>
          <p:nvPr/>
        </p:nvSpPr>
        <p:spPr>
          <a:xfrm>
            <a:off x="54864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Push Branch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54864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Push your feature branch to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2377440" y="2560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260604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4" name="Google Shape;4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4"/>
          <p:cNvSpPr/>
          <p:nvPr/>
        </p:nvSpPr>
        <p:spPr>
          <a:xfrm>
            <a:off x="269748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Open PR</a:t>
            </a:r>
            <a:endParaRPr b="0" i="0" sz="13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269748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Create PR on GitHub, describe your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4526280" y="2560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475488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9" name="Google Shape;45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68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4"/>
          <p:cNvSpPr/>
          <p:nvPr/>
        </p:nvSpPr>
        <p:spPr>
          <a:xfrm>
            <a:off x="484632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Review</a:t>
            </a:r>
            <a:endParaRPr b="0" i="0" sz="13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484632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Team reviews code, leaves comments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6675120" y="25603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6903720" y="1828800"/>
            <a:ext cx="1920240" cy="22860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4" name="Google Shape;46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952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4"/>
          <p:cNvSpPr/>
          <p:nvPr/>
        </p:nvSpPr>
        <p:spPr>
          <a:xfrm>
            <a:off x="6995160" y="25603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Merge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6995160" y="29260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Approved PR gets merged into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PR in Action, A Real-World Scenario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3" name="Google Shape;47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5"/>
          <p:cNvSpPr/>
          <p:nvPr/>
        </p:nvSpPr>
        <p:spPr>
          <a:xfrm>
            <a:off x="868680" y="1051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Scenario: Adding a search feature to your team's e-commerce site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457200" y="1462713"/>
            <a:ext cx="8229600" cy="3169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640080" y="164592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Create and switch to a feature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-c feature/search-bar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Write code, test locally, commit regularly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add .</a:t>
            </a:r>
            <a:endParaRPr b="0" i="0" sz="1200" u="none" cap="none" strike="noStrike">
              <a:solidFill>
                <a:srgbClr val="0550A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search component"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search API integration"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search results styling"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Push your branch to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push -u origin feature/search-bar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4. Go to GitHub → "Compare &amp; Pull Request"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# 5. Team reviews → Approves → Merge!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6. Clean up: switch back and delete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main &amp;&amp; git pull &amp;&amp; git branch -d feature/search-bar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Workflow!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1143000" y="1097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Branch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114300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Branch off main for every feature or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731520" y="1572768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548640" y="1801368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548640" y="18013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1143000" y="17556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Add Commits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1143000" y="20299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Make small, focused commits with good messages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731520" y="2231136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548640" y="2459736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548640" y="24597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143000" y="241401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Open PR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1143000" y="268833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Push branch, open Pull Request for discussion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731520" y="2889504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548640" y="3118104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548640" y="311810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1143000" y="30723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Code Review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1143000" y="33467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Team reviews, suggests changes, approves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31520" y="3547872"/>
            <a:ext cx="18288" cy="18288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548640" y="3776472"/>
            <a:ext cx="411480" cy="4114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548640" y="37764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1143000" y="3730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Merge &amp; Deploy</a:t>
            </a:r>
            <a:endParaRPr b="0" i="0" sz="15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1143000" y="40050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Merge into main — it should always be deployable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5943600" y="1097280"/>
            <a:ext cx="274320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6126480" y="1188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BF8700"/>
                </a:solidFill>
                <a:latin typeface="Trebuchet MS"/>
                <a:ea typeface="Trebuchet MS"/>
                <a:cs typeface="Trebuchet MS"/>
                <a:sym typeface="Trebuchet MS"/>
              </a:rPr>
              <a:t>Golden Rules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6108200" y="1540825"/>
            <a:ext cx="2377500" cy="23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main is always deployable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✓ Branch names are descriptive: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  feature/user-auth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  fix/cart-total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✓ Never commit directly to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✓ PRs get at least 1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✓ Delete branches after merge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Forking &amp; Open Source Contribution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fork is your own copy of someone else's repository on GitHub. You can freely experiment without affecting the original project.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Open Source Contribution Workflow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640080" y="2103120"/>
            <a:ext cx="7863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Fork the repo on GitHub (click "Fork" button)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Clone YOUR fork locally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clone https://github.com/YOU/project.git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Add the original as upstream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remote add upstream https://github.com/ORIGINAL/project.git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4. Create a branch, make changes, push to YOUR fork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-c fix/typo-in-readme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push origin fix/typo-in-readme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# 5. Open PR from YOUR fork → ORIGINAL repo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Beyond Code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7" name="Google Shape;5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8"/>
          <p:cNvSpPr/>
          <p:nvPr/>
        </p:nvSpPr>
        <p:spPr>
          <a:xfrm>
            <a:off x="114300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Issues</a:t>
            </a:r>
            <a:endParaRPr b="0" i="0" sz="16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640080" y="16916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Track bugs, feature requests, and tasks. Link them to PRs with keywords like 'Closes #42'.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4754880" y="109728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1" name="Google Shape;53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8"/>
          <p:cNvSpPr/>
          <p:nvPr/>
        </p:nvSpPr>
        <p:spPr>
          <a:xfrm>
            <a:off x="5440680" y="12344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Actions (CI/CD)</a:t>
            </a:r>
            <a:endParaRPr b="0" i="0" sz="16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4937760" y="16916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Automate tests, builds, and deployments. Runs on every push or PR automatically.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5" name="Google Shape;53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8"/>
          <p:cNvSpPr/>
          <p:nvPr/>
        </p:nvSpPr>
        <p:spPr>
          <a:xfrm>
            <a:off x="114300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Pages</a:t>
            </a:r>
            <a:endParaRPr b="0" i="0" sz="1600" u="none" cap="none" strike="noStrike">
              <a:solidFill>
                <a:srgbClr val="0969D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640080" y="33832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Host static websites directly from a repo for free. Perfect for portfolios and project docs.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4754880" y="2788920"/>
            <a:ext cx="4023360" cy="146304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9" name="Google Shape;53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2926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8"/>
          <p:cNvSpPr/>
          <p:nvPr/>
        </p:nvSpPr>
        <p:spPr>
          <a:xfrm>
            <a:off x="544068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README.md</a:t>
            </a:r>
            <a:endParaRPr b="0" i="0" sz="16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4937760" y="338328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The front page of your repo. Write in Markdown. Include setup instructions, usage, and badges.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Branching Strategies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How teams organize their branches determines code quality, release speed, and collaboration efficiency.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457200" y="1508760"/>
            <a:ext cx="73152" cy="9144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Git 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731520" y="18745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Structured model with main, develop, feature, release, and hotfix branches. Best for scheduled release cycles.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6858000" y="1783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Best for: Enterprise, Mobile Apps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9"/>
          <p:cNvSpPr/>
          <p:nvPr/>
        </p:nvSpPr>
        <p:spPr>
          <a:xfrm>
            <a:off x="457200" y="2560320"/>
            <a:ext cx="73152" cy="9144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731520" y="292608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Simple: main + feature branches. Deploy from main after PR review. Best for continuous deployment.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6858000" y="28346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Best for: Web Apps, SaaS, Startups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457200" y="3611880"/>
            <a:ext cx="73152" cy="9144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9"/>
          <p:cNvSpPr/>
          <p:nvPr/>
        </p:nvSpPr>
        <p:spPr>
          <a:xfrm>
            <a:off x="731520" y="3657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Trunk-Based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9"/>
          <p:cNvSpPr/>
          <p:nvPr/>
        </p:nvSpPr>
        <p:spPr>
          <a:xfrm>
            <a:off x="731520" y="397764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Everyone commits to main (trunk) with very short-lived branches. Requires strong CI/CD and tests.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6858000" y="3886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Best for: Google, Large-scale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0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Branching Naming Conventions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457200" y="960127"/>
            <a:ext cx="8229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Teams also have different branching naming conventions, you should consult with the standards of the team. A usual pattern you will find: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1386150" y="1775850"/>
            <a:ext cx="637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25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&lt;user_initials&gt;/feature_&lt;feature_name&gt;</a:t>
            </a:r>
            <a:endParaRPr b="0" i="0" sz="2500" u="none" cap="none" strike="noStrike">
              <a:solidFill>
                <a:srgbClr val="E856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1657475" y="2517452"/>
            <a:ext cx="1852200" cy="43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initials of the contributor</a:t>
            </a:r>
            <a:endParaRPr b="1"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73" name="Google Shape;573;p30"/>
          <p:cNvCxnSpPr>
            <a:endCxn id="572" idx="0"/>
          </p:cNvCxnSpPr>
          <p:nvPr/>
        </p:nvCxnSpPr>
        <p:spPr>
          <a:xfrm flipH="1">
            <a:off x="2583575" y="2121152"/>
            <a:ext cx="15300" cy="39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4" name="Google Shape;574;p30"/>
          <p:cNvSpPr/>
          <p:nvPr/>
        </p:nvSpPr>
        <p:spPr>
          <a:xfrm>
            <a:off x="5392700" y="2517452"/>
            <a:ext cx="1852200" cy="434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name of the feature</a:t>
            </a:r>
            <a:endParaRPr b="1" i="0" sz="9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575" name="Google Shape;575;p30"/>
          <p:cNvCxnSpPr/>
          <p:nvPr/>
        </p:nvCxnSpPr>
        <p:spPr>
          <a:xfrm>
            <a:off x="6391300" y="2141550"/>
            <a:ext cx="9000" cy="37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6" name="Google Shape;576;p30"/>
          <p:cNvSpPr/>
          <p:nvPr/>
        </p:nvSpPr>
        <p:spPr>
          <a:xfrm>
            <a:off x="426400" y="3141702"/>
            <a:ext cx="8229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0"/>
          <p:cNvSpPr/>
          <p:nvPr/>
        </p:nvSpPr>
        <p:spPr>
          <a:xfrm>
            <a:off x="426400" y="3617500"/>
            <a:ext cx="79464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John Doe is contributing to the login feature of the app. John Doe was assigned the initials (JD), therefore his branch name for the login feature would be:</a:t>
            </a:r>
            <a:endParaRPr b="0" i="0" sz="1200" u="none" cap="none" strike="noStrike">
              <a:solidFill>
                <a:srgbClr val="656D7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JD</a:t>
            </a:r>
            <a:r>
              <a:rPr b="0" i="0" lang="en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/feature_</a:t>
            </a:r>
            <a:r>
              <a:rPr b="0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login</a:t>
            </a:r>
            <a:endParaRPr b="0" i="0" sz="1200" u="none" cap="none" strike="noStrike">
              <a:solidFill>
                <a:srgbClr val="E8563A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for bugfixes, it would be:</a:t>
            </a:r>
            <a:endParaRPr b="0" i="0" sz="1200" u="none" cap="none" strike="noStrike">
              <a:solidFill>
                <a:srgbClr val="656D7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JD</a:t>
            </a:r>
            <a:r>
              <a:rPr b="0" i="0" lang="en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/bugfixes_</a:t>
            </a:r>
            <a:r>
              <a:rPr b="0" i="0" lang="en" sz="12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login</a:t>
            </a:r>
            <a:endParaRPr b="0" i="0" sz="1200" u="none" cap="none" strike="noStrike">
              <a:solidFill>
                <a:srgbClr val="E8563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1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1"/>
          <p:cNvSpPr/>
          <p:nvPr/>
        </p:nvSpPr>
        <p:spPr>
          <a:xfrm>
            <a:off x="457200" y="7904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A structured branching model. Ideal for projects with scheduled releases.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1"/>
          <p:cNvSpPr/>
          <p:nvPr/>
        </p:nvSpPr>
        <p:spPr>
          <a:xfrm>
            <a:off x="457200" y="129340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1"/>
          <p:cNvSpPr/>
          <p:nvPr/>
        </p:nvSpPr>
        <p:spPr>
          <a:xfrm>
            <a:off x="457200" y="1293400"/>
            <a:ext cx="63900" cy="4572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685800" y="133912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1"/>
          <p:cNvSpPr/>
          <p:nvPr/>
        </p:nvSpPr>
        <p:spPr>
          <a:xfrm>
            <a:off x="685800" y="154028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permanent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2286000" y="129340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Production-ready code only. Every commit here is a release.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457200" y="184204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1"/>
          <p:cNvSpPr/>
          <p:nvPr/>
        </p:nvSpPr>
        <p:spPr>
          <a:xfrm>
            <a:off x="457200" y="1842040"/>
            <a:ext cx="63900" cy="4572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1"/>
          <p:cNvSpPr/>
          <p:nvPr/>
        </p:nvSpPr>
        <p:spPr>
          <a:xfrm>
            <a:off x="685800" y="188776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develop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685800" y="208892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permanent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2286000" y="184204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Integration branch for features. The "next release" staging ground.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457200" y="239068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457200" y="2390680"/>
            <a:ext cx="63900" cy="4572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1"/>
          <p:cNvSpPr/>
          <p:nvPr/>
        </p:nvSpPr>
        <p:spPr>
          <a:xfrm>
            <a:off x="685800" y="2436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initials/feature_*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1"/>
          <p:cNvSpPr/>
          <p:nvPr/>
        </p:nvSpPr>
        <p:spPr>
          <a:xfrm>
            <a:off x="685800" y="263756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1"/>
          <p:cNvSpPr/>
          <p:nvPr/>
        </p:nvSpPr>
        <p:spPr>
          <a:xfrm>
            <a:off x="2286000" y="239068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One per feature. Branch from develop, merge back into develop via PR.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457200" y="293932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1"/>
          <p:cNvSpPr/>
          <p:nvPr/>
        </p:nvSpPr>
        <p:spPr>
          <a:xfrm>
            <a:off x="457200" y="2939320"/>
            <a:ext cx="63900" cy="457200"/>
          </a:xfrm>
          <a:prstGeom prst="rect">
            <a:avLst/>
          </a:prstGeom>
          <a:solidFill>
            <a:srgbClr val="BF8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685800" y="298504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release/*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1"/>
          <p:cNvSpPr/>
          <p:nvPr/>
        </p:nvSpPr>
        <p:spPr>
          <a:xfrm>
            <a:off x="685800" y="318620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1"/>
          <p:cNvSpPr/>
          <p:nvPr/>
        </p:nvSpPr>
        <p:spPr>
          <a:xfrm>
            <a:off x="2286000" y="293932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Prep a release: bump versions, final fixes. Merges into main AND develop.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1"/>
          <p:cNvSpPr/>
          <p:nvPr/>
        </p:nvSpPr>
        <p:spPr>
          <a:xfrm>
            <a:off x="457200" y="348796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1"/>
          <p:cNvSpPr/>
          <p:nvPr/>
        </p:nvSpPr>
        <p:spPr>
          <a:xfrm>
            <a:off x="457200" y="3487960"/>
            <a:ext cx="63900" cy="4572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1"/>
          <p:cNvSpPr/>
          <p:nvPr/>
        </p:nvSpPr>
        <p:spPr>
          <a:xfrm>
            <a:off x="685800" y="353368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hotfix/*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685800" y="373484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temporary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1"/>
          <p:cNvSpPr/>
          <p:nvPr/>
        </p:nvSpPr>
        <p:spPr>
          <a:xfrm>
            <a:off x="2286000" y="3487960"/>
            <a:ext cx="621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Emergency fix on production. Branch from main, merge into main AND develop.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1"/>
          <p:cNvSpPr/>
          <p:nvPr/>
        </p:nvSpPr>
        <p:spPr>
          <a:xfrm>
            <a:off x="457200" y="4082320"/>
            <a:ext cx="8229600" cy="457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11" name="Google Shape;61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128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1"/>
          <p:cNvSpPr/>
          <p:nvPr/>
        </p:nvSpPr>
        <p:spPr>
          <a:xfrm>
            <a:off x="1005840" y="408232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Real-world: </a:t>
            </a:r>
            <a:r>
              <a:rPr b="0" i="0" lang="en" sz="1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 mobile banking app releases v2.3 every 2 weeks. Features go on initials/feature branches → develop → release/2.3 for QA → main. Critical bugs use hotfix/* directly to main.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2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2"/>
          <p:cNvSpPr/>
          <p:nvPr/>
        </p:nvSpPr>
        <p:spPr>
          <a:xfrm>
            <a:off x="457200" y="9601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The simplest strategy. Only two branch types: main and short-lived feature branches.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2"/>
          <p:cNvSpPr/>
          <p:nvPr/>
        </p:nvSpPr>
        <p:spPr>
          <a:xfrm>
            <a:off x="457200" y="1463040"/>
            <a:ext cx="4755000" cy="2926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2"/>
          <p:cNvSpPr/>
          <p:nvPr/>
        </p:nvSpPr>
        <p:spPr>
          <a:xfrm>
            <a:off x="640080" y="155448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The Entire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2"/>
          <p:cNvSpPr/>
          <p:nvPr/>
        </p:nvSpPr>
        <p:spPr>
          <a:xfrm>
            <a:off x="640080" y="1920240"/>
            <a:ext cx="4389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Create branch from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-c initials/feature_dark-mode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Commit your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commit -m "Add dark mode toggle"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Push &amp; open Pull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push -u origin feature/dark-mode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# 4. Review → Approve → Merge → Deploy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5. Delete the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branch -d feature/dark-mode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2"/>
          <p:cNvSpPr/>
          <p:nvPr/>
        </p:nvSpPr>
        <p:spPr>
          <a:xfrm>
            <a:off x="5394960" y="1463040"/>
            <a:ext cx="3291900" cy="29262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2"/>
          <p:cNvSpPr/>
          <p:nvPr/>
        </p:nvSpPr>
        <p:spPr>
          <a:xfrm>
            <a:off x="5577840" y="155448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Why Teams Love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2"/>
          <p:cNvSpPr/>
          <p:nvPr/>
        </p:nvSpPr>
        <p:spPr>
          <a:xfrm>
            <a:off x="5577840" y="1920240"/>
            <a:ext cx="2926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Dead simple to learn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No develop, release, or hotfix branches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main is always deployable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Every merge triggers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Fast feedback via PRs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Code review is built into the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No staging environment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Not ideal for complex release cycles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Used by: </a:t>
            </a:r>
            <a:r>
              <a:rPr b="0" i="0" lang="en" sz="1200" u="none" cap="none" strike="noStrike">
                <a:solidFill>
                  <a:srgbClr val="0969DA"/>
                </a:solidFill>
                <a:latin typeface="Calibri"/>
                <a:ea typeface="Calibri"/>
                <a:cs typeface="Calibri"/>
                <a:sym typeface="Calibri"/>
              </a:rPr>
              <a:t>GitHub, Shopify, Basecamp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3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Trunk-Based Development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3"/>
          <p:cNvSpPr/>
          <p:nvPr/>
        </p:nvSpPr>
        <p:spPr>
          <a:xfrm>
            <a:off x="457200" y="885478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Everyone commits directly to main (the "trunk"). Short-lived branches last hours, not days.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3"/>
          <p:cNvSpPr/>
          <p:nvPr/>
        </p:nvSpPr>
        <p:spPr>
          <a:xfrm>
            <a:off x="457200" y="138839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34" name="Google Shape;6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52555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3"/>
          <p:cNvSpPr/>
          <p:nvPr/>
        </p:nvSpPr>
        <p:spPr>
          <a:xfrm>
            <a:off x="1005840" y="147983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Tiny Commits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3"/>
          <p:cNvSpPr/>
          <p:nvPr/>
        </p:nvSpPr>
        <p:spPr>
          <a:xfrm>
            <a:off x="1005840" y="179987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Commits are small and frequent. Often multiple times per day. Each commit should build and pass tests.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3"/>
          <p:cNvSpPr/>
          <p:nvPr/>
        </p:nvSpPr>
        <p:spPr>
          <a:xfrm>
            <a:off x="4754880" y="138839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38" name="Google Shape;63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52555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3"/>
          <p:cNvSpPr/>
          <p:nvPr/>
        </p:nvSpPr>
        <p:spPr>
          <a:xfrm>
            <a:off x="5303520" y="147983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656D76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Flags</a:t>
            </a:r>
            <a:endParaRPr b="0" i="0" sz="1400" u="none" cap="none" strike="noStrike">
              <a:solidFill>
                <a:srgbClr val="656D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3"/>
          <p:cNvSpPr/>
          <p:nvPr/>
        </p:nvSpPr>
        <p:spPr>
          <a:xfrm>
            <a:off x="5303520" y="179987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Incomplete features are hidden behind flags in code, so unfinished work can exist in main safely.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3"/>
          <p:cNvSpPr/>
          <p:nvPr/>
        </p:nvSpPr>
        <p:spPr>
          <a:xfrm>
            <a:off x="457200" y="262283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2" name="Google Shape;64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275999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33"/>
          <p:cNvSpPr/>
          <p:nvPr/>
        </p:nvSpPr>
        <p:spPr>
          <a:xfrm>
            <a:off x="1005840" y="271427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CI/CD</a:t>
            </a:r>
            <a:endParaRPr b="0" i="0" sz="1400" u="none" cap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3"/>
          <p:cNvSpPr/>
          <p:nvPr/>
        </p:nvSpPr>
        <p:spPr>
          <a:xfrm>
            <a:off x="1005840" y="303431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Automated tests run on every commit. If tests fail, the team stops and fixes immediately.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3"/>
          <p:cNvSpPr/>
          <p:nvPr/>
        </p:nvSpPr>
        <p:spPr>
          <a:xfrm>
            <a:off x="4754880" y="2622838"/>
            <a:ext cx="4023300" cy="10515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6" name="Google Shape;64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275999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33"/>
          <p:cNvSpPr/>
          <p:nvPr/>
        </p:nvSpPr>
        <p:spPr>
          <a:xfrm>
            <a:off x="5303520" y="271427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400"/>
              <a:buFont typeface="Trebuchet MS"/>
              <a:buNone/>
            </a:pPr>
            <a:r>
              <a:rPr b="1" i="0" lang="en" sz="14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No Long-Lived Branches</a:t>
            </a:r>
            <a:endParaRPr b="0" i="0" sz="1400" u="none" cap="none" strike="noStrike">
              <a:solidFill>
                <a:srgbClr val="0969D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3"/>
          <p:cNvSpPr/>
          <p:nvPr/>
        </p:nvSpPr>
        <p:spPr>
          <a:xfrm>
            <a:off x="5303520" y="3034318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Branches (if used at all) live for &lt; 1 day. No feature branches sitting open for a week.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3"/>
          <p:cNvSpPr/>
          <p:nvPr/>
        </p:nvSpPr>
        <p:spPr>
          <a:xfrm>
            <a:off x="457200" y="3846934"/>
            <a:ext cx="8229600" cy="64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50" name="Google Shape;650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393837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3"/>
          <p:cNvSpPr/>
          <p:nvPr/>
        </p:nvSpPr>
        <p:spPr>
          <a:xfrm>
            <a:off x="1005840" y="3846934"/>
            <a:ext cx="7498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Real-world example: </a:t>
            </a:r>
            <a:r>
              <a:rPr b="0" i="0" lang="en" sz="11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Some companies have 5,000+ engineers committing to a single trunk repository. They use feature flags extensively. Say, a new search algorithm might be in main for months before it's enabled for users.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.gitignore: Keeping Repos Clean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4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640080" y="1188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.gitignore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4"/>
          <p:cNvSpPr/>
          <p:nvPr/>
        </p:nvSpPr>
        <p:spPr>
          <a:xfrm>
            <a:off x="640080" y="160020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Dependencies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node_modules/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venv/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Build outputs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dist/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*.pyc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Secrets &amp;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*.key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OS 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.DS_Store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2" name="Google Shape;6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4"/>
          <p:cNvSpPr/>
          <p:nvPr/>
        </p:nvSpPr>
        <p:spPr>
          <a:xfrm>
            <a:off x="548640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600"/>
              <a:buFont typeface="Trebuchet MS"/>
              <a:buNone/>
            </a:pPr>
            <a:r>
              <a:rPr b="1" i="0" lang="en" sz="1600" u="none" cap="none" strike="noStrike">
                <a:solidFill>
                  <a:srgbClr val="1A7F37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4"/>
          <p:cNvSpPr/>
          <p:nvPr/>
        </p:nvSpPr>
        <p:spPr>
          <a:xfrm>
            <a:off x="5029200" y="173736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Never commit: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Passwords or API keys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node_modules (can be 500MB+)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Compiled/build output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  ✗  OS-generated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Pro tip: </a:t>
            </a: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github.com/github/gitignore has templates for every language and framework!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Rebase vs Merge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5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5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5"/>
          <p:cNvSpPr/>
          <p:nvPr/>
        </p:nvSpPr>
        <p:spPr>
          <a:xfrm>
            <a:off x="73152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git merge (rare usage)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/>
          <p:nvPr/>
        </p:nvSpPr>
        <p:spPr>
          <a:xfrm>
            <a:off x="731520" y="164592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Creates a merge commit that combines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two branch histories.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Non-destructive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Preserves complete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Safe for shared branches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Can create a messy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Extra merge commits clutter 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4754880" y="1097280"/>
            <a:ext cx="73152" cy="3200400"/>
          </a:xfrm>
          <a:prstGeom prst="rect">
            <a:avLst/>
          </a:prstGeom>
          <a:solidFill>
            <a:srgbClr val="E856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5"/>
          <p:cNvSpPr/>
          <p:nvPr/>
        </p:nvSpPr>
        <p:spPr>
          <a:xfrm>
            <a:off x="502920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git rebase (used more)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5"/>
          <p:cNvSpPr/>
          <p:nvPr/>
        </p:nvSpPr>
        <p:spPr>
          <a:xfrm>
            <a:off x="5029200" y="164592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Re-applies your commits on top of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another branch tip. Rewrites history.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Clean, linear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Easier to read git 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No extra merge commits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Rewrites commit hashes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NEVER rebase shared branches!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6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600"/>
              <a:buFont typeface="Trebuchet MS"/>
              <a:buNone/>
            </a:pPr>
            <a:r>
              <a:rPr b="1" i="0" lang="en" sz="36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stash: Save Work for Later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6"/>
          <p:cNvSpPr/>
          <p:nvPr/>
        </p:nvSpPr>
        <p:spPr>
          <a:xfrm>
            <a:off x="457200" y="10058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Need to switch branches but have uncommitted changes? Stash them temporarily.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6"/>
          <p:cNvSpPr/>
          <p:nvPr/>
        </p:nvSpPr>
        <p:spPr>
          <a:xfrm>
            <a:off x="457200" y="1554480"/>
            <a:ext cx="8229600" cy="25602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6"/>
          <p:cNvSpPr/>
          <p:nvPr/>
        </p:nvSpPr>
        <p:spPr>
          <a:xfrm>
            <a:off x="640080" y="169164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stash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6"/>
          <p:cNvSpPr/>
          <p:nvPr/>
        </p:nvSpPr>
        <p:spPr>
          <a:xfrm>
            <a:off x="5760720" y="169164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Stash all uncommitted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6"/>
          <p:cNvSpPr/>
          <p:nvPr/>
        </p:nvSpPr>
        <p:spPr>
          <a:xfrm>
            <a:off x="640080" y="2075688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onsolas"/>
                <a:ea typeface="Consolas"/>
                <a:cs typeface="Consolas"/>
                <a:sym typeface="Consolas"/>
              </a:rPr>
              <a:t>$ git stash push -m "WIP: login form"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6"/>
          <p:cNvSpPr/>
          <p:nvPr/>
        </p:nvSpPr>
        <p:spPr>
          <a:xfrm>
            <a:off x="5760720" y="2075688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Stash with a descriptive 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6"/>
          <p:cNvSpPr/>
          <p:nvPr/>
        </p:nvSpPr>
        <p:spPr>
          <a:xfrm>
            <a:off x="640080" y="2459736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BF8700"/>
                </a:solidFill>
                <a:latin typeface="Consolas"/>
                <a:ea typeface="Consolas"/>
                <a:cs typeface="Consolas"/>
                <a:sym typeface="Consolas"/>
              </a:rPr>
              <a:t>$ git stash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6"/>
          <p:cNvSpPr/>
          <p:nvPr/>
        </p:nvSpPr>
        <p:spPr>
          <a:xfrm>
            <a:off x="5760720" y="2459736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View all stashed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6"/>
          <p:cNvSpPr/>
          <p:nvPr/>
        </p:nvSpPr>
        <p:spPr>
          <a:xfrm>
            <a:off x="640080" y="2843784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stash pop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6"/>
          <p:cNvSpPr/>
          <p:nvPr/>
        </p:nvSpPr>
        <p:spPr>
          <a:xfrm>
            <a:off x="5760720" y="2843784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Apply most recent stash &amp; remove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640080" y="3227832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0969DA"/>
                </a:solidFill>
                <a:latin typeface="Consolas"/>
                <a:ea typeface="Consolas"/>
                <a:cs typeface="Consolas"/>
                <a:sym typeface="Consolas"/>
              </a:rPr>
              <a:t>$ git stash apply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5760720" y="3227832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Apply stash but keep it in the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6"/>
          <p:cNvSpPr/>
          <p:nvPr/>
        </p:nvSpPr>
        <p:spPr>
          <a:xfrm>
            <a:off x="640080" y="3611880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stash drop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6"/>
          <p:cNvSpPr/>
          <p:nvPr/>
        </p:nvSpPr>
        <p:spPr>
          <a:xfrm>
            <a:off x="5760720" y="36118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Delete a stash without applying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0" name="Google Shape;7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379975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6"/>
          <p:cNvSpPr/>
          <p:nvPr/>
        </p:nvSpPr>
        <p:spPr>
          <a:xfrm>
            <a:off x="1005840" y="4297680"/>
            <a:ext cx="749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100"/>
              <a:buFont typeface="Calibri"/>
              <a:buNone/>
            </a:pPr>
            <a:r>
              <a:rPr b="1" i="0" lang="en" sz="105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b="0" i="0" lang="en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You're mid-feature but need an urgent bug fix on main. Stash → switch → fix → switch back → pop!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7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1F2328"/>
                </a:solidFill>
                <a:latin typeface="Trebuchet MS"/>
                <a:ea typeface="Trebuchet MS"/>
                <a:cs typeface="Trebuchet MS"/>
                <a:sym typeface="Trebuchet MS"/>
              </a:rPr>
              <a:t>git cherry-pick: Grab a Single Commit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7"/>
          <p:cNvSpPr/>
          <p:nvPr/>
        </p:nvSpPr>
        <p:spPr>
          <a:xfrm>
            <a:off x="457200" y="9601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Cherry-pick lets you copy a specific commit from one branch and apply it to another WITHOUT merging the entire branch. This is used 99% of the time in industry teams.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7"/>
          <p:cNvSpPr/>
          <p:nvPr/>
        </p:nvSpPr>
        <p:spPr>
          <a:xfrm>
            <a:off x="457200" y="1508749"/>
            <a:ext cx="4755000" cy="26277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7"/>
          <p:cNvSpPr/>
          <p:nvPr/>
        </p:nvSpPr>
        <p:spPr>
          <a:xfrm>
            <a:off x="640080" y="16002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E8563A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Cherry-Pick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7"/>
          <p:cNvSpPr/>
          <p:nvPr/>
        </p:nvSpPr>
        <p:spPr>
          <a:xfrm>
            <a:off x="640080" y="1965960"/>
            <a:ext cx="43890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1. Find the commit hash you want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log --oneline initials/feature_payments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a1b2c3d Fix currency rounding 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  e4f5g6h Add payment gateway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2. Switch to the target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50AE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0550AE"/>
                </a:solidFill>
                <a:latin typeface="Consolas"/>
                <a:ea typeface="Consolas"/>
                <a:cs typeface="Consolas"/>
                <a:sym typeface="Consolas"/>
              </a:rPr>
              <a:t>$ git switch 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656D76"/>
                </a:solidFill>
                <a:latin typeface="Consolas"/>
                <a:ea typeface="Consolas"/>
                <a:cs typeface="Consolas"/>
                <a:sym typeface="Consolas"/>
              </a:rPr>
              <a:t># 3. Cherry-pick the specific 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E8563A"/>
                </a:solidFill>
                <a:latin typeface="Consolas"/>
                <a:ea typeface="Consolas"/>
                <a:cs typeface="Consolas"/>
                <a:sym typeface="Consolas"/>
              </a:rPr>
              <a:t>$ git cherry-pick a1b2c3d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5394950" y="1508749"/>
            <a:ext cx="3291900" cy="2627700"/>
          </a:xfrm>
          <a:prstGeom prst="rect">
            <a:avLst/>
          </a:prstGeom>
          <a:solidFill>
            <a:srgbClr val="F6F8FA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7"/>
          <p:cNvSpPr/>
          <p:nvPr/>
        </p:nvSpPr>
        <p:spPr>
          <a:xfrm>
            <a:off x="5577840" y="160020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69D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0969DA"/>
                </a:solidFill>
                <a:latin typeface="Trebuchet MS"/>
                <a:ea typeface="Trebuchet MS"/>
                <a:cs typeface="Trebuchet MS"/>
                <a:sym typeface="Trebuchet MS"/>
              </a:rPr>
              <a:t>When to Use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7"/>
          <p:cNvSpPr/>
          <p:nvPr/>
        </p:nvSpPr>
        <p:spPr>
          <a:xfrm>
            <a:off x="5577850" y="1965948"/>
            <a:ext cx="2926200" cy="20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Hotfix needed on main but the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fix lives on a feature 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Backporting a fix to an older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release branch (e.g. v2.x)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✓ Picking select commits from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branch you don't want to merge fully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3A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563A"/>
                </a:solidFill>
                <a:latin typeface="Calibri"/>
                <a:ea typeface="Calibri"/>
                <a:cs typeface="Calibri"/>
                <a:sym typeface="Calibri"/>
              </a:rPr>
              <a:t>✗ Don't overuse it — merging 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D76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56D76"/>
                </a:solidFill>
                <a:latin typeface="Calibri"/>
                <a:ea typeface="Calibri"/>
                <a:cs typeface="Calibri"/>
                <a:sym typeface="Calibri"/>
              </a:rPr>
              <a:t>  rebasing is usually cleaner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7"/>
          <p:cNvSpPr/>
          <p:nvPr/>
        </p:nvSpPr>
        <p:spPr>
          <a:xfrm>
            <a:off x="457200" y="4367647"/>
            <a:ext cx="8229600" cy="594300"/>
          </a:xfrm>
          <a:prstGeom prst="rect">
            <a:avLst/>
          </a:prstGeom>
          <a:solidFill>
            <a:srgbClr val="EE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6" name="Google Shape;7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45908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37"/>
          <p:cNvSpPr/>
          <p:nvPr/>
        </p:nvSpPr>
        <p:spPr>
          <a:xfrm>
            <a:off x="1005840" y="4367647"/>
            <a:ext cx="7498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8700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Scenario: </a:t>
            </a:r>
            <a:r>
              <a:rPr b="0" i="0" lang="en" sz="105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Your teammate fixed a critical currency rounding bug on feature/payments, but that branch has 20 other commits not ready for production. Cherry-pick just the bug fix commit onto main without bringing everything else along.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