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0"/>
  </p:notesMasterIdLst>
  <p:sldIdLst>
    <p:sldId id="353" r:id="rId2"/>
    <p:sldId id="312" r:id="rId3"/>
    <p:sldId id="302" r:id="rId4"/>
    <p:sldId id="293" r:id="rId5"/>
    <p:sldId id="308" r:id="rId6"/>
    <p:sldId id="318" r:id="rId7"/>
    <p:sldId id="310" r:id="rId8"/>
    <p:sldId id="319" r:id="rId9"/>
    <p:sldId id="320" r:id="rId10"/>
    <p:sldId id="321" r:id="rId11"/>
    <p:sldId id="329" r:id="rId12"/>
    <p:sldId id="322" r:id="rId13"/>
    <p:sldId id="323" r:id="rId14"/>
    <p:sldId id="324" r:id="rId15"/>
    <p:sldId id="325" r:id="rId16"/>
    <p:sldId id="326" r:id="rId17"/>
    <p:sldId id="327" r:id="rId18"/>
    <p:sldId id="328" r:id="rId19"/>
    <p:sldId id="330" r:id="rId20"/>
    <p:sldId id="331" r:id="rId21"/>
    <p:sldId id="282" r:id="rId22"/>
    <p:sldId id="304" r:id="rId23"/>
    <p:sldId id="284" r:id="rId24"/>
    <p:sldId id="274" r:id="rId25"/>
    <p:sldId id="339" r:id="rId26"/>
    <p:sldId id="340" r:id="rId27"/>
    <p:sldId id="355" r:id="rId28"/>
    <p:sldId id="333" r:id="rId29"/>
    <p:sldId id="336" r:id="rId30"/>
    <p:sldId id="351" r:id="rId31"/>
    <p:sldId id="335" r:id="rId32"/>
    <p:sldId id="334" r:id="rId33"/>
    <p:sldId id="269" r:id="rId34"/>
    <p:sldId id="303" r:id="rId35"/>
    <p:sldId id="270" r:id="rId36"/>
    <p:sldId id="347" r:id="rId37"/>
    <p:sldId id="348" r:id="rId38"/>
    <p:sldId id="349" r:id="rId39"/>
    <p:sldId id="350" r:id="rId40"/>
    <p:sldId id="356" r:id="rId41"/>
    <p:sldId id="341" r:id="rId42"/>
    <p:sldId id="342" r:id="rId43"/>
    <p:sldId id="343" r:id="rId44"/>
    <p:sldId id="344" r:id="rId45"/>
    <p:sldId id="345" r:id="rId46"/>
    <p:sldId id="346" r:id="rId47"/>
    <p:sldId id="296" r:id="rId48"/>
    <p:sldId id="352" r:id="rId49"/>
    <p:sldId id="315" r:id="rId50"/>
    <p:sldId id="337" r:id="rId51"/>
    <p:sldId id="300" r:id="rId52"/>
    <p:sldId id="305" r:id="rId53"/>
    <p:sldId id="338" r:id="rId54"/>
    <p:sldId id="316" r:id="rId55"/>
    <p:sldId id="357" r:id="rId56"/>
    <p:sldId id="358" r:id="rId57"/>
    <p:sldId id="359" r:id="rId58"/>
    <p:sldId id="354"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asif M." initials="NM"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2664" autoAdjust="0"/>
  </p:normalViewPr>
  <p:slideViewPr>
    <p:cSldViewPr snapToGrid="0">
      <p:cViewPr varScale="1">
        <p:scale>
          <a:sx n="59" d="100"/>
          <a:sy n="59" d="100"/>
        </p:scale>
        <p:origin x="132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commentAuthors" Target="commentAuthor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if M" userId="5fbe7e48-0d2d-40c8-a740-2b2c66ce6a52" providerId="ADAL" clId="{5BD26B3F-DCD6-4551-A7CB-3178D5650A4B}"/>
    <pc:docChg chg="undo custSel addSld modSld">
      <pc:chgData name="Nasif M" userId="5fbe7e48-0d2d-40c8-a740-2b2c66ce6a52" providerId="ADAL" clId="{5BD26B3F-DCD6-4551-A7CB-3178D5650A4B}" dt="2019-08-25T04:58:00.269" v="388" actId="20577"/>
      <pc:docMkLst>
        <pc:docMk/>
      </pc:docMkLst>
      <pc:sldChg chg="addSp delSp modSp add">
        <pc:chgData name="Nasif M" userId="5fbe7e48-0d2d-40c8-a740-2b2c66ce6a52" providerId="ADAL" clId="{5BD26B3F-DCD6-4551-A7CB-3178D5650A4B}" dt="2019-08-25T04:58:00.269" v="388" actId="20577"/>
        <pc:sldMkLst>
          <pc:docMk/>
          <pc:sldMk cId="1414813254" sldId="338"/>
        </pc:sldMkLst>
        <pc:spChg chg="add mod">
          <ac:chgData name="Nasif M" userId="5fbe7e48-0d2d-40c8-a740-2b2c66ce6a52" providerId="ADAL" clId="{5BD26B3F-DCD6-4551-A7CB-3178D5650A4B}" dt="2019-08-25T04:58:00.269" v="388" actId="20577"/>
          <ac:spMkLst>
            <pc:docMk/>
            <pc:sldMk cId="1414813254" sldId="338"/>
            <ac:spMk id="2" creationId="{F6F42B95-D630-4902-B564-1B710A37F205}"/>
          </ac:spMkLst>
        </pc:spChg>
        <pc:spChg chg="mod">
          <ac:chgData name="Nasif M" userId="5fbe7e48-0d2d-40c8-a740-2b2c66ce6a52" providerId="ADAL" clId="{5BD26B3F-DCD6-4551-A7CB-3178D5650A4B}" dt="2019-08-25T04:57:19.798" v="366" actId="27636"/>
          <ac:spMkLst>
            <pc:docMk/>
            <pc:sldMk cId="1414813254" sldId="338"/>
            <ac:spMk id="6" creationId="{00000000-0000-0000-0000-000000000000}"/>
          </ac:spMkLst>
        </pc:spChg>
        <pc:picChg chg="del">
          <ac:chgData name="Nasif M" userId="5fbe7e48-0d2d-40c8-a740-2b2c66ce6a52" providerId="ADAL" clId="{5BD26B3F-DCD6-4551-A7CB-3178D5650A4B}" dt="2019-08-25T04:52:19.732" v="1" actId="478"/>
          <ac:picMkLst>
            <pc:docMk/>
            <pc:sldMk cId="1414813254" sldId="338"/>
            <ac:picMk id="7"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4E1F35B-C7EF-4242-90A7-C340D9142D32}" type="datetimeFigureOut">
              <a:rPr lang="en-US" smtClean="0"/>
              <a:t>11/9/2025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3AB597-3474-490C-B819-58D851D878E2}" type="slidenum">
              <a:rPr lang="en-US" smtClean="0"/>
              <a:t>‹#›</a:t>
            </a:fld>
            <a:endParaRPr lang="en-US"/>
          </a:p>
        </p:txBody>
      </p:sp>
    </p:spTree>
    <p:extLst>
      <p:ext uri="{BB962C8B-B14F-4D97-AF65-F5344CB8AC3E}">
        <p14:creationId xmlns:p14="http://schemas.microsoft.com/office/powerpoint/2010/main" val="31483931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2</a:t>
            </a:fld>
            <a:endParaRPr lang="en-US"/>
          </a:p>
        </p:txBody>
      </p:sp>
    </p:spTree>
    <p:extLst>
      <p:ext uri="{BB962C8B-B14F-4D97-AF65-F5344CB8AC3E}">
        <p14:creationId xmlns:p14="http://schemas.microsoft.com/office/powerpoint/2010/main" val="3830899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973AB597-3474-490C-B819-58D851D878E2}" type="slidenum">
              <a:rPr lang="en-US" smtClean="0"/>
              <a:t>3</a:t>
            </a:fld>
            <a:endParaRPr lang="en-US"/>
          </a:p>
        </p:txBody>
      </p:sp>
    </p:spTree>
    <p:extLst>
      <p:ext uri="{BB962C8B-B14F-4D97-AF65-F5344CB8AC3E}">
        <p14:creationId xmlns:p14="http://schemas.microsoft.com/office/powerpoint/2010/main" val="1368925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4</a:t>
            </a:fld>
            <a:endParaRPr lang="en-US"/>
          </a:p>
        </p:txBody>
      </p:sp>
    </p:spTree>
    <p:extLst>
      <p:ext uri="{BB962C8B-B14F-4D97-AF65-F5344CB8AC3E}">
        <p14:creationId xmlns:p14="http://schemas.microsoft.com/office/powerpoint/2010/main" val="10494148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6C7EA3C-33DC-4A20-985F-3423A27A1404}" type="slidenum">
              <a:rPr lang="en-US" smtClean="0"/>
              <a:t>7</a:t>
            </a:fld>
            <a:endParaRPr lang="en-US"/>
          </a:p>
        </p:txBody>
      </p:sp>
    </p:spTree>
    <p:extLst>
      <p:ext uri="{BB962C8B-B14F-4D97-AF65-F5344CB8AC3E}">
        <p14:creationId xmlns:p14="http://schemas.microsoft.com/office/powerpoint/2010/main" val="186770678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21</a:t>
            </a:fld>
            <a:endParaRPr lang="en-US"/>
          </a:p>
        </p:txBody>
      </p:sp>
    </p:spTree>
    <p:extLst>
      <p:ext uri="{BB962C8B-B14F-4D97-AF65-F5344CB8AC3E}">
        <p14:creationId xmlns:p14="http://schemas.microsoft.com/office/powerpoint/2010/main" val="1611063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24</a:t>
            </a:fld>
            <a:endParaRPr lang="en-US"/>
          </a:p>
        </p:txBody>
      </p:sp>
    </p:spTree>
    <p:extLst>
      <p:ext uri="{BB962C8B-B14F-4D97-AF65-F5344CB8AC3E}">
        <p14:creationId xmlns:p14="http://schemas.microsoft.com/office/powerpoint/2010/main" val="15742530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AC53DA67-8FD9-43CD-AD53-7ECECF048940}" type="slidenum">
              <a:rPr lang="zh-TW" altLang="en-US" sz="1200"/>
              <a:pPr/>
              <a:t>25</a:t>
            </a:fld>
            <a:endParaRPr lang="en-US" altLang="zh-TW" sz="1200"/>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EF06283-5F5A-4079-9EDC-E056FCC88B99}" type="slidenum">
              <a:rPr lang="zh-TW" altLang="en-US" sz="1200"/>
              <a:pPr/>
              <a:t>26</a:t>
            </a:fld>
            <a:endParaRPr lang="en-US" altLang="zh-TW"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8EF06283-5F5A-4079-9EDC-E056FCC88B99}" type="slidenum">
              <a:rPr lang="zh-TW" altLang="en-US" sz="1200"/>
              <a:pPr/>
              <a:t>27</a:t>
            </a:fld>
            <a:endParaRPr lang="en-US" altLang="zh-TW" sz="1200"/>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extLst>
      <p:ext uri="{BB962C8B-B14F-4D97-AF65-F5344CB8AC3E}">
        <p14:creationId xmlns:p14="http://schemas.microsoft.com/office/powerpoint/2010/main" val="5411851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28</a:t>
            </a:fld>
            <a:endParaRPr lang="en-US"/>
          </a:p>
        </p:txBody>
      </p:sp>
    </p:spTree>
    <p:extLst>
      <p:ext uri="{BB962C8B-B14F-4D97-AF65-F5344CB8AC3E}">
        <p14:creationId xmlns:p14="http://schemas.microsoft.com/office/powerpoint/2010/main" val="16833989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29</a:t>
            </a:fld>
            <a:endParaRPr lang="en-US"/>
          </a:p>
        </p:txBody>
      </p:sp>
    </p:spTree>
    <p:extLst>
      <p:ext uri="{BB962C8B-B14F-4D97-AF65-F5344CB8AC3E}">
        <p14:creationId xmlns:p14="http://schemas.microsoft.com/office/powerpoint/2010/main" val="9665503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30</a:t>
            </a:fld>
            <a:endParaRPr lang="en-US"/>
          </a:p>
        </p:txBody>
      </p:sp>
    </p:spTree>
    <p:extLst>
      <p:ext uri="{BB962C8B-B14F-4D97-AF65-F5344CB8AC3E}">
        <p14:creationId xmlns:p14="http://schemas.microsoft.com/office/powerpoint/2010/main" val="21783053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33</a:t>
            </a:fld>
            <a:endParaRPr lang="en-US"/>
          </a:p>
        </p:txBody>
      </p:sp>
    </p:spTree>
    <p:extLst>
      <p:ext uri="{BB962C8B-B14F-4D97-AF65-F5344CB8AC3E}">
        <p14:creationId xmlns:p14="http://schemas.microsoft.com/office/powerpoint/2010/main" val="40138761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8192</a:t>
            </a:r>
            <a:r>
              <a:rPr lang="en-US" baseline="0" dirty="0"/>
              <a:t> number of descriptor require 8192 * 8 byte = 64 KB of memory.</a:t>
            </a:r>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34</a:t>
            </a:fld>
            <a:endParaRPr lang="en-US"/>
          </a:p>
        </p:txBody>
      </p:sp>
    </p:spTree>
    <p:extLst>
      <p:ext uri="{BB962C8B-B14F-4D97-AF65-F5344CB8AC3E}">
        <p14:creationId xmlns:p14="http://schemas.microsoft.com/office/powerpoint/2010/main" val="950837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35</a:t>
            </a:fld>
            <a:endParaRPr lang="en-US"/>
          </a:p>
        </p:txBody>
      </p:sp>
    </p:spTree>
    <p:extLst>
      <p:ext uri="{BB962C8B-B14F-4D97-AF65-F5344CB8AC3E}">
        <p14:creationId xmlns:p14="http://schemas.microsoft.com/office/powerpoint/2010/main" val="5928822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49A4B664-EF74-4AE2-B2F6-3897953B8F41}" type="slidenum">
              <a:rPr lang="zh-TW" altLang="en-US" sz="1200"/>
              <a:pPr/>
              <a:t>36</a:t>
            </a:fld>
            <a:endParaRPr lang="en-US" altLang="zh-TW" sz="120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2A52B922-5EE4-4E36-80A7-12C6DCB8B84F}" type="slidenum">
              <a:rPr lang="zh-TW" altLang="en-US" sz="1200"/>
              <a:pPr/>
              <a:t>41</a:t>
            </a:fld>
            <a:endParaRPr lang="en-US" altLang="zh-TW" sz="1200"/>
          </a:p>
        </p:txBody>
      </p:sp>
      <p:sp>
        <p:nvSpPr>
          <p:cNvPr id="69635" name="Rectangle 2"/>
          <p:cNvSpPr>
            <a:spLocks noGrp="1" noRot="1" noChangeAspect="1" noChangeArrowheads="1" noTextEdit="1"/>
          </p:cNvSpPr>
          <p:nvPr>
            <p:ph type="sldImg"/>
          </p:nvPr>
        </p:nvSpPr>
        <p:spPr>
          <a:ln/>
        </p:spPr>
      </p:sp>
      <p:sp>
        <p:nvSpPr>
          <p:cNvPr id="69636"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itchFamily="34" charset="0"/>
                <a:ea typeface="ＭＳ Ｐゴシック" pitchFamily="34" charset="-128"/>
              </a:defRPr>
            </a:lvl1pPr>
            <a:lvl2pPr marL="742950" indent="-285750">
              <a:defRPr sz="2400">
                <a:solidFill>
                  <a:schemeClr val="tx1"/>
                </a:solidFill>
                <a:latin typeface="Arial" pitchFamily="34" charset="0"/>
                <a:ea typeface="ＭＳ Ｐゴシック" pitchFamily="34" charset="-128"/>
              </a:defRPr>
            </a:lvl2pPr>
            <a:lvl3pPr marL="1143000" indent="-228600">
              <a:defRPr sz="2400">
                <a:solidFill>
                  <a:schemeClr val="tx1"/>
                </a:solidFill>
                <a:latin typeface="Arial" pitchFamily="34" charset="0"/>
                <a:ea typeface="ＭＳ Ｐゴシック" pitchFamily="34" charset="-128"/>
              </a:defRPr>
            </a:lvl3pPr>
            <a:lvl4pPr marL="1600200" indent="-228600">
              <a:defRPr sz="2400">
                <a:solidFill>
                  <a:schemeClr val="tx1"/>
                </a:solidFill>
                <a:latin typeface="Arial" pitchFamily="34" charset="0"/>
                <a:ea typeface="ＭＳ Ｐゴシック" pitchFamily="34" charset="-128"/>
              </a:defRPr>
            </a:lvl4pPr>
            <a:lvl5pPr marL="2057400" indent="-228600">
              <a:defRPr sz="24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2400">
                <a:solidFill>
                  <a:schemeClr val="tx1"/>
                </a:solidFill>
                <a:latin typeface="Arial" pitchFamily="34" charset="0"/>
                <a:ea typeface="ＭＳ Ｐゴシック" pitchFamily="34" charset="-128"/>
              </a:defRPr>
            </a:lvl9pPr>
          </a:lstStyle>
          <a:p>
            <a:fld id="{783F5954-F439-4947-A24A-1D6B730708C1}" type="slidenum">
              <a:rPr lang="zh-TW" altLang="en-US" sz="1200"/>
              <a:pPr/>
              <a:t>42</a:t>
            </a:fld>
            <a:endParaRPr lang="en-US" altLang="zh-TW" sz="1200"/>
          </a:p>
        </p:txBody>
      </p:sp>
      <p:sp>
        <p:nvSpPr>
          <p:cNvPr id="71683" name="Rectangle 2"/>
          <p:cNvSpPr>
            <a:spLocks noGrp="1" noRot="1" noChangeAspect="1" noChangeArrowheads="1" noTextEdit="1"/>
          </p:cNvSpPr>
          <p:nvPr>
            <p:ph type="sldImg"/>
          </p:nvPr>
        </p:nvSpPr>
        <p:spPr>
          <a:ln/>
        </p:spPr>
      </p:sp>
      <p:sp>
        <p:nvSpPr>
          <p:cNvPr id="71684"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TW"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47</a:t>
            </a:fld>
            <a:endParaRPr lang="en-US"/>
          </a:p>
        </p:txBody>
      </p:sp>
    </p:spTree>
    <p:extLst>
      <p:ext uri="{BB962C8B-B14F-4D97-AF65-F5344CB8AC3E}">
        <p14:creationId xmlns:p14="http://schemas.microsoft.com/office/powerpoint/2010/main" val="32352875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73AB597-3474-490C-B819-58D851D878E2}" type="slidenum">
              <a:rPr lang="en-US" smtClean="0"/>
              <a:t>48</a:t>
            </a:fld>
            <a:endParaRPr lang="en-US"/>
          </a:p>
        </p:txBody>
      </p:sp>
    </p:spTree>
    <p:extLst>
      <p:ext uri="{BB962C8B-B14F-4D97-AF65-F5344CB8AC3E}">
        <p14:creationId xmlns:p14="http://schemas.microsoft.com/office/powerpoint/2010/main" val="264735974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73AB597-3474-490C-B819-58D851D878E2}" type="slidenum">
              <a:rPr lang="en-US" smtClean="0"/>
              <a:t>49</a:t>
            </a:fld>
            <a:endParaRPr lang="en-US"/>
          </a:p>
        </p:txBody>
      </p:sp>
    </p:spTree>
    <p:extLst>
      <p:ext uri="{BB962C8B-B14F-4D97-AF65-F5344CB8AC3E}">
        <p14:creationId xmlns:p14="http://schemas.microsoft.com/office/powerpoint/2010/main" val="9708520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C1EE6C-ABAC-4577-91EB-AE024532B236}" type="slidenum">
              <a:rPr lang="en-US" altLang="en-US"/>
              <a:pPr/>
              <a:t>51</a:t>
            </a:fld>
            <a:endParaRPr lang="en-US" altLang="en-US"/>
          </a:p>
        </p:txBody>
      </p:sp>
      <p:sp>
        <p:nvSpPr>
          <p:cNvPr id="112642" name="Rectangle 2"/>
          <p:cNvSpPr>
            <a:spLocks noGrp="1" noRot="1" noChangeAspect="1" noChangeArrowheads="1" noTextEdit="1"/>
          </p:cNvSpPr>
          <p:nvPr>
            <p:ph type="sldImg"/>
          </p:nvPr>
        </p:nvSpPr>
        <p:spPr>
          <a:xfrm>
            <a:off x="90488" y="744538"/>
            <a:ext cx="6616700" cy="3722687"/>
          </a:xfrm>
          <a:ln/>
        </p:spPr>
      </p:sp>
      <p:sp>
        <p:nvSpPr>
          <p:cNvPr id="112643"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34167789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FC1EE6C-ABAC-4577-91EB-AE024532B236}" type="slidenum">
              <a:rPr lang="en-US" altLang="en-US"/>
              <a:pPr/>
              <a:t>52</a:t>
            </a:fld>
            <a:endParaRPr lang="en-US" altLang="en-US"/>
          </a:p>
        </p:txBody>
      </p:sp>
      <p:sp>
        <p:nvSpPr>
          <p:cNvPr id="112642" name="Rectangle 2"/>
          <p:cNvSpPr>
            <a:spLocks noGrp="1" noRot="1" noChangeAspect="1" noChangeArrowheads="1" noTextEdit="1"/>
          </p:cNvSpPr>
          <p:nvPr>
            <p:ph type="sldImg"/>
          </p:nvPr>
        </p:nvSpPr>
        <p:spPr>
          <a:xfrm>
            <a:off x="90488" y="744538"/>
            <a:ext cx="6616700" cy="3722687"/>
          </a:xfrm>
          <a:ln/>
        </p:spPr>
      </p:sp>
      <p:sp>
        <p:nvSpPr>
          <p:cNvPr id="112643" name="Rectangle 3"/>
          <p:cNvSpPr>
            <a:spLocks noGrp="1" noChangeArrowheads="1"/>
          </p:cNvSpPr>
          <p:nvPr>
            <p:ph type="body" idx="1"/>
          </p:nvPr>
        </p:nvSpPr>
        <p:spPr/>
        <p:txBody>
          <a:bodyPr/>
          <a:lstStyle/>
          <a:p>
            <a:endParaRPr lang="en-US" altLang="en-US" dirty="0"/>
          </a:p>
        </p:txBody>
      </p:sp>
    </p:spTree>
    <p:extLst>
      <p:ext uri="{BB962C8B-B14F-4D97-AF65-F5344CB8AC3E}">
        <p14:creationId xmlns:p14="http://schemas.microsoft.com/office/powerpoint/2010/main" val="22331375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8AFB53C2-BE17-4D74-8C96-8F961B872CB9}" type="datetime1">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31712546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635D04F5-146E-4DDF-93A7-B0D725F37F95}" type="datetime1">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1335215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73854-3028-40A4-8C72-A63242C8D9E9}" type="datetime1">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2413886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00E6C3B-8CAD-46AC-B791-CEF0D974708A}" type="datetime1">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3129124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D7517615-74E9-4D9B-94F0-3CB6F6039EE7}" type="datetime1">
              <a:rPr lang="en-GB" smtClean="0"/>
              <a:t>09/11/2025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32972503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54ACB89E-769C-4C83-B255-DE884AD00043}" type="datetime1">
              <a:rPr lang="en-GB" smtClean="0"/>
              <a:t>09/11/2025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3562939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D40ED8-A07E-4808-975B-EAB374283612}" type="datetime1">
              <a:rPr lang="en-GB" smtClean="0"/>
              <a:t>09/11/2025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1003137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2105DDA-B9E5-442B-8869-22CBE9A1B865}" type="datetime1">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260473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DF9545A-9F7B-47A4-9D04-16E03B1B6533}" type="datetime1">
              <a:rPr lang="en-GB" smtClean="0"/>
              <a:t>09/11/2025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449593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333B1C8E-116A-4587-A2B9-74E77E743E20}" type="datetime1">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2404341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9B961929-5C4E-49E9-B935-190AD73116C4}" type="datetime1">
              <a:rPr lang="en-GB" smtClean="0"/>
              <a:t>09/11/2025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7682071-4525-4FC3-B8D5-3D4B0C49583A}" type="slidenum">
              <a:rPr lang="en-GB" smtClean="0"/>
              <a:t>‹#›</a:t>
            </a:fld>
            <a:endParaRPr lang="en-GB"/>
          </a:p>
        </p:txBody>
      </p:sp>
    </p:spTree>
    <p:extLst>
      <p:ext uri="{BB962C8B-B14F-4D97-AF65-F5344CB8AC3E}">
        <p14:creationId xmlns:p14="http://schemas.microsoft.com/office/powerpoint/2010/main" val="2842370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29517B0-BFBB-4049-A1A5-1CDDE36894C4}" type="datetime1">
              <a:rPr lang="en-GB" smtClean="0"/>
              <a:t>09/11/2025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7682071-4525-4FC3-B8D5-3D4B0C49583A}" type="slidenum">
              <a:rPr lang="en-GB" smtClean="0"/>
              <a:t>‹#›</a:t>
            </a:fld>
            <a:endParaRPr lang="en-GB"/>
          </a:p>
        </p:txBody>
      </p:sp>
    </p:spTree>
    <p:extLst>
      <p:ext uri="{BB962C8B-B14F-4D97-AF65-F5344CB8AC3E}">
        <p14:creationId xmlns:p14="http://schemas.microsoft.com/office/powerpoint/2010/main" val="21361292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arnab@cse.uiu.ac.bd"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32E74E2-8019-4597-71A9-101243F28360}"/>
              </a:ext>
            </a:extLst>
          </p:cNvPr>
          <p:cNvSpPr txBox="1">
            <a:spLocks/>
          </p:cNvSpPr>
          <p:nvPr/>
        </p:nvSpPr>
        <p:spPr>
          <a:xfrm>
            <a:off x="2100942" y="952500"/>
            <a:ext cx="8490857" cy="1790700"/>
          </a:xfrm>
          <a:prstGeom prst="rect">
            <a:avLst/>
          </a:prstGeom>
        </p:spPr>
        <p:txBody>
          <a:bodyPr vert="horz" lIns="68580" tIns="34290" rIns="68580" bIns="34290" rtlCol="0" anchor="b">
            <a:normAutofit fontScale="3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7400" b="1" dirty="0">
                <a:latin typeface="Times New Roman" panose="02020603050405020304" pitchFamily="18" charset="0"/>
                <a:cs typeface="Times New Roman" panose="02020603050405020304" pitchFamily="18" charset="0"/>
              </a:rPr>
              <a:t>80286 Memory management and Protected mode addressing</a:t>
            </a:r>
            <a:br>
              <a:rPr lang="en-US" sz="7400" b="1" dirty="0">
                <a:latin typeface="Times New Roman" panose="02020603050405020304" pitchFamily="18" charset="0"/>
                <a:cs typeface="Times New Roman" panose="02020603050405020304" pitchFamily="18" charset="0"/>
              </a:rPr>
            </a:br>
            <a:r>
              <a:rPr lang="en-GB" sz="5400" dirty="0"/>
              <a:t>The Intel Microprocessors 8th Edition by Barry B Brey</a:t>
            </a:r>
            <a:br>
              <a:rPr lang="en-US" sz="6600" b="1" dirty="0">
                <a:latin typeface="Times New Roman" panose="02020603050405020304" pitchFamily="18" charset="0"/>
                <a:cs typeface="Times New Roman" panose="02020603050405020304" pitchFamily="18" charset="0"/>
              </a:rPr>
            </a:br>
            <a:r>
              <a:rPr lang="en-GB" sz="4400" dirty="0"/>
              <a:t>2-2 Real mode memory addressing     page 58</a:t>
            </a:r>
            <a:br>
              <a:rPr lang="en-GB" sz="4400" dirty="0"/>
            </a:br>
            <a:r>
              <a:rPr lang="en-GB" sz="4400" dirty="0"/>
              <a:t>2-3 Introduction to protected mode memory addressing     page  63</a:t>
            </a:r>
            <a:br>
              <a:rPr lang="en-GB" sz="4400" dirty="0"/>
            </a:br>
            <a:r>
              <a:rPr lang="en-GB" sz="4400" dirty="0"/>
              <a:t>2-4 Memory paging       page 68</a:t>
            </a:r>
            <a:br>
              <a:rPr lang="en-GB" sz="4400" dirty="0"/>
            </a:br>
            <a:br>
              <a:rPr lang="en-GB" sz="4400" dirty="0"/>
            </a:br>
            <a:r>
              <a:rPr lang="en-US" sz="4400" dirty="0">
                <a:solidFill>
                  <a:srgbClr val="0000FF"/>
                </a:solidFill>
              </a:rPr>
              <a:t>Advanced microprocessors and peripherals Chapter 9</a:t>
            </a:r>
            <a:endParaRPr lang="en-US" sz="4500" dirty="0"/>
          </a:p>
        </p:txBody>
      </p:sp>
      <p:sp>
        <p:nvSpPr>
          <p:cNvPr id="2" name="Subtitle 4">
            <a:extLst>
              <a:ext uri="{FF2B5EF4-FFF2-40B4-BE49-F238E27FC236}">
                <a16:creationId xmlns:a16="http://schemas.microsoft.com/office/drawing/2014/main" id="{57495F78-83D2-BC1F-395D-3BA17273DD2C}"/>
              </a:ext>
            </a:extLst>
          </p:cNvPr>
          <p:cNvSpPr txBox="1">
            <a:spLocks/>
          </p:cNvSpPr>
          <p:nvPr/>
        </p:nvSpPr>
        <p:spPr>
          <a:xfrm>
            <a:off x="1680014" y="4358640"/>
            <a:ext cx="4724400" cy="1415772"/>
          </a:xfrm>
          <a:prstGeom prst="rect">
            <a:avLst/>
          </a:prstGeom>
        </p:spPr>
        <p:txBody>
          <a:bodyPr wrap="square" lIns="0" tIns="0" rIns="0" bIns="0">
            <a:spAutoFit/>
          </a:bodyPr>
          <a:lstStyle>
            <a:lvl1pPr marL="0">
              <a:defRPr sz="2800" b="0" i="0" u="heavy">
                <a:solidFill>
                  <a:schemeClr val="tx1"/>
                </a:solidFill>
                <a:latin typeface="Carlito"/>
                <a:ea typeface="+mn-ea"/>
                <a:cs typeface="Carlito"/>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Arnab Bhattacharjee</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Lecturer, Department of CSE,  </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United International</a:t>
            </a:r>
            <a:r>
              <a:rPr kumimoji="0" lang="en-US" sz="1600" b="0" i="0" u="none" strike="noStrike" kern="0" cap="none" spc="10" normalizeH="0" baseline="0" noProof="0">
                <a:ln>
                  <a:noFill/>
                </a:ln>
                <a:solidFill>
                  <a:srgbClr val="585858"/>
                </a:solidFill>
                <a:effectLst/>
                <a:uLnTx/>
                <a:uFillTx/>
                <a:latin typeface="Arial"/>
                <a:ea typeface="+mn-ea"/>
                <a:cs typeface="Arial"/>
              </a:rPr>
              <a:t> </a:t>
            </a:r>
            <a:r>
              <a:rPr kumimoji="0" lang="en-US" sz="1600" b="0" i="0" u="none" strike="noStrike" kern="0" cap="none" spc="-5" normalizeH="0" baseline="0" noProof="0">
                <a:ln>
                  <a:noFill/>
                </a:ln>
                <a:solidFill>
                  <a:srgbClr val="585858"/>
                </a:solidFill>
                <a:effectLst/>
                <a:uLnTx/>
                <a:uFillTx/>
                <a:latin typeface="Arial"/>
                <a:ea typeface="+mn-ea"/>
                <a:cs typeface="Arial"/>
              </a:rPr>
              <a:t>University</a:t>
            </a:r>
          </a:p>
          <a:p>
            <a:pPr marL="12700" marR="5080" lvl="0" indent="0" defTabSz="91440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a:ln>
                  <a:noFill/>
                </a:ln>
                <a:solidFill>
                  <a:srgbClr val="585858"/>
                </a:solidFill>
                <a:effectLst/>
                <a:uLnTx/>
                <a:uFillTx/>
                <a:latin typeface="Arial"/>
                <a:ea typeface="+mn-ea"/>
                <a:cs typeface="Arial"/>
              </a:rPr>
              <a:t>Email id : </a:t>
            </a:r>
            <a:r>
              <a:rPr kumimoji="0" lang="en-US" sz="1600" b="0" i="0" u="none" strike="noStrike" kern="0" cap="none" spc="-5" normalizeH="0" baseline="0" noProof="0">
                <a:ln>
                  <a:noFill/>
                </a:ln>
                <a:solidFill>
                  <a:srgbClr val="585858"/>
                </a:solidFill>
                <a:effectLst/>
                <a:uLnTx/>
                <a:uFillTx/>
                <a:latin typeface="Arial"/>
                <a:ea typeface="+mn-ea"/>
                <a:cs typeface="Arial"/>
                <a:hlinkClick r:id="rId2"/>
              </a:rPr>
              <a:t>arnab@cse.uiu.ac.bd</a:t>
            </a:r>
            <a:endParaRPr kumimoji="0" lang="en-US" sz="1600" b="0" i="0" u="none" strike="noStrike" kern="0" cap="none" spc="0" normalizeH="0" baseline="0" noProof="0">
              <a:ln>
                <a:noFill/>
              </a:ln>
              <a:solidFill>
                <a:sysClr val="windowText" lastClr="000000"/>
              </a:solidFill>
              <a:effectLst/>
              <a:uLnTx/>
              <a:uFillTx/>
              <a:latin typeface="Arial"/>
              <a:ea typeface="+mn-ea"/>
              <a:cs typeface="Arial"/>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2800" b="0" i="0" u="heavy" strike="noStrike" kern="0" cap="none" spc="0" normalizeH="0" baseline="0" noProof="0" dirty="0">
              <a:ln>
                <a:noFill/>
              </a:ln>
              <a:solidFill>
                <a:sysClr val="windowText" lastClr="000000"/>
              </a:solidFill>
              <a:effectLst/>
              <a:uLnTx/>
              <a:uFillTx/>
              <a:latin typeface="Carlito"/>
              <a:ea typeface="+mn-ea"/>
            </a:endParaRPr>
          </a:p>
        </p:txBody>
      </p:sp>
      <p:sp>
        <p:nvSpPr>
          <p:cNvPr id="3" name="object 5">
            <a:extLst>
              <a:ext uri="{FF2B5EF4-FFF2-40B4-BE49-F238E27FC236}">
                <a16:creationId xmlns:a16="http://schemas.microsoft.com/office/drawing/2014/main" id="{FA8A04D3-722D-99F3-43DD-C91520DCB205}"/>
              </a:ext>
            </a:extLst>
          </p:cNvPr>
          <p:cNvSpPr txBox="1"/>
          <p:nvPr/>
        </p:nvSpPr>
        <p:spPr>
          <a:xfrm>
            <a:off x="6233160" y="5750028"/>
            <a:ext cx="3562546" cy="579005"/>
          </a:xfrm>
          <a:prstGeom prst="rect">
            <a:avLst/>
          </a:prstGeom>
        </p:spPr>
        <p:txBody>
          <a:bodyPr vert="horz" wrap="square" lIns="0" tIns="12065" rIns="0" bIns="0" rtlCol="0">
            <a:spAutoFit/>
          </a:bodyPr>
          <a:lstStyle/>
          <a:p>
            <a:pPr marL="12700">
              <a:spcBef>
                <a:spcPts val="95"/>
              </a:spcBef>
            </a:pPr>
            <a:r>
              <a:rPr spc="-5" dirty="0">
                <a:solidFill>
                  <a:srgbClr val="585858"/>
                </a:solidFill>
                <a:latin typeface="Arial"/>
                <a:cs typeface="Arial"/>
              </a:rPr>
              <a:t>Courtesy:</a:t>
            </a:r>
            <a:r>
              <a:rPr lang="en-US" spc="-5" dirty="0">
                <a:solidFill>
                  <a:srgbClr val="585858"/>
                </a:solidFill>
                <a:latin typeface="Arial"/>
                <a:cs typeface="Arial"/>
              </a:rPr>
              <a:t> Nasif M. Sir, </a:t>
            </a:r>
          </a:p>
          <a:p>
            <a:pPr marL="12700">
              <a:spcBef>
                <a:spcPts val="95"/>
              </a:spcBef>
            </a:pPr>
            <a:r>
              <a:rPr lang="en-US" spc="-5" dirty="0">
                <a:solidFill>
                  <a:srgbClr val="585858"/>
                </a:solidFill>
                <a:latin typeface="Arial"/>
                <a:cs typeface="Arial"/>
              </a:rPr>
              <a:t>Md. Shafqat Talukder Rakin</a:t>
            </a:r>
            <a:r>
              <a:rPr lang="en-US" dirty="0">
                <a:solidFill>
                  <a:prstClr val="black"/>
                </a:solidFill>
                <a:latin typeface="Arial"/>
                <a:cs typeface="Arial"/>
              </a:rPr>
              <a:t> </a:t>
            </a:r>
            <a:r>
              <a:rPr lang="en-US" spc="-5" dirty="0">
                <a:solidFill>
                  <a:srgbClr val="585858"/>
                </a:solidFill>
                <a:latin typeface="Arial"/>
                <a:cs typeface="Arial"/>
              </a:rPr>
              <a:t>Sir</a:t>
            </a:r>
            <a:r>
              <a:rPr spc="-5" dirty="0">
                <a:solidFill>
                  <a:srgbClr val="585858"/>
                </a:solidFill>
                <a:latin typeface="Arial"/>
                <a:cs typeface="Arial"/>
              </a:rPr>
              <a:t> </a:t>
            </a:r>
            <a:endParaRPr dirty="0">
              <a:solidFill>
                <a:prstClr val="black"/>
              </a:solidFill>
              <a:latin typeface="Arial"/>
              <a:cs typeface="Arial"/>
            </a:endParaRPr>
          </a:p>
        </p:txBody>
      </p:sp>
    </p:spTree>
    <p:extLst>
      <p:ext uri="{BB962C8B-B14F-4D97-AF65-F5344CB8AC3E}">
        <p14:creationId xmlns:p14="http://schemas.microsoft.com/office/powerpoint/2010/main" val="1726356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5951" y="207471"/>
            <a:ext cx="11127827" cy="1038006"/>
          </a:xfrm>
        </p:spPr>
        <p:txBody>
          <a:bodyPr/>
          <a:lstStyle/>
          <a:p>
            <a:r>
              <a:rPr lang="en-US" dirty="0"/>
              <a:t>Contents</a:t>
            </a:r>
          </a:p>
        </p:txBody>
      </p:sp>
      <p:sp>
        <p:nvSpPr>
          <p:cNvPr id="3" name="Content Placeholder 2"/>
          <p:cNvSpPr>
            <a:spLocks noGrp="1"/>
          </p:cNvSpPr>
          <p:nvPr>
            <p:ph idx="1"/>
          </p:nvPr>
        </p:nvSpPr>
        <p:spPr>
          <a:xfrm>
            <a:off x="345688" y="1245476"/>
            <a:ext cx="11653024" cy="5300290"/>
          </a:xfrm>
        </p:spPr>
        <p:txBody>
          <a:bodyPr/>
          <a:lstStyle/>
          <a:p>
            <a:pPr marL="514350" indent="-514350">
              <a:buFont typeface="+mj-lt"/>
              <a:buAutoNum type="alphaUcPeriod"/>
            </a:pPr>
            <a:r>
              <a:rPr lang="en-US" dirty="0"/>
              <a:t>Limitation of Real mode operation</a:t>
            </a:r>
          </a:p>
          <a:p>
            <a:pPr marL="514350" indent="-514350">
              <a:buFont typeface="+mj-lt"/>
              <a:buAutoNum type="alphaUcPeriod"/>
            </a:pPr>
            <a:r>
              <a:rPr lang="en-US" dirty="0"/>
              <a:t>Importance of Memory Management Unit (80286)</a:t>
            </a:r>
          </a:p>
          <a:p>
            <a:pPr marL="514350" indent="-514350">
              <a:buFont typeface="+mj-lt"/>
              <a:buAutoNum type="alphaUcPeriod"/>
            </a:pPr>
            <a:r>
              <a:rPr lang="en-US" dirty="0"/>
              <a:t>Virtual memory </a:t>
            </a:r>
          </a:p>
          <a:p>
            <a:pPr marL="514350" indent="-514350">
              <a:buFont typeface="+mj-lt"/>
              <a:buAutoNum type="alphaUcPeriod"/>
            </a:pPr>
            <a:r>
              <a:rPr lang="en-US" dirty="0"/>
              <a:t>Advantage of Virtual memory</a:t>
            </a:r>
          </a:p>
          <a:p>
            <a:pPr marL="514350" indent="-514350">
              <a:buFont typeface="+mj-lt"/>
              <a:buAutoNum type="alphaUcPeriod"/>
            </a:pPr>
            <a:r>
              <a:rPr lang="en-US" dirty="0"/>
              <a:t>Protected Mode Operation 80286</a:t>
            </a:r>
          </a:p>
          <a:p>
            <a:pPr lvl="1"/>
            <a:r>
              <a:rPr lang="en-US" dirty="0"/>
              <a:t> Selector </a:t>
            </a:r>
          </a:p>
          <a:p>
            <a:pPr lvl="1"/>
            <a:r>
              <a:rPr lang="en-US" dirty="0"/>
              <a:t>Descriptor table </a:t>
            </a:r>
          </a:p>
          <a:p>
            <a:pPr lvl="1"/>
            <a:r>
              <a:rPr lang="en-US" dirty="0"/>
              <a:t>Access Rights Byte</a:t>
            </a:r>
          </a:p>
          <a:p>
            <a:pPr lvl="1"/>
            <a:r>
              <a:rPr lang="en-US" dirty="0"/>
              <a:t>Privilege Levels </a:t>
            </a:r>
          </a:p>
          <a:p>
            <a:pPr lvl="1"/>
            <a:endParaRPr lang="en-US" dirty="0"/>
          </a:p>
          <a:p>
            <a:pPr lvl="1"/>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A7682071-4525-4FC3-B8D5-3D4B0C49583A}" type="slidenum">
              <a:rPr lang="en-GB" smtClean="0"/>
              <a:t>2</a:t>
            </a:fld>
            <a:endParaRPr lang="en-GB"/>
          </a:p>
        </p:txBody>
      </p:sp>
    </p:spTree>
    <p:extLst>
      <p:ext uri="{BB962C8B-B14F-4D97-AF65-F5344CB8AC3E}">
        <p14:creationId xmlns:p14="http://schemas.microsoft.com/office/powerpoint/2010/main" val="23242789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7124" y="183057"/>
            <a:ext cx="10515600" cy="1085302"/>
          </a:xfrm>
        </p:spPr>
        <p:txBody>
          <a:bodyPr>
            <a:normAutofit/>
          </a:bodyPr>
          <a:lstStyle/>
          <a:p>
            <a:r>
              <a:rPr lang="en-US" sz="3600" dirty="0">
                <a:latin typeface="Times New Roman" panose="02020603050405020304" pitchFamily="18" charset="0"/>
                <a:cs typeface="Times New Roman" panose="02020603050405020304" pitchFamily="18" charset="0"/>
              </a:rPr>
              <a:t>A. Limitation of Real mode operation</a:t>
            </a:r>
          </a:p>
        </p:txBody>
      </p:sp>
      <p:sp>
        <p:nvSpPr>
          <p:cNvPr id="3" name="Content Placeholder 2"/>
          <p:cNvSpPr>
            <a:spLocks noGrp="1"/>
          </p:cNvSpPr>
          <p:nvPr>
            <p:ph idx="1"/>
          </p:nvPr>
        </p:nvSpPr>
        <p:spPr>
          <a:xfrm>
            <a:off x="507124" y="1268358"/>
            <a:ext cx="11080531" cy="5258565"/>
          </a:xfrm>
        </p:spPr>
        <p:txBody>
          <a:bodyPr/>
          <a:lstStyle/>
          <a:p>
            <a:pPr marL="0" indent="0">
              <a:buNone/>
            </a:pPr>
            <a:r>
              <a:rPr lang="en-US" dirty="0">
                <a:cs typeface="Times New Roman" panose="02020603050405020304" pitchFamily="18" charset="0"/>
              </a:rPr>
              <a:t>The 8086 and 8088 Micro-processors operate only in Real mode. </a:t>
            </a:r>
            <a:r>
              <a:rPr lang="en-US" dirty="0">
                <a:solidFill>
                  <a:srgbClr val="0000FF"/>
                </a:solidFill>
                <a:cs typeface="Times New Roman" panose="02020603050405020304" pitchFamily="18" charset="0"/>
              </a:rPr>
              <a:t>The limitation of real mode are</a:t>
            </a:r>
            <a:r>
              <a:rPr lang="en-US" dirty="0">
                <a:cs typeface="Times New Roman" panose="02020603050405020304" pitchFamily="18" charset="0"/>
              </a:rPr>
              <a:t>:</a:t>
            </a:r>
          </a:p>
          <a:p>
            <a:r>
              <a:rPr lang="en-US" dirty="0">
                <a:cs typeface="Times New Roman" panose="02020603050405020304" pitchFamily="18" charset="0"/>
              </a:rPr>
              <a:t>The Micro-processor can access only 1 MB of memory. This memory is referred to as </a:t>
            </a:r>
            <a:r>
              <a:rPr lang="en-US" dirty="0">
                <a:solidFill>
                  <a:srgbClr val="FF00FF"/>
                </a:solidFill>
                <a:cs typeface="Times New Roman" panose="02020603050405020304" pitchFamily="18" charset="0"/>
              </a:rPr>
              <a:t>real mode memory.</a:t>
            </a:r>
          </a:p>
          <a:p>
            <a:r>
              <a:rPr lang="en-US" dirty="0">
                <a:cs typeface="Times New Roman" panose="02020603050405020304" pitchFamily="18" charset="0"/>
              </a:rPr>
              <a:t>Real mode operation allows </a:t>
            </a:r>
            <a:r>
              <a:rPr lang="en-US" dirty="0">
                <a:solidFill>
                  <a:srgbClr val="FF00FF"/>
                </a:solidFill>
                <a:cs typeface="Times New Roman" panose="02020603050405020304" pitchFamily="18" charset="0"/>
              </a:rPr>
              <a:t>only a single program </a:t>
            </a:r>
            <a:r>
              <a:rPr lang="en-US" dirty="0">
                <a:cs typeface="Times New Roman" panose="02020603050405020304" pitchFamily="18" charset="0"/>
              </a:rPr>
              <a:t>to run at a time under a </a:t>
            </a:r>
            <a:r>
              <a:rPr lang="en-US" dirty="0" err="1">
                <a:cs typeface="Times New Roman" panose="02020603050405020304" pitchFamily="18" charset="0"/>
              </a:rPr>
              <a:t>uni</a:t>
            </a:r>
            <a:r>
              <a:rPr lang="en-US" dirty="0">
                <a:cs typeface="Times New Roman" panose="02020603050405020304" pitchFamily="18" charset="0"/>
              </a:rPr>
              <a:t>-tasking operating system such as DOS.</a:t>
            </a:r>
          </a:p>
          <a:p>
            <a:endParaRPr lang="en-US" dirty="0"/>
          </a:p>
        </p:txBody>
      </p:sp>
      <p:sp>
        <p:nvSpPr>
          <p:cNvPr id="4" name="Slide Number Placeholder 3"/>
          <p:cNvSpPr>
            <a:spLocks noGrp="1"/>
          </p:cNvSpPr>
          <p:nvPr>
            <p:ph type="sldNum" sz="quarter" idx="12"/>
          </p:nvPr>
        </p:nvSpPr>
        <p:spPr/>
        <p:txBody>
          <a:bodyPr/>
          <a:lstStyle/>
          <a:p>
            <a:fld id="{A7682071-4525-4FC3-B8D5-3D4B0C49583A}" type="slidenum">
              <a:rPr lang="en-GB" smtClean="0"/>
              <a:t>3</a:t>
            </a:fld>
            <a:endParaRPr lang="en-GB"/>
          </a:p>
        </p:txBody>
      </p:sp>
    </p:spTree>
    <p:extLst>
      <p:ext uri="{BB962C8B-B14F-4D97-AF65-F5344CB8AC3E}">
        <p14:creationId xmlns:p14="http://schemas.microsoft.com/office/powerpoint/2010/main" val="4058796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73107" y="286755"/>
            <a:ext cx="8793581" cy="6434720"/>
          </a:xfrm>
        </p:spPr>
      </p:pic>
      <p:sp>
        <p:nvSpPr>
          <p:cNvPr id="5" name="Slide Number Placeholder 4"/>
          <p:cNvSpPr>
            <a:spLocks noGrp="1"/>
          </p:cNvSpPr>
          <p:nvPr>
            <p:ph type="sldNum" sz="quarter" idx="12"/>
          </p:nvPr>
        </p:nvSpPr>
        <p:spPr/>
        <p:txBody>
          <a:bodyPr/>
          <a:lstStyle/>
          <a:p>
            <a:fld id="{A7682071-4525-4FC3-B8D5-3D4B0C49583A}" type="slidenum">
              <a:rPr lang="en-GB" smtClean="0"/>
              <a:t>4</a:t>
            </a:fld>
            <a:endParaRPr lang="en-GB"/>
          </a:p>
        </p:txBody>
      </p:sp>
    </p:spTree>
    <p:extLst>
      <p:ext uri="{BB962C8B-B14F-4D97-AF65-F5344CB8AC3E}">
        <p14:creationId xmlns:p14="http://schemas.microsoft.com/office/powerpoint/2010/main" val="3922900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19584" y="1184180"/>
            <a:ext cx="11663149" cy="1900007"/>
          </a:xfrm>
          <a:prstGeom prst="rect">
            <a:avLst/>
          </a:prstGeom>
        </p:spPr>
        <p:txBody>
          <a:bodyPr wrap="square">
            <a:spAutoFit/>
          </a:bodyPr>
          <a:lstStyle/>
          <a:p>
            <a:pPr marL="0" indent="0">
              <a:buNone/>
            </a:pPr>
            <a:r>
              <a:rPr lang="en-GB" dirty="0">
                <a:cs typeface="Times New Roman" panose="02020603050405020304" pitchFamily="18" charset="0"/>
              </a:rPr>
              <a:t>In advanced microprocessor, memory management becomes extremely important. Memory management is required due to the following two reasons.</a:t>
            </a:r>
          </a:p>
          <a:p>
            <a:pPr marL="342900" indent="-342900">
              <a:buFont typeface="Arial" panose="020B0604020202020204" pitchFamily="34" charset="0"/>
              <a:buChar char="•"/>
            </a:pPr>
            <a:r>
              <a:rPr lang="en-GB" dirty="0">
                <a:cs typeface="Times New Roman" panose="02020603050405020304" pitchFamily="18" charset="0"/>
              </a:rPr>
              <a:t>Limitation of physical memory - Manage virtual memory</a:t>
            </a:r>
          </a:p>
          <a:p>
            <a:pPr marL="342900" indent="-342900">
              <a:buFont typeface="Arial" panose="020B0604020202020204" pitchFamily="34" charset="0"/>
              <a:buChar char="•"/>
            </a:pPr>
            <a:r>
              <a:rPr lang="en-GB" dirty="0">
                <a:cs typeface="Times New Roman" panose="02020603050405020304" pitchFamily="18" charset="0"/>
              </a:rPr>
              <a:t>Need for Protection</a:t>
            </a: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B. Importance of Memory Management Unit</a:t>
            </a:r>
          </a:p>
        </p:txBody>
      </p:sp>
    </p:spTree>
    <p:extLst>
      <p:ext uri="{BB962C8B-B14F-4D97-AF65-F5344CB8AC3E}">
        <p14:creationId xmlns:p14="http://schemas.microsoft.com/office/powerpoint/2010/main" val="3819102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603" y="1338146"/>
            <a:ext cx="11433635" cy="4624730"/>
          </a:xfrm>
        </p:spPr>
        <p:txBody>
          <a:bodyPr>
            <a:normAutofit/>
          </a:bodyPr>
          <a:lstStyle/>
          <a:p>
            <a:pPr marL="0" indent="0" algn="just">
              <a:buNone/>
            </a:pPr>
            <a:r>
              <a:rPr lang="en-GB" dirty="0"/>
              <a:t>A microprocessor has limited number of address lines. Hence the physical memory addressability is limited. Increasing the number of address lines is not attractive as it makes the architecture and design complex without significant gain. Packaging becomes difficult and expensive. Memory Management Unit (MMU) solves this problem by translating the </a:t>
            </a:r>
            <a:r>
              <a:rPr lang="en-GB" dirty="0">
                <a:solidFill>
                  <a:srgbClr val="FF0066"/>
                </a:solidFill>
              </a:rPr>
              <a:t>virtual memory address </a:t>
            </a:r>
            <a:r>
              <a:rPr lang="en-GB" dirty="0"/>
              <a:t>into the </a:t>
            </a:r>
            <a:r>
              <a:rPr lang="en-GB" dirty="0">
                <a:solidFill>
                  <a:srgbClr val="0000FF"/>
                </a:solidFill>
              </a:rPr>
              <a:t>physical memory address</a:t>
            </a:r>
            <a:r>
              <a:rPr lang="en-GB" dirty="0"/>
              <a:t>. </a:t>
            </a:r>
            <a:r>
              <a:rPr lang="en-GB" dirty="0">
                <a:solidFill>
                  <a:srgbClr val="FF0066"/>
                </a:solidFill>
              </a:rPr>
              <a:t>Virtual memory </a:t>
            </a:r>
            <a:r>
              <a:rPr lang="en-GB" dirty="0"/>
              <a:t>can be many times larger than the physical memory. Only the programs currently required are brought from the secondary storage such as a hard disk to the physical memory (RAM) for execution.</a:t>
            </a:r>
          </a:p>
          <a:p>
            <a:pPr marL="0" indent="0">
              <a:buNone/>
            </a:pPr>
            <a:endParaRPr lang="en-GB" dirty="0"/>
          </a:p>
        </p:txBody>
      </p:sp>
      <p:sp>
        <p:nvSpPr>
          <p:cNvPr id="4" name="Slide Number Placeholder 3"/>
          <p:cNvSpPr>
            <a:spLocks noGrp="1"/>
          </p:cNvSpPr>
          <p:nvPr>
            <p:ph type="sldNum" sz="quarter" idx="12"/>
          </p:nvPr>
        </p:nvSpPr>
        <p:spPr/>
        <p:txBody>
          <a:bodyPr/>
          <a:lstStyle/>
          <a:p>
            <a:fld id="{A9C01DD0-35D5-453F-8A4B-02A938FC63BC}" type="slidenum">
              <a:rPr lang="en-GB" smtClean="0"/>
              <a:t>6</a:t>
            </a:fld>
            <a:endParaRPr lang="en-GB"/>
          </a:p>
        </p:txBody>
      </p:sp>
      <p:sp>
        <p:nvSpPr>
          <p:cNvPr id="7" name="Title 1"/>
          <p:cNvSpPr>
            <a:spLocks noGrp="1"/>
          </p:cNvSpPr>
          <p:nvPr>
            <p:ph type="title"/>
          </p:nvPr>
        </p:nvSpPr>
        <p:spPr>
          <a:xfrm>
            <a:off x="423603" y="365125"/>
            <a:ext cx="10930197" cy="1106835"/>
          </a:xfrm>
        </p:spPr>
        <p:txBody>
          <a:bodyPr>
            <a:normAutofit/>
          </a:bodyPr>
          <a:lstStyle/>
          <a:p>
            <a:r>
              <a:rPr lang="en-US" sz="3600" dirty="0">
                <a:solidFill>
                  <a:srgbClr val="0000FF"/>
                </a:solidFill>
              </a:rPr>
              <a:t>1. Limitation of physical memory</a:t>
            </a:r>
          </a:p>
        </p:txBody>
      </p:sp>
    </p:spTree>
    <p:extLst>
      <p:ext uri="{BB962C8B-B14F-4D97-AF65-F5344CB8AC3E}">
        <p14:creationId xmlns:p14="http://schemas.microsoft.com/office/powerpoint/2010/main" val="35369808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23603" y="365125"/>
            <a:ext cx="10930197" cy="1106835"/>
          </a:xfrm>
        </p:spPr>
        <p:txBody>
          <a:bodyPr>
            <a:normAutofit/>
          </a:bodyPr>
          <a:lstStyle/>
          <a:p>
            <a:r>
              <a:rPr lang="en-US" sz="3600" dirty="0">
                <a:solidFill>
                  <a:srgbClr val="0000FF"/>
                </a:solidFill>
              </a:rPr>
              <a:t>2. Need for Protection</a:t>
            </a:r>
          </a:p>
        </p:txBody>
      </p:sp>
      <p:sp>
        <p:nvSpPr>
          <p:cNvPr id="3" name="Rectangle 2"/>
          <p:cNvSpPr/>
          <p:nvPr/>
        </p:nvSpPr>
        <p:spPr>
          <a:xfrm>
            <a:off x="423603" y="1471960"/>
            <a:ext cx="11102897" cy="3760068"/>
          </a:xfrm>
          <a:prstGeom prst="rect">
            <a:avLst/>
          </a:prstGeom>
        </p:spPr>
        <p:txBody>
          <a:bodyPr wrap="square">
            <a:spAutoFit/>
          </a:bodyPr>
          <a:lstStyle/>
          <a:p>
            <a:pPr>
              <a:lnSpc>
                <a:spcPct val="107000"/>
              </a:lnSpc>
              <a:spcAft>
                <a:spcPts val="800"/>
              </a:spcAft>
            </a:pPr>
            <a:r>
              <a:rPr lang="en-US" sz="2800" dirty="0">
                <a:latin typeface="Calibri" panose="020F0502020204030204" pitchFamily="34" charset="0"/>
                <a:ea typeface="Calibri" panose="020F0502020204030204" pitchFamily="34" charset="0"/>
                <a:cs typeface="Times New Roman" panose="02020603050405020304" pitchFamily="18" charset="0"/>
              </a:rPr>
              <a:t>Another important aspect of memory management is </a:t>
            </a:r>
            <a:r>
              <a:rPr lang="en-US" sz="2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a:t>
            </a:r>
            <a:r>
              <a:rPr lang="en-US" sz="2800" i="1" dirty="0">
                <a:solidFill>
                  <a:srgbClr val="FF0000"/>
                </a:solidFill>
                <a:latin typeface="Calibri" panose="020F0502020204030204" pitchFamily="34" charset="0"/>
                <a:ea typeface="Calibri" panose="020F0502020204030204" pitchFamily="34" charset="0"/>
                <a:cs typeface="Times New Roman" panose="02020603050405020304" pitchFamily="18" charset="0"/>
              </a:rPr>
              <a:t>data protection</a:t>
            </a:r>
            <a:r>
              <a:rPr lang="en-US" sz="2800" dirty="0">
                <a:solidFill>
                  <a:srgbClr val="FF0000"/>
                </a:solidFill>
                <a:latin typeface="Calibri" panose="020F0502020204030204" pitchFamily="34" charset="0"/>
                <a:ea typeface="Calibri" panose="020F0502020204030204" pitchFamily="34" charset="0"/>
                <a:cs typeface="Times New Roman" panose="02020603050405020304" pitchFamily="18" charset="0"/>
              </a:rPr>
              <a:t>' </a:t>
            </a:r>
            <a:r>
              <a:rPr lang="en-US" sz="2800" dirty="0">
                <a:latin typeface="Calibri" panose="020F0502020204030204" pitchFamily="34" charset="0"/>
                <a:ea typeface="Calibri" panose="020F0502020204030204" pitchFamily="34" charset="0"/>
                <a:cs typeface="Times New Roman" panose="02020603050405020304" pitchFamily="18" charset="0"/>
              </a:rPr>
              <a:t>or unauthorized access prevention. This concept came with the concept of '</a:t>
            </a:r>
            <a:r>
              <a:rPr lang="en-US" sz="2800" i="1" dirty="0">
                <a:latin typeface="Calibri" panose="020F0502020204030204" pitchFamily="34" charset="0"/>
                <a:ea typeface="Calibri" panose="020F0502020204030204" pitchFamily="34" charset="0"/>
                <a:cs typeface="Times New Roman" panose="02020603050405020304" pitchFamily="18" charset="0"/>
              </a:rPr>
              <a:t>segmented memory</a:t>
            </a:r>
            <a:r>
              <a:rPr lang="en-US" sz="2800" dirty="0">
                <a:latin typeface="Calibri" panose="020F0502020204030204" pitchFamily="34" charset="0"/>
                <a:ea typeface="Calibri" panose="020F0502020204030204" pitchFamily="34" charset="0"/>
                <a:cs typeface="Times New Roman" panose="02020603050405020304" pitchFamily="18" charset="0"/>
              </a:rPr>
              <a:t>'. For example, </a:t>
            </a:r>
            <a:r>
              <a:rPr lang="en-US" sz="2800" dirty="0">
                <a:solidFill>
                  <a:srgbClr val="00B050"/>
                </a:solidFill>
                <a:latin typeface="Calibri" panose="020F0502020204030204" pitchFamily="34" charset="0"/>
                <a:ea typeface="Calibri" panose="020F0502020204030204" pitchFamily="34" charset="0"/>
                <a:cs typeface="Times New Roman" panose="02020603050405020304" pitchFamily="18" charset="0"/>
              </a:rPr>
              <a:t>the data lies in data segment</a:t>
            </a:r>
            <a:r>
              <a:rPr lang="en-US" sz="2800" dirty="0">
                <a:latin typeface="Calibri" panose="020F0502020204030204" pitchFamily="34" charset="0"/>
                <a:ea typeface="Calibri" panose="020F0502020204030204" pitchFamily="34" charset="0"/>
                <a:cs typeface="Times New Roman" panose="02020603050405020304" pitchFamily="18" charset="0"/>
              </a:rPr>
              <a:t>, </a:t>
            </a:r>
            <a:r>
              <a:rPr lang="en-US" sz="2800" dirty="0">
                <a:solidFill>
                  <a:srgbClr val="FF00FF"/>
                </a:solidFill>
                <a:latin typeface="Calibri" panose="020F0502020204030204" pitchFamily="34" charset="0"/>
                <a:ea typeface="Calibri" panose="020F0502020204030204" pitchFamily="34" charset="0"/>
                <a:cs typeface="Times New Roman" panose="02020603050405020304" pitchFamily="18" charset="0"/>
              </a:rPr>
              <a:t>executable code lies in the code segment </a:t>
            </a:r>
            <a:r>
              <a:rPr lang="en-US" sz="2800" dirty="0">
                <a:latin typeface="Calibri" panose="020F0502020204030204" pitchFamily="34" charset="0"/>
                <a:ea typeface="Calibri" panose="020F0502020204030204" pitchFamily="34" charset="0"/>
                <a:cs typeface="Times New Roman" panose="02020603050405020304" pitchFamily="18" charset="0"/>
              </a:rPr>
              <a:t>and </a:t>
            </a:r>
            <a:r>
              <a:rPr lang="en-US" sz="2800" dirty="0">
                <a:solidFill>
                  <a:schemeClr val="accent2"/>
                </a:solidFill>
                <a:latin typeface="Calibri" panose="020F0502020204030204" pitchFamily="34" charset="0"/>
                <a:ea typeface="Calibri" panose="020F0502020204030204" pitchFamily="34" charset="0"/>
                <a:cs typeface="Times New Roman" panose="02020603050405020304" pitchFamily="18" charset="0"/>
              </a:rPr>
              <a:t>stack information lies in the stack segment</a:t>
            </a:r>
            <a:r>
              <a:rPr lang="en-US" sz="2800" dirty="0">
                <a:latin typeface="Calibri" panose="020F0502020204030204" pitchFamily="34" charset="0"/>
                <a:ea typeface="Calibri" panose="020F0502020204030204" pitchFamily="34" charset="0"/>
                <a:cs typeface="Times New Roman" panose="02020603050405020304" pitchFamily="18" charset="0"/>
              </a:rPr>
              <a:t>. In case the stack data overlaps the executable code or the code segment overlaps the stack data, the complete program execution will lead to random results. Thus, separation of these data types into different logical segments is necessary for data protection.</a:t>
            </a:r>
          </a:p>
        </p:txBody>
      </p:sp>
    </p:spTree>
    <p:extLst>
      <p:ext uri="{BB962C8B-B14F-4D97-AF65-F5344CB8AC3E}">
        <p14:creationId xmlns:p14="http://schemas.microsoft.com/office/powerpoint/2010/main" val="2583071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5909310"/>
          </a:xfrm>
          <a:prstGeom prst="rect">
            <a:avLst/>
          </a:prstGeom>
        </p:spPr>
        <p:txBody>
          <a:bodyPr wrap="square">
            <a:spAutoFit/>
          </a:bodyPr>
          <a:lstStyle/>
          <a:p>
            <a:pPr marL="0" indent="0">
              <a:buNone/>
            </a:pPr>
            <a:r>
              <a:rPr lang="en-US" dirty="0">
                <a:cs typeface="Times New Roman" panose="02020603050405020304" pitchFamily="18" charset="0"/>
              </a:rPr>
              <a:t>Let us consider that one or more application program have to be executed by the microprocessor. At any instant, a segment portion of the program, required for execution at that instant, exists in the physical memory at the time of execution. These segments portions of the program which have been already executed or are not required for execution at that instant, are available in the secondary memory. Whenever, the portion of a program is required by the microprocessor, it is fetched from the secondary memory and placed in the physical memory. </a:t>
            </a:r>
            <a:r>
              <a:rPr lang="en-US" dirty="0">
                <a:solidFill>
                  <a:srgbClr val="0000FF"/>
                </a:solidFill>
                <a:cs typeface="Times New Roman" panose="02020603050405020304" pitchFamily="18" charset="0"/>
              </a:rPr>
              <a:t>This is called 'swapping in' of the program. </a:t>
            </a:r>
            <a:r>
              <a:rPr lang="en-US" dirty="0">
                <a:cs typeface="Times New Roman" panose="02020603050405020304" pitchFamily="18" charset="0"/>
              </a:rPr>
              <a:t>A portion of the program required for further execution, may be saved back on secondary storage to make the physical memory free for further execution of another required portion of the program. </a:t>
            </a:r>
            <a:r>
              <a:rPr lang="en-US" dirty="0">
                <a:solidFill>
                  <a:srgbClr val="0000FF"/>
                </a:solidFill>
                <a:cs typeface="Times New Roman" panose="02020603050405020304" pitchFamily="18" charset="0"/>
              </a:rPr>
              <a:t>This is called '</a:t>
            </a:r>
            <a:r>
              <a:rPr lang="en-US" dirty="0" err="1">
                <a:solidFill>
                  <a:srgbClr val="0000FF"/>
                </a:solidFill>
                <a:cs typeface="Times New Roman" panose="02020603050405020304" pitchFamily="18" charset="0"/>
              </a:rPr>
              <a:t>swaping</a:t>
            </a:r>
            <a:r>
              <a:rPr lang="en-US" dirty="0">
                <a:solidFill>
                  <a:srgbClr val="0000FF"/>
                </a:solidFill>
                <a:cs typeface="Times New Roman" panose="02020603050405020304" pitchFamily="18" charset="0"/>
              </a:rPr>
              <a:t> out' of the executable program. </a:t>
            </a:r>
            <a:r>
              <a:rPr lang="en-US" dirty="0">
                <a:cs typeface="Times New Roman" panose="02020603050405020304" pitchFamily="18" charset="0"/>
              </a:rPr>
              <a:t>Thus, from a programmer’s view point, there exists a large memory space which is not actually present in the system memory. As the name suggests, virtual memory does not exist physically in a system. However, it is possible to map a large virtual memory space on to the real physical memory.</a:t>
            </a:r>
            <a:endParaRPr lang="en-GB"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C. Virtual memory managed by MMU</a:t>
            </a:r>
          </a:p>
        </p:txBody>
      </p:sp>
    </p:spTree>
    <p:extLst>
      <p:ext uri="{BB962C8B-B14F-4D97-AF65-F5344CB8AC3E}">
        <p14:creationId xmlns:p14="http://schemas.microsoft.com/office/powerpoint/2010/main" val="7265339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23603" y="365126"/>
            <a:ext cx="10930197" cy="631162"/>
          </a:xfrm>
        </p:spPr>
        <p:txBody>
          <a:bodyPr>
            <a:normAutofit fontScale="90000"/>
          </a:bodyPr>
          <a:lstStyle/>
          <a:p>
            <a:r>
              <a:rPr lang="en-US" dirty="0"/>
              <a:t>C. Virtual memory managed by MMU</a:t>
            </a:r>
          </a:p>
        </p:txBody>
      </p:sp>
      <p:pic>
        <p:nvPicPr>
          <p:cNvPr id="3" name="Content Placeholder 2"/>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61150" y="996288"/>
            <a:ext cx="8524516" cy="5549478"/>
          </a:xfrm>
        </p:spPr>
      </p:pic>
    </p:spTree>
    <p:extLst>
      <p:ext uri="{BB962C8B-B14F-4D97-AF65-F5344CB8AC3E}">
        <p14:creationId xmlns:p14="http://schemas.microsoft.com/office/powerpoint/2010/main" val="735502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776785" y="1272075"/>
            <a:ext cx="9504640" cy="2028248"/>
          </a:xfrm>
          <a:prstGeom prst="rect">
            <a:avLst/>
          </a:prstGeom>
        </p:spPr>
        <p:txBody>
          <a:bodyPr wrap="square">
            <a:spAutoFit/>
          </a:bodyPr>
          <a:lstStyle/>
          <a:p>
            <a:pPr marL="514350" indent="-514350">
              <a:buFont typeface="+mj-lt"/>
              <a:buAutoNum type="arabicPeriod"/>
            </a:pPr>
            <a:r>
              <a:rPr lang="en-US" b="1" dirty="0">
                <a:solidFill>
                  <a:srgbClr val="0000FF"/>
                </a:solidFill>
                <a:cs typeface="Times New Roman" panose="02020603050405020304" pitchFamily="18" charset="0"/>
              </a:rPr>
              <a:t>Solve limited physical memory size</a:t>
            </a:r>
          </a:p>
          <a:p>
            <a:pPr marL="514350" indent="-514350">
              <a:buFont typeface="+mj-lt"/>
              <a:buAutoNum type="arabicPeriod"/>
            </a:pPr>
            <a:r>
              <a:rPr lang="en-US" b="1" dirty="0">
                <a:solidFill>
                  <a:srgbClr val="0000FF"/>
                </a:solidFill>
                <a:cs typeface="Times New Roman" panose="02020603050405020304" pitchFamily="18" charset="0"/>
              </a:rPr>
              <a:t>Solve discontinuous memory address problem </a:t>
            </a:r>
          </a:p>
          <a:p>
            <a:pPr marL="514350" indent="-514350">
              <a:buFont typeface="+mj-lt"/>
              <a:buAutoNum type="arabicPeriod"/>
            </a:pPr>
            <a:r>
              <a:rPr lang="en-US" b="1" dirty="0">
                <a:solidFill>
                  <a:srgbClr val="0000FF"/>
                </a:solidFill>
                <a:cs typeface="Times New Roman" panose="02020603050405020304" pitchFamily="18" charset="0"/>
              </a:rPr>
              <a:t>Provide program protection</a:t>
            </a:r>
          </a:p>
          <a:p>
            <a:pPr marL="514350" indent="-514350">
              <a:buFont typeface="+mj-lt"/>
              <a:buAutoNum type="arabicPeriod"/>
            </a:pPr>
            <a:endParaRPr lang="en-US" b="1" dirty="0">
              <a:solidFill>
                <a:srgbClr val="0000FF"/>
              </a:solidFill>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spTree>
    <p:extLst>
      <p:ext uri="{BB962C8B-B14F-4D97-AF65-F5344CB8AC3E}">
        <p14:creationId xmlns:p14="http://schemas.microsoft.com/office/powerpoint/2010/main" val="4908666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1771767"/>
          </a:xfrm>
          <a:prstGeom prst="rect">
            <a:avLst/>
          </a:prstGeom>
        </p:spPr>
        <p:txBody>
          <a:bodyPr wrap="square">
            <a:spAutoFit/>
          </a:bodyPr>
          <a:lstStyle/>
          <a:p>
            <a:pPr marL="514350" indent="-514350">
              <a:buFont typeface="+mj-lt"/>
              <a:buAutoNum type="arabicPeriod"/>
            </a:pPr>
            <a:r>
              <a:rPr lang="en-US" b="1" dirty="0">
                <a:solidFill>
                  <a:srgbClr val="0000FF"/>
                </a:solidFill>
                <a:cs typeface="Times New Roman" panose="02020603050405020304" pitchFamily="18" charset="0"/>
              </a:rPr>
              <a:t>Solve limited physical memory size</a:t>
            </a:r>
          </a:p>
          <a:p>
            <a:pPr marL="0" indent="0">
              <a:buNone/>
            </a:pPr>
            <a:r>
              <a:rPr lang="en-US" dirty="0">
                <a:cs typeface="Times New Roman" panose="02020603050405020304" pitchFamily="18" charset="0"/>
              </a:rPr>
              <a:t>Without the virtual memory program address directly map to the RAM addresses that means there is one to one relation exist between the program and RAM memory addresses.</a:t>
            </a:r>
            <a:endParaRPr lang="en-GB"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1026" name="Picture 2" descr="https://i0.wp.com/aticleworld.com/wp-content/uploads/2016/10/FirstImage-min.jpg?w=753&amp;ssl=1"/>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t="12468"/>
          <a:stretch/>
        </p:blipFill>
        <p:spPr bwMode="auto">
          <a:xfrm>
            <a:off x="2509239" y="2720456"/>
            <a:ext cx="7868031" cy="39145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304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2159566"/>
          </a:xfrm>
          <a:prstGeom prst="rect">
            <a:avLst/>
          </a:prstGeom>
        </p:spPr>
        <p:txBody>
          <a:bodyPr wrap="square">
            <a:spAutoFit/>
          </a:bodyPr>
          <a:lstStyle/>
          <a:p>
            <a:pPr marL="514350" indent="-514350">
              <a:buFont typeface="+mj-lt"/>
              <a:buAutoNum type="arabicPeriod"/>
            </a:pPr>
            <a:r>
              <a:rPr lang="en-US" b="1" dirty="0">
                <a:solidFill>
                  <a:srgbClr val="0000FF"/>
                </a:solidFill>
                <a:cs typeface="Times New Roman" panose="02020603050405020304" pitchFamily="18" charset="0"/>
              </a:rPr>
              <a:t>Solve limited physical memory size</a:t>
            </a:r>
          </a:p>
          <a:p>
            <a:pPr marL="0" indent="0">
              <a:buNone/>
            </a:pPr>
            <a:r>
              <a:rPr lang="en-US" dirty="0">
                <a:cs typeface="Times New Roman" panose="02020603050405020304" pitchFamily="18" charset="0"/>
              </a:rPr>
              <a:t>We can solve this problem by using the virtual memory, it creates a layer (managed by the MMU) between the RAM and program address which is used to map the program address and RAM address and prevent the system being crash.</a:t>
            </a:r>
            <a:endParaRPr lang="en-GB"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2050" name="Picture 2" descr="https://i0.wp.com/aticleworld.com/wp-content/uploads/2016/10/vituallesser-min.jpg?w=715&amp;ssl=1"/>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7714" t="3879" r="5427" b="2256"/>
          <a:stretch/>
        </p:blipFill>
        <p:spPr bwMode="auto">
          <a:xfrm>
            <a:off x="3401123" y="2736223"/>
            <a:ext cx="5428162" cy="40037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794666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1771767"/>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2. Solve discontinuous memory address problem </a:t>
            </a:r>
          </a:p>
          <a:p>
            <a:pPr marL="0" indent="0">
              <a:buNone/>
            </a:pPr>
            <a:r>
              <a:rPr lang="en-US" dirty="0">
                <a:cs typeface="Times New Roman" panose="02020603050405020304" pitchFamily="18" charset="0"/>
              </a:rPr>
              <a:t>Suppose there is two programs running simultaneously. The first program required 512 MB and second program required 1 GB of physical memory for the execution.</a:t>
            </a:r>
            <a:endParaRPr lang="en-GB"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3074" name="Picture 2" descr="virtual memory"/>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18087" t="6671" r="18700"/>
          <a:stretch/>
        </p:blipFill>
        <p:spPr bwMode="auto">
          <a:xfrm>
            <a:off x="3111192" y="2230241"/>
            <a:ext cx="4933307" cy="454969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p:cNvSpPr txBox="1"/>
          <p:nvPr/>
        </p:nvSpPr>
        <p:spPr>
          <a:xfrm>
            <a:off x="8513379" y="2538248"/>
            <a:ext cx="1324304" cy="523220"/>
          </a:xfrm>
          <a:prstGeom prst="rect">
            <a:avLst/>
          </a:prstGeom>
          <a:noFill/>
        </p:spPr>
        <p:txBody>
          <a:bodyPr wrap="square" rtlCol="0">
            <a:spAutoFit/>
          </a:bodyPr>
          <a:lstStyle/>
          <a:p>
            <a:r>
              <a:rPr lang="en-US" sz="2800" dirty="0"/>
              <a:t>512 MB</a:t>
            </a:r>
          </a:p>
        </p:txBody>
      </p:sp>
      <p:sp>
        <p:nvSpPr>
          <p:cNvPr id="6" name="TextBox 5"/>
          <p:cNvSpPr txBox="1"/>
          <p:nvPr/>
        </p:nvSpPr>
        <p:spPr>
          <a:xfrm>
            <a:off x="8513379" y="5575738"/>
            <a:ext cx="1324304" cy="523220"/>
          </a:xfrm>
          <a:prstGeom prst="rect">
            <a:avLst/>
          </a:prstGeom>
          <a:noFill/>
        </p:spPr>
        <p:txBody>
          <a:bodyPr wrap="square" rtlCol="0">
            <a:spAutoFit/>
          </a:bodyPr>
          <a:lstStyle/>
          <a:p>
            <a:r>
              <a:rPr lang="en-US" sz="2800" dirty="0"/>
              <a:t>512 MB</a:t>
            </a:r>
          </a:p>
        </p:txBody>
      </p:sp>
      <p:sp>
        <p:nvSpPr>
          <p:cNvPr id="7" name="TextBox 6"/>
          <p:cNvSpPr txBox="1"/>
          <p:nvPr/>
        </p:nvSpPr>
        <p:spPr>
          <a:xfrm>
            <a:off x="8513379" y="4088996"/>
            <a:ext cx="1324304" cy="523220"/>
          </a:xfrm>
          <a:prstGeom prst="rect">
            <a:avLst/>
          </a:prstGeom>
          <a:noFill/>
        </p:spPr>
        <p:txBody>
          <a:bodyPr wrap="square" rtlCol="0">
            <a:spAutoFit/>
          </a:bodyPr>
          <a:lstStyle/>
          <a:p>
            <a:r>
              <a:rPr lang="en-US" sz="2800" dirty="0"/>
              <a:t>1 GB</a:t>
            </a:r>
          </a:p>
        </p:txBody>
      </p:sp>
    </p:spTree>
    <p:extLst>
      <p:ext uri="{BB962C8B-B14F-4D97-AF65-F5344CB8AC3E}">
        <p14:creationId xmlns:p14="http://schemas.microsoft.com/office/powerpoint/2010/main" val="21339109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4355038"/>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2. Solve discontinuous memory address problem </a:t>
            </a:r>
          </a:p>
          <a:p>
            <a:pPr marL="0" indent="0">
              <a:buNone/>
            </a:pPr>
            <a:r>
              <a:rPr lang="en-US" dirty="0">
                <a:cs typeface="Times New Roman" panose="02020603050405020304" pitchFamily="18" charset="0"/>
              </a:rPr>
              <a:t>When the first program is terminated by the user then memory which occupied by the first program will be released and now we have the total 1GB amount of free space to execute the other program, but there is one drawback, free memory is not continuous.</a:t>
            </a:r>
          </a:p>
          <a:p>
            <a:pPr marL="0" indent="0">
              <a:buNone/>
            </a:pPr>
            <a:r>
              <a:rPr lang="en-US" dirty="0">
                <a:cs typeface="Times New Roman" panose="02020603050405020304" pitchFamily="18" charset="0"/>
              </a:rPr>
              <a:t>So if the user runs a third program which has required only 1 GB of physical memory still unable to execute because it wants a continuous 1GB free memory even though we have 1 GB of memory space that’s the cause of memory fragmentation.</a:t>
            </a:r>
          </a:p>
          <a:p>
            <a:pPr marL="0" indent="0">
              <a:buNone/>
            </a:pPr>
            <a:endParaRPr lang="en-US"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spTree>
    <p:extLst>
      <p:ext uri="{BB962C8B-B14F-4D97-AF65-F5344CB8AC3E}">
        <p14:creationId xmlns:p14="http://schemas.microsoft.com/office/powerpoint/2010/main" val="59099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996170"/>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2. Solve discontinuous memory address problem </a:t>
            </a:r>
          </a:p>
          <a:p>
            <a:pPr marL="0" indent="0">
              <a:buNone/>
            </a:pPr>
            <a:endParaRPr lang="en-US" dirty="0">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4100" name="Picture 4" descr="benefits of virtual memory"/>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5621" t="4511" r="3928"/>
          <a:stretch/>
        </p:blipFill>
        <p:spPr bwMode="auto">
          <a:xfrm>
            <a:off x="1226632" y="1579852"/>
            <a:ext cx="8465965" cy="51666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00586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2547364"/>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2. Solve discontinuous memory address problem </a:t>
            </a:r>
          </a:p>
          <a:p>
            <a:pPr marL="0" indent="0">
              <a:buNone/>
            </a:pPr>
            <a:r>
              <a:rPr lang="en-US" dirty="0">
                <a:cs typeface="Times New Roman" panose="02020603050405020304" pitchFamily="18" charset="0"/>
              </a:rPr>
              <a:t>We can solve this problem using the virtual memory because, with virtual memory, we do not directly access the physical memory. MMU play a vital role and map the program address space to the physical address space. </a:t>
            </a:r>
            <a:r>
              <a:rPr lang="en-US" dirty="0">
                <a:solidFill>
                  <a:srgbClr val="C00000"/>
                </a:solidFill>
                <a:cs typeface="Times New Roman" panose="02020603050405020304" pitchFamily="18" charset="0"/>
              </a:rPr>
              <a:t>Each program has own mapping and using the mapping we can put our program data any location in the RAM.</a:t>
            </a: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spTree>
    <p:extLst>
      <p:ext uri="{BB962C8B-B14F-4D97-AF65-F5344CB8AC3E}">
        <p14:creationId xmlns:p14="http://schemas.microsoft.com/office/powerpoint/2010/main" val="38736884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6146" name="Picture 2" descr="mapping virtual memory"/>
          <p:cNvPicPr>
            <a:picLocks noChangeAspect="1" noChangeArrowheads="1"/>
          </p:cNvPicPr>
          <p:nvPr/>
        </p:nvPicPr>
        <p:blipFill rotWithShape="1">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l="2735" t="2363" r="2805" b="4505"/>
          <a:stretch/>
        </p:blipFill>
        <p:spPr bwMode="auto">
          <a:xfrm>
            <a:off x="1148576" y="895926"/>
            <a:ext cx="9122131" cy="5482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17457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2675604"/>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3. Provide program protection</a:t>
            </a:r>
          </a:p>
          <a:p>
            <a:pPr marL="0" indent="0">
              <a:buNone/>
            </a:pPr>
            <a:r>
              <a:rPr lang="en-US" dirty="0">
                <a:cs typeface="Times New Roman" panose="02020603050405020304" pitchFamily="18" charset="0"/>
              </a:rPr>
              <a:t>In a multitasking system, each program can access memory address. So the problem occurs when two programs share the same address of address space to store their result.</a:t>
            </a:r>
          </a:p>
          <a:p>
            <a:pPr marL="0" indent="0">
              <a:buNone/>
            </a:pPr>
            <a:r>
              <a:rPr lang="en-US" dirty="0">
                <a:cs typeface="Times New Roman" panose="02020603050405020304" pitchFamily="18" charset="0"/>
              </a:rPr>
              <a:t>In that situation result of one program can be altered by another program and we will not get our desired result. It can be solved by the virtual memory.</a:t>
            </a: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C. Advantage of Virtual memory</a:t>
            </a:r>
          </a:p>
        </p:txBody>
      </p:sp>
    </p:spTree>
    <p:extLst>
      <p:ext uri="{BB962C8B-B14F-4D97-AF65-F5344CB8AC3E}">
        <p14:creationId xmlns:p14="http://schemas.microsoft.com/office/powerpoint/2010/main" val="19940491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63828" y="948690"/>
            <a:ext cx="11663149" cy="480131"/>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3. Provide program protection</a:t>
            </a: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7170" name="Picture 2" descr="advantages and disadvantages of virtual memory in computer architecture"/>
          <p:cNvPicPr>
            <a:picLocks noChangeAspect="1" noChangeArrowheads="1"/>
          </p:cNvPicPr>
          <p:nvPr/>
        </p:nvPicPr>
        <p:blipFill rotWithShape="1">
          <a:blip r:embed="rId2">
            <a:extLst>
              <a:ext uri="{28A0092B-C50C-407E-A947-70E740481C1C}">
                <a14:useLocalDpi xmlns:a14="http://schemas.microsoft.com/office/drawing/2010/main" val="0"/>
              </a:ext>
            </a:extLst>
          </a:blip>
          <a:srcRect t="7655" r="16059"/>
          <a:stretch/>
        </p:blipFill>
        <p:spPr bwMode="auto">
          <a:xfrm>
            <a:off x="2908958" y="1496460"/>
            <a:ext cx="5959486" cy="50834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08563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232297" y="996288"/>
            <a:ext cx="11844089" cy="2675604"/>
          </a:xfrm>
          <a:prstGeom prst="rect">
            <a:avLst/>
          </a:prstGeom>
        </p:spPr>
        <p:txBody>
          <a:bodyPr wrap="square">
            <a:spAutoFit/>
          </a:bodyPr>
          <a:lstStyle/>
          <a:p>
            <a:pPr marL="0" indent="0">
              <a:buNone/>
            </a:pPr>
            <a:r>
              <a:rPr lang="en-US" b="1" dirty="0">
                <a:solidFill>
                  <a:srgbClr val="0000FF"/>
                </a:solidFill>
                <a:cs typeface="Times New Roman" panose="02020603050405020304" pitchFamily="18" charset="0"/>
              </a:rPr>
              <a:t>3. Provide program protection</a:t>
            </a:r>
          </a:p>
          <a:p>
            <a:pPr marL="0" indent="0">
              <a:buNone/>
            </a:pPr>
            <a:r>
              <a:rPr lang="en-US" dirty="0"/>
              <a:t>Here program 1 and 2 have their </a:t>
            </a:r>
            <a:r>
              <a:rPr lang="en-US" dirty="0">
                <a:solidFill>
                  <a:srgbClr val="C00000"/>
                </a:solidFill>
              </a:rPr>
              <a:t>own program address space </a:t>
            </a:r>
            <a:r>
              <a:rPr lang="en-US" dirty="0"/>
              <a:t>so they can not access each other data and their </a:t>
            </a:r>
            <a:r>
              <a:rPr lang="en-US" dirty="0">
                <a:solidFill>
                  <a:srgbClr val="C00000"/>
                </a:solidFill>
              </a:rPr>
              <a:t>program address space map (managed by MMU) </a:t>
            </a:r>
            <a:r>
              <a:rPr lang="en-US" dirty="0"/>
              <a:t>with different RAM address.</a:t>
            </a:r>
          </a:p>
          <a:p>
            <a:pPr marL="0" indent="0">
              <a:buNone/>
            </a:pPr>
            <a:br>
              <a:rPr lang="en-US" dirty="0"/>
            </a:br>
            <a:endParaRPr lang="en-US" b="1" dirty="0">
              <a:solidFill>
                <a:srgbClr val="0000FF"/>
              </a:solidFill>
              <a:cs typeface="Times New Roman" panose="02020603050405020304" pitchFamily="18" charset="0"/>
            </a:endParaRPr>
          </a:p>
        </p:txBody>
      </p:sp>
      <p:sp>
        <p:nvSpPr>
          <p:cNvPr id="5" name="Title 1"/>
          <p:cNvSpPr>
            <a:spLocks noGrp="1"/>
          </p:cNvSpPr>
          <p:nvPr>
            <p:ph type="title"/>
          </p:nvPr>
        </p:nvSpPr>
        <p:spPr>
          <a:xfrm>
            <a:off x="423603" y="365126"/>
            <a:ext cx="10930197" cy="631162"/>
          </a:xfrm>
        </p:spPr>
        <p:txBody>
          <a:bodyPr>
            <a:normAutofit fontScale="90000"/>
          </a:bodyPr>
          <a:lstStyle/>
          <a:p>
            <a:r>
              <a:rPr lang="en-US" dirty="0"/>
              <a:t>D. Advantage of Virtual memory</a:t>
            </a:r>
          </a:p>
        </p:txBody>
      </p:sp>
      <p:pic>
        <p:nvPicPr>
          <p:cNvPr id="11266" name="Picture 2" descr="virtual memory map"/>
          <p:cNvPicPr>
            <a:picLocks noChangeAspect="1" noChangeArrowheads="1"/>
          </p:cNvPicPr>
          <p:nvPr/>
        </p:nvPicPr>
        <p:blipFill rotWithShape="1">
          <a:blip r:embed="rId2">
            <a:extLst>
              <a:ext uri="{28A0092B-C50C-407E-A947-70E740481C1C}">
                <a14:useLocalDpi xmlns:a14="http://schemas.microsoft.com/office/drawing/2010/main" val="0"/>
              </a:ext>
            </a:extLst>
          </a:blip>
          <a:srcRect t="4454"/>
          <a:stretch/>
        </p:blipFill>
        <p:spPr bwMode="auto">
          <a:xfrm>
            <a:off x="2677716" y="2728228"/>
            <a:ext cx="6684873" cy="41297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37725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828" y="189572"/>
            <a:ext cx="11263395" cy="803656"/>
          </a:xfrm>
        </p:spPr>
        <p:txBody>
          <a:bodyPr>
            <a:normAutofit/>
          </a:bodyPr>
          <a:lstStyle/>
          <a:p>
            <a:pPr algn="ctr"/>
            <a:r>
              <a:rPr lang="en-US" sz="3600" b="1" dirty="0">
                <a:latin typeface="Times New Roman" panose="02020603050405020304" pitchFamily="18" charset="0"/>
                <a:cs typeface="Times New Roman" panose="02020603050405020304" pitchFamily="18" charset="0"/>
              </a:rPr>
              <a:t>E. Protected Mode Operation (1)</a:t>
            </a:r>
          </a:p>
        </p:txBody>
      </p:sp>
      <p:sp>
        <p:nvSpPr>
          <p:cNvPr id="3" name="Content Placeholder 2"/>
          <p:cNvSpPr>
            <a:spLocks noGrp="1"/>
          </p:cNvSpPr>
          <p:nvPr>
            <p:ph idx="1"/>
          </p:nvPr>
        </p:nvSpPr>
        <p:spPr>
          <a:xfrm>
            <a:off x="406828" y="993227"/>
            <a:ext cx="11263395" cy="5728247"/>
          </a:xfrm>
        </p:spPr>
        <p:txBody>
          <a:bodyPr>
            <a:normAutofit/>
          </a:bodyPr>
          <a:lstStyle/>
          <a:p>
            <a:pPr marL="0" indent="0">
              <a:buNone/>
            </a:pPr>
            <a:r>
              <a:rPr lang="en-US" dirty="0">
                <a:cs typeface="Times New Roman" panose="02020603050405020304" pitchFamily="18" charset="0"/>
              </a:rPr>
              <a:t>The 80286 and above Micro-processor’s can operate in </a:t>
            </a:r>
            <a:r>
              <a:rPr lang="en-US" dirty="0">
                <a:solidFill>
                  <a:srgbClr val="0000FF"/>
                </a:solidFill>
                <a:cs typeface="Times New Roman" panose="02020603050405020304" pitchFamily="18" charset="0"/>
              </a:rPr>
              <a:t>Real mode</a:t>
            </a:r>
            <a:r>
              <a:rPr lang="en-US" dirty="0">
                <a:cs typeface="Times New Roman" panose="02020603050405020304" pitchFamily="18" charset="0"/>
              </a:rPr>
              <a:t> and </a:t>
            </a:r>
            <a:r>
              <a:rPr lang="en-US" dirty="0">
                <a:solidFill>
                  <a:srgbClr val="0070C0"/>
                </a:solidFill>
                <a:cs typeface="Times New Roman" panose="02020603050405020304" pitchFamily="18" charset="0"/>
              </a:rPr>
              <a:t>Protected mode</a:t>
            </a:r>
            <a:r>
              <a:rPr lang="en-US" dirty="0">
                <a:cs typeface="Times New Roman" panose="02020603050405020304" pitchFamily="18" charset="0"/>
              </a:rPr>
              <a:t>. The features of Protected mode are:</a:t>
            </a:r>
          </a:p>
          <a:p>
            <a:pPr marL="0" indent="0">
              <a:buNone/>
            </a:pPr>
            <a:endParaRPr lang="en-US" dirty="0">
              <a:cs typeface="Times New Roman" panose="02020603050405020304" pitchFamily="18" charset="0"/>
            </a:endParaRPr>
          </a:p>
          <a:p>
            <a:r>
              <a:rPr lang="en-US" dirty="0">
                <a:cs typeface="Times New Roman" panose="02020603050405020304" pitchFamily="18" charset="0"/>
              </a:rPr>
              <a:t>In Protected mode, the Micro-processor can access memory above 1 MB.   </a:t>
            </a:r>
          </a:p>
          <a:p>
            <a:endParaRPr lang="en-US" dirty="0">
              <a:cs typeface="Times New Roman" panose="02020603050405020304" pitchFamily="18" charset="0"/>
            </a:endParaRPr>
          </a:p>
          <a:p>
            <a:r>
              <a:rPr lang="en-US" dirty="0">
                <a:cs typeface="Times New Roman" panose="02020603050405020304" pitchFamily="18" charset="0"/>
              </a:rPr>
              <a:t>Protected mode supports </a:t>
            </a:r>
            <a:r>
              <a:rPr lang="en-US" dirty="0">
                <a:solidFill>
                  <a:srgbClr val="C00000"/>
                </a:solidFill>
                <a:cs typeface="Times New Roman" panose="02020603050405020304" pitchFamily="18" charset="0"/>
              </a:rPr>
              <a:t>Virtual memory </a:t>
            </a:r>
            <a:r>
              <a:rPr lang="en-US" dirty="0">
                <a:cs typeface="Times New Roman" panose="02020603050405020304" pitchFamily="18" charset="0"/>
              </a:rPr>
              <a:t>which is a memory management technique that extends Micro-processor’s capability to access memory beyond it’s maximum possible physical memory.</a:t>
            </a:r>
          </a:p>
          <a:p>
            <a:endParaRPr lang="en-US" dirty="0">
              <a:cs typeface="Times New Roman" panose="02020603050405020304" pitchFamily="18" charset="0"/>
            </a:endParaRPr>
          </a:p>
          <a:p>
            <a:r>
              <a:rPr lang="en-US" dirty="0">
                <a:cs typeface="Times New Roman" panose="02020603050405020304" pitchFamily="18" charset="0"/>
              </a:rPr>
              <a:t>Protected mode allows </a:t>
            </a:r>
            <a:r>
              <a:rPr lang="en-US" dirty="0">
                <a:solidFill>
                  <a:srgbClr val="FF00FF"/>
                </a:solidFill>
                <a:cs typeface="Times New Roman" panose="02020603050405020304" pitchFamily="18" charset="0"/>
              </a:rPr>
              <a:t>multitasking</a:t>
            </a:r>
            <a:r>
              <a:rPr lang="en-US" dirty="0">
                <a:cs typeface="Times New Roman" panose="02020603050405020304" pitchFamily="18" charset="0"/>
              </a:rPr>
              <a:t>. Multitasking refers to loading multiple programs into memory and executing them simultaneously under a multitasking operating system such as Windows.</a:t>
            </a:r>
          </a:p>
        </p:txBody>
      </p:sp>
      <p:sp>
        <p:nvSpPr>
          <p:cNvPr id="4" name="Slide Number Placeholder 3"/>
          <p:cNvSpPr>
            <a:spLocks noGrp="1"/>
          </p:cNvSpPr>
          <p:nvPr>
            <p:ph type="sldNum" sz="quarter" idx="12"/>
          </p:nvPr>
        </p:nvSpPr>
        <p:spPr/>
        <p:txBody>
          <a:bodyPr/>
          <a:lstStyle/>
          <a:p>
            <a:fld id="{A7682071-4525-4FC3-B8D5-3D4B0C49583A}" type="slidenum">
              <a:rPr lang="en-GB" smtClean="0"/>
              <a:t>21</a:t>
            </a:fld>
            <a:endParaRPr lang="en-GB"/>
          </a:p>
        </p:txBody>
      </p:sp>
    </p:spTree>
    <p:extLst>
      <p:ext uri="{BB962C8B-B14F-4D97-AF65-F5344CB8AC3E}">
        <p14:creationId xmlns:p14="http://schemas.microsoft.com/office/powerpoint/2010/main" val="27093644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6829" y="189572"/>
            <a:ext cx="10515600" cy="925488"/>
          </a:xfrm>
        </p:spPr>
        <p:txBody>
          <a:bodyPr>
            <a:normAutofit/>
          </a:bodyPr>
          <a:lstStyle/>
          <a:p>
            <a:pPr algn="ctr"/>
            <a:r>
              <a:rPr lang="en-US" sz="3600" b="1" dirty="0">
                <a:latin typeface="Times New Roman" panose="02020603050405020304" pitchFamily="18" charset="0"/>
                <a:cs typeface="Times New Roman" panose="02020603050405020304" pitchFamily="18" charset="0"/>
              </a:rPr>
              <a:t>E. Protected Mode Operation (2)</a:t>
            </a:r>
          </a:p>
        </p:txBody>
      </p:sp>
      <p:sp>
        <p:nvSpPr>
          <p:cNvPr id="3" name="Content Placeholder 2"/>
          <p:cNvSpPr>
            <a:spLocks noGrp="1"/>
          </p:cNvSpPr>
          <p:nvPr>
            <p:ph idx="1"/>
          </p:nvPr>
        </p:nvSpPr>
        <p:spPr>
          <a:xfrm>
            <a:off x="406829" y="903187"/>
            <a:ext cx="11263395" cy="5241290"/>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Most programs written to function in the real mode will function without change in the protected mode.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difference between </a:t>
            </a:r>
            <a:r>
              <a:rPr lang="en-US" dirty="0">
                <a:solidFill>
                  <a:srgbClr val="FF0000"/>
                </a:solidFill>
                <a:latin typeface="Times New Roman" panose="02020603050405020304" pitchFamily="18" charset="0"/>
                <a:cs typeface="Times New Roman" panose="02020603050405020304" pitchFamily="18" charset="0"/>
              </a:rPr>
              <a:t>Real mode </a:t>
            </a:r>
            <a:r>
              <a:rPr lang="en-US" dirty="0">
                <a:latin typeface="Times New Roman" panose="02020603050405020304" pitchFamily="18" charset="0"/>
                <a:cs typeface="Times New Roman" panose="02020603050405020304" pitchFamily="18" charset="0"/>
              </a:rPr>
              <a:t>and </a:t>
            </a:r>
            <a:r>
              <a:rPr lang="en-US" dirty="0">
                <a:solidFill>
                  <a:srgbClr val="FF00FF"/>
                </a:solidFill>
                <a:latin typeface="Times New Roman" panose="02020603050405020304" pitchFamily="18" charset="0"/>
                <a:cs typeface="Times New Roman" panose="02020603050405020304" pitchFamily="18" charset="0"/>
              </a:rPr>
              <a:t>Protected mode </a:t>
            </a:r>
            <a:r>
              <a:rPr lang="en-US" dirty="0">
                <a:latin typeface="Times New Roman" panose="02020603050405020304" pitchFamily="18" charset="0"/>
                <a:cs typeface="Times New Roman" panose="02020603050405020304" pitchFamily="18" charset="0"/>
              </a:rPr>
              <a:t>is the way, that the segment register is</a:t>
            </a:r>
            <a:r>
              <a:rPr lang="en-US" dirty="0">
                <a:solidFill>
                  <a:srgbClr val="0000FF"/>
                </a:solidFill>
                <a:latin typeface="Times New Roman" panose="02020603050405020304" pitchFamily="18" charset="0"/>
                <a:cs typeface="Times New Roman" panose="02020603050405020304" pitchFamily="18" charset="0"/>
              </a:rPr>
              <a:t> interpreted by the Microprocessor to access the Memory segment</a:t>
            </a:r>
            <a:r>
              <a:rPr lang="en-US" dirty="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Segments size can be variable. Segments may begin at any address of the Micro-processor’s physical memory.</a:t>
            </a:r>
          </a:p>
          <a:p>
            <a:pPr algn="just"/>
            <a:r>
              <a:rPr lang="en-US" dirty="0">
                <a:latin typeface="Times New Roman" panose="02020603050405020304" pitchFamily="18" charset="0"/>
                <a:cs typeface="Times New Roman" panose="02020603050405020304" pitchFamily="18" charset="0"/>
              </a:rPr>
              <a:t>Indirectly, the segment register still selects a memory segment, but not directly as in the real mode. For example, in the real mode, if , the code segment begins at location 00080H. In the protected mode, this segment number can address any memory location in the entire system for the code segment, as explained shortly.</a:t>
            </a:r>
          </a:p>
          <a:p>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22</a:t>
            </a:fld>
            <a:endParaRPr lang="en-GB"/>
          </a:p>
        </p:txBody>
      </p:sp>
    </p:spTree>
    <p:extLst>
      <p:ext uri="{BB962C8B-B14F-4D97-AF65-F5344CB8AC3E}">
        <p14:creationId xmlns:p14="http://schemas.microsoft.com/office/powerpoint/2010/main" val="3103415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6829" y="936701"/>
            <a:ext cx="11524975" cy="5330283"/>
          </a:xfrm>
        </p:spPr>
        <p:txBody>
          <a:bodyPr>
            <a:normAutofit/>
          </a:bodyPr>
          <a:lstStyle/>
          <a:p>
            <a:pPr>
              <a:lnSpc>
                <a:spcPct val="120000"/>
              </a:lnSpc>
            </a:pPr>
            <a:r>
              <a:rPr lang="en-US" sz="3200" dirty="0">
                <a:latin typeface="Times New Roman" panose="02020603050405020304" pitchFamily="18" charset="0"/>
                <a:cs typeface="Times New Roman" panose="02020603050405020304" pitchFamily="18" charset="0"/>
              </a:rPr>
              <a:t>In place of the </a:t>
            </a:r>
            <a:r>
              <a:rPr lang="en-US" sz="3200" dirty="0">
                <a:solidFill>
                  <a:srgbClr val="C00000"/>
                </a:solidFill>
                <a:latin typeface="Times New Roman" panose="02020603050405020304" pitchFamily="18" charset="0"/>
                <a:cs typeface="Times New Roman" panose="02020603050405020304" pitchFamily="18" charset="0"/>
              </a:rPr>
              <a:t>Segment address</a:t>
            </a:r>
            <a:r>
              <a:rPr lang="en-US" sz="3200" dirty="0">
                <a:latin typeface="Times New Roman" panose="02020603050405020304" pitchFamily="18" charset="0"/>
                <a:cs typeface="Times New Roman" panose="02020603050405020304" pitchFamily="18" charset="0"/>
              </a:rPr>
              <a:t>, the </a:t>
            </a:r>
            <a:r>
              <a:rPr lang="en-US" sz="3200" dirty="0">
                <a:solidFill>
                  <a:srgbClr val="7030A0"/>
                </a:solidFill>
                <a:latin typeface="Times New Roman" panose="02020603050405020304" pitchFamily="18" charset="0"/>
                <a:cs typeface="Times New Roman" panose="02020603050405020304" pitchFamily="18" charset="0"/>
              </a:rPr>
              <a:t>Segment register </a:t>
            </a:r>
            <a:r>
              <a:rPr lang="en-US" sz="3200" dirty="0">
                <a:latin typeface="Times New Roman" panose="02020603050405020304" pitchFamily="18" charset="0"/>
                <a:cs typeface="Times New Roman" panose="02020603050405020304" pitchFamily="18" charset="0"/>
              </a:rPr>
              <a:t>contains a </a:t>
            </a:r>
            <a:r>
              <a:rPr lang="en-US" sz="3200" dirty="0">
                <a:solidFill>
                  <a:srgbClr val="0000FF"/>
                </a:solidFill>
                <a:latin typeface="Times New Roman" panose="02020603050405020304" pitchFamily="18" charset="0"/>
                <a:cs typeface="Times New Roman" panose="02020603050405020304" pitchFamily="18" charset="0"/>
              </a:rPr>
              <a:t>Selector</a:t>
            </a:r>
            <a:r>
              <a:rPr lang="en-US" sz="3200" dirty="0">
                <a:latin typeface="Times New Roman" panose="02020603050405020304" pitchFamily="18" charset="0"/>
                <a:cs typeface="Times New Roman" panose="02020603050405020304" pitchFamily="18" charset="0"/>
              </a:rPr>
              <a:t>.</a:t>
            </a:r>
          </a:p>
          <a:p>
            <a:pPr>
              <a:lnSpc>
                <a:spcPct val="120000"/>
              </a:lnSpc>
            </a:pPr>
            <a:r>
              <a:rPr lang="en-US" sz="3200" dirty="0">
                <a:latin typeface="Times New Roman" panose="02020603050405020304" pitchFamily="18" charset="0"/>
                <a:cs typeface="Times New Roman" panose="02020603050405020304" pitchFamily="18" charset="0"/>
              </a:rPr>
              <a:t>The </a:t>
            </a:r>
            <a:r>
              <a:rPr lang="en-US" sz="3200" dirty="0">
                <a:solidFill>
                  <a:srgbClr val="0000FF"/>
                </a:solidFill>
                <a:latin typeface="Times New Roman" panose="02020603050405020304" pitchFamily="18" charset="0"/>
                <a:cs typeface="Times New Roman" panose="02020603050405020304" pitchFamily="18" charset="0"/>
              </a:rPr>
              <a:t>Selector</a:t>
            </a:r>
            <a:r>
              <a:rPr lang="en-US" sz="3200" dirty="0">
                <a:latin typeface="Times New Roman" panose="02020603050405020304" pitchFamily="18" charset="0"/>
                <a:cs typeface="Times New Roman" panose="02020603050405020304" pitchFamily="18" charset="0"/>
              </a:rPr>
              <a:t> selects a </a:t>
            </a:r>
            <a:r>
              <a:rPr lang="en-US" sz="3200" dirty="0">
                <a:solidFill>
                  <a:schemeClr val="accent2">
                    <a:lumMod val="75000"/>
                  </a:schemeClr>
                </a:solidFill>
                <a:latin typeface="Times New Roman" panose="02020603050405020304" pitchFamily="18" charset="0"/>
                <a:cs typeface="Times New Roman" panose="02020603050405020304" pitchFamily="18" charset="0"/>
              </a:rPr>
              <a:t>Descriptor</a:t>
            </a:r>
            <a:r>
              <a:rPr lang="en-US" sz="3200" dirty="0">
                <a:latin typeface="Times New Roman" panose="02020603050405020304" pitchFamily="18" charset="0"/>
                <a:cs typeface="Times New Roman" panose="02020603050405020304" pitchFamily="18" charset="0"/>
              </a:rPr>
              <a:t> from a </a:t>
            </a:r>
            <a:r>
              <a:rPr lang="en-US" sz="3200" dirty="0">
                <a:solidFill>
                  <a:srgbClr val="FF00FF"/>
                </a:solidFill>
                <a:latin typeface="Times New Roman" panose="02020603050405020304" pitchFamily="18" charset="0"/>
                <a:cs typeface="Times New Roman" panose="02020603050405020304" pitchFamily="18" charset="0"/>
              </a:rPr>
              <a:t>Descriptor table</a:t>
            </a:r>
            <a:r>
              <a:rPr lang="en-US" sz="3200" dirty="0">
                <a:latin typeface="Times New Roman" panose="02020603050405020304" pitchFamily="18" charset="0"/>
                <a:cs typeface="Times New Roman" panose="02020603050405020304" pitchFamily="18" charset="0"/>
              </a:rPr>
              <a:t>.</a:t>
            </a:r>
          </a:p>
          <a:p>
            <a:pPr>
              <a:lnSpc>
                <a:spcPct val="120000"/>
              </a:lnSpc>
            </a:pPr>
            <a:r>
              <a:rPr lang="en-US" sz="3200" dirty="0">
                <a:latin typeface="Times New Roman" panose="02020603050405020304" pitchFamily="18" charset="0"/>
                <a:cs typeface="Times New Roman" panose="02020603050405020304" pitchFamily="18" charset="0"/>
              </a:rPr>
              <a:t>The </a:t>
            </a:r>
            <a:r>
              <a:rPr lang="en-US" sz="3200" dirty="0">
                <a:solidFill>
                  <a:schemeClr val="accent2">
                    <a:lumMod val="75000"/>
                  </a:schemeClr>
                </a:solidFill>
                <a:latin typeface="Times New Roman" panose="02020603050405020304" pitchFamily="18" charset="0"/>
                <a:cs typeface="Times New Roman" panose="02020603050405020304" pitchFamily="18" charset="0"/>
              </a:rPr>
              <a:t>Descriptor</a:t>
            </a:r>
            <a:r>
              <a:rPr lang="en-US" sz="3200" dirty="0">
                <a:latin typeface="Times New Roman" panose="02020603050405020304" pitchFamily="18" charset="0"/>
                <a:cs typeface="Times New Roman" panose="02020603050405020304" pitchFamily="18" charset="0"/>
              </a:rPr>
              <a:t> describes the </a:t>
            </a:r>
            <a:r>
              <a:rPr lang="en-US" sz="3200" u="sng" dirty="0">
                <a:latin typeface="Times New Roman" panose="02020603050405020304" pitchFamily="18" charset="0"/>
                <a:cs typeface="Times New Roman" panose="02020603050405020304" pitchFamily="18" charset="0"/>
              </a:rPr>
              <a:t>Memory segment</a:t>
            </a:r>
            <a:r>
              <a:rPr lang="en-US" sz="3200" dirty="0">
                <a:latin typeface="Times New Roman" panose="02020603050405020304" pitchFamily="18" charset="0"/>
                <a:cs typeface="Times New Roman" panose="02020603050405020304" pitchFamily="18" charset="0"/>
              </a:rPr>
              <a:t>'s </a:t>
            </a:r>
            <a:r>
              <a:rPr lang="en-US" sz="3200" dirty="0">
                <a:solidFill>
                  <a:srgbClr val="00B050"/>
                </a:solidFill>
                <a:latin typeface="Times New Roman" panose="02020603050405020304" pitchFamily="18" charset="0"/>
                <a:cs typeface="Times New Roman" panose="02020603050405020304" pitchFamily="18" charset="0"/>
              </a:rPr>
              <a:t>location</a:t>
            </a:r>
            <a:r>
              <a:rPr lang="en-US" sz="3200" dirty="0">
                <a:latin typeface="Times New Roman" panose="02020603050405020304" pitchFamily="18" charset="0"/>
                <a:cs typeface="Times New Roman" panose="02020603050405020304" pitchFamily="18" charset="0"/>
              </a:rPr>
              <a:t>, </a:t>
            </a:r>
            <a:r>
              <a:rPr lang="en-US" sz="3200" dirty="0">
                <a:solidFill>
                  <a:srgbClr val="00B050"/>
                </a:solidFill>
                <a:latin typeface="Times New Roman" panose="02020603050405020304" pitchFamily="18" charset="0"/>
                <a:cs typeface="Times New Roman" panose="02020603050405020304" pitchFamily="18" charset="0"/>
              </a:rPr>
              <a:t>length</a:t>
            </a:r>
            <a:r>
              <a:rPr lang="en-US" sz="3200" dirty="0">
                <a:latin typeface="Times New Roman" panose="02020603050405020304" pitchFamily="18" charset="0"/>
                <a:cs typeface="Times New Roman" panose="02020603050405020304" pitchFamily="18" charset="0"/>
              </a:rPr>
              <a:t>, and </a:t>
            </a:r>
            <a:r>
              <a:rPr lang="en-US" sz="3200" dirty="0">
                <a:solidFill>
                  <a:srgbClr val="00B050"/>
                </a:solidFill>
                <a:latin typeface="Times New Roman" panose="02020603050405020304" pitchFamily="18" charset="0"/>
                <a:cs typeface="Times New Roman" panose="02020603050405020304" pitchFamily="18" charset="0"/>
              </a:rPr>
              <a:t>access rights</a:t>
            </a:r>
            <a:r>
              <a:rPr lang="en-US" sz="3200" dirty="0">
                <a:latin typeface="Times New Roman" panose="02020603050405020304" pitchFamily="18" charset="0"/>
                <a:cs typeface="Times New Roman" panose="02020603050405020304" pitchFamily="18" charset="0"/>
              </a:rPr>
              <a:t>. </a:t>
            </a:r>
          </a:p>
          <a:p>
            <a:pPr>
              <a:lnSpc>
                <a:spcPct val="80000"/>
              </a:lnSpc>
            </a:pPr>
            <a:endParaRPr lang="en-US" sz="3200" dirty="0">
              <a:latin typeface="Times New Roman" panose="02020603050405020304" pitchFamily="18" charset="0"/>
              <a:cs typeface="Times New Roman" panose="02020603050405020304" pitchFamily="18" charset="0"/>
            </a:endParaRPr>
          </a:p>
          <a:p>
            <a:pPr>
              <a:lnSpc>
                <a:spcPct val="80000"/>
              </a:lnSpc>
            </a:pPr>
            <a:endParaRPr lang="en-US" sz="3200" dirty="0">
              <a:latin typeface="Times New Roman" panose="02020603050405020304" pitchFamily="18" charset="0"/>
              <a:cs typeface="Times New Roman" panose="02020603050405020304" pitchFamily="18" charset="0"/>
            </a:endParaRPr>
          </a:p>
          <a:p>
            <a:pPr>
              <a:lnSpc>
                <a:spcPct val="80000"/>
              </a:lnSpc>
            </a:pPr>
            <a:endParaRPr lang="en-US" sz="32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23</a:t>
            </a:fld>
            <a:endParaRPr lang="en-GB"/>
          </a:p>
        </p:txBody>
      </p:sp>
      <p:sp>
        <p:nvSpPr>
          <p:cNvPr id="6" name="Title 1"/>
          <p:cNvSpPr>
            <a:spLocks noGrp="1"/>
          </p:cNvSpPr>
          <p:nvPr>
            <p:ph type="title"/>
          </p:nvPr>
        </p:nvSpPr>
        <p:spPr>
          <a:xfrm>
            <a:off x="406829" y="189571"/>
            <a:ext cx="10342947" cy="747131"/>
          </a:xfrm>
        </p:spPr>
        <p:txBody>
          <a:bodyPr>
            <a:normAutofit/>
          </a:bodyPr>
          <a:lstStyle/>
          <a:p>
            <a:pPr algn="ctr"/>
            <a:r>
              <a:rPr lang="en-US" sz="3600" b="1" dirty="0">
                <a:latin typeface="Times New Roman" panose="02020603050405020304" pitchFamily="18" charset="0"/>
                <a:cs typeface="Times New Roman" panose="02020603050405020304" pitchFamily="18" charset="0"/>
              </a:rPr>
              <a:t>E. Protected Mode Operation (80286)</a:t>
            </a:r>
          </a:p>
        </p:txBody>
      </p:sp>
    </p:spTree>
    <p:extLst>
      <p:ext uri="{BB962C8B-B14F-4D97-AF65-F5344CB8AC3E}">
        <p14:creationId xmlns:p14="http://schemas.microsoft.com/office/powerpoint/2010/main" val="1302020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83778" y="5376199"/>
            <a:ext cx="11288111" cy="1094322"/>
          </a:xfrm>
        </p:spPr>
        <p:txBody>
          <a:bodyPr>
            <a:normAutofit/>
          </a:bodyPr>
          <a:lstStyle/>
          <a:p>
            <a:r>
              <a:rPr lang="en-US" altLang="en-US" sz="2800" dirty="0">
                <a:solidFill>
                  <a:srgbClr val="000000"/>
                </a:solidFill>
                <a:latin typeface="Times New Roman" panose="02020603050405020304" pitchFamily="18" charset="0"/>
                <a:cs typeface="Times New Roman" panose="02020603050405020304" pitchFamily="18" charset="0"/>
              </a:rPr>
              <a:t>Figure: The contents of a segment register during Protected mode operation of the 80286 microprocessors</a:t>
            </a:r>
            <a:endParaRPr lang="en-US" sz="28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A7682071-4525-4FC3-B8D5-3D4B0C49583A}" type="slidenum">
              <a:rPr lang="en-GB" smtClean="0"/>
              <a:t>24</a:t>
            </a:fld>
            <a:endParaRPr lang="en-GB" dirty="0"/>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778" y="651312"/>
            <a:ext cx="11644878" cy="3337361"/>
          </a:xfrm>
          <a:prstGeom prst="rect">
            <a:avLst/>
          </a:prstGeom>
        </p:spPr>
      </p:pic>
      <p:sp>
        <p:nvSpPr>
          <p:cNvPr id="7" name="Rectangle 6"/>
          <p:cNvSpPr/>
          <p:nvPr/>
        </p:nvSpPr>
        <p:spPr>
          <a:xfrm>
            <a:off x="283778" y="3988673"/>
            <a:ext cx="11418904" cy="954107"/>
          </a:xfrm>
          <a:prstGeom prst="rect">
            <a:avLst/>
          </a:prstGeom>
        </p:spPr>
        <p:txBody>
          <a:bodyPr wrap="square">
            <a:spAutoFit/>
          </a:bodyPr>
          <a:lstStyle/>
          <a:p>
            <a:r>
              <a:rPr lang="en-US" altLang="en-US" sz="2800" dirty="0">
                <a:latin typeface="Times New Roman" panose="02020603050405020304" pitchFamily="18" charset="0"/>
                <a:cs typeface="Times New Roman" panose="02020603050405020304" pitchFamily="18" charset="0"/>
              </a:rPr>
              <a:t>16 bits Segment register = 13 bit descriptor Index   + 1 bit descriptor table selector + 2-bit requested privilege </a:t>
            </a:r>
          </a:p>
        </p:txBody>
      </p:sp>
      <p:sp>
        <p:nvSpPr>
          <p:cNvPr id="8" name="Text Box 7"/>
          <p:cNvSpPr txBox="1">
            <a:spLocks noChangeArrowheads="1"/>
          </p:cNvSpPr>
          <p:nvPr/>
        </p:nvSpPr>
        <p:spPr bwMode="auto">
          <a:xfrm>
            <a:off x="1500735" y="217893"/>
            <a:ext cx="130029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b="1" dirty="0">
                <a:solidFill>
                  <a:srgbClr val="FF00FF"/>
                </a:solidFill>
              </a:rPr>
              <a:t>Segment</a:t>
            </a:r>
          </a:p>
          <a:p>
            <a:r>
              <a:rPr lang="en-US" altLang="en-US" sz="2000" b="1" dirty="0">
                <a:solidFill>
                  <a:srgbClr val="FF00FF"/>
                </a:solidFill>
              </a:rPr>
              <a:t>Register, </a:t>
            </a:r>
          </a:p>
          <a:p>
            <a:r>
              <a:rPr lang="en-US" altLang="en-US" sz="2000" b="1" dirty="0">
                <a:solidFill>
                  <a:srgbClr val="FF00FF"/>
                </a:solidFill>
              </a:rPr>
              <a:t>e.g. DS, CS</a:t>
            </a:r>
          </a:p>
        </p:txBody>
      </p:sp>
      <p:sp>
        <p:nvSpPr>
          <p:cNvPr id="9" name="Text Box 5"/>
          <p:cNvSpPr txBox="1">
            <a:spLocks noChangeArrowheads="1"/>
          </p:cNvSpPr>
          <p:nvPr/>
        </p:nvSpPr>
        <p:spPr bwMode="auto">
          <a:xfrm>
            <a:off x="3673695" y="2241783"/>
            <a:ext cx="129234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b="1" dirty="0">
                <a:solidFill>
                  <a:srgbClr val="0000CC"/>
                </a:solidFill>
              </a:rPr>
              <a:t>(2</a:t>
            </a:r>
            <a:r>
              <a:rPr lang="en-US" altLang="en-US" b="1" baseline="30000" dirty="0">
                <a:solidFill>
                  <a:srgbClr val="0000CC"/>
                </a:solidFill>
              </a:rPr>
              <a:t>13</a:t>
            </a:r>
            <a:r>
              <a:rPr lang="en-US" altLang="en-US" b="1" dirty="0">
                <a:solidFill>
                  <a:srgbClr val="0000CC"/>
                </a:solidFill>
              </a:rPr>
              <a:t> = 8192)</a:t>
            </a:r>
          </a:p>
        </p:txBody>
      </p:sp>
      <p:sp>
        <p:nvSpPr>
          <p:cNvPr id="10" name="Title 1"/>
          <p:cNvSpPr txBox="1">
            <a:spLocks/>
          </p:cNvSpPr>
          <p:nvPr/>
        </p:nvSpPr>
        <p:spPr>
          <a:xfrm>
            <a:off x="1266174" y="111361"/>
            <a:ext cx="10515600" cy="461741"/>
          </a:xfrm>
          <a:prstGeom prst="rect">
            <a:avLst/>
          </a:prstGeom>
        </p:spPr>
        <p:txBody>
          <a:bodyPr vert="horz" lIns="91440" tIns="45720" rIns="91440" bIns="45720" rtlCol="0"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E. Protected Mode Operation (80286)</a:t>
            </a:r>
          </a:p>
        </p:txBody>
      </p:sp>
      <p:sp>
        <p:nvSpPr>
          <p:cNvPr id="11" name="Text Box 7"/>
          <p:cNvSpPr txBox="1">
            <a:spLocks noChangeArrowheads="1"/>
          </p:cNvSpPr>
          <p:nvPr/>
        </p:nvSpPr>
        <p:spPr bwMode="auto">
          <a:xfrm>
            <a:off x="8278727" y="725724"/>
            <a:ext cx="3075073"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solidFill>
                  <a:srgbClr val="FF00FF"/>
                </a:solidFill>
              </a:rPr>
              <a:t>Segment selector</a:t>
            </a:r>
          </a:p>
        </p:txBody>
      </p:sp>
    </p:spTree>
    <p:extLst>
      <p:ext uri="{BB962C8B-B14F-4D97-AF65-F5344CB8AC3E}">
        <p14:creationId xmlns:p14="http://schemas.microsoft.com/office/powerpoint/2010/main" val="42578634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43417" y="90488"/>
            <a:ext cx="11887200" cy="1143000"/>
          </a:xfrm>
        </p:spPr>
        <p:txBody>
          <a:bodyPr/>
          <a:lstStyle/>
          <a:p>
            <a:pPr eaLnBrk="1" hangingPunct="1"/>
            <a:r>
              <a:rPr lang="en-US" altLang="zh-TW" sz="1800" b="1">
                <a:solidFill>
                  <a:srgbClr val="000000"/>
                </a:solidFill>
                <a:cs typeface="Arial" pitchFamily="34" charset="0"/>
              </a:rPr>
              <a:t>Figure 2</a:t>
            </a:r>
            <a:r>
              <a:rPr lang="en-US" altLang="zh-TW" sz="1800" b="1">
                <a:solidFill>
                  <a:srgbClr val="000000"/>
                </a:solidFill>
                <a:latin typeface="B Helvetica Bold" pitchFamily="-80" charset="0"/>
                <a:cs typeface="Arial" pitchFamily="34" charset="0"/>
              </a:rPr>
              <a:t>–</a:t>
            </a:r>
            <a:r>
              <a:rPr lang="en-US" altLang="zh-TW" sz="1800" b="1">
                <a:solidFill>
                  <a:srgbClr val="000000"/>
                </a:solidFill>
                <a:cs typeface="Arial" pitchFamily="34" charset="0"/>
              </a:rPr>
              <a:t>8</a:t>
            </a:r>
            <a:r>
              <a:rPr lang="en-US" altLang="zh-TW" sz="1800">
                <a:solidFill>
                  <a:srgbClr val="000000"/>
                </a:solidFill>
                <a:cs typeface="Arial" pitchFamily="34" charset="0"/>
              </a:rPr>
              <a:t>  The contents of a </a:t>
            </a:r>
            <a:r>
              <a:rPr lang="en-US" altLang="zh-TW" sz="1800">
                <a:solidFill>
                  <a:srgbClr val="FF0000"/>
                </a:solidFill>
                <a:cs typeface="Arial" pitchFamily="34" charset="0"/>
              </a:rPr>
              <a:t>segment register</a:t>
            </a:r>
            <a:r>
              <a:rPr lang="en-US" altLang="zh-TW" sz="1800">
                <a:solidFill>
                  <a:srgbClr val="000000"/>
                </a:solidFill>
                <a:cs typeface="Arial" pitchFamily="34" charset="0"/>
              </a:rPr>
              <a:t> during </a:t>
            </a:r>
            <a:r>
              <a:rPr lang="en-US" altLang="zh-TW" sz="1800">
                <a:solidFill>
                  <a:srgbClr val="FF0000"/>
                </a:solidFill>
                <a:cs typeface="Arial" pitchFamily="34" charset="0"/>
              </a:rPr>
              <a:t>protected mode</a:t>
            </a:r>
            <a:r>
              <a:rPr lang="en-US" altLang="zh-TW" sz="1800">
                <a:solidFill>
                  <a:srgbClr val="000000"/>
                </a:solidFill>
                <a:cs typeface="Arial" pitchFamily="34" charset="0"/>
              </a:rPr>
              <a:t> operation of the 80286 through Core2 microprocessors.</a:t>
            </a:r>
            <a:br>
              <a:rPr lang="en-AU" altLang="zh-TW" sz="1800">
                <a:latin typeface="C Helvetica Condensed" charset="0"/>
                <a:cs typeface="Times New Roman" pitchFamily="18" charset="0"/>
              </a:rPr>
            </a:br>
            <a:endParaRPr lang="en-US" altLang="zh-TW" sz="1800">
              <a:latin typeface="C Helvetica Condensed" charset="0"/>
              <a:cs typeface="Times New Roman" pitchFamily="18" charset="0"/>
            </a:endParaRPr>
          </a:p>
        </p:txBody>
      </p:sp>
      <p:pic>
        <p:nvPicPr>
          <p:cNvPr id="50179" name="Picture 3" descr="FG02_008_01350264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7467" y="2082801"/>
            <a:ext cx="10397067" cy="2701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351351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0" y="0"/>
            <a:ext cx="11887200" cy="1143000"/>
          </a:xfrm>
        </p:spPr>
        <p:txBody>
          <a:bodyPr/>
          <a:lstStyle/>
          <a:p>
            <a:pPr eaLnBrk="1" hangingPunct="1"/>
            <a:r>
              <a:rPr lang="en-US" altLang="zh-TW" sz="1800" dirty="0">
                <a:latin typeface="C Helvetica Condensed" charset="0"/>
                <a:cs typeface="Times New Roman" pitchFamily="18" charset="0"/>
              </a:rPr>
              <a:t>Exercise questions</a:t>
            </a:r>
          </a:p>
        </p:txBody>
      </p:sp>
      <p:sp>
        <p:nvSpPr>
          <p:cNvPr id="52227" name="Rectangle 1"/>
          <p:cNvSpPr>
            <a:spLocks noChangeArrowheads="1"/>
          </p:cNvSpPr>
          <p:nvPr/>
        </p:nvSpPr>
        <p:spPr bwMode="auto">
          <a:xfrm>
            <a:off x="239184" y="796925"/>
            <a:ext cx="11521016" cy="3786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D4000"/>
              </a:buClr>
              <a:buChar char="•"/>
              <a:defRPr sz="3200">
                <a:solidFill>
                  <a:schemeClr val="tx1"/>
                </a:solidFill>
                <a:latin typeface="Arial" pitchFamily="34" charset="0"/>
                <a:ea typeface="ＭＳ Ｐゴシック" pitchFamily="34" charset="-128"/>
              </a:defRPr>
            </a:lvl1pPr>
            <a:lvl2pPr marL="742950" indent="-285750">
              <a:spcBef>
                <a:spcPct val="20000"/>
              </a:spcBef>
              <a:buClr>
                <a:srgbClr val="0D4000"/>
              </a:buClr>
              <a:buChar char="–"/>
              <a:defRPr sz="2800">
                <a:solidFill>
                  <a:schemeClr val="tx1"/>
                </a:solidFill>
                <a:latin typeface="Arial" pitchFamily="34" charset="0"/>
                <a:ea typeface="ＭＳ Ｐゴシック" pitchFamily="34" charset="-128"/>
              </a:defRPr>
            </a:lvl2pPr>
            <a:lvl3pPr marL="1143000" indent="-228600">
              <a:spcBef>
                <a:spcPct val="20000"/>
              </a:spcBef>
              <a:buClr>
                <a:srgbClr val="0D4000"/>
              </a:buClr>
              <a:buChar char="•"/>
              <a:defRPr sz="2400">
                <a:solidFill>
                  <a:schemeClr val="tx1"/>
                </a:solidFill>
                <a:latin typeface="Arial" pitchFamily="34" charset="0"/>
                <a:ea typeface="ＭＳ Ｐゴシック" pitchFamily="34" charset="-128"/>
              </a:defRPr>
            </a:lvl3pPr>
            <a:lvl4pPr marL="1600200" indent="-228600">
              <a:spcBef>
                <a:spcPct val="20000"/>
              </a:spcBef>
              <a:buClr>
                <a:srgbClr val="0D4000"/>
              </a:buClr>
              <a:buChar char="–"/>
              <a:defRPr sz="2000">
                <a:solidFill>
                  <a:schemeClr val="tx1"/>
                </a:solidFill>
                <a:latin typeface="Arial" pitchFamily="34" charset="0"/>
                <a:ea typeface="ＭＳ Ｐゴシック" pitchFamily="34" charset="-128"/>
              </a:defRPr>
            </a:lvl4pPr>
            <a:lvl5pPr marL="2057400" indent="-228600">
              <a:spcBef>
                <a:spcPct val="20000"/>
              </a:spcBef>
              <a:buClr>
                <a:srgbClr val="0D4000"/>
              </a:buClr>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9pPr>
          </a:lstStyle>
          <a:p>
            <a:pPr>
              <a:spcBef>
                <a:spcPct val="0"/>
              </a:spcBef>
              <a:buClrTx/>
              <a:buFontTx/>
              <a:buNone/>
            </a:pPr>
            <a:r>
              <a:rPr lang="en-US" altLang="en-US" sz="2400" dirty="0"/>
              <a:t>29. If the DS register contains 0020H in a protected mode system, which global descriptor table entry is accessed?</a:t>
            </a:r>
            <a:br>
              <a:rPr lang="en-US" altLang="en-US" sz="2400" dirty="0"/>
            </a:br>
            <a:endParaRPr lang="en-US" altLang="en-US" sz="2400" dirty="0"/>
          </a:p>
          <a:p>
            <a:pPr>
              <a:spcBef>
                <a:spcPct val="0"/>
              </a:spcBef>
              <a:buClrTx/>
              <a:buFontTx/>
              <a:buNone/>
            </a:pPr>
            <a:r>
              <a:rPr lang="en-US" altLang="en-US" sz="2400" dirty="0"/>
              <a:t>30. If DS = 0103H in a protected mode system, the requested privilege level is _________.</a:t>
            </a:r>
            <a:br>
              <a:rPr lang="en-US" altLang="en-US" sz="2400" dirty="0"/>
            </a:br>
            <a:endParaRPr lang="en-US" altLang="en-US" sz="2400" dirty="0"/>
          </a:p>
          <a:p>
            <a:pPr>
              <a:spcBef>
                <a:spcPct val="0"/>
              </a:spcBef>
              <a:buClrTx/>
              <a:buFontTx/>
              <a:buNone/>
            </a:pPr>
            <a:r>
              <a:rPr lang="en-US" altLang="en-US" sz="2400" dirty="0"/>
              <a:t>31. If DS = 0105H in a protected mode system, which entry, table, and requested privilege level are selected?</a:t>
            </a:r>
            <a:br>
              <a:rPr lang="en-US" altLang="en-US" sz="2400" dirty="0"/>
            </a:br>
            <a:br>
              <a:rPr lang="en-US" altLang="en-US" sz="2400" dirty="0"/>
            </a:br>
            <a:endParaRPr lang="en-US" altLang="en-US" sz="2400" dirty="0"/>
          </a:p>
        </p:txBody>
      </p:sp>
    </p:spTree>
    <p:extLst>
      <p:ext uri="{BB962C8B-B14F-4D97-AF65-F5344CB8AC3E}">
        <p14:creationId xmlns:p14="http://schemas.microsoft.com/office/powerpoint/2010/main" val="5543866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0" y="0"/>
            <a:ext cx="11887200" cy="1143000"/>
          </a:xfrm>
        </p:spPr>
        <p:txBody>
          <a:bodyPr/>
          <a:lstStyle/>
          <a:p>
            <a:pPr eaLnBrk="1" hangingPunct="1"/>
            <a:r>
              <a:rPr lang="en-US" altLang="zh-TW" sz="1800" dirty="0">
                <a:latin typeface="C Helvetica Condensed" charset="0"/>
                <a:cs typeface="Times New Roman" pitchFamily="18" charset="0"/>
              </a:rPr>
              <a:t>Exercise questions</a:t>
            </a:r>
          </a:p>
        </p:txBody>
      </p:sp>
      <p:sp>
        <p:nvSpPr>
          <p:cNvPr id="52227" name="Rectangle 1"/>
          <p:cNvSpPr>
            <a:spLocks noChangeArrowheads="1"/>
          </p:cNvSpPr>
          <p:nvPr/>
        </p:nvSpPr>
        <p:spPr bwMode="auto">
          <a:xfrm>
            <a:off x="183092" y="571500"/>
            <a:ext cx="11521016" cy="6740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D4000"/>
              </a:buClr>
              <a:buChar char="•"/>
              <a:defRPr sz="3200">
                <a:solidFill>
                  <a:schemeClr val="tx1"/>
                </a:solidFill>
                <a:latin typeface="Arial" pitchFamily="34" charset="0"/>
                <a:ea typeface="ＭＳ Ｐゴシック" pitchFamily="34" charset="-128"/>
              </a:defRPr>
            </a:lvl1pPr>
            <a:lvl2pPr marL="742950" indent="-285750">
              <a:spcBef>
                <a:spcPct val="20000"/>
              </a:spcBef>
              <a:buClr>
                <a:srgbClr val="0D4000"/>
              </a:buClr>
              <a:buChar char="–"/>
              <a:defRPr sz="2800">
                <a:solidFill>
                  <a:schemeClr val="tx1"/>
                </a:solidFill>
                <a:latin typeface="Arial" pitchFamily="34" charset="0"/>
                <a:ea typeface="ＭＳ Ｐゴシック" pitchFamily="34" charset="-128"/>
              </a:defRPr>
            </a:lvl2pPr>
            <a:lvl3pPr marL="1143000" indent="-228600">
              <a:spcBef>
                <a:spcPct val="20000"/>
              </a:spcBef>
              <a:buClr>
                <a:srgbClr val="0D4000"/>
              </a:buClr>
              <a:buChar char="•"/>
              <a:defRPr sz="2400">
                <a:solidFill>
                  <a:schemeClr val="tx1"/>
                </a:solidFill>
                <a:latin typeface="Arial" pitchFamily="34" charset="0"/>
                <a:ea typeface="ＭＳ Ｐゴシック" pitchFamily="34" charset="-128"/>
              </a:defRPr>
            </a:lvl3pPr>
            <a:lvl4pPr marL="1600200" indent="-228600">
              <a:spcBef>
                <a:spcPct val="20000"/>
              </a:spcBef>
              <a:buClr>
                <a:srgbClr val="0D4000"/>
              </a:buClr>
              <a:buChar char="–"/>
              <a:defRPr sz="2000">
                <a:solidFill>
                  <a:schemeClr val="tx1"/>
                </a:solidFill>
                <a:latin typeface="Arial" pitchFamily="34" charset="0"/>
                <a:ea typeface="ＭＳ Ｐゴシック" pitchFamily="34" charset="-128"/>
              </a:defRPr>
            </a:lvl4pPr>
            <a:lvl5pPr marL="2057400" indent="-228600">
              <a:spcBef>
                <a:spcPct val="20000"/>
              </a:spcBef>
              <a:buClr>
                <a:srgbClr val="0D4000"/>
              </a:buClr>
              <a:buChar char="»"/>
              <a:defRPr sz="2000">
                <a:solidFill>
                  <a:schemeClr val="tx1"/>
                </a:solidFill>
                <a:latin typeface="Arial" pitchFamily="34" charset="0"/>
                <a:ea typeface="ＭＳ Ｐゴシック" pitchFamily="34" charset="-128"/>
              </a:defRPr>
            </a:lvl5pPr>
            <a:lvl6pPr marL="25146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6pPr>
            <a:lvl7pPr marL="29718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7pPr>
            <a:lvl8pPr marL="34290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8pPr>
            <a:lvl9pPr marL="3886200" indent="-228600" eaLnBrk="0" fontAlgn="base" hangingPunct="0">
              <a:spcBef>
                <a:spcPct val="20000"/>
              </a:spcBef>
              <a:spcAft>
                <a:spcPct val="0"/>
              </a:spcAft>
              <a:buClr>
                <a:srgbClr val="0D4000"/>
              </a:buClr>
              <a:buChar char="»"/>
              <a:defRPr sz="2000">
                <a:solidFill>
                  <a:schemeClr val="tx1"/>
                </a:solidFill>
                <a:latin typeface="Arial" pitchFamily="34" charset="0"/>
                <a:ea typeface="ＭＳ Ｐゴシック" pitchFamily="34" charset="-128"/>
              </a:defRPr>
            </a:lvl9pPr>
          </a:lstStyle>
          <a:p>
            <a:pPr>
              <a:spcBef>
                <a:spcPct val="0"/>
              </a:spcBef>
              <a:buClrTx/>
              <a:buFontTx/>
              <a:buNone/>
            </a:pPr>
            <a:r>
              <a:rPr lang="en-US" altLang="en-US" sz="2400" dirty="0"/>
              <a:t>29. If the DS register contains 0020H in a protected mode system, which global descriptor table entry is accessed?</a:t>
            </a:r>
            <a:br>
              <a:rPr lang="en-US" altLang="en-US" sz="2400" dirty="0"/>
            </a:br>
            <a:br>
              <a:rPr lang="en-US" altLang="en-US" sz="2400" dirty="0"/>
            </a:br>
            <a:r>
              <a:rPr lang="en-US" altLang="en-US" sz="2400" dirty="0"/>
              <a:t>Ans: 0020H = 0000 0000 0010 0</a:t>
            </a:r>
            <a:r>
              <a:rPr lang="en-US" altLang="en-US" sz="2400" dirty="0">
                <a:solidFill>
                  <a:schemeClr val="accent4"/>
                </a:solidFill>
              </a:rPr>
              <a:t>0</a:t>
            </a:r>
            <a:r>
              <a:rPr lang="en-US" altLang="en-US" sz="2400" dirty="0">
                <a:solidFill>
                  <a:schemeClr val="accent1"/>
                </a:solidFill>
              </a:rPr>
              <a:t>00</a:t>
            </a:r>
            <a:r>
              <a:rPr lang="en-US" altLang="en-US" sz="2400" dirty="0"/>
              <a:t> B</a:t>
            </a:r>
            <a:br>
              <a:rPr lang="en-US" altLang="en-US" sz="2400" dirty="0"/>
            </a:br>
            <a:r>
              <a:rPr lang="en-US" altLang="en-US" sz="2400" dirty="0"/>
              <a:t>0000 0000 0010 0 = 4</a:t>
            </a:r>
            <a:br>
              <a:rPr lang="en-US" altLang="en-US" sz="2400" dirty="0"/>
            </a:br>
            <a:endParaRPr lang="en-US" altLang="en-US" sz="2400" dirty="0"/>
          </a:p>
          <a:p>
            <a:pPr>
              <a:spcBef>
                <a:spcPct val="0"/>
              </a:spcBef>
              <a:buClrTx/>
              <a:buFontTx/>
              <a:buNone/>
            </a:pPr>
            <a:r>
              <a:rPr lang="en-US" altLang="en-US" sz="2400" dirty="0"/>
              <a:t>30. If DS = 0103H in a protected mode system, the requested privilege level is _</a:t>
            </a:r>
            <a:r>
              <a:rPr lang="en-US" altLang="en-US" sz="2400" u="sng" dirty="0"/>
              <a:t>11</a:t>
            </a:r>
            <a:r>
              <a:rPr lang="en-US" altLang="en-US" sz="2400" dirty="0"/>
              <a:t>________.</a:t>
            </a:r>
            <a:br>
              <a:rPr lang="en-US" altLang="en-US" sz="2400" dirty="0"/>
            </a:br>
            <a:endParaRPr lang="en-US" altLang="en-US" sz="2400" dirty="0"/>
          </a:p>
          <a:p>
            <a:pPr>
              <a:spcBef>
                <a:spcPct val="0"/>
              </a:spcBef>
              <a:buClrTx/>
              <a:buFontTx/>
              <a:buNone/>
            </a:pPr>
            <a:r>
              <a:rPr lang="en-US" altLang="en-US" sz="2400" dirty="0"/>
              <a:t>31. If DS = 0105H in a protected mode system, which entry, table, and requested privilege level are selected?</a:t>
            </a:r>
            <a:br>
              <a:rPr lang="en-US" altLang="en-US" sz="2400" dirty="0"/>
            </a:br>
            <a:br>
              <a:rPr lang="en-US" altLang="en-US" sz="2400" dirty="0"/>
            </a:br>
            <a:r>
              <a:rPr lang="en-US" altLang="en-US" sz="2400" dirty="0"/>
              <a:t>Ans: 0105H = </a:t>
            </a:r>
            <a:r>
              <a:rPr lang="en-US" altLang="en-US" sz="2400" dirty="0">
                <a:solidFill>
                  <a:schemeClr val="accent2"/>
                </a:solidFill>
              </a:rPr>
              <a:t>0000 0001 0000 0</a:t>
            </a:r>
            <a:r>
              <a:rPr lang="en-US" altLang="en-US" sz="2400" dirty="0">
                <a:solidFill>
                  <a:schemeClr val="accent4"/>
                </a:solidFill>
              </a:rPr>
              <a:t>1</a:t>
            </a:r>
            <a:r>
              <a:rPr lang="en-US" altLang="en-US" sz="2400" dirty="0">
                <a:solidFill>
                  <a:schemeClr val="accent1"/>
                </a:solidFill>
              </a:rPr>
              <a:t>01</a:t>
            </a:r>
            <a:r>
              <a:rPr lang="en-US" altLang="en-US" sz="2400" dirty="0"/>
              <a:t> B</a:t>
            </a:r>
            <a:br>
              <a:rPr lang="en-US" altLang="en-US" sz="2400" dirty="0"/>
            </a:br>
            <a:r>
              <a:rPr lang="en-US" altLang="en-US" sz="2400" dirty="0"/>
              <a:t>Privilege level = </a:t>
            </a:r>
            <a:r>
              <a:rPr lang="en-US" altLang="en-US" sz="2400" dirty="0">
                <a:solidFill>
                  <a:schemeClr val="accent1"/>
                </a:solidFill>
              </a:rPr>
              <a:t>01</a:t>
            </a:r>
            <a:br>
              <a:rPr lang="en-US" altLang="en-US" sz="2400" dirty="0"/>
            </a:br>
            <a:r>
              <a:rPr lang="en-US" altLang="en-US" sz="2400" dirty="0"/>
              <a:t>Local Descriptor table because </a:t>
            </a:r>
            <a:r>
              <a:rPr lang="en-US" altLang="en-US" sz="2400" dirty="0">
                <a:solidFill>
                  <a:schemeClr val="accent4"/>
                </a:solidFill>
              </a:rPr>
              <a:t>1</a:t>
            </a:r>
            <a:br>
              <a:rPr lang="en-US" altLang="en-US" sz="2400" dirty="0">
                <a:solidFill>
                  <a:schemeClr val="accent4"/>
                </a:solidFill>
              </a:rPr>
            </a:br>
            <a:r>
              <a:rPr lang="en-US" altLang="en-US" sz="2400" dirty="0"/>
              <a:t>Entry number = 0000 0001 0000 0 = 32</a:t>
            </a:r>
            <a:br>
              <a:rPr lang="en-US" altLang="en-US" sz="2400" dirty="0"/>
            </a:br>
            <a:br>
              <a:rPr lang="en-US" altLang="en-US" sz="2400" dirty="0"/>
            </a:br>
            <a:endParaRPr lang="en-US" altLang="en-US" sz="2400" dirty="0"/>
          </a:p>
        </p:txBody>
      </p:sp>
    </p:spTree>
    <p:extLst>
      <p:ext uri="{BB962C8B-B14F-4D97-AF65-F5344CB8AC3E}">
        <p14:creationId xmlns:p14="http://schemas.microsoft.com/office/powerpoint/2010/main" val="3620941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Descriptor table </a:t>
            </a:r>
          </a:p>
        </p:txBody>
      </p:sp>
      <p:sp>
        <p:nvSpPr>
          <p:cNvPr id="3" name="Content Placeholder 2"/>
          <p:cNvSpPr>
            <a:spLocks noGrp="1"/>
          </p:cNvSpPr>
          <p:nvPr>
            <p:ph idx="1"/>
          </p:nvPr>
        </p:nvSpPr>
        <p:spPr>
          <a:xfrm>
            <a:off x="524106" y="1014761"/>
            <a:ext cx="11218127" cy="5430644"/>
          </a:xfrm>
        </p:spPr>
        <p:txBody>
          <a:bodyPr/>
          <a:lstStyle/>
          <a:p>
            <a:pPr marL="0" indent="0" algn="just">
              <a:buNone/>
            </a:pPr>
            <a:r>
              <a:rPr lang="en-US" dirty="0"/>
              <a:t>Large programs are divided in either small segments or pages in appropriate sequence. They are </a:t>
            </a:r>
            <a:r>
              <a:rPr lang="en-US" dirty="0" err="1">
                <a:solidFill>
                  <a:srgbClr val="0000FF"/>
                </a:solidFill>
              </a:rPr>
              <a:t>swaped</a:t>
            </a:r>
            <a:r>
              <a:rPr lang="en-US" dirty="0">
                <a:solidFill>
                  <a:srgbClr val="0000FF"/>
                </a:solidFill>
              </a:rPr>
              <a:t> in or out</a:t>
            </a:r>
            <a:r>
              <a:rPr lang="en-US" dirty="0"/>
              <a:t> of </a:t>
            </a:r>
            <a:r>
              <a:rPr lang="en-US" dirty="0">
                <a:solidFill>
                  <a:srgbClr val="C00000"/>
                </a:solidFill>
              </a:rPr>
              <a:t>primary memory </a:t>
            </a:r>
            <a:r>
              <a:rPr lang="en-US" dirty="0"/>
              <a:t>for the requirement of execution of the complete program. These segments or pages have been associated with a data structure called as a descriptor. The descriptor contains information of the program segment or page. A set of such descriptors arranged in a proper sequence describes the complete program. </a:t>
            </a:r>
            <a:r>
              <a:rPr lang="en-US" dirty="0">
                <a:solidFill>
                  <a:srgbClr val="0000FF"/>
                </a:solidFill>
              </a:rPr>
              <a:t>This set of descriptors are called the descriptor table and managed by the operating system. </a:t>
            </a:r>
          </a:p>
        </p:txBody>
      </p:sp>
      <p:sp>
        <p:nvSpPr>
          <p:cNvPr id="4" name="Slide Number Placeholder 3"/>
          <p:cNvSpPr>
            <a:spLocks noGrp="1"/>
          </p:cNvSpPr>
          <p:nvPr>
            <p:ph type="sldNum" sz="quarter" idx="12"/>
          </p:nvPr>
        </p:nvSpPr>
        <p:spPr/>
        <p:txBody>
          <a:bodyPr/>
          <a:lstStyle/>
          <a:p>
            <a:fld id="{A7682071-4525-4FC3-B8D5-3D4B0C49583A}" type="slidenum">
              <a:rPr lang="en-GB" smtClean="0"/>
              <a:t>28</a:t>
            </a:fld>
            <a:endParaRPr lang="en-GB"/>
          </a:p>
        </p:txBody>
      </p:sp>
      <p:pic>
        <p:nvPicPr>
          <p:cNvPr id="5" name="Picture 4"/>
          <p:cNvPicPr>
            <a:picLocks noChangeAspect="1"/>
          </p:cNvPicPr>
          <p:nvPr/>
        </p:nvPicPr>
        <p:blipFill>
          <a:blip r:embed="rId3"/>
          <a:stretch>
            <a:fillRect/>
          </a:stretch>
        </p:blipFill>
        <p:spPr>
          <a:xfrm>
            <a:off x="3771146" y="4779964"/>
            <a:ext cx="3167527" cy="1257807"/>
          </a:xfrm>
          <a:prstGeom prst="rect">
            <a:avLst/>
          </a:prstGeom>
        </p:spPr>
      </p:pic>
      <p:sp>
        <p:nvSpPr>
          <p:cNvPr id="7" name="Text Box 7"/>
          <p:cNvSpPr txBox="1">
            <a:spLocks noChangeArrowheads="1"/>
          </p:cNvSpPr>
          <p:nvPr/>
        </p:nvSpPr>
        <p:spPr bwMode="auto">
          <a:xfrm>
            <a:off x="7008685" y="5208812"/>
            <a:ext cx="2331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solidFill>
                  <a:srgbClr val="FF00FF"/>
                </a:solidFill>
              </a:rPr>
              <a:t>Segment descriptor</a:t>
            </a:r>
          </a:p>
        </p:txBody>
      </p:sp>
    </p:spTree>
    <p:extLst>
      <p:ext uri="{BB962C8B-B14F-4D97-AF65-F5344CB8AC3E}">
        <p14:creationId xmlns:p14="http://schemas.microsoft.com/office/powerpoint/2010/main" val="7176781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Descriptor table </a:t>
            </a:r>
          </a:p>
        </p:txBody>
      </p:sp>
      <p:sp>
        <p:nvSpPr>
          <p:cNvPr id="3" name="Content Placeholder 2"/>
          <p:cNvSpPr>
            <a:spLocks noGrp="1"/>
          </p:cNvSpPr>
          <p:nvPr>
            <p:ph idx="1"/>
          </p:nvPr>
        </p:nvSpPr>
        <p:spPr>
          <a:xfrm>
            <a:off x="524106" y="1014761"/>
            <a:ext cx="7170235" cy="5430644"/>
          </a:xfrm>
        </p:spPr>
        <p:txBody>
          <a:bodyPr>
            <a:normAutofit lnSpcReduction="10000"/>
          </a:bodyPr>
          <a:lstStyle/>
          <a:p>
            <a:pPr marL="0" indent="0" algn="just">
              <a:buNone/>
            </a:pPr>
            <a:r>
              <a:rPr lang="en-US" dirty="0"/>
              <a:t>For accessing any program segment,</a:t>
            </a:r>
          </a:p>
          <a:p>
            <a:pPr marL="0" indent="0" algn="just">
              <a:buNone/>
            </a:pPr>
            <a:r>
              <a:rPr lang="en-US" dirty="0"/>
              <a:t>1.  Corresponding descriptor is accessed and its access right contents are verified with segment selector</a:t>
            </a:r>
          </a:p>
          <a:p>
            <a:pPr marL="0" indent="0" algn="just">
              <a:buNone/>
            </a:pPr>
            <a:endParaRPr lang="en-US" dirty="0"/>
          </a:p>
          <a:p>
            <a:pPr marL="0" indent="0" algn="just">
              <a:buNone/>
            </a:pPr>
            <a:r>
              <a:rPr lang="en-US" dirty="0"/>
              <a:t>2. The base and limit fields of the descriptor contain information which is used for finding out physical address of the program segment.</a:t>
            </a:r>
          </a:p>
          <a:p>
            <a:pPr marL="0" indent="0" algn="just">
              <a:buNone/>
            </a:pPr>
            <a:r>
              <a:rPr lang="en-US" dirty="0"/>
              <a:t>3. The base address portion of the descriptor indicates the starting location of the memory segment. For the 80286 microprocessor, the base address is a 24-bit address, so segments begin at any location in its 16M bytes of memory. </a:t>
            </a:r>
          </a:p>
        </p:txBody>
      </p:sp>
      <p:sp>
        <p:nvSpPr>
          <p:cNvPr id="4" name="Slide Number Placeholder 3"/>
          <p:cNvSpPr>
            <a:spLocks noGrp="1"/>
          </p:cNvSpPr>
          <p:nvPr>
            <p:ph type="sldNum" sz="quarter" idx="12"/>
          </p:nvPr>
        </p:nvSpPr>
        <p:spPr/>
        <p:txBody>
          <a:bodyPr/>
          <a:lstStyle/>
          <a:p>
            <a:fld id="{A7682071-4525-4FC3-B8D5-3D4B0C49583A}" type="slidenum">
              <a:rPr lang="en-GB" smtClean="0"/>
              <a:t>29</a:t>
            </a:fld>
            <a:endParaRPr lang="en-GB"/>
          </a:p>
        </p:txBody>
      </p:sp>
      <p:pic>
        <p:nvPicPr>
          <p:cNvPr id="5" name="Picture 4"/>
          <p:cNvPicPr>
            <a:picLocks noChangeAspect="1"/>
          </p:cNvPicPr>
          <p:nvPr/>
        </p:nvPicPr>
        <p:blipFill>
          <a:blip r:embed="rId3"/>
          <a:stretch>
            <a:fillRect/>
          </a:stretch>
        </p:blipFill>
        <p:spPr>
          <a:xfrm>
            <a:off x="8017783" y="1111947"/>
            <a:ext cx="3167527" cy="1257807"/>
          </a:xfrm>
          <a:prstGeom prst="rect">
            <a:avLst/>
          </a:prstGeom>
        </p:spPr>
      </p:pic>
      <p:sp>
        <p:nvSpPr>
          <p:cNvPr id="7" name="Text Box 7"/>
          <p:cNvSpPr txBox="1">
            <a:spLocks noChangeArrowheads="1"/>
          </p:cNvSpPr>
          <p:nvPr/>
        </p:nvSpPr>
        <p:spPr bwMode="auto">
          <a:xfrm>
            <a:off x="8324817" y="711837"/>
            <a:ext cx="2331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solidFill>
                  <a:srgbClr val="FF00FF"/>
                </a:solidFill>
              </a:rPr>
              <a:t>Segment descriptor</a:t>
            </a:r>
          </a:p>
        </p:txBody>
      </p:sp>
    </p:spTree>
    <p:extLst>
      <p:ext uri="{BB962C8B-B14F-4D97-AF65-F5344CB8AC3E}">
        <p14:creationId xmlns:p14="http://schemas.microsoft.com/office/powerpoint/2010/main" val="308419409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Descriptor table </a:t>
            </a:r>
          </a:p>
        </p:txBody>
      </p:sp>
      <p:sp>
        <p:nvSpPr>
          <p:cNvPr id="3" name="Content Placeholder 2"/>
          <p:cNvSpPr>
            <a:spLocks noGrp="1"/>
          </p:cNvSpPr>
          <p:nvPr>
            <p:ph idx="1"/>
          </p:nvPr>
        </p:nvSpPr>
        <p:spPr>
          <a:xfrm>
            <a:off x="524106" y="1014761"/>
            <a:ext cx="8086494" cy="5430644"/>
          </a:xfrm>
        </p:spPr>
        <p:txBody>
          <a:bodyPr>
            <a:normAutofit fontScale="92500" lnSpcReduction="20000"/>
          </a:bodyPr>
          <a:lstStyle/>
          <a:p>
            <a:pPr marL="514350" indent="-514350" algn="just">
              <a:buAutoNum type="arabicPeriod"/>
            </a:pPr>
            <a:r>
              <a:rPr lang="en-US" dirty="0"/>
              <a:t>The 80386 and above use a 32-bit base address that allows segments to begin at any location in its 4G bytes of memory.</a:t>
            </a:r>
          </a:p>
          <a:p>
            <a:pPr marL="514350" indent="-514350" algn="just">
              <a:buAutoNum type="arabicPeriod"/>
            </a:pPr>
            <a:r>
              <a:rPr lang="en-US" dirty="0"/>
              <a:t>The segment limit contains the last offset address found in a segment. For example, if a segment begins at memory location F00000H and ends at location F000FFH, the base address is F00000H and the limit is FFH. For the 80286 microprocessor, the base address is F00000H and the limit is 00FFH. For the 80386 and above, the base address is 00F00000H and the limit is 000FFH.</a:t>
            </a:r>
          </a:p>
          <a:p>
            <a:pPr marL="514350" indent="-514350" algn="just">
              <a:buAutoNum type="arabicPeriod"/>
            </a:pPr>
            <a:r>
              <a:rPr lang="en-US" dirty="0"/>
              <a:t>Notice that the 80286 has a 16-bit limit and the 80386 through the Pentium 4 have a 20-bit limit. An 80286 can access memory segments that are between 1 and 64K bytes in length. The 80386 and above access memory segments that are between 1 and 1M byte, or 4K and 4G bytes in length.</a:t>
            </a:r>
          </a:p>
        </p:txBody>
      </p:sp>
      <p:sp>
        <p:nvSpPr>
          <p:cNvPr id="4" name="Slide Number Placeholder 3"/>
          <p:cNvSpPr>
            <a:spLocks noGrp="1"/>
          </p:cNvSpPr>
          <p:nvPr>
            <p:ph type="sldNum" sz="quarter" idx="12"/>
          </p:nvPr>
        </p:nvSpPr>
        <p:spPr/>
        <p:txBody>
          <a:bodyPr/>
          <a:lstStyle/>
          <a:p>
            <a:fld id="{A7682071-4525-4FC3-B8D5-3D4B0C49583A}" type="slidenum">
              <a:rPr lang="en-GB" smtClean="0"/>
              <a:t>30</a:t>
            </a:fld>
            <a:endParaRPr lang="en-GB"/>
          </a:p>
        </p:txBody>
      </p:sp>
      <p:pic>
        <p:nvPicPr>
          <p:cNvPr id="5" name="Picture 4"/>
          <p:cNvPicPr>
            <a:picLocks noChangeAspect="1"/>
          </p:cNvPicPr>
          <p:nvPr/>
        </p:nvPicPr>
        <p:blipFill>
          <a:blip r:embed="rId3"/>
          <a:stretch>
            <a:fillRect/>
          </a:stretch>
        </p:blipFill>
        <p:spPr>
          <a:xfrm>
            <a:off x="8610600" y="1111947"/>
            <a:ext cx="2574710" cy="1022403"/>
          </a:xfrm>
          <a:prstGeom prst="rect">
            <a:avLst/>
          </a:prstGeom>
        </p:spPr>
      </p:pic>
      <p:sp>
        <p:nvSpPr>
          <p:cNvPr id="7" name="Text Box 7"/>
          <p:cNvSpPr txBox="1">
            <a:spLocks noChangeArrowheads="1"/>
          </p:cNvSpPr>
          <p:nvPr/>
        </p:nvSpPr>
        <p:spPr bwMode="auto">
          <a:xfrm>
            <a:off x="8816316" y="690919"/>
            <a:ext cx="233176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000" dirty="0">
                <a:solidFill>
                  <a:srgbClr val="FF00FF"/>
                </a:solidFill>
              </a:rPr>
              <a:t>Segment descriptor</a:t>
            </a:r>
          </a:p>
        </p:txBody>
      </p:sp>
    </p:spTree>
    <p:extLst>
      <p:ext uri="{BB962C8B-B14F-4D97-AF65-F5344CB8AC3E}">
        <p14:creationId xmlns:p14="http://schemas.microsoft.com/office/powerpoint/2010/main" val="25291658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Descriptor table </a:t>
            </a:r>
          </a:p>
        </p:txBody>
      </p:sp>
      <p:sp>
        <p:nvSpPr>
          <p:cNvPr id="3" name="Content Placeholder 2"/>
          <p:cNvSpPr>
            <a:spLocks noGrp="1"/>
          </p:cNvSpPr>
          <p:nvPr>
            <p:ph idx="1"/>
          </p:nvPr>
        </p:nvSpPr>
        <p:spPr>
          <a:xfrm>
            <a:off x="524106" y="1014761"/>
            <a:ext cx="11218127" cy="5430644"/>
          </a:xfrm>
        </p:spPr>
        <p:txBody>
          <a:bodyPr/>
          <a:lstStyle/>
          <a:p>
            <a:pPr marL="0" indent="0">
              <a:buNone/>
            </a:pPr>
            <a:endParaRPr lang="en-US" dirty="0">
              <a:solidFill>
                <a:srgbClr val="0000FF"/>
              </a:solidFill>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31</a:t>
            </a:fld>
            <a:endParaRPr lang="en-GB"/>
          </a:p>
        </p:txBody>
      </p:sp>
      <p:pic>
        <p:nvPicPr>
          <p:cNvPr id="12290" name="Picture 2" descr="Image result for descriptor table"/>
          <p:cNvPicPr>
            <a:picLocks noChangeAspect="1" noChangeArrowheads="1"/>
          </p:cNvPicPr>
          <p:nvPr/>
        </p:nvPicPr>
        <p:blipFill rotWithShape="1">
          <a:blip r:embed="rId2">
            <a:extLst>
              <a:ext uri="{28A0092B-C50C-407E-A947-70E740481C1C}">
                <a14:useLocalDpi xmlns:a14="http://schemas.microsoft.com/office/drawing/2010/main" val="0"/>
              </a:ext>
            </a:extLst>
          </a:blip>
          <a:srcRect l="5405" t="2588" r="64823" b="3236"/>
          <a:stretch/>
        </p:blipFill>
        <p:spPr bwMode="auto">
          <a:xfrm>
            <a:off x="3746810" y="1014761"/>
            <a:ext cx="3624146" cy="52745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4689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Descriptor table </a:t>
            </a:r>
          </a:p>
        </p:txBody>
      </p:sp>
      <p:sp>
        <p:nvSpPr>
          <p:cNvPr id="3" name="Content Placeholder 2"/>
          <p:cNvSpPr>
            <a:spLocks noGrp="1"/>
          </p:cNvSpPr>
          <p:nvPr>
            <p:ph idx="1"/>
          </p:nvPr>
        </p:nvSpPr>
        <p:spPr>
          <a:xfrm>
            <a:off x="524106" y="1014761"/>
            <a:ext cx="11218127" cy="5430644"/>
          </a:xfrm>
        </p:spPr>
        <p:txBody>
          <a:bodyPr/>
          <a:lstStyle/>
          <a:p>
            <a:pPr marL="0" indent="0">
              <a:buNone/>
            </a:pPr>
            <a:r>
              <a:rPr lang="en-US" dirty="0"/>
              <a:t>For example, a school teacher may stack all the answer sheets solved by the students in a bundle and attached a small slip of paper with it containing the information like name, subject, class, date, year, name, number of students. From this information, a third person can easily know the details of the particular bundle of papers. </a:t>
            </a:r>
          </a:p>
          <a:p>
            <a:pPr marL="0" indent="0">
              <a:buNone/>
            </a:pPr>
            <a:endParaRPr lang="en-US" dirty="0"/>
          </a:p>
        </p:txBody>
      </p:sp>
      <p:sp>
        <p:nvSpPr>
          <p:cNvPr id="4" name="Slide Number Placeholder 3"/>
          <p:cNvSpPr>
            <a:spLocks noGrp="1"/>
          </p:cNvSpPr>
          <p:nvPr>
            <p:ph type="sldNum" sz="quarter" idx="12"/>
          </p:nvPr>
        </p:nvSpPr>
        <p:spPr/>
        <p:txBody>
          <a:bodyPr/>
          <a:lstStyle/>
          <a:p>
            <a:fld id="{A7682071-4525-4FC3-B8D5-3D4B0C49583A}" type="slidenum">
              <a:rPr lang="en-GB" smtClean="0"/>
              <a:t>32</a:t>
            </a:fld>
            <a:endParaRPr lang="en-GB"/>
          </a:p>
        </p:txBody>
      </p:sp>
    </p:spTree>
    <p:extLst>
      <p:ext uri="{BB962C8B-B14F-4D97-AF65-F5344CB8AC3E}">
        <p14:creationId xmlns:p14="http://schemas.microsoft.com/office/powerpoint/2010/main" val="8141218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93327" y="946435"/>
            <a:ext cx="11748588" cy="5775040"/>
          </a:xfrm>
        </p:spPr>
        <p:txBody>
          <a:bodyPr>
            <a:normAutofit lnSpcReduction="10000"/>
          </a:bodyPr>
          <a:lstStyle/>
          <a:p>
            <a:pPr marL="457200" indent="-457200" algn="l">
              <a:buFont typeface="Arial" panose="020B0604020202020204" pitchFamily="34" charset="0"/>
              <a:buChar char="•"/>
            </a:pPr>
            <a:endParaRPr lang="en-US" sz="2800" dirty="0">
              <a:latin typeface="Arial" panose="020B0604020202020204" pitchFamily="34" charset="0"/>
              <a:cs typeface="Arial" panose="020B0604020202020204" pitchFamily="34" charset="0"/>
            </a:endParaRPr>
          </a:p>
          <a:p>
            <a:pPr marL="457200" indent="-457200" algn="l">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Two types of  </a:t>
            </a:r>
            <a:r>
              <a:rPr lang="en-US" sz="2800" dirty="0">
                <a:solidFill>
                  <a:srgbClr val="FF0000"/>
                </a:solidFill>
                <a:latin typeface="Times New Roman" panose="02020603050405020304" pitchFamily="18" charset="0"/>
                <a:cs typeface="Times New Roman" panose="02020603050405020304" pitchFamily="18" charset="0"/>
              </a:rPr>
              <a:t>Descriptor table </a:t>
            </a:r>
            <a:r>
              <a:rPr lang="en-US" sz="2800" dirty="0">
                <a:latin typeface="Times New Roman" panose="02020603050405020304" pitchFamily="18" charset="0"/>
                <a:cs typeface="Times New Roman" panose="02020603050405020304" pitchFamily="18" charset="0"/>
              </a:rPr>
              <a:t>selected by the </a:t>
            </a:r>
            <a:r>
              <a:rPr lang="en-US" sz="2800" dirty="0">
                <a:solidFill>
                  <a:srgbClr val="7030A0"/>
                </a:solidFill>
                <a:latin typeface="Times New Roman" panose="02020603050405020304" pitchFamily="18" charset="0"/>
                <a:cs typeface="Times New Roman" panose="02020603050405020304" pitchFamily="18" charset="0"/>
              </a:rPr>
              <a:t>Segment register</a:t>
            </a:r>
            <a:r>
              <a:rPr lang="en-US" sz="2800" dirty="0">
                <a:latin typeface="Times New Roman" panose="02020603050405020304" pitchFamily="18" charset="0"/>
                <a:cs typeface="Times New Roman" panose="02020603050405020304" pitchFamily="18" charset="0"/>
              </a:rPr>
              <a:t>.</a:t>
            </a:r>
          </a:p>
          <a:p>
            <a:pPr marL="457200" indent="-457200" algn="l">
              <a:buFont typeface="Arial" panose="020B0604020202020204" pitchFamily="34" charset="0"/>
              <a:buChar char="•"/>
            </a:pPr>
            <a:endParaRPr lang="en-US" altLang="en-US" sz="2800" dirty="0">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GB" altLang="en-US" sz="2800" dirty="0">
                <a:solidFill>
                  <a:srgbClr val="0000FF"/>
                </a:solidFill>
                <a:latin typeface="Times New Roman" panose="02020603050405020304" pitchFamily="18" charset="0"/>
                <a:cs typeface="Times New Roman" panose="02020603050405020304" pitchFamily="18" charset="0"/>
              </a:rPr>
              <a:t>Global descriptor table </a:t>
            </a:r>
            <a:r>
              <a:rPr lang="en-GB" altLang="en-US" sz="2800" dirty="0">
                <a:latin typeface="Times New Roman" panose="02020603050405020304" pitchFamily="18" charset="0"/>
                <a:cs typeface="Times New Roman" panose="02020603050405020304" pitchFamily="18" charset="0"/>
              </a:rPr>
              <a:t>contain segment definitions that apply to all programs. Each row of the Global descriptor table is called a global descriptor or system descriptor. </a:t>
            </a:r>
          </a:p>
          <a:p>
            <a:pPr marL="457200" indent="-457200" algn="l">
              <a:buFont typeface="Arial" panose="020B0604020202020204" pitchFamily="34" charset="0"/>
              <a:buChar char="•"/>
            </a:pPr>
            <a:endParaRPr lang="en-GB" altLang="en-US" sz="2800" dirty="0">
              <a:latin typeface="Times New Roman" panose="02020603050405020304" pitchFamily="18" charset="0"/>
              <a:cs typeface="Times New Roman" panose="02020603050405020304" pitchFamily="18" charset="0"/>
            </a:endParaRPr>
          </a:p>
          <a:p>
            <a:pPr marL="457200" indent="-457200" algn="l">
              <a:buFont typeface="Arial" panose="020B0604020202020204" pitchFamily="34" charset="0"/>
              <a:buChar char="•"/>
            </a:pPr>
            <a:r>
              <a:rPr lang="en-GB" altLang="en-US" sz="2800" dirty="0">
                <a:solidFill>
                  <a:srgbClr val="FF00FF"/>
                </a:solidFill>
                <a:latin typeface="Times New Roman" panose="02020603050405020304" pitchFamily="18" charset="0"/>
                <a:cs typeface="Times New Roman" panose="02020603050405020304" pitchFamily="18" charset="0"/>
              </a:rPr>
              <a:t>Local descriptor table </a:t>
            </a:r>
            <a:r>
              <a:rPr lang="en-GB" altLang="en-US" sz="2800" dirty="0">
                <a:latin typeface="Times New Roman" panose="02020603050405020304" pitchFamily="18" charset="0"/>
                <a:cs typeface="Times New Roman" panose="02020603050405020304" pitchFamily="18" charset="0"/>
              </a:rPr>
              <a:t>contain segment definitions that apply to a single program. </a:t>
            </a:r>
            <a:r>
              <a:rPr lang="en-US" altLang="en-US" sz="2800" dirty="0">
                <a:latin typeface="Times New Roman" panose="02020603050405020304" pitchFamily="18" charset="0"/>
                <a:cs typeface="Times New Roman" panose="02020603050405020304" pitchFamily="18" charset="0"/>
              </a:rPr>
              <a:t>Each row of the Local descriptor table is called a local descriptor or application descriptor, which </a:t>
            </a:r>
            <a:r>
              <a:rPr lang="en-US" sz="2800" dirty="0">
                <a:latin typeface="Times New Roman" panose="02020603050405020304" pitchFamily="18" charset="0"/>
                <a:cs typeface="Times New Roman" panose="02020603050405020304" pitchFamily="18" charset="0"/>
              </a:rPr>
              <a:t>provides information that are unique to an application. </a:t>
            </a:r>
            <a:endParaRPr lang="en-US" altLang="en-US" sz="2800" dirty="0">
              <a:latin typeface="Times New Roman" panose="02020603050405020304" pitchFamily="18" charset="0"/>
              <a:cs typeface="Times New Roman" panose="02020603050405020304" pitchFamily="18" charset="0"/>
            </a:endParaRPr>
          </a:p>
          <a:p>
            <a:pPr algn="l"/>
            <a:br>
              <a:rPr lang="en-US" altLang="en-US" sz="2800" dirty="0">
                <a:latin typeface="TimesNewRomanPSMT" charset="0"/>
              </a:rPr>
            </a:br>
            <a:endParaRPr lang="en-US" sz="2800" dirty="0">
              <a:latin typeface="TimesNewRomanPSMT" charset="0"/>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33</a:t>
            </a:fld>
            <a:endParaRPr lang="en-GB"/>
          </a:p>
        </p:txBody>
      </p:sp>
      <p:sp>
        <p:nvSpPr>
          <p:cNvPr id="5" name="Rectangle 2"/>
          <p:cNvSpPr txBox="1">
            <a:spLocks noChangeArrowheads="1"/>
          </p:cNvSpPr>
          <p:nvPr/>
        </p:nvSpPr>
        <p:spPr>
          <a:xfrm>
            <a:off x="3984934" y="638460"/>
            <a:ext cx="3928553" cy="61595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600" b="1" dirty="0">
                <a:latin typeface="Times New Roman" panose="02020603050405020304" pitchFamily="18" charset="0"/>
                <a:cs typeface="Times New Roman" panose="02020603050405020304" pitchFamily="18" charset="0"/>
              </a:rPr>
              <a:t>Descriptor table</a:t>
            </a:r>
            <a:r>
              <a:rPr lang="en-US" altLang="en-US" sz="3600" dirty="0">
                <a:solidFill>
                  <a:schemeClr val="accent2"/>
                </a:solidFill>
              </a:rPr>
              <a:t>	</a:t>
            </a:r>
          </a:p>
        </p:txBody>
      </p:sp>
      <p:sp>
        <p:nvSpPr>
          <p:cNvPr id="6" name="Title 1"/>
          <p:cNvSpPr txBox="1">
            <a:spLocks/>
          </p:cNvSpPr>
          <p:nvPr/>
        </p:nvSpPr>
        <p:spPr>
          <a:xfrm>
            <a:off x="157655" y="0"/>
            <a:ext cx="10515600" cy="598705"/>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u="sng" dirty="0">
                <a:latin typeface="Times New Roman" panose="02020603050405020304" pitchFamily="18" charset="0"/>
                <a:cs typeface="Times New Roman" panose="02020603050405020304" pitchFamily="18" charset="0"/>
              </a:rPr>
              <a:t>Protected Mode Operation (80286)</a:t>
            </a:r>
          </a:p>
        </p:txBody>
      </p:sp>
    </p:spTree>
    <p:extLst>
      <p:ext uri="{BB962C8B-B14F-4D97-AF65-F5344CB8AC3E}">
        <p14:creationId xmlns:p14="http://schemas.microsoft.com/office/powerpoint/2010/main" val="29387447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14499" y="1523477"/>
            <a:ext cx="11748588" cy="4883740"/>
          </a:xfrm>
        </p:spPr>
        <p:txBody>
          <a:bodyPr>
            <a:normAutofit fontScale="55000" lnSpcReduction="20000"/>
          </a:bodyPr>
          <a:lstStyle/>
          <a:p>
            <a:pPr marL="228600" lvl="0" indent="-228600" algn="l">
              <a:buFont typeface="Arial" panose="020B0604020202020204" pitchFamily="34" charset="0"/>
              <a:buChar char="•"/>
            </a:pPr>
            <a:r>
              <a:rPr lang="en-US" sz="5100" dirty="0">
                <a:solidFill>
                  <a:prstClr val="black"/>
                </a:solidFill>
                <a:latin typeface="Times New Roman" panose="02020603050405020304" pitchFamily="18" charset="0"/>
                <a:cs typeface="Times New Roman" panose="02020603050405020304" pitchFamily="18" charset="0"/>
              </a:rPr>
              <a:t>Each descriptor is </a:t>
            </a:r>
            <a:r>
              <a:rPr lang="en-US" sz="5100" u="sng" dirty="0">
                <a:solidFill>
                  <a:prstClr val="black"/>
                </a:solidFill>
                <a:latin typeface="Times New Roman" panose="02020603050405020304" pitchFamily="18" charset="0"/>
                <a:cs typeface="Times New Roman" panose="02020603050405020304" pitchFamily="18" charset="0"/>
              </a:rPr>
              <a:t>8 bytes long </a:t>
            </a:r>
            <a:r>
              <a:rPr lang="en-US" sz="5100" dirty="0">
                <a:solidFill>
                  <a:prstClr val="black"/>
                </a:solidFill>
                <a:latin typeface="Times New Roman" panose="02020603050405020304" pitchFamily="18" charset="0"/>
                <a:cs typeface="Times New Roman" panose="02020603050405020304" pitchFamily="18" charset="0"/>
              </a:rPr>
              <a:t>(</a:t>
            </a:r>
            <a:r>
              <a:rPr lang="en-US" sz="5100" dirty="0">
                <a:solidFill>
                  <a:srgbClr val="0000FF"/>
                </a:solidFill>
                <a:latin typeface="Times New Roman" panose="02020603050405020304" pitchFamily="18" charset="0"/>
                <a:cs typeface="Times New Roman" panose="02020603050405020304" pitchFamily="18" charset="0"/>
              </a:rPr>
              <a:t>64 bit</a:t>
            </a:r>
            <a:r>
              <a:rPr lang="en-US" sz="5100" dirty="0">
                <a:solidFill>
                  <a:prstClr val="black"/>
                </a:solidFill>
                <a:latin typeface="Times New Roman" panose="02020603050405020304" pitchFamily="18" charset="0"/>
                <a:cs typeface="Times New Roman" panose="02020603050405020304" pitchFamily="18" charset="0"/>
              </a:rPr>
              <a:t>). </a:t>
            </a:r>
          </a:p>
          <a:p>
            <a:pPr marL="228600" lvl="0" indent="-228600" algn="l">
              <a:buFont typeface="Arial" panose="020B0604020202020204" pitchFamily="34" charset="0"/>
              <a:buChar char="•"/>
            </a:pPr>
            <a:endParaRPr lang="en-US" sz="5100" dirty="0">
              <a:solidFill>
                <a:prstClr val="black"/>
              </a:solidFill>
              <a:latin typeface="Times New Roman" panose="02020603050405020304" pitchFamily="18" charset="0"/>
              <a:cs typeface="Times New Roman" panose="02020603050405020304" pitchFamily="18" charset="0"/>
            </a:endParaRPr>
          </a:p>
          <a:p>
            <a:pPr marL="228600" lvl="0" indent="-228600" algn="l">
              <a:buFont typeface="Arial" panose="020B0604020202020204" pitchFamily="34" charset="0"/>
              <a:buChar char="•"/>
            </a:pPr>
            <a:r>
              <a:rPr lang="en-US" altLang="en-US" sz="5100" dirty="0">
                <a:latin typeface="Times New Roman" panose="02020603050405020304" pitchFamily="18" charset="0"/>
                <a:cs typeface="Times New Roman" panose="02020603050405020304" pitchFamily="18" charset="0"/>
              </a:rPr>
              <a:t>Global and Local Descriptor tables are maximum of 64K bytes in length.</a:t>
            </a:r>
            <a:endParaRPr lang="en-US" sz="5100" dirty="0">
              <a:solidFill>
                <a:prstClr val="black"/>
              </a:solidFill>
              <a:latin typeface="Times New Roman" panose="02020603050405020304" pitchFamily="18" charset="0"/>
              <a:cs typeface="Times New Roman" panose="02020603050405020304" pitchFamily="18" charset="0"/>
            </a:endParaRPr>
          </a:p>
          <a:p>
            <a:pPr marL="228600" lvl="0" indent="-228600" algn="l">
              <a:buFont typeface="Arial" panose="020B0604020202020204" pitchFamily="34" charset="0"/>
              <a:buChar char="•"/>
            </a:pPr>
            <a:endParaRPr lang="en-US" sz="5100" dirty="0">
              <a:solidFill>
                <a:prstClr val="black"/>
              </a:solidFill>
              <a:latin typeface="Times New Roman" panose="02020603050405020304" pitchFamily="18" charset="0"/>
              <a:cs typeface="Times New Roman" panose="02020603050405020304" pitchFamily="18" charset="0"/>
            </a:endParaRPr>
          </a:p>
          <a:p>
            <a:pPr marL="228600" lvl="0" indent="-228600" algn="l">
              <a:buFont typeface="Arial" panose="020B0604020202020204" pitchFamily="34" charset="0"/>
              <a:buChar char="•"/>
            </a:pPr>
            <a:r>
              <a:rPr lang="en-US" sz="5100" dirty="0">
                <a:solidFill>
                  <a:prstClr val="black"/>
                </a:solidFill>
                <a:latin typeface="Times New Roman" panose="02020603050405020304" pitchFamily="18" charset="0"/>
                <a:cs typeface="Times New Roman" panose="02020603050405020304" pitchFamily="18" charset="0"/>
              </a:rPr>
              <a:t>The global descriptor table’s </a:t>
            </a:r>
            <a:r>
              <a:rPr lang="en-US" sz="5100" dirty="0">
                <a:solidFill>
                  <a:srgbClr val="FF00FF"/>
                </a:solidFill>
                <a:latin typeface="Times New Roman" panose="02020603050405020304" pitchFamily="18" charset="0"/>
                <a:cs typeface="Times New Roman" panose="02020603050405020304" pitchFamily="18" charset="0"/>
              </a:rPr>
              <a:t>base address </a:t>
            </a:r>
            <a:r>
              <a:rPr lang="en-US" sz="5100" dirty="0">
                <a:solidFill>
                  <a:prstClr val="black"/>
                </a:solidFill>
                <a:latin typeface="Times New Roman" panose="02020603050405020304" pitchFamily="18" charset="0"/>
                <a:cs typeface="Times New Roman" panose="02020603050405020304" pitchFamily="18" charset="0"/>
              </a:rPr>
              <a:t>and </a:t>
            </a:r>
            <a:r>
              <a:rPr lang="en-US" sz="5100" dirty="0">
                <a:solidFill>
                  <a:srgbClr val="C00000"/>
                </a:solidFill>
                <a:latin typeface="Times New Roman" panose="02020603050405020304" pitchFamily="18" charset="0"/>
                <a:cs typeface="Times New Roman" panose="02020603050405020304" pitchFamily="18" charset="0"/>
              </a:rPr>
              <a:t>limit </a:t>
            </a:r>
            <a:r>
              <a:rPr lang="en-US" sz="5100" dirty="0">
                <a:solidFill>
                  <a:prstClr val="black"/>
                </a:solidFill>
                <a:latin typeface="Times New Roman" panose="02020603050405020304" pitchFamily="18" charset="0"/>
                <a:cs typeface="Times New Roman" panose="02020603050405020304" pitchFamily="18" charset="0"/>
              </a:rPr>
              <a:t>is stored in GDTR.</a:t>
            </a:r>
          </a:p>
          <a:p>
            <a:pPr marL="228600" lvl="0" indent="-228600" algn="l">
              <a:buFont typeface="Arial" panose="020B0604020202020204" pitchFamily="34" charset="0"/>
              <a:buChar char="•"/>
            </a:pPr>
            <a:endParaRPr lang="en-US" sz="5100" dirty="0">
              <a:solidFill>
                <a:prstClr val="black"/>
              </a:solidFill>
              <a:latin typeface="Times New Roman" panose="02020603050405020304" pitchFamily="18" charset="0"/>
              <a:cs typeface="Times New Roman" panose="02020603050405020304" pitchFamily="18" charset="0"/>
            </a:endParaRPr>
          </a:p>
          <a:p>
            <a:pPr marL="228600" lvl="0" indent="-228600" algn="l">
              <a:buFont typeface="Arial" panose="020B0604020202020204" pitchFamily="34" charset="0"/>
              <a:buChar char="•"/>
            </a:pPr>
            <a:r>
              <a:rPr lang="en-US" sz="5100" dirty="0">
                <a:solidFill>
                  <a:prstClr val="black"/>
                </a:solidFill>
                <a:latin typeface="Times New Roman" panose="02020603050405020304" pitchFamily="18" charset="0"/>
                <a:cs typeface="Times New Roman" panose="02020603050405020304" pitchFamily="18" charset="0"/>
              </a:rPr>
              <a:t>The local descriptor table’s </a:t>
            </a:r>
            <a:r>
              <a:rPr lang="en-US" sz="5100" dirty="0">
                <a:solidFill>
                  <a:srgbClr val="FF00FF"/>
                </a:solidFill>
                <a:latin typeface="Times New Roman" panose="02020603050405020304" pitchFamily="18" charset="0"/>
                <a:cs typeface="Times New Roman" panose="02020603050405020304" pitchFamily="18" charset="0"/>
              </a:rPr>
              <a:t>base address </a:t>
            </a:r>
            <a:r>
              <a:rPr lang="en-US" sz="5100" dirty="0">
                <a:solidFill>
                  <a:prstClr val="black"/>
                </a:solidFill>
                <a:latin typeface="Times New Roman" panose="02020603050405020304" pitchFamily="18" charset="0"/>
                <a:cs typeface="Times New Roman" panose="02020603050405020304" pitchFamily="18" charset="0"/>
              </a:rPr>
              <a:t>and </a:t>
            </a:r>
            <a:r>
              <a:rPr lang="en-US" sz="5100" dirty="0">
                <a:solidFill>
                  <a:srgbClr val="C00000"/>
                </a:solidFill>
                <a:latin typeface="Times New Roman" panose="02020603050405020304" pitchFamily="18" charset="0"/>
                <a:cs typeface="Times New Roman" panose="02020603050405020304" pitchFamily="18" charset="0"/>
              </a:rPr>
              <a:t>limit </a:t>
            </a:r>
            <a:r>
              <a:rPr lang="en-US" sz="5100" dirty="0">
                <a:solidFill>
                  <a:prstClr val="black"/>
                </a:solidFill>
                <a:latin typeface="Times New Roman" panose="02020603050405020304" pitchFamily="18" charset="0"/>
                <a:cs typeface="Times New Roman" panose="02020603050405020304" pitchFamily="18" charset="0"/>
              </a:rPr>
              <a:t>is stored in LDTR.</a:t>
            </a:r>
          </a:p>
          <a:p>
            <a:pPr marL="228600" lvl="0" indent="-228600" algn="l">
              <a:buFont typeface="Arial" panose="020B0604020202020204" pitchFamily="34" charset="0"/>
              <a:buChar char="•"/>
            </a:pPr>
            <a:endParaRPr lang="en-US" sz="4500" dirty="0">
              <a:solidFill>
                <a:prstClr val="black"/>
              </a:solidFill>
              <a:latin typeface="Arial" panose="020B0604020202020204" pitchFamily="34" charset="0"/>
              <a:cs typeface="Arial" panose="020B0604020202020204" pitchFamily="34" charset="0"/>
            </a:endParaRPr>
          </a:p>
          <a:p>
            <a:pPr marL="228600" lvl="0" indent="-228600" algn="l">
              <a:buFont typeface="Arial" panose="020B0604020202020204" pitchFamily="34" charset="0"/>
              <a:buChar char="•"/>
            </a:pPr>
            <a:endParaRPr lang="en-US" sz="4500" dirty="0">
              <a:solidFill>
                <a:prstClr val="black"/>
              </a:solidFill>
              <a:latin typeface="Arial" panose="020B0604020202020204" pitchFamily="34" charset="0"/>
              <a:cs typeface="Arial" panose="020B0604020202020204" pitchFamily="34" charset="0"/>
            </a:endParaRPr>
          </a:p>
          <a:p>
            <a:pPr algn="l"/>
            <a:endParaRPr lang="en-US" sz="3000" dirty="0">
              <a:latin typeface="Arial" panose="020B0604020202020204" pitchFamily="34" charset="0"/>
              <a:cs typeface="Arial" panose="020B0604020202020204" pitchFamily="34" charset="0"/>
            </a:endParaRPr>
          </a:p>
          <a:p>
            <a:pPr marL="457200" indent="-457200" algn="l">
              <a:buFont typeface="Arial" panose="020B0604020202020204" pitchFamily="34" charset="0"/>
              <a:buChar char="•"/>
            </a:pPr>
            <a:endParaRPr lang="en-US" altLang="en-US" sz="3000" dirty="0">
              <a:latin typeface="Arial" panose="020B0604020202020204" pitchFamily="34" charset="0"/>
              <a:cs typeface="Arial" panose="020B0604020202020204" pitchFamily="34" charset="0"/>
            </a:endParaRPr>
          </a:p>
          <a:p>
            <a:pPr algn="l"/>
            <a:br>
              <a:rPr lang="en-US" altLang="en-US" sz="2800" dirty="0">
                <a:latin typeface="TimesNewRomanPSMT" charset="0"/>
              </a:rPr>
            </a:br>
            <a:endParaRPr lang="en-US" sz="2800" dirty="0">
              <a:latin typeface="TimesNewRomanPSMT" charset="0"/>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34</a:t>
            </a:fld>
            <a:endParaRPr lang="en-GB"/>
          </a:p>
        </p:txBody>
      </p:sp>
      <p:sp>
        <p:nvSpPr>
          <p:cNvPr id="5" name="Rectangle 2"/>
          <p:cNvSpPr txBox="1">
            <a:spLocks noChangeArrowheads="1"/>
          </p:cNvSpPr>
          <p:nvPr/>
        </p:nvSpPr>
        <p:spPr>
          <a:xfrm>
            <a:off x="3511166" y="664627"/>
            <a:ext cx="3928553" cy="61595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altLang="en-US" sz="3600" b="1" dirty="0">
                <a:latin typeface="Times New Roman" panose="02020603050405020304" pitchFamily="18" charset="0"/>
                <a:cs typeface="Times New Roman" panose="02020603050405020304" pitchFamily="18" charset="0"/>
              </a:rPr>
              <a:t>Descriptor table</a:t>
            </a:r>
            <a:r>
              <a:rPr lang="en-US" altLang="en-US" sz="3600" dirty="0">
                <a:solidFill>
                  <a:schemeClr val="accent2"/>
                </a:solidFill>
              </a:rPr>
              <a:t>	</a:t>
            </a:r>
          </a:p>
        </p:txBody>
      </p:sp>
      <p:sp>
        <p:nvSpPr>
          <p:cNvPr id="6" name="Title 1"/>
          <p:cNvSpPr txBox="1">
            <a:spLocks/>
          </p:cNvSpPr>
          <p:nvPr/>
        </p:nvSpPr>
        <p:spPr>
          <a:xfrm>
            <a:off x="406829" y="189572"/>
            <a:ext cx="10515600" cy="63023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3600" b="1" dirty="0">
                <a:latin typeface="Times New Roman" panose="02020603050405020304" pitchFamily="18" charset="0"/>
                <a:cs typeface="Times New Roman" panose="02020603050405020304" pitchFamily="18" charset="0"/>
              </a:rPr>
              <a:t>Protected Mode Operation (80286)</a:t>
            </a:r>
          </a:p>
        </p:txBody>
      </p:sp>
    </p:spTree>
    <p:extLst>
      <p:ext uri="{BB962C8B-B14F-4D97-AF65-F5344CB8AC3E}">
        <p14:creationId xmlns:p14="http://schemas.microsoft.com/office/powerpoint/2010/main" val="27085911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descr="FG02_006_01350264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1825" y="1219199"/>
            <a:ext cx="9052775" cy="50785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1081825" y="270641"/>
            <a:ext cx="9591430" cy="646331"/>
          </a:xfrm>
          <a:prstGeom prst="rect">
            <a:avLst/>
          </a:prstGeom>
        </p:spPr>
        <p:txBody>
          <a:bodyPr wrap="square">
            <a:spAutoFit/>
          </a:bodyPr>
          <a:lstStyle/>
          <a:p>
            <a:r>
              <a:rPr lang="en-US" altLang="en-US" sz="3600" dirty="0">
                <a:latin typeface="Times New Roman" panose="02020603050405020304" pitchFamily="18" charset="0"/>
                <a:cs typeface="Times New Roman" panose="02020603050405020304" pitchFamily="18" charset="0"/>
              </a:rPr>
              <a:t>The format of a </a:t>
            </a:r>
            <a:r>
              <a:rPr lang="en-US" altLang="en-US" sz="3600" dirty="0">
                <a:solidFill>
                  <a:srgbClr val="FF0000"/>
                </a:solidFill>
                <a:latin typeface="Times New Roman" panose="02020603050405020304" pitchFamily="18" charset="0"/>
                <a:cs typeface="Times New Roman" panose="02020603050405020304" pitchFamily="18" charset="0"/>
              </a:rPr>
              <a:t>Descriptor table </a:t>
            </a:r>
            <a:r>
              <a:rPr lang="en-US" altLang="en-US" sz="3600" dirty="0">
                <a:latin typeface="Times New Roman" panose="02020603050405020304" pitchFamily="18" charset="0"/>
                <a:cs typeface="Times New Roman" panose="02020603050405020304" pitchFamily="18" charset="0"/>
              </a:rPr>
              <a:t>for the 80286 </a:t>
            </a:r>
          </a:p>
        </p:txBody>
      </p:sp>
      <p:sp>
        <p:nvSpPr>
          <p:cNvPr id="4" name="Slide Number Placeholder 3"/>
          <p:cNvSpPr>
            <a:spLocks noGrp="1"/>
          </p:cNvSpPr>
          <p:nvPr>
            <p:ph type="sldNum" sz="quarter" idx="12"/>
          </p:nvPr>
        </p:nvSpPr>
        <p:spPr/>
        <p:txBody>
          <a:bodyPr/>
          <a:lstStyle/>
          <a:p>
            <a:fld id="{A7682071-4525-4FC3-B8D5-3D4B0C49583A}" type="slidenum">
              <a:rPr lang="en-GB" smtClean="0"/>
              <a:t>35</a:t>
            </a:fld>
            <a:endParaRPr lang="en-GB"/>
          </a:p>
        </p:txBody>
      </p:sp>
      <p:sp>
        <p:nvSpPr>
          <p:cNvPr id="5" name="Rounded Rectangle 4"/>
          <p:cNvSpPr/>
          <p:nvPr/>
        </p:nvSpPr>
        <p:spPr>
          <a:xfrm>
            <a:off x="567559" y="916972"/>
            <a:ext cx="9869213" cy="2015414"/>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noFill/>
            </a:endParaRPr>
          </a:p>
        </p:txBody>
      </p:sp>
    </p:spTree>
    <p:extLst>
      <p:ext uri="{BB962C8B-B14F-4D97-AF65-F5344CB8AC3E}">
        <p14:creationId xmlns:p14="http://schemas.microsoft.com/office/powerpoint/2010/main" val="23466900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body" idx="1"/>
          </p:nvPr>
        </p:nvSpPr>
        <p:spPr>
          <a:xfrm>
            <a:off x="243418" y="227014"/>
            <a:ext cx="11781367" cy="5940425"/>
          </a:xfrm>
        </p:spPr>
        <p:txBody>
          <a:bodyPr/>
          <a:lstStyle/>
          <a:p>
            <a:pPr eaLnBrk="1" hangingPunct="1"/>
            <a:r>
              <a:rPr lang="en-US" altLang="zh-TW">
                <a:solidFill>
                  <a:srgbClr val="000000"/>
                </a:solidFill>
                <a:cs typeface="Arial" pitchFamily="34" charset="0"/>
              </a:rPr>
              <a:t>The </a:t>
            </a:r>
            <a:r>
              <a:rPr lang="en-US" altLang="zh-TW" b="1">
                <a:solidFill>
                  <a:srgbClr val="FF0000"/>
                </a:solidFill>
                <a:cs typeface="Arial" pitchFamily="34" charset="0"/>
              </a:rPr>
              <a:t>base address</a:t>
            </a:r>
            <a:r>
              <a:rPr lang="en-US" altLang="zh-TW">
                <a:solidFill>
                  <a:srgbClr val="000000"/>
                </a:solidFill>
                <a:cs typeface="Arial" pitchFamily="34" charset="0"/>
              </a:rPr>
              <a:t> of the descriptor indicates the starting location of the memory segment.</a:t>
            </a:r>
          </a:p>
          <a:p>
            <a:pPr lvl="1" eaLnBrk="1" hangingPunct="1"/>
            <a:r>
              <a:rPr lang="en-US" altLang="zh-TW">
                <a:solidFill>
                  <a:srgbClr val="000000"/>
                </a:solidFill>
                <a:cs typeface="Arial" pitchFamily="34" charset="0"/>
              </a:rPr>
              <a:t>the </a:t>
            </a:r>
            <a:r>
              <a:rPr lang="en-US" altLang="zh-TW">
                <a:solidFill>
                  <a:srgbClr val="FF0000"/>
                </a:solidFill>
                <a:cs typeface="Arial" pitchFamily="34" charset="0"/>
              </a:rPr>
              <a:t>paragraph boundary</a:t>
            </a:r>
            <a:r>
              <a:rPr lang="en-US" altLang="zh-TW">
                <a:solidFill>
                  <a:srgbClr val="000000"/>
                </a:solidFill>
                <a:cs typeface="Arial" pitchFamily="34" charset="0"/>
              </a:rPr>
              <a:t> limitation is removed in protected mode</a:t>
            </a:r>
          </a:p>
          <a:p>
            <a:pPr lvl="1" eaLnBrk="1" hangingPunct="1"/>
            <a:r>
              <a:rPr lang="en-US" altLang="zh-TW">
                <a:solidFill>
                  <a:srgbClr val="000000"/>
                </a:solidFill>
                <a:cs typeface="Arial" pitchFamily="34" charset="0"/>
              </a:rPr>
              <a:t>segments may begin at </a:t>
            </a:r>
            <a:r>
              <a:rPr lang="en-US" altLang="zh-TW">
                <a:solidFill>
                  <a:srgbClr val="FF0000"/>
                </a:solidFill>
                <a:cs typeface="Arial" pitchFamily="34" charset="0"/>
              </a:rPr>
              <a:t>any address</a:t>
            </a:r>
          </a:p>
          <a:p>
            <a:pPr eaLnBrk="1" hangingPunct="1"/>
            <a:r>
              <a:rPr lang="en-US" altLang="zh-TW">
                <a:solidFill>
                  <a:srgbClr val="000000"/>
                </a:solidFill>
                <a:cs typeface="Arial" pitchFamily="34" charset="0"/>
              </a:rPr>
              <a:t>The G, or </a:t>
            </a:r>
            <a:r>
              <a:rPr lang="en-US" altLang="zh-TW" b="1">
                <a:solidFill>
                  <a:srgbClr val="FF0000"/>
                </a:solidFill>
                <a:cs typeface="Arial" pitchFamily="34" charset="0"/>
              </a:rPr>
              <a:t>granularity bit</a:t>
            </a:r>
            <a:r>
              <a:rPr lang="en-US" altLang="zh-TW">
                <a:solidFill>
                  <a:srgbClr val="000000"/>
                </a:solidFill>
                <a:cs typeface="Arial" pitchFamily="34" charset="0"/>
              </a:rPr>
              <a:t> allows a segment length of 4K to 4G bytes in steps of 4K bytes. </a:t>
            </a:r>
          </a:p>
          <a:p>
            <a:pPr lvl="1" eaLnBrk="1" hangingPunct="1"/>
            <a:r>
              <a:rPr lang="en-US" altLang="zh-TW">
                <a:solidFill>
                  <a:srgbClr val="FF0000"/>
                </a:solidFill>
                <a:cs typeface="Arial" pitchFamily="34" charset="0"/>
              </a:rPr>
              <a:t>32-bit offset address</a:t>
            </a:r>
            <a:r>
              <a:rPr lang="en-US" altLang="zh-TW">
                <a:solidFill>
                  <a:srgbClr val="000000"/>
                </a:solidFill>
                <a:cs typeface="Arial" pitchFamily="34" charset="0"/>
              </a:rPr>
              <a:t> allows segment lengths of </a:t>
            </a:r>
            <a:r>
              <a:rPr lang="en-US" altLang="zh-TW">
                <a:solidFill>
                  <a:srgbClr val="FF0000"/>
                </a:solidFill>
                <a:cs typeface="Arial" pitchFamily="34" charset="0"/>
              </a:rPr>
              <a:t>4G bytes</a:t>
            </a:r>
          </a:p>
          <a:p>
            <a:pPr lvl="1" eaLnBrk="1" hangingPunct="1"/>
            <a:r>
              <a:rPr lang="en-US" altLang="zh-TW">
                <a:solidFill>
                  <a:srgbClr val="FF0000"/>
                </a:solidFill>
                <a:cs typeface="Arial" pitchFamily="34" charset="0"/>
              </a:rPr>
              <a:t>16-bit offset address</a:t>
            </a:r>
            <a:r>
              <a:rPr lang="en-US" altLang="zh-TW">
                <a:solidFill>
                  <a:srgbClr val="000000"/>
                </a:solidFill>
                <a:cs typeface="Arial" pitchFamily="34" charset="0"/>
              </a:rPr>
              <a:t> allows segment lengths of </a:t>
            </a:r>
            <a:r>
              <a:rPr lang="en-US" altLang="zh-TW">
                <a:solidFill>
                  <a:srgbClr val="FF0000"/>
                </a:solidFill>
                <a:cs typeface="Arial" pitchFamily="34" charset="0"/>
              </a:rPr>
              <a:t>64K bytes</a:t>
            </a:r>
            <a:r>
              <a:rPr lang="en-US" altLang="zh-TW">
                <a:solidFill>
                  <a:srgbClr val="000000"/>
                </a:solidFill>
                <a:cs typeface="Arial" pitchFamily="34" charset="0"/>
              </a:rPr>
              <a:t>. </a:t>
            </a:r>
            <a:endParaRPr lang="en-AU" altLang="zh-TW">
              <a:solidFill>
                <a:srgbClr val="000000"/>
              </a:solidFill>
              <a:cs typeface="Arial" pitchFamily="34" charset="0"/>
            </a:endParaRPr>
          </a:p>
        </p:txBody>
      </p:sp>
    </p:spTree>
    <p:extLst>
      <p:ext uri="{BB962C8B-B14F-4D97-AF65-F5344CB8AC3E}">
        <p14:creationId xmlns:p14="http://schemas.microsoft.com/office/powerpoint/2010/main" val="358079430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noChangeArrowheads="1"/>
          </p:cNvSpPr>
          <p:nvPr>
            <p:ph type="title"/>
          </p:nvPr>
        </p:nvSpPr>
        <p:spPr/>
        <p:txBody>
          <a:bodyPr>
            <a:normAutofit fontScale="90000"/>
          </a:bodyPr>
          <a:lstStyle/>
          <a:p>
            <a:r>
              <a:rPr lang="en-US" altLang="en-US" b="1"/>
              <a:t>DESCRIPTORS:</a:t>
            </a:r>
            <a:br>
              <a:rPr lang="en-US" altLang="en-US"/>
            </a:br>
            <a:br>
              <a:rPr lang="en-US" altLang="en-US"/>
            </a:br>
            <a:endParaRPr lang="en-US" altLang="en-US"/>
          </a:p>
        </p:txBody>
      </p:sp>
      <p:sp>
        <p:nvSpPr>
          <p:cNvPr id="62467" name="Content Placeholder 2"/>
          <p:cNvSpPr>
            <a:spLocks noGrp="1" noChangeArrowheads="1"/>
          </p:cNvSpPr>
          <p:nvPr>
            <p:ph idx="1"/>
          </p:nvPr>
        </p:nvSpPr>
        <p:spPr>
          <a:xfrm>
            <a:off x="0" y="836613"/>
            <a:ext cx="11887200" cy="4800600"/>
          </a:xfrm>
        </p:spPr>
        <p:txBody>
          <a:bodyPr/>
          <a:lstStyle/>
          <a:p>
            <a:r>
              <a:rPr lang="en-US" altLang="en-US" sz="2400" b="1"/>
              <a:t>Base (B31 – B0): </a:t>
            </a:r>
            <a:r>
              <a:rPr lang="en-US" altLang="en-US" sz="2400"/>
              <a:t>indicates the starting location </a:t>
            </a:r>
            <a:r>
              <a:rPr lang="en-US" altLang="en-US" sz="2400" b="1"/>
              <a:t>(base address) </a:t>
            </a:r>
            <a:r>
              <a:rPr lang="en-US" altLang="en-US" sz="2400"/>
              <a:t>of the memory segment. This allows segments to begin at any location in the processor's 4G bytes of memory.</a:t>
            </a:r>
            <a:br>
              <a:rPr lang="en-US" altLang="en-US" sz="2400"/>
            </a:br>
            <a:endParaRPr lang="en-US" altLang="en-US" sz="2400"/>
          </a:p>
          <a:p>
            <a:r>
              <a:rPr lang="en-US" altLang="en-US" sz="2400" b="1"/>
              <a:t>Limit (L19 – L0): </a:t>
            </a:r>
            <a:r>
              <a:rPr lang="en-US" altLang="en-US" sz="2400"/>
              <a:t>contains the </a:t>
            </a:r>
            <a:r>
              <a:rPr lang="en-US" altLang="en-US" sz="2400" b="1"/>
              <a:t>last offset address </a:t>
            </a:r>
            <a:r>
              <a:rPr lang="en-US" altLang="en-US" sz="2400"/>
              <a:t>found in a segment. Since this field is 20 bits,the segment size could be anywhere between 1 and 1M bytes. However, if the </a:t>
            </a:r>
            <a:r>
              <a:rPr lang="en-US" altLang="en-US" sz="2400" b="1"/>
              <a:t>G bit</a:t>
            </a:r>
            <a:br>
              <a:rPr lang="en-US" altLang="en-US" sz="2400"/>
            </a:br>
            <a:r>
              <a:rPr lang="en-US" altLang="en-US" sz="2400" b="1"/>
              <a:t>(granularity bit) </a:t>
            </a:r>
            <a:r>
              <a:rPr lang="en-US" altLang="en-US" sz="2400"/>
              <a:t>is set, the value of the limit is multiplied by </a:t>
            </a:r>
            <a:r>
              <a:rPr lang="en-US" altLang="en-US" sz="2400" b="1"/>
              <a:t>4K bytes </a:t>
            </a:r>
            <a:r>
              <a:rPr lang="en-US" altLang="en-US" sz="2400"/>
              <a:t>(i.e., appended with FFFH). In this case, the segment size could be anywhere between 4K and 4G bytes in steps of</a:t>
            </a:r>
            <a:br>
              <a:rPr lang="en-US" altLang="en-US" sz="2400"/>
            </a:br>
            <a:r>
              <a:rPr lang="en-US" altLang="en-US" sz="2400"/>
              <a:t>4K bytes.</a:t>
            </a:r>
            <a:br>
              <a:rPr lang="en-US" altLang="en-US" sz="2400"/>
            </a:br>
            <a:br>
              <a:rPr lang="en-US" altLang="en-US" sz="2400"/>
            </a:br>
            <a:br>
              <a:rPr lang="en-US" altLang="en-US" sz="2400"/>
            </a:br>
            <a:endParaRPr lang="en-US" altLang="en-US" sz="2400"/>
          </a:p>
        </p:txBody>
      </p:sp>
    </p:spTree>
    <p:extLst>
      <p:ext uri="{BB962C8B-B14F-4D97-AF65-F5344CB8AC3E}">
        <p14:creationId xmlns:p14="http://schemas.microsoft.com/office/powerpoint/2010/main" val="23100146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a:t>Example,</a:t>
            </a:r>
          </a:p>
        </p:txBody>
      </p:sp>
      <p:sp>
        <p:nvSpPr>
          <p:cNvPr id="63491" name="Content Placeholder 2"/>
          <p:cNvSpPr>
            <a:spLocks noGrp="1" noChangeArrowheads="1"/>
          </p:cNvSpPr>
          <p:nvPr>
            <p:ph idx="1"/>
          </p:nvPr>
        </p:nvSpPr>
        <p:spPr/>
        <p:txBody>
          <a:bodyPr/>
          <a:lstStyle/>
          <a:p>
            <a:r>
              <a:rPr lang="en-US" altLang="en-US"/>
              <a:t>Base = Start = </a:t>
            </a:r>
            <a:r>
              <a:rPr lang="en-US" altLang="en-US" b="1"/>
              <a:t>10000000h</a:t>
            </a:r>
            <a:br>
              <a:rPr lang="en-US" altLang="en-US"/>
            </a:br>
            <a:r>
              <a:rPr lang="en-US" altLang="en-US"/>
              <a:t>Limit = </a:t>
            </a:r>
            <a:r>
              <a:rPr lang="en-US" altLang="en-US" b="1"/>
              <a:t>001FFh </a:t>
            </a:r>
            <a:r>
              <a:rPr lang="en-US" altLang="en-US"/>
              <a:t>and G = </a:t>
            </a:r>
            <a:r>
              <a:rPr lang="en-US" altLang="en-US" b="1"/>
              <a:t>0</a:t>
            </a:r>
            <a:br>
              <a:rPr lang="en-US" altLang="en-US"/>
            </a:br>
            <a:r>
              <a:rPr lang="en-US" altLang="en-US"/>
              <a:t>So, End = Base + Limit = 10000000h + 001 FFh = 100001 FFh</a:t>
            </a:r>
            <a:br>
              <a:rPr lang="en-US" altLang="en-US"/>
            </a:br>
            <a:r>
              <a:rPr lang="en-US" altLang="en-US"/>
              <a:t>Segment Size = </a:t>
            </a:r>
            <a:r>
              <a:rPr lang="en-US" altLang="en-US" b="1"/>
              <a:t>512 bytes</a:t>
            </a:r>
            <a:br>
              <a:rPr lang="en-US" altLang="en-US"/>
            </a:br>
            <a:r>
              <a:rPr lang="en-US" altLang="en-US"/>
              <a:t>Base = Start = </a:t>
            </a:r>
            <a:r>
              <a:rPr lang="en-US" altLang="en-US" b="1"/>
              <a:t>10000000h</a:t>
            </a:r>
            <a:br>
              <a:rPr lang="en-US" altLang="en-US"/>
            </a:br>
            <a:r>
              <a:rPr lang="en-US" altLang="en-US"/>
              <a:t>Limit = </a:t>
            </a:r>
            <a:r>
              <a:rPr lang="en-US" altLang="en-US" b="1"/>
              <a:t>001FFh </a:t>
            </a:r>
            <a:r>
              <a:rPr lang="en-US" altLang="en-US"/>
              <a:t>and G = </a:t>
            </a:r>
            <a:r>
              <a:rPr lang="en-US" altLang="en-US" b="1"/>
              <a:t>1</a:t>
            </a:r>
            <a:br>
              <a:rPr lang="en-US" altLang="en-US"/>
            </a:br>
            <a:r>
              <a:rPr lang="en-US" altLang="en-US"/>
              <a:t>So, End = Base + Limit * 4K = 10000000h + </a:t>
            </a:r>
            <a:r>
              <a:rPr lang="en-US" altLang="en-US" b="1"/>
              <a:t>001FFFFFh </a:t>
            </a:r>
            <a:r>
              <a:rPr lang="en-US" altLang="en-US"/>
              <a:t>= </a:t>
            </a:r>
            <a:r>
              <a:rPr lang="en-US" altLang="en-US" b="1"/>
              <a:t>101FFFFFh</a:t>
            </a:r>
            <a:br>
              <a:rPr lang="en-US" altLang="en-US"/>
            </a:br>
            <a:r>
              <a:rPr lang="en-US" altLang="en-US"/>
              <a:t>Segment Size = </a:t>
            </a:r>
            <a:r>
              <a:rPr lang="en-US" altLang="en-US" b="1"/>
              <a:t>2M bytes</a:t>
            </a:r>
            <a:br>
              <a:rPr lang="en-US" altLang="en-US"/>
            </a:br>
            <a:br>
              <a:rPr lang="en-US" altLang="en-US"/>
            </a:br>
            <a:endParaRPr lang="en-US" altLang="en-US"/>
          </a:p>
        </p:txBody>
      </p:sp>
    </p:spTree>
    <p:extLst>
      <p:ext uri="{BB962C8B-B14F-4D97-AF65-F5344CB8AC3E}">
        <p14:creationId xmlns:p14="http://schemas.microsoft.com/office/powerpoint/2010/main" val="21519743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7682071-4525-4FC3-B8D5-3D4B0C49583A}" type="slidenum">
              <a:rPr lang="en-GB" smtClean="0"/>
              <a:t>39</a:t>
            </a:fld>
            <a:endParaRPr lang="en-GB"/>
          </a:p>
        </p:txBody>
      </p:sp>
      <p:sp>
        <p:nvSpPr>
          <p:cNvPr id="5" name="Title 1"/>
          <p:cNvSpPr txBox="1">
            <a:spLocks/>
          </p:cNvSpPr>
          <p:nvPr/>
        </p:nvSpPr>
        <p:spPr>
          <a:xfrm>
            <a:off x="240315" y="204775"/>
            <a:ext cx="11654724" cy="20969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dirty="0"/>
            </a:br>
            <a:endParaRPr lang="en-US" dirty="0"/>
          </a:p>
        </p:txBody>
      </p:sp>
      <p:sp>
        <p:nvSpPr>
          <p:cNvPr id="6" name="Title 1"/>
          <p:cNvSpPr txBox="1">
            <a:spLocks/>
          </p:cNvSpPr>
          <p:nvPr/>
        </p:nvSpPr>
        <p:spPr>
          <a:xfrm>
            <a:off x="483206" y="118415"/>
            <a:ext cx="10515600" cy="9835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Times New Roman" panose="02020603050405020304" pitchFamily="18" charset="0"/>
                <a:cs typeface="Times New Roman" panose="02020603050405020304" pitchFamily="18" charset="0"/>
              </a:rPr>
              <a:t>Problem</a:t>
            </a:r>
          </a:p>
        </p:txBody>
      </p:sp>
      <p:pic>
        <p:nvPicPr>
          <p:cNvPr id="3" name="Picture 2"/>
          <p:cNvPicPr>
            <a:picLocks noChangeAspect="1"/>
          </p:cNvPicPr>
          <p:nvPr/>
        </p:nvPicPr>
        <p:blipFill>
          <a:blip r:embed="rId2"/>
          <a:stretch>
            <a:fillRect/>
          </a:stretch>
        </p:blipFill>
        <p:spPr>
          <a:xfrm>
            <a:off x="797705" y="766840"/>
            <a:ext cx="10320256" cy="5834682"/>
          </a:xfrm>
          <a:prstGeom prst="rect">
            <a:avLst/>
          </a:prstGeom>
        </p:spPr>
      </p:pic>
    </p:spTree>
    <p:extLst>
      <p:ext uri="{BB962C8B-B14F-4D97-AF65-F5344CB8AC3E}">
        <p14:creationId xmlns:p14="http://schemas.microsoft.com/office/powerpoint/2010/main" val="1156433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8C957107-64D2-C980-48F3-64F3127C9B2D}"/>
              </a:ext>
            </a:extLst>
          </p:cNvPr>
          <p:cNvSpPr>
            <a:spLocks noGrp="1"/>
          </p:cNvSpPr>
          <p:nvPr>
            <p:ph idx="1"/>
          </p:nvPr>
        </p:nvSpPr>
        <p:spPr>
          <a:xfrm>
            <a:off x="838200" y="1101938"/>
            <a:ext cx="10515600" cy="5075025"/>
          </a:xfrm>
        </p:spPr>
        <p:txBody>
          <a:bodyPr/>
          <a:lstStyle/>
          <a:p>
            <a:pPr marL="0" indent="0">
              <a:buNone/>
            </a:pPr>
            <a:r>
              <a:rPr lang="en-US" dirty="0"/>
              <a:t>DS = 3CH = 003CH = </a:t>
            </a:r>
            <a:r>
              <a:rPr lang="en-US" dirty="0">
                <a:solidFill>
                  <a:schemeClr val="accent2"/>
                </a:solidFill>
              </a:rPr>
              <a:t>0000 0000 0011 1</a:t>
            </a:r>
            <a:r>
              <a:rPr lang="en-US" dirty="0">
                <a:solidFill>
                  <a:schemeClr val="accent5"/>
                </a:solidFill>
              </a:rPr>
              <a:t>1</a:t>
            </a:r>
            <a:r>
              <a:rPr lang="en-US" dirty="0">
                <a:solidFill>
                  <a:schemeClr val="accent6"/>
                </a:solidFill>
              </a:rPr>
              <a:t>00</a:t>
            </a:r>
            <a:r>
              <a:rPr lang="en-US" dirty="0"/>
              <a:t> B</a:t>
            </a:r>
          </a:p>
          <a:p>
            <a:pPr marL="0" indent="0">
              <a:buNone/>
            </a:pPr>
            <a:r>
              <a:rPr lang="en-US" dirty="0"/>
              <a:t>Privilege level = </a:t>
            </a:r>
            <a:r>
              <a:rPr lang="en-US" dirty="0">
                <a:solidFill>
                  <a:schemeClr val="accent6"/>
                </a:solidFill>
              </a:rPr>
              <a:t>00</a:t>
            </a:r>
            <a:br>
              <a:rPr lang="en-US" dirty="0">
                <a:solidFill>
                  <a:schemeClr val="accent6"/>
                </a:solidFill>
              </a:rPr>
            </a:br>
            <a:r>
              <a:rPr lang="en-US" dirty="0"/>
              <a:t>Local Descriptor table  </a:t>
            </a:r>
            <a:r>
              <a:rPr lang="en-US" dirty="0">
                <a:solidFill>
                  <a:schemeClr val="accent5"/>
                </a:solidFill>
              </a:rPr>
              <a:t>1</a:t>
            </a:r>
            <a:br>
              <a:rPr lang="en-US" dirty="0">
                <a:solidFill>
                  <a:schemeClr val="accent5"/>
                </a:solidFill>
              </a:rPr>
            </a:br>
            <a:r>
              <a:rPr lang="en-US" dirty="0"/>
              <a:t>Entry number = </a:t>
            </a:r>
            <a:r>
              <a:rPr lang="en-US" dirty="0">
                <a:solidFill>
                  <a:schemeClr val="accent2"/>
                </a:solidFill>
              </a:rPr>
              <a:t>0000 0000 0011 1 =  </a:t>
            </a:r>
            <a:r>
              <a:rPr lang="en-US" dirty="0"/>
              <a:t>7H</a:t>
            </a:r>
            <a:br>
              <a:rPr lang="en-US" dirty="0"/>
            </a:br>
            <a:br>
              <a:rPr lang="en-US" dirty="0"/>
            </a:br>
            <a:r>
              <a:rPr lang="en-US" dirty="0"/>
              <a:t>Physical address = Base address + offset</a:t>
            </a:r>
            <a:br>
              <a:rPr lang="en-US" dirty="0"/>
            </a:br>
            <a:r>
              <a:rPr lang="en-US" dirty="0"/>
              <a:t>                              = B50000H + 10H</a:t>
            </a:r>
            <a:br>
              <a:rPr lang="en-US" dirty="0"/>
            </a:br>
            <a:r>
              <a:rPr lang="en-US" dirty="0"/>
              <a:t>                              = B50010H</a:t>
            </a:r>
            <a:br>
              <a:rPr lang="en-US" dirty="0"/>
            </a:br>
            <a:br>
              <a:rPr lang="en-US" dirty="0"/>
            </a:br>
            <a:r>
              <a:rPr lang="en-US" dirty="0"/>
              <a:t>Starting address = Base address = B50000H</a:t>
            </a:r>
            <a:br>
              <a:rPr lang="en-US" dirty="0"/>
            </a:br>
            <a:r>
              <a:rPr lang="en-US" dirty="0"/>
              <a:t>Ending address = Starting address + limit</a:t>
            </a:r>
            <a:br>
              <a:rPr lang="en-US" dirty="0"/>
            </a:br>
            <a:r>
              <a:rPr lang="en-US" dirty="0"/>
              <a:t>                            = B50000H + 0FFFH = B50FFFH</a:t>
            </a:r>
            <a:endParaRPr lang="en-US" dirty="0">
              <a:solidFill>
                <a:schemeClr val="accent2"/>
              </a:solidFill>
            </a:endParaRPr>
          </a:p>
        </p:txBody>
      </p:sp>
      <p:sp>
        <p:nvSpPr>
          <p:cNvPr id="4" name="Slide Number Placeholder 3"/>
          <p:cNvSpPr>
            <a:spLocks noGrp="1"/>
          </p:cNvSpPr>
          <p:nvPr>
            <p:ph type="sldNum" sz="quarter" idx="12"/>
          </p:nvPr>
        </p:nvSpPr>
        <p:spPr/>
        <p:txBody>
          <a:bodyPr/>
          <a:lstStyle/>
          <a:p>
            <a:fld id="{A7682071-4525-4FC3-B8D5-3D4B0C49583A}" type="slidenum">
              <a:rPr lang="en-GB" smtClean="0"/>
              <a:t>40</a:t>
            </a:fld>
            <a:endParaRPr lang="en-GB"/>
          </a:p>
        </p:txBody>
      </p:sp>
      <p:sp>
        <p:nvSpPr>
          <p:cNvPr id="5" name="Title 1"/>
          <p:cNvSpPr txBox="1">
            <a:spLocks/>
          </p:cNvSpPr>
          <p:nvPr/>
        </p:nvSpPr>
        <p:spPr>
          <a:xfrm>
            <a:off x="240315" y="204775"/>
            <a:ext cx="11654724" cy="20969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dirty="0"/>
            </a:br>
            <a:endParaRPr lang="en-US" dirty="0"/>
          </a:p>
        </p:txBody>
      </p:sp>
      <p:sp>
        <p:nvSpPr>
          <p:cNvPr id="6" name="Title 1"/>
          <p:cNvSpPr txBox="1">
            <a:spLocks/>
          </p:cNvSpPr>
          <p:nvPr/>
        </p:nvSpPr>
        <p:spPr>
          <a:xfrm>
            <a:off x="483206" y="118415"/>
            <a:ext cx="10515600" cy="98352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latin typeface="Times New Roman" panose="02020603050405020304" pitchFamily="18" charset="0"/>
                <a:cs typeface="Times New Roman" panose="02020603050405020304" pitchFamily="18" charset="0"/>
              </a:rPr>
              <a:t>Solution</a:t>
            </a:r>
          </a:p>
        </p:txBody>
      </p:sp>
      <p:pic>
        <p:nvPicPr>
          <p:cNvPr id="9" name="Picture 8">
            <a:extLst>
              <a:ext uri="{FF2B5EF4-FFF2-40B4-BE49-F238E27FC236}">
                <a16:creationId xmlns:a16="http://schemas.microsoft.com/office/drawing/2014/main" id="{7ED6CC63-057C-45FA-21DB-D8B24854A7F6}"/>
              </a:ext>
            </a:extLst>
          </p:cNvPr>
          <p:cNvPicPr>
            <a:picLocks noChangeAspect="1"/>
          </p:cNvPicPr>
          <p:nvPr/>
        </p:nvPicPr>
        <p:blipFill>
          <a:blip r:embed="rId2"/>
          <a:stretch>
            <a:fillRect/>
          </a:stretch>
        </p:blipFill>
        <p:spPr>
          <a:xfrm>
            <a:off x="7696200" y="1101938"/>
            <a:ext cx="3520745" cy="3551228"/>
          </a:xfrm>
          <a:prstGeom prst="rect">
            <a:avLst/>
          </a:prstGeom>
        </p:spPr>
      </p:pic>
    </p:spTree>
    <p:extLst>
      <p:ext uri="{BB962C8B-B14F-4D97-AF65-F5344CB8AC3E}">
        <p14:creationId xmlns:p14="http://schemas.microsoft.com/office/powerpoint/2010/main" val="23295240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body" idx="1"/>
          </p:nvPr>
        </p:nvSpPr>
        <p:spPr>
          <a:xfrm>
            <a:off x="243418" y="227014"/>
            <a:ext cx="11781367" cy="5940425"/>
          </a:xfrm>
        </p:spPr>
        <p:txBody>
          <a:bodyPr/>
          <a:lstStyle/>
          <a:p>
            <a:pPr eaLnBrk="1" hangingPunct="1"/>
            <a:r>
              <a:rPr lang="en-US" altLang="zh-TW" sz="3600" dirty="0">
                <a:solidFill>
                  <a:srgbClr val="000000"/>
                </a:solidFill>
                <a:cs typeface="Arial" pitchFamily="34" charset="0"/>
              </a:rPr>
              <a:t>Access Rights Byte</a:t>
            </a:r>
          </a:p>
          <a:p>
            <a:pPr eaLnBrk="1" hangingPunct="1"/>
            <a:r>
              <a:rPr lang="en-US" altLang="zh-TW" dirty="0">
                <a:solidFill>
                  <a:srgbClr val="000000"/>
                </a:solidFill>
                <a:cs typeface="Arial" pitchFamily="34" charset="0"/>
              </a:rPr>
              <a:t>The </a:t>
            </a:r>
            <a:r>
              <a:rPr lang="en-US" altLang="zh-TW" b="1" dirty="0">
                <a:solidFill>
                  <a:srgbClr val="FF0000"/>
                </a:solidFill>
                <a:cs typeface="Arial" pitchFamily="34" charset="0"/>
              </a:rPr>
              <a:t>access rights byte</a:t>
            </a:r>
            <a:r>
              <a:rPr lang="en-US" altLang="zh-TW" b="1" dirty="0">
                <a:solidFill>
                  <a:srgbClr val="000000"/>
                </a:solidFill>
                <a:cs typeface="Arial" pitchFamily="34" charset="0"/>
              </a:rPr>
              <a:t> </a:t>
            </a:r>
            <a:r>
              <a:rPr lang="en-US" altLang="zh-TW" dirty="0">
                <a:solidFill>
                  <a:srgbClr val="000000"/>
                </a:solidFill>
                <a:cs typeface="Arial" pitchFamily="34" charset="0"/>
              </a:rPr>
              <a:t>controls access to the protected mode segment. </a:t>
            </a:r>
          </a:p>
          <a:p>
            <a:pPr lvl="1" eaLnBrk="1" hangingPunct="1"/>
            <a:r>
              <a:rPr lang="en-US" altLang="zh-TW" dirty="0">
                <a:solidFill>
                  <a:srgbClr val="000000"/>
                </a:solidFill>
                <a:cs typeface="Arial" pitchFamily="34" charset="0"/>
              </a:rPr>
              <a:t>describes segment function in the system and allows complete control over the segment</a:t>
            </a:r>
          </a:p>
          <a:p>
            <a:pPr lvl="1" eaLnBrk="1" hangingPunct="1"/>
            <a:r>
              <a:rPr lang="en-US" altLang="zh-TW" dirty="0">
                <a:solidFill>
                  <a:srgbClr val="000000"/>
                </a:solidFill>
                <a:cs typeface="Arial" pitchFamily="34" charset="0"/>
              </a:rPr>
              <a:t>if the segment is a data segment, the direction of growth is specified </a:t>
            </a:r>
          </a:p>
          <a:p>
            <a:pPr eaLnBrk="1" hangingPunct="1"/>
            <a:r>
              <a:rPr lang="en-US" altLang="zh-TW" dirty="0">
                <a:solidFill>
                  <a:srgbClr val="000000"/>
                </a:solidFill>
                <a:cs typeface="Arial" pitchFamily="34" charset="0"/>
              </a:rPr>
              <a:t>If the segment grows </a:t>
            </a:r>
            <a:r>
              <a:rPr lang="en-US" altLang="zh-TW" dirty="0">
                <a:solidFill>
                  <a:srgbClr val="FF0000"/>
                </a:solidFill>
                <a:cs typeface="Arial" pitchFamily="34" charset="0"/>
              </a:rPr>
              <a:t>beyond</a:t>
            </a:r>
            <a:r>
              <a:rPr lang="en-US" altLang="zh-TW" dirty="0">
                <a:solidFill>
                  <a:srgbClr val="000000"/>
                </a:solidFill>
                <a:cs typeface="Arial" pitchFamily="34" charset="0"/>
              </a:rPr>
              <a:t> its </a:t>
            </a:r>
            <a:r>
              <a:rPr lang="en-US" altLang="zh-TW" dirty="0">
                <a:solidFill>
                  <a:srgbClr val="FF0000"/>
                </a:solidFill>
                <a:cs typeface="Arial" pitchFamily="34" charset="0"/>
              </a:rPr>
              <a:t>limit</a:t>
            </a:r>
            <a:r>
              <a:rPr lang="en-US" altLang="zh-TW" dirty="0">
                <a:solidFill>
                  <a:srgbClr val="000000"/>
                </a:solidFill>
                <a:cs typeface="Arial" pitchFamily="34" charset="0"/>
              </a:rPr>
              <a:t>, the operating system is interrupted, indicating</a:t>
            </a:r>
            <a:br>
              <a:rPr lang="en-US" altLang="zh-TW" dirty="0">
                <a:solidFill>
                  <a:srgbClr val="000000"/>
                </a:solidFill>
                <a:cs typeface="Arial" pitchFamily="34" charset="0"/>
              </a:rPr>
            </a:br>
            <a:r>
              <a:rPr lang="en-US" altLang="zh-TW" dirty="0">
                <a:solidFill>
                  <a:srgbClr val="000000"/>
                </a:solidFill>
                <a:cs typeface="Arial" pitchFamily="34" charset="0"/>
              </a:rPr>
              <a:t>a general </a:t>
            </a:r>
            <a:r>
              <a:rPr lang="en-US" altLang="zh-TW" b="1" dirty="0">
                <a:solidFill>
                  <a:srgbClr val="FF0000"/>
                </a:solidFill>
                <a:cs typeface="Arial" pitchFamily="34" charset="0"/>
              </a:rPr>
              <a:t>protection fault</a:t>
            </a:r>
            <a:r>
              <a:rPr lang="en-US" altLang="zh-TW" dirty="0">
                <a:solidFill>
                  <a:srgbClr val="000000"/>
                </a:solidFill>
                <a:cs typeface="Arial" pitchFamily="34" charset="0"/>
              </a:rPr>
              <a:t>. </a:t>
            </a:r>
          </a:p>
          <a:p>
            <a:pPr eaLnBrk="1" hangingPunct="1"/>
            <a:r>
              <a:rPr lang="en-US" altLang="zh-TW" dirty="0">
                <a:solidFill>
                  <a:srgbClr val="000000"/>
                </a:solidFill>
                <a:cs typeface="Arial" pitchFamily="34" charset="0"/>
              </a:rPr>
              <a:t>You can specify whether a data segment</a:t>
            </a:r>
            <a:br>
              <a:rPr lang="en-US" altLang="zh-TW" dirty="0">
                <a:solidFill>
                  <a:srgbClr val="000000"/>
                </a:solidFill>
                <a:cs typeface="Arial" pitchFamily="34" charset="0"/>
              </a:rPr>
            </a:br>
            <a:r>
              <a:rPr lang="en-US" altLang="zh-TW" dirty="0">
                <a:solidFill>
                  <a:srgbClr val="000000"/>
                </a:solidFill>
                <a:cs typeface="Arial" pitchFamily="34" charset="0"/>
              </a:rPr>
              <a:t>can be </a:t>
            </a:r>
            <a:r>
              <a:rPr lang="en-US" altLang="zh-TW" dirty="0">
                <a:solidFill>
                  <a:srgbClr val="FF0000"/>
                </a:solidFill>
                <a:cs typeface="Arial" pitchFamily="34" charset="0"/>
              </a:rPr>
              <a:t>written</a:t>
            </a:r>
            <a:r>
              <a:rPr lang="en-US" altLang="zh-TW" dirty="0">
                <a:solidFill>
                  <a:srgbClr val="000000"/>
                </a:solidFill>
                <a:cs typeface="Arial" pitchFamily="34" charset="0"/>
              </a:rPr>
              <a:t> or is </a:t>
            </a:r>
            <a:r>
              <a:rPr lang="en-US" altLang="zh-TW" b="1" dirty="0">
                <a:solidFill>
                  <a:srgbClr val="FF0000"/>
                </a:solidFill>
                <a:cs typeface="Arial" pitchFamily="34" charset="0"/>
              </a:rPr>
              <a:t>write-protected</a:t>
            </a:r>
            <a:r>
              <a:rPr lang="en-US" altLang="zh-TW" dirty="0">
                <a:solidFill>
                  <a:srgbClr val="000000"/>
                </a:solidFill>
                <a:cs typeface="Arial" pitchFamily="34" charset="0"/>
              </a:rPr>
              <a:t>. </a:t>
            </a:r>
            <a:endParaRPr lang="en-US" altLang="zh-TW" dirty="0">
              <a:cs typeface="Times New Roman" pitchFamily="18" charset="0"/>
            </a:endParaRPr>
          </a:p>
        </p:txBody>
      </p:sp>
    </p:spTree>
    <p:extLst>
      <p:ext uri="{BB962C8B-B14F-4D97-AF65-F5344CB8AC3E}">
        <p14:creationId xmlns:p14="http://schemas.microsoft.com/office/powerpoint/2010/main" val="41331250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243417" y="90488"/>
            <a:ext cx="11887200" cy="1143000"/>
          </a:xfrm>
        </p:spPr>
        <p:txBody>
          <a:bodyPr/>
          <a:lstStyle/>
          <a:p>
            <a:pPr eaLnBrk="1" hangingPunct="1"/>
            <a:r>
              <a:rPr lang="en-US" altLang="zh-TW" sz="2400" b="1">
                <a:solidFill>
                  <a:srgbClr val="000000"/>
                </a:solidFill>
                <a:cs typeface="Arial" pitchFamily="34" charset="0"/>
              </a:rPr>
              <a:t>Figure 2</a:t>
            </a:r>
            <a:r>
              <a:rPr lang="en-US" altLang="zh-TW" sz="2400" b="1">
                <a:solidFill>
                  <a:srgbClr val="000000"/>
                </a:solidFill>
                <a:latin typeface="B Helvetica Bold" pitchFamily="-80" charset="0"/>
                <a:cs typeface="Arial" pitchFamily="34" charset="0"/>
              </a:rPr>
              <a:t>–</a:t>
            </a:r>
            <a:r>
              <a:rPr lang="en-US" altLang="zh-TW" sz="2400" b="1">
                <a:solidFill>
                  <a:srgbClr val="000000"/>
                </a:solidFill>
                <a:cs typeface="Arial" pitchFamily="34" charset="0"/>
              </a:rPr>
              <a:t>7</a:t>
            </a:r>
            <a:r>
              <a:rPr lang="en-US" altLang="zh-TW" sz="2400">
                <a:solidFill>
                  <a:srgbClr val="000000"/>
                </a:solidFill>
                <a:cs typeface="Arial" pitchFamily="34" charset="0"/>
              </a:rPr>
              <a:t>  The </a:t>
            </a:r>
            <a:r>
              <a:rPr lang="en-US" altLang="zh-TW" sz="2400">
                <a:solidFill>
                  <a:srgbClr val="FF0000"/>
                </a:solidFill>
                <a:cs typeface="Arial" pitchFamily="34" charset="0"/>
              </a:rPr>
              <a:t>access rights byte</a:t>
            </a:r>
            <a:r>
              <a:rPr lang="en-US" altLang="zh-TW" sz="2400">
                <a:solidFill>
                  <a:srgbClr val="000000"/>
                </a:solidFill>
                <a:cs typeface="Arial" pitchFamily="34" charset="0"/>
              </a:rPr>
              <a:t> for the 80286 through Core2 descriptor.</a:t>
            </a:r>
            <a:br>
              <a:rPr lang="en-AU" altLang="zh-TW" sz="1800">
                <a:latin typeface="Helvetica" pitchFamily="-80" charset="0"/>
                <a:cs typeface="Times New Roman" pitchFamily="18" charset="0"/>
              </a:rPr>
            </a:br>
            <a:endParaRPr lang="en-US" altLang="zh-TW" sz="1800">
              <a:latin typeface="Helvetica" pitchFamily="-80" charset="0"/>
              <a:cs typeface="Times New Roman" pitchFamily="18" charset="0"/>
            </a:endParaRPr>
          </a:p>
        </p:txBody>
      </p:sp>
      <p:pic>
        <p:nvPicPr>
          <p:cNvPr id="70659" name="Picture 3" descr="FG02_007_013502645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8667" y="914401"/>
            <a:ext cx="8972551" cy="502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93005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itle 1"/>
          <p:cNvSpPr>
            <a:spLocks noGrp="1" noChangeArrowheads="1"/>
          </p:cNvSpPr>
          <p:nvPr>
            <p:ph type="title"/>
          </p:nvPr>
        </p:nvSpPr>
        <p:spPr/>
        <p:txBody>
          <a:bodyPr/>
          <a:lstStyle/>
          <a:p>
            <a:r>
              <a:rPr lang="en-US" altLang="en-US"/>
              <a:t>Access right byte configuration</a:t>
            </a:r>
          </a:p>
        </p:txBody>
      </p:sp>
      <p:pic>
        <p:nvPicPr>
          <p:cNvPr id="72707" name="Content Placeholder 3"/>
          <p:cNvPicPr>
            <a:picLocks noGrp="1" noChangeArrowheads="1"/>
          </p:cNvPicPr>
          <p:nvPr>
            <p:ph idx="1"/>
          </p:nvPr>
        </p:nvPicPr>
        <p:blipFill>
          <a:blip r:embed="rId2">
            <a:extLst>
              <a:ext uri="{28A0092B-C50C-407E-A947-70E740481C1C}">
                <a14:useLocalDpi xmlns:a14="http://schemas.microsoft.com/office/drawing/2010/main" val="0"/>
              </a:ext>
            </a:extLst>
          </a:blip>
          <a:srcRect l="31207" t="22955" r="11932" b="6248"/>
          <a:stretch>
            <a:fillRect/>
          </a:stretch>
        </p:blipFill>
        <p:spPr>
          <a:xfrm>
            <a:off x="239185" y="1295400"/>
            <a:ext cx="11425767" cy="4800600"/>
          </a:xfrm>
        </p:spPr>
      </p:pic>
    </p:spTree>
    <p:extLst>
      <p:ext uri="{BB962C8B-B14F-4D97-AF65-F5344CB8AC3E}">
        <p14:creationId xmlns:p14="http://schemas.microsoft.com/office/powerpoint/2010/main" val="36615876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Title 1"/>
          <p:cNvSpPr>
            <a:spLocks noGrp="1" noChangeArrowheads="1"/>
          </p:cNvSpPr>
          <p:nvPr>
            <p:ph type="title"/>
          </p:nvPr>
        </p:nvSpPr>
        <p:spPr/>
        <p:txBody>
          <a:bodyPr/>
          <a:lstStyle/>
          <a:p>
            <a:endParaRPr lang="en-US" altLang="en-US"/>
          </a:p>
        </p:txBody>
      </p:sp>
      <p:pic>
        <p:nvPicPr>
          <p:cNvPr id="73731" name="Content Placeholder 3"/>
          <p:cNvPicPr>
            <a:picLocks noGrp="1" noChangeArrowheads="1"/>
          </p:cNvPicPr>
          <p:nvPr>
            <p:ph idx="1"/>
          </p:nvPr>
        </p:nvPicPr>
        <p:blipFill>
          <a:blip r:embed="rId2">
            <a:extLst>
              <a:ext uri="{28A0092B-C50C-407E-A947-70E740481C1C}">
                <a14:useLocalDpi xmlns:a14="http://schemas.microsoft.com/office/drawing/2010/main" val="0"/>
              </a:ext>
            </a:extLst>
          </a:blip>
          <a:srcRect l="8974" t="43536" r="11859" b="22943"/>
          <a:stretch>
            <a:fillRect/>
          </a:stretch>
        </p:blipFill>
        <p:spPr>
          <a:xfrm>
            <a:off x="0" y="188914"/>
            <a:ext cx="12192000" cy="4752975"/>
          </a:xfrm>
        </p:spPr>
      </p:pic>
    </p:spTree>
    <p:extLst>
      <p:ext uri="{BB962C8B-B14F-4D97-AF65-F5344CB8AC3E}">
        <p14:creationId xmlns:p14="http://schemas.microsoft.com/office/powerpoint/2010/main" val="39530862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Title 1"/>
          <p:cNvSpPr>
            <a:spLocks noGrp="1" noChangeArrowheads="1"/>
          </p:cNvSpPr>
          <p:nvPr>
            <p:ph type="title"/>
          </p:nvPr>
        </p:nvSpPr>
        <p:spPr/>
        <p:txBody>
          <a:bodyPr/>
          <a:lstStyle/>
          <a:p>
            <a:r>
              <a:rPr lang="en-US" altLang="zh-TW" dirty="0">
                <a:solidFill>
                  <a:srgbClr val="000000"/>
                </a:solidFill>
                <a:cs typeface="Arial" pitchFamily="34" charset="0"/>
              </a:rPr>
              <a:t>Access Rights Byte</a:t>
            </a:r>
            <a:br>
              <a:rPr lang="en-US" altLang="zh-TW" dirty="0">
                <a:solidFill>
                  <a:srgbClr val="000000"/>
                </a:solidFill>
                <a:cs typeface="Arial" pitchFamily="34" charset="0"/>
              </a:rPr>
            </a:br>
            <a:endParaRPr lang="en-US" altLang="en-US" dirty="0"/>
          </a:p>
        </p:txBody>
      </p:sp>
      <p:pic>
        <p:nvPicPr>
          <p:cNvPr id="74755" name="Content Placeholder 3"/>
          <p:cNvPicPr>
            <a:picLocks noGrp="1" noChangeArrowheads="1"/>
          </p:cNvPicPr>
          <p:nvPr>
            <p:ph idx="1"/>
          </p:nvPr>
        </p:nvPicPr>
        <p:blipFill>
          <a:blip r:embed="rId2">
            <a:extLst>
              <a:ext uri="{28A0092B-C50C-407E-A947-70E740481C1C}">
                <a14:useLocalDpi xmlns:a14="http://schemas.microsoft.com/office/drawing/2010/main" val="0"/>
              </a:ext>
            </a:extLst>
          </a:blip>
          <a:srcRect l="9721" t="42891" r="10150" b="37927"/>
          <a:stretch>
            <a:fillRect/>
          </a:stretch>
        </p:blipFill>
        <p:spPr>
          <a:xfrm>
            <a:off x="381000" y="1700213"/>
            <a:ext cx="11531600" cy="2736850"/>
          </a:xfrm>
        </p:spPr>
      </p:pic>
    </p:spTree>
    <p:extLst>
      <p:ext uri="{BB962C8B-B14F-4D97-AF65-F5344CB8AC3E}">
        <p14:creationId xmlns:p14="http://schemas.microsoft.com/office/powerpoint/2010/main" val="9593877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Title 1"/>
          <p:cNvSpPr>
            <a:spLocks noGrp="1" noChangeArrowheads="1"/>
          </p:cNvSpPr>
          <p:nvPr>
            <p:ph type="title"/>
          </p:nvPr>
        </p:nvSpPr>
        <p:spPr/>
        <p:txBody>
          <a:bodyPr/>
          <a:lstStyle/>
          <a:p>
            <a:endParaRPr lang="en-US" altLang="en-US"/>
          </a:p>
        </p:txBody>
      </p:sp>
      <p:sp>
        <p:nvSpPr>
          <p:cNvPr id="75779" name="Content Placeholder 2"/>
          <p:cNvSpPr>
            <a:spLocks noGrp="1" noChangeArrowheads="1"/>
          </p:cNvSpPr>
          <p:nvPr>
            <p:ph idx="1"/>
          </p:nvPr>
        </p:nvSpPr>
        <p:spPr/>
        <p:txBody>
          <a:bodyPr/>
          <a:lstStyle/>
          <a:p>
            <a:pPr marL="457200" lvl="1" indent="0" eaLnBrk="1" latinLnBrk="1" hangingPunct="1">
              <a:spcBef>
                <a:spcPct val="0"/>
              </a:spcBef>
              <a:buFontTx/>
              <a:buNone/>
            </a:pPr>
            <a:r>
              <a:rPr lang="en-US" altLang="ko-KR">
                <a:latin typeface="Times New Roman" pitchFamily="18" charset="0"/>
              </a:rPr>
              <a:t>Example: Access Rights byte FEH = 1111 1110</a:t>
            </a:r>
          </a:p>
          <a:p>
            <a:pPr marL="1162050" lvl="2" eaLnBrk="1" latinLnBrk="1" hangingPunct="1">
              <a:spcBef>
                <a:spcPct val="0"/>
              </a:spcBef>
              <a:buFontTx/>
              <a:buNone/>
            </a:pPr>
            <a:r>
              <a:rPr lang="en-US" altLang="ko-KR">
                <a:latin typeface="Times New Roman" pitchFamily="18" charset="0"/>
              </a:rPr>
              <a:t>P = 1  	Segment is mapped into physical memory</a:t>
            </a:r>
          </a:p>
          <a:p>
            <a:pPr marL="1162050" lvl="2" eaLnBrk="1" latinLnBrk="1" hangingPunct="1">
              <a:spcBef>
                <a:spcPct val="0"/>
              </a:spcBef>
              <a:buFontTx/>
              <a:buNone/>
            </a:pPr>
            <a:r>
              <a:rPr lang="en-US" altLang="ko-KR">
                <a:latin typeface="Times New Roman" pitchFamily="18" charset="0"/>
              </a:rPr>
              <a:t>DPL=11	Privilege level 3</a:t>
            </a:r>
          </a:p>
          <a:p>
            <a:pPr marL="1162050" lvl="2" eaLnBrk="1" latinLnBrk="1" hangingPunct="1">
              <a:spcBef>
                <a:spcPct val="0"/>
              </a:spcBef>
              <a:buFontTx/>
              <a:buNone/>
            </a:pPr>
            <a:r>
              <a:rPr lang="en-US" altLang="ko-KR">
                <a:latin typeface="Times New Roman" pitchFamily="18" charset="0"/>
              </a:rPr>
              <a:t>E = 1 	executable code segment</a:t>
            </a:r>
          </a:p>
          <a:p>
            <a:pPr marL="1162050" lvl="2" eaLnBrk="1" latinLnBrk="1" hangingPunct="1">
              <a:spcBef>
                <a:spcPct val="0"/>
              </a:spcBef>
              <a:buFontTx/>
              <a:buNone/>
            </a:pPr>
            <a:r>
              <a:rPr lang="en-US" altLang="ko-KR">
                <a:latin typeface="Times New Roman" pitchFamily="18" charset="0"/>
              </a:rPr>
              <a:t>C = 1   	confirming code segment</a:t>
            </a:r>
          </a:p>
          <a:p>
            <a:pPr marL="1162050" lvl="2" eaLnBrk="1" latinLnBrk="1" hangingPunct="1">
              <a:spcBef>
                <a:spcPct val="0"/>
              </a:spcBef>
              <a:buFontTx/>
              <a:buNone/>
            </a:pPr>
            <a:r>
              <a:rPr lang="en-US" altLang="ko-KR">
                <a:latin typeface="Times New Roman" pitchFamily="18" charset="0"/>
              </a:rPr>
              <a:t>R = 1	readable code segment</a:t>
            </a:r>
          </a:p>
          <a:p>
            <a:pPr marL="1162050" lvl="2" eaLnBrk="1" latinLnBrk="1" hangingPunct="1">
              <a:spcBef>
                <a:spcPct val="0"/>
              </a:spcBef>
              <a:buFontTx/>
              <a:buNone/>
            </a:pPr>
            <a:r>
              <a:rPr lang="en-US" altLang="ko-KR">
                <a:latin typeface="Times New Roman" pitchFamily="18" charset="0"/>
              </a:rPr>
              <a:t>A = 0	segment has not been accessed</a:t>
            </a:r>
          </a:p>
          <a:p>
            <a:endParaRPr lang="en-US" altLang="en-US"/>
          </a:p>
        </p:txBody>
      </p:sp>
    </p:spTree>
    <p:extLst>
      <p:ext uri="{BB962C8B-B14F-4D97-AF65-F5344CB8AC3E}">
        <p14:creationId xmlns:p14="http://schemas.microsoft.com/office/powerpoint/2010/main" val="1645044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583341" y="136122"/>
            <a:ext cx="10515600" cy="891535"/>
          </a:xfrm>
        </p:spPr>
        <p:txBody>
          <a:bodyPr>
            <a:normAutofit/>
          </a:bodyPr>
          <a:lstStyle/>
          <a:p>
            <a:pPr eaLnBrk="1" hangingPunct="1"/>
            <a:r>
              <a:rPr lang="en-US" altLang="en-US" sz="3600" dirty="0">
                <a:latin typeface="Times New Roman" panose="02020603050405020304" pitchFamily="18" charset="0"/>
                <a:cs typeface="Times New Roman" panose="02020603050405020304" pitchFamily="18" charset="0"/>
              </a:rPr>
              <a:t>Logical to Physical Address Translation</a:t>
            </a:r>
          </a:p>
        </p:txBody>
      </p:sp>
      <p:sp>
        <p:nvSpPr>
          <p:cNvPr id="45060" name="Text Box 5"/>
          <p:cNvSpPr txBox="1">
            <a:spLocks noChangeArrowheads="1"/>
          </p:cNvSpPr>
          <p:nvPr/>
        </p:nvSpPr>
        <p:spPr bwMode="auto">
          <a:xfrm>
            <a:off x="205266" y="1396989"/>
            <a:ext cx="3332299" cy="1015663"/>
          </a:xfrm>
          <a:prstGeom prst="rect">
            <a:avLst/>
          </a:prstGeom>
          <a:solidFill>
            <a:schemeClr val="bg1"/>
          </a:solidFill>
          <a:ln w="19050">
            <a:solidFill>
              <a:srgbClr val="FF0000"/>
            </a:solidFill>
            <a:miter lim="800000"/>
            <a:headEnd/>
            <a:tailEnd/>
          </a:ln>
        </p:spPr>
        <p:txBody>
          <a:bodyPr wrap="square">
            <a:spAutoFit/>
          </a:bodyPr>
          <a:lstStyle>
            <a:lvl1pPr>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42950" indent="-2857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3000" indent="-228600">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600200" indent="-228600">
              <a:spcBef>
                <a:spcPct val="4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4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50000"/>
              </a:spcBef>
              <a:buFontTx/>
              <a:buNone/>
            </a:pPr>
            <a:r>
              <a:rPr lang="en-US" altLang="en-US" sz="2000" dirty="0"/>
              <a:t>Upper 13 bits of segment selector are used to index the descriptor table</a:t>
            </a:r>
          </a:p>
        </p:txBody>
      </p:sp>
      <p:sp>
        <p:nvSpPr>
          <p:cNvPr id="45061" name="Text Box 6"/>
          <p:cNvSpPr txBox="1">
            <a:spLocks noChangeArrowheads="1"/>
          </p:cNvSpPr>
          <p:nvPr/>
        </p:nvSpPr>
        <p:spPr bwMode="auto">
          <a:xfrm>
            <a:off x="205266" y="2763094"/>
            <a:ext cx="3332299" cy="1600438"/>
          </a:xfrm>
          <a:prstGeom prst="rect">
            <a:avLst/>
          </a:prstGeom>
          <a:solidFill>
            <a:schemeClr val="bg1"/>
          </a:solidFill>
          <a:ln w="19050">
            <a:solidFill>
              <a:srgbClr val="FF0000"/>
            </a:solidFill>
            <a:miter lim="800000"/>
            <a:headEnd/>
            <a:tailEnd/>
          </a:ln>
        </p:spPr>
        <p:txBody>
          <a:bodyPr wrap="square">
            <a:spAutoFit/>
          </a:bodyPr>
          <a:lstStyle>
            <a:lvl1pPr>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42950" indent="-2857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3000" indent="-228600">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600200" indent="-228600">
              <a:spcBef>
                <a:spcPct val="4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4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30000"/>
              </a:spcBef>
              <a:buFontTx/>
              <a:buNone/>
            </a:pPr>
            <a:r>
              <a:rPr lang="en-US" altLang="en-US" sz="2000" dirty="0"/>
              <a:t>TI = Table Indicator</a:t>
            </a:r>
          </a:p>
          <a:p>
            <a:pPr algn="ctr" eaLnBrk="1" hangingPunct="1">
              <a:spcBef>
                <a:spcPct val="30000"/>
              </a:spcBef>
              <a:buFontTx/>
              <a:buNone/>
            </a:pPr>
            <a:r>
              <a:rPr lang="en-US" altLang="en-US" sz="2000" dirty="0"/>
              <a:t>Select the descriptor table</a:t>
            </a:r>
          </a:p>
          <a:p>
            <a:pPr algn="ctr" eaLnBrk="1" hangingPunct="1">
              <a:spcBef>
                <a:spcPct val="30000"/>
              </a:spcBef>
              <a:buFontTx/>
              <a:buNone/>
            </a:pPr>
            <a:r>
              <a:rPr lang="en-US" altLang="en-US" sz="2000" dirty="0"/>
              <a:t>0 = Global Descriptor Table</a:t>
            </a:r>
          </a:p>
          <a:p>
            <a:pPr algn="ctr" eaLnBrk="1" hangingPunct="1">
              <a:spcBef>
                <a:spcPct val="30000"/>
              </a:spcBef>
              <a:buFontTx/>
              <a:buNone/>
            </a:pPr>
            <a:r>
              <a:rPr lang="en-US" altLang="en-US" sz="2000" dirty="0"/>
              <a:t>1 = Local Descriptor Table</a:t>
            </a:r>
          </a:p>
        </p:txBody>
      </p:sp>
      <p:sp>
        <p:nvSpPr>
          <p:cNvPr id="2" name="Slide Number Placeholder 1"/>
          <p:cNvSpPr>
            <a:spLocks noGrp="1"/>
          </p:cNvSpPr>
          <p:nvPr>
            <p:ph type="sldNum" sz="quarter" idx="12"/>
          </p:nvPr>
        </p:nvSpPr>
        <p:spPr/>
        <p:txBody>
          <a:bodyPr/>
          <a:lstStyle/>
          <a:p>
            <a:fld id="{A7682071-4525-4FC3-B8D5-3D4B0C49583A}" type="slidenum">
              <a:rPr lang="en-GB" smtClean="0"/>
              <a:t>47</a:t>
            </a:fld>
            <a:endParaRPr lang="en-GB"/>
          </a:p>
        </p:txBody>
      </p:sp>
      <p:sp>
        <p:nvSpPr>
          <p:cNvPr id="4" name="Rectangle 3"/>
          <p:cNvSpPr/>
          <p:nvPr/>
        </p:nvSpPr>
        <p:spPr>
          <a:xfrm>
            <a:off x="6552817" y="950412"/>
            <a:ext cx="2512419" cy="400110"/>
          </a:xfrm>
          <a:prstGeom prst="rect">
            <a:avLst/>
          </a:prstGeom>
          <a:ln>
            <a:solidFill>
              <a:srgbClr val="FF0000"/>
            </a:solidFill>
          </a:ln>
        </p:spPr>
        <p:txBody>
          <a:bodyPr wrap="none">
            <a:spAutoFit/>
          </a:bodyPr>
          <a:lstStyle/>
          <a:p>
            <a:r>
              <a:rPr lang="en-US" sz="2000" dirty="0">
                <a:latin typeface="Arial" panose="020B0604020202020204" pitchFamily="34" charset="0"/>
                <a:cs typeface="Arial" panose="020B0604020202020204" pitchFamily="34" charset="0"/>
              </a:rPr>
              <a:t>Offset 16 bit (80286)</a:t>
            </a:r>
          </a:p>
        </p:txBody>
      </p:sp>
      <p:pic>
        <p:nvPicPr>
          <p:cNvPr id="6" name="Content Placeholder 5"/>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644022" y="1398766"/>
            <a:ext cx="7168634" cy="5080862"/>
          </a:xfrm>
        </p:spPr>
      </p:pic>
      <p:sp>
        <p:nvSpPr>
          <p:cNvPr id="12" name="Text Box 9"/>
          <p:cNvSpPr txBox="1">
            <a:spLocks noChangeArrowheads="1"/>
          </p:cNvSpPr>
          <p:nvPr/>
        </p:nvSpPr>
        <p:spPr bwMode="auto">
          <a:xfrm>
            <a:off x="6056604" y="2734597"/>
            <a:ext cx="1612900" cy="317500"/>
          </a:xfrm>
          <a:prstGeom prst="rect">
            <a:avLst/>
          </a:prstGeom>
          <a:solidFill>
            <a:schemeClr val="bg1"/>
          </a:solidFill>
          <a:ln w="12700">
            <a:solidFill>
              <a:srgbClr val="FF0000"/>
            </a:solidFill>
            <a:miter lim="800000"/>
            <a:headEnd/>
            <a:tailEnd/>
          </a:ln>
        </p:spPr>
        <p:txBody>
          <a:bodyPr>
            <a:spAutoFit/>
          </a:bodyPr>
          <a:lstStyle>
            <a:lvl1pPr>
              <a:spcBef>
                <a:spcPct val="40000"/>
              </a:spcBef>
              <a:buFont typeface="Wingdings" panose="05000000000000000000" pitchFamily="2" charset="2"/>
              <a:buChar char="v"/>
              <a:defRPr sz="2400">
                <a:solidFill>
                  <a:schemeClr val="tx1"/>
                </a:solidFill>
                <a:latin typeface="Arial" panose="020B0604020202020204" pitchFamily="34" charset="0"/>
                <a:cs typeface="Arial" panose="020B0604020202020204" pitchFamily="34" charset="0"/>
              </a:defRPr>
            </a:lvl1pPr>
            <a:lvl2pPr marL="742950" indent="-285750">
              <a:spcBef>
                <a:spcPct val="40000"/>
              </a:spcBef>
              <a:buFont typeface="Wingdings" panose="05000000000000000000" pitchFamily="2" charset="2"/>
              <a:buChar char="²"/>
              <a:defRPr sz="2000">
                <a:solidFill>
                  <a:schemeClr val="tx1"/>
                </a:solidFill>
                <a:latin typeface="Arial" panose="020B0604020202020204" pitchFamily="34" charset="0"/>
                <a:cs typeface="Arial" panose="020B0604020202020204" pitchFamily="34" charset="0"/>
              </a:defRPr>
            </a:lvl2pPr>
            <a:lvl3pPr marL="1143000" indent="-228600">
              <a:spcBef>
                <a:spcPct val="40000"/>
              </a:spcBef>
              <a:buFont typeface="Wingdings" panose="05000000000000000000" pitchFamily="2" charset="2"/>
              <a:buChar char="§"/>
              <a:defRPr>
                <a:solidFill>
                  <a:schemeClr val="tx1"/>
                </a:solidFill>
                <a:latin typeface="Arial" panose="020B0604020202020204" pitchFamily="34" charset="0"/>
                <a:cs typeface="Arial" panose="020B0604020202020204" pitchFamily="34" charset="0"/>
              </a:defRPr>
            </a:lvl3pPr>
            <a:lvl4pPr marL="1600200" indent="-228600">
              <a:spcBef>
                <a:spcPct val="40000"/>
              </a:spcBef>
              <a:buChar char="–"/>
              <a:defRPr sz="1600">
                <a:solidFill>
                  <a:schemeClr val="tx1"/>
                </a:solidFill>
                <a:latin typeface="Arial" panose="020B0604020202020204" pitchFamily="34" charset="0"/>
                <a:cs typeface="Arial" panose="020B0604020202020204" pitchFamily="34" charset="0"/>
              </a:defRPr>
            </a:lvl4pPr>
            <a:lvl5pPr marL="2057400" indent="-228600">
              <a:spcBef>
                <a:spcPct val="40000"/>
              </a:spcBef>
              <a:buChar char="»"/>
              <a:defRPr sz="16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40000"/>
              </a:spcBef>
              <a:spcAft>
                <a:spcPct val="0"/>
              </a:spcAft>
              <a:buChar char="»"/>
              <a:defRPr sz="1600">
                <a:solidFill>
                  <a:schemeClr val="tx1"/>
                </a:solidFill>
                <a:latin typeface="Arial" panose="020B0604020202020204" pitchFamily="34" charset="0"/>
                <a:cs typeface="Arial" panose="020B0604020202020204" pitchFamily="34" charset="0"/>
              </a:defRPr>
            </a:lvl9pPr>
          </a:lstStyle>
          <a:p>
            <a:pPr algn="ctr" eaLnBrk="1" hangingPunct="1">
              <a:spcBef>
                <a:spcPct val="30000"/>
              </a:spcBef>
              <a:buFontTx/>
              <a:buNone/>
            </a:pPr>
            <a:r>
              <a:rPr lang="en-US" altLang="en-US" sz="1400" dirty="0"/>
              <a:t>GDT, LDT</a:t>
            </a:r>
          </a:p>
        </p:txBody>
      </p:sp>
    </p:spTree>
    <p:extLst>
      <p:ext uri="{BB962C8B-B14F-4D97-AF65-F5344CB8AC3E}">
        <p14:creationId xmlns:p14="http://schemas.microsoft.com/office/powerpoint/2010/main" val="21293974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72E51A0-C0BA-08A4-402B-3FE045913BE1}"/>
              </a:ext>
            </a:extLst>
          </p:cNvPr>
          <p:cNvSpPr>
            <a:spLocks noGrp="1"/>
          </p:cNvSpPr>
          <p:nvPr>
            <p:ph type="sldNum" sz="quarter" idx="12"/>
          </p:nvPr>
        </p:nvSpPr>
        <p:spPr/>
        <p:txBody>
          <a:bodyPr/>
          <a:lstStyle/>
          <a:p>
            <a:fld id="{A7682071-4525-4FC3-B8D5-3D4B0C49583A}" type="slidenum">
              <a:rPr lang="en-GB" smtClean="0"/>
              <a:t>48</a:t>
            </a:fld>
            <a:endParaRPr lang="en-GB"/>
          </a:p>
        </p:txBody>
      </p:sp>
      <p:pic>
        <p:nvPicPr>
          <p:cNvPr id="6" name="Picture 5">
            <a:extLst>
              <a:ext uri="{FF2B5EF4-FFF2-40B4-BE49-F238E27FC236}">
                <a16:creationId xmlns:a16="http://schemas.microsoft.com/office/drawing/2014/main" id="{847C4F35-0C29-2AEE-651D-45E3CB6E507F}"/>
              </a:ext>
            </a:extLst>
          </p:cNvPr>
          <p:cNvPicPr>
            <a:picLocks noChangeAspect="1"/>
          </p:cNvPicPr>
          <p:nvPr/>
        </p:nvPicPr>
        <p:blipFill>
          <a:blip r:embed="rId3"/>
          <a:stretch>
            <a:fillRect/>
          </a:stretch>
        </p:blipFill>
        <p:spPr>
          <a:xfrm>
            <a:off x="1904103" y="0"/>
            <a:ext cx="8626907" cy="6670032"/>
          </a:xfrm>
          <a:prstGeom prst="rect">
            <a:avLst/>
          </a:prstGeom>
        </p:spPr>
      </p:pic>
    </p:spTree>
    <p:extLst>
      <p:ext uri="{BB962C8B-B14F-4D97-AF65-F5344CB8AC3E}">
        <p14:creationId xmlns:p14="http://schemas.microsoft.com/office/powerpoint/2010/main" val="11492484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A7682071-4525-4FC3-B8D5-3D4B0C49583A}" type="slidenum">
              <a:rPr lang="en-GB" smtClean="0"/>
              <a:t>49</a:t>
            </a:fld>
            <a:endParaRPr lang="en-GB"/>
          </a:p>
        </p:txBody>
      </p:sp>
      <p:pic>
        <p:nvPicPr>
          <p:cNvPr id="5" name="Picture 4"/>
          <p:cNvPicPr>
            <a:picLocks noChangeAspect="1"/>
          </p:cNvPicPr>
          <p:nvPr/>
        </p:nvPicPr>
        <p:blipFill>
          <a:blip r:embed="rId3"/>
          <a:stretch>
            <a:fillRect/>
          </a:stretch>
        </p:blipFill>
        <p:spPr>
          <a:xfrm>
            <a:off x="1613116" y="0"/>
            <a:ext cx="8259305" cy="6711703"/>
          </a:xfrm>
          <a:prstGeom prst="rect">
            <a:avLst/>
          </a:prstGeom>
        </p:spPr>
      </p:pic>
    </p:spTree>
    <p:extLst>
      <p:ext uri="{BB962C8B-B14F-4D97-AF65-F5344CB8AC3E}">
        <p14:creationId xmlns:p14="http://schemas.microsoft.com/office/powerpoint/2010/main" val="1653519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105" y="239287"/>
            <a:ext cx="11218127" cy="872660"/>
          </a:xfrm>
        </p:spPr>
        <p:txBody>
          <a:bodyPr/>
          <a:lstStyle/>
          <a:p>
            <a:r>
              <a:rPr lang="en-US" dirty="0"/>
              <a:t>Privilege Levels (80286) </a:t>
            </a:r>
          </a:p>
        </p:txBody>
      </p:sp>
      <p:sp>
        <p:nvSpPr>
          <p:cNvPr id="3" name="Content Placeholder 2"/>
          <p:cNvSpPr>
            <a:spLocks noGrp="1"/>
          </p:cNvSpPr>
          <p:nvPr>
            <p:ph idx="1"/>
          </p:nvPr>
        </p:nvSpPr>
        <p:spPr>
          <a:xfrm>
            <a:off x="524106" y="1014761"/>
            <a:ext cx="11218127" cy="5430644"/>
          </a:xfrm>
        </p:spPr>
        <p:txBody>
          <a:bodyPr>
            <a:normAutofit/>
          </a:bodyPr>
          <a:lstStyle/>
          <a:p>
            <a:r>
              <a:rPr lang="en-US" dirty="0"/>
              <a:t>The privilege levels provide </a:t>
            </a:r>
            <a:r>
              <a:rPr lang="en-US" dirty="0">
                <a:solidFill>
                  <a:srgbClr val="0000FF"/>
                </a:solidFill>
              </a:rPr>
              <a:t>protection</a:t>
            </a:r>
            <a:r>
              <a:rPr lang="en-US" dirty="0"/>
              <a:t> within a task. The operating system, interrupt handlers and other system software can be protected from unauthorized accesses in virtual address space of each task using the </a:t>
            </a:r>
            <a:r>
              <a:rPr lang="en-US" dirty="0">
                <a:solidFill>
                  <a:srgbClr val="0000FF"/>
                </a:solidFill>
              </a:rPr>
              <a:t>privilege mechanism</a:t>
            </a:r>
            <a:r>
              <a:rPr lang="en-US" dirty="0"/>
              <a:t>. The privilege mechanism offers or denies access to a segment by using the privilege bits of the corresponding descriptor.</a:t>
            </a:r>
          </a:p>
          <a:p>
            <a:r>
              <a:rPr lang="en-US" dirty="0"/>
              <a:t>The 80286 supports a </a:t>
            </a:r>
            <a:r>
              <a:rPr lang="en-US" dirty="0">
                <a:solidFill>
                  <a:srgbClr val="0000FF"/>
                </a:solidFill>
              </a:rPr>
              <a:t>four level </a:t>
            </a:r>
            <a:r>
              <a:rPr lang="en-US" dirty="0"/>
              <a:t>hierarchical </a:t>
            </a:r>
            <a:r>
              <a:rPr lang="en-US" dirty="0">
                <a:solidFill>
                  <a:srgbClr val="0000FF"/>
                </a:solidFill>
              </a:rPr>
              <a:t>privilege mechanism</a:t>
            </a:r>
            <a:r>
              <a:rPr lang="en-US" dirty="0"/>
              <a:t> to control the access to descriptors and hence to the corresponding segments of the task. The control of the access to descriptors results in the </a:t>
            </a:r>
            <a:r>
              <a:rPr lang="en-US" dirty="0">
                <a:solidFill>
                  <a:srgbClr val="0000FF"/>
                </a:solidFill>
              </a:rPr>
              <a:t>prevention of the unwanted or undue access</a:t>
            </a:r>
            <a:r>
              <a:rPr lang="en-US" dirty="0"/>
              <a:t> to any of the code or data segments or unintentional interference in the higher privilege level tasks.</a:t>
            </a:r>
          </a:p>
          <a:p>
            <a:r>
              <a:rPr lang="en-US" dirty="0"/>
              <a:t>Level 0 is the most privilege level (00) while level 4 is the least (11). </a:t>
            </a:r>
          </a:p>
        </p:txBody>
      </p:sp>
      <p:sp>
        <p:nvSpPr>
          <p:cNvPr id="4" name="Slide Number Placeholder 3"/>
          <p:cNvSpPr>
            <a:spLocks noGrp="1"/>
          </p:cNvSpPr>
          <p:nvPr>
            <p:ph type="sldNum" sz="quarter" idx="12"/>
          </p:nvPr>
        </p:nvSpPr>
        <p:spPr/>
        <p:txBody>
          <a:bodyPr/>
          <a:lstStyle/>
          <a:p>
            <a:fld id="{A7682071-4525-4FC3-B8D5-3D4B0C49583A}" type="slidenum">
              <a:rPr lang="en-GB" smtClean="0"/>
              <a:t>50</a:t>
            </a:fld>
            <a:endParaRPr lang="en-GB"/>
          </a:p>
        </p:txBody>
      </p:sp>
    </p:spTree>
    <p:extLst>
      <p:ext uri="{BB962C8B-B14F-4D97-AF65-F5344CB8AC3E}">
        <p14:creationId xmlns:p14="http://schemas.microsoft.com/office/powerpoint/2010/main" val="402691442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1663701" y="26988"/>
            <a:ext cx="8799513" cy="608012"/>
          </a:xfrm>
        </p:spPr>
        <p:txBody>
          <a:bodyPr/>
          <a:lstStyle/>
          <a:p>
            <a:r>
              <a:rPr lang="en-US" altLang="en-US" sz="3600" dirty="0"/>
              <a:t>Privilege Levels (80286) </a:t>
            </a:r>
          </a:p>
        </p:txBody>
      </p:sp>
      <p:grpSp>
        <p:nvGrpSpPr>
          <p:cNvPr id="111629" name="Group 13"/>
          <p:cNvGrpSpPr>
            <a:grpSpLocks/>
          </p:cNvGrpSpPr>
          <p:nvPr/>
        </p:nvGrpSpPr>
        <p:grpSpPr bwMode="auto">
          <a:xfrm>
            <a:off x="346841" y="666751"/>
            <a:ext cx="6234935" cy="5764213"/>
            <a:chOff x="697" y="433"/>
            <a:chExt cx="2918" cy="3631"/>
          </a:xfrm>
        </p:grpSpPr>
        <p:pic>
          <p:nvPicPr>
            <p:cNvPr id="11162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7" y="433"/>
              <a:ext cx="2918" cy="3631"/>
            </a:xfrm>
            <a:prstGeom prst="rect">
              <a:avLst/>
            </a:prstGeom>
            <a:noFill/>
            <a:extLst>
              <a:ext uri="{909E8E84-426E-40DD-AFC4-6F175D3DCCD1}">
                <a14:hiddenFill xmlns:a14="http://schemas.microsoft.com/office/drawing/2010/main">
                  <a:solidFill>
                    <a:srgbClr val="FFFFFF"/>
                  </a:solidFill>
                </a14:hiddenFill>
              </a:ext>
            </a:extLst>
          </p:spPr>
        </p:pic>
        <p:sp>
          <p:nvSpPr>
            <p:cNvPr id="111624" name="Text Box 8"/>
            <p:cNvSpPr txBox="1">
              <a:spLocks noChangeArrowheads="1"/>
            </p:cNvSpPr>
            <p:nvPr/>
          </p:nvSpPr>
          <p:spPr bwMode="auto">
            <a:xfrm>
              <a:off x="1902" y="1438"/>
              <a:ext cx="562"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chemeClr val="accent2"/>
                  </a:solidFill>
                </a:rPr>
                <a:t>Highest</a:t>
              </a:r>
            </a:p>
          </p:txBody>
        </p:sp>
        <p:sp>
          <p:nvSpPr>
            <p:cNvPr id="111625" name="Text Box 9"/>
            <p:cNvSpPr txBox="1">
              <a:spLocks noChangeArrowheads="1"/>
            </p:cNvSpPr>
            <p:nvPr/>
          </p:nvSpPr>
          <p:spPr bwMode="auto">
            <a:xfrm>
              <a:off x="1620" y="2584"/>
              <a:ext cx="53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solidFill>
                    <a:srgbClr val="FF3399"/>
                  </a:solidFill>
                </a:rPr>
                <a:t>Lowest</a:t>
              </a:r>
            </a:p>
          </p:txBody>
        </p:sp>
      </p:grpSp>
      <p:sp>
        <p:nvSpPr>
          <p:cNvPr id="111636" name="Text Box 20"/>
          <p:cNvSpPr txBox="1">
            <a:spLocks noChangeArrowheads="1"/>
          </p:cNvSpPr>
          <p:nvPr/>
        </p:nvSpPr>
        <p:spPr bwMode="auto">
          <a:xfrm>
            <a:off x="6581776" y="739775"/>
            <a:ext cx="4772024"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800" dirty="0">
                <a:solidFill>
                  <a:srgbClr val="FF0000"/>
                </a:solidFill>
              </a:rPr>
              <a:t>00 - kernel level (highest privilege level)</a:t>
            </a:r>
          </a:p>
          <a:p>
            <a:r>
              <a:rPr lang="en-US" altLang="en-US" sz="2800" dirty="0">
                <a:solidFill>
                  <a:srgbClr val="FF0000"/>
                </a:solidFill>
              </a:rPr>
              <a:t>01 - OS services</a:t>
            </a:r>
          </a:p>
          <a:p>
            <a:r>
              <a:rPr lang="en-US" altLang="en-US" sz="2800" dirty="0">
                <a:solidFill>
                  <a:srgbClr val="FF0000"/>
                </a:solidFill>
              </a:rPr>
              <a:t>10 - OS service (extensions)</a:t>
            </a:r>
          </a:p>
          <a:p>
            <a:r>
              <a:rPr lang="en-US" altLang="en-US" sz="2800" dirty="0">
                <a:solidFill>
                  <a:srgbClr val="FF0000"/>
                </a:solidFill>
              </a:rPr>
              <a:t>11 - Applications (lowest privilege level)</a:t>
            </a:r>
          </a:p>
        </p:txBody>
      </p:sp>
      <p:sp>
        <p:nvSpPr>
          <p:cNvPr id="2" name="Slide Number Placeholder 1"/>
          <p:cNvSpPr>
            <a:spLocks noGrp="1"/>
          </p:cNvSpPr>
          <p:nvPr>
            <p:ph type="sldNum" sz="quarter" idx="12"/>
          </p:nvPr>
        </p:nvSpPr>
        <p:spPr/>
        <p:txBody>
          <a:bodyPr/>
          <a:lstStyle/>
          <a:p>
            <a:fld id="{A7682071-4525-4FC3-B8D5-3D4B0C49583A}" type="slidenum">
              <a:rPr lang="en-GB" smtClean="0"/>
              <a:t>51</a:t>
            </a:fld>
            <a:endParaRPr lang="en-GB"/>
          </a:p>
        </p:txBody>
      </p:sp>
    </p:spTree>
    <p:extLst>
      <p:ext uri="{BB962C8B-B14F-4D97-AF65-F5344CB8AC3E}">
        <p14:creationId xmlns:p14="http://schemas.microsoft.com/office/powerpoint/2010/main" val="67311081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title"/>
          </p:nvPr>
        </p:nvSpPr>
        <p:spPr>
          <a:xfrm>
            <a:off x="843894" y="108254"/>
            <a:ext cx="8799513" cy="608012"/>
          </a:xfrm>
        </p:spPr>
        <p:txBody>
          <a:bodyPr/>
          <a:lstStyle/>
          <a:p>
            <a:r>
              <a:rPr lang="en-US" altLang="en-US" sz="3600" dirty="0"/>
              <a:t>Privilege Levels (80286) summery </a:t>
            </a:r>
          </a:p>
        </p:txBody>
      </p:sp>
      <p:sp>
        <p:nvSpPr>
          <p:cNvPr id="2" name="Slide Number Placeholder 1"/>
          <p:cNvSpPr>
            <a:spLocks noGrp="1"/>
          </p:cNvSpPr>
          <p:nvPr>
            <p:ph type="sldNum" sz="quarter" idx="12"/>
          </p:nvPr>
        </p:nvSpPr>
        <p:spPr/>
        <p:txBody>
          <a:bodyPr/>
          <a:lstStyle/>
          <a:p>
            <a:fld id="{A7682071-4525-4FC3-B8D5-3D4B0C49583A}" type="slidenum">
              <a:rPr lang="en-GB" smtClean="0"/>
              <a:t>52</a:t>
            </a:fld>
            <a:endParaRPr lang="en-GB"/>
          </a:p>
        </p:txBody>
      </p:sp>
      <p:sp>
        <p:nvSpPr>
          <p:cNvPr id="4" name="Rectangle 3"/>
          <p:cNvSpPr/>
          <p:nvPr/>
        </p:nvSpPr>
        <p:spPr>
          <a:xfrm>
            <a:off x="583323" y="1000046"/>
            <a:ext cx="11209283" cy="4832092"/>
          </a:xfrm>
          <a:prstGeom prst="rect">
            <a:avLst/>
          </a:prstGeom>
        </p:spPr>
        <p:txBody>
          <a:bodyPr wrap="square">
            <a:spAutoFit/>
          </a:bodyPr>
          <a:lstStyle/>
          <a:p>
            <a:pPr marL="457200" indent="-457200">
              <a:buFont typeface="Arial" panose="020B0604020202020204" pitchFamily="34" charset="0"/>
              <a:buChar char="•"/>
            </a:pPr>
            <a:r>
              <a:rPr lang="en-US" sz="2800" dirty="0">
                <a:cs typeface="Times New Roman" panose="02020603050405020304" pitchFamily="18" charset="0"/>
              </a:rPr>
              <a:t>Each task assigned a privilege level, which indicates the priority or privilege of that task.</a:t>
            </a:r>
          </a:p>
          <a:p>
            <a:pPr marL="457200" indent="-457200">
              <a:buFont typeface="Arial" panose="020B0604020202020204" pitchFamily="34" charset="0"/>
              <a:buChar char="•"/>
            </a:pPr>
            <a:endParaRPr lang="en-US" sz="2800" dirty="0">
              <a:cs typeface="Times New Roman" panose="02020603050405020304" pitchFamily="18" charset="0"/>
            </a:endParaRPr>
          </a:p>
          <a:p>
            <a:pPr marL="457200" indent="-457200">
              <a:buFont typeface="Arial" panose="020B0604020202020204" pitchFamily="34" charset="0"/>
              <a:buChar char="•"/>
            </a:pPr>
            <a:r>
              <a:rPr lang="en-US" sz="2800" dirty="0">
                <a:cs typeface="Times New Roman" panose="02020603050405020304" pitchFamily="18" charset="0"/>
              </a:rPr>
              <a:t>A task executing at level 0, the most privileged level, can access all the data segment defined in GDT and LDT of the task.</a:t>
            </a:r>
          </a:p>
          <a:p>
            <a:pPr marL="457200" indent="-457200">
              <a:buFont typeface="Arial" panose="020B0604020202020204" pitchFamily="34" charset="0"/>
              <a:buChar char="•"/>
            </a:pPr>
            <a:endParaRPr lang="en-US" sz="2800" dirty="0">
              <a:cs typeface="Times New Roman" panose="02020603050405020304" pitchFamily="18" charset="0"/>
            </a:endParaRPr>
          </a:p>
          <a:p>
            <a:pPr marL="457200" indent="-457200">
              <a:buFont typeface="Arial" panose="020B0604020202020204" pitchFamily="34" charset="0"/>
              <a:buChar char="•"/>
            </a:pPr>
            <a:r>
              <a:rPr lang="en-US" sz="2800" dirty="0">
                <a:cs typeface="Times New Roman" panose="02020603050405020304" pitchFamily="18" charset="0"/>
              </a:rPr>
              <a:t>A task executing at level 3, the least privileged level, will have the most limited access to data and other descriptors.</a:t>
            </a:r>
          </a:p>
          <a:p>
            <a:pPr marL="457200" indent="-457200">
              <a:buFont typeface="Arial" panose="020B0604020202020204" pitchFamily="34" charset="0"/>
              <a:buChar char="•"/>
            </a:pPr>
            <a:endParaRPr lang="en-US" sz="2800" dirty="0">
              <a:cs typeface="Times New Roman" panose="02020603050405020304" pitchFamily="18" charset="0"/>
            </a:endParaRPr>
          </a:p>
          <a:p>
            <a:pPr marL="457200" indent="-457200">
              <a:buFont typeface="Arial" panose="020B0604020202020204" pitchFamily="34" charset="0"/>
              <a:buChar char="•"/>
            </a:pPr>
            <a:r>
              <a:rPr lang="en-US" sz="2800" dirty="0">
                <a:cs typeface="Times New Roman" panose="02020603050405020304" pitchFamily="18" charset="0"/>
              </a:rPr>
              <a:t>In most environments, the operating system and some device drivers run in level 0 and applications run in level 3.</a:t>
            </a:r>
          </a:p>
        </p:txBody>
      </p:sp>
    </p:spTree>
    <p:extLst>
      <p:ext uri="{BB962C8B-B14F-4D97-AF65-F5344CB8AC3E}">
        <p14:creationId xmlns:p14="http://schemas.microsoft.com/office/powerpoint/2010/main" val="22929740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7682071-4525-4FC3-B8D5-3D4B0C49583A}" type="slidenum">
              <a:rPr lang="en-GB" smtClean="0"/>
              <a:t>53</a:t>
            </a:fld>
            <a:endParaRPr lang="en-GB"/>
          </a:p>
        </p:txBody>
      </p:sp>
      <p:sp>
        <p:nvSpPr>
          <p:cNvPr id="5" name="Title 1"/>
          <p:cNvSpPr txBox="1">
            <a:spLocks/>
          </p:cNvSpPr>
          <p:nvPr/>
        </p:nvSpPr>
        <p:spPr>
          <a:xfrm>
            <a:off x="240315" y="204775"/>
            <a:ext cx="11654724" cy="209699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br>
              <a:rPr lang="en-US" dirty="0"/>
            </a:br>
            <a:endParaRPr lang="en-US" dirty="0"/>
          </a:p>
        </p:txBody>
      </p:sp>
      <p:sp>
        <p:nvSpPr>
          <p:cNvPr id="6" name="Title 1"/>
          <p:cNvSpPr txBox="1">
            <a:spLocks/>
          </p:cNvSpPr>
          <p:nvPr/>
        </p:nvSpPr>
        <p:spPr>
          <a:xfrm>
            <a:off x="483205" y="118415"/>
            <a:ext cx="11654723" cy="983523"/>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b="1" dirty="0">
                <a:latin typeface="Times New Roman" panose="02020603050405020304" pitchFamily="18" charset="0"/>
                <a:cs typeface="Times New Roman" panose="02020603050405020304" pitchFamily="18" charset="0"/>
              </a:rPr>
              <a:t>80286 Microprocessor virtual memory size calculation</a:t>
            </a:r>
          </a:p>
        </p:txBody>
      </p:sp>
      <p:sp>
        <p:nvSpPr>
          <p:cNvPr id="2" name="TextBox 1">
            <a:extLst>
              <a:ext uri="{FF2B5EF4-FFF2-40B4-BE49-F238E27FC236}">
                <a16:creationId xmlns:a16="http://schemas.microsoft.com/office/drawing/2014/main" id="{F6F42B95-D630-4902-B564-1B710A37F205}"/>
              </a:ext>
            </a:extLst>
          </p:cNvPr>
          <p:cNvSpPr txBox="1"/>
          <p:nvPr/>
        </p:nvSpPr>
        <p:spPr>
          <a:xfrm>
            <a:off x="721895" y="1347537"/>
            <a:ext cx="10924673" cy="5170646"/>
          </a:xfrm>
          <a:prstGeom prst="rect">
            <a:avLst/>
          </a:prstGeom>
          <a:noFill/>
        </p:spPr>
        <p:txBody>
          <a:bodyPr wrap="square" rtlCol="0">
            <a:spAutoFit/>
          </a:bodyPr>
          <a:lstStyle/>
          <a:p>
            <a:r>
              <a:rPr lang="en-US" sz="3200" dirty="0"/>
              <a:t>The LDT has = 2^13 = 8192 number of rows</a:t>
            </a:r>
          </a:p>
          <a:p>
            <a:r>
              <a:rPr lang="en-US" sz="3200" dirty="0"/>
              <a:t>The GDT has = 2^13 = 8192 number of rows</a:t>
            </a:r>
          </a:p>
          <a:p>
            <a:endParaRPr lang="en-US" sz="3200" dirty="0"/>
          </a:p>
          <a:p>
            <a:r>
              <a:rPr lang="en-US" sz="3200" dirty="0"/>
              <a:t>Total number of rows = 8192 + 8192 = 16384</a:t>
            </a:r>
          </a:p>
          <a:p>
            <a:endParaRPr lang="en-US" sz="3200" dirty="0"/>
          </a:p>
          <a:p>
            <a:r>
              <a:rPr lang="en-US" sz="3200" dirty="0"/>
              <a:t>Each row of the descriptor table represents a memory segment of = 2^16 = 64 KB size (maximum) [limit </a:t>
            </a:r>
            <a:r>
              <a:rPr lang="en-US" sz="3200"/>
              <a:t>length is 16 </a:t>
            </a:r>
            <a:r>
              <a:rPr lang="en-US" sz="3200" dirty="0"/>
              <a:t>bit ]</a:t>
            </a:r>
          </a:p>
          <a:p>
            <a:endParaRPr lang="en-US" sz="3200" dirty="0"/>
          </a:p>
          <a:p>
            <a:r>
              <a:rPr lang="en-US" sz="3200" dirty="0"/>
              <a:t>Therefore, virtual memory size = 16384 * 64KB = 1 GB </a:t>
            </a:r>
          </a:p>
          <a:p>
            <a:endParaRPr lang="en-US" sz="2400" dirty="0"/>
          </a:p>
          <a:p>
            <a:endParaRPr lang="en-US" dirty="0"/>
          </a:p>
        </p:txBody>
      </p:sp>
    </p:spTree>
    <p:extLst>
      <p:ext uri="{BB962C8B-B14F-4D97-AF65-F5344CB8AC3E}">
        <p14:creationId xmlns:p14="http://schemas.microsoft.com/office/powerpoint/2010/main" val="141481325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2615" y="71149"/>
            <a:ext cx="6995649" cy="6262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
        <p:nvSpPr>
          <p:cNvPr id="8195" name="TextBox 3"/>
          <p:cNvSpPr txBox="1">
            <a:spLocks noChangeArrowheads="1"/>
          </p:cNvSpPr>
          <p:nvPr/>
        </p:nvSpPr>
        <p:spPr bwMode="auto">
          <a:xfrm>
            <a:off x="2618678" y="5544015"/>
            <a:ext cx="1447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rgbClr val="0000FF"/>
                </a:solidFill>
                <a:latin typeface="Calibri" panose="020F0502020204030204" pitchFamily="34" charset="0"/>
              </a:rPr>
              <a:t>Base Address in LDTR Register</a:t>
            </a:r>
          </a:p>
        </p:txBody>
      </p:sp>
      <p:sp>
        <p:nvSpPr>
          <p:cNvPr id="8196" name="TextBox 4"/>
          <p:cNvSpPr txBox="1">
            <a:spLocks noChangeArrowheads="1"/>
          </p:cNvSpPr>
          <p:nvPr/>
        </p:nvSpPr>
        <p:spPr bwMode="auto">
          <a:xfrm>
            <a:off x="9232457" y="5544016"/>
            <a:ext cx="1447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dirty="0">
                <a:solidFill>
                  <a:srgbClr val="0000FF"/>
                </a:solidFill>
                <a:latin typeface="Calibri" panose="020F0502020204030204" pitchFamily="34" charset="0"/>
              </a:rPr>
              <a:t>Base Address in GDTR Register</a:t>
            </a:r>
          </a:p>
        </p:txBody>
      </p:sp>
    </p:spTree>
    <p:extLst>
      <p:ext uri="{BB962C8B-B14F-4D97-AF65-F5344CB8AC3E}">
        <p14:creationId xmlns:p14="http://schemas.microsoft.com/office/powerpoint/2010/main" val="6293856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4C291D5-CED7-17CE-E7C7-085A910BCC9B}"/>
              </a:ext>
            </a:extLst>
          </p:cNvPr>
          <p:cNvSpPr>
            <a:spLocks noGrp="1"/>
          </p:cNvSpPr>
          <p:nvPr>
            <p:ph type="sldNum" sz="quarter" idx="12"/>
          </p:nvPr>
        </p:nvSpPr>
        <p:spPr/>
        <p:txBody>
          <a:bodyPr/>
          <a:lstStyle/>
          <a:p>
            <a:fld id="{A7682071-4525-4FC3-B8D5-3D4B0C49583A}" type="slidenum">
              <a:rPr lang="en-GB" smtClean="0"/>
              <a:t>55</a:t>
            </a:fld>
            <a:endParaRPr lang="en-GB"/>
          </a:p>
        </p:txBody>
      </p:sp>
      <p:pic>
        <p:nvPicPr>
          <p:cNvPr id="4" name="Picture 3">
            <a:extLst>
              <a:ext uri="{FF2B5EF4-FFF2-40B4-BE49-F238E27FC236}">
                <a16:creationId xmlns:a16="http://schemas.microsoft.com/office/drawing/2014/main" id="{371B57FD-734E-DA24-9DD5-7324EB78B20D}"/>
              </a:ext>
            </a:extLst>
          </p:cNvPr>
          <p:cNvPicPr>
            <a:picLocks noChangeAspect="1"/>
          </p:cNvPicPr>
          <p:nvPr/>
        </p:nvPicPr>
        <p:blipFill>
          <a:blip r:embed="rId2"/>
          <a:stretch>
            <a:fillRect/>
          </a:stretch>
        </p:blipFill>
        <p:spPr>
          <a:xfrm>
            <a:off x="2167549" y="216891"/>
            <a:ext cx="7856901" cy="6424217"/>
          </a:xfrm>
          <a:prstGeom prst="rect">
            <a:avLst/>
          </a:prstGeom>
        </p:spPr>
      </p:pic>
    </p:spTree>
    <p:extLst>
      <p:ext uri="{BB962C8B-B14F-4D97-AF65-F5344CB8AC3E}">
        <p14:creationId xmlns:p14="http://schemas.microsoft.com/office/powerpoint/2010/main" val="211364347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59CAF5-2097-BB90-D5F9-3A526A1CD488}"/>
              </a:ext>
            </a:extLst>
          </p:cNvPr>
          <p:cNvSpPr>
            <a:spLocks noGrp="1"/>
          </p:cNvSpPr>
          <p:nvPr>
            <p:ph type="title"/>
          </p:nvPr>
        </p:nvSpPr>
        <p:spPr/>
        <p:txBody>
          <a:bodyPr/>
          <a:lstStyle/>
          <a:p>
            <a:r>
              <a:rPr lang="en-US" dirty="0"/>
              <a:t>Solution</a:t>
            </a:r>
          </a:p>
        </p:txBody>
      </p:sp>
      <p:sp>
        <p:nvSpPr>
          <p:cNvPr id="5" name="Content Placeholder 4">
            <a:extLst>
              <a:ext uri="{FF2B5EF4-FFF2-40B4-BE49-F238E27FC236}">
                <a16:creationId xmlns:a16="http://schemas.microsoft.com/office/drawing/2014/main" id="{FDAB35DA-45FE-6683-CE82-B582E1A17E2F}"/>
              </a:ext>
            </a:extLst>
          </p:cNvPr>
          <p:cNvSpPr>
            <a:spLocks noGrp="1"/>
          </p:cNvSpPr>
          <p:nvPr>
            <p:ph idx="1"/>
          </p:nvPr>
        </p:nvSpPr>
        <p:spPr/>
        <p:txBody>
          <a:bodyPr/>
          <a:lstStyle/>
          <a:p>
            <a:pPr marL="0" indent="0">
              <a:buNone/>
            </a:pPr>
            <a:r>
              <a:rPr lang="en-US" dirty="0" err="1"/>
              <a:t>i</a:t>
            </a:r>
            <a:r>
              <a:rPr lang="en-US" dirty="0"/>
              <a:t>) AC6H = 0AC6H = 0000 1010 1100 0110B </a:t>
            </a:r>
            <a:br>
              <a:rPr lang="en-US" dirty="0"/>
            </a:br>
            <a:r>
              <a:rPr lang="en-US" dirty="0"/>
              <a:t>Privilege level = 10</a:t>
            </a:r>
            <a:br>
              <a:rPr lang="en-US" dirty="0"/>
            </a:br>
            <a:r>
              <a:rPr lang="en-US" dirty="0"/>
              <a:t>Local Descriptor table because 3</a:t>
            </a:r>
            <a:r>
              <a:rPr lang="en-US" baseline="30000" dirty="0"/>
              <a:t>rd</a:t>
            </a:r>
            <a:r>
              <a:rPr lang="en-US" dirty="0"/>
              <a:t> bit is 1</a:t>
            </a:r>
            <a:br>
              <a:rPr lang="en-US" dirty="0"/>
            </a:br>
            <a:r>
              <a:rPr lang="en-US" dirty="0"/>
              <a:t>Table entry = 0000 1010 1100 0 = 158H</a:t>
            </a:r>
            <a:br>
              <a:rPr lang="en-US" dirty="0"/>
            </a:br>
            <a:br>
              <a:rPr lang="en-US" dirty="0"/>
            </a:br>
            <a:r>
              <a:rPr lang="en-US" dirty="0"/>
              <a:t>ii)Starting address = Base  address = C002A00EH</a:t>
            </a:r>
            <a:br>
              <a:rPr lang="en-US" dirty="0"/>
            </a:br>
            <a:r>
              <a:rPr lang="en-US" dirty="0"/>
              <a:t>As G = 1, Ending address = Base address + limit*4K </a:t>
            </a:r>
            <a:br>
              <a:rPr lang="en-US" dirty="0"/>
            </a:br>
            <a:r>
              <a:rPr lang="en-US" dirty="0"/>
              <a:t>                                            = C002A00E + 2A043FFF = EA06E00DH</a:t>
            </a:r>
            <a:br>
              <a:rPr lang="en-US" dirty="0"/>
            </a:br>
            <a:br>
              <a:rPr lang="en-US" dirty="0"/>
            </a:br>
            <a:r>
              <a:rPr lang="en-US" dirty="0"/>
              <a:t>iii) Physical address = Base address + offset</a:t>
            </a:r>
            <a:br>
              <a:rPr lang="en-US" dirty="0"/>
            </a:br>
            <a:r>
              <a:rPr lang="en-US" dirty="0"/>
              <a:t>                                   = C002A00E + C051B = C00EA529H</a:t>
            </a:r>
          </a:p>
        </p:txBody>
      </p:sp>
      <p:sp>
        <p:nvSpPr>
          <p:cNvPr id="2" name="Slide Number Placeholder 1">
            <a:extLst>
              <a:ext uri="{FF2B5EF4-FFF2-40B4-BE49-F238E27FC236}">
                <a16:creationId xmlns:a16="http://schemas.microsoft.com/office/drawing/2014/main" id="{34C291D5-CED7-17CE-E7C7-085A910BCC9B}"/>
              </a:ext>
            </a:extLst>
          </p:cNvPr>
          <p:cNvSpPr>
            <a:spLocks noGrp="1"/>
          </p:cNvSpPr>
          <p:nvPr>
            <p:ph type="sldNum" sz="quarter" idx="12"/>
          </p:nvPr>
        </p:nvSpPr>
        <p:spPr/>
        <p:txBody>
          <a:bodyPr/>
          <a:lstStyle/>
          <a:p>
            <a:fld id="{A7682071-4525-4FC3-B8D5-3D4B0C49583A}" type="slidenum">
              <a:rPr lang="en-GB" smtClean="0"/>
              <a:t>56</a:t>
            </a:fld>
            <a:endParaRPr lang="en-GB"/>
          </a:p>
        </p:txBody>
      </p:sp>
    </p:spTree>
    <p:extLst>
      <p:ext uri="{BB962C8B-B14F-4D97-AF65-F5344CB8AC3E}">
        <p14:creationId xmlns:p14="http://schemas.microsoft.com/office/powerpoint/2010/main" val="19524226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C59CAF5-2097-BB90-D5F9-3A526A1CD488}"/>
              </a:ext>
            </a:extLst>
          </p:cNvPr>
          <p:cNvSpPr>
            <a:spLocks noGrp="1"/>
          </p:cNvSpPr>
          <p:nvPr>
            <p:ph type="title"/>
          </p:nvPr>
        </p:nvSpPr>
        <p:spPr/>
        <p:txBody>
          <a:bodyPr/>
          <a:lstStyle/>
          <a:p>
            <a:r>
              <a:rPr lang="en-US" dirty="0"/>
              <a:t>Solution</a:t>
            </a:r>
          </a:p>
        </p:txBody>
      </p:sp>
      <p:sp>
        <p:nvSpPr>
          <p:cNvPr id="5" name="Content Placeholder 4">
            <a:extLst>
              <a:ext uri="{FF2B5EF4-FFF2-40B4-BE49-F238E27FC236}">
                <a16:creationId xmlns:a16="http://schemas.microsoft.com/office/drawing/2014/main" id="{FDAB35DA-45FE-6683-CE82-B582E1A17E2F}"/>
              </a:ext>
            </a:extLst>
          </p:cNvPr>
          <p:cNvSpPr>
            <a:spLocks noGrp="1"/>
          </p:cNvSpPr>
          <p:nvPr>
            <p:ph idx="1"/>
          </p:nvPr>
        </p:nvSpPr>
        <p:spPr/>
        <p:txBody>
          <a:bodyPr/>
          <a:lstStyle/>
          <a:p>
            <a:pPr marL="0" indent="0">
              <a:buNone/>
            </a:pPr>
            <a:r>
              <a:rPr lang="en-US" dirty="0"/>
              <a:t>iv) Access: B4H = 1011 0100 </a:t>
            </a:r>
            <a:br>
              <a:rPr lang="en-US" dirty="0"/>
            </a:br>
            <a:r>
              <a:rPr lang="en-US" dirty="0"/>
              <a:t>As E = 0, it is either data or stack segment.</a:t>
            </a:r>
            <a:br>
              <a:rPr lang="en-US" dirty="0"/>
            </a:br>
            <a:r>
              <a:rPr lang="en-US" dirty="0"/>
              <a:t>ED = 1, so segment expands downward. That is why, it is stack segment.</a:t>
            </a:r>
            <a:br>
              <a:rPr lang="en-US" dirty="0"/>
            </a:br>
            <a:br>
              <a:rPr lang="en-US" dirty="0"/>
            </a:br>
            <a:r>
              <a:rPr lang="en-US" dirty="0"/>
              <a:t>v) As A = 0, so access not granted.</a:t>
            </a:r>
            <a:br>
              <a:rPr lang="en-US" dirty="0"/>
            </a:br>
            <a:br>
              <a:rPr lang="en-US" dirty="0"/>
            </a:br>
            <a:r>
              <a:rPr lang="en-US" dirty="0"/>
              <a:t>vi) As P = 1, so the segment is defined.</a:t>
            </a:r>
          </a:p>
        </p:txBody>
      </p:sp>
      <p:sp>
        <p:nvSpPr>
          <p:cNvPr id="2" name="Slide Number Placeholder 1">
            <a:extLst>
              <a:ext uri="{FF2B5EF4-FFF2-40B4-BE49-F238E27FC236}">
                <a16:creationId xmlns:a16="http://schemas.microsoft.com/office/drawing/2014/main" id="{34C291D5-CED7-17CE-E7C7-085A910BCC9B}"/>
              </a:ext>
            </a:extLst>
          </p:cNvPr>
          <p:cNvSpPr>
            <a:spLocks noGrp="1"/>
          </p:cNvSpPr>
          <p:nvPr>
            <p:ph type="sldNum" sz="quarter" idx="12"/>
          </p:nvPr>
        </p:nvSpPr>
        <p:spPr/>
        <p:txBody>
          <a:bodyPr/>
          <a:lstStyle/>
          <a:p>
            <a:fld id="{A7682071-4525-4FC3-B8D5-3D4B0C49583A}" type="slidenum">
              <a:rPr lang="en-GB" smtClean="0"/>
              <a:t>57</a:t>
            </a:fld>
            <a:endParaRPr lang="en-GB"/>
          </a:p>
        </p:txBody>
      </p:sp>
    </p:spTree>
    <p:extLst>
      <p:ext uri="{BB962C8B-B14F-4D97-AF65-F5344CB8AC3E}">
        <p14:creationId xmlns:p14="http://schemas.microsoft.com/office/powerpoint/2010/main" val="39453194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7168147-EF65-02FC-D910-0FB55C79C04E}"/>
              </a:ext>
            </a:extLst>
          </p:cNvPr>
          <p:cNvSpPr>
            <a:spLocks noGrp="1"/>
          </p:cNvSpPr>
          <p:nvPr>
            <p:ph type="title"/>
          </p:nvPr>
        </p:nvSpPr>
        <p:spPr>
          <a:xfrm>
            <a:off x="838200" y="2766218"/>
            <a:ext cx="10515600" cy="1325563"/>
          </a:xfrm>
        </p:spPr>
        <p:txBody>
          <a:bodyPr/>
          <a:lstStyle/>
          <a:p>
            <a:pPr algn="ctr"/>
            <a:r>
              <a:rPr lang="en-US" dirty="0"/>
              <a:t>Thank You</a:t>
            </a:r>
          </a:p>
        </p:txBody>
      </p:sp>
      <p:sp>
        <p:nvSpPr>
          <p:cNvPr id="2" name="Slide Number Placeholder 1">
            <a:extLst>
              <a:ext uri="{FF2B5EF4-FFF2-40B4-BE49-F238E27FC236}">
                <a16:creationId xmlns:a16="http://schemas.microsoft.com/office/drawing/2014/main" id="{E0564F26-FC42-E117-F7C4-6E14B577E0D1}"/>
              </a:ext>
            </a:extLst>
          </p:cNvPr>
          <p:cNvSpPr>
            <a:spLocks noGrp="1"/>
          </p:cNvSpPr>
          <p:nvPr>
            <p:ph type="sldNum" sz="quarter" idx="12"/>
          </p:nvPr>
        </p:nvSpPr>
        <p:spPr/>
        <p:txBody>
          <a:bodyPr/>
          <a:lstStyle/>
          <a:p>
            <a:fld id="{A7682071-4525-4FC3-B8D5-3D4B0C49583A}" type="slidenum">
              <a:rPr lang="en-GB" smtClean="0"/>
              <a:t>58</a:t>
            </a:fld>
            <a:endParaRPr lang="en-GB"/>
          </a:p>
        </p:txBody>
      </p:sp>
    </p:spTree>
    <p:extLst>
      <p:ext uri="{BB962C8B-B14F-4D97-AF65-F5344CB8AC3E}">
        <p14:creationId xmlns:p14="http://schemas.microsoft.com/office/powerpoint/2010/main" val="14295227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2418</TotalTime>
  <Words>3422</Words>
  <Application>Microsoft Office PowerPoint</Application>
  <PresentationFormat>Widescreen</PresentationFormat>
  <Paragraphs>280</Paragraphs>
  <Slides>58</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58</vt:i4>
      </vt:variant>
    </vt:vector>
  </HeadingPairs>
  <TitlesOfParts>
    <vt:vector size="68" baseType="lpstr">
      <vt:lpstr>Arial</vt:lpstr>
      <vt:lpstr>B Helvetica Bold</vt:lpstr>
      <vt:lpstr>C Helvetica Condensed</vt:lpstr>
      <vt:lpstr>Calibri</vt:lpstr>
      <vt:lpstr>Calibri Light</vt:lpstr>
      <vt:lpstr>Carlito</vt:lpstr>
      <vt:lpstr>Helvetica</vt:lpstr>
      <vt:lpstr>Times New Roman</vt:lpstr>
      <vt:lpstr>TimesNewRomanPSMT</vt:lpstr>
      <vt:lpstr>Office Theme</vt:lpstr>
      <vt:lpstr>PowerPoint Presentation</vt:lpstr>
      <vt:lpstr>Contents</vt:lpstr>
      <vt:lpstr>A. Limitation of Real mode operation</vt:lpstr>
      <vt:lpstr>PowerPoint Presentation</vt:lpstr>
      <vt:lpstr>B. Importance of Memory Management Unit</vt:lpstr>
      <vt:lpstr>1. Limitation of physical memory</vt:lpstr>
      <vt:lpstr>2. Need for Protection</vt:lpstr>
      <vt:lpstr>C. Virtual memory managed by MMU</vt:lpstr>
      <vt:lpstr>C. Virtual memory managed by MMU</vt:lpstr>
      <vt:lpstr>D. Advantage of Virtual memory</vt:lpstr>
      <vt:lpstr>D. Advantage of Virtual memory</vt:lpstr>
      <vt:lpstr>D. Advantage of Virtual memory</vt:lpstr>
      <vt:lpstr>D. Advantage of Virtual memory</vt:lpstr>
      <vt:lpstr>D. Advantage of Virtual memory</vt:lpstr>
      <vt:lpstr>D. Advantage of Virtual memory</vt:lpstr>
      <vt:lpstr>D. Advantage of Virtual memory</vt:lpstr>
      <vt:lpstr>D. Advantage of Virtual memory</vt:lpstr>
      <vt:lpstr>C. Advantage of Virtual memory</vt:lpstr>
      <vt:lpstr>D. Advantage of Virtual memory</vt:lpstr>
      <vt:lpstr>D. Advantage of Virtual memory</vt:lpstr>
      <vt:lpstr>E. Protected Mode Operation (1)</vt:lpstr>
      <vt:lpstr>E. Protected Mode Operation (2)</vt:lpstr>
      <vt:lpstr>E. Protected Mode Operation (80286)</vt:lpstr>
      <vt:lpstr>Figure: The contents of a segment register during Protected mode operation of the 80286 microprocessors</vt:lpstr>
      <vt:lpstr>Figure 2–8  The contents of a segment register during protected mode operation of the 80286 through Core2 microprocessors. </vt:lpstr>
      <vt:lpstr>Exercise questions</vt:lpstr>
      <vt:lpstr>Exercise questions</vt:lpstr>
      <vt:lpstr>Descriptor table </vt:lpstr>
      <vt:lpstr>Descriptor table </vt:lpstr>
      <vt:lpstr>Descriptor table </vt:lpstr>
      <vt:lpstr>Descriptor table </vt:lpstr>
      <vt:lpstr>Descriptor table </vt:lpstr>
      <vt:lpstr>PowerPoint Presentation</vt:lpstr>
      <vt:lpstr>PowerPoint Presentation</vt:lpstr>
      <vt:lpstr>PowerPoint Presentation</vt:lpstr>
      <vt:lpstr>PowerPoint Presentation</vt:lpstr>
      <vt:lpstr>DESCRIPTORS:  </vt:lpstr>
      <vt:lpstr>Example,</vt:lpstr>
      <vt:lpstr>PowerPoint Presentation</vt:lpstr>
      <vt:lpstr>PowerPoint Presentation</vt:lpstr>
      <vt:lpstr>PowerPoint Presentation</vt:lpstr>
      <vt:lpstr>Figure 2–7  The access rights byte for the 80286 through Core2 descriptor. </vt:lpstr>
      <vt:lpstr>Access right byte configuration</vt:lpstr>
      <vt:lpstr>PowerPoint Presentation</vt:lpstr>
      <vt:lpstr>Access Rights Byte </vt:lpstr>
      <vt:lpstr>PowerPoint Presentation</vt:lpstr>
      <vt:lpstr>Logical to Physical Address Translation</vt:lpstr>
      <vt:lpstr>PowerPoint Presentation</vt:lpstr>
      <vt:lpstr>PowerPoint Presentation</vt:lpstr>
      <vt:lpstr>Privilege Levels (80286) </vt:lpstr>
      <vt:lpstr>Privilege Levels (80286) </vt:lpstr>
      <vt:lpstr>Privilege Levels (80286) summery </vt:lpstr>
      <vt:lpstr>PowerPoint Presentation</vt:lpstr>
      <vt:lpstr>PowerPoint Presentation</vt:lpstr>
      <vt:lpstr>PowerPoint Presentation</vt:lpstr>
      <vt:lpstr>Solution</vt:lpstr>
      <vt:lpstr>Solution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Memory Addressing</dc:title>
  <dc:creator>mannan shah</dc:creator>
  <cp:lastModifiedBy>1905065 - Arnab Bhattacharjee</cp:lastModifiedBy>
  <cp:revision>390</cp:revision>
  <dcterms:created xsi:type="dcterms:W3CDTF">2014-06-18T05:37:53Z</dcterms:created>
  <dcterms:modified xsi:type="dcterms:W3CDTF">2025-11-09T11:58:49Z</dcterms:modified>
</cp:coreProperties>
</file>