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04" r:id="rId2"/>
    <p:sldId id="257" r:id="rId3"/>
    <p:sldId id="259" r:id="rId4"/>
    <p:sldId id="262" r:id="rId5"/>
    <p:sldId id="263" r:id="rId6"/>
    <p:sldId id="265" r:id="rId7"/>
    <p:sldId id="284" r:id="rId8"/>
    <p:sldId id="286" r:id="rId9"/>
    <p:sldId id="266" r:id="rId10"/>
    <p:sldId id="269" r:id="rId11"/>
    <p:sldId id="287" r:id="rId12"/>
    <p:sldId id="290" r:id="rId13"/>
    <p:sldId id="268" r:id="rId14"/>
    <p:sldId id="289" r:id="rId15"/>
    <p:sldId id="291" r:id="rId16"/>
    <p:sldId id="292" r:id="rId17"/>
    <p:sldId id="299" r:id="rId18"/>
    <p:sldId id="293" r:id="rId19"/>
    <p:sldId id="294" r:id="rId20"/>
    <p:sldId id="300" r:id="rId21"/>
    <p:sldId id="280" r:id="rId22"/>
    <p:sldId id="301" r:id="rId23"/>
    <p:sldId id="295" r:id="rId24"/>
    <p:sldId id="298" r:id="rId25"/>
    <p:sldId id="296" r:id="rId26"/>
    <p:sldId id="297" r:id="rId27"/>
    <p:sldId id="302" r:id="rId28"/>
    <p:sldId id="303" r:id="rId29"/>
    <p:sldId id="30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0000FF"/>
    <a:srgbClr val="CC00FF"/>
    <a:srgbClr val="FF00FF"/>
    <a:srgbClr val="FF66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44" autoAdjust="0"/>
    <p:restoredTop sz="85458" autoAdjust="0"/>
  </p:normalViewPr>
  <p:slideViewPr>
    <p:cSldViewPr snapToGrid="0">
      <p:cViewPr varScale="1">
        <p:scale>
          <a:sx n="61" d="100"/>
          <a:sy n="61" d="100"/>
        </p:scale>
        <p:origin x="118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if M" userId="5fbe7e48-0d2d-40c8-a740-2b2c66ce6a52" providerId="ADAL" clId="{C6C803CA-5DEE-4D90-B6EB-29260B8E0390}"/>
    <pc:docChg chg="undo modSld">
      <pc:chgData name="Nasif M" userId="5fbe7e48-0d2d-40c8-a740-2b2c66ce6a52" providerId="ADAL" clId="{C6C803CA-5DEE-4D90-B6EB-29260B8E0390}" dt="2019-07-28T07:00:47.652" v="9" actId="20577"/>
      <pc:docMkLst>
        <pc:docMk/>
      </pc:docMkLst>
      <pc:sldChg chg="modSp">
        <pc:chgData name="Nasif M" userId="5fbe7e48-0d2d-40c8-a740-2b2c66ce6a52" providerId="ADAL" clId="{C6C803CA-5DEE-4D90-B6EB-29260B8E0390}" dt="2019-07-28T07:00:47.652" v="9" actId="20577"/>
        <pc:sldMkLst>
          <pc:docMk/>
          <pc:sldMk cId="2641126816" sldId="280"/>
        </pc:sldMkLst>
        <pc:spChg chg="mod">
          <ac:chgData name="Nasif M" userId="5fbe7e48-0d2d-40c8-a740-2b2c66ce6a52" providerId="ADAL" clId="{C6C803CA-5DEE-4D90-B6EB-29260B8E0390}" dt="2019-07-28T07:00:47.652" v="9" actId="20577"/>
          <ac:spMkLst>
            <pc:docMk/>
            <pc:sldMk cId="2641126816" sldId="280"/>
            <ac:spMk id="3" creationId="{00000000-0000-0000-0000-000000000000}"/>
          </ac:spMkLst>
        </pc:spChg>
      </pc:sldChg>
      <pc:sldChg chg="modSp">
        <pc:chgData name="Nasif M" userId="5fbe7e48-0d2d-40c8-a740-2b2c66ce6a52" providerId="ADAL" clId="{C6C803CA-5DEE-4D90-B6EB-29260B8E0390}" dt="2019-07-28T07:00:18.213" v="8" actId="20577"/>
        <pc:sldMkLst>
          <pc:docMk/>
          <pc:sldMk cId="2083902515" sldId="296"/>
        </pc:sldMkLst>
        <pc:spChg chg="mod">
          <ac:chgData name="Nasif M" userId="5fbe7e48-0d2d-40c8-a740-2b2c66ce6a52" providerId="ADAL" clId="{C6C803CA-5DEE-4D90-B6EB-29260B8E0390}" dt="2019-07-28T07:00:18.213" v="8" actId="20577"/>
          <ac:spMkLst>
            <pc:docMk/>
            <pc:sldMk cId="2083902515" sldId="29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7F8851-ADF3-474B-8872-2D4DE1248A68}" type="datetimeFigureOut">
              <a:rPr lang="en-US" smtClean="0"/>
              <a:pPr/>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0F84F7-F8B2-4EDA-9271-3FC8C40C4837}" type="slidenum">
              <a:rPr lang="en-US" smtClean="0"/>
              <a:pPr/>
              <a:t>‹#›</a:t>
            </a:fld>
            <a:endParaRPr lang="en-US"/>
          </a:p>
        </p:txBody>
      </p:sp>
    </p:spTree>
    <p:extLst>
      <p:ext uri="{BB962C8B-B14F-4D97-AF65-F5344CB8AC3E}">
        <p14:creationId xmlns:p14="http://schemas.microsoft.com/office/powerpoint/2010/main" val="3677568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6</a:t>
            </a:fld>
            <a:endParaRPr lang="en-US"/>
          </a:p>
        </p:txBody>
      </p:sp>
    </p:spTree>
    <p:extLst>
      <p:ext uri="{BB962C8B-B14F-4D97-AF65-F5344CB8AC3E}">
        <p14:creationId xmlns:p14="http://schemas.microsoft.com/office/powerpoint/2010/main" val="1104263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9</a:t>
            </a:fld>
            <a:endParaRPr lang="en-US"/>
          </a:p>
        </p:txBody>
      </p:sp>
    </p:spTree>
    <p:extLst>
      <p:ext uri="{BB962C8B-B14F-4D97-AF65-F5344CB8AC3E}">
        <p14:creationId xmlns:p14="http://schemas.microsoft.com/office/powerpoint/2010/main" val="1691149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14</a:t>
            </a:fld>
            <a:endParaRPr lang="en-US"/>
          </a:p>
        </p:txBody>
      </p:sp>
    </p:spTree>
    <p:extLst>
      <p:ext uri="{BB962C8B-B14F-4D97-AF65-F5344CB8AC3E}">
        <p14:creationId xmlns:p14="http://schemas.microsoft.com/office/powerpoint/2010/main" val="18913492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15</a:t>
            </a:fld>
            <a:endParaRPr lang="en-US"/>
          </a:p>
        </p:txBody>
      </p:sp>
    </p:spTree>
    <p:extLst>
      <p:ext uri="{BB962C8B-B14F-4D97-AF65-F5344CB8AC3E}">
        <p14:creationId xmlns:p14="http://schemas.microsoft.com/office/powerpoint/2010/main" val="398746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16</a:t>
            </a:fld>
            <a:endParaRPr lang="en-US"/>
          </a:p>
        </p:txBody>
      </p:sp>
    </p:spTree>
    <p:extLst>
      <p:ext uri="{BB962C8B-B14F-4D97-AF65-F5344CB8AC3E}">
        <p14:creationId xmlns:p14="http://schemas.microsoft.com/office/powerpoint/2010/main" val="1190113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18</a:t>
            </a:fld>
            <a:endParaRPr lang="en-US"/>
          </a:p>
        </p:txBody>
      </p:sp>
    </p:spTree>
    <p:extLst>
      <p:ext uri="{BB962C8B-B14F-4D97-AF65-F5344CB8AC3E}">
        <p14:creationId xmlns:p14="http://schemas.microsoft.com/office/powerpoint/2010/main" val="3385677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19</a:t>
            </a:fld>
            <a:endParaRPr lang="en-US"/>
          </a:p>
        </p:txBody>
      </p:sp>
    </p:spTree>
    <p:extLst>
      <p:ext uri="{BB962C8B-B14F-4D97-AF65-F5344CB8AC3E}">
        <p14:creationId xmlns:p14="http://schemas.microsoft.com/office/powerpoint/2010/main" val="1270041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21</a:t>
            </a:fld>
            <a:endParaRPr lang="en-US"/>
          </a:p>
        </p:txBody>
      </p:sp>
    </p:spTree>
    <p:extLst>
      <p:ext uri="{BB962C8B-B14F-4D97-AF65-F5344CB8AC3E}">
        <p14:creationId xmlns:p14="http://schemas.microsoft.com/office/powerpoint/2010/main" val="32646539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22</a:t>
            </a:fld>
            <a:endParaRPr lang="en-US"/>
          </a:p>
        </p:txBody>
      </p:sp>
    </p:spTree>
    <p:extLst>
      <p:ext uri="{BB962C8B-B14F-4D97-AF65-F5344CB8AC3E}">
        <p14:creationId xmlns:p14="http://schemas.microsoft.com/office/powerpoint/2010/main" val="1637775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23</a:t>
            </a:fld>
            <a:endParaRPr lang="en-US"/>
          </a:p>
        </p:txBody>
      </p:sp>
    </p:spTree>
    <p:extLst>
      <p:ext uri="{BB962C8B-B14F-4D97-AF65-F5344CB8AC3E}">
        <p14:creationId xmlns:p14="http://schemas.microsoft.com/office/powerpoint/2010/main" val="26631277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24</a:t>
            </a:fld>
            <a:endParaRPr lang="en-US"/>
          </a:p>
        </p:txBody>
      </p:sp>
    </p:spTree>
    <p:extLst>
      <p:ext uri="{BB962C8B-B14F-4D97-AF65-F5344CB8AC3E}">
        <p14:creationId xmlns:p14="http://schemas.microsoft.com/office/powerpoint/2010/main" val="720726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0F84F7-F8B2-4EDA-9271-3FC8C40C4837}" type="slidenum">
              <a:rPr lang="en-US" smtClean="0"/>
              <a:pPr/>
              <a:t>25</a:t>
            </a:fld>
            <a:endParaRPr lang="en-US"/>
          </a:p>
        </p:txBody>
      </p:sp>
    </p:spTree>
    <p:extLst>
      <p:ext uri="{BB962C8B-B14F-4D97-AF65-F5344CB8AC3E}">
        <p14:creationId xmlns:p14="http://schemas.microsoft.com/office/powerpoint/2010/main" val="2853632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A780C0B-0E09-4C24-855A-B5F9647E8385}" type="datetime1">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242412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54A0A0-5DD8-4D70-B1FA-CAC79D0E75D4}" type="datetime1">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862670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A7E7304-8C2F-41FB-B00C-3FDFB7A3C42D}" type="datetime1">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564974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A971D0-B006-4D6C-B006-A8E975658FC1}" type="datetime1">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675288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8083821-5CF6-4180-99B8-5EB1F2685F00}" type="datetime1">
              <a:rPr lang="en-US" smtClean="0"/>
              <a:pPr/>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555923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E64C7A0-FAF5-4680-8731-283F715836F2}" type="datetime1">
              <a:rPr lang="en-US" smtClean="0"/>
              <a:pPr/>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1335043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DBD8E6-5523-40D4-B8AB-1C35467B6480}" type="datetime1">
              <a:rPr lang="en-US" smtClean="0"/>
              <a:pPr/>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996928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789E2D6-EBA3-40F3-B3BB-0F8C1B21A3A3}" type="datetime1">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2455433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5E4267A-AB46-44BD-A9A6-70565D82AC43}" type="datetime1">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3554008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379DAB-5BAE-4074-8BBA-CEB8A67A69A9}" type="datetime1">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2641611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9D709E-926E-4459-8CB3-61BBBA349AC7}" type="datetime1">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843EF9-BEF5-40C9-B5B2-816844E1641A}" type="slidenum">
              <a:rPr lang="en-US" smtClean="0"/>
              <a:pPr/>
              <a:t>‹#›</a:t>
            </a:fld>
            <a:endParaRPr lang="en-US"/>
          </a:p>
        </p:txBody>
      </p:sp>
    </p:spTree>
    <p:extLst>
      <p:ext uri="{BB962C8B-B14F-4D97-AF65-F5344CB8AC3E}">
        <p14:creationId xmlns:p14="http://schemas.microsoft.com/office/powerpoint/2010/main" val="1625877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F2E6EB-6501-42AF-A11D-93879DBD30D7}" type="datetime1">
              <a:rPr lang="en-US" smtClean="0"/>
              <a:pPr/>
              <a:t>11/9/2025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843EF9-BEF5-40C9-B5B2-816844E1641A}" type="slidenum">
              <a:rPr lang="en-US" smtClean="0"/>
              <a:pPr/>
              <a:t>‹#›</a:t>
            </a:fld>
            <a:endParaRPr lang="en-US"/>
          </a:p>
        </p:txBody>
      </p:sp>
    </p:spTree>
    <p:extLst>
      <p:ext uri="{BB962C8B-B14F-4D97-AF65-F5344CB8AC3E}">
        <p14:creationId xmlns:p14="http://schemas.microsoft.com/office/powerpoint/2010/main" val="4266028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rnab@cse.ui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asciichart.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www.asciichart.com/"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aticleworld.com/i2c-bus-protocol-and-interface/" TargetMode="External"/><Relationship Id="rId2" Type="http://schemas.openxmlformats.org/officeDocument/2006/relationships/hyperlink" Target="http://www.circuitbasics.com/basics-of-the-i2c-communication-protoco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2E74E2-8019-4597-71A9-101243F28360}"/>
              </a:ext>
            </a:extLst>
          </p:cNvPr>
          <p:cNvSpPr txBox="1">
            <a:spLocks/>
          </p:cNvSpPr>
          <p:nvPr/>
        </p:nvSpPr>
        <p:spPr>
          <a:xfrm>
            <a:off x="1676400" y="1274763"/>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Communication Protocols part 2</a:t>
            </a:r>
          </a:p>
        </p:txBody>
      </p:sp>
      <p:sp>
        <p:nvSpPr>
          <p:cNvPr id="2" name="Subtitle 4">
            <a:extLst>
              <a:ext uri="{FF2B5EF4-FFF2-40B4-BE49-F238E27FC236}">
                <a16:creationId xmlns:a16="http://schemas.microsoft.com/office/drawing/2014/main" id="{9FBCD1E5-9D14-7B54-8207-2C7C3DFD86E3}"/>
              </a:ext>
            </a:extLst>
          </p:cNvPr>
          <p:cNvSpPr txBox="1">
            <a:spLocks/>
          </p:cNvSpPr>
          <p:nvPr/>
        </p:nvSpPr>
        <p:spPr>
          <a:xfrm>
            <a:off x="1680014" y="4358640"/>
            <a:ext cx="4724400" cy="1415772"/>
          </a:xfrm>
          <a:prstGeom prst="rect">
            <a:avLst/>
          </a:prstGeom>
        </p:spPr>
        <p:txBody>
          <a:bodyPr wrap="square" lIns="0" tIns="0" rIns="0" bIns="0">
            <a:spAutoFit/>
          </a:bodyPr>
          <a:lstStyle>
            <a:lvl1pPr marL="0">
              <a:defRPr sz="2800" b="0" i="0" u="heavy">
                <a:solidFill>
                  <a:schemeClr val="tx1"/>
                </a:solidFill>
                <a:latin typeface="Carlito"/>
                <a:ea typeface="+mn-ea"/>
                <a:cs typeface="Carlito"/>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Arnab Bhattacharjee</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Lecturer, Department of CSE,  </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United International</a:t>
            </a:r>
            <a:r>
              <a:rPr kumimoji="0" lang="en-US" sz="1600" b="0" i="0" u="none" strike="noStrike" kern="0" cap="none" spc="10" normalizeH="0" baseline="0" noProof="0">
                <a:ln>
                  <a:noFill/>
                </a:ln>
                <a:solidFill>
                  <a:srgbClr val="585858"/>
                </a:solidFill>
                <a:effectLst/>
                <a:uLnTx/>
                <a:uFillTx/>
                <a:latin typeface="Arial"/>
                <a:ea typeface="+mn-ea"/>
                <a:cs typeface="Arial"/>
              </a:rPr>
              <a:t> </a:t>
            </a:r>
            <a:r>
              <a:rPr kumimoji="0" lang="en-US" sz="1600" b="0" i="0" u="none" strike="noStrike" kern="0" cap="none" spc="-5" normalizeH="0" baseline="0" noProof="0">
                <a:ln>
                  <a:noFill/>
                </a:ln>
                <a:solidFill>
                  <a:srgbClr val="585858"/>
                </a:solidFill>
                <a:effectLst/>
                <a:uLnTx/>
                <a:uFillTx/>
                <a:latin typeface="Arial"/>
                <a:ea typeface="+mn-ea"/>
                <a:cs typeface="Arial"/>
              </a:rPr>
              <a:t>University</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Email id : </a:t>
            </a:r>
            <a:r>
              <a:rPr kumimoji="0" lang="en-US" sz="1600" b="0" i="0" u="none" strike="noStrike" kern="0" cap="none" spc="-5" normalizeH="0" baseline="0" noProof="0">
                <a:ln>
                  <a:noFill/>
                </a:ln>
                <a:solidFill>
                  <a:srgbClr val="585858"/>
                </a:solidFill>
                <a:effectLst/>
                <a:uLnTx/>
                <a:uFillTx/>
                <a:latin typeface="Arial"/>
                <a:ea typeface="+mn-ea"/>
                <a:cs typeface="Arial"/>
                <a:hlinkClick r:id="rId2"/>
              </a:rPr>
              <a:t>arnab@cse.uiu.ac.bd</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heavy" strike="noStrike" kern="0" cap="none" spc="0" normalizeH="0" baseline="0" noProof="0" dirty="0">
              <a:ln>
                <a:noFill/>
              </a:ln>
              <a:solidFill>
                <a:sysClr val="windowText" lastClr="000000"/>
              </a:solidFill>
              <a:effectLst/>
              <a:uLnTx/>
              <a:uFillTx/>
              <a:latin typeface="Carlito"/>
              <a:ea typeface="+mn-ea"/>
            </a:endParaRPr>
          </a:p>
        </p:txBody>
      </p:sp>
      <p:sp>
        <p:nvSpPr>
          <p:cNvPr id="3" name="object 5">
            <a:extLst>
              <a:ext uri="{FF2B5EF4-FFF2-40B4-BE49-F238E27FC236}">
                <a16:creationId xmlns:a16="http://schemas.microsoft.com/office/drawing/2014/main" id="{C097892B-D16E-BE0B-05E8-3EC3F43F33D5}"/>
              </a:ext>
            </a:extLst>
          </p:cNvPr>
          <p:cNvSpPr txBox="1"/>
          <p:nvPr/>
        </p:nvSpPr>
        <p:spPr>
          <a:xfrm>
            <a:off x="6233160" y="5750028"/>
            <a:ext cx="3562546" cy="579005"/>
          </a:xfrm>
          <a:prstGeom prst="rect">
            <a:avLst/>
          </a:prstGeom>
        </p:spPr>
        <p:txBody>
          <a:bodyPr vert="horz" wrap="square" lIns="0" tIns="12065" rIns="0" bIns="0" rtlCol="0">
            <a:spAutoFit/>
          </a:bodyPr>
          <a:lstStyle/>
          <a:p>
            <a:pPr marL="12700">
              <a:spcBef>
                <a:spcPts val="95"/>
              </a:spcBef>
            </a:pPr>
            <a:r>
              <a:rPr spc="-5" dirty="0">
                <a:solidFill>
                  <a:srgbClr val="585858"/>
                </a:solidFill>
                <a:latin typeface="Arial"/>
                <a:cs typeface="Arial"/>
              </a:rPr>
              <a:t>Courtesy:</a:t>
            </a:r>
            <a:r>
              <a:rPr lang="en-US" spc="-5" dirty="0">
                <a:solidFill>
                  <a:srgbClr val="585858"/>
                </a:solidFill>
                <a:latin typeface="Arial"/>
                <a:cs typeface="Arial"/>
              </a:rPr>
              <a:t> Nasif M. Sir, </a:t>
            </a:r>
          </a:p>
          <a:p>
            <a:pPr marL="12700">
              <a:spcBef>
                <a:spcPts val="95"/>
              </a:spcBef>
            </a:pPr>
            <a:r>
              <a:rPr lang="en-US" spc="-5" dirty="0">
                <a:solidFill>
                  <a:srgbClr val="585858"/>
                </a:solidFill>
                <a:latin typeface="Arial"/>
                <a:cs typeface="Arial"/>
              </a:rPr>
              <a:t>Md. Shafqat Talukder Rakin</a:t>
            </a:r>
            <a:r>
              <a:rPr lang="en-US" dirty="0">
                <a:solidFill>
                  <a:prstClr val="black"/>
                </a:solidFill>
                <a:latin typeface="Arial"/>
                <a:cs typeface="Arial"/>
              </a:rPr>
              <a:t> </a:t>
            </a:r>
            <a:r>
              <a:rPr lang="en-US" spc="-5" dirty="0">
                <a:solidFill>
                  <a:srgbClr val="585858"/>
                </a:solidFill>
                <a:latin typeface="Arial"/>
                <a:cs typeface="Arial"/>
              </a:rPr>
              <a:t>Sir</a:t>
            </a:r>
            <a:r>
              <a:rPr spc="-5" dirty="0">
                <a:solidFill>
                  <a:srgbClr val="585858"/>
                </a:solidFill>
                <a:latin typeface="Arial"/>
                <a:cs typeface="Arial"/>
              </a:rPr>
              <a:t> </a:t>
            </a:r>
            <a:endParaRPr dirty="0">
              <a:solidFill>
                <a:prstClr val="black"/>
              </a:solidFill>
              <a:latin typeface="Arial"/>
              <a:cs typeface="Arial"/>
            </a:endParaRPr>
          </a:p>
        </p:txBody>
      </p:sp>
    </p:spTree>
    <p:extLst>
      <p:ext uri="{BB962C8B-B14F-4D97-AF65-F5344CB8AC3E}">
        <p14:creationId xmlns:p14="http://schemas.microsoft.com/office/powerpoint/2010/main" val="172635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7557655" cy="701675"/>
          </a:xfrm>
        </p:spPr>
        <p:txBody>
          <a:bodyPr>
            <a:normAutofit/>
          </a:bodyPr>
          <a:lstStyle/>
          <a:p>
            <a:r>
              <a:rPr lang="en-US" dirty="0"/>
              <a:t>Serial Communication Protocols</a:t>
            </a:r>
          </a:p>
        </p:txBody>
      </p:sp>
      <p:sp>
        <p:nvSpPr>
          <p:cNvPr id="3" name="Content Placeholder 2"/>
          <p:cNvSpPr>
            <a:spLocks noGrp="1"/>
          </p:cNvSpPr>
          <p:nvPr>
            <p:ph idx="1"/>
          </p:nvPr>
        </p:nvSpPr>
        <p:spPr>
          <a:xfrm>
            <a:off x="381000" y="1052945"/>
            <a:ext cx="11506200" cy="5361710"/>
          </a:xfrm>
        </p:spPr>
        <p:txBody>
          <a:bodyPr>
            <a:normAutofit/>
          </a:bodyPr>
          <a:lstStyle/>
          <a:p>
            <a:r>
              <a:rPr lang="en-US" dirty="0"/>
              <a:t>A variety of communication protocols have been developed based on serial communication in the past few decades. Some of them are:</a:t>
            </a:r>
          </a:p>
          <a:p>
            <a:pPr lvl="0"/>
            <a:r>
              <a:rPr lang="en-US" b="1" dirty="0">
                <a:solidFill>
                  <a:srgbClr val="C00000"/>
                </a:solidFill>
              </a:rPr>
              <a:t>SPI – Serial Peripheral Interface</a:t>
            </a:r>
            <a:r>
              <a:rPr lang="en-US" b="1" dirty="0"/>
              <a:t>:</a:t>
            </a:r>
            <a:r>
              <a:rPr lang="en-US" dirty="0"/>
              <a:t> It is a </a:t>
            </a:r>
            <a:r>
              <a:rPr lang="en-US" dirty="0">
                <a:solidFill>
                  <a:srgbClr val="0000FF"/>
                </a:solidFill>
              </a:rPr>
              <a:t>three-wire based </a:t>
            </a:r>
            <a:r>
              <a:rPr lang="en-US" dirty="0"/>
              <a:t>communication system. One wire each for Master to slave and Vice-versa, and one for clock pulses. There is an additional SS (Slave Select) line, which is mostly used when we want to send/receive data between multiple ICs.</a:t>
            </a:r>
          </a:p>
          <a:p>
            <a:pPr lvl="0"/>
            <a:r>
              <a:rPr lang="en-US" b="1" dirty="0">
                <a:solidFill>
                  <a:srgbClr val="C00000"/>
                </a:solidFill>
              </a:rPr>
              <a:t>I2C – Inter-Integrated Circuit</a:t>
            </a:r>
            <a:r>
              <a:rPr lang="en-US" b="1" dirty="0"/>
              <a:t>: </a:t>
            </a:r>
            <a:r>
              <a:rPr lang="en-US" dirty="0"/>
              <a:t>Pronounced eye-two-see or eye-square-see, this is an advanced form of USART. The transmission speeds can be as high as a whopping 400KHz. The </a:t>
            </a:r>
            <a:r>
              <a:rPr lang="en-US" dirty="0">
                <a:solidFill>
                  <a:srgbClr val="0000FF"/>
                </a:solidFill>
              </a:rPr>
              <a:t>I2C bus has two wires </a:t>
            </a:r>
            <a:r>
              <a:rPr lang="en-US" dirty="0"/>
              <a:t>– one for clock, and the other is the data line, which is bi-directional. It is invented by Philips.</a:t>
            </a:r>
          </a:p>
          <a:p>
            <a:pPr lvl="0"/>
            <a:endParaRPr lang="en-US" dirty="0"/>
          </a:p>
        </p:txBody>
      </p:sp>
      <p:sp>
        <p:nvSpPr>
          <p:cNvPr id="4" name="Slide Number Placeholder 3"/>
          <p:cNvSpPr>
            <a:spLocks noGrp="1"/>
          </p:cNvSpPr>
          <p:nvPr>
            <p:ph type="sldNum" sz="quarter" idx="12"/>
          </p:nvPr>
        </p:nvSpPr>
        <p:spPr/>
        <p:txBody>
          <a:bodyPr/>
          <a:lstStyle/>
          <a:p>
            <a:fld id="{3A843EF9-BEF5-40C9-B5B2-816844E1641A}" type="slidenum">
              <a:rPr lang="en-US" smtClean="0"/>
              <a:pPr/>
              <a:t>2</a:t>
            </a:fld>
            <a:endParaRPr lang="en-US"/>
          </a:p>
        </p:txBody>
      </p:sp>
    </p:spTree>
    <p:extLst>
      <p:ext uri="{BB962C8B-B14F-4D97-AF65-F5344CB8AC3E}">
        <p14:creationId xmlns:p14="http://schemas.microsoft.com/office/powerpoint/2010/main" val="274152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3509" y="1066799"/>
            <a:ext cx="11159836" cy="5458691"/>
          </a:xfrm>
        </p:spPr>
        <p:txBody>
          <a:bodyPr/>
          <a:lstStyle/>
          <a:p>
            <a:pPr lvl="0"/>
            <a:r>
              <a:rPr lang="en-US" b="1" dirty="0">
                <a:solidFill>
                  <a:srgbClr val="C00000"/>
                </a:solidFill>
              </a:rPr>
              <a:t>Ethernet</a:t>
            </a:r>
            <a:r>
              <a:rPr lang="en-US" b="1" dirty="0"/>
              <a:t>:</a:t>
            </a:r>
            <a:r>
              <a:rPr lang="en-US" dirty="0"/>
              <a:t> Used mostly in LAN connections, the bus consists of 8 lines, or 4 </a:t>
            </a:r>
            <a:r>
              <a:rPr lang="en-US" dirty="0" err="1"/>
              <a:t>Tx</a:t>
            </a:r>
            <a:r>
              <a:rPr lang="en-US" dirty="0"/>
              <a:t>/Rx pairs.</a:t>
            </a:r>
          </a:p>
          <a:p>
            <a:pPr lvl="0"/>
            <a:r>
              <a:rPr lang="en-US" b="1" dirty="0">
                <a:solidFill>
                  <a:srgbClr val="C00000"/>
                </a:solidFill>
              </a:rPr>
              <a:t>Universal serial bus (USB):</a:t>
            </a:r>
            <a:r>
              <a:rPr lang="en-US" dirty="0">
                <a:solidFill>
                  <a:srgbClr val="C00000"/>
                </a:solidFill>
              </a:rPr>
              <a:t> </a:t>
            </a:r>
            <a:r>
              <a:rPr lang="en-US" dirty="0"/>
              <a:t>This is the most popular of all. Is used for virtually all type of connections. The bus has 4 lines: V</a:t>
            </a:r>
            <a:r>
              <a:rPr lang="en-US" baseline="-25000" dirty="0"/>
              <a:t>CC</a:t>
            </a:r>
            <a:r>
              <a:rPr lang="en-US" dirty="0"/>
              <a:t>, Ground, Data+, and Data-. </a:t>
            </a:r>
          </a:p>
          <a:p>
            <a:pPr lvl="0"/>
            <a:r>
              <a:rPr lang="en-US" b="1" dirty="0">
                <a:solidFill>
                  <a:srgbClr val="C00000"/>
                </a:solidFill>
              </a:rPr>
              <a:t>RS-232 – Recommended Standard 232</a:t>
            </a:r>
            <a:r>
              <a:rPr lang="en-US" b="1" dirty="0"/>
              <a:t>: </a:t>
            </a:r>
            <a:r>
              <a:rPr lang="en-US" dirty="0"/>
              <a:t>The RS-232 is typically connected using a DB9 connector, which has 9 pins, out of which 5 are input, 3 are output, and one is Ground. You can still find this so-called “Serial” port in some old PCs. In our upcoming posts, we will discuss mainly about RS232 and USART of AVR microcontrollers.</a:t>
            </a:r>
          </a:p>
          <a:p>
            <a:endParaRPr lang="en-US" dirty="0"/>
          </a:p>
        </p:txBody>
      </p:sp>
      <p:sp>
        <p:nvSpPr>
          <p:cNvPr id="4" name="Title 1"/>
          <p:cNvSpPr>
            <a:spLocks noGrp="1"/>
          </p:cNvSpPr>
          <p:nvPr>
            <p:ph type="title"/>
          </p:nvPr>
        </p:nvSpPr>
        <p:spPr>
          <a:xfrm>
            <a:off x="838200" y="365125"/>
            <a:ext cx="7557655" cy="701675"/>
          </a:xfrm>
        </p:spPr>
        <p:txBody>
          <a:bodyPr>
            <a:normAutofit/>
          </a:bodyPr>
          <a:lstStyle/>
          <a:p>
            <a:r>
              <a:rPr lang="en-US" dirty="0"/>
              <a:t>Serial Communication Protocols</a:t>
            </a:r>
          </a:p>
        </p:txBody>
      </p:sp>
      <p:sp>
        <p:nvSpPr>
          <p:cNvPr id="2" name="Slide Number Placeholder 1"/>
          <p:cNvSpPr>
            <a:spLocks noGrp="1"/>
          </p:cNvSpPr>
          <p:nvPr>
            <p:ph type="sldNum" sz="quarter" idx="12"/>
          </p:nvPr>
        </p:nvSpPr>
        <p:spPr/>
        <p:txBody>
          <a:bodyPr/>
          <a:lstStyle/>
          <a:p>
            <a:fld id="{3A843EF9-BEF5-40C9-B5B2-816844E1641A}" type="slidenum">
              <a:rPr lang="en-US" smtClean="0"/>
              <a:pPr/>
              <a:t>3</a:t>
            </a:fld>
            <a:endParaRPr lang="en-US"/>
          </a:p>
        </p:txBody>
      </p:sp>
    </p:spTree>
    <p:extLst>
      <p:ext uri="{BB962C8B-B14F-4D97-AF65-F5344CB8AC3E}">
        <p14:creationId xmlns:p14="http://schemas.microsoft.com/office/powerpoint/2010/main" val="2572016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7266709" cy="687820"/>
          </a:xfrm>
        </p:spPr>
        <p:txBody>
          <a:bodyPr>
            <a:normAutofit fontScale="90000"/>
          </a:bodyPr>
          <a:lstStyle/>
          <a:p>
            <a:r>
              <a:rPr lang="en-US" dirty="0">
                <a:solidFill>
                  <a:srgbClr val="0070C0"/>
                </a:solidFill>
              </a:rPr>
              <a:t>Serial Peripheral Interface (SPI) </a:t>
            </a:r>
          </a:p>
        </p:txBody>
      </p:sp>
      <p:sp>
        <p:nvSpPr>
          <p:cNvPr id="3" name="Content Placeholder 2"/>
          <p:cNvSpPr>
            <a:spLocks noGrp="1"/>
          </p:cNvSpPr>
          <p:nvPr>
            <p:ph idx="1"/>
          </p:nvPr>
        </p:nvSpPr>
        <p:spPr>
          <a:xfrm>
            <a:off x="554182" y="1052945"/>
            <a:ext cx="11374581" cy="5805055"/>
          </a:xfrm>
        </p:spPr>
        <p:txBody>
          <a:bodyPr>
            <a:normAutofit lnSpcReduction="10000"/>
          </a:bodyPr>
          <a:lstStyle/>
          <a:p>
            <a:r>
              <a:rPr lang="en-US" dirty="0"/>
              <a:t>Serial Peripheral Interface (SPI) is a synchronous serial data protocol used by microcontrollers for communicating with one or more peripheral devices quickly over short distances. It can also be used for communication between two microcontrollers.</a:t>
            </a:r>
          </a:p>
          <a:p>
            <a:r>
              <a:rPr lang="en-US" dirty="0"/>
              <a:t>With an SPI connection there is always one master device (usually a microcontroller) which controls the peripheral devices. Typically there are three lines common to all the devices:</a:t>
            </a:r>
          </a:p>
          <a:p>
            <a:pPr lvl="0">
              <a:buFont typeface="Wingdings" panose="05000000000000000000" pitchFamily="2" charset="2"/>
              <a:buChar char="q"/>
            </a:pPr>
            <a:r>
              <a:rPr lang="en-US" dirty="0">
                <a:solidFill>
                  <a:srgbClr val="C00000"/>
                </a:solidFill>
              </a:rPr>
              <a:t>MISO (Master In Slave Out) </a:t>
            </a:r>
            <a:r>
              <a:rPr lang="en-US" dirty="0"/>
              <a:t>- The Slave line for sending data to the master,</a:t>
            </a:r>
          </a:p>
          <a:p>
            <a:pPr lvl="0">
              <a:buFont typeface="Wingdings" panose="05000000000000000000" pitchFamily="2" charset="2"/>
              <a:buChar char="q"/>
            </a:pPr>
            <a:r>
              <a:rPr lang="en-US" dirty="0">
                <a:solidFill>
                  <a:srgbClr val="C00000"/>
                </a:solidFill>
              </a:rPr>
              <a:t>MOSI (Master Out Slave In) </a:t>
            </a:r>
            <a:r>
              <a:rPr lang="en-US" dirty="0"/>
              <a:t>- The Master line for sending data to the peripherals,</a:t>
            </a:r>
          </a:p>
          <a:p>
            <a:pPr lvl="0">
              <a:buFont typeface="Wingdings" panose="05000000000000000000" pitchFamily="2" charset="2"/>
              <a:buChar char="q"/>
            </a:pPr>
            <a:r>
              <a:rPr lang="en-US" dirty="0">
                <a:solidFill>
                  <a:srgbClr val="C00000"/>
                </a:solidFill>
              </a:rPr>
              <a:t>SCK (Serial Clock) </a:t>
            </a:r>
            <a:r>
              <a:rPr lang="en-US" dirty="0"/>
              <a:t>- The clock pulses which synchronize data transmission generated by the master and one line specific for every device:</a:t>
            </a:r>
          </a:p>
          <a:p>
            <a:pPr lvl="0">
              <a:buFont typeface="Wingdings" panose="05000000000000000000" pitchFamily="2" charset="2"/>
              <a:buChar char="q"/>
            </a:pPr>
            <a:r>
              <a:rPr lang="en-US" dirty="0">
                <a:solidFill>
                  <a:srgbClr val="C00000"/>
                </a:solidFill>
              </a:rPr>
              <a:t>SS (Slave Select/ Chip select) </a:t>
            </a:r>
            <a:r>
              <a:rPr lang="en-US" dirty="0"/>
              <a:t>- the pin on each device that the master can use to enable and disable specific devices.</a:t>
            </a:r>
          </a:p>
          <a:p>
            <a:endParaRPr lang="en-US" dirty="0"/>
          </a:p>
        </p:txBody>
      </p:sp>
      <p:sp>
        <p:nvSpPr>
          <p:cNvPr id="4" name="Slide Number Placeholder 3"/>
          <p:cNvSpPr>
            <a:spLocks noGrp="1"/>
          </p:cNvSpPr>
          <p:nvPr>
            <p:ph type="sldNum" sz="quarter" idx="12"/>
          </p:nvPr>
        </p:nvSpPr>
        <p:spPr/>
        <p:txBody>
          <a:bodyPr/>
          <a:lstStyle/>
          <a:p>
            <a:fld id="{3A843EF9-BEF5-40C9-B5B2-816844E1641A}" type="slidenum">
              <a:rPr lang="en-US" smtClean="0"/>
              <a:pPr/>
              <a:t>4</a:t>
            </a:fld>
            <a:endParaRPr lang="en-US"/>
          </a:p>
        </p:txBody>
      </p:sp>
    </p:spTree>
    <p:extLst>
      <p:ext uri="{BB962C8B-B14F-4D97-AF65-F5344CB8AC3E}">
        <p14:creationId xmlns:p14="http://schemas.microsoft.com/office/powerpoint/2010/main" val="1885374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38200" y="365126"/>
            <a:ext cx="7266709" cy="687820"/>
          </a:xfrm>
        </p:spPr>
        <p:txBody>
          <a:bodyPr>
            <a:normAutofit fontScale="90000"/>
          </a:bodyPr>
          <a:lstStyle/>
          <a:p>
            <a:r>
              <a:rPr lang="en-US" dirty="0"/>
              <a:t>Serial Peripheral Interface (SPI) </a:t>
            </a:r>
          </a:p>
        </p:txBody>
      </p:sp>
      <p:sp>
        <p:nvSpPr>
          <p:cNvPr id="6" name="TextBox 5"/>
          <p:cNvSpPr txBox="1"/>
          <p:nvPr/>
        </p:nvSpPr>
        <p:spPr>
          <a:xfrm>
            <a:off x="1801091" y="5610494"/>
            <a:ext cx="7827818" cy="861774"/>
          </a:xfrm>
          <a:prstGeom prst="rect">
            <a:avLst/>
          </a:prstGeom>
          <a:noFill/>
        </p:spPr>
        <p:txBody>
          <a:bodyPr wrap="square" rtlCol="0">
            <a:spAutoFit/>
          </a:bodyPr>
          <a:lstStyle/>
          <a:p>
            <a:r>
              <a:rPr lang="en-US" sz="3200" dirty="0"/>
              <a:t>Figure: SPI communication protocol</a:t>
            </a:r>
          </a:p>
          <a:p>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5</a:t>
            </a:fld>
            <a:endParaRPr lang="en-US"/>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3101" y="1156051"/>
            <a:ext cx="6631808" cy="4351338"/>
          </a:xfrm>
        </p:spPr>
      </p:pic>
    </p:spTree>
    <p:extLst>
      <p:ext uri="{BB962C8B-B14F-4D97-AF65-F5344CB8AC3E}">
        <p14:creationId xmlns:p14="http://schemas.microsoft.com/office/powerpoint/2010/main" val="986860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3509" y="1174462"/>
            <a:ext cx="10515600" cy="4351338"/>
          </a:xfrm>
        </p:spPr>
        <p:txBody>
          <a:bodyPr/>
          <a:lstStyle/>
          <a:p>
            <a:endParaRPr lang="en-US"/>
          </a:p>
        </p:txBody>
      </p:sp>
      <p:sp>
        <p:nvSpPr>
          <p:cNvPr id="4" name="Title 1"/>
          <p:cNvSpPr>
            <a:spLocks noGrp="1"/>
          </p:cNvSpPr>
          <p:nvPr>
            <p:ph type="title"/>
          </p:nvPr>
        </p:nvSpPr>
        <p:spPr>
          <a:xfrm>
            <a:off x="838200" y="365126"/>
            <a:ext cx="7266709" cy="687820"/>
          </a:xfrm>
        </p:spPr>
        <p:txBody>
          <a:bodyPr>
            <a:normAutofit fontScale="90000"/>
          </a:bodyPr>
          <a:lstStyle/>
          <a:p>
            <a:r>
              <a:rPr lang="en-US" dirty="0"/>
              <a:t>Serial Peripheral Interface (SPI) </a:t>
            </a:r>
          </a:p>
        </p:txBody>
      </p:sp>
      <p:pic>
        <p:nvPicPr>
          <p:cNvPr id="5" name="Picture 4" descr="C:\Documents and Settings\n\Desktop\50e5d529ce395f2f7a000000.png"/>
          <p:cNvPicPr/>
          <p:nvPr/>
        </p:nvPicPr>
        <p:blipFill>
          <a:blip r:embed="rId3">
            <a:extLst>
              <a:ext uri="{28A0092B-C50C-407E-A947-70E740481C1C}">
                <a14:useLocalDpi xmlns:a14="http://schemas.microsoft.com/office/drawing/2010/main" val="0"/>
              </a:ext>
            </a:extLst>
          </a:blip>
          <a:srcRect/>
          <a:stretch>
            <a:fillRect/>
          </a:stretch>
        </p:blipFill>
        <p:spPr bwMode="auto">
          <a:xfrm>
            <a:off x="713509" y="1174462"/>
            <a:ext cx="8859982" cy="4713720"/>
          </a:xfrm>
          <a:prstGeom prst="rect">
            <a:avLst/>
          </a:prstGeom>
          <a:noFill/>
          <a:ln>
            <a:noFill/>
          </a:ln>
        </p:spPr>
      </p:pic>
      <p:sp>
        <p:nvSpPr>
          <p:cNvPr id="6" name="TextBox 5"/>
          <p:cNvSpPr txBox="1"/>
          <p:nvPr/>
        </p:nvSpPr>
        <p:spPr>
          <a:xfrm>
            <a:off x="1676400" y="5849470"/>
            <a:ext cx="10515600" cy="800219"/>
          </a:xfrm>
          <a:prstGeom prst="rect">
            <a:avLst/>
          </a:prstGeom>
          <a:noFill/>
        </p:spPr>
        <p:txBody>
          <a:bodyPr wrap="square" rtlCol="0">
            <a:spAutoFit/>
          </a:bodyPr>
          <a:lstStyle/>
          <a:p>
            <a:r>
              <a:rPr lang="en-US" sz="2800" dirty="0"/>
              <a:t>Figure : Multiple slaves are connected with master using SPI protocol</a:t>
            </a:r>
          </a:p>
          <a:p>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6</a:t>
            </a:fld>
            <a:endParaRPr lang="en-US"/>
          </a:p>
        </p:txBody>
      </p:sp>
    </p:spTree>
    <p:extLst>
      <p:ext uri="{BB962C8B-B14F-4D97-AF65-F5344CB8AC3E}">
        <p14:creationId xmlns:p14="http://schemas.microsoft.com/office/powerpoint/2010/main" val="1031007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93816" y="365125"/>
            <a:ext cx="7404368" cy="6241790"/>
          </a:xfrm>
        </p:spPr>
      </p:pic>
      <p:sp>
        <p:nvSpPr>
          <p:cNvPr id="4" name="Slide Number Placeholder 3"/>
          <p:cNvSpPr>
            <a:spLocks noGrp="1"/>
          </p:cNvSpPr>
          <p:nvPr>
            <p:ph type="sldNum" sz="quarter" idx="12"/>
          </p:nvPr>
        </p:nvSpPr>
        <p:spPr/>
        <p:txBody>
          <a:bodyPr/>
          <a:lstStyle/>
          <a:p>
            <a:fld id="{3A843EF9-BEF5-40C9-B5B2-816844E1641A}" type="slidenum">
              <a:rPr lang="en-US" smtClean="0"/>
              <a:pPr/>
              <a:t>7</a:t>
            </a:fld>
            <a:endParaRPr lang="en-US"/>
          </a:p>
        </p:txBody>
      </p:sp>
    </p:spTree>
    <p:extLst>
      <p:ext uri="{BB962C8B-B14F-4D97-AF65-F5344CB8AC3E}">
        <p14:creationId xmlns:p14="http://schemas.microsoft.com/office/powerpoint/2010/main" val="826175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08304"/>
            <a:ext cx="11262360" cy="6144895"/>
          </a:xfrm>
        </p:spPr>
        <p:txBody>
          <a:bodyPr>
            <a:normAutofit/>
          </a:bodyPr>
          <a:lstStyle/>
          <a:p>
            <a:pPr marL="0" indent="0">
              <a:buNone/>
            </a:pPr>
            <a:r>
              <a:rPr lang="en-US" sz="4000" dirty="0"/>
              <a:t>Advantages of SPI</a:t>
            </a:r>
          </a:p>
          <a:p>
            <a:r>
              <a:rPr lang="en-US" dirty="0"/>
              <a:t>The receiver/sender hardware can be a simple shift register</a:t>
            </a:r>
          </a:p>
          <a:p>
            <a:r>
              <a:rPr lang="en-US" dirty="0"/>
              <a:t>It supports multiple slaves</a:t>
            </a:r>
          </a:p>
          <a:p>
            <a:endParaRPr lang="en-US" dirty="0"/>
          </a:p>
          <a:p>
            <a:pPr marL="0" indent="0">
              <a:buNone/>
            </a:pPr>
            <a:r>
              <a:rPr lang="en-US" sz="4000" dirty="0"/>
              <a:t>Disadvantages of SPI</a:t>
            </a:r>
          </a:p>
          <a:p>
            <a:r>
              <a:rPr lang="en-US" dirty="0"/>
              <a:t>The master must control all communications (slaves can’t talk directly to each other)</a:t>
            </a:r>
          </a:p>
          <a:p>
            <a:r>
              <a:rPr lang="en-US" dirty="0"/>
              <a:t>It usually requires separate SS lines to each slave, which can be problematic if numerous slaves are needed</a:t>
            </a:r>
          </a:p>
          <a:p>
            <a:endParaRPr lang="en-US" dirty="0"/>
          </a:p>
        </p:txBody>
      </p:sp>
      <p:sp>
        <p:nvSpPr>
          <p:cNvPr id="4" name="Slide Number Placeholder 3"/>
          <p:cNvSpPr>
            <a:spLocks noGrp="1"/>
          </p:cNvSpPr>
          <p:nvPr>
            <p:ph type="sldNum" sz="quarter" idx="12"/>
          </p:nvPr>
        </p:nvSpPr>
        <p:spPr/>
        <p:txBody>
          <a:bodyPr/>
          <a:lstStyle/>
          <a:p>
            <a:fld id="{3A843EF9-BEF5-40C9-B5B2-816844E1641A}" type="slidenum">
              <a:rPr lang="en-US" smtClean="0"/>
              <a:pPr/>
              <a:t>8</a:t>
            </a:fld>
            <a:endParaRPr lang="en-US"/>
          </a:p>
        </p:txBody>
      </p:sp>
    </p:spTree>
    <p:extLst>
      <p:ext uri="{BB962C8B-B14F-4D97-AF65-F5344CB8AC3E}">
        <p14:creationId xmlns:p14="http://schemas.microsoft.com/office/powerpoint/2010/main" val="997559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8763" y="687820"/>
            <a:ext cx="11181607" cy="6033655"/>
          </a:xfrm>
        </p:spPr>
        <p:txBody>
          <a:bodyPr>
            <a:normAutofit lnSpcReduction="10000"/>
          </a:bodyPr>
          <a:lstStyle/>
          <a:p>
            <a:r>
              <a:rPr lang="en-US" dirty="0"/>
              <a:t>The Inter-integrated Circuit (I</a:t>
            </a:r>
            <a:r>
              <a:rPr lang="en-US" baseline="30000" dirty="0"/>
              <a:t>2</a:t>
            </a:r>
            <a:r>
              <a:rPr lang="en-US" dirty="0"/>
              <a:t>C) Protocol is a protocol intended to allow multiple “slave” digital integrated circuits (“chips”) to communicate with one or more “master” chips. Like the Serial Peripheral Interface (SPI), it is only intended for short distance communications within a single device. Like Asynchronous Serial Interfaces (such as RS-232 or UARTs), it only requires two signal wires to exchange information.</a:t>
            </a:r>
          </a:p>
          <a:p>
            <a:r>
              <a:rPr lang="en-US" dirty="0"/>
              <a:t>I</a:t>
            </a:r>
            <a:r>
              <a:rPr lang="en-US" baseline="30000" dirty="0"/>
              <a:t>2</a:t>
            </a:r>
            <a:r>
              <a:rPr lang="en-US" dirty="0"/>
              <a:t>C requires a mere </a:t>
            </a:r>
            <a:r>
              <a:rPr lang="en-US" dirty="0">
                <a:solidFill>
                  <a:srgbClr val="0000FF"/>
                </a:solidFill>
              </a:rPr>
              <a:t>two wires</a:t>
            </a:r>
            <a:r>
              <a:rPr lang="en-US" dirty="0"/>
              <a:t>, like asynchronous serial, but those two wires can support up to 1008 slave devices. Also, unlike SPI, I</a:t>
            </a:r>
            <a:r>
              <a:rPr lang="en-US" baseline="30000" dirty="0"/>
              <a:t>2</a:t>
            </a:r>
            <a:r>
              <a:rPr lang="en-US" dirty="0"/>
              <a:t>C can support a </a:t>
            </a:r>
            <a:r>
              <a:rPr lang="en-US" dirty="0">
                <a:solidFill>
                  <a:srgbClr val="0000FF"/>
                </a:solidFill>
              </a:rPr>
              <a:t>multi-master system</a:t>
            </a:r>
            <a:r>
              <a:rPr lang="en-US" dirty="0"/>
              <a:t>, allowing </a:t>
            </a:r>
            <a:r>
              <a:rPr lang="en-US" dirty="0">
                <a:solidFill>
                  <a:srgbClr val="0000FF"/>
                </a:solidFill>
              </a:rPr>
              <a:t>more than one master to communicate with all devices on the bus </a:t>
            </a:r>
            <a:r>
              <a:rPr lang="en-US" dirty="0"/>
              <a:t>(although the master devices can’t talk to each other over the bus and must take turns using the bus lines).</a:t>
            </a:r>
          </a:p>
          <a:p>
            <a:r>
              <a:rPr lang="en-US" dirty="0"/>
              <a:t>I2C specifies 2 address lengths, 7 and </a:t>
            </a:r>
            <a:r>
              <a:rPr lang="en-US" dirty="0">
                <a:solidFill>
                  <a:srgbClr val="0000FF"/>
                </a:solidFill>
              </a:rPr>
              <a:t>10 bits</a:t>
            </a:r>
            <a:r>
              <a:rPr lang="en-US" dirty="0"/>
              <a:t>, which gives a theoretical maximum of 128 and 1024 distinct address, respectively. However, there are a few reserved addresses, such as 0x00 (general call). This further limits the address space.</a:t>
            </a:r>
          </a:p>
        </p:txBody>
      </p:sp>
      <p:sp>
        <p:nvSpPr>
          <p:cNvPr id="4" name="Title 1"/>
          <p:cNvSpPr>
            <a:spLocks noGrp="1"/>
          </p:cNvSpPr>
          <p:nvPr>
            <p:ph type="title"/>
          </p:nvPr>
        </p:nvSpPr>
        <p:spPr>
          <a:xfrm>
            <a:off x="713509" y="0"/>
            <a:ext cx="7266709" cy="687820"/>
          </a:xfrm>
        </p:spPr>
        <p:txBody>
          <a:bodyPr>
            <a:normAutofit fontScale="90000"/>
          </a:bodyPr>
          <a:lstStyle/>
          <a:p>
            <a:r>
              <a:rPr lang="en-US" dirty="0">
                <a:solidFill>
                  <a:srgbClr val="C00000"/>
                </a:solidFill>
              </a:rPr>
              <a:t>I2C Protocol</a:t>
            </a:r>
          </a:p>
        </p:txBody>
      </p:sp>
      <p:sp>
        <p:nvSpPr>
          <p:cNvPr id="2" name="Slide Number Placeholder 1"/>
          <p:cNvSpPr>
            <a:spLocks noGrp="1"/>
          </p:cNvSpPr>
          <p:nvPr>
            <p:ph type="sldNum" sz="quarter" idx="12"/>
          </p:nvPr>
        </p:nvSpPr>
        <p:spPr/>
        <p:txBody>
          <a:bodyPr/>
          <a:lstStyle/>
          <a:p>
            <a:fld id="{3A843EF9-BEF5-40C9-B5B2-816844E1641A}" type="slidenum">
              <a:rPr lang="en-US" smtClean="0"/>
              <a:pPr/>
              <a:t>9</a:t>
            </a:fld>
            <a:endParaRPr lang="en-US"/>
          </a:p>
        </p:txBody>
      </p:sp>
    </p:spTree>
    <p:extLst>
      <p:ext uri="{BB962C8B-B14F-4D97-AF65-F5344CB8AC3E}">
        <p14:creationId xmlns:p14="http://schemas.microsoft.com/office/powerpoint/2010/main" val="2571630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9966" y="894485"/>
            <a:ext cx="10855036" cy="5461865"/>
          </a:xfrm>
        </p:spPr>
        <p:txBody>
          <a:bodyPr>
            <a:normAutofit/>
          </a:bodyPr>
          <a:lstStyle/>
          <a:p>
            <a:r>
              <a:rPr lang="en-US" dirty="0"/>
              <a:t>The I2C protocol involves using two lines to send and receive data: a serial clock pin (SCL) and a serial data pin (SDA) over which data is sent between the two devices. </a:t>
            </a:r>
          </a:p>
          <a:p>
            <a:endParaRPr lang="en-US" dirty="0"/>
          </a:p>
        </p:txBody>
      </p:sp>
      <p:sp>
        <p:nvSpPr>
          <p:cNvPr id="4" name="Title 1"/>
          <p:cNvSpPr>
            <a:spLocks noGrp="1"/>
          </p:cNvSpPr>
          <p:nvPr>
            <p:ph type="title"/>
          </p:nvPr>
        </p:nvSpPr>
        <p:spPr>
          <a:xfrm>
            <a:off x="870857" y="206665"/>
            <a:ext cx="7266709" cy="687820"/>
          </a:xfrm>
        </p:spPr>
        <p:txBody>
          <a:bodyPr>
            <a:normAutofit fontScale="90000"/>
          </a:bodyPr>
          <a:lstStyle/>
          <a:p>
            <a:r>
              <a:rPr lang="en-US" dirty="0"/>
              <a:t>I2C Protocol</a:t>
            </a:r>
          </a:p>
        </p:txBody>
      </p:sp>
      <p:sp>
        <p:nvSpPr>
          <p:cNvPr id="2" name="Slide Number Placeholder 1"/>
          <p:cNvSpPr>
            <a:spLocks noGrp="1"/>
          </p:cNvSpPr>
          <p:nvPr>
            <p:ph type="sldNum" sz="quarter" idx="12"/>
          </p:nvPr>
        </p:nvSpPr>
        <p:spPr/>
        <p:txBody>
          <a:bodyPr/>
          <a:lstStyle/>
          <a:p>
            <a:fld id="{3A843EF9-BEF5-40C9-B5B2-816844E1641A}" type="slidenum">
              <a:rPr lang="en-US" smtClean="0"/>
              <a:pPr/>
              <a:t>10</a:t>
            </a:fld>
            <a:endParaRPr lang="en-US"/>
          </a:p>
        </p:txBody>
      </p:sp>
      <p:pic>
        <p:nvPicPr>
          <p:cNvPr id="5" name="Content Placeholder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5228" y="2103319"/>
            <a:ext cx="7131536" cy="3852920"/>
          </a:xfrm>
          <a:prstGeom prst="rect">
            <a:avLst/>
          </a:prstGeom>
        </p:spPr>
      </p:pic>
      <p:sp>
        <p:nvSpPr>
          <p:cNvPr id="6" name="TextBox 5"/>
          <p:cNvSpPr txBox="1"/>
          <p:nvPr/>
        </p:nvSpPr>
        <p:spPr>
          <a:xfrm>
            <a:off x="3943423" y="5921256"/>
            <a:ext cx="5701494" cy="800219"/>
          </a:xfrm>
          <a:prstGeom prst="rect">
            <a:avLst/>
          </a:prstGeom>
          <a:noFill/>
        </p:spPr>
        <p:txBody>
          <a:bodyPr wrap="square" rtlCol="0">
            <a:spAutoFit/>
          </a:bodyPr>
          <a:lstStyle/>
          <a:p>
            <a:r>
              <a:rPr lang="en-US" sz="2800" dirty="0"/>
              <a:t>Figure: I2C Protocol</a:t>
            </a:r>
          </a:p>
          <a:p>
            <a:endParaRPr lang="en-US" dirty="0"/>
          </a:p>
        </p:txBody>
      </p:sp>
    </p:spTree>
    <p:extLst>
      <p:ext uri="{BB962C8B-B14F-4D97-AF65-F5344CB8AC3E}">
        <p14:creationId xmlns:p14="http://schemas.microsoft.com/office/powerpoint/2010/main" val="3543821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126" y="301624"/>
            <a:ext cx="11338560" cy="6343651"/>
          </a:xfrm>
        </p:spPr>
        <p:txBody>
          <a:bodyPr>
            <a:normAutofit/>
          </a:bodyPr>
          <a:lstStyle/>
          <a:p>
            <a:pPr marL="0" indent="0">
              <a:buNone/>
            </a:pPr>
            <a:r>
              <a:rPr lang="en-US" sz="4000" dirty="0"/>
              <a:t>Advantages of I2C	</a:t>
            </a:r>
          </a:p>
          <a:p>
            <a:pPr marL="0" indent="0">
              <a:buNone/>
            </a:pPr>
            <a:r>
              <a:rPr lang="en-US" dirty="0"/>
              <a:t>1.</a:t>
            </a:r>
            <a:r>
              <a:rPr lang="en-US" dirty="0">
                <a:solidFill>
                  <a:srgbClr val="C00000"/>
                </a:solidFill>
              </a:rPr>
              <a:t> Flexibility </a:t>
            </a:r>
            <a:r>
              <a:rPr lang="en-US" dirty="0"/>
              <a:t>– The I2C protocol supports multi-master, multi-slave communication. More than one master IC controlling and communicating with the slave ICs can speed things up and add more functionalities to the embedded system.</a:t>
            </a:r>
          </a:p>
          <a:p>
            <a:pPr marL="0" indent="0">
              <a:buNone/>
            </a:pPr>
            <a:r>
              <a:rPr lang="en-US" dirty="0"/>
              <a:t>2. </a:t>
            </a:r>
            <a:r>
              <a:rPr lang="en-US" dirty="0">
                <a:solidFill>
                  <a:srgbClr val="C00000"/>
                </a:solidFill>
              </a:rPr>
              <a:t>Addressing feature </a:t>
            </a:r>
            <a:r>
              <a:rPr lang="en-US" dirty="0"/>
              <a:t>–Another advantage of the I2C protocol lies in its inherent ability to use chip addressing. It means that it is possible to add components to the bus without any complexity. It eliminates the necessity of CS (chip select) lines.</a:t>
            </a:r>
          </a:p>
          <a:p>
            <a:pPr marL="0" indent="0">
              <a:buNone/>
            </a:pPr>
            <a:r>
              <a:rPr lang="en-US" dirty="0"/>
              <a:t>3. </a:t>
            </a:r>
            <a:r>
              <a:rPr lang="en-US" dirty="0">
                <a:solidFill>
                  <a:srgbClr val="C00000"/>
                </a:solidFill>
              </a:rPr>
              <a:t>Simplicity</a:t>
            </a:r>
            <a:r>
              <a:rPr lang="en-US" dirty="0"/>
              <a:t> – I2C protocol doesn’t complicate the design. It requires only two bidirectional signal lines to establish communication among multiple devices. </a:t>
            </a:r>
          </a:p>
          <a:p>
            <a:pPr marL="0" indent="0">
              <a:buNone/>
            </a:pPr>
            <a:r>
              <a:rPr lang="en-US" dirty="0"/>
              <a:t>4. </a:t>
            </a:r>
            <a:r>
              <a:rPr lang="en-US" dirty="0">
                <a:solidFill>
                  <a:srgbClr val="C00000"/>
                </a:solidFill>
              </a:rPr>
              <a:t>Reliable Data Transfer </a:t>
            </a:r>
            <a:r>
              <a:rPr lang="en-US" dirty="0"/>
              <a:t>- ACK/NACK bit gives confirmation that each frame is transferred successfully</a:t>
            </a:r>
          </a:p>
        </p:txBody>
      </p:sp>
      <p:sp>
        <p:nvSpPr>
          <p:cNvPr id="4" name="Slide Number Placeholder 3"/>
          <p:cNvSpPr>
            <a:spLocks noGrp="1"/>
          </p:cNvSpPr>
          <p:nvPr>
            <p:ph type="sldNum" sz="quarter" idx="12"/>
          </p:nvPr>
        </p:nvSpPr>
        <p:spPr/>
        <p:txBody>
          <a:bodyPr/>
          <a:lstStyle/>
          <a:p>
            <a:fld id="{3A843EF9-BEF5-40C9-B5B2-816844E1641A}" type="slidenum">
              <a:rPr lang="en-US" smtClean="0"/>
              <a:pPr/>
              <a:t>11</a:t>
            </a:fld>
            <a:endParaRPr lang="en-US"/>
          </a:p>
        </p:txBody>
      </p:sp>
    </p:spTree>
    <p:extLst>
      <p:ext uri="{BB962C8B-B14F-4D97-AF65-F5344CB8AC3E}">
        <p14:creationId xmlns:p14="http://schemas.microsoft.com/office/powerpoint/2010/main" val="21394047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126" y="301624"/>
            <a:ext cx="11338560" cy="6343651"/>
          </a:xfrm>
        </p:spPr>
        <p:txBody>
          <a:bodyPr>
            <a:normAutofit/>
          </a:bodyPr>
          <a:lstStyle/>
          <a:p>
            <a:pPr marL="0" indent="0">
              <a:buNone/>
            </a:pPr>
            <a:r>
              <a:rPr lang="en-US" sz="3600" dirty="0"/>
              <a:t>How I2C works</a:t>
            </a:r>
          </a:p>
          <a:p>
            <a:pPr marL="0" indent="0">
              <a:buNone/>
            </a:pPr>
            <a:r>
              <a:rPr lang="en-US" dirty="0"/>
              <a:t>With I2C, data is transferred in </a:t>
            </a:r>
            <a:r>
              <a:rPr lang="en-US" dirty="0">
                <a:solidFill>
                  <a:srgbClr val="0000FF"/>
                </a:solidFill>
              </a:rPr>
              <a:t>messages</a:t>
            </a:r>
            <a:r>
              <a:rPr lang="en-US" dirty="0"/>
              <a:t>. </a:t>
            </a:r>
            <a:r>
              <a:rPr lang="en-US" dirty="0">
                <a:solidFill>
                  <a:srgbClr val="0000FF"/>
                </a:solidFill>
              </a:rPr>
              <a:t>Messages</a:t>
            </a:r>
            <a:r>
              <a:rPr lang="en-US" dirty="0"/>
              <a:t> are broken up into </a:t>
            </a:r>
            <a:r>
              <a:rPr lang="en-US" dirty="0">
                <a:solidFill>
                  <a:srgbClr val="C00000"/>
                </a:solidFill>
              </a:rPr>
              <a:t>frames</a:t>
            </a:r>
            <a:r>
              <a:rPr lang="en-US" dirty="0"/>
              <a:t> of data. Each </a:t>
            </a:r>
            <a:r>
              <a:rPr lang="en-US" dirty="0">
                <a:solidFill>
                  <a:srgbClr val="0000FF"/>
                </a:solidFill>
              </a:rPr>
              <a:t>message</a:t>
            </a:r>
            <a:r>
              <a:rPr lang="en-US" dirty="0"/>
              <a:t> has an </a:t>
            </a:r>
            <a:r>
              <a:rPr lang="en-US" dirty="0">
                <a:solidFill>
                  <a:srgbClr val="C00000"/>
                </a:solidFill>
              </a:rPr>
              <a:t>address frame </a:t>
            </a:r>
            <a:r>
              <a:rPr lang="en-US" dirty="0"/>
              <a:t>that contains the binary address of the slave, and one or more data frames that contain the data being transmitted. The message also includes </a:t>
            </a:r>
            <a:r>
              <a:rPr lang="en-US" dirty="0">
                <a:solidFill>
                  <a:srgbClr val="FF0000"/>
                </a:solidFill>
              </a:rPr>
              <a:t>start and stop conditions</a:t>
            </a:r>
            <a:r>
              <a:rPr lang="en-US" dirty="0"/>
              <a:t>, </a:t>
            </a:r>
            <a:r>
              <a:rPr lang="en-US" dirty="0">
                <a:solidFill>
                  <a:srgbClr val="0000FF"/>
                </a:solidFill>
              </a:rPr>
              <a:t>read/write bits</a:t>
            </a:r>
            <a:r>
              <a:rPr lang="en-US" dirty="0"/>
              <a:t>, and </a:t>
            </a:r>
            <a:r>
              <a:rPr lang="en-US" dirty="0">
                <a:solidFill>
                  <a:srgbClr val="00B050"/>
                </a:solidFill>
              </a:rPr>
              <a:t>ACK/NACK bits </a:t>
            </a:r>
            <a:r>
              <a:rPr lang="en-US" dirty="0"/>
              <a:t>between each data frame:</a:t>
            </a:r>
          </a:p>
        </p:txBody>
      </p:sp>
      <p:sp>
        <p:nvSpPr>
          <p:cNvPr id="4" name="Slide Number Placeholder 3"/>
          <p:cNvSpPr>
            <a:spLocks noGrp="1"/>
          </p:cNvSpPr>
          <p:nvPr>
            <p:ph type="sldNum" sz="quarter" idx="12"/>
          </p:nvPr>
        </p:nvSpPr>
        <p:spPr/>
        <p:txBody>
          <a:bodyPr/>
          <a:lstStyle/>
          <a:p>
            <a:fld id="{3A843EF9-BEF5-40C9-B5B2-816844E1641A}" type="slidenum">
              <a:rPr lang="en-US" smtClean="0"/>
              <a:pPr/>
              <a:t>12</a:t>
            </a:fld>
            <a:endParaRPr lang="en-US"/>
          </a:p>
        </p:txBody>
      </p:sp>
      <p:pic>
        <p:nvPicPr>
          <p:cNvPr id="1026" name="Picture 2" descr="http://www.circuitbasics.com/wp-content/uploads/2016/01/Introduction-to-I2C-Message-Frame-and-Bit-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126" y="3004004"/>
            <a:ext cx="11519756" cy="290693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570938" y="6160155"/>
            <a:ext cx="8389562" cy="523220"/>
          </a:xfrm>
          <a:prstGeom prst="rect">
            <a:avLst/>
          </a:prstGeom>
          <a:noFill/>
        </p:spPr>
        <p:txBody>
          <a:bodyPr wrap="square" rtlCol="0">
            <a:spAutoFit/>
          </a:bodyPr>
          <a:lstStyle/>
          <a:p>
            <a:r>
              <a:rPr lang="en-US" sz="2800" dirty="0"/>
              <a:t>Figure: Instruction sequence data from master to slave</a:t>
            </a:r>
          </a:p>
        </p:txBody>
      </p:sp>
    </p:spTree>
    <p:extLst>
      <p:ext uri="{BB962C8B-B14F-4D97-AF65-F5344CB8AC3E}">
        <p14:creationId xmlns:p14="http://schemas.microsoft.com/office/powerpoint/2010/main" val="960222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4" y="365126"/>
            <a:ext cx="7810995" cy="687820"/>
          </a:xfrm>
        </p:spPr>
        <p:txBody>
          <a:bodyPr>
            <a:normAutofit fontScale="90000"/>
          </a:bodyPr>
          <a:lstStyle/>
          <a:p>
            <a:r>
              <a:rPr lang="sv-SE" b="1" dirty="0"/>
              <a:t>Handshaking Process in I2C Protocol</a:t>
            </a:r>
            <a:endParaRPr lang="en-US" b="1"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13</a:t>
            </a:fld>
            <a:endParaRPr lang="en-US"/>
          </a:p>
        </p:txBody>
      </p:sp>
      <p:sp>
        <p:nvSpPr>
          <p:cNvPr id="3" name="Content Placeholder 2"/>
          <p:cNvSpPr>
            <a:spLocks noGrp="1"/>
          </p:cNvSpPr>
          <p:nvPr>
            <p:ph idx="1"/>
          </p:nvPr>
        </p:nvSpPr>
        <p:spPr>
          <a:xfrm>
            <a:off x="424543" y="1052946"/>
            <a:ext cx="11495314" cy="5303404"/>
          </a:xfrm>
        </p:spPr>
        <p:txBody>
          <a:bodyPr/>
          <a:lstStyle/>
          <a:p>
            <a:r>
              <a:rPr lang="en-US" dirty="0"/>
              <a:t>In I2C for each byte, an acknowledgment needs to be sent by the receiver, this acknowledgment bit is a proof that data is properly received by the receiver and it wants to continue the communication.</a:t>
            </a:r>
          </a:p>
          <a:p>
            <a:r>
              <a:rPr lang="en-US" dirty="0"/>
              <a:t>A master starts the communication to assert a </a:t>
            </a:r>
            <a:r>
              <a:rPr lang="en-US" dirty="0">
                <a:solidFill>
                  <a:srgbClr val="CC00FF"/>
                </a:solidFill>
              </a:rPr>
              <a:t>start condition </a:t>
            </a:r>
            <a:r>
              <a:rPr lang="en-US" dirty="0"/>
              <a:t>on the bus. After the </a:t>
            </a:r>
            <a:r>
              <a:rPr lang="en-US" dirty="0">
                <a:solidFill>
                  <a:srgbClr val="CC00FF"/>
                </a:solidFill>
              </a:rPr>
              <a:t>start condition </a:t>
            </a:r>
            <a:r>
              <a:rPr lang="en-US" dirty="0"/>
              <a:t>master is transmitted a 10-bit address with associated a </a:t>
            </a:r>
            <a:r>
              <a:rPr lang="en-US" dirty="0">
                <a:solidFill>
                  <a:srgbClr val="0000FF"/>
                </a:solidFill>
              </a:rPr>
              <a:t>read</a:t>
            </a:r>
            <a:r>
              <a:rPr lang="en-US" dirty="0"/>
              <a:t> or </a:t>
            </a:r>
            <a:r>
              <a:rPr lang="en-US" dirty="0">
                <a:solidFill>
                  <a:srgbClr val="0000FF"/>
                </a:solidFill>
              </a:rPr>
              <a:t>write</a:t>
            </a:r>
            <a:r>
              <a:rPr lang="en-US" dirty="0"/>
              <a:t> bits.</a:t>
            </a:r>
          </a:p>
          <a:p>
            <a:r>
              <a:rPr lang="en-US" dirty="0"/>
              <a:t>After the transmission of the address byte, master release the data lines, which allows the receiver (slave) to give the acknowledgment.</a:t>
            </a:r>
          </a:p>
          <a:p>
            <a:r>
              <a:rPr lang="en-US" dirty="0"/>
              <a:t>Each slave compares the address sent from the master to its own address. If the address matches, the slave returns an ACK bit.</a:t>
            </a:r>
          </a:p>
          <a:p>
            <a:r>
              <a:rPr lang="en-US" dirty="0"/>
              <a:t>After receiving the Acknowledgment bit, Master continue the read or write operation.</a:t>
            </a:r>
          </a:p>
        </p:txBody>
      </p:sp>
    </p:spTree>
    <p:extLst>
      <p:ext uri="{BB962C8B-B14F-4D97-AF65-F5344CB8AC3E}">
        <p14:creationId xmlns:p14="http://schemas.microsoft.com/office/powerpoint/2010/main" val="277253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4" y="365125"/>
            <a:ext cx="11244943" cy="1028245"/>
          </a:xfrm>
        </p:spPr>
        <p:txBody>
          <a:bodyPr>
            <a:normAutofit fontScale="90000"/>
          </a:bodyPr>
          <a:lstStyle/>
          <a:p>
            <a:r>
              <a:rPr lang="sv-SE" sz="3600" b="1" dirty="0"/>
              <a:t>Handshaking Process in I2C Protocol - </a:t>
            </a:r>
            <a:r>
              <a:rPr lang="en-US" sz="3600" b="1" dirty="0"/>
              <a:t>Acknowledge (ACK) and Not Acknowledge (NACK)</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14</a:t>
            </a:fld>
            <a:endParaRPr lang="en-US"/>
          </a:p>
        </p:txBody>
      </p:sp>
      <p:sp>
        <p:nvSpPr>
          <p:cNvPr id="3" name="Content Placeholder 2"/>
          <p:cNvSpPr>
            <a:spLocks noGrp="1"/>
          </p:cNvSpPr>
          <p:nvPr>
            <p:ph idx="1"/>
          </p:nvPr>
        </p:nvSpPr>
        <p:spPr>
          <a:xfrm>
            <a:off x="424543" y="1186542"/>
            <a:ext cx="11495314" cy="5169807"/>
          </a:xfrm>
        </p:spPr>
        <p:txBody>
          <a:bodyPr>
            <a:normAutofit/>
          </a:bodyPr>
          <a:lstStyle/>
          <a:p>
            <a:pPr marL="0" indent="0">
              <a:buNone/>
            </a:pPr>
            <a:r>
              <a:rPr lang="en-US" dirty="0"/>
              <a:t>Some scenario, where NACK bit is generated-</a:t>
            </a:r>
          </a:p>
          <a:p>
            <a:r>
              <a:rPr lang="en-US" dirty="0"/>
              <a:t>When the </a:t>
            </a:r>
            <a:r>
              <a:rPr lang="en-US" dirty="0">
                <a:solidFill>
                  <a:srgbClr val="C00000"/>
                </a:solidFill>
              </a:rPr>
              <a:t>receiver is unable </a:t>
            </a:r>
            <a:r>
              <a:rPr lang="en-US">
                <a:solidFill>
                  <a:srgbClr val="C00000"/>
                </a:solidFill>
              </a:rPr>
              <a:t>to receive</a:t>
            </a:r>
            <a:r>
              <a:rPr lang="en-US"/>
              <a:t>, </a:t>
            </a:r>
            <a:r>
              <a:rPr lang="en-US" dirty="0"/>
              <a:t>in that situation it generates a NACK bit to stop the communication.</a:t>
            </a:r>
          </a:p>
          <a:p>
            <a:r>
              <a:rPr lang="en-US" dirty="0"/>
              <a:t>During the communication, if the receiver gets any data or commands which are </a:t>
            </a:r>
            <a:r>
              <a:rPr lang="en-US" dirty="0">
                <a:solidFill>
                  <a:srgbClr val="C00000"/>
                </a:solidFill>
              </a:rPr>
              <a:t>not understood by the receiver </a:t>
            </a:r>
            <a:r>
              <a:rPr lang="en-US" dirty="0"/>
              <a:t>then it generates a NACK bit.</a:t>
            </a:r>
          </a:p>
          <a:p>
            <a:r>
              <a:rPr lang="en-US" dirty="0"/>
              <a:t>When Master is a receiver and reads the data from the slave, then after the reading of whole data it asserts a NACK bit on data lines </a:t>
            </a:r>
            <a:r>
              <a:rPr lang="en-US" dirty="0">
                <a:solidFill>
                  <a:srgbClr val="C00000"/>
                </a:solidFill>
              </a:rPr>
              <a:t>to stop the communication</a:t>
            </a:r>
            <a:r>
              <a:rPr lang="en-US" dirty="0"/>
              <a:t>.</a:t>
            </a:r>
          </a:p>
          <a:p>
            <a:r>
              <a:rPr lang="en-US" dirty="0"/>
              <a:t>If there is </a:t>
            </a:r>
            <a:r>
              <a:rPr lang="en-US" dirty="0">
                <a:solidFill>
                  <a:srgbClr val="C00000"/>
                </a:solidFill>
              </a:rPr>
              <a:t>no device present in the I2C bus </a:t>
            </a:r>
            <a:r>
              <a:rPr lang="en-US" dirty="0"/>
              <a:t>of the same address which is transmitted by the master, then the master will not get the acknowledge by any slave and treat this situation as NACK.</a:t>
            </a:r>
          </a:p>
          <a:p>
            <a:endParaRPr lang="en-US" dirty="0"/>
          </a:p>
        </p:txBody>
      </p:sp>
    </p:spTree>
    <p:extLst>
      <p:ext uri="{BB962C8B-B14F-4D97-AF65-F5344CB8AC3E}">
        <p14:creationId xmlns:p14="http://schemas.microsoft.com/office/powerpoint/2010/main" val="12465110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4" y="234497"/>
            <a:ext cx="8131628" cy="1137103"/>
          </a:xfrm>
        </p:spPr>
        <p:txBody>
          <a:bodyPr>
            <a:normAutofit fontScale="90000"/>
          </a:bodyPr>
          <a:lstStyle/>
          <a:p>
            <a:r>
              <a:rPr lang="sv-SE" sz="4000" b="1" dirty="0"/>
              <a:t>I2C WRITE operation</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15</a:t>
            </a:fld>
            <a:endParaRPr lang="en-US"/>
          </a:p>
        </p:txBody>
      </p:sp>
      <p:sp>
        <p:nvSpPr>
          <p:cNvPr id="3" name="Content Placeholder 2"/>
          <p:cNvSpPr>
            <a:spLocks noGrp="1"/>
          </p:cNvSpPr>
          <p:nvPr>
            <p:ph idx="1"/>
          </p:nvPr>
        </p:nvSpPr>
        <p:spPr>
          <a:xfrm>
            <a:off x="293914" y="803049"/>
            <a:ext cx="11898086" cy="6054951"/>
          </a:xfrm>
        </p:spPr>
        <p:txBody>
          <a:bodyPr>
            <a:normAutofit/>
          </a:bodyPr>
          <a:lstStyle/>
          <a:p>
            <a:r>
              <a:rPr lang="en-US" dirty="0"/>
              <a:t>In I2C before the performing, the </a:t>
            </a:r>
            <a:r>
              <a:rPr lang="en-US" dirty="0">
                <a:solidFill>
                  <a:srgbClr val="0000FF"/>
                </a:solidFill>
              </a:rPr>
              <a:t>WRITE operation </a:t>
            </a:r>
            <a:r>
              <a:rPr lang="en-US" dirty="0"/>
              <a:t>master has to assert a </a:t>
            </a:r>
            <a:r>
              <a:rPr lang="en-US" dirty="0">
                <a:solidFill>
                  <a:srgbClr val="C00000"/>
                </a:solidFill>
              </a:rPr>
              <a:t>start condition</a:t>
            </a:r>
            <a:r>
              <a:rPr lang="en-US" dirty="0"/>
              <a:t> on I2C bus with the </a:t>
            </a:r>
            <a:r>
              <a:rPr lang="en-US" dirty="0">
                <a:solidFill>
                  <a:srgbClr val="FF6600"/>
                </a:solidFill>
              </a:rPr>
              <a:t>slave’s address </a:t>
            </a:r>
            <a:r>
              <a:rPr lang="en-US" dirty="0"/>
              <a:t>and write control bit (for write operation control bit will be 0).</a:t>
            </a:r>
          </a:p>
          <a:p>
            <a:r>
              <a:rPr lang="en-US" dirty="0"/>
              <a:t>If the </a:t>
            </a:r>
            <a:r>
              <a:rPr lang="en-US" dirty="0">
                <a:solidFill>
                  <a:srgbClr val="CC00FF"/>
                </a:solidFill>
              </a:rPr>
              <a:t>transmitted address </a:t>
            </a:r>
            <a:r>
              <a:rPr lang="en-US" dirty="0"/>
              <a:t>match with any slave which connected to the I2C bus then master receives an acknowledge (ACK) bit. After getting the ACK bit master send the </a:t>
            </a:r>
            <a:r>
              <a:rPr lang="en-US" dirty="0">
                <a:solidFill>
                  <a:srgbClr val="FF00FF"/>
                </a:solidFill>
              </a:rPr>
              <a:t>address of the register</a:t>
            </a:r>
            <a:r>
              <a:rPr lang="en-US" dirty="0"/>
              <a:t>, where it wishes to write, the slave will acknowledge again, letting the master know it is ready for the </a:t>
            </a:r>
            <a:r>
              <a:rPr lang="en-US" dirty="0">
                <a:solidFill>
                  <a:srgbClr val="0000FF"/>
                </a:solidFill>
              </a:rPr>
              <a:t>WRITE operation</a:t>
            </a:r>
            <a:r>
              <a:rPr lang="en-US" dirty="0"/>
              <a:t>.</a:t>
            </a:r>
          </a:p>
          <a:p>
            <a:r>
              <a:rPr lang="en-US" dirty="0"/>
              <a:t>After getting this acknowledgment, the master will start sending the data to the slave. Master will get the acknowledgment of each transmitted byte of data.</a:t>
            </a:r>
          </a:p>
          <a:p>
            <a:r>
              <a:rPr lang="en-US" dirty="0"/>
              <a:t>When the master has sent all the data then the master end the transmission with a </a:t>
            </a:r>
            <a:r>
              <a:rPr lang="en-US" dirty="0">
                <a:solidFill>
                  <a:srgbClr val="FF5050"/>
                </a:solidFill>
              </a:rPr>
              <a:t>STOP condition</a:t>
            </a:r>
            <a:r>
              <a:rPr lang="en-US" dirty="0"/>
              <a:t>.</a:t>
            </a:r>
          </a:p>
        </p:txBody>
      </p:sp>
    </p:spTree>
    <p:extLst>
      <p:ext uri="{BB962C8B-B14F-4D97-AF65-F5344CB8AC3E}">
        <p14:creationId xmlns:p14="http://schemas.microsoft.com/office/powerpoint/2010/main" val="3476411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83029" y="72098"/>
            <a:ext cx="8131628" cy="1137103"/>
          </a:xfrm>
        </p:spPr>
        <p:txBody>
          <a:bodyPr>
            <a:normAutofit fontScale="90000"/>
          </a:bodyPr>
          <a:lstStyle/>
          <a:p>
            <a:r>
              <a:rPr lang="sv-SE" sz="4000" b="1" dirty="0"/>
              <a:t>I2C WRITE operation</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16</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3316" y="4698184"/>
            <a:ext cx="5767614" cy="1840728"/>
          </a:xfrm>
          <a:prstGeom prst="rect">
            <a:avLst/>
          </a:prstGeom>
        </p:spPr>
      </p:pic>
      <p:pic>
        <p:nvPicPr>
          <p:cNvPr id="8" name="Content Placeholder 7"/>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741034" y="494826"/>
            <a:ext cx="8601075" cy="1428750"/>
          </a:xfr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3290" y="1647239"/>
            <a:ext cx="11287125" cy="2762250"/>
          </a:xfrm>
          <a:prstGeom prst="rect">
            <a:avLst/>
          </a:prstGeom>
        </p:spPr>
      </p:pic>
    </p:spTree>
    <p:extLst>
      <p:ext uri="{BB962C8B-B14F-4D97-AF65-F5344CB8AC3E}">
        <p14:creationId xmlns:p14="http://schemas.microsoft.com/office/powerpoint/2010/main" val="2481426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796BF-5F96-4070-B1D1-FD2847DC42E1}"/>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64DCA28C-D35B-4B06-9D1C-F695B63C94D0}"/>
              </a:ext>
            </a:extLst>
          </p:cNvPr>
          <p:cNvSpPr>
            <a:spLocks noGrp="1"/>
          </p:cNvSpPr>
          <p:nvPr>
            <p:ph type="sldNum" sz="quarter" idx="12"/>
          </p:nvPr>
        </p:nvSpPr>
        <p:spPr/>
        <p:txBody>
          <a:bodyPr/>
          <a:lstStyle/>
          <a:p>
            <a:fld id="{3A843EF9-BEF5-40C9-B5B2-816844E1641A}" type="slidenum">
              <a:rPr lang="en-US" smtClean="0"/>
              <a:pPr/>
              <a:t>17</a:t>
            </a:fld>
            <a:endParaRPr lang="en-US"/>
          </a:p>
        </p:txBody>
      </p:sp>
      <p:sp>
        <p:nvSpPr>
          <p:cNvPr id="7" name="TextBox 6">
            <a:extLst>
              <a:ext uri="{FF2B5EF4-FFF2-40B4-BE49-F238E27FC236}">
                <a16:creationId xmlns:a16="http://schemas.microsoft.com/office/drawing/2014/main" id="{D1ED54AB-0E2D-47CB-B127-72B45863CD62}"/>
              </a:ext>
            </a:extLst>
          </p:cNvPr>
          <p:cNvSpPr txBox="1"/>
          <p:nvPr/>
        </p:nvSpPr>
        <p:spPr>
          <a:xfrm>
            <a:off x="6230319" y="2107769"/>
            <a:ext cx="4122549" cy="1815882"/>
          </a:xfrm>
          <a:prstGeom prst="rect">
            <a:avLst/>
          </a:prstGeom>
          <a:noFill/>
        </p:spPr>
        <p:txBody>
          <a:bodyPr wrap="square" rtlCol="0">
            <a:spAutoFit/>
          </a:bodyPr>
          <a:lstStyle/>
          <a:p>
            <a:r>
              <a:rPr lang="en-US" sz="2800" dirty="0"/>
              <a:t>Figure: Sequence diagram showing Master to slave WRITE operation</a:t>
            </a:r>
          </a:p>
          <a:p>
            <a:r>
              <a:rPr lang="en-US" sz="2800" dirty="0"/>
              <a:t> (send 2 data frame)</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0932"/>
            <a:ext cx="3977531" cy="6520543"/>
          </a:xfrm>
        </p:spPr>
      </p:pic>
    </p:spTree>
    <p:extLst>
      <p:ext uri="{BB962C8B-B14F-4D97-AF65-F5344CB8AC3E}">
        <p14:creationId xmlns:p14="http://schemas.microsoft.com/office/powerpoint/2010/main" val="3349499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5" y="365126"/>
            <a:ext cx="8131628" cy="1137103"/>
          </a:xfrm>
        </p:spPr>
        <p:txBody>
          <a:bodyPr>
            <a:normAutofit fontScale="90000"/>
          </a:bodyPr>
          <a:lstStyle/>
          <a:p>
            <a:r>
              <a:rPr lang="sv-SE" sz="4000" b="1" dirty="0"/>
              <a:t>I2C READ operation</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18</a:t>
            </a:fld>
            <a:endParaRPr lang="en-US"/>
          </a:p>
        </p:txBody>
      </p:sp>
      <p:sp>
        <p:nvSpPr>
          <p:cNvPr id="3" name="Content Placeholder 2"/>
          <p:cNvSpPr>
            <a:spLocks noGrp="1"/>
          </p:cNvSpPr>
          <p:nvPr>
            <p:ph idx="1"/>
          </p:nvPr>
        </p:nvSpPr>
        <p:spPr>
          <a:xfrm>
            <a:off x="293914" y="933677"/>
            <a:ext cx="11517086" cy="5325609"/>
          </a:xfrm>
        </p:spPr>
        <p:txBody>
          <a:bodyPr>
            <a:normAutofit/>
          </a:bodyPr>
          <a:lstStyle/>
          <a:p>
            <a:r>
              <a:rPr lang="en-US" dirty="0"/>
              <a:t> Here, master asserts the </a:t>
            </a:r>
            <a:r>
              <a:rPr lang="en-US" dirty="0">
                <a:solidFill>
                  <a:srgbClr val="C00000"/>
                </a:solidFill>
              </a:rPr>
              <a:t>start condition </a:t>
            </a:r>
            <a:r>
              <a:rPr lang="en-US" dirty="0"/>
              <a:t>before the </a:t>
            </a:r>
            <a:r>
              <a:rPr lang="en-US" dirty="0">
                <a:solidFill>
                  <a:srgbClr val="0000FF"/>
                </a:solidFill>
              </a:rPr>
              <a:t>READ operation</a:t>
            </a:r>
            <a:r>
              <a:rPr lang="en-US" dirty="0"/>
              <a:t>. After the start condition master transmit the </a:t>
            </a:r>
            <a:r>
              <a:rPr lang="en-US" dirty="0">
                <a:solidFill>
                  <a:srgbClr val="FF5050"/>
                </a:solidFill>
              </a:rPr>
              <a:t>slave address </a:t>
            </a:r>
            <a:r>
              <a:rPr lang="en-US" dirty="0"/>
              <a:t>with </a:t>
            </a:r>
            <a:r>
              <a:rPr lang="en-US" dirty="0">
                <a:solidFill>
                  <a:srgbClr val="0000FF"/>
                </a:solidFill>
              </a:rPr>
              <a:t>READ</a:t>
            </a:r>
            <a:r>
              <a:rPr lang="en-US" dirty="0"/>
              <a:t> control bit (for read operation control bit will be 1), if the transmitted address match with any device in the I2C bus then it acknowledges to the master.</a:t>
            </a:r>
          </a:p>
          <a:p>
            <a:r>
              <a:rPr lang="en-US" dirty="0"/>
              <a:t>After getting ACK bit, master release the data bus but continue sending the clock pulse, in that situation </a:t>
            </a:r>
            <a:r>
              <a:rPr lang="en-US" dirty="0">
                <a:solidFill>
                  <a:srgbClr val="7030A0"/>
                </a:solidFill>
              </a:rPr>
              <a:t>master become receiver </a:t>
            </a:r>
            <a:r>
              <a:rPr lang="en-US" dirty="0"/>
              <a:t>and </a:t>
            </a:r>
            <a:r>
              <a:rPr lang="en-US" dirty="0">
                <a:solidFill>
                  <a:srgbClr val="00B050"/>
                </a:solidFill>
              </a:rPr>
              <a:t>slave become the transmitter</a:t>
            </a:r>
            <a:r>
              <a:rPr lang="en-US" dirty="0"/>
              <a:t>.</a:t>
            </a:r>
          </a:p>
          <a:p>
            <a:r>
              <a:rPr lang="en-US" dirty="0"/>
              <a:t>In the </a:t>
            </a:r>
            <a:r>
              <a:rPr lang="en-US" dirty="0">
                <a:solidFill>
                  <a:srgbClr val="0000FF"/>
                </a:solidFill>
              </a:rPr>
              <a:t>READ operation</a:t>
            </a:r>
            <a:r>
              <a:rPr lang="en-US" dirty="0"/>
              <a:t>, the master gives the </a:t>
            </a:r>
            <a:r>
              <a:rPr lang="en-US" dirty="0">
                <a:solidFill>
                  <a:srgbClr val="FF0000"/>
                </a:solidFill>
              </a:rPr>
              <a:t>acknowledgment </a:t>
            </a:r>
            <a:r>
              <a:rPr lang="en-US" dirty="0"/>
              <a:t>to the slave on the receiving of every byte of data to let the slave know that it is ready for more data. Once the master has received the number of bytes which it is expecting, it will send a </a:t>
            </a:r>
            <a:r>
              <a:rPr lang="en-US" dirty="0">
                <a:solidFill>
                  <a:srgbClr val="FF00FF"/>
                </a:solidFill>
              </a:rPr>
              <a:t>NACK bit </a:t>
            </a:r>
            <a:r>
              <a:rPr lang="en-US" dirty="0"/>
              <a:t>to release the BUS and send the </a:t>
            </a:r>
            <a:r>
              <a:rPr lang="en-US"/>
              <a:t>STOP condition to </a:t>
            </a:r>
            <a:r>
              <a:rPr lang="en-US" dirty="0"/>
              <a:t>halt the communication.</a:t>
            </a:r>
          </a:p>
        </p:txBody>
      </p:sp>
    </p:spTree>
    <p:extLst>
      <p:ext uri="{BB962C8B-B14F-4D97-AF65-F5344CB8AC3E}">
        <p14:creationId xmlns:p14="http://schemas.microsoft.com/office/powerpoint/2010/main" val="1585921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83029" y="72098"/>
            <a:ext cx="8131628" cy="1137103"/>
          </a:xfrm>
        </p:spPr>
        <p:txBody>
          <a:bodyPr>
            <a:normAutofit fontScale="90000"/>
          </a:bodyPr>
          <a:lstStyle/>
          <a:p>
            <a:r>
              <a:rPr lang="sv-SE" sz="4000" b="1" dirty="0"/>
              <a:t>I2C READ operation</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19</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3316" y="4698184"/>
            <a:ext cx="5767614" cy="1840728"/>
          </a:xfrm>
          <a:prstGeom prst="rect">
            <a:avLst/>
          </a:prstGeom>
        </p:spPr>
      </p:pic>
      <p:pic>
        <p:nvPicPr>
          <p:cNvPr id="2050" name="Picture 2" descr="https://embedjournal.com/assets/posts/embedded/2013-05-13-two-wire-interface-i2c-protocol-in-a-nut-shell/i2c-re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28" y="1712406"/>
            <a:ext cx="12006943" cy="2934682"/>
          </a:xfrm>
          <a:prstGeom prst="rect">
            <a:avLst/>
          </a:prstGeom>
          <a:noFill/>
          <a:extLst>
            <a:ext uri="{909E8E84-426E-40DD-AFC4-6F175D3DCCD1}">
              <a14:hiddenFill xmlns:a14="http://schemas.microsoft.com/office/drawing/2010/main">
                <a:solidFill>
                  <a:srgbClr val="FFFFFF"/>
                </a:solidFill>
              </a14:hiddenFill>
            </a:ext>
          </a:extLst>
        </p:spPr>
      </p:pic>
      <p:pic>
        <p:nvPicPr>
          <p:cNvPr id="9" name="Content Placeholder 8">
            <a:extLst>
              <a:ext uri="{FF2B5EF4-FFF2-40B4-BE49-F238E27FC236}">
                <a16:creationId xmlns:a16="http://schemas.microsoft.com/office/drawing/2014/main" id="{6D620AA4-5495-446F-9BDD-9FFBD5840C57}"/>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419746" y="740968"/>
            <a:ext cx="10515600" cy="1119030"/>
          </a:xfrm>
        </p:spPr>
      </p:pic>
    </p:spTree>
    <p:extLst>
      <p:ext uri="{BB962C8B-B14F-4D97-AF65-F5344CB8AC3E}">
        <p14:creationId xmlns:p14="http://schemas.microsoft.com/office/powerpoint/2010/main" val="35009598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82200-8C85-494E-A336-3E76396721E0}"/>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8C8FF1DF-A61B-442F-AE3E-DE120BD28C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155" y="182805"/>
            <a:ext cx="4770085" cy="6868924"/>
          </a:xfrm>
        </p:spPr>
      </p:pic>
      <p:sp>
        <p:nvSpPr>
          <p:cNvPr id="4" name="Slide Number Placeholder 3">
            <a:extLst>
              <a:ext uri="{FF2B5EF4-FFF2-40B4-BE49-F238E27FC236}">
                <a16:creationId xmlns:a16="http://schemas.microsoft.com/office/drawing/2014/main" id="{EAB51A92-48D5-411C-AFA2-C67DFBEC3DCC}"/>
              </a:ext>
            </a:extLst>
          </p:cNvPr>
          <p:cNvSpPr>
            <a:spLocks noGrp="1"/>
          </p:cNvSpPr>
          <p:nvPr>
            <p:ph type="sldNum" sz="quarter" idx="12"/>
          </p:nvPr>
        </p:nvSpPr>
        <p:spPr/>
        <p:txBody>
          <a:bodyPr/>
          <a:lstStyle/>
          <a:p>
            <a:fld id="{3A843EF9-BEF5-40C9-B5B2-816844E1641A}" type="slidenum">
              <a:rPr lang="en-US" smtClean="0"/>
              <a:pPr/>
              <a:t>20</a:t>
            </a:fld>
            <a:endParaRPr lang="en-US"/>
          </a:p>
        </p:txBody>
      </p:sp>
      <p:sp>
        <p:nvSpPr>
          <p:cNvPr id="7" name="TextBox 6">
            <a:extLst>
              <a:ext uri="{FF2B5EF4-FFF2-40B4-BE49-F238E27FC236}">
                <a16:creationId xmlns:a16="http://schemas.microsoft.com/office/drawing/2014/main" id="{0B6F2FED-8A65-42F4-A2D6-69007CA70A64}"/>
              </a:ext>
            </a:extLst>
          </p:cNvPr>
          <p:cNvSpPr txBox="1"/>
          <p:nvPr/>
        </p:nvSpPr>
        <p:spPr>
          <a:xfrm>
            <a:off x="6230319" y="2107769"/>
            <a:ext cx="4122549" cy="1569660"/>
          </a:xfrm>
          <a:prstGeom prst="rect">
            <a:avLst/>
          </a:prstGeom>
          <a:noFill/>
        </p:spPr>
        <p:txBody>
          <a:bodyPr wrap="square" rtlCol="0">
            <a:spAutoFit/>
          </a:bodyPr>
          <a:lstStyle/>
          <a:p>
            <a:r>
              <a:rPr lang="en-US" sz="2400" dirty="0"/>
              <a:t>Figure: Sequence diagram showing Master to slave READ operation</a:t>
            </a:r>
          </a:p>
          <a:p>
            <a:r>
              <a:rPr lang="en-US" sz="2400" dirty="0"/>
              <a:t> (Receive 3 data frame)</a:t>
            </a:r>
          </a:p>
        </p:txBody>
      </p:sp>
    </p:spTree>
    <p:extLst>
      <p:ext uri="{BB962C8B-B14F-4D97-AF65-F5344CB8AC3E}">
        <p14:creationId xmlns:p14="http://schemas.microsoft.com/office/powerpoint/2010/main" val="3726122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4691" y="445812"/>
            <a:ext cx="11122617" cy="4506449"/>
          </a:xfrm>
        </p:spPr>
        <p:txBody>
          <a:bodyPr/>
          <a:lstStyle/>
          <a:p>
            <a:pPr marL="0" indent="0">
              <a:buNone/>
            </a:pPr>
            <a:r>
              <a:rPr lang="en-US" dirty="0">
                <a:solidFill>
                  <a:srgbClr val="0000FF"/>
                </a:solidFill>
              </a:rPr>
              <a:t>Exercise: Master (index:2H)  send data (char ‘hat’)  to the slave (index:</a:t>
            </a:r>
            <a:r>
              <a:rPr lang="en-US">
                <a:solidFill>
                  <a:srgbClr val="0000FF"/>
                </a:solidFill>
              </a:rPr>
              <a:t>8H). </a:t>
            </a:r>
            <a:r>
              <a:rPr lang="en-US" dirty="0">
                <a:solidFill>
                  <a:srgbClr val="0000FF"/>
                </a:solidFill>
              </a:rPr>
              <a:t>Draw the corresponding sequence diagram.</a:t>
            </a:r>
            <a:r>
              <a:rPr lang="en-US" u="sng" dirty="0">
                <a:hlinkClick r:id="rId3"/>
              </a:rPr>
              <a:t>     </a:t>
            </a:r>
          </a:p>
          <a:p>
            <a:pPr marL="0" indent="0">
              <a:buNone/>
            </a:pPr>
            <a:r>
              <a:rPr lang="en-US" u="sng" dirty="0">
                <a:hlinkClick r:id="rId3"/>
              </a:rPr>
              <a:t>Decimal ASCII Chart</a:t>
            </a:r>
          </a:p>
          <a:p>
            <a:pPr marL="0" indent="0">
              <a:buNone/>
            </a:pPr>
            <a:endParaRPr lang="en-US" dirty="0">
              <a:solidFill>
                <a:srgbClr val="0000FF"/>
              </a:solidFill>
            </a:endParaRPr>
          </a:p>
          <a:p>
            <a:pPr marL="0" indent="0">
              <a:buNone/>
            </a:pPr>
            <a:endParaRPr lang="en-US" dirty="0"/>
          </a:p>
          <a:p>
            <a:endParaRPr lang="en-US" u="sng" dirty="0">
              <a:solidFill>
                <a:srgbClr val="FF0000"/>
              </a:solidFill>
            </a:endParaRPr>
          </a:p>
        </p:txBody>
      </p:sp>
      <p:sp>
        <p:nvSpPr>
          <p:cNvPr id="4" name="Slide Number Placeholder 3"/>
          <p:cNvSpPr>
            <a:spLocks noGrp="1"/>
          </p:cNvSpPr>
          <p:nvPr>
            <p:ph type="sldNum" sz="quarter" idx="12"/>
          </p:nvPr>
        </p:nvSpPr>
        <p:spPr/>
        <p:txBody>
          <a:bodyPr/>
          <a:lstStyle/>
          <a:p>
            <a:fld id="{3A843EF9-BEF5-40C9-B5B2-816844E1641A}" type="slidenum">
              <a:rPr lang="en-US" smtClean="0"/>
              <a:pPr/>
              <a:t>21</a:t>
            </a:fld>
            <a:endParaRPr lang="en-US"/>
          </a:p>
        </p:txBody>
      </p:sp>
      <p:pic>
        <p:nvPicPr>
          <p:cNvPr id="1026" name="Picture 2" descr="http://www.plcdev.com/files/plcdev/images/ascii%20chart%20regular.png">
            <a:extLst>
              <a:ext uri="{FF2B5EF4-FFF2-40B4-BE49-F238E27FC236}">
                <a16:creationId xmlns:a16="http://schemas.microsoft.com/office/drawing/2014/main" id="{F0865495-F6A3-4264-A95D-9C57FA3723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064" y="1430757"/>
            <a:ext cx="11010736" cy="477060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DA959F6-94B1-4BC0-851A-E3963551B7DE}"/>
              </a:ext>
            </a:extLst>
          </p:cNvPr>
          <p:cNvSpPr txBox="1"/>
          <p:nvPr/>
        </p:nvSpPr>
        <p:spPr>
          <a:xfrm>
            <a:off x="9316063" y="1275773"/>
            <a:ext cx="2648482" cy="738664"/>
          </a:xfrm>
          <a:prstGeom prst="rect">
            <a:avLst/>
          </a:prstGeom>
          <a:noFill/>
        </p:spPr>
        <p:txBody>
          <a:bodyPr wrap="none" rtlCol="0">
            <a:spAutoFit/>
          </a:bodyPr>
          <a:lstStyle/>
          <a:p>
            <a:r>
              <a:rPr lang="en-US" sz="2400" u="sng" dirty="0">
                <a:hlinkClick r:id="rId3"/>
              </a:rPr>
              <a:t>Decimal ASCII Chart</a:t>
            </a:r>
          </a:p>
          <a:p>
            <a:endParaRPr lang="en-US" dirty="0"/>
          </a:p>
        </p:txBody>
      </p:sp>
    </p:spTree>
    <p:extLst>
      <p:ext uri="{BB962C8B-B14F-4D97-AF65-F5344CB8AC3E}">
        <p14:creationId xmlns:p14="http://schemas.microsoft.com/office/powerpoint/2010/main" val="2641126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8828" y="368320"/>
            <a:ext cx="11200108" cy="4506449"/>
          </a:xfrm>
        </p:spPr>
        <p:txBody>
          <a:bodyPr/>
          <a:lstStyle/>
          <a:p>
            <a:pPr marL="0" indent="0">
              <a:buNone/>
            </a:pPr>
            <a:r>
              <a:rPr lang="en-US" dirty="0">
                <a:solidFill>
                  <a:srgbClr val="0000FF"/>
                </a:solidFill>
              </a:rPr>
              <a:t>Exercise: Master (index:3H)  receive 5 byte data (char ‘water’)  from the slave (index:9H). Draw the corresponding sequence diagram.</a:t>
            </a:r>
          </a:p>
          <a:p>
            <a:pPr marL="0" indent="0">
              <a:buNone/>
            </a:pPr>
            <a:endParaRPr lang="en-US" dirty="0"/>
          </a:p>
          <a:p>
            <a:endParaRPr lang="en-US" u="sng" dirty="0">
              <a:solidFill>
                <a:srgbClr val="FF0000"/>
              </a:solidFill>
            </a:endParaRPr>
          </a:p>
        </p:txBody>
      </p:sp>
      <p:sp>
        <p:nvSpPr>
          <p:cNvPr id="4" name="Slide Number Placeholder 3"/>
          <p:cNvSpPr>
            <a:spLocks noGrp="1"/>
          </p:cNvSpPr>
          <p:nvPr>
            <p:ph type="sldNum" sz="quarter" idx="12"/>
          </p:nvPr>
        </p:nvSpPr>
        <p:spPr/>
        <p:txBody>
          <a:bodyPr/>
          <a:lstStyle/>
          <a:p>
            <a:fld id="{3A843EF9-BEF5-40C9-B5B2-816844E1641A}" type="slidenum">
              <a:rPr lang="en-US" smtClean="0"/>
              <a:pPr/>
              <a:t>22</a:t>
            </a:fld>
            <a:endParaRPr lang="en-US"/>
          </a:p>
        </p:txBody>
      </p:sp>
      <p:pic>
        <p:nvPicPr>
          <p:cNvPr id="1026" name="Picture 2" descr="http://www.plcdev.com/files/plcdev/images/ascii%20chart%20regular.png">
            <a:extLst>
              <a:ext uri="{FF2B5EF4-FFF2-40B4-BE49-F238E27FC236}">
                <a16:creationId xmlns:a16="http://schemas.microsoft.com/office/drawing/2014/main" id="{F0865495-F6A3-4264-A95D-9C57FA3723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064" y="1430757"/>
            <a:ext cx="11010736" cy="477060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69E4E27-45D2-475C-8239-8010005EFB33}"/>
              </a:ext>
            </a:extLst>
          </p:cNvPr>
          <p:cNvSpPr txBox="1"/>
          <p:nvPr/>
        </p:nvSpPr>
        <p:spPr>
          <a:xfrm>
            <a:off x="9316063" y="1275773"/>
            <a:ext cx="2648482" cy="738664"/>
          </a:xfrm>
          <a:prstGeom prst="rect">
            <a:avLst/>
          </a:prstGeom>
          <a:noFill/>
        </p:spPr>
        <p:txBody>
          <a:bodyPr wrap="none" rtlCol="0">
            <a:spAutoFit/>
          </a:bodyPr>
          <a:lstStyle/>
          <a:p>
            <a:r>
              <a:rPr lang="en-US" sz="2400" u="sng" dirty="0">
                <a:hlinkClick r:id="rId4"/>
              </a:rPr>
              <a:t>Decimal ASCII Chart</a:t>
            </a:r>
          </a:p>
          <a:p>
            <a:endParaRPr lang="en-US" dirty="0"/>
          </a:p>
        </p:txBody>
      </p:sp>
    </p:spTree>
    <p:extLst>
      <p:ext uri="{BB962C8B-B14F-4D97-AF65-F5344CB8AC3E}">
        <p14:creationId xmlns:p14="http://schemas.microsoft.com/office/powerpoint/2010/main" val="24827014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5" y="365126"/>
            <a:ext cx="8131628" cy="1137103"/>
          </a:xfrm>
        </p:spPr>
        <p:txBody>
          <a:bodyPr>
            <a:normAutofit fontScale="90000"/>
          </a:bodyPr>
          <a:lstStyle/>
          <a:p>
            <a:r>
              <a:rPr lang="sv-SE" sz="4000" b="1" dirty="0"/>
              <a:t>I2C disadvantage</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23</a:t>
            </a:fld>
            <a:endParaRPr lang="en-US"/>
          </a:p>
        </p:txBody>
      </p:sp>
      <p:sp>
        <p:nvSpPr>
          <p:cNvPr id="3" name="Content Placeholder 2"/>
          <p:cNvSpPr>
            <a:spLocks noGrp="1"/>
          </p:cNvSpPr>
          <p:nvPr>
            <p:ph idx="1"/>
          </p:nvPr>
        </p:nvSpPr>
        <p:spPr>
          <a:xfrm>
            <a:off x="293914" y="933677"/>
            <a:ext cx="11517086" cy="5325609"/>
          </a:xfrm>
        </p:spPr>
        <p:txBody>
          <a:bodyPr>
            <a:normAutofit/>
          </a:bodyPr>
          <a:lstStyle/>
          <a:p>
            <a:r>
              <a:rPr lang="en-US" dirty="0"/>
              <a:t>Slower data transfer rate than SPI</a:t>
            </a:r>
          </a:p>
          <a:p>
            <a:r>
              <a:rPr lang="en-US" dirty="0"/>
              <a:t>The size of the data frame is limited to 8 bits</a:t>
            </a:r>
          </a:p>
        </p:txBody>
      </p:sp>
    </p:spTree>
    <p:extLst>
      <p:ext uri="{BB962C8B-B14F-4D97-AF65-F5344CB8AC3E}">
        <p14:creationId xmlns:p14="http://schemas.microsoft.com/office/powerpoint/2010/main" val="636083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5" y="365126"/>
            <a:ext cx="8131628" cy="1137103"/>
          </a:xfrm>
        </p:spPr>
        <p:txBody>
          <a:bodyPr>
            <a:normAutofit fontScale="90000"/>
          </a:bodyPr>
          <a:lstStyle/>
          <a:p>
            <a:r>
              <a:rPr lang="sv-SE" sz="4000" b="1" dirty="0"/>
              <a:t>I2C Q and A</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24</a:t>
            </a:fld>
            <a:endParaRPr lang="en-US"/>
          </a:p>
        </p:txBody>
      </p:sp>
      <p:sp>
        <p:nvSpPr>
          <p:cNvPr id="3" name="Content Placeholder 2"/>
          <p:cNvSpPr>
            <a:spLocks noGrp="1"/>
          </p:cNvSpPr>
          <p:nvPr>
            <p:ph idx="1"/>
          </p:nvPr>
        </p:nvSpPr>
        <p:spPr>
          <a:xfrm>
            <a:off x="293914" y="933677"/>
            <a:ext cx="11527972" cy="5641294"/>
          </a:xfrm>
        </p:spPr>
        <p:txBody>
          <a:bodyPr>
            <a:normAutofit/>
          </a:bodyPr>
          <a:lstStyle/>
          <a:p>
            <a:r>
              <a:rPr lang="en-US" dirty="0">
                <a:solidFill>
                  <a:srgbClr val="0000FF"/>
                </a:solidFill>
              </a:rPr>
              <a:t>Can masters talk to each other in a I2C BUS</a:t>
            </a:r>
            <a:r>
              <a:rPr lang="en-US" dirty="0"/>
              <a:t>? </a:t>
            </a:r>
          </a:p>
          <a:p>
            <a:pPr marL="0" indent="0">
              <a:buNone/>
            </a:pPr>
            <a:r>
              <a:rPr lang="en-US" dirty="0"/>
              <a:t>No.</a:t>
            </a:r>
          </a:p>
          <a:p>
            <a:pPr marL="0" indent="0">
              <a:buNone/>
            </a:pPr>
            <a:r>
              <a:rPr lang="en-US" dirty="0"/>
              <a:t>Only one master can be active at once - this means that a master can only talk to slaves and slaves can appropriately reply. To have a multi-master scenario, there has to be relinquishment of master status by one device and acceptance of master status by another device.</a:t>
            </a:r>
          </a:p>
          <a:p>
            <a:pPr marL="0" indent="0">
              <a:buNone/>
            </a:pPr>
            <a:endParaRPr lang="en-US" dirty="0"/>
          </a:p>
          <a:p>
            <a:r>
              <a:rPr lang="en-US" dirty="0">
                <a:solidFill>
                  <a:srgbClr val="0000FF"/>
                </a:solidFill>
              </a:rPr>
              <a:t>Can slave talk to each other in a I2C BUS</a:t>
            </a:r>
            <a:r>
              <a:rPr lang="en-US" dirty="0"/>
              <a:t>? </a:t>
            </a:r>
          </a:p>
          <a:p>
            <a:pPr marL="0" indent="0">
              <a:buNone/>
            </a:pPr>
            <a:r>
              <a:rPr lang="en-US" dirty="0"/>
              <a:t>No.</a:t>
            </a:r>
          </a:p>
          <a:p>
            <a:endParaRPr lang="en-US" dirty="0"/>
          </a:p>
          <a:p>
            <a:pPr marL="0" indent="0">
              <a:buNone/>
            </a:pPr>
            <a:endParaRPr lang="en-US" dirty="0"/>
          </a:p>
        </p:txBody>
      </p:sp>
    </p:spTree>
    <p:extLst>
      <p:ext uri="{BB962C8B-B14F-4D97-AF65-F5344CB8AC3E}">
        <p14:creationId xmlns:p14="http://schemas.microsoft.com/office/powerpoint/2010/main" val="860493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93915" y="365126"/>
            <a:ext cx="8131628" cy="1137103"/>
          </a:xfrm>
        </p:spPr>
        <p:txBody>
          <a:bodyPr>
            <a:normAutofit fontScale="90000"/>
          </a:bodyPr>
          <a:lstStyle/>
          <a:p>
            <a:r>
              <a:rPr lang="sv-SE" sz="4000" b="1" dirty="0"/>
              <a:t>I2C Q and A</a:t>
            </a:r>
            <a:br>
              <a:rPr lang="en-US" b="1" dirty="0"/>
            </a:br>
            <a:endParaRPr lang="en-US" dirty="0"/>
          </a:p>
        </p:txBody>
      </p:sp>
      <p:sp>
        <p:nvSpPr>
          <p:cNvPr id="2" name="Slide Number Placeholder 1"/>
          <p:cNvSpPr>
            <a:spLocks noGrp="1"/>
          </p:cNvSpPr>
          <p:nvPr>
            <p:ph type="sldNum" sz="quarter" idx="12"/>
          </p:nvPr>
        </p:nvSpPr>
        <p:spPr/>
        <p:txBody>
          <a:bodyPr/>
          <a:lstStyle/>
          <a:p>
            <a:fld id="{3A843EF9-BEF5-40C9-B5B2-816844E1641A}" type="slidenum">
              <a:rPr lang="en-US" smtClean="0"/>
              <a:pPr/>
              <a:t>25</a:t>
            </a:fld>
            <a:endParaRPr lang="en-US"/>
          </a:p>
        </p:txBody>
      </p:sp>
      <p:sp>
        <p:nvSpPr>
          <p:cNvPr id="3" name="Content Placeholder 2"/>
          <p:cNvSpPr>
            <a:spLocks noGrp="1"/>
          </p:cNvSpPr>
          <p:nvPr>
            <p:ph idx="1"/>
          </p:nvPr>
        </p:nvSpPr>
        <p:spPr>
          <a:xfrm>
            <a:off x="293914" y="933677"/>
            <a:ext cx="11527972" cy="5641294"/>
          </a:xfrm>
        </p:spPr>
        <p:txBody>
          <a:bodyPr>
            <a:normAutofit lnSpcReduction="10000"/>
          </a:bodyPr>
          <a:lstStyle/>
          <a:p>
            <a:r>
              <a:rPr lang="en-US" dirty="0">
                <a:solidFill>
                  <a:srgbClr val="0000FF"/>
                </a:solidFill>
              </a:rPr>
              <a:t>Can multiple master talk to the slaves simultaneously?</a:t>
            </a:r>
          </a:p>
          <a:p>
            <a:pPr marL="0" indent="0">
              <a:buNone/>
            </a:pPr>
            <a:r>
              <a:rPr lang="en-US" dirty="0"/>
              <a:t>For normal data transfer on the I2C bus only one master can be active. If for some reason two masters initiate I2C command at the same time, in such case each device needs to be able to cooperate with the fact that another device is currently talking and the bus is therefore busy. There two techniques available: </a:t>
            </a:r>
          </a:p>
          <a:p>
            <a:pPr marL="0" indent="0">
              <a:buNone/>
            </a:pPr>
            <a:r>
              <a:rPr lang="en-US" dirty="0"/>
              <a:t>a) Arbitration logic. If two devices start to communicate at the same time the one writing more zeros to the bus wins the arbitration and the other device immediately discontinues any operation on the bus.</a:t>
            </a:r>
          </a:p>
          <a:p>
            <a:pPr marL="0" indent="0">
              <a:buNone/>
            </a:pPr>
            <a:r>
              <a:rPr lang="en-US" dirty="0"/>
              <a:t>b) Bus busy detection. Each device must detect an ongoing bus communication and must not interrupt it. This is achieved by recognizing traffic and waiting for a stop condition to appear before starting to talk on the bus.</a:t>
            </a:r>
          </a:p>
          <a:p>
            <a:pPr marL="0" indent="0">
              <a:buNone/>
            </a:pPr>
            <a:r>
              <a:rPr lang="en-US" dirty="0">
                <a:solidFill>
                  <a:srgbClr val="C00000"/>
                </a:solidFill>
              </a:rPr>
              <a:t>The winning master will control both data bus and clock.</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0839025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20675"/>
            <a:ext cx="10515600" cy="1325563"/>
          </a:xfrm>
        </p:spPr>
        <p:txBody>
          <a:bodyPr/>
          <a:lstStyle/>
          <a:p>
            <a:r>
              <a:rPr lang="en-US" dirty="0"/>
              <a:t>Reference</a:t>
            </a:r>
          </a:p>
        </p:txBody>
      </p:sp>
      <p:sp>
        <p:nvSpPr>
          <p:cNvPr id="3" name="Content Placeholder 2"/>
          <p:cNvSpPr>
            <a:spLocks noGrp="1"/>
          </p:cNvSpPr>
          <p:nvPr>
            <p:ph idx="1"/>
          </p:nvPr>
        </p:nvSpPr>
        <p:spPr/>
        <p:txBody>
          <a:bodyPr/>
          <a:lstStyle/>
          <a:p>
            <a:r>
              <a:rPr lang="en-US" dirty="0">
                <a:hlinkClick r:id="rId2"/>
              </a:rPr>
              <a:t>http://www.circuitbasics.com/basics-of-the-i2c-communication-protocol/</a:t>
            </a:r>
            <a:endParaRPr lang="en-US" dirty="0"/>
          </a:p>
          <a:p>
            <a:r>
              <a:rPr lang="en-US" dirty="0">
                <a:hlinkClick r:id="rId3"/>
              </a:rPr>
              <a:t>https://aticleworld.com/i2c-bus-protocol-and-interface/</a:t>
            </a:r>
            <a:endParaRPr lang="en-US" dirty="0"/>
          </a:p>
          <a:p>
            <a:endParaRPr lang="en-US" dirty="0"/>
          </a:p>
        </p:txBody>
      </p:sp>
      <p:sp>
        <p:nvSpPr>
          <p:cNvPr id="4" name="Slide Number Placeholder 3"/>
          <p:cNvSpPr>
            <a:spLocks noGrp="1"/>
          </p:cNvSpPr>
          <p:nvPr>
            <p:ph type="sldNum" sz="quarter" idx="12"/>
          </p:nvPr>
        </p:nvSpPr>
        <p:spPr/>
        <p:txBody>
          <a:bodyPr/>
          <a:lstStyle/>
          <a:p>
            <a:fld id="{3A843EF9-BEF5-40C9-B5B2-816844E1641A}" type="slidenum">
              <a:rPr lang="en-US" smtClean="0"/>
              <a:pPr/>
              <a:t>26</a:t>
            </a:fld>
            <a:endParaRPr lang="en-US"/>
          </a:p>
        </p:txBody>
      </p:sp>
    </p:spTree>
    <p:extLst>
      <p:ext uri="{BB962C8B-B14F-4D97-AF65-F5344CB8AC3E}">
        <p14:creationId xmlns:p14="http://schemas.microsoft.com/office/powerpoint/2010/main" val="29991094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843EF9-BEF5-40C9-B5B2-816844E1641A}" type="slidenum">
              <a:rPr lang="en-US" smtClean="0"/>
              <a:pPr/>
              <a:t>27</a:t>
            </a:fld>
            <a:endParaRPr lang="en-US"/>
          </a:p>
        </p:txBody>
      </p:sp>
      <p:sp>
        <p:nvSpPr>
          <p:cNvPr id="3" name="Rectangle 2"/>
          <p:cNvSpPr/>
          <p:nvPr/>
        </p:nvSpPr>
        <p:spPr>
          <a:xfrm>
            <a:off x="1965960" y="289560"/>
            <a:ext cx="243840" cy="6263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562600" y="289560"/>
            <a:ext cx="243840" cy="6263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051560" y="104894"/>
            <a:ext cx="863763" cy="369332"/>
          </a:xfrm>
          <a:prstGeom prst="rect">
            <a:avLst/>
          </a:prstGeom>
          <a:noFill/>
        </p:spPr>
        <p:txBody>
          <a:bodyPr wrap="none" rtlCol="0">
            <a:spAutoFit/>
          </a:bodyPr>
          <a:lstStyle/>
          <a:p>
            <a:r>
              <a:rPr lang="en-US" b="1" dirty="0"/>
              <a:t>Master</a:t>
            </a:r>
          </a:p>
        </p:txBody>
      </p:sp>
      <p:sp>
        <p:nvSpPr>
          <p:cNvPr id="6" name="Rectangle 5"/>
          <p:cNvSpPr/>
          <p:nvPr/>
        </p:nvSpPr>
        <p:spPr>
          <a:xfrm>
            <a:off x="6005428" y="118348"/>
            <a:ext cx="682623" cy="369332"/>
          </a:xfrm>
          <a:prstGeom prst="rect">
            <a:avLst/>
          </a:prstGeom>
        </p:spPr>
        <p:txBody>
          <a:bodyPr wrap="none">
            <a:spAutoFit/>
          </a:bodyPr>
          <a:lstStyle/>
          <a:p>
            <a:r>
              <a:rPr lang="en-US" b="1" dirty="0"/>
              <a:t>Slave</a:t>
            </a:r>
          </a:p>
        </p:txBody>
      </p:sp>
      <p:cxnSp>
        <p:nvCxnSpPr>
          <p:cNvPr id="8" name="Straight Arrow Connector 7"/>
          <p:cNvCxnSpPr/>
          <p:nvPr/>
        </p:nvCxnSpPr>
        <p:spPr>
          <a:xfrm>
            <a:off x="2209800" y="487680"/>
            <a:ext cx="3352800" cy="6858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209800" y="982980"/>
            <a:ext cx="3352800" cy="6858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2209800" y="2087880"/>
            <a:ext cx="3352800" cy="400050"/>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2209800" y="2640330"/>
            <a:ext cx="3352800" cy="400050"/>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4" idx="1"/>
          </p:cNvCxnSpPr>
          <p:nvPr/>
        </p:nvCxnSpPr>
        <p:spPr>
          <a:xfrm>
            <a:off x="2209800" y="3268980"/>
            <a:ext cx="3352800" cy="1524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2209800" y="3615690"/>
            <a:ext cx="3352800" cy="400050"/>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209800" y="4229100"/>
            <a:ext cx="3352800" cy="17145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a:off x="2209800" y="4606290"/>
            <a:ext cx="3352800" cy="200025"/>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209800" y="5006340"/>
            <a:ext cx="3352800" cy="17145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2209800" y="5322570"/>
            <a:ext cx="3352800" cy="200025"/>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209800" y="5829300"/>
            <a:ext cx="3352800" cy="1524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209800" y="6195060"/>
            <a:ext cx="3352800" cy="1524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413760" y="318254"/>
            <a:ext cx="767967" cy="369332"/>
          </a:xfrm>
          <a:prstGeom prst="rect">
            <a:avLst/>
          </a:prstGeom>
          <a:noFill/>
        </p:spPr>
        <p:txBody>
          <a:bodyPr wrap="none" rtlCol="0">
            <a:spAutoFit/>
          </a:bodyPr>
          <a:lstStyle/>
          <a:p>
            <a:r>
              <a:rPr lang="en-US" b="1" dirty="0"/>
              <a:t>START</a:t>
            </a:r>
          </a:p>
        </p:txBody>
      </p:sp>
      <p:sp>
        <p:nvSpPr>
          <p:cNvPr id="29" name="TextBox 28"/>
          <p:cNvSpPr txBox="1"/>
          <p:nvPr/>
        </p:nvSpPr>
        <p:spPr>
          <a:xfrm>
            <a:off x="2551696" y="1299448"/>
            <a:ext cx="1236236" cy="369332"/>
          </a:xfrm>
          <a:prstGeom prst="rect">
            <a:avLst/>
          </a:prstGeom>
          <a:noFill/>
        </p:spPr>
        <p:txBody>
          <a:bodyPr wrap="none" rtlCol="0">
            <a:spAutoFit/>
          </a:bodyPr>
          <a:lstStyle/>
          <a:p>
            <a:r>
              <a:rPr lang="en-US" b="1" dirty="0"/>
              <a:t>0001001+1</a:t>
            </a:r>
          </a:p>
        </p:txBody>
      </p:sp>
      <p:sp>
        <p:nvSpPr>
          <p:cNvPr id="31" name="TextBox 30"/>
          <p:cNvSpPr txBox="1"/>
          <p:nvPr/>
        </p:nvSpPr>
        <p:spPr>
          <a:xfrm>
            <a:off x="3611827" y="4780716"/>
            <a:ext cx="569900" cy="369332"/>
          </a:xfrm>
          <a:prstGeom prst="rect">
            <a:avLst/>
          </a:prstGeom>
          <a:noFill/>
        </p:spPr>
        <p:txBody>
          <a:bodyPr wrap="none" rtlCol="0">
            <a:spAutoFit/>
          </a:bodyPr>
          <a:lstStyle/>
          <a:p>
            <a:r>
              <a:rPr lang="en-US" b="1" dirty="0"/>
              <a:t>ACK</a:t>
            </a:r>
          </a:p>
        </p:txBody>
      </p:sp>
      <p:sp>
        <p:nvSpPr>
          <p:cNvPr id="32" name="TextBox 31"/>
          <p:cNvSpPr txBox="1"/>
          <p:nvPr/>
        </p:nvSpPr>
        <p:spPr>
          <a:xfrm>
            <a:off x="3707930" y="2975848"/>
            <a:ext cx="569900" cy="369332"/>
          </a:xfrm>
          <a:prstGeom prst="rect">
            <a:avLst/>
          </a:prstGeom>
          <a:noFill/>
        </p:spPr>
        <p:txBody>
          <a:bodyPr wrap="none" rtlCol="0">
            <a:spAutoFit/>
          </a:bodyPr>
          <a:lstStyle/>
          <a:p>
            <a:r>
              <a:rPr lang="en-US" b="1" dirty="0"/>
              <a:t>ACK</a:t>
            </a:r>
          </a:p>
        </p:txBody>
      </p:sp>
      <p:sp>
        <p:nvSpPr>
          <p:cNvPr id="33" name="TextBox 32"/>
          <p:cNvSpPr txBox="1"/>
          <p:nvPr/>
        </p:nvSpPr>
        <p:spPr>
          <a:xfrm>
            <a:off x="3707930" y="3945493"/>
            <a:ext cx="569900" cy="369332"/>
          </a:xfrm>
          <a:prstGeom prst="rect">
            <a:avLst/>
          </a:prstGeom>
          <a:noFill/>
        </p:spPr>
        <p:txBody>
          <a:bodyPr wrap="none" rtlCol="0">
            <a:spAutoFit/>
          </a:bodyPr>
          <a:lstStyle/>
          <a:p>
            <a:r>
              <a:rPr lang="en-US" b="1" dirty="0"/>
              <a:t>ACK</a:t>
            </a:r>
          </a:p>
        </p:txBody>
      </p:sp>
      <p:sp>
        <p:nvSpPr>
          <p:cNvPr id="34" name="TextBox 33"/>
          <p:cNvSpPr txBox="1"/>
          <p:nvPr/>
        </p:nvSpPr>
        <p:spPr>
          <a:xfrm>
            <a:off x="3468700" y="1930122"/>
            <a:ext cx="569900" cy="369332"/>
          </a:xfrm>
          <a:prstGeom prst="rect">
            <a:avLst/>
          </a:prstGeom>
          <a:noFill/>
        </p:spPr>
        <p:txBody>
          <a:bodyPr wrap="none" rtlCol="0">
            <a:spAutoFit/>
          </a:bodyPr>
          <a:lstStyle/>
          <a:p>
            <a:r>
              <a:rPr lang="en-US" b="1" dirty="0"/>
              <a:t>ACK</a:t>
            </a:r>
          </a:p>
        </p:txBody>
      </p:sp>
      <p:sp>
        <p:nvSpPr>
          <p:cNvPr id="35" name="TextBox 34"/>
          <p:cNvSpPr txBox="1"/>
          <p:nvPr/>
        </p:nvSpPr>
        <p:spPr>
          <a:xfrm>
            <a:off x="3512793" y="5930622"/>
            <a:ext cx="722185" cy="369332"/>
          </a:xfrm>
          <a:prstGeom prst="rect">
            <a:avLst/>
          </a:prstGeom>
          <a:noFill/>
        </p:spPr>
        <p:txBody>
          <a:bodyPr wrap="none" rtlCol="0">
            <a:spAutoFit/>
          </a:bodyPr>
          <a:lstStyle/>
          <a:p>
            <a:r>
              <a:rPr lang="en-US" b="1" dirty="0"/>
              <a:t>NACK</a:t>
            </a:r>
          </a:p>
        </p:txBody>
      </p:sp>
      <p:sp>
        <p:nvSpPr>
          <p:cNvPr id="36" name="TextBox 35"/>
          <p:cNvSpPr txBox="1"/>
          <p:nvPr/>
        </p:nvSpPr>
        <p:spPr>
          <a:xfrm>
            <a:off x="3569090" y="6299954"/>
            <a:ext cx="677943" cy="369332"/>
          </a:xfrm>
          <a:prstGeom prst="rect">
            <a:avLst/>
          </a:prstGeom>
          <a:noFill/>
        </p:spPr>
        <p:txBody>
          <a:bodyPr wrap="none" rtlCol="0">
            <a:spAutoFit/>
          </a:bodyPr>
          <a:lstStyle/>
          <a:p>
            <a:r>
              <a:rPr lang="en-US" b="1" dirty="0"/>
              <a:t>STOP</a:t>
            </a:r>
          </a:p>
        </p:txBody>
      </p:sp>
      <p:sp>
        <p:nvSpPr>
          <p:cNvPr id="37" name="TextBox 36"/>
          <p:cNvSpPr txBox="1"/>
          <p:nvPr/>
        </p:nvSpPr>
        <p:spPr>
          <a:xfrm>
            <a:off x="3558460" y="2455664"/>
            <a:ext cx="1410964" cy="369332"/>
          </a:xfrm>
          <a:prstGeom prst="rect">
            <a:avLst/>
          </a:prstGeom>
          <a:noFill/>
        </p:spPr>
        <p:txBody>
          <a:bodyPr wrap="none" rtlCol="0">
            <a:spAutoFit/>
          </a:bodyPr>
          <a:lstStyle/>
          <a:p>
            <a:r>
              <a:rPr lang="en-US" b="1" dirty="0"/>
              <a:t>01001000(H)</a:t>
            </a:r>
          </a:p>
        </p:txBody>
      </p:sp>
      <p:sp>
        <p:nvSpPr>
          <p:cNvPr id="38" name="TextBox 37"/>
          <p:cNvSpPr txBox="1"/>
          <p:nvPr/>
        </p:nvSpPr>
        <p:spPr>
          <a:xfrm>
            <a:off x="3165999" y="3446383"/>
            <a:ext cx="1380506" cy="369332"/>
          </a:xfrm>
          <a:prstGeom prst="rect">
            <a:avLst/>
          </a:prstGeom>
          <a:noFill/>
        </p:spPr>
        <p:txBody>
          <a:bodyPr wrap="none" rtlCol="0">
            <a:spAutoFit/>
          </a:bodyPr>
          <a:lstStyle/>
          <a:p>
            <a:r>
              <a:rPr lang="en-US" b="1" dirty="0"/>
              <a:t>01100101(e)</a:t>
            </a:r>
          </a:p>
        </p:txBody>
      </p:sp>
      <p:sp>
        <p:nvSpPr>
          <p:cNvPr id="39" name="TextBox 38"/>
          <p:cNvSpPr txBox="1"/>
          <p:nvPr/>
        </p:nvSpPr>
        <p:spPr>
          <a:xfrm>
            <a:off x="3271445" y="4336970"/>
            <a:ext cx="1374094" cy="369332"/>
          </a:xfrm>
          <a:prstGeom prst="rect">
            <a:avLst/>
          </a:prstGeom>
          <a:noFill/>
        </p:spPr>
        <p:txBody>
          <a:bodyPr wrap="none" rtlCol="0">
            <a:spAutoFit/>
          </a:bodyPr>
          <a:lstStyle/>
          <a:p>
            <a:r>
              <a:rPr lang="en-US" b="1" dirty="0"/>
              <a:t>01101100 (l)</a:t>
            </a:r>
          </a:p>
        </p:txBody>
      </p:sp>
      <p:sp>
        <p:nvSpPr>
          <p:cNvPr id="40" name="TextBox 39"/>
          <p:cNvSpPr txBox="1"/>
          <p:nvPr/>
        </p:nvSpPr>
        <p:spPr>
          <a:xfrm>
            <a:off x="3367548" y="5416152"/>
            <a:ext cx="1374094" cy="369332"/>
          </a:xfrm>
          <a:prstGeom prst="rect">
            <a:avLst/>
          </a:prstGeom>
          <a:noFill/>
        </p:spPr>
        <p:txBody>
          <a:bodyPr wrap="none" rtlCol="0">
            <a:spAutoFit/>
          </a:bodyPr>
          <a:lstStyle/>
          <a:p>
            <a:r>
              <a:rPr lang="en-US" b="1" dirty="0"/>
              <a:t>01101100 (l)</a:t>
            </a:r>
          </a:p>
        </p:txBody>
      </p:sp>
      <p:sp>
        <p:nvSpPr>
          <p:cNvPr id="7" name="Content Placeholder 2">
            <a:extLst>
              <a:ext uri="{FF2B5EF4-FFF2-40B4-BE49-F238E27FC236}">
                <a16:creationId xmlns:a16="http://schemas.microsoft.com/office/drawing/2014/main" id="{6F240242-8796-F722-DABF-8E3D35D0CC71}"/>
              </a:ext>
            </a:extLst>
          </p:cNvPr>
          <p:cNvSpPr txBox="1">
            <a:spLocks/>
          </p:cNvSpPr>
          <p:nvPr/>
        </p:nvSpPr>
        <p:spPr>
          <a:xfrm>
            <a:off x="7330440" y="2487930"/>
            <a:ext cx="4518496" cy="26566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0000FF"/>
                </a:solidFill>
              </a:rPr>
              <a:t>Exercise: Master (index:3H)  receive 4 byte data (char ‘Hell’)  from the slave (index:9H). Draw the corresponding sequence diagram.</a:t>
            </a:r>
          </a:p>
          <a:p>
            <a:pPr marL="0" indent="0">
              <a:buFont typeface="Arial" panose="020B0604020202020204" pitchFamily="34" charset="0"/>
              <a:buNone/>
            </a:pPr>
            <a:endParaRPr lang="en-US" dirty="0"/>
          </a:p>
          <a:p>
            <a:endParaRPr lang="en-US" u="sng" dirty="0">
              <a:solidFill>
                <a:srgbClr val="FF0000"/>
              </a:solidFill>
            </a:endParaRPr>
          </a:p>
        </p:txBody>
      </p:sp>
    </p:spTree>
    <p:extLst>
      <p:ext uri="{BB962C8B-B14F-4D97-AF65-F5344CB8AC3E}">
        <p14:creationId xmlns:p14="http://schemas.microsoft.com/office/powerpoint/2010/main" val="4022377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A843EF9-BEF5-40C9-B5B2-816844E1641A}" type="slidenum">
              <a:rPr lang="en-US" smtClean="0"/>
              <a:pPr/>
              <a:t>28</a:t>
            </a:fld>
            <a:endParaRPr lang="en-US"/>
          </a:p>
        </p:txBody>
      </p:sp>
      <p:sp>
        <p:nvSpPr>
          <p:cNvPr id="3" name="Rectangle 2"/>
          <p:cNvSpPr/>
          <p:nvPr/>
        </p:nvSpPr>
        <p:spPr>
          <a:xfrm>
            <a:off x="1965960" y="289560"/>
            <a:ext cx="243840" cy="6263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562600" y="289560"/>
            <a:ext cx="243840" cy="6263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051560" y="104894"/>
            <a:ext cx="863763" cy="369332"/>
          </a:xfrm>
          <a:prstGeom prst="rect">
            <a:avLst/>
          </a:prstGeom>
          <a:noFill/>
        </p:spPr>
        <p:txBody>
          <a:bodyPr wrap="none" rtlCol="0">
            <a:spAutoFit/>
          </a:bodyPr>
          <a:lstStyle/>
          <a:p>
            <a:r>
              <a:rPr lang="en-US" b="1" dirty="0"/>
              <a:t>Master</a:t>
            </a:r>
          </a:p>
        </p:txBody>
      </p:sp>
      <p:sp>
        <p:nvSpPr>
          <p:cNvPr id="6" name="Rectangle 5"/>
          <p:cNvSpPr/>
          <p:nvPr/>
        </p:nvSpPr>
        <p:spPr>
          <a:xfrm>
            <a:off x="6005428" y="118348"/>
            <a:ext cx="682623" cy="369332"/>
          </a:xfrm>
          <a:prstGeom prst="rect">
            <a:avLst/>
          </a:prstGeom>
        </p:spPr>
        <p:txBody>
          <a:bodyPr wrap="none">
            <a:spAutoFit/>
          </a:bodyPr>
          <a:lstStyle/>
          <a:p>
            <a:r>
              <a:rPr lang="en-US" b="1" dirty="0"/>
              <a:t>Slave</a:t>
            </a:r>
          </a:p>
        </p:txBody>
      </p:sp>
      <p:cxnSp>
        <p:nvCxnSpPr>
          <p:cNvPr id="8" name="Straight Arrow Connector 7"/>
          <p:cNvCxnSpPr/>
          <p:nvPr/>
        </p:nvCxnSpPr>
        <p:spPr>
          <a:xfrm>
            <a:off x="2209800" y="487680"/>
            <a:ext cx="3352800" cy="6858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209800" y="982980"/>
            <a:ext cx="3352800" cy="6858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2209800" y="2087880"/>
            <a:ext cx="3352800" cy="400050"/>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endCxn id="3" idx="3"/>
          </p:cNvCxnSpPr>
          <p:nvPr/>
        </p:nvCxnSpPr>
        <p:spPr>
          <a:xfrm flipH="1">
            <a:off x="2209800" y="2640330"/>
            <a:ext cx="3352800" cy="781050"/>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209800" y="3710940"/>
            <a:ext cx="3352800" cy="60198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2209800" y="4983480"/>
            <a:ext cx="3352800" cy="539115"/>
          </a:xfrm>
          <a:prstGeom prst="straightConnector1">
            <a:avLst/>
          </a:prstGeom>
          <a:ln w="57150">
            <a:solidFill>
              <a:srgbClr val="92D05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209800" y="5829300"/>
            <a:ext cx="3352800" cy="1524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2209800" y="6195060"/>
            <a:ext cx="3352800" cy="152400"/>
          </a:xfrm>
          <a:prstGeom prst="straightConnector1">
            <a:avLst/>
          </a:prstGeom>
          <a:ln w="57150">
            <a:solidFill>
              <a:srgbClr val="FF5050"/>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413760" y="318254"/>
            <a:ext cx="767967" cy="369332"/>
          </a:xfrm>
          <a:prstGeom prst="rect">
            <a:avLst/>
          </a:prstGeom>
          <a:noFill/>
        </p:spPr>
        <p:txBody>
          <a:bodyPr wrap="none" rtlCol="0">
            <a:spAutoFit/>
          </a:bodyPr>
          <a:lstStyle/>
          <a:p>
            <a:r>
              <a:rPr lang="en-US" b="1" dirty="0"/>
              <a:t>START</a:t>
            </a:r>
          </a:p>
        </p:txBody>
      </p:sp>
      <p:sp>
        <p:nvSpPr>
          <p:cNvPr id="29" name="TextBox 28"/>
          <p:cNvSpPr txBox="1"/>
          <p:nvPr/>
        </p:nvSpPr>
        <p:spPr>
          <a:xfrm>
            <a:off x="2551696" y="1299448"/>
            <a:ext cx="1587294" cy="369332"/>
          </a:xfrm>
          <a:prstGeom prst="rect">
            <a:avLst/>
          </a:prstGeom>
          <a:noFill/>
        </p:spPr>
        <p:txBody>
          <a:bodyPr wrap="none" rtlCol="0">
            <a:spAutoFit/>
          </a:bodyPr>
          <a:lstStyle/>
          <a:p>
            <a:r>
              <a:rPr lang="en-US" b="1" dirty="0"/>
              <a:t>0000010101+1</a:t>
            </a:r>
          </a:p>
        </p:txBody>
      </p:sp>
      <p:sp>
        <p:nvSpPr>
          <p:cNvPr id="32" name="TextBox 31"/>
          <p:cNvSpPr txBox="1"/>
          <p:nvPr/>
        </p:nvSpPr>
        <p:spPr>
          <a:xfrm>
            <a:off x="3834190" y="3631406"/>
            <a:ext cx="569900" cy="369332"/>
          </a:xfrm>
          <a:prstGeom prst="rect">
            <a:avLst/>
          </a:prstGeom>
          <a:noFill/>
        </p:spPr>
        <p:txBody>
          <a:bodyPr wrap="none" rtlCol="0">
            <a:spAutoFit/>
          </a:bodyPr>
          <a:lstStyle/>
          <a:p>
            <a:r>
              <a:rPr lang="en-US" b="1" dirty="0"/>
              <a:t>ACK</a:t>
            </a:r>
          </a:p>
        </p:txBody>
      </p:sp>
      <p:sp>
        <p:nvSpPr>
          <p:cNvPr id="34" name="TextBox 33"/>
          <p:cNvSpPr txBox="1"/>
          <p:nvPr/>
        </p:nvSpPr>
        <p:spPr>
          <a:xfrm>
            <a:off x="3468700" y="1930122"/>
            <a:ext cx="569900" cy="369332"/>
          </a:xfrm>
          <a:prstGeom prst="rect">
            <a:avLst/>
          </a:prstGeom>
          <a:noFill/>
        </p:spPr>
        <p:txBody>
          <a:bodyPr wrap="none" rtlCol="0">
            <a:spAutoFit/>
          </a:bodyPr>
          <a:lstStyle/>
          <a:p>
            <a:r>
              <a:rPr lang="en-US" b="1" dirty="0"/>
              <a:t>ACK</a:t>
            </a:r>
          </a:p>
        </p:txBody>
      </p:sp>
      <p:sp>
        <p:nvSpPr>
          <p:cNvPr id="35" name="TextBox 34"/>
          <p:cNvSpPr txBox="1"/>
          <p:nvPr/>
        </p:nvSpPr>
        <p:spPr>
          <a:xfrm>
            <a:off x="3512793" y="5930622"/>
            <a:ext cx="722185" cy="369332"/>
          </a:xfrm>
          <a:prstGeom prst="rect">
            <a:avLst/>
          </a:prstGeom>
          <a:noFill/>
        </p:spPr>
        <p:txBody>
          <a:bodyPr wrap="none" rtlCol="0">
            <a:spAutoFit/>
          </a:bodyPr>
          <a:lstStyle/>
          <a:p>
            <a:r>
              <a:rPr lang="en-US" b="1" dirty="0"/>
              <a:t>NACK</a:t>
            </a:r>
          </a:p>
        </p:txBody>
      </p:sp>
      <p:sp>
        <p:nvSpPr>
          <p:cNvPr id="36" name="TextBox 35"/>
          <p:cNvSpPr txBox="1"/>
          <p:nvPr/>
        </p:nvSpPr>
        <p:spPr>
          <a:xfrm>
            <a:off x="3569090" y="6299954"/>
            <a:ext cx="677943" cy="369332"/>
          </a:xfrm>
          <a:prstGeom prst="rect">
            <a:avLst/>
          </a:prstGeom>
          <a:noFill/>
        </p:spPr>
        <p:txBody>
          <a:bodyPr wrap="none" rtlCol="0">
            <a:spAutoFit/>
          </a:bodyPr>
          <a:lstStyle/>
          <a:p>
            <a:r>
              <a:rPr lang="en-US" b="1" dirty="0"/>
              <a:t>STOP</a:t>
            </a:r>
          </a:p>
        </p:txBody>
      </p:sp>
      <p:sp>
        <p:nvSpPr>
          <p:cNvPr id="37" name="TextBox 36"/>
          <p:cNvSpPr txBox="1"/>
          <p:nvPr/>
        </p:nvSpPr>
        <p:spPr>
          <a:xfrm>
            <a:off x="3558460" y="2455664"/>
            <a:ext cx="1410964" cy="369332"/>
          </a:xfrm>
          <a:prstGeom prst="rect">
            <a:avLst/>
          </a:prstGeom>
          <a:noFill/>
        </p:spPr>
        <p:txBody>
          <a:bodyPr wrap="none" rtlCol="0">
            <a:spAutoFit/>
          </a:bodyPr>
          <a:lstStyle/>
          <a:p>
            <a:r>
              <a:rPr lang="en-US" b="1" dirty="0"/>
              <a:t>01001000(H)</a:t>
            </a:r>
          </a:p>
        </p:txBody>
      </p:sp>
      <p:sp>
        <p:nvSpPr>
          <p:cNvPr id="40" name="TextBox 39"/>
          <p:cNvSpPr txBox="1"/>
          <p:nvPr/>
        </p:nvSpPr>
        <p:spPr>
          <a:xfrm>
            <a:off x="3367548" y="5416152"/>
            <a:ext cx="1374094" cy="369332"/>
          </a:xfrm>
          <a:prstGeom prst="rect">
            <a:avLst/>
          </a:prstGeom>
          <a:noFill/>
        </p:spPr>
        <p:txBody>
          <a:bodyPr wrap="none" rtlCol="0">
            <a:spAutoFit/>
          </a:bodyPr>
          <a:lstStyle/>
          <a:p>
            <a:r>
              <a:rPr lang="en-US" b="1" dirty="0"/>
              <a:t>01101001 (</a:t>
            </a:r>
            <a:r>
              <a:rPr lang="en-US" b="1" dirty="0" err="1"/>
              <a:t>i</a:t>
            </a:r>
            <a:r>
              <a:rPr lang="en-US" b="1" dirty="0"/>
              <a:t>)</a:t>
            </a:r>
          </a:p>
        </p:txBody>
      </p:sp>
      <p:sp>
        <p:nvSpPr>
          <p:cNvPr id="7" name="Content Placeholder 2">
            <a:extLst>
              <a:ext uri="{FF2B5EF4-FFF2-40B4-BE49-F238E27FC236}">
                <a16:creationId xmlns:a16="http://schemas.microsoft.com/office/drawing/2014/main" id="{BB37CC16-4809-55C9-B901-12E963B6843E}"/>
              </a:ext>
            </a:extLst>
          </p:cNvPr>
          <p:cNvSpPr txBox="1">
            <a:spLocks/>
          </p:cNvSpPr>
          <p:nvPr/>
        </p:nvSpPr>
        <p:spPr>
          <a:xfrm>
            <a:off x="7330440" y="2487930"/>
            <a:ext cx="4518496" cy="265665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0000FF"/>
                </a:solidFill>
              </a:rPr>
              <a:t>Exercise: Master (index:3H)  receive 2 byte data (char ‘Hi’)  from the slave (index:15H). Draw the corresponding sequence diagram.</a:t>
            </a:r>
          </a:p>
          <a:p>
            <a:pPr marL="0" indent="0">
              <a:buFont typeface="Arial" panose="020B0604020202020204" pitchFamily="34" charset="0"/>
              <a:buNone/>
            </a:pPr>
            <a:endParaRPr lang="en-US" dirty="0"/>
          </a:p>
          <a:p>
            <a:endParaRPr lang="en-US" u="sng" dirty="0">
              <a:solidFill>
                <a:srgbClr val="FF0000"/>
              </a:solidFill>
            </a:endParaRPr>
          </a:p>
        </p:txBody>
      </p:sp>
    </p:spTree>
    <p:extLst>
      <p:ext uri="{BB962C8B-B14F-4D97-AF65-F5344CB8AC3E}">
        <p14:creationId xmlns:p14="http://schemas.microsoft.com/office/powerpoint/2010/main" val="40054760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FAF34AC-D699-22D1-E69C-ABF91DB2DC2A}"/>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2" name="Slide Number Placeholder 1">
            <a:extLst>
              <a:ext uri="{FF2B5EF4-FFF2-40B4-BE49-F238E27FC236}">
                <a16:creationId xmlns:a16="http://schemas.microsoft.com/office/drawing/2014/main" id="{E640029C-3EA7-9103-35EC-6087C3F6FF39}"/>
              </a:ext>
            </a:extLst>
          </p:cNvPr>
          <p:cNvSpPr>
            <a:spLocks noGrp="1"/>
          </p:cNvSpPr>
          <p:nvPr>
            <p:ph type="sldNum" sz="quarter" idx="12"/>
          </p:nvPr>
        </p:nvSpPr>
        <p:spPr/>
        <p:txBody>
          <a:bodyPr/>
          <a:lstStyle/>
          <a:p>
            <a:fld id="{3A843EF9-BEF5-40C9-B5B2-816844E1641A}" type="slidenum">
              <a:rPr lang="en-US" smtClean="0"/>
              <a:pPr/>
              <a:t>29</a:t>
            </a:fld>
            <a:endParaRPr lang="en-US"/>
          </a:p>
        </p:txBody>
      </p:sp>
    </p:spTree>
    <p:extLst>
      <p:ext uri="{BB962C8B-B14F-4D97-AF65-F5344CB8AC3E}">
        <p14:creationId xmlns:p14="http://schemas.microsoft.com/office/powerpoint/2010/main" val="3669524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1074</TotalTime>
  <Words>2151</Words>
  <Application>Microsoft Office PowerPoint</Application>
  <PresentationFormat>Widescreen</PresentationFormat>
  <Paragraphs>167</Paragraphs>
  <Slides>29</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Carlito</vt:lpstr>
      <vt:lpstr>Wingdings</vt:lpstr>
      <vt:lpstr>Office Theme</vt:lpstr>
      <vt:lpstr>PowerPoint Presentation</vt:lpstr>
      <vt:lpstr>Serial Communication Protocols</vt:lpstr>
      <vt:lpstr>Serial Communication Protocols</vt:lpstr>
      <vt:lpstr>Serial Peripheral Interface (SPI) </vt:lpstr>
      <vt:lpstr>Serial Peripheral Interface (SPI) </vt:lpstr>
      <vt:lpstr>Serial Peripheral Interface (SPI) </vt:lpstr>
      <vt:lpstr>PowerPoint Presentation</vt:lpstr>
      <vt:lpstr>PowerPoint Presentation</vt:lpstr>
      <vt:lpstr>I2C Protocol</vt:lpstr>
      <vt:lpstr>I2C Protocol</vt:lpstr>
      <vt:lpstr>PowerPoint Presentation</vt:lpstr>
      <vt:lpstr>PowerPoint Presentation</vt:lpstr>
      <vt:lpstr>Handshaking Process in I2C Protocol</vt:lpstr>
      <vt:lpstr>Handshaking Process in I2C Protocol - Acknowledge (ACK) and Not Acknowledge (NACK) </vt:lpstr>
      <vt:lpstr>I2C WRITE operation </vt:lpstr>
      <vt:lpstr>I2C WRITE operation </vt:lpstr>
      <vt:lpstr>PowerPoint Presentation</vt:lpstr>
      <vt:lpstr>I2C READ operation </vt:lpstr>
      <vt:lpstr>I2C READ operation </vt:lpstr>
      <vt:lpstr>PowerPoint Presentation</vt:lpstr>
      <vt:lpstr>PowerPoint Presentation</vt:lpstr>
      <vt:lpstr>PowerPoint Presentation</vt:lpstr>
      <vt:lpstr>I2C disadvantage </vt:lpstr>
      <vt:lpstr>I2C Q and A </vt:lpstr>
      <vt:lpstr>I2C Q and A </vt:lpstr>
      <vt:lpstr>Reference</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nasif</dc:creator>
  <cp:lastModifiedBy>1905065 - Arnab Bhattacharjee</cp:lastModifiedBy>
  <cp:revision>236</cp:revision>
  <dcterms:created xsi:type="dcterms:W3CDTF">2016-04-14T16:22:42Z</dcterms:created>
  <dcterms:modified xsi:type="dcterms:W3CDTF">2025-11-09T12:01:04Z</dcterms:modified>
</cp:coreProperties>
</file>