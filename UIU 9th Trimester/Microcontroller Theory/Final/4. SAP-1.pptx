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1JlguMEDYXiWOJeKDmn3fhLXX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B2352C-C5E9-499B-9648-64E637935B43}">
  <a:tblStyle styleId="{75B2352C-C5E9-499B-9648-64E637935B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5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8" name="Google Shape;118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8" name="Google Shape;12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8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9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3" name="Google Shape;143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0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1" name="Google Shape;15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1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2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3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.png" id="10" name="Google Shape;10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  <a:defRPr b="0" i="0" sz="4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2743200" y="6356350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6553200" y="635635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 Dept of EEE, BUET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.png" id="91" name="Google Shape;91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  <a:defRPr b="0" i="0" sz="4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2"/>
          <p:cNvSpPr txBox="1"/>
          <p:nvPr>
            <p:ph idx="11" type="ftr"/>
          </p:nvPr>
        </p:nvSpPr>
        <p:spPr>
          <a:xfrm>
            <a:off x="2743200" y="6356350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Md. Ayaz Masud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Lecturer,Dept of EEE, BUET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youtu.be/HyznrdDSSG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Simple As Possible </a:t>
            </a:r>
            <a:br>
              <a:rPr lang="en-US"/>
            </a:br>
            <a:r>
              <a:rPr lang="en-US"/>
              <a:t>Computer</a:t>
            </a:r>
            <a:endParaRPr/>
          </a:p>
        </p:txBody>
      </p:sp>
      <p:sp>
        <p:nvSpPr>
          <p:cNvPr id="172" name="Google Shape;172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3" name="Google Shape;173;p1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/>
          <p:nvPr>
            <p:ph type="title"/>
          </p:nvPr>
        </p:nvSpPr>
        <p:spPr>
          <a:xfrm>
            <a:off x="1427967" y="239093"/>
            <a:ext cx="4334006" cy="499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2777"/>
              <a:buFont typeface="Rockwell"/>
              <a:buNone/>
            </a:pPr>
            <a:r>
              <a:rPr lang="en-US" sz="3200"/>
              <a:t>Block Diagram</a:t>
            </a:r>
            <a:endParaRPr sz="3200"/>
          </a:p>
        </p:txBody>
      </p:sp>
      <p:pic>
        <p:nvPicPr>
          <p:cNvPr descr="sap.png" id="179" name="Google Shape;17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279" y="771890"/>
            <a:ext cx="6332952" cy="608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 txBox="1"/>
          <p:nvPr>
            <p:ph type="title"/>
          </p:nvPr>
        </p:nvSpPr>
        <p:spPr>
          <a:xfrm>
            <a:off x="960328" y="375781"/>
            <a:ext cx="7294323" cy="47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3200"/>
              <a:t>Ben Eater 8 bit Computer</a:t>
            </a:r>
            <a:endParaRPr sz="3200"/>
          </a:p>
        </p:txBody>
      </p:sp>
      <p:sp>
        <p:nvSpPr>
          <p:cNvPr id="186" name="Google Shape;186;p44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164" y="903244"/>
            <a:ext cx="8475946" cy="477699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4"/>
          <p:cNvSpPr txBox="1"/>
          <p:nvPr/>
        </p:nvSpPr>
        <p:spPr>
          <a:xfrm>
            <a:off x="3144033" y="5788821"/>
            <a:ext cx="6817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sng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https://youtu.be/HyznrdDSSGM</a:t>
            </a:r>
            <a:endParaRPr b="0" i="1" sz="1400" u="sng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 txBox="1"/>
          <p:nvPr>
            <p:ph type="title"/>
          </p:nvPr>
        </p:nvSpPr>
        <p:spPr>
          <a:xfrm>
            <a:off x="-377687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4-bit address,  8-bit data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45"/>
          <p:cNvSpPr txBox="1"/>
          <p:nvPr>
            <p:ph idx="1" type="body"/>
          </p:nvPr>
        </p:nvSpPr>
        <p:spPr>
          <a:xfrm>
            <a:off x="4572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W bus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4 bit program counter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4 bit memory address register (MAR)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16 byte memory (16*8)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Instruction Register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Accumulator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B Register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Adder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8 bit Output Register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5" name="Google Shape;195;p45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Instruction Set</a:t>
            </a:r>
            <a:endParaRPr/>
          </a:p>
        </p:txBody>
      </p:sp>
      <p:sp>
        <p:nvSpPr>
          <p:cNvPr id="201" name="Google Shape;201;p3"/>
          <p:cNvSpPr txBox="1"/>
          <p:nvPr>
            <p:ph idx="1" type="body"/>
          </p:nvPr>
        </p:nvSpPr>
        <p:spPr>
          <a:xfrm>
            <a:off x="4572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LDA &lt;memory address&gt; </a:t>
            </a:r>
            <a:br>
              <a:rPr lang="en-US"/>
            </a:br>
            <a:r>
              <a:rPr lang="en-US"/>
              <a:t>accumulator=content of memory address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ADD &lt;memory address&gt;</a:t>
            </a:r>
            <a:br>
              <a:rPr lang="en-US"/>
            </a:br>
            <a:r>
              <a:rPr lang="en-US"/>
              <a:t>accumulator&lt;=acc. + content of mem.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SUB &lt;memory address&gt;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	 accumulator&lt;=acc. - content of mem.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1,2,3: Memory Reference Instruction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Instruction Set</a:t>
            </a:r>
            <a:endParaRPr/>
          </a:p>
        </p:txBody>
      </p:sp>
      <p:sp>
        <p:nvSpPr>
          <p:cNvPr id="209" name="Google Shape;2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4. OUT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out register = accumator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5. HLT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    -stops clock</a:t>
            </a:r>
            <a:endParaRPr/>
          </a:p>
          <a:p>
            <a:pPr indent="-514350" lvl="0" marL="51435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Instruction Set</a:t>
            </a:r>
            <a:endParaRPr/>
          </a:p>
        </p:txBody>
      </p:sp>
      <p:sp>
        <p:nvSpPr>
          <p:cNvPr id="216" name="Google Shape;216;p46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25" y="1437193"/>
            <a:ext cx="5356665" cy="3026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6"/>
          <p:cNvPicPr preferRelativeResize="0"/>
          <p:nvPr/>
        </p:nvPicPr>
        <p:blipFill rotWithShape="1">
          <a:blip r:embed="rId4">
            <a:alphaModFix/>
          </a:blip>
          <a:srcRect b="13286" l="8811" r="17755" t="5750"/>
          <a:stretch/>
        </p:blipFill>
        <p:spPr>
          <a:xfrm>
            <a:off x="5837188" y="1841809"/>
            <a:ext cx="3031237" cy="262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Instruction Set</a:t>
            </a:r>
            <a:endParaRPr/>
          </a:p>
        </p:txBody>
      </p:sp>
      <p:sp>
        <p:nvSpPr>
          <p:cNvPr id="224" name="Google Shape;224;p47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24" y="1383903"/>
            <a:ext cx="4650800" cy="309463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7"/>
          <p:cNvSpPr/>
          <p:nvPr/>
        </p:nvSpPr>
        <p:spPr>
          <a:xfrm>
            <a:off x="4394770" y="3344448"/>
            <a:ext cx="1002082" cy="6012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8244" y="1383903"/>
            <a:ext cx="3725756" cy="269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3959" y="4274260"/>
            <a:ext cx="4983730" cy="194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Instruction Set</a:t>
            </a:r>
            <a:endParaRPr/>
          </a:p>
        </p:txBody>
      </p:sp>
      <p:sp>
        <p:nvSpPr>
          <p:cNvPr id="234" name="Google Shape;234;p48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8"/>
          <p:cNvSpPr/>
          <p:nvPr/>
        </p:nvSpPr>
        <p:spPr>
          <a:xfrm>
            <a:off x="4083485" y="3344449"/>
            <a:ext cx="1002082" cy="6012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264196"/>
            <a:ext cx="4083486" cy="4658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0262" y="1375364"/>
            <a:ext cx="3688166" cy="4683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1474" y="6087515"/>
            <a:ext cx="2666103" cy="602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44" name="Google Shape;24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25-9+10-18=?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-Load 25 in accumulator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-Subtract 9 from 25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-Add 10 with the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-Subtract 18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-Show output</a:t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   		25-9+10-18=?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graphicFrame>
        <p:nvGraphicFramePr>
          <p:cNvPr id="252" name="Google Shape;252;p6"/>
          <p:cNvGraphicFramePr/>
          <p:nvPr/>
        </p:nvGraphicFramePr>
        <p:xfrm>
          <a:off x="3048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{75B2352C-C5E9-499B-9648-64E637935B43}</a:tableStyleId>
              </a:tblPr>
              <a:tblGrid>
                <a:gridCol w="1828800"/>
                <a:gridCol w="182880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Source Code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Machine Code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LDA CH</a:t>
                      </a:r>
                      <a:endParaRPr sz="2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0000</a:t>
                      </a:r>
                      <a:r>
                        <a:rPr lang="en-US" sz="2400" u="none" cap="none" strike="noStrike"/>
                        <a:t>1100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SUB DH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0010</a:t>
                      </a:r>
                      <a:r>
                        <a:rPr lang="en-US" sz="2400" u="none" cap="none" strike="noStrike"/>
                        <a:t>1101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ADD EH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0001</a:t>
                      </a:r>
                      <a:r>
                        <a:rPr lang="en-US" sz="2400" u="none" cap="none" strike="noStrike"/>
                        <a:t>1110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SUB FH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0010</a:t>
                      </a:r>
                      <a:r>
                        <a:rPr lang="en-US" sz="2400" u="none" cap="none" strike="noStrike"/>
                        <a:t>1111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n-US" sz="2400" u="none" cap="none" strike="noStrike"/>
                        <a:t>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76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HLT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US" sz="2400" u="none" cap="none" strike="noStrike"/>
                        <a:t>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253" name="Google Shape;253;p6"/>
          <p:cNvGraphicFramePr/>
          <p:nvPr/>
        </p:nvGraphicFramePr>
        <p:xfrm>
          <a:off x="4343400" y="2362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{75B2352C-C5E9-499B-9648-64E637935B43}</a:tableStyleId>
              </a:tblPr>
              <a:tblGrid>
                <a:gridCol w="533400"/>
                <a:gridCol w="1866900"/>
                <a:gridCol w="647700"/>
                <a:gridCol w="1752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2"/>
                          </a:solidFill>
                        </a:rPr>
                        <a:t>00010010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2"/>
                          </a:solidFill>
                        </a:rPr>
                        <a:t>00001010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2"/>
                          </a:solidFill>
                        </a:rPr>
                        <a:t>00001001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US" sz="2400" u="none" cap="none" strike="noStrike"/>
                        <a:t>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2"/>
                          </a:solidFill>
                        </a:rPr>
                        <a:t>00011001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n-US" sz="2400" u="none" cap="none" strike="noStrike"/>
                        <a:t>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0010</a:t>
                      </a:r>
                      <a:r>
                        <a:rPr lang="en-US" sz="2400" u="none" cap="none" strike="noStrike"/>
                        <a:t>1111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0001</a:t>
                      </a:r>
                      <a:r>
                        <a:rPr lang="en-US" sz="2400" u="none" cap="none" strike="noStrike"/>
                        <a:t>1110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0010</a:t>
                      </a:r>
                      <a:r>
                        <a:rPr lang="en-US" sz="2400" u="none" cap="none" strike="noStrike"/>
                        <a:t>1101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XXXXXXXX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0000</a:t>
                      </a:r>
                      <a:r>
                        <a:rPr lang="en-US" sz="2400" u="none" cap="none" strike="noStrike"/>
                        <a:t>1100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254" name="Google Shape;254;p6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Control Word</a:t>
            </a:r>
            <a:endParaRPr/>
          </a:p>
        </p:txBody>
      </p:sp>
      <p:sp>
        <p:nvSpPr>
          <p:cNvPr id="260" name="Google Shape;260;p7"/>
          <p:cNvSpPr txBox="1"/>
          <p:nvPr>
            <p:ph idx="1" type="body"/>
          </p:nvPr>
        </p:nvSpPr>
        <p:spPr>
          <a:xfrm>
            <a:off x="0" y="1600200"/>
            <a:ext cx="9144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CON=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=   0 0  1  1                 1  1  1  0           0 0 1 1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 = </a:t>
            </a:r>
            <a:r>
              <a:rPr b="1" lang="en-US">
                <a:solidFill>
                  <a:srgbClr val="FF0000"/>
                </a:solidFill>
              </a:rPr>
              <a:t>3 E 3  </a:t>
            </a:r>
            <a:r>
              <a:rPr lang="en-US"/>
              <a:t>H  </a:t>
            </a:r>
            <a:endParaRPr/>
          </a:p>
        </p:txBody>
      </p:sp>
      <p:pic>
        <p:nvPicPr>
          <p:cNvPr descr="w.png" id="261" name="Google Shape;2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464" y="1447800"/>
            <a:ext cx="7870536" cy="118122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3287949" y="4862474"/>
            <a:ext cx="45136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  INACTIVE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Timing (T) States</a:t>
            </a:r>
            <a:endParaRPr/>
          </a:p>
        </p:txBody>
      </p:sp>
      <p:sp>
        <p:nvSpPr>
          <p:cNvPr id="269" name="Google Shape;26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Controller/Sequencer controls all the operations. Each instruction is executed through a series of step. Each such step is called a Timing state (T state)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6 bit Ring Counter produces 6 T states for SAP-1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Different CON words are produced in different T states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T states</a:t>
            </a:r>
            <a:endParaRPr/>
          </a:p>
        </p:txBody>
      </p:sp>
      <p:pic>
        <p:nvPicPr>
          <p:cNvPr descr="T states.png" id="276" name="Google Shape;27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336" y="1600678"/>
            <a:ext cx="7173327" cy="452500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0" y="0"/>
            <a:ext cx="1219200" cy="114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/>
        </p:nvSpPr>
        <p:spPr>
          <a:xfrm>
            <a:off x="1926077" y="434076"/>
            <a:ext cx="601169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an Instruction</a:t>
            </a:r>
            <a:endParaRPr/>
          </a:p>
        </p:txBody>
      </p:sp>
      <p:sp>
        <p:nvSpPr>
          <p:cNvPr id="283" name="Google Shape;283;p49"/>
          <p:cNvSpPr txBox="1"/>
          <p:nvPr/>
        </p:nvSpPr>
        <p:spPr>
          <a:xfrm>
            <a:off x="2023353" y="1994171"/>
            <a:ext cx="15369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/>
          </a:p>
        </p:txBody>
      </p:sp>
      <p:sp>
        <p:nvSpPr>
          <p:cNvPr id="284" name="Google Shape;284;p49"/>
          <p:cNvSpPr txBox="1"/>
          <p:nvPr/>
        </p:nvSpPr>
        <p:spPr>
          <a:xfrm>
            <a:off x="5434521" y="1926077"/>
            <a:ext cx="40402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Execution</a:t>
            </a:r>
            <a:endParaRPr/>
          </a:p>
        </p:txBody>
      </p:sp>
      <p:sp>
        <p:nvSpPr>
          <p:cNvPr id="285" name="Google Shape;285;p49"/>
          <p:cNvSpPr txBox="1"/>
          <p:nvPr/>
        </p:nvSpPr>
        <p:spPr>
          <a:xfrm>
            <a:off x="1517514" y="3829904"/>
            <a:ext cx="750975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LDA 9H </a:t>
            </a:r>
            <a:endParaRPr/>
          </a:p>
        </p:txBody>
      </p:sp>
      <p:sp>
        <p:nvSpPr>
          <p:cNvPr id="286" name="Google Shape;286;p49"/>
          <p:cNvSpPr txBox="1"/>
          <p:nvPr/>
        </p:nvSpPr>
        <p:spPr>
          <a:xfrm>
            <a:off x="4095345" y="1840282"/>
            <a:ext cx="11770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>
            <p:ph type="title"/>
          </p:nvPr>
        </p:nvSpPr>
        <p:spPr>
          <a:xfrm>
            <a:off x="155645" y="226000"/>
            <a:ext cx="6832948" cy="45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3200"/>
              <a:t>Fetch Cycle : T1</a:t>
            </a:r>
            <a:endParaRPr sz="3200"/>
          </a:p>
        </p:txBody>
      </p:sp>
      <p:sp>
        <p:nvSpPr>
          <p:cNvPr id="292" name="Google Shape;292;p10"/>
          <p:cNvSpPr txBox="1"/>
          <p:nvPr>
            <p:ph idx="2" type="body"/>
          </p:nvPr>
        </p:nvSpPr>
        <p:spPr>
          <a:xfrm>
            <a:off x="5034835" y="4208241"/>
            <a:ext cx="4109166" cy="170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CON = ?</a:t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          = ?</a:t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T1: Address State</a:t>
            </a:r>
            <a:endParaRPr sz="112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sapT1.png" id="293" name="Google Shape;29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793" y="838510"/>
            <a:ext cx="4848683" cy="5572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4834" y="356256"/>
            <a:ext cx="3768698" cy="385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155645" y="226000"/>
            <a:ext cx="6832948" cy="45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3200"/>
              <a:t>Fetch Cycle : T1</a:t>
            </a:r>
            <a:endParaRPr sz="3200"/>
          </a:p>
        </p:txBody>
      </p:sp>
      <p:sp>
        <p:nvSpPr>
          <p:cNvPr id="300" name="Google Shape;300;p50"/>
          <p:cNvSpPr txBox="1"/>
          <p:nvPr>
            <p:ph idx="2" type="body"/>
          </p:nvPr>
        </p:nvSpPr>
        <p:spPr>
          <a:xfrm>
            <a:off x="5034834" y="4208241"/>
            <a:ext cx="4260715" cy="170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CON= 0</a:t>
            </a:r>
            <a:r>
              <a:rPr lang="en-US" sz="11200">
                <a:solidFill>
                  <a:srgbClr val="00B0F0"/>
                </a:solidFill>
              </a:rPr>
              <a:t>1</a:t>
            </a:r>
            <a:r>
              <a:rPr lang="en-US" sz="11200">
                <a:solidFill>
                  <a:srgbClr val="FF0000"/>
                </a:solidFill>
              </a:rPr>
              <a:t>0</a:t>
            </a:r>
            <a:r>
              <a:rPr lang="en-US" sz="11200"/>
              <a:t>1   1110  0011 </a:t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         = </a:t>
            </a:r>
            <a:r>
              <a:rPr b="1" lang="en-US" sz="11200">
                <a:solidFill>
                  <a:srgbClr val="FF0000"/>
                </a:solidFill>
              </a:rPr>
              <a:t>5 E 3  </a:t>
            </a:r>
            <a:r>
              <a:rPr lang="en-US" sz="11200"/>
              <a:t>H  </a:t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12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1200"/>
              <a:t>T1: Address State</a:t>
            </a:r>
            <a:endParaRPr sz="112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sapT1.png" id="301" name="Google Shape;301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793" y="838510"/>
            <a:ext cx="4848683" cy="5572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4834" y="356256"/>
            <a:ext cx="3768698" cy="385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>
            <p:ph type="title"/>
          </p:nvPr>
        </p:nvSpPr>
        <p:spPr>
          <a:xfrm>
            <a:off x="87549" y="136019"/>
            <a:ext cx="3450077" cy="50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2800"/>
              <a:t>Fetch Cycle : T2</a:t>
            </a:r>
            <a:endParaRPr sz="2800"/>
          </a:p>
        </p:txBody>
      </p:sp>
      <p:pic>
        <p:nvPicPr>
          <p:cNvPr descr="sapt2.png" id="308" name="Google Shape;30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892" y="606190"/>
            <a:ext cx="5298334" cy="604752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 txBox="1"/>
          <p:nvPr>
            <p:ph idx="2" type="body"/>
          </p:nvPr>
        </p:nvSpPr>
        <p:spPr>
          <a:xfrm>
            <a:off x="5455593" y="4390315"/>
            <a:ext cx="3688408" cy="21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10526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5583"/>
              <a:buNone/>
            </a:pPr>
            <a:r>
              <a:t/>
            </a:r>
            <a:endParaRPr sz="51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5583"/>
              <a:buNone/>
            </a:pPr>
            <a:r>
              <a:rPr lang="en-US" sz="5100"/>
              <a:t>CON = </a:t>
            </a:r>
            <a:r>
              <a:rPr lang="en-US" sz="5100">
                <a:solidFill>
                  <a:srgbClr val="00B0F0"/>
                </a:solidFill>
              </a:rPr>
              <a:t>?</a:t>
            </a:r>
            <a:r>
              <a:rPr lang="en-US" sz="5100"/>
              <a:t> </a:t>
            </a:r>
            <a:endParaRPr sz="51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47368"/>
              <a:buNone/>
            </a:pPr>
            <a:r>
              <a:rPr lang="en-US" sz="4000"/>
              <a:t>             = </a:t>
            </a:r>
            <a:r>
              <a:rPr b="1" lang="en-US" sz="4000">
                <a:solidFill>
                  <a:srgbClr val="FF0000"/>
                </a:solidFill>
              </a:rPr>
              <a:t>?</a:t>
            </a:r>
            <a:r>
              <a:rPr lang="en-US" sz="4000"/>
              <a:t>  </a:t>
            </a:r>
            <a:endParaRPr sz="40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8146"/>
              <a:buNone/>
            </a:pPr>
            <a:r>
              <a:t/>
            </a:r>
            <a:endParaRPr sz="4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8146"/>
              <a:buNone/>
            </a:pPr>
            <a:r>
              <a:rPr lang="en-US" sz="4600"/>
              <a:t>T2: Increment State</a:t>
            </a:r>
            <a:endParaRPr sz="4600"/>
          </a:p>
        </p:txBody>
      </p:sp>
      <p:pic>
        <p:nvPicPr>
          <p:cNvPr id="310" name="Google Shape;3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9383" y="1027990"/>
            <a:ext cx="322897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87549" y="136019"/>
            <a:ext cx="3450077" cy="50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2800"/>
              <a:t>Fetch Cycle : T2</a:t>
            </a:r>
            <a:endParaRPr sz="2800"/>
          </a:p>
        </p:txBody>
      </p:sp>
      <p:pic>
        <p:nvPicPr>
          <p:cNvPr descr="sapt2.png" id="316" name="Google Shape;316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892" y="606190"/>
            <a:ext cx="5298334" cy="604752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1"/>
          <p:cNvSpPr txBox="1"/>
          <p:nvPr>
            <p:ph idx="2" type="body"/>
          </p:nvPr>
        </p:nvSpPr>
        <p:spPr>
          <a:xfrm>
            <a:off x="5455592" y="4390315"/>
            <a:ext cx="5098917" cy="21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10526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5583"/>
              <a:buNone/>
            </a:pPr>
            <a:r>
              <a:t/>
            </a:r>
            <a:endParaRPr sz="51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5583"/>
              <a:buNone/>
            </a:pPr>
            <a:r>
              <a:rPr lang="en-US" sz="5100"/>
              <a:t>CON= </a:t>
            </a:r>
            <a:r>
              <a:rPr lang="en-US" sz="5100">
                <a:solidFill>
                  <a:srgbClr val="00B0F0"/>
                </a:solidFill>
              </a:rPr>
              <a:t>1</a:t>
            </a:r>
            <a:r>
              <a:rPr lang="en-US" sz="5100"/>
              <a:t>011   1110  0011 </a:t>
            </a:r>
            <a:endParaRPr sz="51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47368"/>
              <a:buNone/>
            </a:pPr>
            <a:r>
              <a:rPr lang="en-US" sz="4000"/>
              <a:t>         = </a:t>
            </a:r>
            <a:r>
              <a:rPr b="1" lang="en-US" sz="4000">
                <a:solidFill>
                  <a:srgbClr val="FF0000"/>
                </a:solidFill>
              </a:rPr>
              <a:t>B E 3  </a:t>
            </a:r>
            <a:r>
              <a:rPr lang="en-US" sz="4000"/>
              <a:t>H  </a:t>
            </a:r>
            <a:endParaRPr sz="40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8146"/>
              <a:buNone/>
            </a:pPr>
            <a:r>
              <a:t/>
            </a:r>
            <a:endParaRPr sz="4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8146"/>
              <a:buNone/>
            </a:pPr>
            <a:r>
              <a:rPr lang="en-US" sz="4600"/>
              <a:t>T2: Increment State</a:t>
            </a:r>
            <a:endParaRPr sz="4600"/>
          </a:p>
        </p:txBody>
      </p:sp>
      <p:pic>
        <p:nvPicPr>
          <p:cNvPr id="318" name="Google Shape;31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9383" y="1027990"/>
            <a:ext cx="322897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type="title"/>
          </p:nvPr>
        </p:nvSpPr>
        <p:spPr>
          <a:xfrm>
            <a:off x="0" y="77821"/>
            <a:ext cx="3054485" cy="612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2800"/>
              <a:t>Fetch Cycle : T3</a:t>
            </a:r>
            <a:endParaRPr sz="2800"/>
          </a:p>
        </p:txBody>
      </p:sp>
      <p:sp>
        <p:nvSpPr>
          <p:cNvPr id="324" name="Google Shape;324;p12"/>
          <p:cNvSpPr txBox="1"/>
          <p:nvPr>
            <p:ph idx="2" type="body"/>
          </p:nvPr>
        </p:nvSpPr>
        <p:spPr>
          <a:xfrm>
            <a:off x="5593404" y="3949429"/>
            <a:ext cx="3550596" cy="2461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600"/>
              <a:t>CON = ?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600"/>
              <a:t>          = ?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/>
              <a:t>T3: Memory State</a:t>
            </a:r>
            <a:endParaRPr sz="2400"/>
          </a:p>
        </p:txBody>
      </p:sp>
      <p:pic>
        <p:nvPicPr>
          <p:cNvPr descr="sap.png" id="325" name="Google Shape;32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18" y="655194"/>
            <a:ext cx="5398851" cy="558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2"/>
          <p:cNvPicPr preferRelativeResize="0"/>
          <p:nvPr/>
        </p:nvPicPr>
        <p:blipFill rotWithShape="1">
          <a:blip r:embed="rId4">
            <a:alphaModFix/>
          </a:blip>
          <a:srcRect b="0" l="0" r="16628" t="0"/>
          <a:stretch/>
        </p:blipFill>
        <p:spPr>
          <a:xfrm>
            <a:off x="5593404" y="877718"/>
            <a:ext cx="3112851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>
            <p:ph type="title"/>
          </p:nvPr>
        </p:nvSpPr>
        <p:spPr>
          <a:xfrm>
            <a:off x="0" y="77821"/>
            <a:ext cx="3054485" cy="612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2800"/>
              <a:t>Fetch Cycle : T3</a:t>
            </a:r>
            <a:endParaRPr sz="2800"/>
          </a:p>
        </p:txBody>
      </p:sp>
      <p:sp>
        <p:nvSpPr>
          <p:cNvPr id="332" name="Google Shape;332;p52"/>
          <p:cNvSpPr txBox="1"/>
          <p:nvPr>
            <p:ph idx="2" type="body"/>
          </p:nvPr>
        </p:nvSpPr>
        <p:spPr>
          <a:xfrm>
            <a:off x="5593404" y="3949429"/>
            <a:ext cx="3754876" cy="2461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6424"/>
              <a:buNone/>
            </a:pPr>
            <a:r>
              <a:rPr lang="en-US" sz="2600"/>
              <a:t>CON= 001</a:t>
            </a:r>
            <a:r>
              <a:rPr lang="en-US" sz="2600">
                <a:solidFill>
                  <a:srgbClr val="FF0000"/>
                </a:solidFill>
              </a:rPr>
              <a:t>0   0</a:t>
            </a:r>
            <a:r>
              <a:rPr lang="en-US" sz="2600"/>
              <a:t>110  0011 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6424"/>
              <a:buNone/>
            </a:pPr>
            <a:r>
              <a:rPr lang="en-US" sz="2600"/>
              <a:t>         = </a:t>
            </a:r>
            <a:r>
              <a:rPr b="1" lang="en-US" sz="2600">
                <a:solidFill>
                  <a:srgbClr val="FF0000"/>
                </a:solidFill>
              </a:rPr>
              <a:t>26 3  </a:t>
            </a:r>
            <a:r>
              <a:rPr lang="en-US" sz="2600"/>
              <a:t>H  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6126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26126"/>
              <a:buNone/>
            </a:pPr>
            <a:r>
              <a:rPr lang="en-US" sz="2400"/>
              <a:t>T3: Memory State</a:t>
            </a:r>
            <a:endParaRPr sz="2400"/>
          </a:p>
        </p:txBody>
      </p:sp>
      <p:pic>
        <p:nvPicPr>
          <p:cNvPr descr="sap.png" id="333" name="Google Shape;333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18" y="655194"/>
            <a:ext cx="5398851" cy="558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2"/>
          <p:cNvPicPr preferRelativeResize="0"/>
          <p:nvPr/>
        </p:nvPicPr>
        <p:blipFill rotWithShape="1">
          <a:blip r:embed="rId4">
            <a:alphaModFix/>
          </a:blip>
          <a:srcRect b="0" l="0" r="16628" t="0"/>
          <a:stretch/>
        </p:blipFill>
        <p:spPr>
          <a:xfrm>
            <a:off x="5593404" y="877718"/>
            <a:ext cx="3112851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/>
        </p:nvSpPr>
        <p:spPr>
          <a:xfrm>
            <a:off x="943583" y="1503080"/>
            <a:ext cx="349223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T1: Address State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T2: Increment State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T3: Memory State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3"/>
          <p:cNvSpPr/>
          <p:nvPr/>
        </p:nvSpPr>
        <p:spPr>
          <a:xfrm>
            <a:off x="680936" y="1303506"/>
            <a:ext cx="3394953" cy="1809345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3"/>
          <p:cNvSpPr/>
          <p:nvPr/>
        </p:nvSpPr>
        <p:spPr>
          <a:xfrm>
            <a:off x="2096310" y="3273193"/>
            <a:ext cx="413426" cy="79296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3"/>
          <p:cNvSpPr txBox="1"/>
          <p:nvPr/>
        </p:nvSpPr>
        <p:spPr>
          <a:xfrm>
            <a:off x="834146" y="4252342"/>
            <a:ext cx="335117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for all kinds of Instructions.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ADD, SUB, LOAD</a:t>
            </a:r>
            <a:endParaRPr/>
          </a:p>
        </p:txBody>
      </p:sp>
      <p:sp>
        <p:nvSpPr>
          <p:cNvPr id="343" name="Google Shape;343;p53"/>
          <p:cNvSpPr txBox="1"/>
          <p:nvPr/>
        </p:nvSpPr>
        <p:spPr>
          <a:xfrm>
            <a:off x="1378895" y="245904"/>
            <a:ext cx="22616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Cycle</a:t>
            </a:r>
            <a:endParaRPr/>
          </a:p>
        </p:txBody>
      </p:sp>
      <p:sp>
        <p:nvSpPr>
          <p:cNvPr id="344" name="Google Shape;344;p53"/>
          <p:cNvSpPr/>
          <p:nvPr/>
        </p:nvSpPr>
        <p:spPr>
          <a:xfrm>
            <a:off x="2217906" y="769124"/>
            <a:ext cx="291830" cy="4371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3"/>
          <p:cNvSpPr txBox="1"/>
          <p:nvPr/>
        </p:nvSpPr>
        <p:spPr>
          <a:xfrm>
            <a:off x="4563893" y="1503080"/>
            <a:ext cx="3492230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T4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T5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T6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3"/>
          <p:cNvSpPr/>
          <p:nvPr/>
        </p:nvSpPr>
        <p:spPr>
          <a:xfrm>
            <a:off x="4661170" y="1303506"/>
            <a:ext cx="3394953" cy="1809345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3"/>
          <p:cNvSpPr/>
          <p:nvPr/>
        </p:nvSpPr>
        <p:spPr>
          <a:xfrm>
            <a:off x="6076544" y="3273193"/>
            <a:ext cx="413426" cy="79296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3"/>
          <p:cNvSpPr txBox="1"/>
          <p:nvPr/>
        </p:nvSpPr>
        <p:spPr>
          <a:xfrm>
            <a:off x="4545247" y="4252341"/>
            <a:ext cx="41083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 on the particular instruction being executed.</a:t>
            </a:r>
            <a:endParaRPr/>
          </a:p>
        </p:txBody>
      </p:sp>
      <p:sp>
        <p:nvSpPr>
          <p:cNvPr id="349" name="Google Shape;349;p53"/>
          <p:cNvSpPr txBox="1"/>
          <p:nvPr/>
        </p:nvSpPr>
        <p:spPr>
          <a:xfrm>
            <a:off x="5018255" y="245904"/>
            <a:ext cx="31623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Execution Cycle</a:t>
            </a:r>
            <a:endParaRPr/>
          </a:p>
        </p:txBody>
      </p:sp>
      <p:sp>
        <p:nvSpPr>
          <p:cNvPr id="350" name="Google Shape;350;p53"/>
          <p:cNvSpPr/>
          <p:nvPr/>
        </p:nvSpPr>
        <p:spPr>
          <a:xfrm>
            <a:off x="6198140" y="769124"/>
            <a:ext cx="291830" cy="4371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3"/>
          <p:cNvSpPr/>
          <p:nvPr/>
        </p:nvSpPr>
        <p:spPr>
          <a:xfrm>
            <a:off x="6076544" y="5095858"/>
            <a:ext cx="413426" cy="65318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3"/>
          <p:cNvSpPr txBox="1"/>
          <p:nvPr/>
        </p:nvSpPr>
        <p:spPr>
          <a:xfrm>
            <a:off x="4240448" y="5807413"/>
            <a:ext cx="469927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LDA 9H requires different register transfers than ADD BH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>
            <p:ph type="title"/>
          </p:nvPr>
        </p:nvSpPr>
        <p:spPr>
          <a:xfrm>
            <a:off x="77822" y="-95013"/>
            <a:ext cx="4756826" cy="727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4603"/>
              <a:buFont typeface="Rockwell"/>
              <a:buNone/>
            </a:pPr>
            <a:r>
              <a:rPr lang="en-US" sz="2800"/>
              <a:t>Execution Cycle : T4 &lt;LDA&gt;</a:t>
            </a:r>
            <a:endParaRPr sz="2800"/>
          </a:p>
        </p:txBody>
      </p:sp>
      <p:pic>
        <p:nvPicPr>
          <p:cNvPr descr="LDAt4.png" id="358" name="Google Shape;35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45" y="685799"/>
            <a:ext cx="5579400" cy="563717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>
            <p:ph idx="2" type="body"/>
          </p:nvPr>
        </p:nvSpPr>
        <p:spPr>
          <a:xfrm>
            <a:off x="5152417" y="4494180"/>
            <a:ext cx="4419600" cy="2266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CON= 00</a:t>
            </a: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/>
              <a:t>1</a:t>
            </a:r>
            <a:r>
              <a:rPr lang="en-US">
                <a:solidFill>
                  <a:srgbClr val="FF0000"/>
                </a:solidFill>
              </a:rPr>
              <a:t>   </a:t>
            </a:r>
            <a:r>
              <a:rPr lang="en-US"/>
              <a:t>1</a:t>
            </a: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/>
              <a:t>10  0011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= </a:t>
            </a:r>
            <a:r>
              <a:rPr b="1" lang="en-US">
                <a:solidFill>
                  <a:srgbClr val="FF0000"/>
                </a:solidFill>
              </a:rPr>
              <a:t>1A3  </a:t>
            </a:r>
            <a:r>
              <a:rPr lang="en-US"/>
              <a:t>H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60" name="Google Shape;3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6677" y="1055449"/>
            <a:ext cx="3298489" cy="3392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/>
          <p:nvPr/>
        </p:nvSpPr>
        <p:spPr>
          <a:xfrm>
            <a:off x="117540" y="90944"/>
            <a:ext cx="5022715" cy="477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Execution Cycle : T5 &lt;LDA&gt;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DAt4.png" id="366" name="Google Shape;3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40" y="770105"/>
            <a:ext cx="4728816" cy="560151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4"/>
          <p:cNvSpPr txBox="1"/>
          <p:nvPr/>
        </p:nvSpPr>
        <p:spPr>
          <a:xfrm>
            <a:off x="4871335" y="4023365"/>
            <a:ext cx="5282119" cy="107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CON= 001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0 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11</a:t>
            </a:r>
            <a:r>
              <a:rPr b="0" i="0" lang="en-US" sz="2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0  0011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        =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2C3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 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68" name="Google Shape;3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5737" y="1202566"/>
            <a:ext cx="3491832" cy="3530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 txBox="1"/>
          <p:nvPr/>
        </p:nvSpPr>
        <p:spPr>
          <a:xfrm>
            <a:off x="123215" y="0"/>
            <a:ext cx="5528553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Execution Cycle : T6 &lt;LDA&gt;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DAt4.png" id="374" name="Google Shape;3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043" y="444551"/>
            <a:ext cx="5251902" cy="564496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5"/>
          <p:cNvSpPr txBox="1"/>
          <p:nvPr/>
        </p:nvSpPr>
        <p:spPr>
          <a:xfrm>
            <a:off x="4691975" y="3513947"/>
            <a:ext cx="4724400" cy="269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CON= 0011 1110  0011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		= </a:t>
            </a:r>
            <a:r>
              <a:rPr b="1" i="0" lang="en-US" sz="32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3E3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          NOP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76" name="Google Shape;3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4526" y="752431"/>
            <a:ext cx="3248734" cy="31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233" y="1245683"/>
            <a:ext cx="6712997" cy="4707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Ayaz</dc:creator>
</cp:coreProperties>
</file>