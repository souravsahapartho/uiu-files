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80" r:id="rId2"/>
    <p:sldId id="257" r:id="rId3"/>
    <p:sldId id="258" r:id="rId4"/>
    <p:sldId id="260" r:id="rId5"/>
    <p:sldId id="261" r:id="rId6"/>
    <p:sldId id="262" r:id="rId7"/>
    <p:sldId id="263" r:id="rId8"/>
    <p:sldId id="264" r:id="rId9"/>
    <p:sldId id="265" r:id="rId10"/>
    <p:sldId id="268" r:id="rId11"/>
    <p:sldId id="275" r:id="rId12"/>
    <p:sldId id="277" r:id="rId13"/>
    <p:sldId id="282" r:id="rId14"/>
    <p:sldId id="276" r:id="rId15"/>
    <p:sldId id="283" r:id="rId16"/>
    <p:sldId id="284" r:id="rId17"/>
    <p:sldId id="28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548" autoAdjust="0"/>
  </p:normalViewPr>
  <p:slideViewPr>
    <p:cSldViewPr snapToGrid="0">
      <p:cViewPr varScale="1">
        <p:scale>
          <a:sx n="62" d="100"/>
          <a:sy n="62" d="100"/>
        </p:scale>
        <p:origin x="103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8EC2CE-E45A-4024-B033-BFCD2D7B160E}" type="datetimeFigureOut">
              <a:rPr lang="en-US" smtClean="0"/>
              <a:t>5/20/2026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FC4328-B840-4E82-B0A6-4B2C9CCD14BE}" type="slidenum">
              <a:rPr lang="en-US" smtClean="0"/>
              <a:t>‹#›</a:t>
            </a:fld>
            <a:endParaRPr lang="en-US"/>
          </a:p>
        </p:txBody>
      </p:sp>
    </p:spTree>
    <p:extLst>
      <p:ext uri="{BB962C8B-B14F-4D97-AF65-F5344CB8AC3E}">
        <p14:creationId xmlns:p14="http://schemas.microsoft.com/office/powerpoint/2010/main" val="2067009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FC4328-B840-4E82-B0A6-4B2C9CCD14BE}" type="slidenum">
              <a:rPr lang="en-US" smtClean="0"/>
              <a:t>7</a:t>
            </a:fld>
            <a:endParaRPr lang="en-US"/>
          </a:p>
        </p:txBody>
      </p:sp>
    </p:spTree>
    <p:extLst>
      <p:ext uri="{BB962C8B-B14F-4D97-AF65-F5344CB8AC3E}">
        <p14:creationId xmlns:p14="http://schemas.microsoft.com/office/powerpoint/2010/main" val="593601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FC4328-B840-4E82-B0A6-4B2C9CCD14BE}" type="slidenum">
              <a:rPr lang="en-US" smtClean="0"/>
              <a:t>8</a:t>
            </a:fld>
            <a:endParaRPr lang="en-US"/>
          </a:p>
        </p:txBody>
      </p:sp>
    </p:spTree>
    <p:extLst>
      <p:ext uri="{BB962C8B-B14F-4D97-AF65-F5344CB8AC3E}">
        <p14:creationId xmlns:p14="http://schemas.microsoft.com/office/powerpoint/2010/main" val="3059331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FC4328-B840-4E82-B0A6-4B2C9CCD14BE}" type="slidenum">
              <a:rPr lang="en-US" smtClean="0"/>
              <a:t>9</a:t>
            </a:fld>
            <a:endParaRPr lang="en-US"/>
          </a:p>
        </p:txBody>
      </p:sp>
    </p:spTree>
    <p:extLst>
      <p:ext uri="{BB962C8B-B14F-4D97-AF65-F5344CB8AC3E}">
        <p14:creationId xmlns:p14="http://schemas.microsoft.com/office/powerpoint/2010/main" val="2896937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E12E078-B9A9-4CA2-8501-03602B2C3E20}" type="datetime1">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2222688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98C23D-5D84-4405-B1E1-254B00DCD157}" type="datetime1">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4252910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F3ECB7-ADC5-435B-9A29-D498D6842FE2}" type="datetime1">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384004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0A00CB-87CD-4B2A-B032-351ABC9E3EC2}" type="datetime1">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2276050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CDB01D-D278-4F9C-9830-0B3A0C5F253A}" type="datetime1">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3079421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5C6447-A0DE-45FD-A01B-50E32AD73FDD}" type="datetime1">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3512118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075CBB-4062-4B64-9536-21F10055A011}" type="datetime1">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3264786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67A0F0A-01A6-40E3-B546-288756D1A255}" type="datetime1">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2492063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DDC8B26-0404-4A3A-A3F2-03DD64E3DDFB}" type="datetime1">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2363375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F5B292-7B0B-4360-A29F-D5E63E8945A3}" type="datetime1">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1973182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FB80BD-516B-49B5-AB04-FEEE12A4BD3B}" type="datetime1">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1567630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7574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97E617-4E20-4404-BBF2-25A99CDEDD4B}" type="datetime1">
              <a:rPr lang="en-US" smtClean="0"/>
              <a:t>5/20/2026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3B1FC4-1770-4941-B103-8E797B88350F}" type="slidenum">
              <a:rPr lang="en-US" smtClean="0"/>
              <a:t>‹#›</a:t>
            </a:fld>
            <a:endParaRPr lang="en-US"/>
          </a:p>
        </p:txBody>
      </p:sp>
    </p:spTree>
    <p:extLst>
      <p:ext uri="{BB962C8B-B14F-4D97-AF65-F5344CB8AC3E}">
        <p14:creationId xmlns:p14="http://schemas.microsoft.com/office/powerpoint/2010/main" val="1687435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rnab@cse.uiu.ac.b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maxembedded.files.wordpress.com/2013/08/serial-transfer.p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maxembedded.files.wordpress.com/2013/08/parallel-transfer.pn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www.youtube.com/embed/xUQYMfPac0g" TargetMode="Externa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hyperlink" Target="http://maxembedded.files.wordpress.com/2013/09/crosstalk-and-skew.p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2E74E2-8019-4597-71A9-101243F28360}"/>
              </a:ext>
            </a:extLst>
          </p:cNvPr>
          <p:cNvSpPr txBox="1">
            <a:spLocks/>
          </p:cNvSpPr>
          <p:nvPr/>
        </p:nvSpPr>
        <p:spPr>
          <a:xfrm>
            <a:off x="1676400" y="1274763"/>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Communication Protocols part 1</a:t>
            </a:r>
          </a:p>
        </p:txBody>
      </p:sp>
      <p:sp>
        <p:nvSpPr>
          <p:cNvPr id="2" name="Subtitle 4">
            <a:extLst>
              <a:ext uri="{FF2B5EF4-FFF2-40B4-BE49-F238E27FC236}">
                <a16:creationId xmlns:a16="http://schemas.microsoft.com/office/drawing/2014/main" id="{B2226485-CE10-327B-AE9F-E71A494C12CD}"/>
              </a:ext>
            </a:extLst>
          </p:cNvPr>
          <p:cNvSpPr txBox="1">
            <a:spLocks/>
          </p:cNvSpPr>
          <p:nvPr/>
        </p:nvSpPr>
        <p:spPr>
          <a:xfrm>
            <a:off x="1680014" y="4358640"/>
            <a:ext cx="4724400" cy="1415772"/>
          </a:xfrm>
          <a:prstGeom prst="rect">
            <a:avLst/>
          </a:prstGeom>
        </p:spPr>
        <p:txBody>
          <a:bodyPr wrap="square" lIns="0" tIns="0" rIns="0" bIns="0">
            <a:spAutoFit/>
          </a:bodyPr>
          <a:lstStyle>
            <a:lvl1pPr marL="0">
              <a:defRPr sz="2800" b="0" i="0" u="heavy">
                <a:solidFill>
                  <a:schemeClr val="tx1"/>
                </a:solidFill>
                <a:latin typeface="Carlito"/>
                <a:ea typeface="+mn-ea"/>
                <a:cs typeface="Carlito"/>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Arnab Bhattacharjee</a:t>
            </a:r>
            <a:endParaRPr kumimoji="0" lang="en-US" sz="1600" b="0" i="0" u="none" strike="noStrike" kern="0" cap="none" spc="0" normalizeH="0" baseline="0" noProof="0">
              <a:ln>
                <a:noFill/>
              </a:ln>
              <a:solidFill>
                <a:sysClr val="windowText" lastClr="000000"/>
              </a:solidFill>
              <a:effectLst/>
              <a:uLnTx/>
              <a:uFillTx/>
              <a:latin typeface="Arial"/>
              <a:ea typeface="+mn-ea"/>
              <a:cs typeface="Arial"/>
            </a:endParaRP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Lecturer, Department of CSE,  </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United International</a:t>
            </a:r>
            <a:r>
              <a:rPr kumimoji="0" lang="en-US" sz="1600" b="0" i="0" u="none" strike="noStrike" kern="0" cap="none" spc="10" normalizeH="0" baseline="0" noProof="0">
                <a:ln>
                  <a:noFill/>
                </a:ln>
                <a:solidFill>
                  <a:srgbClr val="585858"/>
                </a:solidFill>
                <a:effectLst/>
                <a:uLnTx/>
                <a:uFillTx/>
                <a:latin typeface="Arial"/>
                <a:ea typeface="+mn-ea"/>
                <a:cs typeface="Arial"/>
              </a:rPr>
              <a:t> </a:t>
            </a:r>
            <a:r>
              <a:rPr kumimoji="0" lang="en-US" sz="1600" b="0" i="0" u="none" strike="noStrike" kern="0" cap="none" spc="-5" normalizeH="0" baseline="0" noProof="0">
                <a:ln>
                  <a:noFill/>
                </a:ln>
                <a:solidFill>
                  <a:srgbClr val="585858"/>
                </a:solidFill>
                <a:effectLst/>
                <a:uLnTx/>
                <a:uFillTx/>
                <a:latin typeface="Arial"/>
                <a:ea typeface="+mn-ea"/>
                <a:cs typeface="Arial"/>
              </a:rPr>
              <a:t>University</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Email id : </a:t>
            </a:r>
            <a:r>
              <a:rPr kumimoji="0" lang="en-US" sz="1600" b="0" i="0" u="none" strike="noStrike" kern="0" cap="none" spc="-5" normalizeH="0" baseline="0" noProof="0">
                <a:ln>
                  <a:noFill/>
                </a:ln>
                <a:solidFill>
                  <a:srgbClr val="585858"/>
                </a:solidFill>
                <a:effectLst/>
                <a:uLnTx/>
                <a:uFillTx/>
                <a:latin typeface="Arial"/>
                <a:ea typeface="+mn-ea"/>
                <a:cs typeface="Arial"/>
                <a:hlinkClick r:id="rId2"/>
              </a:rPr>
              <a:t>arnab@cse.uiu.ac.bd</a:t>
            </a:r>
            <a:endParaRPr kumimoji="0" lang="en-US" sz="1600" b="0" i="0" u="none" strike="noStrike" kern="0" cap="none" spc="0" normalizeH="0" baseline="0" noProof="0">
              <a:ln>
                <a:noFill/>
              </a:ln>
              <a:solidFill>
                <a:sysClr val="windowText" lastClr="000000"/>
              </a:solidFill>
              <a:effectLst/>
              <a:uLnTx/>
              <a:uFillTx/>
              <a:latin typeface="Arial"/>
              <a:ea typeface="+mn-ea"/>
              <a:cs typeface="Aria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heavy" strike="noStrike" kern="0" cap="none" spc="0" normalizeH="0" baseline="0" noProof="0" dirty="0">
              <a:ln>
                <a:noFill/>
              </a:ln>
              <a:solidFill>
                <a:sysClr val="windowText" lastClr="000000"/>
              </a:solidFill>
              <a:effectLst/>
              <a:uLnTx/>
              <a:uFillTx/>
              <a:latin typeface="Carlito"/>
              <a:ea typeface="+mn-ea"/>
            </a:endParaRPr>
          </a:p>
        </p:txBody>
      </p:sp>
      <p:sp>
        <p:nvSpPr>
          <p:cNvPr id="3" name="object 5">
            <a:extLst>
              <a:ext uri="{FF2B5EF4-FFF2-40B4-BE49-F238E27FC236}">
                <a16:creationId xmlns:a16="http://schemas.microsoft.com/office/drawing/2014/main" id="{909EBD66-B9B8-2287-1302-455316369A0E}"/>
              </a:ext>
            </a:extLst>
          </p:cNvPr>
          <p:cNvSpPr txBox="1"/>
          <p:nvPr/>
        </p:nvSpPr>
        <p:spPr>
          <a:xfrm>
            <a:off x="6233160" y="5750028"/>
            <a:ext cx="3562546" cy="579005"/>
          </a:xfrm>
          <a:prstGeom prst="rect">
            <a:avLst/>
          </a:prstGeom>
        </p:spPr>
        <p:txBody>
          <a:bodyPr vert="horz" wrap="square" lIns="0" tIns="12065" rIns="0" bIns="0" rtlCol="0">
            <a:spAutoFit/>
          </a:bodyPr>
          <a:lstStyle/>
          <a:p>
            <a:pPr marL="12700">
              <a:spcBef>
                <a:spcPts val="95"/>
              </a:spcBef>
            </a:pPr>
            <a:r>
              <a:rPr spc="-5" dirty="0">
                <a:solidFill>
                  <a:srgbClr val="585858"/>
                </a:solidFill>
                <a:latin typeface="Arial"/>
                <a:cs typeface="Arial"/>
              </a:rPr>
              <a:t>Courtesy:</a:t>
            </a:r>
            <a:r>
              <a:rPr lang="en-US" spc="-5" dirty="0">
                <a:solidFill>
                  <a:srgbClr val="585858"/>
                </a:solidFill>
                <a:latin typeface="Arial"/>
                <a:cs typeface="Arial"/>
              </a:rPr>
              <a:t> Nasif M. Sir, </a:t>
            </a:r>
          </a:p>
          <a:p>
            <a:pPr marL="12700">
              <a:spcBef>
                <a:spcPts val="95"/>
              </a:spcBef>
            </a:pPr>
            <a:r>
              <a:rPr lang="en-US" spc="-5" dirty="0">
                <a:solidFill>
                  <a:srgbClr val="585858"/>
                </a:solidFill>
                <a:latin typeface="Arial"/>
                <a:cs typeface="Arial"/>
              </a:rPr>
              <a:t>Md. Shafqat Talukder Rakin</a:t>
            </a:r>
            <a:r>
              <a:rPr lang="en-US" dirty="0">
                <a:solidFill>
                  <a:prstClr val="black"/>
                </a:solidFill>
                <a:latin typeface="Arial"/>
                <a:cs typeface="Arial"/>
              </a:rPr>
              <a:t> </a:t>
            </a:r>
            <a:r>
              <a:rPr lang="en-US" spc="-5" dirty="0">
                <a:solidFill>
                  <a:srgbClr val="585858"/>
                </a:solidFill>
                <a:latin typeface="Arial"/>
                <a:cs typeface="Arial"/>
              </a:rPr>
              <a:t>Sir</a:t>
            </a:r>
            <a:r>
              <a:rPr spc="-5" dirty="0">
                <a:solidFill>
                  <a:srgbClr val="585858"/>
                </a:solidFill>
                <a:latin typeface="Arial"/>
                <a:cs typeface="Arial"/>
              </a:rPr>
              <a:t> </a:t>
            </a:r>
            <a:endParaRPr dirty="0">
              <a:solidFill>
                <a:prstClr val="black"/>
              </a:solidFill>
              <a:latin typeface="Arial"/>
              <a:cs typeface="Arial"/>
            </a:endParaRPr>
          </a:p>
        </p:txBody>
      </p:sp>
    </p:spTree>
    <p:extLst>
      <p:ext uri="{BB962C8B-B14F-4D97-AF65-F5344CB8AC3E}">
        <p14:creationId xmlns:p14="http://schemas.microsoft.com/office/powerpoint/2010/main" val="1726356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0220"/>
          </a:xfrm>
        </p:spPr>
        <p:txBody>
          <a:bodyPr>
            <a:normAutofit/>
          </a:bodyPr>
          <a:lstStyle/>
          <a:p>
            <a:r>
              <a:rPr lang="en-US" dirty="0"/>
              <a:t>Serial communication</a:t>
            </a:r>
          </a:p>
        </p:txBody>
      </p:sp>
      <p:sp>
        <p:nvSpPr>
          <p:cNvPr id="3" name="Content Placeholder 2"/>
          <p:cNvSpPr>
            <a:spLocks noGrp="1"/>
          </p:cNvSpPr>
          <p:nvPr>
            <p:ph idx="1"/>
          </p:nvPr>
        </p:nvSpPr>
        <p:spPr>
          <a:xfrm>
            <a:off x="838200" y="1343891"/>
            <a:ext cx="10515600" cy="4833072"/>
          </a:xfrm>
        </p:spPr>
        <p:txBody>
          <a:bodyPr/>
          <a:lstStyle/>
          <a:p>
            <a:pPr marL="0" indent="0">
              <a:buNone/>
            </a:pPr>
            <a:r>
              <a:rPr lang="en-US" dirty="0"/>
              <a:t>In Telecommunication and Computer Science, serial communication is the process of sending/receiving data in one bit at a time. </a:t>
            </a:r>
          </a:p>
          <a:p>
            <a:pPr marL="0" indent="0">
              <a:buNone/>
            </a:pPr>
            <a:endParaRPr lang="en-US" dirty="0"/>
          </a:p>
        </p:txBody>
      </p:sp>
      <p:pic>
        <p:nvPicPr>
          <p:cNvPr id="4" name="Picture 3" descr="Serial Transfer">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2165466" y="2539192"/>
            <a:ext cx="7020098" cy="3238154"/>
          </a:xfrm>
          <a:prstGeom prst="rect">
            <a:avLst/>
          </a:prstGeom>
          <a:noFill/>
          <a:ln>
            <a:noFill/>
          </a:ln>
        </p:spPr>
      </p:pic>
      <p:sp>
        <p:nvSpPr>
          <p:cNvPr id="5" name="Slide Number Placeholder 4"/>
          <p:cNvSpPr>
            <a:spLocks noGrp="1"/>
          </p:cNvSpPr>
          <p:nvPr>
            <p:ph type="sldNum" sz="quarter" idx="12"/>
          </p:nvPr>
        </p:nvSpPr>
        <p:spPr/>
        <p:txBody>
          <a:bodyPr/>
          <a:lstStyle/>
          <a:p>
            <a:fld id="{B33B1FC4-1770-4941-B103-8E797B88350F}" type="slidenum">
              <a:rPr lang="en-US" smtClean="0"/>
              <a:t>2</a:t>
            </a:fld>
            <a:endParaRPr lang="en-US"/>
          </a:p>
        </p:txBody>
      </p:sp>
    </p:spTree>
    <p:extLst>
      <p:ext uri="{BB962C8B-B14F-4D97-AF65-F5344CB8AC3E}">
        <p14:creationId xmlns:p14="http://schemas.microsoft.com/office/powerpoint/2010/main" val="2827408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134600" cy="715530"/>
          </a:xfrm>
        </p:spPr>
        <p:txBody>
          <a:bodyPr/>
          <a:lstStyle/>
          <a:p>
            <a:r>
              <a:rPr lang="en-US" dirty="0"/>
              <a:t>Parallel communication</a:t>
            </a:r>
          </a:p>
        </p:txBody>
      </p:sp>
      <p:sp>
        <p:nvSpPr>
          <p:cNvPr id="3" name="Content Placeholder 2"/>
          <p:cNvSpPr>
            <a:spLocks noGrp="1"/>
          </p:cNvSpPr>
          <p:nvPr>
            <p:ph idx="1"/>
          </p:nvPr>
        </p:nvSpPr>
        <p:spPr>
          <a:xfrm>
            <a:off x="838200" y="1202170"/>
            <a:ext cx="10494818" cy="5254048"/>
          </a:xfrm>
        </p:spPr>
        <p:txBody>
          <a:bodyPr/>
          <a:lstStyle/>
          <a:p>
            <a:pPr marL="0" indent="0">
              <a:buNone/>
            </a:pPr>
            <a:r>
              <a:rPr lang="en-US" dirty="0"/>
              <a:t>Parallel communication is the process of sending/receiving multiple data bits at a time through parallel channels. </a:t>
            </a:r>
          </a:p>
          <a:p>
            <a:pPr marL="0" indent="0">
              <a:buNone/>
            </a:pPr>
            <a:endParaRPr lang="en-US" dirty="0"/>
          </a:p>
        </p:txBody>
      </p:sp>
      <p:pic>
        <p:nvPicPr>
          <p:cNvPr id="4" name="Picture 3" descr="Parallel Transfer">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2394757" y="2300344"/>
            <a:ext cx="6472151" cy="4155873"/>
          </a:xfrm>
          <a:prstGeom prst="rect">
            <a:avLst/>
          </a:prstGeom>
          <a:noFill/>
          <a:ln>
            <a:noFill/>
          </a:ln>
        </p:spPr>
      </p:pic>
      <p:sp>
        <p:nvSpPr>
          <p:cNvPr id="5" name="Slide Number Placeholder 4"/>
          <p:cNvSpPr>
            <a:spLocks noGrp="1"/>
          </p:cNvSpPr>
          <p:nvPr>
            <p:ph type="sldNum" sz="quarter" idx="12"/>
          </p:nvPr>
        </p:nvSpPr>
        <p:spPr/>
        <p:txBody>
          <a:bodyPr/>
          <a:lstStyle/>
          <a:p>
            <a:fld id="{B33B1FC4-1770-4941-B103-8E797B88350F}" type="slidenum">
              <a:rPr lang="en-US" smtClean="0"/>
              <a:t>3</a:t>
            </a:fld>
            <a:endParaRPr lang="en-US"/>
          </a:p>
        </p:txBody>
      </p:sp>
    </p:spTree>
    <p:extLst>
      <p:ext uri="{BB962C8B-B14F-4D97-AF65-F5344CB8AC3E}">
        <p14:creationId xmlns:p14="http://schemas.microsoft.com/office/powerpoint/2010/main" val="968380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0220"/>
          </a:xfrm>
        </p:spPr>
        <p:txBody>
          <a:bodyPr>
            <a:normAutofit/>
          </a:bodyPr>
          <a:lstStyle/>
          <a:p>
            <a:r>
              <a:rPr lang="en-US" dirty="0"/>
              <a:t>Serial communication</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7463" y="1205345"/>
            <a:ext cx="9137073" cy="5334000"/>
          </a:xfrm>
          <a:prstGeom prst="rect">
            <a:avLst/>
          </a:prstGeom>
        </p:spPr>
      </p:pic>
      <p:sp>
        <p:nvSpPr>
          <p:cNvPr id="3" name="Slide Number Placeholder 2"/>
          <p:cNvSpPr>
            <a:spLocks noGrp="1"/>
          </p:cNvSpPr>
          <p:nvPr>
            <p:ph type="sldNum" sz="quarter" idx="12"/>
          </p:nvPr>
        </p:nvSpPr>
        <p:spPr/>
        <p:txBody>
          <a:bodyPr/>
          <a:lstStyle/>
          <a:p>
            <a:fld id="{B33B1FC4-1770-4941-B103-8E797B88350F}" type="slidenum">
              <a:rPr lang="en-US" smtClean="0"/>
              <a:t>4</a:t>
            </a:fld>
            <a:endParaRPr lang="en-US"/>
          </a:p>
        </p:txBody>
      </p:sp>
    </p:spTree>
    <p:extLst>
      <p:ext uri="{BB962C8B-B14F-4D97-AF65-F5344CB8AC3E}">
        <p14:creationId xmlns:p14="http://schemas.microsoft.com/office/powerpoint/2010/main" val="2046333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6133" y="1345914"/>
            <a:ext cx="9466637" cy="4837840"/>
          </a:xfrm>
        </p:spPr>
      </p:pic>
      <p:sp>
        <p:nvSpPr>
          <p:cNvPr id="4" name="Title 1"/>
          <p:cNvSpPr>
            <a:spLocks noGrp="1"/>
          </p:cNvSpPr>
          <p:nvPr>
            <p:ph type="title"/>
          </p:nvPr>
        </p:nvSpPr>
        <p:spPr>
          <a:xfrm>
            <a:off x="681651" y="192529"/>
            <a:ext cx="10515600" cy="980789"/>
          </a:xfrm>
        </p:spPr>
        <p:txBody>
          <a:bodyPr/>
          <a:lstStyle/>
          <a:p>
            <a:r>
              <a:rPr lang="en-US" dirty="0"/>
              <a:t>Parallel communication</a:t>
            </a:r>
          </a:p>
        </p:txBody>
      </p:sp>
      <p:sp>
        <p:nvSpPr>
          <p:cNvPr id="2" name="Slide Number Placeholder 1"/>
          <p:cNvSpPr>
            <a:spLocks noGrp="1"/>
          </p:cNvSpPr>
          <p:nvPr>
            <p:ph type="sldNum" sz="quarter" idx="12"/>
          </p:nvPr>
        </p:nvSpPr>
        <p:spPr/>
        <p:txBody>
          <a:bodyPr/>
          <a:lstStyle/>
          <a:p>
            <a:fld id="{B33B1FC4-1770-4941-B103-8E797B88350F}" type="slidenum">
              <a:rPr lang="en-US" smtClean="0"/>
              <a:t>5</a:t>
            </a:fld>
            <a:endParaRPr lang="en-US"/>
          </a:p>
        </p:txBody>
      </p:sp>
    </p:spTree>
    <p:extLst>
      <p:ext uri="{BB962C8B-B14F-4D97-AF65-F5344CB8AC3E}">
        <p14:creationId xmlns:p14="http://schemas.microsoft.com/office/powerpoint/2010/main" val="3142640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99073" cy="1172729"/>
          </a:xfrm>
        </p:spPr>
        <p:txBody>
          <a:bodyPr>
            <a:normAutofit fontScale="90000"/>
          </a:bodyPr>
          <a:lstStyle/>
          <a:p>
            <a:r>
              <a:rPr lang="en-US" dirty="0"/>
              <a:t>Serial vs Parallel Communication</a:t>
            </a:r>
            <a:br>
              <a:rPr lang="en-US" dirty="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83415967"/>
              </p:ext>
            </p:extLst>
          </p:nvPr>
        </p:nvGraphicFramePr>
        <p:xfrm>
          <a:off x="1081000" y="1537855"/>
          <a:ext cx="7605799" cy="4779819"/>
        </p:xfrm>
        <a:graphic>
          <a:graphicData uri="http://schemas.openxmlformats.org/drawingml/2006/table">
            <a:tbl>
              <a:tblPr firstRow="1" firstCol="1" bandRow="1">
                <a:tableStyleId>{5C22544A-7EE6-4342-B048-85BDC9FD1C3A}</a:tableStyleId>
              </a:tblPr>
              <a:tblGrid>
                <a:gridCol w="3832785">
                  <a:extLst>
                    <a:ext uri="{9D8B030D-6E8A-4147-A177-3AD203B41FA5}">
                      <a16:colId xmlns:a16="http://schemas.microsoft.com/office/drawing/2014/main" val="2055113886"/>
                    </a:ext>
                  </a:extLst>
                </a:gridCol>
                <a:gridCol w="3773014">
                  <a:extLst>
                    <a:ext uri="{9D8B030D-6E8A-4147-A177-3AD203B41FA5}">
                      <a16:colId xmlns:a16="http://schemas.microsoft.com/office/drawing/2014/main" val="1367930722"/>
                    </a:ext>
                  </a:extLst>
                </a:gridCol>
              </a:tblGrid>
              <a:tr h="860495">
                <a:tc>
                  <a:txBody>
                    <a:bodyPr/>
                    <a:lstStyle/>
                    <a:p>
                      <a:pPr marL="0" marR="0" algn="l">
                        <a:lnSpc>
                          <a:spcPct val="115000"/>
                        </a:lnSpc>
                        <a:spcBef>
                          <a:spcPts val="0"/>
                        </a:spcBef>
                        <a:spcAft>
                          <a:spcPts val="1000"/>
                        </a:spcAft>
                      </a:pPr>
                      <a:r>
                        <a:rPr lang="en-US" sz="2800" dirty="0">
                          <a:solidFill>
                            <a:schemeClr val="tx1"/>
                          </a:solidFill>
                          <a:effectLst/>
                        </a:rPr>
                        <a:t>Serial Communication</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0" marR="0" algn="l">
                        <a:lnSpc>
                          <a:spcPct val="115000"/>
                        </a:lnSpc>
                        <a:spcBef>
                          <a:spcPts val="0"/>
                        </a:spcBef>
                        <a:spcAft>
                          <a:spcPts val="1000"/>
                        </a:spcAft>
                      </a:pPr>
                      <a:r>
                        <a:rPr lang="en-US" sz="2800" dirty="0">
                          <a:solidFill>
                            <a:schemeClr val="tx1"/>
                          </a:solidFill>
                          <a:effectLst/>
                        </a:rPr>
                        <a:t>Parallel Communication</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184226684"/>
                  </a:ext>
                </a:extLst>
              </a:tr>
              <a:tr h="1577247">
                <a:tc>
                  <a:txBody>
                    <a:bodyPr/>
                    <a:lstStyle/>
                    <a:p>
                      <a:pPr marL="0" marR="0" algn="l">
                        <a:lnSpc>
                          <a:spcPct val="115000"/>
                        </a:lnSpc>
                        <a:spcBef>
                          <a:spcPts val="0"/>
                        </a:spcBef>
                        <a:spcAft>
                          <a:spcPts val="0"/>
                        </a:spcAft>
                      </a:pPr>
                      <a:r>
                        <a:rPr lang="en-US" sz="2800" b="0" i="0" dirty="0">
                          <a:solidFill>
                            <a:schemeClr val="tx1"/>
                          </a:solidFill>
                          <a:effectLst/>
                        </a:rPr>
                        <a:t>1. One data bit is </a:t>
                      </a:r>
                      <a:r>
                        <a:rPr lang="en-US" sz="2800" b="0" i="0" dirty="0" err="1">
                          <a:solidFill>
                            <a:schemeClr val="tx1"/>
                          </a:solidFill>
                          <a:effectLst/>
                        </a:rPr>
                        <a:t>transceived</a:t>
                      </a:r>
                      <a:r>
                        <a:rPr lang="en-US" sz="2800" b="0" i="0" dirty="0">
                          <a:solidFill>
                            <a:schemeClr val="tx1"/>
                          </a:solidFill>
                          <a:effectLst/>
                        </a:rPr>
                        <a:t> at a time</a:t>
                      </a:r>
                      <a:endParaRPr lang="en-US" sz="2800" b="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solidFill>
                  </a:tcPr>
                </a:tc>
                <a:tc>
                  <a:txBody>
                    <a:bodyPr/>
                    <a:lstStyle/>
                    <a:p>
                      <a:pPr marL="0" marR="0" algn="l">
                        <a:lnSpc>
                          <a:spcPct val="115000"/>
                        </a:lnSpc>
                        <a:spcBef>
                          <a:spcPts val="0"/>
                        </a:spcBef>
                        <a:spcAft>
                          <a:spcPts val="0"/>
                        </a:spcAft>
                      </a:pPr>
                      <a:r>
                        <a:rPr lang="en-US" sz="2800">
                          <a:solidFill>
                            <a:schemeClr val="tx1"/>
                          </a:solidFill>
                          <a:effectLst/>
                        </a:rPr>
                        <a:t>1. Multiple data bits are transceived at a time</a:t>
                      </a:r>
                      <a:endParaRPr lang="en-US" sz="28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solidFill>
                  </a:tcPr>
                </a:tc>
                <a:extLst>
                  <a:ext uri="{0D108BD9-81ED-4DB2-BD59-A6C34878D82A}">
                    <a16:rowId xmlns:a16="http://schemas.microsoft.com/office/drawing/2014/main" val="2570015319"/>
                  </a:ext>
                </a:extLst>
              </a:tr>
              <a:tr h="764830">
                <a:tc>
                  <a:txBody>
                    <a:bodyPr/>
                    <a:lstStyle/>
                    <a:p>
                      <a:pPr marL="0" marR="0" algn="l">
                        <a:lnSpc>
                          <a:spcPct val="115000"/>
                        </a:lnSpc>
                        <a:spcBef>
                          <a:spcPts val="0"/>
                        </a:spcBef>
                        <a:spcAft>
                          <a:spcPts val="0"/>
                        </a:spcAft>
                      </a:pPr>
                      <a:r>
                        <a:rPr lang="en-US" sz="2800" b="0" i="0">
                          <a:solidFill>
                            <a:schemeClr val="tx1"/>
                          </a:solidFill>
                          <a:effectLst/>
                        </a:rPr>
                        <a:t>2. Slower</a:t>
                      </a:r>
                      <a:endParaRPr lang="en-US" sz="2800" b="0" i="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solidFill>
                  </a:tcPr>
                </a:tc>
                <a:tc>
                  <a:txBody>
                    <a:bodyPr/>
                    <a:lstStyle/>
                    <a:p>
                      <a:pPr marL="0" marR="0" algn="l">
                        <a:lnSpc>
                          <a:spcPct val="115000"/>
                        </a:lnSpc>
                        <a:spcBef>
                          <a:spcPts val="0"/>
                        </a:spcBef>
                        <a:spcAft>
                          <a:spcPts val="0"/>
                        </a:spcAft>
                      </a:pPr>
                      <a:r>
                        <a:rPr lang="en-US" sz="2800">
                          <a:solidFill>
                            <a:schemeClr val="tx1"/>
                          </a:solidFill>
                          <a:effectLst/>
                        </a:rPr>
                        <a:t>2. Faster</a:t>
                      </a:r>
                      <a:endParaRPr lang="en-US" sz="28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solidFill>
                  </a:tcPr>
                </a:tc>
                <a:extLst>
                  <a:ext uri="{0D108BD9-81ED-4DB2-BD59-A6C34878D82A}">
                    <a16:rowId xmlns:a16="http://schemas.microsoft.com/office/drawing/2014/main" val="3843964272"/>
                  </a:ext>
                </a:extLst>
              </a:tr>
              <a:tr h="1577247">
                <a:tc>
                  <a:txBody>
                    <a:bodyPr/>
                    <a:lstStyle/>
                    <a:p>
                      <a:pPr marL="0" marR="0" algn="l">
                        <a:lnSpc>
                          <a:spcPct val="115000"/>
                        </a:lnSpc>
                        <a:spcBef>
                          <a:spcPts val="0"/>
                        </a:spcBef>
                        <a:spcAft>
                          <a:spcPts val="0"/>
                        </a:spcAft>
                      </a:pPr>
                      <a:r>
                        <a:rPr lang="en-US" sz="2800" b="0" i="0" dirty="0">
                          <a:solidFill>
                            <a:schemeClr val="tx1"/>
                          </a:solidFill>
                          <a:effectLst/>
                        </a:rPr>
                        <a:t>3. Less number of cables required to transmit data</a:t>
                      </a:r>
                      <a:endParaRPr lang="en-US" sz="2800" b="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solidFill>
                  </a:tcPr>
                </a:tc>
                <a:tc>
                  <a:txBody>
                    <a:bodyPr/>
                    <a:lstStyle/>
                    <a:p>
                      <a:pPr marL="0" marR="0" algn="l">
                        <a:lnSpc>
                          <a:spcPct val="115000"/>
                        </a:lnSpc>
                        <a:spcBef>
                          <a:spcPts val="0"/>
                        </a:spcBef>
                        <a:spcAft>
                          <a:spcPts val="0"/>
                        </a:spcAft>
                      </a:pPr>
                      <a:r>
                        <a:rPr lang="en-US" sz="2800" dirty="0">
                          <a:solidFill>
                            <a:schemeClr val="tx1"/>
                          </a:solidFill>
                          <a:effectLst/>
                        </a:rPr>
                        <a:t>3. Higher number of cables required</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solidFill>
                  </a:tcPr>
                </a:tc>
                <a:extLst>
                  <a:ext uri="{0D108BD9-81ED-4DB2-BD59-A6C34878D82A}">
                    <a16:rowId xmlns:a16="http://schemas.microsoft.com/office/drawing/2014/main" val="2120697762"/>
                  </a:ext>
                </a:extLst>
              </a:tr>
            </a:tbl>
          </a:graphicData>
        </a:graphic>
      </p:graphicFrame>
      <p:sp>
        <p:nvSpPr>
          <p:cNvPr id="3" name="Slide Number Placeholder 2"/>
          <p:cNvSpPr>
            <a:spLocks noGrp="1"/>
          </p:cNvSpPr>
          <p:nvPr>
            <p:ph type="sldNum" sz="quarter" idx="12"/>
          </p:nvPr>
        </p:nvSpPr>
        <p:spPr/>
        <p:txBody>
          <a:bodyPr/>
          <a:lstStyle/>
          <a:p>
            <a:fld id="{B33B1FC4-1770-4941-B103-8E797B88350F}" type="slidenum">
              <a:rPr lang="en-US" smtClean="0"/>
              <a:t>6</a:t>
            </a:fld>
            <a:endParaRPr lang="en-US"/>
          </a:p>
        </p:txBody>
      </p:sp>
    </p:spTree>
    <p:extLst>
      <p:ext uri="{BB962C8B-B14F-4D97-AF65-F5344CB8AC3E}">
        <p14:creationId xmlns:p14="http://schemas.microsoft.com/office/powerpoint/2010/main" val="3090028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70932"/>
            <a:ext cx="10952747" cy="750971"/>
          </a:xfrm>
        </p:spPr>
        <p:txBody>
          <a:bodyPr>
            <a:normAutofit fontScale="90000"/>
          </a:bodyPr>
          <a:lstStyle/>
          <a:p>
            <a:r>
              <a:rPr lang="en-US" b="1" dirty="0"/>
              <a:t>Major Factors Limiting Parallel Communication</a:t>
            </a:r>
            <a:br>
              <a:rPr lang="en-US" dirty="0"/>
            </a:br>
            <a:endParaRPr lang="en-US" dirty="0"/>
          </a:p>
        </p:txBody>
      </p:sp>
      <p:sp>
        <p:nvSpPr>
          <p:cNvPr id="3" name="Content Placeholder 2"/>
          <p:cNvSpPr>
            <a:spLocks noGrp="1"/>
          </p:cNvSpPr>
          <p:nvPr>
            <p:ph idx="1"/>
          </p:nvPr>
        </p:nvSpPr>
        <p:spPr>
          <a:xfrm>
            <a:off x="528929" y="964176"/>
            <a:ext cx="11097126" cy="5646486"/>
          </a:xfrm>
        </p:spPr>
        <p:txBody>
          <a:bodyPr/>
          <a:lstStyle/>
          <a:p>
            <a:pPr lvl="0"/>
            <a:r>
              <a:rPr lang="en-US" b="1" dirty="0"/>
              <a:t>Speed</a:t>
            </a:r>
            <a:r>
              <a:rPr lang="en-US" dirty="0"/>
              <a:t>:  </a:t>
            </a:r>
            <a:r>
              <a:rPr lang="en-US" dirty="0">
                <a:solidFill>
                  <a:srgbClr val="0000FF"/>
                </a:solidFill>
              </a:rPr>
              <a:t>Clock skew phenomenon</a:t>
            </a:r>
            <a:r>
              <a:rPr lang="en-US" dirty="0"/>
              <a:t> reduces the speed of every link to the slowest of all of the links.</a:t>
            </a:r>
          </a:p>
          <a:p>
            <a:pPr lvl="0"/>
            <a:endParaRPr lang="en-US" dirty="0"/>
          </a:p>
          <a:p>
            <a:pPr marL="0" lvl="0" indent="0">
              <a:buNone/>
            </a:pPr>
            <a:endParaRPr lang="en-US" dirty="0"/>
          </a:p>
          <a:p>
            <a:pPr lvl="0"/>
            <a:r>
              <a:rPr lang="en-US" b="1" dirty="0"/>
              <a:t>Cable length</a:t>
            </a:r>
            <a:r>
              <a:rPr lang="en-US" dirty="0"/>
              <a:t>: </a:t>
            </a:r>
            <a:r>
              <a:rPr lang="en-US" dirty="0">
                <a:solidFill>
                  <a:srgbClr val="0000FF"/>
                </a:solidFill>
              </a:rPr>
              <a:t>Crosstalk phenomenon</a:t>
            </a:r>
            <a:r>
              <a:rPr lang="en-US" dirty="0"/>
              <a:t> creates interference between the parallel lines, and the effect only magnifies with the length of the communication link. This limits the length of the communication cable that can be used.</a:t>
            </a:r>
          </a:p>
          <a:p>
            <a:endParaRPr lang="en-US" dirty="0"/>
          </a:p>
        </p:txBody>
      </p:sp>
      <p:sp>
        <p:nvSpPr>
          <p:cNvPr id="4" name="Slide Number Placeholder 3"/>
          <p:cNvSpPr>
            <a:spLocks noGrp="1"/>
          </p:cNvSpPr>
          <p:nvPr>
            <p:ph type="sldNum" sz="quarter" idx="12"/>
          </p:nvPr>
        </p:nvSpPr>
        <p:spPr/>
        <p:txBody>
          <a:bodyPr/>
          <a:lstStyle/>
          <a:p>
            <a:fld id="{B33B1FC4-1770-4941-B103-8E797B88350F}" type="slidenum">
              <a:rPr lang="en-US" smtClean="0"/>
              <a:t>7</a:t>
            </a:fld>
            <a:endParaRPr lang="en-US"/>
          </a:p>
        </p:txBody>
      </p:sp>
      <p:sp>
        <p:nvSpPr>
          <p:cNvPr id="5" name="TextBox 4"/>
          <p:cNvSpPr txBox="1"/>
          <p:nvPr/>
        </p:nvSpPr>
        <p:spPr>
          <a:xfrm>
            <a:off x="674557" y="6145967"/>
            <a:ext cx="10951498" cy="646331"/>
          </a:xfrm>
          <a:prstGeom prst="rect">
            <a:avLst/>
          </a:prstGeom>
          <a:noFill/>
        </p:spPr>
        <p:txBody>
          <a:bodyPr wrap="square" rtlCol="0">
            <a:spAutoFit/>
          </a:bodyPr>
          <a:lstStyle/>
          <a:p>
            <a:r>
              <a:rPr lang="en-US" dirty="0"/>
              <a:t>Phenomenon : a fact or situation that is observed to exist or happen, especially one whose cause or explanation is in question.</a:t>
            </a:r>
          </a:p>
        </p:txBody>
      </p:sp>
    </p:spTree>
    <p:extLst>
      <p:ext uri="{BB962C8B-B14F-4D97-AF65-F5344CB8AC3E}">
        <p14:creationId xmlns:p14="http://schemas.microsoft.com/office/powerpoint/2010/main" val="4228184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136" y="153370"/>
            <a:ext cx="11425187" cy="576984"/>
          </a:xfrm>
        </p:spPr>
        <p:txBody>
          <a:bodyPr>
            <a:noAutofit/>
          </a:bodyPr>
          <a:lstStyle/>
          <a:p>
            <a:r>
              <a:rPr lang="en-US" sz="4000" dirty="0"/>
              <a:t>Terminology</a:t>
            </a:r>
          </a:p>
        </p:txBody>
      </p:sp>
      <p:sp>
        <p:nvSpPr>
          <p:cNvPr id="3" name="Content Placeholder 2"/>
          <p:cNvSpPr>
            <a:spLocks noGrp="1"/>
          </p:cNvSpPr>
          <p:nvPr>
            <p:ph idx="1"/>
          </p:nvPr>
        </p:nvSpPr>
        <p:spPr>
          <a:xfrm>
            <a:off x="433137" y="691464"/>
            <a:ext cx="11550316" cy="5919198"/>
          </a:xfrm>
        </p:spPr>
        <p:txBody>
          <a:bodyPr/>
          <a:lstStyle/>
          <a:p>
            <a:pPr marL="0" lvl="0" indent="0">
              <a:buNone/>
            </a:pPr>
            <a:r>
              <a:rPr lang="en-US" b="1" dirty="0"/>
              <a:t>Clock Skew:</a:t>
            </a:r>
            <a:r>
              <a:rPr lang="en-US" dirty="0"/>
              <a:t> In a parallel circuit, clock skew phenomenon is observed, </a:t>
            </a:r>
            <a:r>
              <a:rPr lang="en-US" dirty="0">
                <a:solidFill>
                  <a:srgbClr val="0000FF"/>
                </a:solidFill>
              </a:rPr>
              <a:t>which is the time difference in the arrival of two bits sequentially in adjacent registers</a:t>
            </a:r>
            <a:r>
              <a:rPr lang="en-US" dirty="0"/>
              <a:t>. There is a time lag in the data bits through different channels of the same bus. Clock skew is inevitable due to differences in physical conditions of the channels, like temperature, resistance, path length, </a:t>
            </a:r>
            <a:r>
              <a:rPr lang="en-US" dirty="0" err="1"/>
              <a:t>etc</a:t>
            </a:r>
            <a:endParaRPr lang="en-US" dirty="0"/>
          </a:p>
          <a:p>
            <a:pPr marL="0" lvl="0" indent="0">
              <a:buNone/>
            </a:pPr>
            <a:endParaRPr lang="en-US" dirty="0"/>
          </a:p>
        </p:txBody>
      </p:sp>
      <p:sp>
        <p:nvSpPr>
          <p:cNvPr id="4" name="Slide Number Placeholder 3"/>
          <p:cNvSpPr>
            <a:spLocks noGrp="1"/>
          </p:cNvSpPr>
          <p:nvPr>
            <p:ph type="sldNum" sz="quarter" idx="12"/>
          </p:nvPr>
        </p:nvSpPr>
        <p:spPr/>
        <p:txBody>
          <a:bodyPr/>
          <a:lstStyle/>
          <a:p>
            <a:fld id="{B33B1FC4-1770-4941-B103-8E797B88350F}" type="slidenum">
              <a:rPr lang="en-US" smtClean="0"/>
              <a:t>8</a:t>
            </a:fld>
            <a:endParaRPr lang="en-US"/>
          </a:p>
        </p:txBody>
      </p:sp>
      <p:sp>
        <p:nvSpPr>
          <p:cNvPr id="7" name="TextBox 6"/>
          <p:cNvSpPr txBox="1"/>
          <p:nvPr/>
        </p:nvSpPr>
        <p:spPr>
          <a:xfrm>
            <a:off x="6729105" y="2855281"/>
            <a:ext cx="4862762" cy="2954655"/>
          </a:xfrm>
          <a:prstGeom prst="rect">
            <a:avLst/>
          </a:prstGeom>
          <a:noFill/>
        </p:spPr>
        <p:txBody>
          <a:bodyPr wrap="square" rtlCol="0">
            <a:spAutoFit/>
          </a:bodyPr>
          <a:lstStyle/>
          <a:p>
            <a:pPr lvl="0"/>
            <a:r>
              <a:rPr lang="en-US" sz="2400" i="1" dirty="0"/>
              <a:t>For example, around 5 people are firing at the same time, there is bound to be a time difference in the arrival of the bullet from the first shooter and that from the second shooter and so on. This time difference is what we call clock skew</a:t>
            </a:r>
            <a:r>
              <a:rPr lang="en-US" sz="2400" dirty="0"/>
              <a:t>. </a:t>
            </a:r>
          </a:p>
          <a:p>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136" y="2786178"/>
            <a:ext cx="5700551" cy="4071822"/>
          </a:xfrm>
          <a:prstGeom prst="rect">
            <a:avLst/>
          </a:prstGeom>
        </p:spPr>
      </p:pic>
    </p:spTree>
    <p:extLst>
      <p:ext uri="{BB962C8B-B14F-4D97-AF65-F5344CB8AC3E}">
        <p14:creationId xmlns:p14="http://schemas.microsoft.com/office/powerpoint/2010/main" val="2793024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7517" y="74847"/>
            <a:ext cx="10963174" cy="576984"/>
          </a:xfrm>
        </p:spPr>
        <p:txBody>
          <a:bodyPr>
            <a:noAutofit/>
          </a:bodyPr>
          <a:lstStyle/>
          <a:p>
            <a:r>
              <a:rPr lang="en-US" sz="4000" dirty="0"/>
              <a:t>Terminology</a:t>
            </a:r>
          </a:p>
        </p:txBody>
      </p:sp>
      <p:sp>
        <p:nvSpPr>
          <p:cNvPr id="3" name="Content Placeholder 2"/>
          <p:cNvSpPr>
            <a:spLocks noGrp="1"/>
          </p:cNvSpPr>
          <p:nvPr>
            <p:ph idx="1"/>
          </p:nvPr>
        </p:nvSpPr>
        <p:spPr>
          <a:xfrm>
            <a:off x="404262" y="651831"/>
            <a:ext cx="11636942" cy="5623841"/>
          </a:xfrm>
        </p:spPr>
        <p:txBody>
          <a:bodyPr/>
          <a:lstStyle/>
          <a:p>
            <a:pPr marL="0" lvl="0" indent="0">
              <a:buNone/>
            </a:pPr>
            <a:r>
              <a:rPr lang="en-US" b="1" dirty="0"/>
              <a:t>Crosstalk:</a:t>
            </a:r>
            <a:r>
              <a:rPr lang="en-US" dirty="0"/>
              <a:t> </a:t>
            </a:r>
            <a:r>
              <a:rPr lang="en-US" dirty="0">
                <a:solidFill>
                  <a:srgbClr val="0000FF"/>
                </a:solidFill>
              </a:rPr>
              <a:t>This phenomenon is observed in parallel circuit when a signal transmitted on one channel of a transmission bus creates an undesired effect in another channel</a:t>
            </a:r>
            <a:r>
              <a:rPr lang="en-US" dirty="0"/>
              <a:t>. Undesired capacitive, inductive, or conductive coupling is usually what is called crosstalk, from one circuit, part of a circuit, or channel, to another. </a:t>
            </a:r>
          </a:p>
        </p:txBody>
      </p:sp>
      <p:sp>
        <p:nvSpPr>
          <p:cNvPr id="4" name="Slide Number Placeholder 3"/>
          <p:cNvSpPr>
            <a:spLocks noGrp="1"/>
          </p:cNvSpPr>
          <p:nvPr>
            <p:ph type="sldNum" sz="quarter" idx="12"/>
          </p:nvPr>
        </p:nvSpPr>
        <p:spPr/>
        <p:txBody>
          <a:bodyPr/>
          <a:lstStyle/>
          <a:p>
            <a:fld id="{B33B1FC4-1770-4941-B103-8E797B88350F}" type="slidenum">
              <a:rPr lang="en-US" smtClean="0"/>
              <a:t>9</a:t>
            </a:fld>
            <a:endParaRPr lang="en-US"/>
          </a:p>
        </p:txBody>
      </p:sp>
      <p:pic>
        <p:nvPicPr>
          <p:cNvPr id="5" name="Picture 4" descr="Crosstalk and Skew">
            <a:hlinkClick r:id="rId4"/>
          </p:cNvPr>
          <p:cNvPicPr/>
          <p:nvPr/>
        </p:nvPicPr>
        <p:blipFill>
          <a:blip r:embed="rId5">
            <a:extLst>
              <a:ext uri="{28A0092B-C50C-407E-A947-70E740481C1C}">
                <a14:useLocalDpi xmlns:a14="http://schemas.microsoft.com/office/drawing/2010/main" val="0"/>
              </a:ext>
            </a:extLst>
          </a:blip>
          <a:srcRect/>
          <a:stretch>
            <a:fillRect/>
          </a:stretch>
        </p:blipFill>
        <p:spPr bwMode="auto">
          <a:xfrm>
            <a:off x="3493969" y="2782019"/>
            <a:ext cx="6264467" cy="3668746"/>
          </a:xfrm>
          <a:prstGeom prst="rect">
            <a:avLst/>
          </a:prstGeom>
          <a:noFill/>
          <a:ln>
            <a:noFill/>
          </a:ln>
        </p:spPr>
      </p:pic>
      <p:pic>
        <p:nvPicPr>
          <p:cNvPr id="6" name="xUQYMfPac0g"/>
          <p:cNvPicPr>
            <a:picLocks noRot="1" noChangeAspect="1"/>
          </p:cNvPicPr>
          <p:nvPr>
            <a:videoFile r:link="rId1"/>
          </p:nvPr>
        </p:nvPicPr>
        <p:blipFill>
          <a:blip r:embed="rId6"/>
          <a:stretch>
            <a:fillRect/>
          </a:stretch>
        </p:blipFill>
        <p:spPr>
          <a:xfrm>
            <a:off x="434530" y="4835003"/>
            <a:ext cx="3029172" cy="1703909"/>
          </a:xfrm>
          <a:prstGeom prst="rect">
            <a:avLst/>
          </a:prstGeom>
        </p:spPr>
      </p:pic>
    </p:spTree>
    <p:extLst>
      <p:ext uri="{BB962C8B-B14F-4D97-AF65-F5344CB8AC3E}">
        <p14:creationId xmlns:p14="http://schemas.microsoft.com/office/powerpoint/2010/main" val="337010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9567" y="29007"/>
            <a:ext cx="10190403" cy="1060305"/>
          </a:xfrm>
        </p:spPr>
        <p:txBody>
          <a:bodyPr/>
          <a:lstStyle/>
          <a:p>
            <a:r>
              <a:rPr lang="en-US" b="1" dirty="0"/>
              <a:t>Advantages of Serial over Parallel</a:t>
            </a:r>
            <a:endParaRPr lang="en-US" dirty="0"/>
          </a:p>
        </p:txBody>
      </p:sp>
      <p:sp>
        <p:nvSpPr>
          <p:cNvPr id="3" name="Content Placeholder 2"/>
          <p:cNvSpPr>
            <a:spLocks noGrp="1"/>
          </p:cNvSpPr>
          <p:nvPr>
            <p:ph idx="1"/>
          </p:nvPr>
        </p:nvSpPr>
        <p:spPr>
          <a:xfrm>
            <a:off x="434715" y="931490"/>
            <a:ext cx="11467475" cy="5664182"/>
          </a:xfrm>
        </p:spPr>
        <p:txBody>
          <a:bodyPr>
            <a:normAutofit/>
          </a:bodyPr>
          <a:lstStyle/>
          <a:p>
            <a:pPr marL="0" indent="0">
              <a:buNone/>
            </a:pPr>
            <a:r>
              <a:rPr lang="en-US" dirty="0"/>
              <a:t>Although a serial link may seem inferior to a parallel one, since it can transmit less data per clock cycle, it is often the case that serial links can be clocked considerably faster than parallel links in order to achieve a higher data rate. A number of factors allow serial to be clocked at a higher rate:</a:t>
            </a:r>
          </a:p>
          <a:p>
            <a:pPr lvl="0"/>
            <a:r>
              <a:rPr lang="en-US" dirty="0"/>
              <a:t>Clock skew between different channels is not an issue </a:t>
            </a:r>
          </a:p>
          <a:p>
            <a:pPr lvl="0"/>
            <a:r>
              <a:rPr lang="en-US" dirty="0"/>
              <a:t>A serial connection requires fewer interconnecting cables (e.g. wires/fibers) and hence occupies less space. The extra space allows for better isolation of the channel from its surroundings.</a:t>
            </a:r>
          </a:p>
          <a:p>
            <a:pPr lvl="0"/>
            <a:r>
              <a:rPr lang="en-US" dirty="0"/>
              <a:t>Crosstalk is not a much significant issue, because there are fewer conductors in proximity.</a:t>
            </a:r>
          </a:p>
          <a:p>
            <a:endParaRPr lang="en-US" dirty="0"/>
          </a:p>
        </p:txBody>
      </p:sp>
      <p:sp>
        <p:nvSpPr>
          <p:cNvPr id="4" name="Slide Number Placeholder 3"/>
          <p:cNvSpPr>
            <a:spLocks noGrp="1"/>
          </p:cNvSpPr>
          <p:nvPr>
            <p:ph type="sldNum" sz="quarter" idx="12"/>
          </p:nvPr>
        </p:nvSpPr>
        <p:spPr/>
        <p:txBody>
          <a:bodyPr/>
          <a:lstStyle/>
          <a:p>
            <a:fld id="{B33B1FC4-1770-4941-B103-8E797B88350F}" type="slidenum">
              <a:rPr lang="en-US" smtClean="0"/>
              <a:t>10</a:t>
            </a:fld>
            <a:endParaRPr lang="en-US"/>
          </a:p>
        </p:txBody>
      </p:sp>
    </p:spTree>
    <p:extLst>
      <p:ext uri="{BB962C8B-B14F-4D97-AF65-F5344CB8AC3E}">
        <p14:creationId xmlns:p14="http://schemas.microsoft.com/office/powerpoint/2010/main" val="1165869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756"/>
            <a:ext cx="9746673" cy="729384"/>
          </a:xfrm>
        </p:spPr>
        <p:txBody>
          <a:bodyPr/>
          <a:lstStyle/>
          <a:p>
            <a:r>
              <a:rPr lang="en-US" dirty="0"/>
              <a:t>UART</a:t>
            </a:r>
          </a:p>
        </p:txBody>
      </p:sp>
      <p:sp>
        <p:nvSpPr>
          <p:cNvPr id="3" name="Content Placeholder 2"/>
          <p:cNvSpPr>
            <a:spLocks noGrp="1"/>
          </p:cNvSpPr>
          <p:nvPr>
            <p:ph idx="1"/>
          </p:nvPr>
        </p:nvSpPr>
        <p:spPr>
          <a:xfrm>
            <a:off x="604284" y="837471"/>
            <a:ext cx="11314814" cy="5350677"/>
          </a:xfrm>
        </p:spPr>
        <p:txBody>
          <a:bodyPr/>
          <a:lstStyle/>
          <a:p>
            <a:r>
              <a:rPr lang="en-US" dirty="0"/>
              <a:t>UART stands for </a:t>
            </a:r>
            <a:r>
              <a:rPr lang="en-US" u="sng" dirty="0"/>
              <a:t>U</a:t>
            </a:r>
            <a:r>
              <a:rPr lang="en-US" dirty="0"/>
              <a:t>niversal </a:t>
            </a:r>
            <a:r>
              <a:rPr lang="en-US" u="sng" dirty="0"/>
              <a:t>A</a:t>
            </a:r>
            <a:r>
              <a:rPr lang="en-US" dirty="0"/>
              <a:t>synchronous </a:t>
            </a:r>
            <a:r>
              <a:rPr lang="en-US" u="sng" dirty="0"/>
              <a:t>R</a:t>
            </a:r>
            <a:r>
              <a:rPr lang="en-US" dirty="0"/>
              <a:t>eceiver </a:t>
            </a:r>
            <a:r>
              <a:rPr lang="en-US" u="sng" dirty="0"/>
              <a:t>T</a:t>
            </a:r>
            <a:r>
              <a:rPr lang="en-US" dirty="0"/>
              <a:t>ransmitter,</a:t>
            </a:r>
          </a:p>
          <a:p>
            <a:r>
              <a:rPr lang="en-US" dirty="0"/>
              <a:t>They are basically just a piece of computer hardware that converts parallel data into serial data and vice-versa. </a:t>
            </a:r>
          </a:p>
          <a:p>
            <a:r>
              <a:rPr lang="en-US" dirty="0"/>
              <a:t>The UART, or Universal Asynchronous Receiver / Transmitter, </a:t>
            </a:r>
            <a:r>
              <a:rPr lang="en-US" dirty="0">
                <a:solidFill>
                  <a:srgbClr val="C00000"/>
                </a:solidFill>
              </a:rPr>
              <a:t>is a feature of the microcontroller </a:t>
            </a:r>
            <a:r>
              <a:rPr lang="en-US" dirty="0"/>
              <a:t>which is useful for communicating serial data (text, numbers, etc.) to the PC. The device changes incoming parallel information (within the microcontroller/PC) to serial data which can be sent on a communication line.</a:t>
            </a:r>
          </a:p>
        </p:txBody>
      </p:sp>
      <p:sp>
        <p:nvSpPr>
          <p:cNvPr id="4" name="Slide Number Placeholder 3"/>
          <p:cNvSpPr>
            <a:spLocks noGrp="1"/>
          </p:cNvSpPr>
          <p:nvPr>
            <p:ph type="sldNum" sz="quarter" idx="12"/>
          </p:nvPr>
        </p:nvSpPr>
        <p:spPr/>
        <p:txBody>
          <a:bodyPr/>
          <a:lstStyle/>
          <a:p>
            <a:fld id="{B33B1FC4-1770-4941-B103-8E797B88350F}" type="slidenum">
              <a:rPr lang="en-US" smtClean="0"/>
              <a:t>11</a:t>
            </a:fld>
            <a:endParaRPr lang="en-US"/>
          </a:p>
        </p:txBody>
      </p:sp>
    </p:spTree>
    <p:extLst>
      <p:ext uri="{BB962C8B-B14F-4D97-AF65-F5344CB8AC3E}">
        <p14:creationId xmlns:p14="http://schemas.microsoft.com/office/powerpoint/2010/main" val="644805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TextBox 3"/>
          <p:cNvSpPr txBox="1"/>
          <p:nvPr/>
        </p:nvSpPr>
        <p:spPr>
          <a:xfrm>
            <a:off x="1634837" y="5264727"/>
            <a:ext cx="6846746" cy="369332"/>
          </a:xfrm>
          <a:prstGeom prst="rect">
            <a:avLst/>
          </a:prstGeom>
          <a:noFill/>
        </p:spPr>
        <p:txBody>
          <a:bodyPr wrap="none" rtlCol="0">
            <a:spAutoFit/>
          </a:bodyPr>
          <a:lstStyle/>
          <a:p>
            <a:r>
              <a:rPr lang="en-US" i="1" dirty="0"/>
              <a:t>Super-simplified UART interface. Parallel on one end, serial on the other</a:t>
            </a:r>
            <a:endParaRPr lang="en-US" dirty="0"/>
          </a:p>
        </p:txBody>
      </p:sp>
      <p:sp>
        <p:nvSpPr>
          <p:cNvPr id="5" name="Slide Number Placeholder 4"/>
          <p:cNvSpPr>
            <a:spLocks noGrp="1"/>
          </p:cNvSpPr>
          <p:nvPr>
            <p:ph type="sldNum" sz="quarter" idx="12"/>
          </p:nvPr>
        </p:nvSpPr>
        <p:spPr/>
        <p:txBody>
          <a:bodyPr/>
          <a:lstStyle/>
          <a:p>
            <a:fld id="{B33B1FC4-1770-4941-B103-8E797B88350F}" type="slidenum">
              <a:rPr lang="en-US" smtClean="0"/>
              <a:t>12</a:t>
            </a:fld>
            <a:endParaRPr lang="en-US"/>
          </a:p>
        </p:txBody>
      </p:sp>
      <p:pic>
        <p:nvPicPr>
          <p:cNvPr id="8" name="Picture 2" descr="Simplified U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5010" y="746406"/>
            <a:ext cx="5829589" cy="4430488"/>
          </a:xfrm>
          <a:prstGeom prst="rect">
            <a:avLst/>
          </a:prstGeom>
          <a:noFill/>
          <a:extLst>
            <a:ext uri="{909E8E84-426E-40DD-AFC4-6F175D3DCCD1}">
              <a14:hiddenFill xmlns:a14="http://schemas.microsoft.com/office/drawing/2010/main">
                <a:solidFill>
                  <a:srgbClr val="FFFFFF"/>
                </a:solidFill>
              </a14:hiddenFill>
            </a:ext>
          </a:extLst>
        </p:spPr>
      </p:pic>
      <p:sp>
        <p:nvSpPr>
          <p:cNvPr id="9" name="Rounded Rectangle 8"/>
          <p:cNvSpPr/>
          <p:nvPr/>
        </p:nvSpPr>
        <p:spPr>
          <a:xfrm>
            <a:off x="1524000" y="401958"/>
            <a:ext cx="7772400" cy="5682384"/>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p:cNvSpPr>
            <a:spLocks noGrp="1"/>
          </p:cNvSpPr>
          <p:nvPr>
            <p:ph idx="1"/>
          </p:nvPr>
        </p:nvSpPr>
        <p:spPr>
          <a:xfrm>
            <a:off x="1714209" y="2885225"/>
            <a:ext cx="2743200" cy="1002290"/>
          </a:xfrm>
        </p:spPr>
        <p:txBody>
          <a:bodyPr/>
          <a:lstStyle/>
          <a:p>
            <a:pPr marL="0" indent="0">
              <a:buNone/>
            </a:pPr>
            <a:r>
              <a:rPr lang="en-US" dirty="0"/>
              <a:t>Microcontroller</a:t>
            </a:r>
          </a:p>
        </p:txBody>
      </p:sp>
    </p:spTree>
    <p:extLst>
      <p:ext uri="{BB962C8B-B14F-4D97-AF65-F5344CB8AC3E}">
        <p14:creationId xmlns:p14="http://schemas.microsoft.com/office/powerpoint/2010/main" val="820625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85FA5"/>
          </a:solidFill>
          <a:ln w="12700">
            <a:solidFill>
              <a:srgbClr val="185FA5"/>
            </a:solidFill>
            <a:prstDash val="solid"/>
          </a:ln>
        </p:spPr>
      </p:sp>
      <p:sp>
        <p:nvSpPr>
          <p:cNvPr id="3" name="Text 1"/>
          <p:cNvSpPr/>
          <p:nvPr/>
        </p:nvSpPr>
        <p:spPr>
          <a:xfrm>
            <a:off x="365760" y="97536"/>
            <a:ext cx="11460480" cy="670560"/>
          </a:xfrm>
          <a:prstGeom prst="rect">
            <a:avLst/>
          </a:prstGeom>
          <a:noFill/>
          <a:ln/>
        </p:spPr>
        <p:txBody>
          <a:bodyPr wrap="square" rtlCol="0" anchor="ctr"/>
          <a:lstStyle/>
          <a:p>
            <a:r>
              <a:rPr lang="en-US" sz="2400" b="1" dirty="0">
                <a:solidFill>
                  <a:srgbClr val="FFFFFF"/>
                </a:solidFill>
                <a:latin typeface="Calibri" pitchFamily="34" charset="0"/>
                <a:ea typeface="Calibri" pitchFamily="34" charset="-122"/>
                <a:cs typeface="Calibri" pitchFamily="34" charset="-120"/>
              </a:rPr>
              <a:t>UART — Data Frame Structure</a:t>
            </a:r>
            <a:endParaRPr lang="en-US" sz="2400" dirty="0"/>
          </a:p>
        </p:txBody>
      </p:sp>
      <p:sp>
        <p:nvSpPr>
          <p:cNvPr id="4" name="Text 2"/>
          <p:cNvSpPr/>
          <p:nvPr/>
        </p:nvSpPr>
        <p:spPr>
          <a:xfrm>
            <a:off x="487680" y="1036320"/>
            <a:ext cx="11216640" cy="548640"/>
          </a:xfrm>
          <a:prstGeom prst="rect">
            <a:avLst/>
          </a:prstGeom>
          <a:noFill/>
          <a:ln/>
        </p:spPr>
        <p:txBody>
          <a:bodyPr wrap="square" rtlCol="0" anchor="ctr"/>
          <a:lstStyle/>
          <a:p>
            <a:r>
              <a:rPr lang="en-US" sz="1667" dirty="0">
                <a:solidFill>
                  <a:srgbClr val="2C2C2A"/>
                </a:solidFill>
                <a:latin typeface="Calibri" pitchFamily="34" charset="0"/>
                <a:ea typeface="Calibri" pitchFamily="34" charset="-122"/>
                <a:cs typeface="Calibri" pitchFamily="34" charset="-120"/>
              </a:rPr>
              <a:t>Each UART byte is wrapped in framing bits that let the receiver detect the start and end of a transmission:</a:t>
            </a:r>
            <a:endParaRPr lang="en-US" sz="1667" dirty="0"/>
          </a:p>
        </p:txBody>
      </p:sp>
      <p:sp>
        <p:nvSpPr>
          <p:cNvPr id="5" name="Shape 3"/>
          <p:cNvSpPr/>
          <p:nvPr/>
        </p:nvSpPr>
        <p:spPr>
          <a:xfrm>
            <a:off x="426720" y="1828800"/>
            <a:ext cx="975360" cy="914400"/>
          </a:xfrm>
          <a:prstGeom prst="rect">
            <a:avLst/>
          </a:prstGeom>
          <a:solidFill>
            <a:srgbClr val="888780"/>
          </a:solidFill>
          <a:ln w="19050">
            <a:solidFill>
              <a:srgbClr val="FFFFFF"/>
            </a:solidFill>
            <a:prstDash val="solid"/>
          </a:ln>
        </p:spPr>
      </p:sp>
      <p:sp>
        <p:nvSpPr>
          <p:cNvPr id="6" name="Text 4"/>
          <p:cNvSpPr/>
          <p:nvPr/>
        </p:nvSpPr>
        <p:spPr>
          <a:xfrm>
            <a:off x="426720" y="1828800"/>
            <a:ext cx="975360" cy="91440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Start</a:t>
            </a:r>
            <a:endParaRPr lang="en-US" sz="1467" dirty="0"/>
          </a:p>
        </p:txBody>
      </p:sp>
      <p:sp>
        <p:nvSpPr>
          <p:cNvPr id="7" name="Shape 5"/>
          <p:cNvSpPr/>
          <p:nvPr/>
        </p:nvSpPr>
        <p:spPr>
          <a:xfrm>
            <a:off x="1402080" y="1828800"/>
            <a:ext cx="877824" cy="914400"/>
          </a:xfrm>
          <a:prstGeom prst="rect">
            <a:avLst/>
          </a:prstGeom>
          <a:solidFill>
            <a:srgbClr val="185FA5"/>
          </a:solidFill>
          <a:ln w="19050">
            <a:solidFill>
              <a:srgbClr val="FFFFFF"/>
            </a:solidFill>
            <a:prstDash val="solid"/>
          </a:ln>
        </p:spPr>
      </p:sp>
      <p:sp>
        <p:nvSpPr>
          <p:cNvPr id="8" name="Text 6"/>
          <p:cNvSpPr/>
          <p:nvPr/>
        </p:nvSpPr>
        <p:spPr>
          <a:xfrm>
            <a:off x="1402080" y="1828800"/>
            <a:ext cx="877824" cy="91440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D0</a:t>
            </a:r>
            <a:endParaRPr lang="en-US" sz="1467" dirty="0"/>
          </a:p>
        </p:txBody>
      </p:sp>
      <p:sp>
        <p:nvSpPr>
          <p:cNvPr id="9" name="Shape 7"/>
          <p:cNvSpPr/>
          <p:nvPr/>
        </p:nvSpPr>
        <p:spPr>
          <a:xfrm>
            <a:off x="2279904" y="1828800"/>
            <a:ext cx="877824" cy="914400"/>
          </a:xfrm>
          <a:prstGeom prst="rect">
            <a:avLst/>
          </a:prstGeom>
          <a:solidFill>
            <a:srgbClr val="185FA5"/>
          </a:solidFill>
          <a:ln w="19050">
            <a:solidFill>
              <a:srgbClr val="FFFFFF"/>
            </a:solidFill>
            <a:prstDash val="solid"/>
          </a:ln>
        </p:spPr>
      </p:sp>
      <p:sp>
        <p:nvSpPr>
          <p:cNvPr id="10" name="Text 8"/>
          <p:cNvSpPr/>
          <p:nvPr/>
        </p:nvSpPr>
        <p:spPr>
          <a:xfrm>
            <a:off x="2279904" y="1828800"/>
            <a:ext cx="877824" cy="91440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D1</a:t>
            </a:r>
            <a:endParaRPr lang="en-US" sz="1467" dirty="0"/>
          </a:p>
        </p:txBody>
      </p:sp>
      <p:sp>
        <p:nvSpPr>
          <p:cNvPr id="11" name="Shape 9"/>
          <p:cNvSpPr/>
          <p:nvPr/>
        </p:nvSpPr>
        <p:spPr>
          <a:xfrm>
            <a:off x="3157728" y="1828800"/>
            <a:ext cx="877824" cy="914400"/>
          </a:xfrm>
          <a:prstGeom prst="rect">
            <a:avLst/>
          </a:prstGeom>
          <a:solidFill>
            <a:srgbClr val="185FA5"/>
          </a:solidFill>
          <a:ln w="19050">
            <a:solidFill>
              <a:srgbClr val="FFFFFF"/>
            </a:solidFill>
            <a:prstDash val="solid"/>
          </a:ln>
        </p:spPr>
      </p:sp>
      <p:sp>
        <p:nvSpPr>
          <p:cNvPr id="12" name="Text 10"/>
          <p:cNvSpPr/>
          <p:nvPr/>
        </p:nvSpPr>
        <p:spPr>
          <a:xfrm>
            <a:off x="3157728" y="1828800"/>
            <a:ext cx="877824" cy="91440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D2</a:t>
            </a:r>
            <a:endParaRPr lang="en-US" sz="1467" dirty="0"/>
          </a:p>
        </p:txBody>
      </p:sp>
      <p:sp>
        <p:nvSpPr>
          <p:cNvPr id="13" name="Shape 11"/>
          <p:cNvSpPr/>
          <p:nvPr/>
        </p:nvSpPr>
        <p:spPr>
          <a:xfrm>
            <a:off x="4035552" y="1828800"/>
            <a:ext cx="877824" cy="914400"/>
          </a:xfrm>
          <a:prstGeom prst="rect">
            <a:avLst/>
          </a:prstGeom>
          <a:solidFill>
            <a:srgbClr val="185FA5"/>
          </a:solidFill>
          <a:ln w="19050">
            <a:solidFill>
              <a:srgbClr val="FFFFFF"/>
            </a:solidFill>
            <a:prstDash val="solid"/>
          </a:ln>
        </p:spPr>
      </p:sp>
      <p:sp>
        <p:nvSpPr>
          <p:cNvPr id="14" name="Text 12"/>
          <p:cNvSpPr/>
          <p:nvPr/>
        </p:nvSpPr>
        <p:spPr>
          <a:xfrm>
            <a:off x="4035552" y="1828800"/>
            <a:ext cx="877824" cy="91440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D3</a:t>
            </a:r>
            <a:endParaRPr lang="en-US" sz="1467" dirty="0"/>
          </a:p>
        </p:txBody>
      </p:sp>
      <p:sp>
        <p:nvSpPr>
          <p:cNvPr id="15" name="Shape 13"/>
          <p:cNvSpPr/>
          <p:nvPr/>
        </p:nvSpPr>
        <p:spPr>
          <a:xfrm>
            <a:off x="4913376" y="1828800"/>
            <a:ext cx="877824" cy="914400"/>
          </a:xfrm>
          <a:prstGeom prst="rect">
            <a:avLst/>
          </a:prstGeom>
          <a:solidFill>
            <a:srgbClr val="185FA5"/>
          </a:solidFill>
          <a:ln w="19050">
            <a:solidFill>
              <a:srgbClr val="FFFFFF"/>
            </a:solidFill>
            <a:prstDash val="solid"/>
          </a:ln>
        </p:spPr>
      </p:sp>
      <p:sp>
        <p:nvSpPr>
          <p:cNvPr id="16" name="Text 14"/>
          <p:cNvSpPr/>
          <p:nvPr/>
        </p:nvSpPr>
        <p:spPr>
          <a:xfrm>
            <a:off x="4913376" y="1828800"/>
            <a:ext cx="877824" cy="91440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D4</a:t>
            </a:r>
            <a:endParaRPr lang="en-US" sz="1467" dirty="0"/>
          </a:p>
        </p:txBody>
      </p:sp>
      <p:sp>
        <p:nvSpPr>
          <p:cNvPr id="17" name="Shape 15"/>
          <p:cNvSpPr/>
          <p:nvPr/>
        </p:nvSpPr>
        <p:spPr>
          <a:xfrm>
            <a:off x="5791200" y="1828800"/>
            <a:ext cx="877824" cy="914400"/>
          </a:xfrm>
          <a:prstGeom prst="rect">
            <a:avLst/>
          </a:prstGeom>
          <a:solidFill>
            <a:srgbClr val="185FA5"/>
          </a:solidFill>
          <a:ln w="19050">
            <a:solidFill>
              <a:srgbClr val="FFFFFF"/>
            </a:solidFill>
            <a:prstDash val="solid"/>
          </a:ln>
        </p:spPr>
      </p:sp>
      <p:sp>
        <p:nvSpPr>
          <p:cNvPr id="18" name="Text 16"/>
          <p:cNvSpPr/>
          <p:nvPr/>
        </p:nvSpPr>
        <p:spPr>
          <a:xfrm>
            <a:off x="5791200" y="1828800"/>
            <a:ext cx="877824" cy="91440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D5</a:t>
            </a:r>
            <a:endParaRPr lang="en-US" sz="1467" dirty="0"/>
          </a:p>
        </p:txBody>
      </p:sp>
      <p:sp>
        <p:nvSpPr>
          <p:cNvPr id="19" name="Shape 17"/>
          <p:cNvSpPr/>
          <p:nvPr/>
        </p:nvSpPr>
        <p:spPr>
          <a:xfrm>
            <a:off x="6669024" y="1828800"/>
            <a:ext cx="877824" cy="914400"/>
          </a:xfrm>
          <a:prstGeom prst="rect">
            <a:avLst/>
          </a:prstGeom>
          <a:solidFill>
            <a:srgbClr val="185FA5"/>
          </a:solidFill>
          <a:ln w="19050">
            <a:solidFill>
              <a:srgbClr val="FFFFFF"/>
            </a:solidFill>
            <a:prstDash val="solid"/>
          </a:ln>
        </p:spPr>
      </p:sp>
      <p:sp>
        <p:nvSpPr>
          <p:cNvPr id="20" name="Text 18"/>
          <p:cNvSpPr/>
          <p:nvPr/>
        </p:nvSpPr>
        <p:spPr>
          <a:xfrm>
            <a:off x="6669024" y="1828800"/>
            <a:ext cx="877824" cy="91440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D6</a:t>
            </a:r>
            <a:endParaRPr lang="en-US" sz="1467" dirty="0"/>
          </a:p>
        </p:txBody>
      </p:sp>
      <p:sp>
        <p:nvSpPr>
          <p:cNvPr id="21" name="Shape 19"/>
          <p:cNvSpPr/>
          <p:nvPr/>
        </p:nvSpPr>
        <p:spPr>
          <a:xfrm>
            <a:off x="7546848" y="1828800"/>
            <a:ext cx="877824" cy="914400"/>
          </a:xfrm>
          <a:prstGeom prst="rect">
            <a:avLst/>
          </a:prstGeom>
          <a:solidFill>
            <a:srgbClr val="185FA5"/>
          </a:solidFill>
          <a:ln w="19050">
            <a:solidFill>
              <a:srgbClr val="FFFFFF"/>
            </a:solidFill>
            <a:prstDash val="solid"/>
          </a:ln>
        </p:spPr>
      </p:sp>
      <p:sp>
        <p:nvSpPr>
          <p:cNvPr id="22" name="Text 20"/>
          <p:cNvSpPr/>
          <p:nvPr/>
        </p:nvSpPr>
        <p:spPr>
          <a:xfrm>
            <a:off x="7546848" y="1828800"/>
            <a:ext cx="877824" cy="91440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D7</a:t>
            </a:r>
            <a:endParaRPr lang="en-US" sz="1467" dirty="0"/>
          </a:p>
        </p:txBody>
      </p:sp>
      <p:sp>
        <p:nvSpPr>
          <p:cNvPr id="23" name="Shape 21"/>
          <p:cNvSpPr/>
          <p:nvPr/>
        </p:nvSpPr>
        <p:spPr>
          <a:xfrm>
            <a:off x="8424672" y="1828800"/>
            <a:ext cx="1097280" cy="914400"/>
          </a:xfrm>
          <a:prstGeom prst="rect">
            <a:avLst/>
          </a:prstGeom>
          <a:solidFill>
            <a:srgbClr val="854F0B"/>
          </a:solidFill>
          <a:ln w="19050">
            <a:solidFill>
              <a:srgbClr val="FFFFFF"/>
            </a:solidFill>
            <a:prstDash val="solid"/>
          </a:ln>
        </p:spPr>
      </p:sp>
      <p:sp>
        <p:nvSpPr>
          <p:cNvPr id="24" name="Text 22"/>
          <p:cNvSpPr/>
          <p:nvPr/>
        </p:nvSpPr>
        <p:spPr>
          <a:xfrm>
            <a:off x="8424672" y="1828800"/>
            <a:ext cx="1097280" cy="91440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Parity</a:t>
            </a:r>
            <a:endParaRPr lang="en-US" sz="1467" dirty="0"/>
          </a:p>
        </p:txBody>
      </p:sp>
      <p:sp>
        <p:nvSpPr>
          <p:cNvPr id="25" name="Shape 23"/>
          <p:cNvSpPr/>
          <p:nvPr/>
        </p:nvSpPr>
        <p:spPr>
          <a:xfrm>
            <a:off x="9521952" y="1828800"/>
            <a:ext cx="1097280" cy="914400"/>
          </a:xfrm>
          <a:prstGeom prst="rect">
            <a:avLst/>
          </a:prstGeom>
          <a:solidFill>
            <a:srgbClr val="888780"/>
          </a:solidFill>
          <a:ln w="19050">
            <a:solidFill>
              <a:srgbClr val="FFFFFF"/>
            </a:solidFill>
            <a:prstDash val="solid"/>
          </a:ln>
        </p:spPr>
      </p:sp>
      <p:sp>
        <p:nvSpPr>
          <p:cNvPr id="26" name="Text 24"/>
          <p:cNvSpPr/>
          <p:nvPr/>
        </p:nvSpPr>
        <p:spPr>
          <a:xfrm>
            <a:off x="9521952" y="1828800"/>
            <a:ext cx="1097280" cy="91440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Stop</a:t>
            </a:r>
            <a:endParaRPr lang="en-US" sz="1467" dirty="0"/>
          </a:p>
        </p:txBody>
      </p:sp>
      <p:sp>
        <p:nvSpPr>
          <p:cNvPr id="27" name="Shape 25"/>
          <p:cNvSpPr/>
          <p:nvPr/>
        </p:nvSpPr>
        <p:spPr>
          <a:xfrm>
            <a:off x="426720" y="2987040"/>
            <a:ext cx="268224" cy="268224"/>
          </a:xfrm>
          <a:prstGeom prst="rect">
            <a:avLst/>
          </a:prstGeom>
          <a:solidFill>
            <a:srgbClr val="888780"/>
          </a:solidFill>
          <a:ln w="12700">
            <a:solidFill>
              <a:srgbClr val="888780"/>
            </a:solidFill>
            <a:prstDash val="solid"/>
          </a:ln>
        </p:spPr>
      </p:sp>
      <p:sp>
        <p:nvSpPr>
          <p:cNvPr id="28" name="Text 26"/>
          <p:cNvSpPr/>
          <p:nvPr/>
        </p:nvSpPr>
        <p:spPr>
          <a:xfrm>
            <a:off x="768096" y="2950464"/>
            <a:ext cx="3413760" cy="341376"/>
          </a:xfrm>
          <a:prstGeom prst="rect">
            <a:avLst/>
          </a:prstGeom>
          <a:noFill/>
          <a:ln/>
        </p:spPr>
        <p:txBody>
          <a:bodyPr wrap="square" rtlCol="0" anchor="ctr"/>
          <a:lstStyle/>
          <a:p>
            <a:r>
              <a:rPr lang="en-US" sz="1400" dirty="0">
                <a:solidFill>
                  <a:srgbClr val="2C2C2A"/>
                </a:solidFill>
                <a:latin typeface="Calibri" pitchFamily="34" charset="0"/>
                <a:ea typeface="Calibri" pitchFamily="34" charset="-122"/>
                <a:cs typeface="Calibri" pitchFamily="34" charset="-120"/>
              </a:rPr>
              <a:t>Framing overhead (start/stop bits)</a:t>
            </a:r>
            <a:endParaRPr lang="en-US" sz="1400" dirty="0"/>
          </a:p>
        </p:txBody>
      </p:sp>
      <p:sp>
        <p:nvSpPr>
          <p:cNvPr id="29" name="Shape 27"/>
          <p:cNvSpPr/>
          <p:nvPr/>
        </p:nvSpPr>
        <p:spPr>
          <a:xfrm>
            <a:off x="4206240" y="2987040"/>
            <a:ext cx="268224" cy="268224"/>
          </a:xfrm>
          <a:prstGeom prst="rect">
            <a:avLst/>
          </a:prstGeom>
          <a:solidFill>
            <a:srgbClr val="185FA5"/>
          </a:solidFill>
          <a:ln w="12700">
            <a:solidFill>
              <a:srgbClr val="185FA5"/>
            </a:solidFill>
            <a:prstDash val="solid"/>
          </a:ln>
        </p:spPr>
      </p:sp>
      <p:sp>
        <p:nvSpPr>
          <p:cNvPr id="30" name="Text 28"/>
          <p:cNvSpPr/>
          <p:nvPr/>
        </p:nvSpPr>
        <p:spPr>
          <a:xfrm>
            <a:off x="4547616" y="2950464"/>
            <a:ext cx="3413760" cy="341376"/>
          </a:xfrm>
          <a:prstGeom prst="rect">
            <a:avLst/>
          </a:prstGeom>
          <a:noFill/>
          <a:ln/>
        </p:spPr>
        <p:txBody>
          <a:bodyPr wrap="square" rtlCol="0" anchor="ctr"/>
          <a:lstStyle/>
          <a:p>
            <a:r>
              <a:rPr lang="en-US" sz="1400" dirty="0">
                <a:solidFill>
                  <a:srgbClr val="2C2C2A"/>
                </a:solidFill>
                <a:latin typeface="Calibri" pitchFamily="34" charset="0"/>
                <a:ea typeface="Calibri" pitchFamily="34" charset="-122"/>
                <a:cs typeface="Calibri" pitchFamily="34" charset="-120"/>
              </a:rPr>
              <a:t>Data payload (8 bits = 1 byte)</a:t>
            </a:r>
            <a:endParaRPr lang="en-US" sz="1400" dirty="0"/>
          </a:p>
        </p:txBody>
      </p:sp>
      <p:sp>
        <p:nvSpPr>
          <p:cNvPr id="31" name="Shape 29"/>
          <p:cNvSpPr/>
          <p:nvPr/>
        </p:nvSpPr>
        <p:spPr>
          <a:xfrm>
            <a:off x="7985760" y="2987040"/>
            <a:ext cx="268224" cy="268224"/>
          </a:xfrm>
          <a:prstGeom prst="rect">
            <a:avLst/>
          </a:prstGeom>
          <a:solidFill>
            <a:srgbClr val="854F0B"/>
          </a:solidFill>
          <a:ln w="12700">
            <a:solidFill>
              <a:srgbClr val="854F0B"/>
            </a:solidFill>
            <a:prstDash val="solid"/>
          </a:ln>
        </p:spPr>
      </p:sp>
      <p:sp>
        <p:nvSpPr>
          <p:cNvPr id="32" name="Text 30"/>
          <p:cNvSpPr/>
          <p:nvPr/>
        </p:nvSpPr>
        <p:spPr>
          <a:xfrm>
            <a:off x="8327136" y="2950464"/>
            <a:ext cx="3413760" cy="341376"/>
          </a:xfrm>
          <a:prstGeom prst="rect">
            <a:avLst/>
          </a:prstGeom>
          <a:noFill/>
          <a:ln/>
        </p:spPr>
        <p:txBody>
          <a:bodyPr wrap="square" rtlCol="0" anchor="ctr"/>
          <a:lstStyle/>
          <a:p>
            <a:r>
              <a:rPr lang="en-US" sz="1400" dirty="0">
                <a:solidFill>
                  <a:srgbClr val="2C2C2A"/>
                </a:solidFill>
                <a:latin typeface="Calibri" pitchFamily="34" charset="0"/>
                <a:ea typeface="Calibri" pitchFamily="34" charset="-122"/>
                <a:cs typeface="Calibri" pitchFamily="34" charset="-120"/>
              </a:rPr>
              <a:t>Parity bit (optional error check)</a:t>
            </a:r>
            <a:endParaRPr lang="en-US" sz="1400" dirty="0"/>
          </a:p>
        </p:txBody>
      </p:sp>
      <p:sp>
        <p:nvSpPr>
          <p:cNvPr id="33" name="Shape 31"/>
          <p:cNvSpPr/>
          <p:nvPr/>
        </p:nvSpPr>
        <p:spPr>
          <a:xfrm>
            <a:off x="426720" y="3718560"/>
            <a:ext cx="11338560" cy="0"/>
          </a:xfrm>
          <a:prstGeom prst="line">
            <a:avLst/>
          </a:prstGeom>
          <a:noFill/>
          <a:ln w="12700">
            <a:solidFill>
              <a:srgbClr val="888780"/>
            </a:solidFill>
            <a:prstDash val="dash"/>
          </a:ln>
        </p:spPr>
      </p:sp>
      <p:sp>
        <p:nvSpPr>
          <p:cNvPr id="34" name="Text 32"/>
          <p:cNvSpPr/>
          <p:nvPr/>
        </p:nvSpPr>
        <p:spPr>
          <a:xfrm>
            <a:off x="426720" y="3803904"/>
            <a:ext cx="11216640" cy="426720"/>
          </a:xfrm>
          <a:prstGeom prst="rect">
            <a:avLst/>
          </a:prstGeom>
          <a:noFill/>
          <a:ln/>
        </p:spPr>
        <p:txBody>
          <a:bodyPr wrap="square" rtlCol="0" anchor="ctr"/>
          <a:lstStyle/>
          <a:p>
            <a:r>
              <a:rPr lang="en-US" sz="1467" i="1" dirty="0">
                <a:solidFill>
                  <a:srgbClr val="888780"/>
                </a:solidFill>
                <a:latin typeface="Calibri" pitchFamily="34" charset="0"/>
                <a:ea typeface="Calibri" pitchFamily="34" charset="-122"/>
                <a:cs typeface="Calibri" pitchFamily="34" charset="-120"/>
              </a:rPr>
              <a:t>← Total frame = 10–12 bits to transmit 8 bits of data  (overhead ~20–33%)</a:t>
            </a:r>
            <a:endParaRPr lang="en-US" sz="1467" dirty="0"/>
          </a:p>
        </p:txBody>
      </p:sp>
      <p:sp>
        <p:nvSpPr>
          <p:cNvPr id="35" name="Shape 33"/>
          <p:cNvSpPr/>
          <p:nvPr/>
        </p:nvSpPr>
        <p:spPr>
          <a:xfrm>
            <a:off x="426720" y="4389120"/>
            <a:ext cx="5486400" cy="877824"/>
          </a:xfrm>
          <a:prstGeom prst="rect">
            <a:avLst/>
          </a:prstGeom>
          <a:solidFill>
            <a:srgbClr val="E6F1FB"/>
          </a:solidFill>
          <a:ln w="9525">
            <a:solidFill>
              <a:srgbClr val="B5D4F4"/>
            </a:solidFill>
            <a:prstDash val="solid"/>
          </a:ln>
        </p:spPr>
      </p:sp>
      <p:sp>
        <p:nvSpPr>
          <p:cNvPr id="36" name="Text 34"/>
          <p:cNvSpPr/>
          <p:nvPr/>
        </p:nvSpPr>
        <p:spPr>
          <a:xfrm>
            <a:off x="573024" y="4462272"/>
            <a:ext cx="5120640" cy="316992"/>
          </a:xfrm>
          <a:prstGeom prst="rect">
            <a:avLst/>
          </a:prstGeom>
          <a:noFill/>
          <a:ln/>
        </p:spPr>
        <p:txBody>
          <a:bodyPr wrap="square" rtlCol="0" anchor="ctr"/>
          <a:lstStyle/>
          <a:p>
            <a:r>
              <a:rPr lang="en-US" sz="1600" b="1" dirty="0">
                <a:solidFill>
                  <a:srgbClr val="0C447C"/>
                </a:solidFill>
                <a:latin typeface="Calibri" pitchFamily="34" charset="0"/>
                <a:ea typeface="Calibri" pitchFamily="34" charset="-122"/>
                <a:cs typeface="Calibri" pitchFamily="34" charset="-120"/>
              </a:rPr>
              <a:t>Baud rate</a:t>
            </a:r>
            <a:endParaRPr lang="en-US" sz="1600" dirty="0"/>
          </a:p>
        </p:txBody>
      </p:sp>
      <p:sp>
        <p:nvSpPr>
          <p:cNvPr id="37" name="Text 35"/>
          <p:cNvSpPr/>
          <p:nvPr/>
        </p:nvSpPr>
        <p:spPr>
          <a:xfrm>
            <a:off x="573024" y="4803648"/>
            <a:ext cx="5120640" cy="365760"/>
          </a:xfrm>
          <a:prstGeom prst="rect">
            <a:avLst/>
          </a:prstGeom>
          <a:noFill/>
          <a:ln/>
        </p:spPr>
        <p:txBody>
          <a:bodyPr wrap="square" rtlCol="0" anchor="ctr"/>
          <a:lstStyle/>
          <a:p>
            <a:r>
              <a:rPr lang="en-US" sz="1467" dirty="0">
                <a:solidFill>
                  <a:srgbClr val="5F5E5A"/>
                </a:solidFill>
                <a:latin typeface="Calibri" pitchFamily="34" charset="0"/>
                <a:ea typeface="Calibri" pitchFamily="34" charset="-122"/>
                <a:cs typeface="Calibri" pitchFamily="34" charset="-120"/>
              </a:rPr>
              <a:t>Common values: 9600, 19200, 38400, 57600, 115200 bps</a:t>
            </a:r>
            <a:endParaRPr lang="en-US" sz="1467" dirty="0"/>
          </a:p>
        </p:txBody>
      </p:sp>
      <p:sp>
        <p:nvSpPr>
          <p:cNvPr id="38" name="Shape 36"/>
          <p:cNvSpPr/>
          <p:nvPr/>
        </p:nvSpPr>
        <p:spPr>
          <a:xfrm>
            <a:off x="6156960" y="4389120"/>
            <a:ext cx="5486400" cy="877824"/>
          </a:xfrm>
          <a:prstGeom prst="rect">
            <a:avLst/>
          </a:prstGeom>
          <a:solidFill>
            <a:srgbClr val="E6F1FB"/>
          </a:solidFill>
          <a:ln w="9525">
            <a:solidFill>
              <a:srgbClr val="B5D4F4"/>
            </a:solidFill>
            <a:prstDash val="solid"/>
          </a:ln>
        </p:spPr>
      </p:sp>
      <p:sp>
        <p:nvSpPr>
          <p:cNvPr id="39" name="Text 37"/>
          <p:cNvSpPr/>
          <p:nvPr/>
        </p:nvSpPr>
        <p:spPr>
          <a:xfrm>
            <a:off x="6303264" y="4462272"/>
            <a:ext cx="5120640" cy="316992"/>
          </a:xfrm>
          <a:prstGeom prst="rect">
            <a:avLst/>
          </a:prstGeom>
          <a:noFill/>
          <a:ln/>
        </p:spPr>
        <p:txBody>
          <a:bodyPr wrap="square" rtlCol="0" anchor="ctr"/>
          <a:lstStyle/>
          <a:p>
            <a:r>
              <a:rPr lang="en-US" sz="1600" b="1" dirty="0">
                <a:solidFill>
                  <a:srgbClr val="0C447C"/>
                </a:solidFill>
                <a:latin typeface="Calibri" pitchFamily="34" charset="0"/>
                <a:ea typeface="Calibri" pitchFamily="34" charset="-122"/>
                <a:cs typeface="Calibri" pitchFamily="34" charset="-120"/>
              </a:rPr>
              <a:t>Data bits</a:t>
            </a:r>
            <a:endParaRPr lang="en-US" sz="1600" dirty="0"/>
          </a:p>
        </p:txBody>
      </p:sp>
      <p:sp>
        <p:nvSpPr>
          <p:cNvPr id="40" name="Text 38"/>
          <p:cNvSpPr/>
          <p:nvPr/>
        </p:nvSpPr>
        <p:spPr>
          <a:xfrm>
            <a:off x="6303264" y="4803648"/>
            <a:ext cx="5120640" cy="365760"/>
          </a:xfrm>
          <a:prstGeom prst="rect">
            <a:avLst/>
          </a:prstGeom>
          <a:noFill/>
          <a:ln/>
        </p:spPr>
        <p:txBody>
          <a:bodyPr wrap="square" rtlCol="0" anchor="ctr"/>
          <a:lstStyle/>
          <a:p>
            <a:r>
              <a:rPr lang="en-US" sz="1467" dirty="0">
                <a:solidFill>
                  <a:srgbClr val="5F5E5A"/>
                </a:solidFill>
                <a:latin typeface="Calibri" pitchFamily="34" charset="0"/>
                <a:ea typeface="Calibri" pitchFamily="34" charset="-122"/>
                <a:cs typeface="Calibri" pitchFamily="34" charset="-120"/>
              </a:rPr>
              <a:t>Usually 8 bits (one byte), sometimes 7 or 9</a:t>
            </a:r>
            <a:endParaRPr lang="en-US" sz="1467" dirty="0"/>
          </a:p>
        </p:txBody>
      </p:sp>
      <p:sp>
        <p:nvSpPr>
          <p:cNvPr id="41" name="Shape 39"/>
          <p:cNvSpPr/>
          <p:nvPr/>
        </p:nvSpPr>
        <p:spPr>
          <a:xfrm>
            <a:off x="426720" y="5425440"/>
            <a:ext cx="5486400" cy="877824"/>
          </a:xfrm>
          <a:prstGeom prst="rect">
            <a:avLst/>
          </a:prstGeom>
          <a:solidFill>
            <a:srgbClr val="E6F1FB"/>
          </a:solidFill>
          <a:ln w="9525">
            <a:solidFill>
              <a:srgbClr val="B5D4F4"/>
            </a:solidFill>
            <a:prstDash val="solid"/>
          </a:ln>
        </p:spPr>
      </p:sp>
      <p:sp>
        <p:nvSpPr>
          <p:cNvPr id="42" name="Text 40"/>
          <p:cNvSpPr/>
          <p:nvPr/>
        </p:nvSpPr>
        <p:spPr>
          <a:xfrm>
            <a:off x="573024" y="5498592"/>
            <a:ext cx="5120640" cy="316992"/>
          </a:xfrm>
          <a:prstGeom prst="rect">
            <a:avLst/>
          </a:prstGeom>
          <a:noFill/>
          <a:ln/>
        </p:spPr>
        <p:txBody>
          <a:bodyPr wrap="square" rtlCol="0" anchor="ctr"/>
          <a:lstStyle/>
          <a:p>
            <a:r>
              <a:rPr lang="en-US" sz="1600" b="1" dirty="0">
                <a:solidFill>
                  <a:srgbClr val="0C447C"/>
                </a:solidFill>
                <a:latin typeface="Calibri" pitchFamily="34" charset="0"/>
                <a:ea typeface="Calibri" pitchFamily="34" charset="-122"/>
                <a:cs typeface="Calibri" pitchFamily="34" charset="-120"/>
              </a:rPr>
              <a:t>Parity</a:t>
            </a:r>
            <a:endParaRPr lang="en-US" sz="1600" dirty="0"/>
          </a:p>
        </p:txBody>
      </p:sp>
      <p:sp>
        <p:nvSpPr>
          <p:cNvPr id="43" name="Text 41"/>
          <p:cNvSpPr/>
          <p:nvPr/>
        </p:nvSpPr>
        <p:spPr>
          <a:xfrm>
            <a:off x="573024" y="5839968"/>
            <a:ext cx="5120640" cy="365760"/>
          </a:xfrm>
          <a:prstGeom prst="rect">
            <a:avLst/>
          </a:prstGeom>
          <a:noFill/>
          <a:ln/>
        </p:spPr>
        <p:txBody>
          <a:bodyPr wrap="square" rtlCol="0" anchor="ctr"/>
          <a:lstStyle/>
          <a:p>
            <a:r>
              <a:rPr lang="en-US" sz="1467" dirty="0">
                <a:solidFill>
                  <a:srgbClr val="5F5E5A"/>
                </a:solidFill>
                <a:latin typeface="Calibri" pitchFamily="34" charset="0"/>
                <a:ea typeface="Calibri" pitchFamily="34" charset="-122"/>
                <a:cs typeface="Calibri" pitchFamily="34" charset="-120"/>
              </a:rPr>
              <a:t>None, Even, or Odd — for simple error detection</a:t>
            </a:r>
            <a:endParaRPr lang="en-US" sz="1467" dirty="0"/>
          </a:p>
        </p:txBody>
      </p:sp>
      <p:sp>
        <p:nvSpPr>
          <p:cNvPr id="44" name="Shape 42"/>
          <p:cNvSpPr/>
          <p:nvPr/>
        </p:nvSpPr>
        <p:spPr>
          <a:xfrm>
            <a:off x="6156960" y="5425440"/>
            <a:ext cx="5486400" cy="877824"/>
          </a:xfrm>
          <a:prstGeom prst="rect">
            <a:avLst/>
          </a:prstGeom>
          <a:solidFill>
            <a:srgbClr val="E6F1FB"/>
          </a:solidFill>
          <a:ln w="9525">
            <a:solidFill>
              <a:srgbClr val="B5D4F4"/>
            </a:solidFill>
            <a:prstDash val="solid"/>
          </a:ln>
        </p:spPr>
      </p:sp>
      <p:sp>
        <p:nvSpPr>
          <p:cNvPr id="45" name="Text 43"/>
          <p:cNvSpPr/>
          <p:nvPr/>
        </p:nvSpPr>
        <p:spPr>
          <a:xfrm>
            <a:off x="6303264" y="5498592"/>
            <a:ext cx="5120640" cy="316992"/>
          </a:xfrm>
          <a:prstGeom prst="rect">
            <a:avLst/>
          </a:prstGeom>
          <a:noFill/>
          <a:ln/>
        </p:spPr>
        <p:txBody>
          <a:bodyPr wrap="square" rtlCol="0" anchor="ctr"/>
          <a:lstStyle/>
          <a:p>
            <a:r>
              <a:rPr lang="en-US" sz="1600" b="1" dirty="0">
                <a:solidFill>
                  <a:srgbClr val="0C447C"/>
                </a:solidFill>
                <a:latin typeface="Calibri" pitchFamily="34" charset="0"/>
                <a:ea typeface="Calibri" pitchFamily="34" charset="-122"/>
                <a:cs typeface="Calibri" pitchFamily="34" charset="-120"/>
              </a:rPr>
              <a:t>Stop bits</a:t>
            </a:r>
            <a:endParaRPr lang="en-US" sz="1600" dirty="0"/>
          </a:p>
        </p:txBody>
      </p:sp>
      <p:sp>
        <p:nvSpPr>
          <p:cNvPr id="46" name="Text 44"/>
          <p:cNvSpPr/>
          <p:nvPr/>
        </p:nvSpPr>
        <p:spPr>
          <a:xfrm>
            <a:off x="6303264" y="5839968"/>
            <a:ext cx="5120640" cy="365760"/>
          </a:xfrm>
          <a:prstGeom prst="rect">
            <a:avLst/>
          </a:prstGeom>
          <a:noFill/>
          <a:ln/>
        </p:spPr>
        <p:txBody>
          <a:bodyPr wrap="square" rtlCol="0" anchor="ctr"/>
          <a:lstStyle/>
          <a:p>
            <a:r>
              <a:rPr lang="en-US" sz="1467" dirty="0">
                <a:solidFill>
                  <a:srgbClr val="5F5E5A"/>
                </a:solidFill>
                <a:latin typeface="Calibri" pitchFamily="34" charset="0"/>
                <a:ea typeface="Calibri" pitchFamily="34" charset="-122"/>
                <a:cs typeface="Calibri" pitchFamily="34" charset="-120"/>
              </a:rPr>
              <a:t>1 or 2 bits — marks end of frame</a:t>
            </a:r>
            <a:endParaRPr lang="en-US" sz="146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436" y="1094509"/>
            <a:ext cx="11492346" cy="5320145"/>
          </a:xfrm>
        </p:spPr>
        <p:txBody>
          <a:bodyPr/>
          <a:lstStyle/>
          <a:p>
            <a:r>
              <a:rPr lang="en-US" dirty="0"/>
              <a:t>USART stands for </a:t>
            </a:r>
            <a:r>
              <a:rPr lang="en-US" u="sng" dirty="0"/>
              <a:t>U</a:t>
            </a:r>
            <a:r>
              <a:rPr lang="en-US" dirty="0"/>
              <a:t>niversal </a:t>
            </a:r>
            <a:r>
              <a:rPr lang="en-US" u="sng" dirty="0" err="1"/>
              <a:t>S</a:t>
            </a:r>
            <a:r>
              <a:rPr lang="en-US" dirty="0" err="1"/>
              <a:t>ynchronous</a:t>
            </a:r>
            <a:r>
              <a:rPr lang="en-US" u="sng" dirty="0" err="1"/>
              <a:t>A</a:t>
            </a:r>
            <a:r>
              <a:rPr lang="en-US" dirty="0" err="1"/>
              <a:t>synchronous</a:t>
            </a:r>
            <a:r>
              <a:rPr lang="en-US" dirty="0"/>
              <a:t> </a:t>
            </a:r>
            <a:r>
              <a:rPr lang="en-US" u="sng" dirty="0"/>
              <a:t>R</a:t>
            </a:r>
            <a:r>
              <a:rPr lang="en-US" dirty="0"/>
              <a:t>eceiver </a:t>
            </a:r>
            <a:r>
              <a:rPr lang="en-US" u="sng" dirty="0"/>
              <a:t>T</a:t>
            </a:r>
            <a:r>
              <a:rPr lang="en-US" dirty="0"/>
              <a:t>ransmitter.</a:t>
            </a:r>
          </a:p>
          <a:p>
            <a:pPr marL="0" indent="0">
              <a:buNone/>
            </a:pPr>
            <a:r>
              <a:rPr lang="en-US" dirty="0"/>
              <a:t>In </a:t>
            </a:r>
            <a:r>
              <a:rPr lang="en-US" i="1" dirty="0"/>
              <a:t>synchronous</a:t>
            </a:r>
            <a:r>
              <a:rPr lang="en-US" dirty="0"/>
              <a:t> transmission, the clock data is recovered separately from the data stream and no start/stop bits are used. This improves the efficiency of transmission on suitable channels since more of the bits sent are usable data and not character framing.</a:t>
            </a:r>
          </a:p>
          <a:p>
            <a:pPr marL="0" indent="0">
              <a:buNone/>
            </a:pPr>
            <a:r>
              <a:rPr lang="en-US" dirty="0"/>
              <a:t> </a:t>
            </a:r>
          </a:p>
          <a:p>
            <a:endParaRPr lang="en-US" dirty="0"/>
          </a:p>
        </p:txBody>
      </p:sp>
      <p:sp>
        <p:nvSpPr>
          <p:cNvPr id="4" name="Title 1"/>
          <p:cNvSpPr>
            <a:spLocks noGrp="1"/>
          </p:cNvSpPr>
          <p:nvPr>
            <p:ph type="title"/>
          </p:nvPr>
        </p:nvSpPr>
        <p:spPr>
          <a:xfrm>
            <a:off x="838200" y="365126"/>
            <a:ext cx="9746673" cy="729384"/>
          </a:xfrm>
        </p:spPr>
        <p:txBody>
          <a:bodyPr/>
          <a:lstStyle/>
          <a:p>
            <a:r>
              <a:rPr lang="en-US" dirty="0"/>
              <a:t>USART</a:t>
            </a:r>
          </a:p>
        </p:txBody>
      </p:sp>
      <p:sp>
        <p:nvSpPr>
          <p:cNvPr id="2" name="Slide Number Placeholder 1"/>
          <p:cNvSpPr>
            <a:spLocks noGrp="1"/>
          </p:cNvSpPr>
          <p:nvPr>
            <p:ph type="sldNum" sz="quarter" idx="12"/>
          </p:nvPr>
        </p:nvSpPr>
        <p:spPr/>
        <p:txBody>
          <a:bodyPr/>
          <a:lstStyle/>
          <a:p>
            <a:fld id="{B33B1FC4-1770-4941-B103-8E797B88350F}" type="slidenum">
              <a:rPr lang="en-US" smtClean="0"/>
              <a:t>14</a:t>
            </a:fld>
            <a:endParaRPr lang="en-US"/>
          </a:p>
        </p:txBody>
      </p:sp>
    </p:spTree>
    <p:extLst>
      <p:ext uri="{BB962C8B-B14F-4D97-AF65-F5344CB8AC3E}">
        <p14:creationId xmlns:p14="http://schemas.microsoft.com/office/powerpoint/2010/main" val="4127541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0F6E56"/>
          </a:solidFill>
          <a:ln w="12700">
            <a:solidFill>
              <a:srgbClr val="0F6E56"/>
            </a:solidFill>
            <a:prstDash val="solid"/>
          </a:ln>
        </p:spPr>
      </p:sp>
      <p:sp>
        <p:nvSpPr>
          <p:cNvPr id="3" name="Text 1"/>
          <p:cNvSpPr/>
          <p:nvPr/>
        </p:nvSpPr>
        <p:spPr>
          <a:xfrm>
            <a:off x="365760" y="97536"/>
            <a:ext cx="11460480" cy="670560"/>
          </a:xfrm>
          <a:prstGeom prst="rect">
            <a:avLst/>
          </a:prstGeom>
          <a:noFill/>
          <a:ln/>
        </p:spPr>
        <p:txBody>
          <a:bodyPr wrap="square" rtlCol="0" anchor="ctr"/>
          <a:lstStyle/>
          <a:p>
            <a:r>
              <a:rPr lang="en-US" sz="2400" b="1" dirty="0">
                <a:solidFill>
                  <a:srgbClr val="FFFFFF"/>
                </a:solidFill>
                <a:latin typeface="Calibri" pitchFamily="34" charset="0"/>
                <a:ea typeface="Calibri" pitchFamily="34" charset="-122"/>
                <a:cs typeface="Calibri" pitchFamily="34" charset="-120"/>
              </a:rPr>
              <a:t>USART — Async vs Sync Frame Comparison</a:t>
            </a:r>
            <a:endParaRPr lang="en-US" sz="2400" dirty="0"/>
          </a:p>
        </p:txBody>
      </p:sp>
      <p:sp>
        <p:nvSpPr>
          <p:cNvPr id="4" name="Text 2"/>
          <p:cNvSpPr/>
          <p:nvPr/>
        </p:nvSpPr>
        <p:spPr>
          <a:xfrm>
            <a:off x="487680" y="1036320"/>
            <a:ext cx="11216640" cy="426720"/>
          </a:xfrm>
          <a:prstGeom prst="rect">
            <a:avLst/>
          </a:prstGeom>
          <a:noFill/>
          <a:ln/>
        </p:spPr>
        <p:txBody>
          <a:bodyPr wrap="square" rtlCol="0" anchor="ctr"/>
          <a:lstStyle/>
          <a:p>
            <a:r>
              <a:rPr lang="en-US" sz="1667" b="1" dirty="0">
                <a:solidFill>
                  <a:srgbClr val="2C2C2A"/>
                </a:solidFill>
                <a:latin typeface="Calibri" pitchFamily="34" charset="0"/>
                <a:ea typeface="Calibri" pitchFamily="34" charset="-122"/>
                <a:cs typeface="Calibri" pitchFamily="34" charset="-120"/>
              </a:rPr>
              <a:t>Asynchronous frame (same as UART):</a:t>
            </a:r>
            <a:endParaRPr lang="en-US" sz="1667" dirty="0"/>
          </a:p>
        </p:txBody>
      </p:sp>
      <p:sp>
        <p:nvSpPr>
          <p:cNvPr id="5" name="Shape 3"/>
          <p:cNvSpPr/>
          <p:nvPr/>
        </p:nvSpPr>
        <p:spPr>
          <a:xfrm>
            <a:off x="426720" y="1560576"/>
            <a:ext cx="975360" cy="755904"/>
          </a:xfrm>
          <a:prstGeom prst="rect">
            <a:avLst/>
          </a:prstGeom>
          <a:solidFill>
            <a:srgbClr val="888780"/>
          </a:solidFill>
          <a:ln w="19050">
            <a:solidFill>
              <a:srgbClr val="FFFFFF"/>
            </a:solidFill>
            <a:prstDash val="solid"/>
          </a:ln>
        </p:spPr>
      </p:sp>
      <p:sp>
        <p:nvSpPr>
          <p:cNvPr id="6" name="Text 4"/>
          <p:cNvSpPr/>
          <p:nvPr/>
        </p:nvSpPr>
        <p:spPr>
          <a:xfrm>
            <a:off x="426720" y="1560576"/>
            <a:ext cx="975360"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Start</a:t>
            </a:r>
            <a:endParaRPr lang="en-US" sz="1467" dirty="0"/>
          </a:p>
        </p:txBody>
      </p:sp>
      <p:sp>
        <p:nvSpPr>
          <p:cNvPr id="7" name="Shape 5"/>
          <p:cNvSpPr/>
          <p:nvPr/>
        </p:nvSpPr>
        <p:spPr>
          <a:xfrm>
            <a:off x="1402080" y="1560576"/>
            <a:ext cx="877824" cy="755904"/>
          </a:xfrm>
          <a:prstGeom prst="rect">
            <a:avLst/>
          </a:prstGeom>
          <a:solidFill>
            <a:srgbClr val="0F6E56"/>
          </a:solidFill>
          <a:ln w="19050">
            <a:solidFill>
              <a:srgbClr val="FFFFFF"/>
            </a:solidFill>
            <a:prstDash val="solid"/>
          </a:ln>
        </p:spPr>
      </p:sp>
      <p:sp>
        <p:nvSpPr>
          <p:cNvPr id="8" name="Text 6"/>
          <p:cNvSpPr/>
          <p:nvPr/>
        </p:nvSpPr>
        <p:spPr>
          <a:xfrm>
            <a:off x="1402080" y="1560576"/>
            <a:ext cx="877824"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D0</a:t>
            </a:r>
            <a:endParaRPr lang="en-US" sz="1467" dirty="0"/>
          </a:p>
        </p:txBody>
      </p:sp>
      <p:sp>
        <p:nvSpPr>
          <p:cNvPr id="9" name="Shape 7"/>
          <p:cNvSpPr/>
          <p:nvPr/>
        </p:nvSpPr>
        <p:spPr>
          <a:xfrm>
            <a:off x="2279904" y="1560576"/>
            <a:ext cx="877824" cy="755904"/>
          </a:xfrm>
          <a:prstGeom prst="rect">
            <a:avLst/>
          </a:prstGeom>
          <a:solidFill>
            <a:srgbClr val="0F6E56"/>
          </a:solidFill>
          <a:ln w="19050">
            <a:solidFill>
              <a:srgbClr val="FFFFFF"/>
            </a:solidFill>
            <a:prstDash val="solid"/>
          </a:ln>
        </p:spPr>
      </p:sp>
      <p:sp>
        <p:nvSpPr>
          <p:cNvPr id="10" name="Text 8"/>
          <p:cNvSpPr/>
          <p:nvPr/>
        </p:nvSpPr>
        <p:spPr>
          <a:xfrm>
            <a:off x="2279904" y="1560576"/>
            <a:ext cx="877824"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D1</a:t>
            </a:r>
            <a:endParaRPr lang="en-US" sz="1467" dirty="0"/>
          </a:p>
        </p:txBody>
      </p:sp>
      <p:sp>
        <p:nvSpPr>
          <p:cNvPr id="11" name="Shape 9"/>
          <p:cNvSpPr/>
          <p:nvPr/>
        </p:nvSpPr>
        <p:spPr>
          <a:xfrm>
            <a:off x="3157728" y="1560576"/>
            <a:ext cx="877824" cy="755904"/>
          </a:xfrm>
          <a:prstGeom prst="rect">
            <a:avLst/>
          </a:prstGeom>
          <a:solidFill>
            <a:srgbClr val="0F6E56"/>
          </a:solidFill>
          <a:ln w="19050">
            <a:solidFill>
              <a:srgbClr val="FFFFFF"/>
            </a:solidFill>
            <a:prstDash val="solid"/>
          </a:ln>
        </p:spPr>
      </p:sp>
      <p:sp>
        <p:nvSpPr>
          <p:cNvPr id="12" name="Text 10"/>
          <p:cNvSpPr/>
          <p:nvPr/>
        </p:nvSpPr>
        <p:spPr>
          <a:xfrm>
            <a:off x="3157728" y="1560576"/>
            <a:ext cx="877824"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D2</a:t>
            </a:r>
            <a:endParaRPr lang="en-US" sz="1467" dirty="0"/>
          </a:p>
        </p:txBody>
      </p:sp>
      <p:sp>
        <p:nvSpPr>
          <p:cNvPr id="13" name="Shape 11"/>
          <p:cNvSpPr/>
          <p:nvPr/>
        </p:nvSpPr>
        <p:spPr>
          <a:xfrm>
            <a:off x="4035552" y="1560576"/>
            <a:ext cx="877824" cy="755904"/>
          </a:xfrm>
          <a:prstGeom prst="rect">
            <a:avLst/>
          </a:prstGeom>
          <a:solidFill>
            <a:srgbClr val="0F6E56"/>
          </a:solidFill>
          <a:ln w="19050">
            <a:solidFill>
              <a:srgbClr val="FFFFFF"/>
            </a:solidFill>
            <a:prstDash val="solid"/>
          </a:ln>
        </p:spPr>
      </p:sp>
      <p:sp>
        <p:nvSpPr>
          <p:cNvPr id="14" name="Text 12"/>
          <p:cNvSpPr/>
          <p:nvPr/>
        </p:nvSpPr>
        <p:spPr>
          <a:xfrm>
            <a:off x="4035552" y="1560576"/>
            <a:ext cx="877824"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D3</a:t>
            </a:r>
            <a:endParaRPr lang="en-US" sz="1467" dirty="0"/>
          </a:p>
        </p:txBody>
      </p:sp>
      <p:sp>
        <p:nvSpPr>
          <p:cNvPr id="15" name="Shape 13"/>
          <p:cNvSpPr/>
          <p:nvPr/>
        </p:nvSpPr>
        <p:spPr>
          <a:xfrm>
            <a:off x="4913376" y="1560576"/>
            <a:ext cx="877824" cy="755904"/>
          </a:xfrm>
          <a:prstGeom prst="rect">
            <a:avLst/>
          </a:prstGeom>
          <a:solidFill>
            <a:srgbClr val="0F6E56"/>
          </a:solidFill>
          <a:ln w="19050">
            <a:solidFill>
              <a:srgbClr val="FFFFFF"/>
            </a:solidFill>
            <a:prstDash val="solid"/>
          </a:ln>
        </p:spPr>
      </p:sp>
      <p:sp>
        <p:nvSpPr>
          <p:cNvPr id="16" name="Text 14"/>
          <p:cNvSpPr/>
          <p:nvPr/>
        </p:nvSpPr>
        <p:spPr>
          <a:xfrm>
            <a:off x="4913376" y="1560576"/>
            <a:ext cx="877824"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D4</a:t>
            </a:r>
            <a:endParaRPr lang="en-US" sz="1467" dirty="0"/>
          </a:p>
        </p:txBody>
      </p:sp>
      <p:sp>
        <p:nvSpPr>
          <p:cNvPr id="17" name="Shape 15"/>
          <p:cNvSpPr/>
          <p:nvPr/>
        </p:nvSpPr>
        <p:spPr>
          <a:xfrm>
            <a:off x="5791200" y="1560576"/>
            <a:ext cx="877824" cy="755904"/>
          </a:xfrm>
          <a:prstGeom prst="rect">
            <a:avLst/>
          </a:prstGeom>
          <a:solidFill>
            <a:srgbClr val="0F6E56"/>
          </a:solidFill>
          <a:ln w="19050">
            <a:solidFill>
              <a:srgbClr val="FFFFFF"/>
            </a:solidFill>
            <a:prstDash val="solid"/>
          </a:ln>
        </p:spPr>
      </p:sp>
      <p:sp>
        <p:nvSpPr>
          <p:cNvPr id="18" name="Text 16"/>
          <p:cNvSpPr/>
          <p:nvPr/>
        </p:nvSpPr>
        <p:spPr>
          <a:xfrm>
            <a:off x="5791200" y="1560576"/>
            <a:ext cx="877824"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D5</a:t>
            </a:r>
            <a:endParaRPr lang="en-US" sz="1467" dirty="0"/>
          </a:p>
        </p:txBody>
      </p:sp>
      <p:sp>
        <p:nvSpPr>
          <p:cNvPr id="19" name="Shape 17"/>
          <p:cNvSpPr/>
          <p:nvPr/>
        </p:nvSpPr>
        <p:spPr>
          <a:xfrm>
            <a:off x="6669024" y="1560576"/>
            <a:ext cx="877824" cy="755904"/>
          </a:xfrm>
          <a:prstGeom prst="rect">
            <a:avLst/>
          </a:prstGeom>
          <a:solidFill>
            <a:srgbClr val="0F6E56"/>
          </a:solidFill>
          <a:ln w="19050">
            <a:solidFill>
              <a:srgbClr val="FFFFFF"/>
            </a:solidFill>
            <a:prstDash val="solid"/>
          </a:ln>
        </p:spPr>
      </p:sp>
      <p:sp>
        <p:nvSpPr>
          <p:cNvPr id="20" name="Text 18"/>
          <p:cNvSpPr/>
          <p:nvPr/>
        </p:nvSpPr>
        <p:spPr>
          <a:xfrm>
            <a:off x="6669024" y="1560576"/>
            <a:ext cx="877824"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D6</a:t>
            </a:r>
            <a:endParaRPr lang="en-US" sz="1467" dirty="0"/>
          </a:p>
        </p:txBody>
      </p:sp>
      <p:sp>
        <p:nvSpPr>
          <p:cNvPr id="21" name="Shape 19"/>
          <p:cNvSpPr/>
          <p:nvPr/>
        </p:nvSpPr>
        <p:spPr>
          <a:xfrm>
            <a:off x="7546848" y="1560576"/>
            <a:ext cx="877824" cy="755904"/>
          </a:xfrm>
          <a:prstGeom prst="rect">
            <a:avLst/>
          </a:prstGeom>
          <a:solidFill>
            <a:srgbClr val="0F6E56"/>
          </a:solidFill>
          <a:ln w="19050">
            <a:solidFill>
              <a:srgbClr val="FFFFFF"/>
            </a:solidFill>
            <a:prstDash val="solid"/>
          </a:ln>
        </p:spPr>
      </p:sp>
      <p:sp>
        <p:nvSpPr>
          <p:cNvPr id="22" name="Text 20"/>
          <p:cNvSpPr/>
          <p:nvPr/>
        </p:nvSpPr>
        <p:spPr>
          <a:xfrm>
            <a:off x="7546848" y="1560576"/>
            <a:ext cx="877824"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D7</a:t>
            </a:r>
            <a:endParaRPr lang="en-US" sz="1467" dirty="0"/>
          </a:p>
        </p:txBody>
      </p:sp>
      <p:sp>
        <p:nvSpPr>
          <p:cNvPr id="23" name="Shape 21"/>
          <p:cNvSpPr/>
          <p:nvPr/>
        </p:nvSpPr>
        <p:spPr>
          <a:xfrm>
            <a:off x="8424672" y="1560576"/>
            <a:ext cx="1097280" cy="755904"/>
          </a:xfrm>
          <a:prstGeom prst="rect">
            <a:avLst/>
          </a:prstGeom>
          <a:solidFill>
            <a:srgbClr val="854F0B"/>
          </a:solidFill>
          <a:ln w="19050">
            <a:solidFill>
              <a:srgbClr val="FFFFFF"/>
            </a:solidFill>
            <a:prstDash val="solid"/>
          </a:ln>
        </p:spPr>
      </p:sp>
      <p:sp>
        <p:nvSpPr>
          <p:cNvPr id="24" name="Text 22"/>
          <p:cNvSpPr/>
          <p:nvPr/>
        </p:nvSpPr>
        <p:spPr>
          <a:xfrm>
            <a:off x="8424672" y="1560576"/>
            <a:ext cx="1097280"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Par</a:t>
            </a:r>
            <a:endParaRPr lang="en-US" sz="1467" dirty="0"/>
          </a:p>
        </p:txBody>
      </p:sp>
      <p:sp>
        <p:nvSpPr>
          <p:cNvPr id="25" name="Shape 23"/>
          <p:cNvSpPr/>
          <p:nvPr/>
        </p:nvSpPr>
        <p:spPr>
          <a:xfrm>
            <a:off x="9521952" y="1560576"/>
            <a:ext cx="1097280" cy="755904"/>
          </a:xfrm>
          <a:prstGeom prst="rect">
            <a:avLst/>
          </a:prstGeom>
          <a:solidFill>
            <a:srgbClr val="888780"/>
          </a:solidFill>
          <a:ln w="19050">
            <a:solidFill>
              <a:srgbClr val="FFFFFF"/>
            </a:solidFill>
            <a:prstDash val="solid"/>
          </a:ln>
        </p:spPr>
      </p:sp>
      <p:sp>
        <p:nvSpPr>
          <p:cNvPr id="26" name="Text 24"/>
          <p:cNvSpPr/>
          <p:nvPr/>
        </p:nvSpPr>
        <p:spPr>
          <a:xfrm>
            <a:off x="9521952" y="1560576"/>
            <a:ext cx="1097280"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Stop</a:t>
            </a:r>
            <a:endParaRPr lang="en-US" sz="1467" dirty="0"/>
          </a:p>
        </p:txBody>
      </p:sp>
      <p:sp>
        <p:nvSpPr>
          <p:cNvPr id="27" name="Text 25"/>
          <p:cNvSpPr/>
          <p:nvPr/>
        </p:nvSpPr>
        <p:spPr>
          <a:xfrm>
            <a:off x="426720" y="2389632"/>
            <a:ext cx="11216640" cy="365760"/>
          </a:xfrm>
          <a:prstGeom prst="rect">
            <a:avLst/>
          </a:prstGeom>
          <a:noFill/>
          <a:ln/>
        </p:spPr>
        <p:txBody>
          <a:bodyPr wrap="square" rtlCol="0" anchor="ctr"/>
          <a:lstStyle/>
          <a:p>
            <a:r>
              <a:rPr lang="en-US" sz="1400" i="1" dirty="0">
                <a:solidFill>
                  <a:srgbClr val="888780"/>
                </a:solidFill>
                <a:latin typeface="Calibri" pitchFamily="34" charset="0"/>
                <a:ea typeface="Calibri" pitchFamily="34" charset="-122"/>
                <a:cs typeface="Calibri" pitchFamily="34" charset="-120"/>
              </a:rPr>
              <a:t>↑ Start + stop bits add overhead on every byte</a:t>
            </a:r>
            <a:endParaRPr lang="en-US" sz="1400" dirty="0"/>
          </a:p>
        </p:txBody>
      </p:sp>
      <p:sp>
        <p:nvSpPr>
          <p:cNvPr id="28" name="Text 26"/>
          <p:cNvSpPr/>
          <p:nvPr/>
        </p:nvSpPr>
        <p:spPr>
          <a:xfrm>
            <a:off x="487680" y="2950464"/>
            <a:ext cx="11216640" cy="426720"/>
          </a:xfrm>
          <a:prstGeom prst="rect">
            <a:avLst/>
          </a:prstGeom>
          <a:noFill/>
          <a:ln/>
        </p:spPr>
        <p:txBody>
          <a:bodyPr wrap="square" rtlCol="0" anchor="ctr"/>
          <a:lstStyle/>
          <a:p>
            <a:r>
              <a:rPr lang="en-US" sz="1667" b="1" dirty="0">
                <a:solidFill>
                  <a:srgbClr val="2C2C2A"/>
                </a:solidFill>
                <a:latin typeface="Calibri" pitchFamily="34" charset="0"/>
                <a:ea typeface="Calibri" pitchFamily="34" charset="-122"/>
                <a:cs typeface="Calibri" pitchFamily="34" charset="-120"/>
              </a:rPr>
              <a:t>Synchronous frame (no start/stop bits — clock does the framing):</a:t>
            </a:r>
            <a:endParaRPr lang="en-US" sz="1667" dirty="0"/>
          </a:p>
        </p:txBody>
      </p:sp>
      <p:sp>
        <p:nvSpPr>
          <p:cNvPr id="29" name="Text 27"/>
          <p:cNvSpPr/>
          <p:nvPr/>
        </p:nvSpPr>
        <p:spPr>
          <a:xfrm>
            <a:off x="426720" y="3474720"/>
            <a:ext cx="670560" cy="426720"/>
          </a:xfrm>
          <a:prstGeom prst="rect">
            <a:avLst/>
          </a:prstGeom>
          <a:noFill/>
          <a:ln/>
        </p:spPr>
        <p:txBody>
          <a:bodyPr wrap="square" rtlCol="0" anchor="ctr"/>
          <a:lstStyle/>
          <a:p>
            <a:r>
              <a:rPr lang="en-US" sz="1400" b="1" dirty="0">
                <a:solidFill>
                  <a:srgbClr val="888780"/>
                </a:solidFill>
                <a:latin typeface="Calibri" pitchFamily="34" charset="0"/>
                <a:ea typeface="Calibri" pitchFamily="34" charset="-122"/>
                <a:cs typeface="Calibri" pitchFamily="34" charset="-120"/>
              </a:rPr>
              <a:t>CLK:</a:t>
            </a:r>
            <a:endParaRPr lang="en-US" sz="1400" dirty="0"/>
          </a:p>
        </p:txBody>
      </p:sp>
      <p:sp>
        <p:nvSpPr>
          <p:cNvPr id="30" name="Shape 28"/>
          <p:cNvSpPr/>
          <p:nvPr/>
        </p:nvSpPr>
        <p:spPr>
          <a:xfrm>
            <a:off x="1097280" y="3794760"/>
            <a:ext cx="10607040" cy="0"/>
          </a:xfrm>
          <a:prstGeom prst="line">
            <a:avLst/>
          </a:prstGeom>
          <a:noFill/>
          <a:ln w="12700">
            <a:solidFill>
              <a:srgbClr val="993C1D"/>
            </a:solidFill>
            <a:prstDash val="solid"/>
          </a:ln>
        </p:spPr>
      </p:sp>
      <p:sp>
        <p:nvSpPr>
          <p:cNvPr id="31" name="Text 29"/>
          <p:cNvSpPr/>
          <p:nvPr/>
        </p:nvSpPr>
        <p:spPr>
          <a:xfrm>
            <a:off x="1097280" y="3474720"/>
            <a:ext cx="10607040" cy="426720"/>
          </a:xfrm>
          <a:prstGeom prst="rect">
            <a:avLst/>
          </a:prstGeom>
          <a:noFill/>
          <a:ln/>
        </p:spPr>
        <p:txBody>
          <a:bodyPr wrap="square" rtlCol="0" anchor="ctr"/>
          <a:lstStyle/>
          <a:p>
            <a:r>
              <a:rPr lang="en-US" sz="1867" dirty="0">
                <a:solidFill>
                  <a:srgbClr val="993C1D"/>
                </a:solidFill>
                <a:latin typeface="Courier New" pitchFamily="34" charset="0"/>
                <a:ea typeface="Courier New" pitchFamily="34" charset="-122"/>
                <a:cs typeface="Courier New" pitchFamily="34" charset="-120"/>
              </a:rPr>
              <a:t>⎍⎍⎍⎍⎍⎍⎍⎍⎍⎍⎍⎍⎍⎍⎍⎍⎍⎍⎍⎍⎍⎍⎍⎍⎍⎍</a:t>
            </a:r>
            <a:endParaRPr lang="en-US" sz="1867" dirty="0"/>
          </a:p>
        </p:txBody>
      </p:sp>
      <p:sp>
        <p:nvSpPr>
          <p:cNvPr id="32" name="Shape 30"/>
          <p:cNvSpPr/>
          <p:nvPr/>
        </p:nvSpPr>
        <p:spPr>
          <a:xfrm>
            <a:off x="1097280" y="4047744"/>
            <a:ext cx="1767840" cy="755904"/>
          </a:xfrm>
          <a:prstGeom prst="rect">
            <a:avLst/>
          </a:prstGeom>
          <a:solidFill>
            <a:srgbClr val="0F6E56"/>
          </a:solidFill>
          <a:ln w="19050">
            <a:solidFill>
              <a:srgbClr val="FFFFFF"/>
            </a:solidFill>
            <a:prstDash val="solid"/>
          </a:ln>
        </p:spPr>
      </p:sp>
      <p:sp>
        <p:nvSpPr>
          <p:cNvPr id="33" name="Text 31"/>
          <p:cNvSpPr/>
          <p:nvPr/>
        </p:nvSpPr>
        <p:spPr>
          <a:xfrm>
            <a:off x="1097280" y="4047744"/>
            <a:ext cx="1767840"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Byte 0</a:t>
            </a:r>
            <a:endParaRPr lang="en-US" sz="1467" dirty="0"/>
          </a:p>
        </p:txBody>
      </p:sp>
      <p:sp>
        <p:nvSpPr>
          <p:cNvPr id="34" name="Shape 32"/>
          <p:cNvSpPr/>
          <p:nvPr/>
        </p:nvSpPr>
        <p:spPr>
          <a:xfrm>
            <a:off x="2865120" y="4047744"/>
            <a:ext cx="1767840" cy="755904"/>
          </a:xfrm>
          <a:prstGeom prst="rect">
            <a:avLst/>
          </a:prstGeom>
          <a:solidFill>
            <a:srgbClr val="1D9E75"/>
          </a:solidFill>
          <a:ln w="19050">
            <a:solidFill>
              <a:srgbClr val="FFFFFF"/>
            </a:solidFill>
            <a:prstDash val="solid"/>
          </a:ln>
        </p:spPr>
      </p:sp>
      <p:sp>
        <p:nvSpPr>
          <p:cNvPr id="35" name="Text 33"/>
          <p:cNvSpPr/>
          <p:nvPr/>
        </p:nvSpPr>
        <p:spPr>
          <a:xfrm>
            <a:off x="2865120" y="4047744"/>
            <a:ext cx="1767840"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Byte 1</a:t>
            </a:r>
            <a:endParaRPr lang="en-US" sz="1467" dirty="0"/>
          </a:p>
        </p:txBody>
      </p:sp>
      <p:sp>
        <p:nvSpPr>
          <p:cNvPr id="36" name="Shape 34"/>
          <p:cNvSpPr/>
          <p:nvPr/>
        </p:nvSpPr>
        <p:spPr>
          <a:xfrm>
            <a:off x="4632960" y="4047744"/>
            <a:ext cx="1767840" cy="755904"/>
          </a:xfrm>
          <a:prstGeom prst="rect">
            <a:avLst/>
          </a:prstGeom>
          <a:solidFill>
            <a:srgbClr val="0F6E56"/>
          </a:solidFill>
          <a:ln w="19050">
            <a:solidFill>
              <a:srgbClr val="FFFFFF"/>
            </a:solidFill>
            <a:prstDash val="solid"/>
          </a:ln>
        </p:spPr>
      </p:sp>
      <p:sp>
        <p:nvSpPr>
          <p:cNvPr id="37" name="Text 35"/>
          <p:cNvSpPr/>
          <p:nvPr/>
        </p:nvSpPr>
        <p:spPr>
          <a:xfrm>
            <a:off x="4632960" y="4047744"/>
            <a:ext cx="1767840"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Byte 2</a:t>
            </a:r>
            <a:endParaRPr lang="en-US" sz="1467" dirty="0"/>
          </a:p>
        </p:txBody>
      </p:sp>
      <p:sp>
        <p:nvSpPr>
          <p:cNvPr id="38" name="Shape 36"/>
          <p:cNvSpPr/>
          <p:nvPr/>
        </p:nvSpPr>
        <p:spPr>
          <a:xfrm>
            <a:off x="6400800" y="4047744"/>
            <a:ext cx="1767840" cy="755904"/>
          </a:xfrm>
          <a:prstGeom prst="rect">
            <a:avLst/>
          </a:prstGeom>
          <a:solidFill>
            <a:srgbClr val="1D9E75"/>
          </a:solidFill>
          <a:ln w="19050">
            <a:solidFill>
              <a:srgbClr val="FFFFFF"/>
            </a:solidFill>
            <a:prstDash val="solid"/>
          </a:ln>
        </p:spPr>
      </p:sp>
      <p:sp>
        <p:nvSpPr>
          <p:cNvPr id="39" name="Text 37"/>
          <p:cNvSpPr/>
          <p:nvPr/>
        </p:nvSpPr>
        <p:spPr>
          <a:xfrm>
            <a:off x="6400800" y="4047744"/>
            <a:ext cx="1767840"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Byte 3</a:t>
            </a:r>
            <a:endParaRPr lang="en-US" sz="1467" dirty="0"/>
          </a:p>
        </p:txBody>
      </p:sp>
      <p:sp>
        <p:nvSpPr>
          <p:cNvPr id="40" name="Shape 38"/>
          <p:cNvSpPr/>
          <p:nvPr/>
        </p:nvSpPr>
        <p:spPr>
          <a:xfrm>
            <a:off x="8168640" y="4047744"/>
            <a:ext cx="1767840" cy="755904"/>
          </a:xfrm>
          <a:prstGeom prst="rect">
            <a:avLst/>
          </a:prstGeom>
          <a:solidFill>
            <a:srgbClr val="0F6E56"/>
          </a:solidFill>
          <a:ln w="19050">
            <a:solidFill>
              <a:srgbClr val="FFFFFF"/>
            </a:solidFill>
            <a:prstDash val="solid"/>
          </a:ln>
        </p:spPr>
      </p:sp>
      <p:sp>
        <p:nvSpPr>
          <p:cNvPr id="41" name="Text 39"/>
          <p:cNvSpPr/>
          <p:nvPr/>
        </p:nvSpPr>
        <p:spPr>
          <a:xfrm>
            <a:off x="8168640" y="4047744"/>
            <a:ext cx="1767840"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Byte 4</a:t>
            </a:r>
            <a:endParaRPr lang="en-US" sz="1467" dirty="0"/>
          </a:p>
        </p:txBody>
      </p:sp>
      <p:sp>
        <p:nvSpPr>
          <p:cNvPr id="42" name="Shape 40"/>
          <p:cNvSpPr/>
          <p:nvPr/>
        </p:nvSpPr>
        <p:spPr>
          <a:xfrm>
            <a:off x="9936480" y="4047744"/>
            <a:ext cx="1584960" cy="755904"/>
          </a:xfrm>
          <a:prstGeom prst="rect">
            <a:avLst/>
          </a:prstGeom>
          <a:solidFill>
            <a:srgbClr val="1D9E75"/>
          </a:solidFill>
          <a:ln w="19050">
            <a:solidFill>
              <a:srgbClr val="FFFFFF"/>
            </a:solidFill>
            <a:prstDash val="solid"/>
          </a:ln>
        </p:spPr>
      </p:sp>
      <p:sp>
        <p:nvSpPr>
          <p:cNvPr id="43" name="Text 41"/>
          <p:cNvSpPr/>
          <p:nvPr/>
        </p:nvSpPr>
        <p:spPr>
          <a:xfrm>
            <a:off x="9936480" y="4047744"/>
            <a:ext cx="1584960"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Byte 5</a:t>
            </a:r>
            <a:endParaRPr lang="en-US" sz="1467" dirty="0"/>
          </a:p>
        </p:txBody>
      </p:sp>
      <p:sp>
        <p:nvSpPr>
          <p:cNvPr id="44" name="Shape 42"/>
          <p:cNvSpPr/>
          <p:nvPr/>
        </p:nvSpPr>
        <p:spPr>
          <a:xfrm>
            <a:off x="11521440" y="4047744"/>
            <a:ext cx="548640" cy="755904"/>
          </a:xfrm>
          <a:prstGeom prst="rect">
            <a:avLst/>
          </a:prstGeom>
          <a:solidFill>
            <a:srgbClr val="5DCAA5"/>
          </a:solidFill>
          <a:ln w="19050">
            <a:solidFill>
              <a:srgbClr val="FFFFFF"/>
            </a:solidFill>
            <a:prstDash val="solid"/>
          </a:ln>
        </p:spPr>
      </p:sp>
      <p:sp>
        <p:nvSpPr>
          <p:cNvPr id="45" name="Text 43"/>
          <p:cNvSpPr/>
          <p:nvPr/>
        </p:nvSpPr>
        <p:spPr>
          <a:xfrm>
            <a:off x="11521440" y="4047744"/>
            <a:ext cx="548640" cy="755904"/>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a:t>
            </a:r>
            <a:endParaRPr lang="en-US" sz="1467" dirty="0"/>
          </a:p>
        </p:txBody>
      </p:sp>
      <p:sp>
        <p:nvSpPr>
          <p:cNvPr id="46" name="Text 44"/>
          <p:cNvSpPr/>
          <p:nvPr/>
        </p:nvSpPr>
        <p:spPr>
          <a:xfrm>
            <a:off x="426720" y="4876800"/>
            <a:ext cx="11216640" cy="365760"/>
          </a:xfrm>
          <a:prstGeom prst="rect">
            <a:avLst/>
          </a:prstGeom>
          <a:noFill/>
          <a:ln/>
        </p:spPr>
        <p:txBody>
          <a:bodyPr wrap="square" rtlCol="0" anchor="ctr"/>
          <a:lstStyle/>
          <a:p>
            <a:r>
              <a:rPr lang="en-US" sz="1400" i="1" dirty="0">
                <a:solidFill>
                  <a:srgbClr val="888780"/>
                </a:solidFill>
                <a:latin typeface="Calibri" pitchFamily="34" charset="0"/>
                <a:ea typeface="Calibri" pitchFamily="34" charset="-122"/>
                <a:cs typeface="Calibri" pitchFamily="34" charset="-120"/>
              </a:rPr>
              <a:t>↑ Continuous stream — every bit carries data. No framing overhead.</a:t>
            </a:r>
            <a:endParaRPr lang="en-US" sz="1400" dirty="0"/>
          </a:p>
        </p:txBody>
      </p:sp>
      <p:sp>
        <p:nvSpPr>
          <p:cNvPr id="47" name="Shape 45"/>
          <p:cNvSpPr/>
          <p:nvPr/>
        </p:nvSpPr>
        <p:spPr>
          <a:xfrm>
            <a:off x="426720" y="5364480"/>
            <a:ext cx="5364480" cy="975360"/>
          </a:xfrm>
          <a:prstGeom prst="rect">
            <a:avLst/>
          </a:prstGeom>
          <a:solidFill>
            <a:srgbClr val="FAECE7"/>
          </a:solidFill>
          <a:ln w="12700">
            <a:solidFill>
              <a:srgbClr val="F5C4B3"/>
            </a:solidFill>
            <a:prstDash val="solid"/>
          </a:ln>
        </p:spPr>
      </p:sp>
      <p:sp>
        <p:nvSpPr>
          <p:cNvPr id="48" name="Text 46"/>
          <p:cNvSpPr/>
          <p:nvPr/>
        </p:nvSpPr>
        <p:spPr>
          <a:xfrm>
            <a:off x="609600" y="5413248"/>
            <a:ext cx="4998720" cy="365760"/>
          </a:xfrm>
          <a:prstGeom prst="rect">
            <a:avLst/>
          </a:prstGeom>
          <a:noFill/>
          <a:ln/>
        </p:spPr>
        <p:txBody>
          <a:bodyPr wrap="square" rtlCol="0" anchor="ctr"/>
          <a:lstStyle/>
          <a:p>
            <a:r>
              <a:rPr lang="en-US" sz="1600" b="1" dirty="0">
                <a:solidFill>
                  <a:srgbClr val="993C1D"/>
                </a:solidFill>
                <a:latin typeface="Calibri" pitchFamily="34" charset="0"/>
                <a:ea typeface="Calibri" pitchFamily="34" charset="-122"/>
                <a:cs typeface="Calibri" pitchFamily="34" charset="-120"/>
              </a:rPr>
              <a:t>Async efficiency</a:t>
            </a:r>
            <a:endParaRPr lang="en-US" sz="1600" dirty="0"/>
          </a:p>
        </p:txBody>
      </p:sp>
      <p:sp>
        <p:nvSpPr>
          <p:cNvPr id="49" name="Text 47"/>
          <p:cNvSpPr/>
          <p:nvPr/>
        </p:nvSpPr>
        <p:spPr>
          <a:xfrm>
            <a:off x="609600" y="5754624"/>
            <a:ext cx="4998720" cy="512064"/>
          </a:xfrm>
          <a:prstGeom prst="rect">
            <a:avLst/>
          </a:prstGeom>
          <a:noFill/>
          <a:ln/>
        </p:spPr>
        <p:txBody>
          <a:bodyPr wrap="square" rtlCol="0" anchor="ctr"/>
          <a:lstStyle/>
          <a:p>
            <a:r>
              <a:rPr lang="en-US" sz="1467" dirty="0">
                <a:solidFill>
                  <a:srgbClr val="2C2C2A"/>
                </a:solidFill>
                <a:latin typeface="Calibri" pitchFamily="34" charset="0"/>
                <a:ea typeface="Calibri" pitchFamily="34" charset="-122"/>
                <a:cs typeface="Calibri" pitchFamily="34" charset="-120"/>
              </a:rPr>
              <a:t>~73–80% — start/stop bits waste 2–3 out of every 10–11 bits</a:t>
            </a:r>
            <a:endParaRPr lang="en-US" sz="1467" dirty="0"/>
          </a:p>
        </p:txBody>
      </p:sp>
      <p:sp>
        <p:nvSpPr>
          <p:cNvPr id="50" name="Shape 48"/>
          <p:cNvSpPr/>
          <p:nvPr/>
        </p:nvSpPr>
        <p:spPr>
          <a:xfrm>
            <a:off x="6339840" y="5364480"/>
            <a:ext cx="5364480" cy="975360"/>
          </a:xfrm>
          <a:prstGeom prst="rect">
            <a:avLst/>
          </a:prstGeom>
          <a:solidFill>
            <a:srgbClr val="E1F5EE"/>
          </a:solidFill>
          <a:ln w="12700">
            <a:solidFill>
              <a:srgbClr val="9FE1CB"/>
            </a:solidFill>
            <a:prstDash val="solid"/>
          </a:ln>
        </p:spPr>
      </p:sp>
      <p:sp>
        <p:nvSpPr>
          <p:cNvPr id="51" name="Text 49"/>
          <p:cNvSpPr/>
          <p:nvPr/>
        </p:nvSpPr>
        <p:spPr>
          <a:xfrm>
            <a:off x="6522720" y="5413248"/>
            <a:ext cx="4998720" cy="365760"/>
          </a:xfrm>
          <a:prstGeom prst="rect">
            <a:avLst/>
          </a:prstGeom>
          <a:noFill/>
          <a:ln/>
        </p:spPr>
        <p:txBody>
          <a:bodyPr wrap="square" rtlCol="0" anchor="ctr"/>
          <a:lstStyle/>
          <a:p>
            <a:r>
              <a:rPr lang="en-US" sz="1600" b="1" dirty="0">
                <a:solidFill>
                  <a:srgbClr val="0F6E56"/>
                </a:solidFill>
                <a:latin typeface="Calibri" pitchFamily="34" charset="0"/>
                <a:ea typeface="Calibri" pitchFamily="34" charset="-122"/>
                <a:cs typeface="Calibri" pitchFamily="34" charset="-120"/>
              </a:rPr>
              <a:t>Sync efficiency</a:t>
            </a:r>
            <a:endParaRPr lang="en-US" sz="1600" dirty="0"/>
          </a:p>
        </p:txBody>
      </p:sp>
      <p:sp>
        <p:nvSpPr>
          <p:cNvPr id="52" name="Text 50"/>
          <p:cNvSpPr/>
          <p:nvPr/>
        </p:nvSpPr>
        <p:spPr>
          <a:xfrm>
            <a:off x="6522720" y="5754624"/>
            <a:ext cx="4998720" cy="512064"/>
          </a:xfrm>
          <a:prstGeom prst="rect">
            <a:avLst/>
          </a:prstGeom>
          <a:noFill/>
          <a:ln/>
        </p:spPr>
        <p:txBody>
          <a:bodyPr wrap="square" rtlCol="0" anchor="ctr"/>
          <a:lstStyle/>
          <a:p>
            <a:r>
              <a:rPr lang="en-US" sz="1467" dirty="0">
                <a:solidFill>
                  <a:srgbClr val="2C2C2A"/>
                </a:solidFill>
                <a:latin typeface="Calibri" pitchFamily="34" charset="0"/>
                <a:ea typeface="Calibri" pitchFamily="34" charset="-122"/>
                <a:cs typeface="Calibri" pitchFamily="34" charset="-120"/>
              </a:rPr>
              <a:t>~100% — clock line handles framing; all bits carry payload data</a:t>
            </a:r>
            <a:endParaRPr lang="en-US" sz="146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2C2C2A"/>
          </a:solidFill>
          <a:ln w="12700">
            <a:solidFill>
              <a:srgbClr val="2C2C2A"/>
            </a:solidFill>
            <a:prstDash val="solid"/>
          </a:ln>
        </p:spPr>
      </p:sp>
      <p:sp>
        <p:nvSpPr>
          <p:cNvPr id="3" name="Text 1"/>
          <p:cNvSpPr/>
          <p:nvPr/>
        </p:nvSpPr>
        <p:spPr>
          <a:xfrm>
            <a:off x="365760" y="97536"/>
            <a:ext cx="11460480" cy="670560"/>
          </a:xfrm>
          <a:prstGeom prst="rect">
            <a:avLst/>
          </a:prstGeom>
          <a:noFill/>
          <a:ln/>
        </p:spPr>
        <p:txBody>
          <a:bodyPr wrap="square" rtlCol="0" anchor="ctr"/>
          <a:lstStyle/>
          <a:p>
            <a:r>
              <a:rPr lang="en-US" sz="2400" b="1" dirty="0">
                <a:solidFill>
                  <a:srgbClr val="FFFFFF"/>
                </a:solidFill>
                <a:latin typeface="Calibri" pitchFamily="34" charset="0"/>
                <a:ea typeface="Calibri" pitchFamily="34" charset="-122"/>
                <a:cs typeface="Calibri" pitchFamily="34" charset="-120"/>
              </a:rPr>
              <a:t>UART vs USART — At a Glance</a:t>
            </a:r>
            <a:endParaRPr lang="en-US" sz="2400" dirty="0"/>
          </a:p>
        </p:txBody>
      </p:sp>
      <p:sp>
        <p:nvSpPr>
          <p:cNvPr id="4" name="Shape 2"/>
          <p:cNvSpPr/>
          <p:nvPr/>
        </p:nvSpPr>
        <p:spPr>
          <a:xfrm>
            <a:off x="3169920" y="975360"/>
            <a:ext cx="4145280" cy="609600"/>
          </a:xfrm>
          <a:prstGeom prst="rect">
            <a:avLst/>
          </a:prstGeom>
          <a:solidFill>
            <a:srgbClr val="185FA5"/>
          </a:solidFill>
          <a:ln w="12700">
            <a:solidFill>
              <a:srgbClr val="185FA5"/>
            </a:solidFill>
            <a:prstDash val="solid"/>
          </a:ln>
        </p:spPr>
      </p:sp>
      <p:sp>
        <p:nvSpPr>
          <p:cNvPr id="5" name="Text 3"/>
          <p:cNvSpPr/>
          <p:nvPr/>
        </p:nvSpPr>
        <p:spPr>
          <a:xfrm>
            <a:off x="3169920" y="975360"/>
            <a:ext cx="4145280" cy="609600"/>
          </a:xfrm>
          <a:prstGeom prst="rect">
            <a:avLst/>
          </a:prstGeom>
          <a:noFill/>
          <a:ln/>
        </p:spPr>
        <p:txBody>
          <a:bodyPr wrap="square" rtlCol="0" anchor="ctr"/>
          <a:lstStyle/>
          <a:p>
            <a:pPr algn="ctr"/>
            <a:r>
              <a:rPr lang="en-US" sz="1867" b="1" dirty="0">
                <a:solidFill>
                  <a:srgbClr val="FFFFFF"/>
                </a:solidFill>
                <a:latin typeface="Calibri" pitchFamily="34" charset="0"/>
                <a:ea typeface="Calibri" pitchFamily="34" charset="-122"/>
                <a:cs typeface="Calibri" pitchFamily="34" charset="-120"/>
              </a:rPr>
              <a:t>UART</a:t>
            </a:r>
            <a:endParaRPr lang="en-US" sz="1867" dirty="0"/>
          </a:p>
        </p:txBody>
      </p:sp>
      <p:sp>
        <p:nvSpPr>
          <p:cNvPr id="6" name="Shape 4"/>
          <p:cNvSpPr/>
          <p:nvPr/>
        </p:nvSpPr>
        <p:spPr>
          <a:xfrm>
            <a:off x="7437120" y="975360"/>
            <a:ext cx="4267200" cy="609600"/>
          </a:xfrm>
          <a:prstGeom prst="rect">
            <a:avLst/>
          </a:prstGeom>
          <a:solidFill>
            <a:srgbClr val="0F6E56"/>
          </a:solidFill>
          <a:ln w="12700">
            <a:solidFill>
              <a:srgbClr val="0F6E56"/>
            </a:solidFill>
            <a:prstDash val="solid"/>
          </a:ln>
        </p:spPr>
      </p:sp>
      <p:sp>
        <p:nvSpPr>
          <p:cNvPr id="7" name="Text 5"/>
          <p:cNvSpPr/>
          <p:nvPr/>
        </p:nvSpPr>
        <p:spPr>
          <a:xfrm>
            <a:off x="7437120" y="975360"/>
            <a:ext cx="4267200" cy="609600"/>
          </a:xfrm>
          <a:prstGeom prst="rect">
            <a:avLst/>
          </a:prstGeom>
          <a:noFill/>
          <a:ln/>
        </p:spPr>
        <p:txBody>
          <a:bodyPr wrap="square" rtlCol="0" anchor="ctr"/>
          <a:lstStyle/>
          <a:p>
            <a:pPr algn="ctr"/>
            <a:r>
              <a:rPr lang="en-US" sz="1867" b="1" dirty="0">
                <a:solidFill>
                  <a:srgbClr val="FFFFFF"/>
                </a:solidFill>
                <a:latin typeface="Calibri" pitchFamily="34" charset="0"/>
                <a:ea typeface="Calibri" pitchFamily="34" charset="-122"/>
                <a:cs typeface="Calibri" pitchFamily="34" charset="-120"/>
              </a:rPr>
              <a:t>USART</a:t>
            </a:r>
            <a:endParaRPr lang="en-US" sz="1867" dirty="0"/>
          </a:p>
        </p:txBody>
      </p:sp>
      <p:sp>
        <p:nvSpPr>
          <p:cNvPr id="8" name="Shape 6"/>
          <p:cNvSpPr/>
          <p:nvPr/>
        </p:nvSpPr>
        <p:spPr>
          <a:xfrm>
            <a:off x="365760" y="1731264"/>
            <a:ext cx="2682240" cy="609600"/>
          </a:xfrm>
          <a:prstGeom prst="rect">
            <a:avLst/>
          </a:prstGeom>
          <a:solidFill>
            <a:srgbClr val="F8F8F7"/>
          </a:solidFill>
          <a:ln w="6350">
            <a:solidFill>
              <a:srgbClr val="D3D1C7"/>
            </a:solidFill>
            <a:prstDash val="solid"/>
          </a:ln>
        </p:spPr>
      </p:sp>
      <p:sp>
        <p:nvSpPr>
          <p:cNvPr id="9" name="Text 7"/>
          <p:cNvSpPr/>
          <p:nvPr/>
        </p:nvSpPr>
        <p:spPr>
          <a:xfrm>
            <a:off x="463296" y="1731264"/>
            <a:ext cx="2560320" cy="609600"/>
          </a:xfrm>
          <a:prstGeom prst="rect">
            <a:avLst/>
          </a:prstGeom>
          <a:noFill/>
          <a:ln/>
        </p:spPr>
        <p:txBody>
          <a:bodyPr wrap="square" rtlCol="0" anchor="ctr"/>
          <a:lstStyle/>
          <a:p>
            <a:r>
              <a:rPr lang="en-US" sz="1533" b="1" dirty="0">
                <a:solidFill>
                  <a:srgbClr val="2C2C2A"/>
                </a:solidFill>
                <a:latin typeface="Calibri" pitchFamily="34" charset="0"/>
                <a:ea typeface="Calibri" pitchFamily="34" charset="-122"/>
                <a:cs typeface="Calibri" pitchFamily="34" charset="-120"/>
              </a:rPr>
              <a:t>Mode</a:t>
            </a:r>
            <a:endParaRPr lang="en-US" sz="1533" dirty="0"/>
          </a:p>
        </p:txBody>
      </p:sp>
      <p:sp>
        <p:nvSpPr>
          <p:cNvPr id="10" name="Shape 8"/>
          <p:cNvSpPr/>
          <p:nvPr/>
        </p:nvSpPr>
        <p:spPr>
          <a:xfrm>
            <a:off x="3169920" y="1731264"/>
            <a:ext cx="4145280" cy="609600"/>
          </a:xfrm>
          <a:prstGeom prst="rect">
            <a:avLst/>
          </a:prstGeom>
          <a:solidFill>
            <a:srgbClr val="E6F1FB"/>
          </a:solidFill>
          <a:ln w="6350">
            <a:solidFill>
              <a:srgbClr val="B5D4F4"/>
            </a:solidFill>
            <a:prstDash val="solid"/>
          </a:ln>
        </p:spPr>
      </p:sp>
      <p:sp>
        <p:nvSpPr>
          <p:cNvPr id="11" name="Text 9"/>
          <p:cNvSpPr/>
          <p:nvPr/>
        </p:nvSpPr>
        <p:spPr>
          <a:xfrm>
            <a:off x="3291840" y="1731264"/>
            <a:ext cx="3901440" cy="609600"/>
          </a:xfrm>
          <a:prstGeom prst="rect">
            <a:avLst/>
          </a:prstGeom>
          <a:noFill/>
          <a:ln/>
        </p:spPr>
        <p:txBody>
          <a:bodyPr wrap="square" rtlCol="0" anchor="ctr"/>
          <a:lstStyle/>
          <a:p>
            <a:r>
              <a:rPr lang="en-US" sz="1467" dirty="0">
                <a:solidFill>
                  <a:srgbClr val="0C447C"/>
                </a:solidFill>
                <a:latin typeface="Calibri" pitchFamily="34" charset="0"/>
                <a:ea typeface="Calibri" pitchFamily="34" charset="-122"/>
                <a:cs typeface="Calibri" pitchFamily="34" charset="-120"/>
              </a:rPr>
              <a:t>Asynchronous only</a:t>
            </a:r>
            <a:endParaRPr lang="en-US" sz="1467" dirty="0"/>
          </a:p>
        </p:txBody>
      </p:sp>
      <p:sp>
        <p:nvSpPr>
          <p:cNvPr id="12" name="Shape 10"/>
          <p:cNvSpPr/>
          <p:nvPr/>
        </p:nvSpPr>
        <p:spPr>
          <a:xfrm>
            <a:off x="7437120" y="1731264"/>
            <a:ext cx="4267200" cy="609600"/>
          </a:xfrm>
          <a:prstGeom prst="rect">
            <a:avLst/>
          </a:prstGeom>
          <a:solidFill>
            <a:srgbClr val="E1F5EE"/>
          </a:solidFill>
          <a:ln w="6350">
            <a:solidFill>
              <a:srgbClr val="9FE1CB"/>
            </a:solidFill>
            <a:prstDash val="solid"/>
          </a:ln>
        </p:spPr>
      </p:sp>
      <p:sp>
        <p:nvSpPr>
          <p:cNvPr id="13" name="Text 11"/>
          <p:cNvSpPr/>
          <p:nvPr/>
        </p:nvSpPr>
        <p:spPr>
          <a:xfrm>
            <a:off x="7559040" y="1731264"/>
            <a:ext cx="4023360" cy="609600"/>
          </a:xfrm>
          <a:prstGeom prst="rect">
            <a:avLst/>
          </a:prstGeom>
          <a:noFill/>
          <a:ln/>
        </p:spPr>
        <p:txBody>
          <a:bodyPr wrap="square" rtlCol="0" anchor="ctr"/>
          <a:lstStyle/>
          <a:p>
            <a:r>
              <a:rPr lang="en-US" sz="1467" dirty="0">
                <a:solidFill>
                  <a:srgbClr val="0F6E56"/>
                </a:solidFill>
                <a:latin typeface="Calibri" pitchFamily="34" charset="0"/>
                <a:ea typeface="Calibri" pitchFamily="34" charset="-122"/>
                <a:cs typeface="Calibri" pitchFamily="34" charset="-120"/>
              </a:rPr>
              <a:t>Async + Synchronous</a:t>
            </a:r>
            <a:endParaRPr lang="en-US" sz="1467" dirty="0"/>
          </a:p>
        </p:txBody>
      </p:sp>
      <p:sp>
        <p:nvSpPr>
          <p:cNvPr id="14" name="Shape 12"/>
          <p:cNvSpPr/>
          <p:nvPr/>
        </p:nvSpPr>
        <p:spPr>
          <a:xfrm>
            <a:off x="365760" y="2414016"/>
            <a:ext cx="2682240" cy="609600"/>
          </a:xfrm>
          <a:prstGeom prst="rect">
            <a:avLst/>
          </a:prstGeom>
          <a:solidFill>
            <a:srgbClr val="FFFFFF"/>
          </a:solidFill>
          <a:ln w="6350">
            <a:solidFill>
              <a:srgbClr val="D3D1C7"/>
            </a:solidFill>
            <a:prstDash val="solid"/>
          </a:ln>
        </p:spPr>
      </p:sp>
      <p:sp>
        <p:nvSpPr>
          <p:cNvPr id="15" name="Text 13"/>
          <p:cNvSpPr/>
          <p:nvPr/>
        </p:nvSpPr>
        <p:spPr>
          <a:xfrm>
            <a:off x="463296" y="2414016"/>
            <a:ext cx="2560320" cy="609600"/>
          </a:xfrm>
          <a:prstGeom prst="rect">
            <a:avLst/>
          </a:prstGeom>
          <a:noFill/>
          <a:ln/>
        </p:spPr>
        <p:txBody>
          <a:bodyPr wrap="square" rtlCol="0" anchor="ctr"/>
          <a:lstStyle/>
          <a:p>
            <a:r>
              <a:rPr lang="en-US" sz="1533" b="1" dirty="0">
                <a:solidFill>
                  <a:srgbClr val="2C2C2A"/>
                </a:solidFill>
                <a:latin typeface="Calibri" pitchFamily="34" charset="0"/>
                <a:ea typeface="Calibri" pitchFamily="34" charset="-122"/>
                <a:cs typeface="Calibri" pitchFamily="34" charset="-120"/>
              </a:rPr>
              <a:t>Clock line</a:t>
            </a:r>
            <a:endParaRPr lang="en-US" sz="1533" dirty="0"/>
          </a:p>
        </p:txBody>
      </p:sp>
      <p:sp>
        <p:nvSpPr>
          <p:cNvPr id="16" name="Shape 14"/>
          <p:cNvSpPr/>
          <p:nvPr/>
        </p:nvSpPr>
        <p:spPr>
          <a:xfrm>
            <a:off x="3169920" y="2414016"/>
            <a:ext cx="4145280" cy="609600"/>
          </a:xfrm>
          <a:prstGeom prst="rect">
            <a:avLst/>
          </a:prstGeom>
          <a:solidFill>
            <a:srgbClr val="E6F1FB"/>
          </a:solidFill>
          <a:ln w="6350">
            <a:solidFill>
              <a:srgbClr val="B5D4F4"/>
            </a:solidFill>
            <a:prstDash val="solid"/>
          </a:ln>
        </p:spPr>
      </p:sp>
      <p:sp>
        <p:nvSpPr>
          <p:cNvPr id="17" name="Text 15"/>
          <p:cNvSpPr/>
          <p:nvPr/>
        </p:nvSpPr>
        <p:spPr>
          <a:xfrm>
            <a:off x="3291840" y="2414016"/>
            <a:ext cx="3901440" cy="609600"/>
          </a:xfrm>
          <a:prstGeom prst="rect">
            <a:avLst/>
          </a:prstGeom>
          <a:noFill/>
          <a:ln/>
        </p:spPr>
        <p:txBody>
          <a:bodyPr wrap="square" rtlCol="0" anchor="ctr"/>
          <a:lstStyle/>
          <a:p>
            <a:r>
              <a:rPr lang="en-US" sz="1467" dirty="0">
                <a:solidFill>
                  <a:srgbClr val="0C447C"/>
                </a:solidFill>
                <a:latin typeface="Calibri" pitchFamily="34" charset="0"/>
                <a:ea typeface="Calibri" pitchFamily="34" charset="-122"/>
                <a:cs typeface="Calibri" pitchFamily="34" charset="-120"/>
              </a:rPr>
              <a:t>None</a:t>
            </a:r>
            <a:endParaRPr lang="en-US" sz="1467" dirty="0"/>
          </a:p>
        </p:txBody>
      </p:sp>
      <p:sp>
        <p:nvSpPr>
          <p:cNvPr id="18" name="Shape 16"/>
          <p:cNvSpPr/>
          <p:nvPr/>
        </p:nvSpPr>
        <p:spPr>
          <a:xfrm>
            <a:off x="7437120" y="2414016"/>
            <a:ext cx="4267200" cy="609600"/>
          </a:xfrm>
          <a:prstGeom prst="rect">
            <a:avLst/>
          </a:prstGeom>
          <a:solidFill>
            <a:srgbClr val="E1F5EE"/>
          </a:solidFill>
          <a:ln w="6350">
            <a:solidFill>
              <a:srgbClr val="9FE1CB"/>
            </a:solidFill>
            <a:prstDash val="solid"/>
          </a:ln>
        </p:spPr>
      </p:sp>
      <p:sp>
        <p:nvSpPr>
          <p:cNvPr id="19" name="Text 17"/>
          <p:cNvSpPr/>
          <p:nvPr/>
        </p:nvSpPr>
        <p:spPr>
          <a:xfrm>
            <a:off x="7559040" y="2414016"/>
            <a:ext cx="4023360" cy="609600"/>
          </a:xfrm>
          <a:prstGeom prst="rect">
            <a:avLst/>
          </a:prstGeom>
          <a:noFill/>
          <a:ln/>
        </p:spPr>
        <p:txBody>
          <a:bodyPr wrap="square" rtlCol="0" anchor="ctr"/>
          <a:lstStyle/>
          <a:p>
            <a:r>
              <a:rPr lang="en-US" sz="1467" dirty="0">
                <a:solidFill>
                  <a:srgbClr val="0F6E56"/>
                </a:solidFill>
                <a:latin typeface="Calibri" pitchFamily="34" charset="0"/>
                <a:ea typeface="Calibri" pitchFamily="34" charset="-122"/>
                <a:cs typeface="Calibri" pitchFamily="34" charset="-120"/>
              </a:rPr>
              <a:t>Required in sync mode</a:t>
            </a:r>
            <a:endParaRPr lang="en-US" sz="1467" dirty="0"/>
          </a:p>
        </p:txBody>
      </p:sp>
      <p:sp>
        <p:nvSpPr>
          <p:cNvPr id="20" name="Shape 18"/>
          <p:cNvSpPr/>
          <p:nvPr/>
        </p:nvSpPr>
        <p:spPr>
          <a:xfrm>
            <a:off x="365760" y="3096768"/>
            <a:ext cx="2682240" cy="609600"/>
          </a:xfrm>
          <a:prstGeom prst="rect">
            <a:avLst/>
          </a:prstGeom>
          <a:solidFill>
            <a:srgbClr val="F8F8F7"/>
          </a:solidFill>
          <a:ln w="6350">
            <a:solidFill>
              <a:srgbClr val="D3D1C7"/>
            </a:solidFill>
            <a:prstDash val="solid"/>
          </a:ln>
        </p:spPr>
      </p:sp>
      <p:sp>
        <p:nvSpPr>
          <p:cNvPr id="21" name="Text 19"/>
          <p:cNvSpPr/>
          <p:nvPr/>
        </p:nvSpPr>
        <p:spPr>
          <a:xfrm>
            <a:off x="463296" y="3096768"/>
            <a:ext cx="2560320" cy="609600"/>
          </a:xfrm>
          <a:prstGeom prst="rect">
            <a:avLst/>
          </a:prstGeom>
          <a:noFill/>
          <a:ln/>
        </p:spPr>
        <p:txBody>
          <a:bodyPr wrap="square" rtlCol="0" anchor="ctr"/>
          <a:lstStyle/>
          <a:p>
            <a:r>
              <a:rPr lang="en-US" sz="1533" b="1" dirty="0">
                <a:solidFill>
                  <a:srgbClr val="2C2C2A"/>
                </a:solidFill>
                <a:latin typeface="Calibri" pitchFamily="34" charset="0"/>
                <a:ea typeface="Calibri" pitchFamily="34" charset="-122"/>
                <a:cs typeface="Calibri" pitchFamily="34" charset="-120"/>
              </a:rPr>
              <a:t>Start/stop bits</a:t>
            </a:r>
            <a:endParaRPr lang="en-US" sz="1533" dirty="0"/>
          </a:p>
        </p:txBody>
      </p:sp>
      <p:sp>
        <p:nvSpPr>
          <p:cNvPr id="22" name="Shape 20"/>
          <p:cNvSpPr/>
          <p:nvPr/>
        </p:nvSpPr>
        <p:spPr>
          <a:xfrm>
            <a:off x="3169920" y="3096768"/>
            <a:ext cx="4145280" cy="609600"/>
          </a:xfrm>
          <a:prstGeom prst="rect">
            <a:avLst/>
          </a:prstGeom>
          <a:solidFill>
            <a:srgbClr val="E6F1FB"/>
          </a:solidFill>
          <a:ln w="6350">
            <a:solidFill>
              <a:srgbClr val="B5D4F4"/>
            </a:solidFill>
            <a:prstDash val="solid"/>
          </a:ln>
        </p:spPr>
      </p:sp>
      <p:sp>
        <p:nvSpPr>
          <p:cNvPr id="23" name="Text 21"/>
          <p:cNvSpPr/>
          <p:nvPr/>
        </p:nvSpPr>
        <p:spPr>
          <a:xfrm>
            <a:off x="3291840" y="3096768"/>
            <a:ext cx="3901440" cy="609600"/>
          </a:xfrm>
          <a:prstGeom prst="rect">
            <a:avLst/>
          </a:prstGeom>
          <a:noFill/>
          <a:ln/>
        </p:spPr>
        <p:txBody>
          <a:bodyPr wrap="square" rtlCol="0" anchor="ctr"/>
          <a:lstStyle/>
          <a:p>
            <a:r>
              <a:rPr lang="en-US" sz="1467" dirty="0">
                <a:solidFill>
                  <a:srgbClr val="0C447C"/>
                </a:solidFill>
                <a:latin typeface="Calibri" pitchFamily="34" charset="0"/>
                <a:ea typeface="Calibri" pitchFamily="34" charset="-122"/>
                <a:cs typeface="Calibri" pitchFamily="34" charset="-120"/>
              </a:rPr>
              <a:t>Always required</a:t>
            </a:r>
            <a:endParaRPr lang="en-US" sz="1467" dirty="0"/>
          </a:p>
        </p:txBody>
      </p:sp>
      <p:sp>
        <p:nvSpPr>
          <p:cNvPr id="24" name="Shape 22"/>
          <p:cNvSpPr/>
          <p:nvPr/>
        </p:nvSpPr>
        <p:spPr>
          <a:xfrm>
            <a:off x="7437120" y="3096768"/>
            <a:ext cx="4267200" cy="609600"/>
          </a:xfrm>
          <a:prstGeom prst="rect">
            <a:avLst/>
          </a:prstGeom>
          <a:solidFill>
            <a:srgbClr val="E1F5EE"/>
          </a:solidFill>
          <a:ln w="6350">
            <a:solidFill>
              <a:srgbClr val="9FE1CB"/>
            </a:solidFill>
            <a:prstDash val="solid"/>
          </a:ln>
        </p:spPr>
      </p:sp>
      <p:sp>
        <p:nvSpPr>
          <p:cNvPr id="25" name="Text 23"/>
          <p:cNvSpPr/>
          <p:nvPr/>
        </p:nvSpPr>
        <p:spPr>
          <a:xfrm>
            <a:off x="7559040" y="3096768"/>
            <a:ext cx="4023360" cy="609600"/>
          </a:xfrm>
          <a:prstGeom prst="rect">
            <a:avLst/>
          </a:prstGeom>
          <a:noFill/>
          <a:ln/>
        </p:spPr>
        <p:txBody>
          <a:bodyPr wrap="square" rtlCol="0" anchor="ctr"/>
          <a:lstStyle/>
          <a:p>
            <a:r>
              <a:rPr lang="en-US" sz="1467" dirty="0">
                <a:solidFill>
                  <a:srgbClr val="0F6E56"/>
                </a:solidFill>
                <a:latin typeface="Calibri" pitchFamily="34" charset="0"/>
                <a:ea typeface="Calibri" pitchFamily="34" charset="-122"/>
                <a:cs typeface="Calibri" pitchFamily="34" charset="-120"/>
              </a:rPr>
              <a:t>Not needed in sync mode</a:t>
            </a:r>
            <a:endParaRPr lang="en-US" sz="1467" dirty="0"/>
          </a:p>
        </p:txBody>
      </p:sp>
      <p:sp>
        <p:nvSpPr>
          <p:cNvPr id="26" name="Shape 24"/>
          <p:cNvSpPr/>
          <p:nvPr/>
        </p:nvSpPr>
        <p:spPr>
          <a:xfrm>
            <a:off x="365760" y="3779520"/>
            <a:ext cx="2682240" cy="609600"/>
          </a:xfrm>
          <a:prstGeom prst="rect">
            <a:avLst/>
          </a:prstGeom>
          <a:solidFill>
            <a:srgbClr val="FFFFFF"/>
          </a:solidFill>
          <a:ln w="6350">
            <a:solidFill>
              <a:srgbClr val="D3D1C7"/>
            </a:solidFill>
            <a:prstDash val="solid"/>
          </a:ln>
        </p:spPr>
      </p:sp>
      <p:sp>
        <p:nvSpPr>
          <p:cNvPr id="27" name="Text 25"/>
          <p:cNvSpPr/>
          <p:nvPr/>
        </p:nvSpPr>
        <p:spPr>
          <a:xfrm>
            <a:off x="463296" y="3779520"/>
            <a:ext cx="2560320" cy="609600"/>
          </a:xfrm>
          <a:prstGeom prst="rect">
            <a:avLst/>
          </a:prstGeom>
          <a:noFill/>
          <a:ln/>
        </p:spPr>
        <p:txBody>
          <a:bodyPr wrap="square" rtlCol="0" anchor="ctr"/>
          <a:lstStyle/>
          <a:p>
            <a:r>
              <a:rPr lang="en-US" sz="1533" b="1" dirty="0">
                <a:solidFill>
                  <a:srgbClr val="2C2C2A"/>
                </a:solidFill>
                <a:latin typeface="Calibri" pitchFamily="34" charset="0"/>
                <a:ea typeface="Calibri" pitchFamily="34" charset="-122"/>
                <a:cs typeface="Calibri" pitchFamily="34" charset="-120"/>
              </a:rPr>
              <a:t>Data efficiency</a:t>
            </a:r>
            <a:endParaRPr lang="en-US" sz="1533" dirty="0"/>
          </a:p>
        </p:txBody>
      </p:sp>
      <p:sp>
        <p:nvSpPr>
          <p:cNvPr id="28" name="Shape 26"/>
          <p:cNvSpPr/>
          <p:nvPr/>
        </p:nvSpPr>
        <p:spPr>
          <a:xfrm>
            <a:off x="3169920" y="3779520"/>
            <a:ext cx="4145280" cy="609600"/>
          </a:xfrm>
          <a:prstGeom prst="rect">
            <a:avLst/>
          </a:prstGeom>
          <a:solidFill>
            <a:srgbClr val="E6F1FB"/>
          </a:solidFill>
          <a:ln w="6350">
            <a:solidFill>
              <a:srgbClr val="B5D4F4"/>
            </a:solidFill>
            <a:prstDash val="solid"/>
          </a:ln>
        </p:spPr>
      </p:sp>
      <p:sp>
        <p:nvSpPr>
          <p:cNvPr id="29" name="Text 27"/>
          <p:cNvSpPr/>
          <p:nvPr/>
        </p:nvSpPr>
        <p:spPr>
          <a:xfrm>
            <a:off x="3291840" y="3779520"/>
            <a:ext cx="3901440" cy="609600"/>
          </a:xfrm>
          <a:prstGeom prst="rect">
            <a:avLst/>
          </a:prstGeom>
          <a:noFill/>
          <a:ln/>
        </p:spPr>
        <p:txBody>
          <a:bodyPr wrap="square" rtlCol="0" anchor="ctr"/>
          <a:lstStyle/>
          <a:p>
            <a:r>
              <a:rPr lang="en-US" sz="1467" dirty="0">
                <a:solidFill>
                  <a:srgbClr val="0C447C"/>
                </a:solidFill>
                <a:latin typeface="Calibri" pitchFamily="34" charset="0"/>
                <a:ea typeface="Calibri" pitchFamily="34" charset="-122"/>
                <a:cs typeface="Calibri" pitchFamily="34" charset="-120"/>
              </a:rPr>
              <a:t>~73–80%</a:t>
            </a:r>
            <a:endParaRPr lang="en-US" sz="1467" dirty="0"/>
          </a:p>
        </p:txBody>
      </p:sp>
      <p:sp>
        <p:nvSpPr>
          <p:cNvPr id="30" name="Shape 28"/>
          <p:cNvSpPr/>
          <p:nvPr/>
        </p:nvSpPr>
        <p:spPr>
          <a:xfrm>
            <a:off x="7437120" y="3779520"/>
            <a:ext cx="4267200" cy="609600"/>
          </a:xfrm>
          <a:prstGeom prst="rect">
            <a:avLst/>
          </a:prstGeom>
          <a:solidFill>
            <a:srgbClr val="E1F5EE"/>
          </a:solidFill>
          <a:ln w="6350">
            <a:solidFill>
              <a:srgbClr val="9FE1CB"/>
            </a:solidFill>
            <a:prstDash val="solid"/>
          </a:ln>
        </p:spPr>
      </p:sp>
      <p:sp>
        <p:nvSpPr>
          <p:cNvPr id="31" name="Text 29"/>
          <p:cNvSpPr/>
          <p:nvPr/>
        </p:nvSpPr>
        <p:spPr>
          <a:xfrm>
            <a:off x="7559040" y="3779520"/>
            <a:ext cx="4023360" cy="609600"/>
          </a:xfrm>
          <a:prstGeom prst="rect">
            <a:avLst/>
          </a:prstGeom>
          <a:noFill/>
          <a:ln/>
        </p:spPr>
        <p:txBody>
          <a:bodyPr wrap="square" rtlCol="0" anchor="ctr"/>
          <a:lstStyle/>
          <a:p>
            <a:r>
              <a:rPr lang="en-US" sz="1467" dirty="0">
                <a:solidFill>
                  <a:srgbClr val="0F6E56"/>
                </a:solidFill>
                <a:latin typeface="Calibri" pitchFamily="34" charset="0"/>
                <a:ea typeface="Calibri" pitchFamily="34" charset="-122"/>
                <a:cs typeface="Calibri" pitchFamily="34" charset="-120"/>
              </a:rPr>
              <a:t>~80% (async) / ~100% (sync)</a:t>
            </a:r>
            <a:endParaRPr lang="en-US" sz="1467" dirty="0"/>
          </a:p>
        </p:txBody>
      </p:sp>
      <p:sp>
        <p:nvSpPr>
          <p:cNvPr id="32" name="Shape 30"/>
          <p:cNvSpPr/>
          <p:nvPr/>
        </p:nvSpPr>
        <p:spPr>
          <a:xfrm>
            <a:off x="365760" y="4462272"/>
            <a:ext cx="2682240" cy="609600"/>
          </a:xfrm>
          <a:prstGeom prst="rect">
            <a:avLst/>
          </a:prstGeom>
          <a:solidFill>
            <a:srgbClr val="F8F8F7"/>
          </a:solidFill>
          <a:ln w="6350">
            <a:solidFill>
              <a:srgbClr val="D3D1C7"/>
            </a:solidFill>
            <a:prstDash val="solid"/>
          </a:ln>
        </p:spPr>
      </p:sp>
      <p:sp>
        <p:nvSpPr>
          <p:cNvPr id="33" name="Text 31"/>
          <p:cNvSpPr/>
          <p:nvPr/>
        </p:nvSpPr>
        <p:spPr>
          <a:xfrm>
            <a:off x="463296" y="4462272"/>
            <a:ext cx="2560320" cy="609600"/>
          </a:xfrm>
          <a:prstGeom prst="rect">
            <a:avLst/>
          </a:prstGeom>
          <a:noFill/>
          <a:ln/>
        </p:spPr>
        <p:txBody>
          <a:bodyPr wrap="square" rtlCol="0" anchor="ctr"/>
          <a:lstStyle/>
          <a:p>
            <a:r>
              <a:rPr lang="en-US" sz="1533" b="1" dirty="0">
                <a:solidFill>
                  <a:srgbClr val="2C2C2A"/>
                </a:solidFill>
                <a:latin typeface="Calibri" pitchFamily="34" charset="0"/>
                <a:ea typeface="Calibri" pitchFamily="34" charset="-122"/>
                <a:cs typeface="Calibri" pitchFamily="34" charset="-120"/>
              </a:rPr>
              <a:t>Speed</a:t>
            </a:r>
            <a:endParaRPr lang="en-US" sz="1533" dirty="0"/>
          </a:p>
        </p:txBody>
      </p:sp>
      <p:sp>
        <p:nvSpPr>
          <p:cNvPr id="34" name="Shape 32"/>
          <p:cNvSpPr/>
          <p:nvPr/>
        </p:nvSpPr>
        <p:spPr>
          <a:xfrm>
            <a:off x="3169920" y="4462272"/>
            <a:ext cx="4145280" cy="609600"/>
          </a:xfrm>
          <a:prstGeom prst="rect">
            <a:avLst/>
          </a:prstGeom>
          <a:solidFill>
            <a:srgbClr val="E6F1FB"/>
          </a:solidFill>
          <a:ln w="6350">
            <a:solidFill>
              <a:srgbClr val="B5D4F4"/>
            </a:solidFill>
            <a:prstDash val="solid"/>
          </a:ln>
        </p:spPr>
      </p:sp>
      <p:sp>
        <p:nvSpPr>
          <p:cNvPr id="35" name="Text 33"/>
          <p:cNvSpPr/>
          <p:nvPr/>
        </p:nvSpPr>
        <p:spPr>
          <a:xfrm>
            <a:off x="3291840" y="4462272"/>
            <a:ext cx="3901440" cy="609600"/>
          </a:xfrm>
          <a:prstGeom prst="rect">
            <a:avLst/>
          </a:prstGeom>
          <a:noFill/>
          <a:ln/>
        </p:spPr>
        <p:txBody>
          <a:bodyPr wrap="square" rtlCol="0" anchor="ctr"/>
          <a:lstStyle/>
          <a:p>
            <a:r>
              <a:rPr lang="en-US" sz="1467" dirty="0">
                <a:solidFill>
                  <a:srgbClr val="0C447C"/>
                </a:solidFill>
                <a:latin typeface="Calibri" pitchFamily="34" charset="0"/>
                <a:ea typeface="Calibri" pitchFamily="34" charset="-122"/>
                <a:cs typeface="Calibri" pitchFamily="34" charset="-120"/>
              </a:rPr>
              <a:t>Lower (baud rate limited)</a:t>
            </a:r>
            <a:endParaRPr lang="en-US" sz="1467" dirty="0"/>
          </a:p>
        </p:txBody>
      </p:sp>
      <p:sp>
        <p:nvSpPr>
          <p:cNvPr id="36" name="Shape 34"/>
          <p:cNvSpPr/>
          <p:nvPr/>
        </p:nvSpPr>
        <p:spPr>
          <a:xfrm>
            <a:off x="7437120" y="4462272"/>
            <a:ext cx="4267200" cy="609600"/>
          </a:xfrm>
          <a:prstGeom prst="rect">
            <a:avLst/>
          </a:prstGeom>
          <a:solidFill>
            <a:srgbClr val="E1F5EE"/>
          </a:solidFill>
          <a:ln w="6350">
            <a:solidFill>
              <a:srgbClr val="9FE1CB"/>
            </a:solidFill>
            <a:prstDash val="solid"/>
          </a:ln>
        </p:spPr>
      </p:sp>
      <p:sp>
        <p:nvSpPr>
          <p:cNvPr id="37" name="Text 35"/>
          <p:cNvSpPr/>
          <p:nvPr/>
        </p:nvSpPr>
        <p:spPr>
          <a:xfrm>
            <a:off x="7559040" y="4462272"/>
            <a:ext cx="4023360" cy="609600"/>
          </a:xfrm>
          <a:prstGeom prst="rect">
            <a:avLst/>
          </a:prstGeom>
          <a:noFill/>
          <a:ln/>
        </p:spPr>
        <p:txBody>
          <a:bodyPr wrap="square" rtlCol="0" anchor="ctr"/>
          <a:lstStyle/>
          <a:p>
            <a:r>
              <a:rPr lang="en-US" sz="1467" dirty="0">
                <a:solidFill>
                  <a:srgbClr val="0F6E56"/>
                </a:solidFill>
                <a:latin typeface="Calibri" pitchFamily="34" charset="0"/>
                <a:ea typeface="Calibri" pitchFamily="34" charset="-122"/>
                <a:cs typeface="Calibri" pitchFamily="34" charset="-120"/>
              </a:rPr>
              <a:t>Higher in sync mode</a:t>
            </a:r>
            <a:endParaRPr lang="en-US" sz="1467" dirty="0"/>
          </a:p>
        </p:txBody>
      </p:sp>
      <p:sp>
        <p:nvSpPr>
          <p:cNvPr id="38" name="Shape 36"/>
          <p:cNvSpPr/>
          <p:nvPr/>
        </p:nvSpPr>
        <p:spPr>
          <a:xfrm>
            <a:off x="365760" y="5145024"/>
            <a:ext cx="2682240" cy="609600"/>
          </a:xfrm>
          <a:prstGeom prst="rect">
            <a:avLst/>
          </a:prstGeom>
          <a:solidFill>
            <a:srgbClr val="FFFFFF"/>
          </a:solidFill>
          <a:ln w="6350">
            <a:solidFill>
              <a:srgbClr val="D3D1C7"/>
            </a:solidFill>
            <a:prstDash val="solid"/>
          </a:ln>
        </p:spPr>
      </p:sp>
      <p:sp>
        <p:nvSpPr>
          <p:cNvPr id="39" name="Text 37"/>
          <p:cNvSpPr/>
          <p:nvPr/>
        </p:nvSpPr>
        <p:spPr>
          <a:xfrm>
            <a:off x="463296" y="5145024"/>
            <a:ext cx="2560320" cy="609600"/>
          </a:xfrm>
          <a:prstGeom prst="rect">
            <a:avLst/>
          </a:prstGeom>
          <a:noFill/>
          <a:ln/>
        </p:spPr>
        <p:txBody>
          <a:bodyPr wrap="square" rtlCol="0" anchor="ctr"/>
          <a:lstStyle/>
          <a:p>
            <a:r>
              <a:rPr lang="en-US" sz="1533" b="1" dirty="0">
                <a:solidFill>
                  <a:srgbClr val="2C2C2A"/>
                </a:solidFill>
                <a:latin typeface="Calibri" pitchFamily="34" charset="0"/>
                <a:ea typeface="Calibri" pitchFamily="34" charset="-122"/>
                <a:cs typeface="Calibri" pitchFamily="34" charset="-120"/>
              </a:rPr>
              <a:t>Complexity</a:t>
            </a:r>
            <a:endParaRPr lang="en-US" sz="1533" dirty="0"/>
          </a:p>
        </p:txBody>
      </p:sp>
      <p:sp>
        <p:nvSpPr>
          <p:cNvPr id="40" name="Shape 38"/>
          <p:cNvSpPr/>
          <p:nvPr/>
        </p:nvSpPr>
        <p:spPr>
          <a:xfrm>
            <a:off x="3169920" y="5145024"/>
            <a:ext cx="4145280" cy="609600"/>
          </a:xfrm>
          <a:prstGeom prst="rect">
            <a:avLst/>
          </a:prstGeom>
          <a:solidFill>
            <a:srgbClr val="E6F1FB"/>
          </a:solidFill>
          <a:ln w="6350">
            <a:solidFill>
              <a:srgbClr val="B5D4F4"/>
            </a:solidFill>
            <a:prstDash val="solid"/>
          </a:ln>
        </p:spPr>
      </p:sp>
      <p:sp>
        <p:nvSpPr>
          <p:cNvPr id="41" name="Text 39"/>
          <p:cNvSpPr/>
          <p:nvPr/>
        </p:nvSpPr>
        <p:spPr>
          <a:xfrm>
            <a:off x="3291840" y="5145024"/>
            <a:ext cx="3901440" cy="609600"/>
          </a:xfrm>
          <a:prstGeom prst="rect">
            <a:avLst/>
          </a:prstGeom>
          <a:noFill/>
          <a:ln/>
        </p:spPr>
        <p:txBody>
          <a:bodyPr wrap="square" rtlCol="0" anchor="ctr"/>
          <a:lstStyle/>
          <a:p>
            <a:r>
              <a:rPr lang="en-US" sz="1467" dirty="0">
                <a:solidFill>
                  <a:srgbClr val="0C447C"/>
                </a:solidFill>
                <a:latin typeface="Calibri" pitchFamily="34" charset="0"/>
                <a:ea typeface="Calibri" pitchFamily="34" charset="-122"/>
                <a:cs typeface="Calibri" pitchFamily="34" charset="-120"/>
              </a:rPr>
              <a:t>Simpler hardware &amp; setup</a:t>
            </a:r>
            <a:endParaRPr lang="en-US" sz="1467" dirty="0"/>
          </a:p>
        </p:txBody>
      </p:sp>
      <p:sp>
        <p:nvSpPr>
          <p:cNvPr id="42" name="Shape 40"/>
          <p:cNvSpPr/>
          <p:nvPr/>
        </p:nvSpPr>
        <p:spPr>
          <a:xfrm>
            <a:off x="7437120" y="5145024"/>
            <a:ext cx="4267200" cy="609600"/>
          </a:xfrm>
          <a:prstGeom prst="rect">
            <a:avLst/>
          </a:prstGeom>
          <a:solidFill>
            <a:srgbClr val="E1F5EE"/>
          </a:solidFill>
          <a:ln w="6350">
            <a:solidFill>
              <a:srgbClr val="9FE1CB"/>
            </a:solidFill>
            <a:prstDash val="solid"/>
          </a:ln>
        </p:spPr>
      </p:sp>
      <p:sp>
        <p:nvSpPr>
          <p:cNvPr id="43" name="Text 41"/>
          <p:cNvSpPr/>
          <p:nvPr/>
        </p:nvSpPr>
        <p:spPr>
          <a:xfrm>
            <a:off x="7559040" y="5145024"/>
            <a:ext cx="4023360" cy="609600"/>
          </a:xfrm>
          <a:prstGeom prst="rect">
            <a:avLst/>
          </a:prstGeom>
          <a:noFill/>
          <a:ln/>
        </p:spPr>
        <p:txBody>
          <a:bodyPr wrap="square" rtlCol="0" anchor="ctr"/>
          <a:lstStyle/>
          <a:p>
            <a:r>
              <a:rPr lang="en-US" sz="1467" dirty="0">
                <a:solidFill>
                  <a:srgbClr val="0F6E56"/>
                </a:solidFill>
                <a:latin typeface="Calibri" pitchFamily="34" charset="0"/>
                <a:ea typeface="Calibri" pitchFamily="34" charset="-122"/>
                <a:cs typeface="Calibri" pitchFamily="34" charset="-120"/>
              </a:rPr>
              <a:t>Slightly more complex</a:t>
            </a:r>
            <a:endParaRPr lang="en-US" sz="1467" dirty="0"/>
          </a:p>
        </p:txBody>
      </p:sp>
      <p:sp>
        <p:nvSpPr>
          <p:cNvPr id="44" name="Shape 42"/>
          <p:cNvSpPr/>
          <p:nvPr/>
        </p:nvSpPr>
        <p:spPr>
          <a:xfrm>
            <a:off x="365760" y="5827776"/>
            <a:ext cx="2682240" cy="609600"/>
          </a:xfrm>
          <a:prstGeom prst="rect">
            <a:avLst/>
          </a:prstGeom>
          <a:solidFill>
            <a:srgbClr val="F8F8F7"/>
          </a:solidFill>
          <a:ln w="6350">
            <a:solidFill>
              <a:srgbClr val="D3D1C7"/>
            </a:solidFill>
            <a:prstDash val="solid"/>
          </a:ln>
        </p:spPr>
      </p:sp>
      <p:sp>
        <p:nvSpPr>
          <p:cNvPr id="45" name="Text 43"/>
          <p:cNvSpPr/>
          <p:nvPr/>
        </p:nvSpPr>
        <p:spPr>
          <a:xfrm>
            <a:off x="463296" y="5827776"/>
            <a:ext cx="2560320" cy="609600"/>
          </a:xfrm>
          <a:prstGeom prst="rect">
            <a:avLst/>
          </a:prstGeom>
          <a:noFill/>
          <a:ln/>
        </p:spPr>
        <p:txBody>
          <a:bodyPr wrap="square" rtlCol="0" anchor="ctr"/>
          <a:lstStyle/>
          <a:p>
            <a:r>
              <a:rPr lang="en-US" sz="1533" b="1" dirty="0">
                <a:solidFill>
                  <a:srgbClr val="2C2C2A"/>
                </a:solidFill>
                <a:latin typeface="Calibri" pitchFamily="34" charset="0"/>
                <a:ea typeface="Calibri" pitchFamily="34" charset="-122"/>
                <a:cs typeface="Calibri" pitchFamily="34" charset="-120"/>
              </a:rPr>
              <a:t>Typical use</a:t>
            </a:r>
            <a:endParaRPr lang="en-US" sz="1533" dirty="0"/>
          </a:p>
        </p:txBody>
      </p:sp>
      <p:sp>
        <p:nvSpPr>
          <p:cNvPr id="46" name="Shape 44"/>
          <p:cNvSpPr/>
          <p:nvPr/>
        </p:nvSpPr>
        <p:spPr>
          <a:xfrm>
            <a:off x="3169920" y="5827776"/>
            <a:ext cx="4145280" cy="609600"/>
          </a:xfrm>
          <a:prstGeom prst="rect">
            <a:avLst/>
          </a:prstGeom>
          <a:solidFill>
            <a:srgbClr val="E6F1FB"/>
          </a:solidFill>
          <a:ln w="6350">
            <a:solidFill>
              <a:srgbClr val="B5D4F4"/>
            </a:solidFill>
            <a:prstDash val="solid"/>
          </a:ln>
        </p:spPr>
      </p:sp>
      <p:sp>
        <p:nvSpPr>
          <p:cNvPr id="47" name="Text 45"/>
          <p:cNvSpPr/>
          <p:nvPr/>
        </p:nvSpPr>
        <p:spPr>
          <a:xfrm>
            <a:off x="3291840" y="5827776"/>
            <a:ext cx="3901440" cy="609600"/>
          </a:xfrm>
          <a:prstGeom prst="rect">
            <a:avLst/>
          </a:prstGeom>
          <a:noFill/>
          <a:ln/>
        </p:spPr>
        <p:txBody>
          <a:bodyPr wrap="square" rtlCol="0" anchor="ctr"/>
          <a:lstStyle/>
          <a:p>
            <a:r>
              <a:rPr lang="en-US" sz="1467" dirty="0">
                <a:solidFill>
                  <a:srgbClr val="0C447C"/>
                </a:solidFill>
                <a:latin typeface="Calibri" pitchFamily="34" charset="0"/>
                <a:ea typeface="Calibri" pitchFamily="34" charset="-122"/>
                <a:cs typeface="Calibri" pitchFamily="34" charset="-120"/>
              </a:rPr>
              <a:t>Debugging, GPS, Bluetooth</a:t>
            </a:r>
            <a:endParaRPr lang="en-US" sz="1467" dirty="0"/>
          </a:p>
        </p:txBody>
      </p:sp>
      <p:sp>
        <p:nvSpPr>
          <p:cNvPr id="48" name="Shape 46"/>
          <p:cNvSpPr/>
          <p:nvPr/>
        </p:nvSpPr>
        <p:spPr>
          <a:xfrm>
            <a:off x="7437120" y="5827776"/>
            <a:ext cx="4267200" cy="609600"/>
          </a:xfrm>
          <a:prstGeom prst="rect">
            <a:avLst/>
          </a:prstGeom>
          <a:solidFill>
            <a:srgbClr val="E1F5EE"/>
          </a:solidFill>
          <a:ln w="6350">
            <a:solidFill>
              <a:srgbClr val="9FE1CB"/>
            </a:solidFill>
            <a:prstDash val="solid"/>
          </a:ln>
        </p:spPr>
      </p:sp>
      <p:sp>
        <p:nvSpPr>
          <p:cNvPr id="49" name="Text 47"/>
          <p:cNvSpPr/>
          <p:nvPr/>
        </p:nvSpPr>
        <p:spPr>
          <a:xfrm>
            <a:off x="7559040" y="5827776"/>
            <a:ext cx="4023360" cy="609600"/>
          </a:xfrm>
          <a:prstGeom prst="rect">
            <a:avLst/>
          </a:prstGeom>
          <a:noFill/>
          <a:ln/>
        </p:spPr>
        <p:txBody>
          <a:bodyPr wrap="square" rtlCol="0" anchor="ctr"/>
          <a:lstStyle/>
          <a:p>
            <a:r>
              <a:rPr lang="en-US" sz="1467" dirty="0">
                <a:solidFill>
                  <a:srgbClr val="0F6E56"/>
                </a:solidFill>
                <a:latin typeface="Calibri" pitchFamily="34" charset="0"/>
                <a:ea typeface="Calibri" pitchFamily="34" charset="-122"/>
                <a:cs typeface="Calibri" pitchFamily="34" charset="-120"/>
              </a:rPr>
              <a:t>SD cards, displays, sensors</a:t>
            </a:r>
            <a:endParaRPr lang="en-US" sz="1467" dirty="0"/>
          </a:p>
        </p:txBody>
      </p:sp>
      <p:sp>
        <p:nvSpPr>
          <p:cNvPr id="50" name="Text 48"/>
          <p:cNvSpPr/>
          <p:nvPr/>
        </p:nvSpPr>
        <p:spPr>
          <a:xfrm>
            <a:off x="365760" y="6217920"/>
            <a:ext cx="11460480" cy="487680"/>
          </a:xfrm>
          <a:prstGeom prst="rect">
            <a:avLst/>
          </a:prstGeom>
          <a:noFill/>
          <a:ln/>
        </p:spPr>
        <p:txBody>
          <a:bodyPr wrap="square" rtlCol="0" anchor="ctr"/>
          <a:lstStyle/>
          <a:p>
            <a:r>
              <a:rPr lang="en-US" sz="1467" i="1" dirty="0">
                <a:solidFill>
                  <a:srgbClr val="888780"/>
                </a:solidFill>
                <a:latin typeface="Calibri" pitchFamily="34" charset="0"/>
                <a:ea typeface="Calibri" pitchFamily="34" charset="-122"/>
                <a:cs typeface="Calibri" pitchFamily="34" charset="-120"/>
              </a:rPr>
              <a:t>Key insight: USART is backward-compatible with UART. A USART peripheral in async mode behaves identically to UART.</a:t>
            </a:r>
            <a:endParaRPr lang="en-US" sz="1467"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57B055F-7B86-50BD-CE68-8D13D879553D}"/>
              </a:ext>
            </a:extLst>
          </p:cNvPr>
          <p:cNvSpPr>
            <a:spLocks noGrp="1"/>
          </p:cNvSpPr>
          <p:nvPr>
            <p:ph type="title"/>
          </p:nvPr>
        </p:nvSpPr>
        <p:spPr>
          <a:xfrm>
            <a:off x="838200" y="2766218"/>
            <a:ext cx="10515600" cy="1325563"/>
          </a:xfrm>
        </p:spPr>
        <p:txBody>
          <a:bodyPr/>
          <a:lstStyle/>
          <a:p>
            <a:pPr algn="ctr"/>
            <a:r>
              <a:rPr lang="en-US" dirty="0"/>
              <a:t>Thank You</a:t>
            </a:r>
          </a:p>
        </p:txBody>
      </p:sp>
      <p:sp>
        <p:nvSpPr>
          <p:cNvPr id="4" name="Slide Number Placeholder 3">
            <a:extLst>
              <a:ext uri="{FF2B5EF4-FFF2-40B4-BE49-F238E27FC236}">
                <a16:creationId xmlns:a16="http://schemas.microsoft.com/office/drawing/2014/main" id="{7F7556EC-0420-55F1-5960-1B82819E0AC9}"/>
              </a:ext>
            </a:extLst>
          </p:cNvPr>
          <p:cNvSpPr>
            <a:spLocks noGrp="1"/>
          </p:cNvSpPr>
          <p:nvPr>
            <p:ph type="sldNum" sz="quarter" idx="12"/>
          </p:nvPr>
        </p:nvSpPr>
        <p:spPr/>
        <p:txBody>
          <a:bodyPr/>
          <a:lstStyle/>
          <a:p>
            <a:fld id="{B33B1FC4-1770-4941-B103-8E797B88350F}" type="slidenum">
              <a:rPr lang="en-US" smtClean="0"/>
              <a:t>17</a:t>
            </a:fld>
            <a:endParaRPr lang="en-US"/>
          </a:p>
        </p:txBody>
      </p:sp>
    </p:spTree>
    <p:extLst>
      <p:ext uri="{BB962C8B-B14F-4D97-AF65-F5344CB8AC3E}">
        <p14:creationId xmlns:p14="http://schemas.microsoft.com/office/powerpoint/2010/main" val="16277920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TotalTime>
  <Words>1059</Words>
  <Application>Microsoft Office PowerPoint</Application>
  <PresentationFormat>Widescreen</PresentationFormat>
  <Paragraphs>147</Paragraphs>
  <Slides>17</Slides>
  <Notes>6</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Carlito</vt:lpstr>
      <vt:lpstr>Courier New</vt:lpstr>
      <vt:lpstr>Office Theme</vt:lpstr>
      <vt:lpstr>PowerPoint Presentation</vt:lpstr>
      <vt:lpstr>Serial communication</vt:lpstr>
      <vt:lpstr>Parallel communication</vt:lpstr>
      <vt:lpstr>Serial communication</vt:lpstr>
      <vt:lpstr>Parallel communication</vt:lpstr>
      <vt:lpstr>Serial vs Parallel Communication </vt:lpstr>
      <vt:lpstr>Major Factors Limiting Parallel Communication </vt:lpstr>
      <vt:lpstr>Terminology</vt:lpstr>
      <vt:lpstr>Terminology</vt:lpstr>
      <vt:lpstr>Advantages of Serial over Parallel</vt:lpstr>
      <vt:lpstr>UART</vt:lpstr>
      <vt:lpstr>PowerPoint Presentation</vt:lpstr>
      <vt:lpstr>PowerPoint Presentation</vt:lpstr>
      <vt:lpstr>USART</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nasif</dc:creator>
  <cp:lastModifiedBy>Mr. Arnab Bhattacharjee</cp:lastModifiedBy>
  <cp:revision>133</cp:revision>
  <dcterms:created xsi:type="dcterms:W3CDTF">2016-04-14T14:48:26Z</dcterms:created>
  <dcterms:modified xsi:type="dcterms:W3CDTF">2026-05-20T03:09:52Z</dcterms:modified>
</cp:coreProperties>
</file>