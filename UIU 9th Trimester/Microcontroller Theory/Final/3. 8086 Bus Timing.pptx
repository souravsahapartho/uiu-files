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6858000" cx="12192000"/>
  <p:notesSz cx="6858000" cy="9144000"/>
  <p:embeddedFontLst>
    <p:embeddedFont>
      <p:font typeface="Carlito"/>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20" roundtripDataSignature="AMtx7mhRd6RjwMjo7RD3alCJmP5BwKZu6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Carlito-bold.fntdata"/><Relationship Id="rId16" Type="http://schemas.openxmlformats.org/officeDocument/2006/relationships/font" Target="fonts/Carlito-regular.fntdata"/><Relationship Id="rId5" Type="http://schemas.openxmlformats.org/officeDocument/2006/relationships/notesMaster" Target="notesMasters/notesMaster1.xml"/><Relationship Id="rId19" Type="http://schemas.openxmlformats.org/officeDocument/2006/relationships/font" Target="fonts/Carlito-boldItalic.fntdata"/><Relationship Id="rId6" Type="http://schemas.openxmlformats.org/officeDocument/2006/relationships/slide" Target="slides/slide1.xml"/><Relationship Id="rId18" Type="http://schemas.openxmlformats.org/officeDocument/2006/relationships/font" Target="fonts/Carlito-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rPr b="1" lang="en-GB" sz="1700">
                <a:latin typeface="Arial"/>
                <a:ea typeface="Arial"/>
                <a:cs typeface="Arial"/>
                <a:sym typeface="Arial"/>
              </a:rPr>
              <a:t>1. T1 (Address Phase)</a:t>
            </a:r>
            <a:endParaRPr b="1" sz="17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GB" sz="1100">
                <a:latin typeface="Arial"/>
                <a:ea typeface="Arial"/>
                <a:cs typeface="Arial"/>
                <a:sym typeface="Arial"/>
              </a:rPr>
              <a:t>The processor </a:t>
            </a:r>
            <a:r>
              <a:rPr b="1" lang="en-GB" sz="1100">
                <a:latin typeface="Arial"/>
                <a:ea typeface="Arial"/>
                <a:cs typeface="Arial"/>
                <a:sym typeface="Arial"/>
              </a:rPr>
              <a:t>places the address</a:t>
            </a:r>
            <a:r>
              <a:rPr lang="en-GB" sz="1100">
                <a:latin typeface="Arial"/>
                <a:ea typeface="Arial"/>
                <a:cs typeface="Arial"/>
                <a:sym typeface="Arial"/>
              </a:rPr>
              <a:t> of the memory or I/O location on the address bus.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GB" sz="1100">
                <a:latin typeface="Arial"/>
                <a:ea typeface="Arial"/>
                <a:cs typeface="Arial"/>
                <a:sym typeface="Arial"/>
              </a:rPr>
              <a:t>The lower 16 bits of the address are multiplexed with the data bus (</a:t>
            </a:r>
            <a:r>
              <a:rPr b="1" lang="en-GB" sz="1100">
                <a:latin typeface="Arial"/>
                <a:ea typeface="Arial"/>
                <a:cs typeface="Arial"/>
                <a:sym typeface="Arial"/>
              </a:rPr>
              <a:t>AD0–AD15</a:t>
            </a:r>
            <a:r>
              <a:rPr lang="en-GB" sz="1100">
                <a:latin typeface="Arial"/>
                <a:ea typeface="Arial"/>
                <a:cs typeface="Arial"/>
                <a:sym typeface="Arial"/>
              </a:rPr>
              <a:t>).</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GB" sz="1100">
                <a:latin typeface="Arial"/>
                <a:ea typeface="Arial"/>
                <a:cs typeface="Arial"/>
                <a:sym typeface="Arial"/>
              </a:rPr>
              <a:t>The </a:t>
            </a:r>
            <a:r>
              <a:rPr b="1" lang="en-GB" sz="1100">
                <a:latin typeface="Arial"/>
                <a:ea typeface="Arial"/>
                <a:cs typeface="Arial"/>
                <a:sym typeface="Arial"/>
              </a:rPr>
              <a:t>Address Latch Enable (ALE)</a:t>
            </a:r>
            <a:r>
              <a:rPr lang="en-GB" sz="1100">
                <a:latin typeface="Arial"/>
                <a:ea typeface="Arial"/>
                <a:cs typeface="Arial"/>
                <a:sym typeface="Arial"/>
              </a:rPr>
              <a:t> signal goes </a:t>
            </a:r>
            <a:r>
              <a:rPr b="1" lang="en-GB" sz="1100">
                <a:latin typeface="Arial"/>
                <a:ea typeface="Arial"/>
                <a:cs typeface="Arial"/>
                <a:sym typeface="Arial"/>
              </a:rPr>
              <a:t>high</a:t>
            </a:r>
            <a:r>
              <a:rPr lang="en-GB" sz="1100">
                <a:latin typeface="Arial"/>
                <a:ea typeface="Arial"/>
                <a:cs typeface="Arial"/>
                <a:sym typeface="Arial"/>
              </a:rPr>
              <a:t>, indicating that the address is valid and should be latched externally.</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GB" sz="1100">
                <a:latin typeface="Arial"/>
                <a:ea typeface="Arial"/>
                <a:cs typeface="Arial"/>
                <a:sym typeface="Arial"/>
              </a:rPr>
              <a:t>Status signals (like M/IO, S0, S1) are also generated.</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GB" sz="1100">
                <a:latin typeface="Arial"/>
                <a:ea typeface="Arial"/>
                <a:cs typeface="Arial"/>
                <a:sym typeface="Arial"/>
              </a:rPr>
              <a:t>Key idea:</a:t>
            </a:r>
            <a:br>
              <a:rPr lang="en-GB" sz="1100">
                <a:latin typeface="Arial"/>
                <a:ea typeface="Arial"/>
                <a:cs typeface="Arial"/>
                <a:sym typeface="Arial"/>
              </a:rPr>
            </a:br>
            <a:r>
              <a:rPr lang="en-GB" sz="1100">
                <a:latin typeface="Arial"/>
                <a:ea typeface="Arial"/>
                <a:cs typeface="Arial"/>
                <a:sym typeface="Arial"/>
              </a:rPr>
              <a:t> </a:t>
            </a:r>
            <a:r>
              <a:rPr b="1" lang="en-GB" sz="1100">
                <a:latin typeface="Arial"/>
                <a:ea typeface="Arial"/>
                <a:cs typeface="Arial"/>
                <a:sym typeface="Arial"/>
              </a:rPr>
              <a:t>T1 = Address is sent to the outside world</a:t>
            </a:r>
            <a:endParaRPr b="1"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b="1" sz="1100">
              <a:latin typeface="Arial"/>
              <a:ea typeface="Arial"/>
              <a:cs typeface="Arial"/>
              <a:sym typeface="Arial"/>
            </a:endParaRPr>
          </a:p>
          <a:p>
            <a:pPr indent="0" lvl="0" marL="0" rtl="0" algn="l">
              <a:lnSpc>
                <a:spcPct val="115000"/>
              </a:lnSpc>
              <a:spcBef>
                <a:spcPts val="1800"/>
              </a:spcBef>
              <a:spcAft>
                <a:spcPts val="0"/>
              </a:spcAft>
              <a:buClr>
                <a:schemeClr val="dk1"/>
              </a:buClr>
              <a:buSzPts val="1100"/>
              <a:buFont typeface="Arial"/>
              <a:buNone/>
            </a:pPr>
            <a:r>
              <a:rPr b="1" lang="en-GB" sz="1700">
                <a:latin typeface="Arial"/>
                <a:ea typeface="Arial"/>
                <a:cs typeface="Arial"/>
                <a:sym typeface="Arial"/>
              </a:rPr>
              <a:t>2. T2 (Bus Turnaround Phase)</a:t>
            </a:r>
            <a:endParaRPr b="1" sz="17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GB" sz="1100">
                <a:latin typeface="Arial"/>
                <a:ea typeface="Arial"/>
                <a:cs typeface="Arial"/>
                <a:sym typeface="Arial"/>
              </a:rPr>
              <a:t>The address is removed from the multiplexed lines, and the bus is prepared for data transfer.</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GB" sz="1100">
                <a:latin typeface="Arial"/>
                <a:ea typeface="Arial"/>
                <a:cs typeface="Arial"/>
                <a:sym typeface="Arial"/>
              </a:rPr>
              <a:t>The processor activates control signals:</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b="1" lang="en-GB" sz="1100">
                <a:latin typeface="Arial"/>
                <a:ea typeface="Arial"/>
                <a:cs typeface="Arial"/>
                <a:sym typeface="Arial"/>
              </a:rPr>
              <a:t>RD̅ (Read)</a:t>
            </a:r>
            <a:r>
              <a:rPr lang="en-GB" sz="1100">
                <a:latin typeface="Arial"/>
                <a:ea typeface="Arial"/>
                <a:cs typeface="Arial"/>
                <a:sym typeface="Arial"/>
              </a:rPr>
              <a:t> for read operation</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b="1" lang="en-GB" sz="1100">
                <a:latin typeface="Arial"/>
                <a:ea typeface="Arial"/>
                <a:cs typeface="Arial"/>
                <a:sym typeface="Arial"/>
              </a:rPr>
              <a:t>WR̅ (Write)</a:t>
            </a:r>
            <a:r>
              <a:rPr lang="en-GB" sz="1100">
                <a:latin typeface="Arial"/>
                <a:ea typeface="Arial"/>
                <a:cs typeface="Arial"/>
                <a:sym typeface="Arial"/>
              </a:rPr>
              <a:t> for write operation</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GB" sz="1100">
                <a:latin typeface="Arial"/>
                <a:ea typeface="Arial"/>
                <a:cs typeface="Arial"/>
                <a:sym typeface="Arial"/>
              </a:rPr>
              <a:t>The data bus direction is set:</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GB" sz="1100">
                <a:latin typeface="Arial"/>
                <a:ea typeface="Arial"/>
                <a:cs typeface="Arial"/>
                <a:sym typeface="Arial"/>
              </a:rPr>
              <a:t>Input for read</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GB" sz="1100">
                <a:latin typeface="Arial"/>
                <a:ea typeface="Arial"/>
                <a:cs typeface="Arial"/>
                <a:sym typeface="Arial"/>
              </a:rPr>
              <a:t>Output for write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GB" sz="1100">
                <a:latin typeface="Arial"/>
                <a:ea typeface="Arial"/>
                <a:cs typeface="Arial"/>
                <a:sym typeface="Arial"/>
              </a:rPr>
              <a:t> Key idea:</a:t>
            </a:r>
            <a:br>
              <a:rPr lang="en-GB" sz="1100">
                <a:latin typeface="Arial"/>
                <a:ea typeface="Arial"/>
                <a:cs typeface="Arial"/>
                <a:sym typeface="Arial"/>
              </a:rPr>
            </a:br>
            <a:r>
              <a:rPr lang="en-GB" sz="1100">
                <a:latin typeface="Arial"/>
                <a:ea typeface="Arial"/>
                <a:cs typeface="Arial"/>
                <a:sym typeface="Arial"/>
              </a:rPr>
              <a:t> </a:t>
            </a:r>
            <a:r>
              <a:rPr b="1" lang="en-GB" sz="1100">
                <a:latin typeface="Arial"/>
                <a:ea typeface="Arial"/>
                <a:cs typeface="Arial"/>
                <a:sym typeface="Arial"/>
              </a:rPr>
              <a:t>T2 = Decide operation (read/write) and prepare the data bus</a:t>
            </a:r>
            <a:endParaRPr b="1"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b="1" sz="1100">
              <a:latin typeface="Arial"/>
              <a:ea typeface="Arial"/>
              <a:cs typeface="Arial"/>
              <a:sym typeface="Arial"/>
            </a:endParaRPr>
          </a:p>
          <a:p>
            <a:pPr indent="0" lvl="0" marL="0" rtl="0" algn="l">
              <a:lnSpc>
                <a:spcPct val="115000"/>
              </a:lnSpc>
              <a:spcBef>
                <a:spcPts val="1800"/>
              </a:spcBef>
              <a:spcAft>
                <a:spcPts val="0"/>
              </a:spcAft>
              <a:buClr>
                <a:schemeClr val="dk1"/>
              </a:buClr>
              <a:buSzPts val="1100"/>
              <a:buFont typeface="Arial"/>
              <a:buNone/>
            </a:pPr>
            <a:r>
              <a:rPr b="1" lang="en-GB" sz="1700">
                <a:latin typeface="Arial"/>
                <a:ea typeface="Arial"/>
                <a:cs typeface="Arial"/>
                <a:sym typeface="Arial"/>
              </a:rPr>
              <a:t>3. T3 (Data Transfer Phase)</a:t>
            </a:r>
            <a:endParaRPr b="1" sz="17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GB" sz="1100">
                <a:latin typeface="Arial"/>
                <a:ea typeface="Arial"/>
                <a:cs typeface="Arial"/>
                <a:sym typeface="Arial"/>
              </a:rPr>
              <a:t>Actual </a:t>
            </a:r>
            <a:r>
              <a:rPr b="1" lang="en-GB" sz="1100">
                <a:latin typeface="Arial"/>
                <a:ea typeface="Arial"/>
                <a:cs typeface="Arial"/>
                <a:sym typeface="Arial"/>
              </a:rPr>
              <a:t>data transfer occurs</a:t>
            </a:r>
            <a:r>
              <a:rPr lang="en-GB" sz="1100">
                <a:latin typeface="Arial"/>
                <a:ea typeface="Arial"/>
                <a:cs typeface="Arial"/>
                <a:sym typeface="Arial"/>
              </a:rPr>
              <a:t>:</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GB" sz="1100">
                <a:latin typeface="Arial"/>
                <a:ea typeface="Arial"/>
                <a:cs typeface="Arial"/>
                <a:sym typeface="Arial"/>
              </a:rPr>
              <a:t>In a </a:t>
            </a:r>
            <a:r>
              <a:rPr b="1" lang="en-GB" sz="1100">
                <a:latin typeface="Arial"/>
                <a:ea typeface="Arial"/>
                <a:cs typeface="Arial"/>
                <a:sym typeface="Arial"/>
              </a:rPr>
              <a:t>read operation</a:t>
            </a:r>
            <a:r>
              <a:rPr lang="en-GB" sz="1100">
                <a:latin typeface="Arial"/>
                <a:ea typeface="Arial"/>
                <a:cs typeface="Arial"/>
                <a:sym typeface="Arial"/>
              </a:rPr>
              <a:t>, memory places data on the bus.</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GB" sz="1100">
                <a:latin typeface="Arial"/>
                <a:ea typeface="Arial"/>
                <a:cs typeface="Arial"/>
                <a:sym typeface="Arial"/>
              </a:rPr>
              <a:t>In a </a:t>
            </a:r>
            <a:r>
              <a:rPr b="1" lang="en-GB" sz="1100">
                <a:latin typeface="Arial"/>
                <a:ea typeface="Arial"/>
                <a:cs typeface="Arial"/>
                <a:sym typeface="Arial"/>
              </a:rPr>
              <a:t>write operation</a:t>
            </a:r>
            <a:r>
              <a:rPr lang="en-GB" sz="1100">
                <a:latin typeface="Arial"/>
                <a:ea typeface="Arial"/>
                <a:cs typeface="Arial"/>
                <a:sym typeface="Arial"/>
              </a:rPr>
              <a:t>, the processor places data on the bus.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GB" sz="1100">
                <a:latin typeface="Arial"/>
                <a:ea typeface="Arial"/>
                <a:cs typeface="Arial"/>
                <a:sym typeface="Arial"/>
              </a:rPr>
              <a:t>The processor samples or sends data during this cycle.</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GB" sz="1100">
                <a:latin typeface="Arial"/>
                <a:ea typeface="Arial"/>
                <a:cs typeface="Arial"/>
                <a:sym typeface="Arial"/>
              </a:rPr>
              <a:t>If the memory or I/O is </a:t>
            </a:r>
            <a:r>
              <a:rPr b="1" lang="en-GB" sz="1100">
                <a:latin typeface="Arial"/>
                <a:ea typeface="Arial"/>
                <a:cs typeface="Arial"/>
                <a:sym typeface="Arial"/>
              </a:rPr>
              <a:t>slow</a:t>
            </a:r>
            <a:r>
              <a:rPr lang="en-GB" sz="1100">
                <a:latin typeface="Arial"/>
                <a:ea typeface="Arial"/>
                <a:cs typeface="Arial"/>
                <a:sym typeface="Arial"/>
              </a:rPr>
              <a:t>, </a:t>
            </a:r>
            <a:r>
              <a:rPr b="1" lang="en-GB" sz="1100">
                <a:latin typeface="Arial"/>
                <a:ea typeface="Arial"/>
                <a:cs typeface="Arial"/>
                <a:sym typeface="Arial"/>
              </a:rPr>
              <a:t>wait states (Tw)</a:t>
            </a:r>
            <a:r>
              <a:rPr lang="en-GB" sz="1100">
                <a:latin typeface="Arial"/>
                <a:ea typeface="Arial"/>
                <a:cs typeface="Arial"/>
                <a:sym typeface="Arial"/>
              </a:rPr>
              <a:t> may be inserted between T3 and T4.</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GB" sz="1100">
                <a:latin typeface="Arial"/>
                <a:ea typeface="Arial"/>
                <a:cs typeface="Arial"/>
                <a:sym typeface="Arial"/>
              </a:rPr>
              <a:t>Key idea:</a:t>
            </a:r>
            <a:br>
              <a:rPr lang="en-GB" sz="1100">
                <a:latin typeface="Arial"/>
                <a:ea typeface="Arial"/>
                <a:cs typeface="Arial"/>
                <a:sym typeface="Arial"/>
              </a:rPr>
            </a:br>
            <a:r>
              <a:rPr lang="en-GB" sz="1100">
                <a:latin typeface="Arial"/>
                <a:ea typeface="Arial"/>
                <a:cs typeface="Arial"/>
                <a:sym typeface="Arial"/>
              </a:rPr>
              <a:t> </a:t>
            </a:r>
            <a:r>
              <a:rPr b="1" lang="en-GB" sz="1100">
                <a:latin typeface="Arial"/>
                <a:ea typeface="Arial"/>
                <a:cs typeface="Arial"/>
                <a:sym typeface="Arial"/>
              </a:rPr>
              <a:t>T3 = Data is actively transferred</a:t>
            </a:r>
            <a:endParaRPr b="1"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b="1" sz="1100">
              <a:latin typeface="Arial"/>
              <a:ea typeface="Arial"/>
              <a:cs typeface="Arial"/>
              <a:sym typeface="Arial"/>
            </a:endParaRPr>
          </a:p>
          <a:p>
            <a:pPr indent="0" lvl="0" marL="0" rtl="0" algn="l">
              <a:lnSpc>
                <a:spcPct val="115000"/>
              </a:lnSpc>
              <a:spcBef>
                <a:spcPts val="1800"/>
              </a:spcBef>
              <a:spcAft>
                <a:spcPts val="0"/>
              </a:spcAft>
              <a:buClr>
                <a:schemeClr val="dk1"/>
              </a:buClr>
              <a:buSzPts val="1100"/>
              <a:buFont typeface="Arial"/>
              <a:buNone/>
            </a:pPr>
            <a:r>
              <a:rPr b="1" lang="en-GB" sz="1700">
                <a:latin typeface="Arial"/>
                <a:ea typeface="Arial"/>
                <a:cs typeface="Arial"/>
                <a:sym typeface="Arial"/>
              </a:rPr>
              <a:t>4. T4 (Completion Phase)</a:t>
            </a:r>
            <a:endParaRPr b="1" sz="17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GB" sz="1100">
                <a:latin typeface="Arial"/>
                <a:ea typeface="Arial"/>
                <a:cs typeface="Arial"/>
                <a:sym typeface="Arial"/>
              </a:rPr>
              <a:t>The data transfer is completed.</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GB" sz="1100">
                <a:latin typeface="Arial"/>
                <a:ea typeface="Arial"/>
                <a:cs typeface="Arial"/>
                <a:sym typeface="Arial"/>
              </a:rPr>
              <a:t>Control signals (RD̅ / WR̅) are deactivated.</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GB" sz="1100">
                <a:latin typeface="Arial"/>
                <a:ea typeface="Arial"/>
                <a:cs typeface="Arial"/>
                <a:sym typeface="Arial"/>
              </a:rPr>
              <a:t>The bus is released and returns to idle state.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GB" sz="1100">
                <a:latin typeface="Arial"/>
                <a:ea typeface="Arial"/>
                <a:cs typeface="Arial"/>
                <a:sym typeface="Arial"/>
              </a:rPr>
              <a:t> Key idea:</a:t>
            </a:r>
            <a:br>
              <a:rPr lang="en-GB" sz="1100">
                <a:latin typeface="Arial"/>
                <a:ea typeface="Arial"/>
                <a:cs typeface="Arial"/>
                <a:sym typeface="Arial"/>
              </a:rPr>
            </a:br>
            <a:r>
              <a:rPr lang="en-GB" sz="1100">
                <a:latin typeface="Arial"/>
                <a:ea typeface="Arial"/>
                <a:cs typeface="Arial"/>
                <a:sym typeface="Arial"/>
              </a:rPr>
              <a:t> </a:t>
            </a:r>
            <a:r>
              <a:rPr b="1" lang="en-GB" sz="1100">
                <a:latin typeface="Arial"/>
                <a:ea typeface="Arial"/>
                <a:cs typeface="Arial"/>
                <a:sym typeface="Arial"/>
              </a:rPr>
              <a:t>T4 = Finalize and clean up the operation</a:t>
            </a:r>
            <a:endParaRPr b="1" sz="1100">
              <a:latin typeface="Arial"/>
              <a:ea typeface="Arial"/>
              <a:cs typeface="Arial"/>
              <a:sym typeface="Arial"/>
            </a:endParaRPr>
          </a:p>
          <a:p>
            <a:pPr indent="0" lvl="0" marL="0" rtl="0" algn="l">
              <a:spcBef>
                <a:spcPts val="1200"/>
              </a:spcBef>
              <a:spcAft>
                <a:spcPts val="0"/>
              </a:spcAft>
              <a:buNone/>
            </a:pPr>
            <a:r>
              <a:t/>
            </a:r>
            <a:endParaRPr/>
          </a:p>
        </p:txBody>
      </p:sp>
      <p:sp>
        <p:nvSpPr>
          <p:cNvPr id="100" name="Google Shape;10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 name="Google Shape;12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1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1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1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1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1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1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1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0"/>
          <p:cNvSpPr/>
          <p:nvPr>
            <p:ph idx="2" type="pic"/>
          </p:nvPr>
        </p:nvSpPr>
        <p:spPr>
          <a:xfrm>
            <a:off x="5183188" y="987425"/>
            <a:ext cx="6172200" cy="4873625"/>
          </a:xfrm>
          <a:prstGeom prst="rect">
            <a:avLst/>
          </a:prstGeom>
          <a:noFill/>
          <a:ln>
            <a:noFill/>
          </a:ln>
        </p:spPr>
      </p:sp>
      <p:sp>
        <p:nvSpPr>
          <p:cNvPr id="68" name="Google Shape;68;p2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2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mailto:arnab@cse.uiu.ac.bd"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searchcio-midmarket.techtarget.com/definition/clock-speed" TargetMode="External"/><Relationship Id="rId4" Type="http://schemas.openxmlformats.org/officeDocument/2006/relationships/hyperlink" Target="https://en.wikipedia.org/wiki/CPU_cache" TargetMode="External"/><Relationship Id="rId5" Type="http://schemas.openxmlformats.org/officeDocument/2006/relationships/hyperlink" Target="https://en.wikipedia.org/wiki/Instruction_pipeline" TargetMode="External"/><Relationship Id="rId6" Type="http://schemas.openxmlformats.org/officeDocument/2006/relationships/hyperlink" Target="https://en.wikipedia.org/wiki/Instruction_prefetch" TargetMode="External"/><Relationship Id="rId7" Type="http://schemas.openxmlformats.org/officeDocument/2006/relationships/hyperlink" Target="https://en.wikipedia.org/wiki/Simultaneous_multithreading"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type="ctrTitle"/>
          </p:nvPr>
        </p:nvSpPr>
        <p:spPr>
          <a:xfrm>
            <a:off x="914400" y="2125980"/>
            <a:ext cx="10363200" cy="677108"/>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93548"/>
              <a:buFont typeface="Calibri"/>
              <a:buNone/>
            </a:pPr>
            <a:r>
              <a:rPr lang="en-GB"/>
              <a:t>8086 Bus Timing &amp; Wait state</a:t>
            </a:r>
            <a:br>
              <a:rPr lang="en-GB"/>
            </a:br>
            <a:r>
              <a:rPr lang="en-GB" sz="3100"/>
              <a:t>The Intel Microprocessors 8th Edition by Barry B Brey</a:t>
            </a:r>
            <a:br>
              <a:rPr lang="en-GB" sz="3100"/>
            </a:br>
            <a:r>
              <a:rPr lang="en-GB" sz="3100"/>
              <a:t>Section 9-4 Bus Timing page 315</a:t>
            </a:r>
            <a:endParaRPr sz="3100" u="none"/>
          </a:p>
        </p:txBody>
      </p:sp>
      <p:sp>
        <p:nvSpPr>
          <p:cNvPr id="89" name="Google Shape;89;p1"/>
          <p:cNvSpPr txBox="1"/>
          <p:nvPr/>
        </p:nvSpPr>
        <p:spPr>
          <a:xfrm>
            <a:off x="1680014" y="4358640"/>
            <a:ext cx="4724400" cy="1415772"/>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Clr>
                <a:srgbClr val="585858"/>
              </a:buClr>
              <a:buSzPts val="1600"/>
              <a:buFont typeface="Arial"/>
              <a:buNone/>
            </a:pPr>
            <a:r>
              <a:rPr b="0" i="0" lang="en-GB" sz="1600" u="none" cap="none" strike="noStrike">
                <a:solidFill>
                  <a:srgbClr val="585858"/>
                </a:solidFill>
                <a:latin typeface="Arial"/>
                <a:ea typeface="Arial"/>
                <a:cs typeface="Arial"/>
                <a:sym typeface="Arial"/>
              </a:rPr>
              <a:t>Arnab Bhattacharjee</a:t>
            </a:r>
            <a:endParaRPr b="0" i="0" sz="1600" u="none" cap="none" strike="noStrike">
              <a:solidFill>
                <a:srgbClr val="000000"/>
              </a:solidFill>
              <a:latin typeface="Arial"/>
              <a:ea typeface="Arial"/>
              <a:cs typeface="Arial"/>
              <a:sym typeface="Arial"/>
            </a:endParaRPr>
          </a:p>
          <a:p>
            <a:pPr indent="0" lvl="0" marL="12700" marR="5080" rtl="0" algn="l">
              <a:lnSpc>
                <a:spcPct val="100000"/>
              </a:lnSpc>
              <a:spcBef>
                <a:spcPts val="0"/>
              </a:spcBef>
              <a:spcAft>
                <a:spcPts val="0"/>
              </a:spcAft>
              <a:buClr>
                <a:srgbClr val="585858"/>
              </a:buClr>
              <a:buSzPts val="1600"/>
              <a:buFont typeface="Arial"/>
              <a:buNone/>
            </a:pPr>
            <a:r>
              <a:rPr b="0" i="0" lang="en-GB" sz="1600" u="none" cap="none" strike="noStrike">
                <a:solidFill>
                  <a:srgbClr val="585858"/>
                </a:solidFill>
                <a:latin typeface="Arial"/>
                <a:ea typeface="Arial"/>
                <a:cs typeface="Arial"/>
                <a:sym typeface="Arial"/>
              </a:rPr>
              <a:t>Lecturer, Department of CSE,  </a:t>
            </a:r>
            <a:endParaRPr/>
          </a:p>
          <a:p>
            <a:pPr indent="0" lvl="0" marL="12700" marR="5080" rtl="0" algn="l">
              <a:lnSpc>
                <a:spcPct val="100000"/>
              </a:lnSpc>
              <a:spcBef>
                <a:spcPts val="0"/>
              </a:spcBef>
              <a:spcAft>
                <a:spcPts val="0"/>
              </a:spcAft>
              <a:buClr>
                <a:srgbClr val="585858"/>
              </a:buClr>
              <a:buSzPts val="1600"/>
              <a:buFont typeface="Arial"/>
              <a:buNone/>
            </a:pPr>
            <a:r>
              <a:rPr b="0" i="0" lang="en-GB" sz="1600" u="none" cap="none" strike="noStrike">
                <a:solidFill>
                  <a:srgbClr val="585858"/>
                </a:solidFill>
                <a:latin typeface="Arial"/>
                <a:ea typeface="Arial"/>
                <a:cs typeface="Arial"/>
                <a:sym typeface="Arial"/>
              </a:rPr>
              <a:t>United International University</a:t>
            </a:r>
            <a:endParaRPr/>
          </a:p>
          <a:p>
            <a:pPr indent="0" lvl="0" marL="12700" marR="5080" rtl="0" algn="l">
              <a:lnSpc>
                <a:spcPct val="100000"/>
              </a:lnSpc>
              <a:spcBef>
                <a:spcPts val="0"/>
              </a:spcBef>
              <a:spcAft>
                <a:spcPts val="0"/>
              </a:spcAft>
              <a:buClr>
                <a:srgbClr val="585858"/>
              </a:buClr>
              <a:buSzPts val="1600"/>
              <a:buFont typeface="Arial"/>
              <a:buNone/>
            </a:pPr>
            <a:r>
              <a:rPr b="0" i="0" lang="en-GB" sz="1600" u="none" cap="none" strike="noStrike">
                <a:solidFill>
                  <a:srgbClr val="585858"/>
                </a:solidFill>
                <a:latin typeface="Arial"/>
                <a:ea typeface="Arial"/>
                <a:cs typeface="Arial"/>
                <a:sym typeface="Arial"/>
              </a:rPr>
              <a:t>Email id : </a:t>
            </a:r>
            <a:r>
              <a:rPr b="0" i="0" lang="en-GB" sz="1600" u="sng" cap="none" strike="noStrike">
                <a:solidFill>
                  <a:srgbClr val="585858"/>
                </a:solidFill>
                <a:latin typeface="Arial"/>
                <a:ea typeface="Arial"/>
                <a:cs typeface="Arial"/>
                <a:sym typeface="Arial"/>
                <a:hlinkClick r:id="rId3">
                  <a:extLst>
                    <a:ext uri="{A12FA001-AC4F-418D-AE19-62706E023703}">
                      <ahyp:hlinkClr val="tx"/>
                    </a:ext>
                  </a:extLst>
                </a:hlinkClick>
              </a:rPr>
              <a:t>arnab@cse.uiu.ac.bd</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800"/>
              <a:buFont typeface="Carlito"/>
              <a:buNone/>
            </a:pPr>
            <a:r>
              <a:t/>
            </a:r>
            <a:endParaRPr b="0" i="0" sz="2800" u="sng" cap="none" strike="noStrike">
              <a:solidFill>
                <a:srgbClr val="000000"/>
              </a:solidFill>
              <a:latin typeface="Carlito"/>
              <a:ea typeface="Carlito"/>
              <a:cs typeface="Carlito"/>
              <a:sym typeface="Carlito"/>
            </a:endParaRPr>
          </a:p>
        </p:txBody>
      </p:sp>
      <p:sp>
        <p:nvSpPr>
          <p:cNvPr id="90" name="Google Shape;90;p1"/>
          <p:cNvSpPr txBox="1"/>
          <p:nvPr/>
        </p:nvSpPr>
        <p:spPr>
          <a:xfrm>
            <a:off x="6233160" y="5750028"/>
            <a:ext cx="3562546" cy="579005"/>
          </a:xfrm>
          <a:prstGeom prst="rect">
            <a:avLst/>
          </a:prstGeom>
          <a:noFill/>
          <a:ln>
            <a:noFill/>
          </a:ln>
        </p:spPr>
        <p:txBody>
          <a:bodyPr anchorCtr="0" anchor="t" bIns="0" lIns="0" spcFirstLastPara="1" rIns="0" wrap="square" tIns="12050">
            <a:spAutoFit/>
          </a:bodyPr>
          <a:lstStyle/>
          <a:p>
            <a:pPr indent="0" lvl="0" marL="12700" marR="0" rtl="0" algn="l">
              <a:spcBef>
                <a:spcPts val="0"/>
              </a:spcBef>
              <a:spcAft>
                <a:spcPts val="0"/>
              </a:spcAft>
              <a:buNone/>
            </a:pPr>
            <a:r>
              <a:rPr b="0" i="0" lang="en-GB" sz="1800" u="none" cap="none" strike="noStrike">
                <a:solidFill>
                  <a:srgbClr val="585858"/>
                </a:solidFill>
                <a:latin typeface="Arial"/>
                <a:ea typeface="Arial"/>
                <a:cs typeface="Arial"/>
                <a:sym typeface="Arial"/>
              </a:rPr>
              <a:t>Courtesy: Nasif M. Sir, </a:t>
            </a:r>
            <a:endParaRPr/>
          </a:p>
          <a:p>
            <a:pPr indent="0" lvl="0" marL="12700" marR="0" rtl="0" algn="l">
              <a:spcBef>
                <a:spcPts val="95"/>
              </a:spcBef>
              <a:spcAft>
                <a:spcPts val="0"/>
              </a:spcAft>
              <a:buNone/>
            </a:pPr>
            <a:r>
              <a:rPr b="0" i="0" lang="en-GB" sz="1800" u="none" cap="none" strike="noStrike">
                <a:solidFill>
                  <a:srgbClr val="585858"/>
                </a:solidFill>
                <a:latin typeface="Arial"/>
                <a:ea typeface="Arial"/>
                <a:cs typeface="Arial"/>
                <a:sym typeface="Arial"/>
              </a:rPr>
              <a:t>Md. Shafqat Talukder Rakin</a:t>
            </a:r>
            <a:r>
              <a:rPr b="0" i="0" lang="en-GB" sz="1800" u="none" cap="none" strike="noStrike">
                <a:solidFill>
                  <a:srgbClr val="000000"/>
                </a:solidFill>
                <a:latin typeface="Arial"/>
                <a:ea typeface="Arial"/>
                <a:cs typeface="Arial"/>
                <a:sym typeface="Arial"/>
              </a:rPr>
              <a:t> </a:t>
            </a:r>
            <a:r>
              <a:rPr b="0" i="0" lang="en-GB" sz="1800" u="none" cap="none" strike="noStrike">
                <a:solidFill>
                  <a:srgbClr val="585858"/>
                </a:solidFill>
                <a:latin typeface="Arial"/>
                <a:ea typeface="Arial"/>
                <a:cs typeface="Arial"/>
                <a:sym typeface="Arial"/>
              </a:rPr>
              <a:t>Sir </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
          <p:cNvSpPr txBox="1"/>
          <p:nvPr>
            <p:ph type="title"/>
          </p:nvPr>
        </p:nvSpPr>
        <p:spPr>
          <a:xfrm>
            <a:off x="838200" y="182245"/>
            <a:ext cx="10515600" cy="658457"/>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GB"/>
              <a:t>General Bus Operation</a:t>
            </a:r>
            <a:endParaRPr/>
          </a:p>
        </p:txBody>
      </p:sp>
      <p:sp>
        <p:nvSpPr>
          <p:cNvPr id="96" name="Google Shape;96;p2"/>
          <p:cNvSpPr txBox="1"/>
          <p:nvPr>
            <p:ph idx="1" type="body"/>
          </p:nvPr>
        </p:nvSpPr>
        <p:spPr>
          <a:xfrm>
            <a:off x="533400" y="986235"/>
            <a:ext cx="11353800" cy="537011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3200"/>
              <a:buChar char="•"/>
            </a:pPr>
            <a:r>
              <a:rPr lang="en-GB" sz="3200"/>
              <a:t> The 8086 has a combined address and data bus commonly referred as a time multiplexed address and data bus. The main reason behind multiplexing address and data over the same pins is the maximum utilization of processor pins and it facilitates the use of 40 pin standard DIP (Dual in-line package).</a:t>
            </a:r>
            <a:endParaRPr/>
          </a:p>
          <a:p>
            <a:pPr indent="-25400" lvl="0" marL="228600" rtl="0" algn="l">
              <a:lnSpc>
                <a:spcPct val="90000"/>
              </a:lnSpc>
              <a:spcBef>
                <a:spcPts val="1000"/>
              </a:spcBef>
              <a:spcAft>
                <a:spcPts val="0"/>
              </a:spcAft>
              <a:buClr>
                <a:schemeClr val="dk1"/>
              </a:buClr>
              <a:buSzPts val="3200"/>
              <a:buNone/>
            </a:pPr>
            <a:r>
              <a:t/>
            </a:r>
            <a:endParaRPr sz="3200"/>
          </a:p>
          <a:p>
            <a:pPr indent="-228600" lvl="0" marL="228600" rtl="0" algn="l">
              <a:lnSpc>
                <a:spcPct val="90000"/>
              </a:lnSpc>
              <a:spcBef>
                <a:spcPts val="1000"/>
              </a:spcBef>
              <a:spcAft>
                <a:spcPts val="0"/>
              </a:spcAft>
              <a:buClr>
                <a:schemeClr val="dk1"/>
              </a:buClr>
              <a:buSzPts val="3200"/>
              <a:buChar char="•"/>
            </a:pPr>
            <a:r>
              <a:rPr lang="en-GB" sz="3200"/>
              <a:t>Basically, all the processor bus cycles consist of at least four clock cycles. These are referred to as T1, T2, T3, T4. The address is transmitted by the processor during T1. It is present on the bus only for one clock cycle.</a:t>
            </a:r>
            <a:endParaRPr/>
          </a:p>
        </p:txBody>
      </p:sp>
      <p:sp>
        <p:nvSpPr>
          <p:cNvPr id="97" name="Google Shape;97;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3"/>
          <p:cNvSpPr txBox="1"/>
          <p:nvPr>
            <p:ph type="title"/>
          </p:nvPr>
        </p:nvSpPr>
        <p:spPr>
          <a:xfrm>
            <a:off x="685800" y="395605"/>
            <a:ext cx="11155680" cy="77787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b="1" lang="en-GB">
                <a:solidFill>
                  <a:schemeClr val="accent2"/>
                </a:solidFill>
              </a:rPr>
              <a:t>Machine Cycles</a:t>
            </a:r>
            <a:endParaRPr b="1">
              <a:solidFill>
                <a:schemeClr val="accent2"/>
              </a:solidFill>
            </a:endParaRPr>
          </a:p>
        </p:txBody>
      </p:sp>
      <p:sp>
        <p:nvSpPr>
          <p:cNvPr id="103" name="Google Shape;103;p3"/>
          <p:cNvSpPr txBox="1"/>
          <p:nvPr>
            <p:ph idx="1" type="body"/>
          </p:nvPr>
        </p:nvSpPr>
        <p:spPr>
          <a:xfrm>
            <a:off x="685800" y="1173480"/>
            <a:ext cx="11155680" cy="518287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3200"/>
              <a:buChar char="•"/>
            </a:pPr>
            <a:r>
              <a:rPr lang="en-GB" sz="3200"/>
              <a:t>A machine (bus) cycle consists of at least four clock cycles, called T states.</a:t>
            </a:r>
            <a:endParaRPr/>
          </a:p>
          <a:p>
            <a:pPr indent="-228600" lvl="0" marL="228600" rtl="0" algn="l">
              <a:lnSpc>
                <a:spcPct val="90000"/>
              </a:lnSpc>
              <a:spcBef>
                <a:spcPts val="1000"/>
              </a:spcBef>
              <a:spcAft>
                <a:spcPts val="0"/>
              </a:spcAft>
              <a:buClr>
                <a:schemeClr val="dk1"/>
              </a:buClr>
              <a:buSzPts val="3200"/>
              <a:buChar char="•"/>
            </a:pPr>
            <a:r>
              <a:rPr lang="en-GB" sz="3200"/>
              <a:t>A specific, defined action occurs during each T state (labeled T1 – T4)</a:t>
            </a:r>
            <a:endParaRPr/>
          </a:p>
          <a:p>
            <a:pPr indent="-228600" lvl="1" marL="685800" rtl="0" algn="l">
              <a:lnSpc>
                <a:spcPct val="90000"/>
              </a:lnSpc>
              <a:spcBef>
                <a:spcPts val="500"/>
              </a:spcBef>
              <a:spcAft>
                <a:spcPts val="0"/>
              </a:spcAft>
              <a:buClr>
                <a:srgbClr val="FF0000"/>
              </a:buClr>
              <a:buSzPts val="3200"/>
              <a:buChar char="•"/>
            </a:pPr>
            <a:r>
              <a:rPr b="1" lang="en-GB" sz="3200">
                <a:solidFill>
                  <a:srgbClr val="FF0000"/>
                </a:solidFill>
              </a:rPr>
              <a:t>T1</a:t>
            </a:r>
            <a:r>
              <a:rPr lang="en-GB" sz="3200"/>
              <a:t>: Address is output</a:t>
            </a:r>
            <a:endParaRPr/>
          </a:p>
          <a:p>
            <a:pPr indent="-228600" lvl="1" marL="685800" rtl="0" algn="l">
              <a:lnSpc>
                <a:spcPct val="90000"/>
              </a:lnSpc>
              <a:spcBef>
                <a:spcPts val="500"/>
              </a:spcBef>
              <a:spcAft>
                <a:spcPts val="0"/>
              </a:spcAft>
              <a:buClr>
                <a:srgbClr val="FF0000"/>
              </a:buClr>
              <a:buSzPts val="3200"/>
              <a:buChar char="•"/>
            </a:pPr>
            <a:r>
              <a:rPr b="1" lang="en-GB" sz="3200">
                <a:solidFill>
                  <a:srgbClr val="FF0000"/>
                </a:solidFill>
              </a:rPr>
              <a:t>T2</a:t>
            </a:r>
            <a:r>
              <a:rPr lang="en-GB" sz="3200"/>
              <a:t>: Bus cycle type (Mem/IO, read/write)</a:t>
            </a:r>
            <a:endParaRPr/>
          </a:p>
          <a:p>
            <a:pPr indent="-228600" lvl="1" marL="685800" rtl="0" algn="l">
              <a:lnSpc>
                <a:spcPct val="90000"/>
              </a:lnSpc>
              <a:spcBef>
                <a:spcPts val="500"/>
              </a:spcBef>
              <a:spcAft>
                <a:spcPts val="0"/>
              </a:spcAft>
              <a:buClr>
                <a:srgbClr val="FF0000"/>
              </a:buClr>
              <a:buSzPts val="3200"/>
              <a:buChar char="•"/>
            </a:pPr>
            <a:r>
              <a:rPr b="1" lang="en-GB" sz="3200">
                <a:solidFill>
                  <a:srgbClr val="FF0000"/>
                </a:solidFill>
              </a:rPr>
              <a:t>T3</a:t>
            </a:r>
            <a:r>
              <a:rPr lang="en-GB" sz="3200"/>
              <a:t>: Data is supplied / Data is received</a:t>
            </a:r>
            <a:endParaRPr/>
          </a:p>
          <a:p>
            <a:pPr indent="-228600" lvl="1" marL="685800" rtl="0" algn="l">
              <a:lnSpc>
                <a:spcPct val="90000"/>
              </a:lnSpc>
              <a:spcBef>
                <a:spcPts val="500"/>
              </a:spcBef>
              <a:spcAft>
                <a:spcPts val="0"/>
              </a:spcAft>
              <a:buClr>
                <a:srgbClr val="FF0000"/>
              </a:buClr>
              <a:buSzPts val="3200"/>
              <a:buChar char="•"/>
            </a:pPr>
            <a:r>
              <a:rPr b="1" lang="en-GB" sz="3200">
                <a:solidFill>
                  <a:srgbClr val="FF0000"/>
                </a:solidFill>
              </a:rPr>
              <a:t>T4</a:t>
            </a:r>
            <a:r>
              <a:rPr lang="en-GB" sz="3200"/>
              <a:t>: Data latched by CPU, control signals removed</a:t>
            </a:r>
            <a:endParaRPr/>
          </a:p>
        </p:txBody>
      </p:sp>
      <p:sp>
        <p:nvSpPr>
          <p:cNvPr id="104" name="Google Shape;104;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4"/>
          <p:cNvSpPr txBox="1"/>
          <p:nvPr>
            <p:ph type="title"/>
          </p:nvPr>
        </p:nvSpPr>
        <p:spPr>
          <a:xfrm>
            <a:off x="333232" y="472813"/>
            <a:ext cx="10515600" cy="68575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br>
              <a:rPr b="1" lang="en-GB"/>
            </a:br>
            <a:r>
              <a:rPr b="1" lang="en-GB"/>
              <a:t>BUS Timing (Write/Read)</a:t>
            </a:r>
            <a:br>
              <a:rPr b="1" lang="en-GB"/>
            </a:br>
            <a:br>
              <a:rPr lang="en-GB"/>
            </a:br>
            <a:endParaRPr/>
          </a:p>
        </p:txBody>
      </p:sp>
      <p:sp>
        <p:nvSpPr>
          <p:cNvPr id="110" name="Google Shape;110;p4"/>
          <p:cNvSpPr txBox="1"/>
          <p:nvPr>
            <p:ph idx="1" type="body"/>
          </p:nvPr>
        </p:nvSpPr>
        <p:spPr>
          <a:xfrm>
            <a:off x="333232" y="815690"/>
            <a:ext cx="11758683" cy="5707939"/>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FF0000"/>
              </a:buClr>
              <a:buSzPts val="3200"/>
              <a:buChar char="•"/>
            </a:pPr>
            <a:r>
              <a:rPr i="1" lang="en-GB" sz="3200">
                <a:solidFill>
                  <a:srgbClr val="FF0000"/>
                </a:solidFill>
              </a:rPr>
              <a:t>During T</a:t>
            </a:r>
            <a:r>
              <a:rPr lang="en-GB" sz="3200">
                <a:solidFill>
                  <a:srgbClr val="FF0000"/>
                </a:solidFill>
              </a:rPr>
              <a:t> </a:t>
            </a:r>
            <a:r>
              <a:rPr baseline="-25000" lang="en-GB" sz="3200">
                <a:solidFill>
                  <a:srgbClr val="FF0000"/>
                </a:solidFill>
              </a:rPr>
              <a:t>1</a:t>
            </a:r>
            <a:r>
              <a:rPr lang="en-GB" sz="3200">
                <a:solidFill>
                  <a:srgbClr val="FF0000"/>
                </a:solidFill>
              </a:rPr>
              <a:t> </a:t>
            </a:r>
            <a:r>
              <a:rPr i="1" lang="en-GB" sz="3200">
                <a:solidFill>
                  <a:srgbClr val="FF0000"/>
                </a:solidFill>
              </a:rPr>
              <a:t>:</a:t>
            </a:r>
            <a:endParaRPr sz="3200">
              <a:solidFill>
                <a:srgbClr val="FF0000"/>
              </a:solidFill>
            </a:endParaRPr>
          </a:p>
          <a:p>
            <a:pPr indent="-228600" lvl="0" marL="228600" rtl="0" algn="l">
              <a:lnSpc>
                <a:spcPct val="90000"/>
              </a:lnSpc>
              <a:spcBef>
                <a:spcPts val="1000"/>
              </a:spcBef>
              <a:spcAft>
                <a:spcPts val="0"/>
              </a:spcAft>
              <a:buClr>
                <a:schemeClr val="dk1"/>
              </a:buClr>
              <a:buSzPts val="3200"/>
              <a:buFont typeface="Noto Sans Symbols"/>
              <a:buChar char="⮚"/>
            </a:pPr>
            <a:r>
              <a:rPr lang="en-GB" sz="3200"/>
              <a:t>The address is placed on the Address/Data bus.</a:t>
            </a:r>
            <a:endParaRPr/>
          </a:p>
          <a:p>
            <a:pPr indent="-228600" lvl="0" marL="228600" rtl="0" algn="l">
              <a:lnSpc>
                <a:spcPct val="90000"/>
              </a:lnSpc>
              <a:spcBef>
                <a:spcPts val="1000"/>
              </a:spcBef>
              <a:spcAft>
                <a:spcPts val="0"/>
              </a:spcAft>
              <a:buClr>
                <a:schemeClr val="dk1"/>
              </a:buClr>
              <a:buSzPts val="3200"/>
              <a:buFont typeface="Noto Sans Symbols"/>
              <a:buChar char="⮚"/>
            </a:pPr>
            <a:r>
              <a:rPr lang="en-GB" sz="3200"/>
              <a:t>Control signals ALE and DT/ R’ specify memory or I/O, latch the address onto the address bus and set the direction of data transfer on data bus.</a:t>
            </a:r>
            <a:endParaRPr/>
          </a:p>
          <a:p>
            <a:pPr indent="-228600" lvl="0" marL="228600" rtl="0" algn="l">
              <a:lnSpc>
                <a:spcPct val="90000"/>
              </a:lnSpc>
              <a:spcBef>
                <a:spcPts val="1000"/>
              </a:spcBef>
              <a:spcAft>
                <a:spcPts val="0"/>
              </a:spcAft>
              <a:buClr>
                <a:srgbClr val="FF0000"/>
              </a:buClr>
              <a:buSzPts val="3200"/>
              <a:buChar char="•"/>
            </a:pPr>
            <a:r>
              <a:rPr lang="en-GB" sz="3200">
                <a:solidFill>
                  <a:srgbClr val="FF0000"/>
                </a:solidFill>
              </a:rPr>
              <a:t>During T </a:t>
            </a:r>
            <a:r>
              <a:rPr baseline="-25000" lang="en-GB" sz="3200">
                <a:solidFill>
                  <a:srgbClr val="FF0000"/>
                </a:solidFill>
              </a:rPr>
              <a:t>2</a:t>
            </a:r>
            <a:r>
              <a:rPr lang="en-GB" sz="3200">
                <a:solidFill>
                  <a:srgbClr val="FF0000"/>
                </a:solidFill>
              </a:rPr>
              <a:t> :</a:t>
            </a:r>
            <a:endParaRPr/>
          </a:p>
          <a:p>
            <a:pPr indent="-228600" lvl="0" marL="228600" rtl="0" algn="l">
              <a:lnSpc>
                <a:spcPct val="90000"/>
              </a:lnSpc>
              <a:spcBef>
                <a:spcPts val="1000"/>
              </a:spcBef>
              <a:spcAft>
                <a:spcPts val="0"/>
              </a:spcAft>
              <a:buClr>
                <a:schemeClr val="dk1"/>
              </a:buClr>
              <a:buSzPts val="3200"/>
              <a:buFont typeface="Noto Sans Symbols"/>
              <a:buChar char="⮚"/>
            </a:pPr>
            <a:r>
              <a:rPr lang="en-GB" sz="3200"/>
              <a:t>8086 issues the RD’ or WR’ signal, DEN’ .</a:t>
            </a:r>
            <a:endParaRPr/>
          </a:p>
          <a:p>
            <a:pPr indent="-228600" lvl="0" marL="228600" rtl="0" algn="l">
              <a:lnSpc>
                <a:spcPct val="90000"/>
              </a:lnSpc>
              <a:spcBef>
                <a:spcPts val="1000"/>
              </a:spcBef>
              <a:spcAft>
                <a:spcPts val="0"/>
              </a:spcAft>
              <a:buClr>
                <a:schemeClr val="dk1"/>
              </a:buClr>
              <a:buSzPts val="3200"/>
              <a:buFont typeface="Noto Sans Symbols"/>
              <a:buChar char="⮚"/>
            </a:pPr>
            <a:r>
              <a:rPr lang="en-GB" sz="3200"/>
              <a:t>DEN’ enables the memory or I/O device to receive the data for writes and the 8086 to receive the data for reads.</a:t>
            </a:r>
            <a:endParaRPr/>
          </a:p>
          <a:p>
            <a:pPr indent="-50800" lvl="0" marL="228600" rtl="0" algn="l">
              <a:lnSpc>
                <a:spcPct val="90000"/>
              </a:lnSpc>
              <a:spcBef>
                <a:spcPts val="1000"/>
              </a:spcBef>
              <a:spcAft>
                <a:spcPts val="0"/>
              </a:spcAft>
              <a:buClr>
                <a:schemeClr val="dk1"/>
              </a:buClr>
              <a:buSzPts val="2800"/>
              <a:buNone/>
            </a:pPr>
            <a:r>
              <a:t/>
            </a:r>
            <a:endParaRPr/>
          </a:p>
        </p:txBody>
      </p:sp>
      <p:sp>
        <p:nvSpPr>
          <p:cNvPr id="111" name="Google Shape;111;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5"/>
          <p:cNvSpPr txBox="1"/>
          <p:nvPr>
            <p:ph type="title"/>
          </p:nvPr>
        </p:nvSpPr>
        <p:spPr>
          <a:xfrm>
            <a:off x="838200" y="190977"/>
            <a:ext cx="10515600" cy="86058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GB"/>
              <a:t>Bus timing</a:t>
            </a:r>
            <a:endParaRPr/>
          </a:p>
        </p:txBody>
      </p:sp>
      <p:sp>
        <p:nvSpPr>
          <p:cNvPr id="117" name="Google Shape;117;p5"/>
          <p:cNvSpPr txBox="1"/>
          <p:nvPr>
            <p:ph idx="1" type="body"/>
          </p:nvPr>
        </p:nvSpPr>
        <p:spPr>
          <a:xfrm>
            <a:off x="457200" y="1051560"/>
            <a:ext cx="11338560" cy="5304789"/>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FF0000"/>
              </a:buClr>
              <a:buSzPts val="3200"/>
              <a:buChar char="•"/>
            </a:pPr>
            <a:r>
              <a:rPr lang="en-GB" sz="3200">
                <a:solidFill>
                  <a:srgbClr val="FF0000"/>
                </a:solidFill>
              </a:rPr>
              <a:t>During T </a:t>
            </a:r>
            <a:r>
              <a:rPr baseline="-25000" lang="en-GB" sz="3200">
                <a:solidFill>
                  <a:srgbClr val="FF0000"/>
                </a:solidFill>
              </a:rPr>
              <a:t>3</a:t>
            </a:r>
            <a:r>
              <a:rPr lang="en-GB" sz="3200">
                <a:solidFill>
                  <a:srgbClr val="FF0000"/>
                </a:solidFill>
              </a:rPr>
              <a:t> :</a:t>
            </a:r>
            <a:endParaRPr/>
          </a:p>
          <a:p>
            <a:pPr indent="-228600" lvl="0" marL="228600" rtl="0" algn="l">
              <a:lnSpc>
                <a:spcPct val="90000"/>
              </a:lnSpc>
              <a:spcBef>
                <a:spcPts val="1000"/>
              </a:spcBef>
              <a:spcAft>
                <a:spcPts val="0"/>
              </a:spcAft>
              <a:buClr>
                <a:schemeClr val="dk1"/>
              </a:buClr>
              <a:buSzPts val="3200"/>
              <a:buFont typeface="Noto Sans Symbols"/>
              <a:buChar char="⮚"/>
            </a:pPr>
            <a:r>
              <a:rPr lang="en-GB" sz="3200"/>
              <a:t>This cycle is provided to allow memory to access data.</a:t>
            </a:r>
            <a:endParaRPr/>
          </a:p>
          <a:p>
            <a:pPr indent="-228600" lvl="0" marL="228600" rtl="0" algn="l">
              <a:lnSpc>
                <a:spcPct val="90000"/>
              </a:lnSpc>
              <a:spcBef>
                <a:spcPts val="1000"/>
              </a:spcBef>
              <a:spcAft>
                <a:spcPts val="0"/>
              </a:spcAft>
              <a:buClr>
                <a:schemeClr val="dk1"/>
              </a:buClr>
              <a:buSzPts val="3200"/>
              <a:buFont typeface="Noto Sans Symbols"/>
              <a:buChar char="⮚"/>
            </a:pPr>
            <a:r>
              <a:rPr lang="en-GB" sz="3200"/>
              <a:t>READY is sampled at the end of T </a:t>
            </a:r>
            <a:r>
              <a:rPr baseline="-25000" lang="en-GB" sz="3200"/>
              <a:t>2</a:t>
            </a:r>
            <a:r>
              <a:rPr lang="en-GB" sz="3200"/>
              <a:t> .</a:t>
            </a:r>
            <a:endParaRPr/>
          </a:p>
          <a:p>
            <a:pPr indent="-228600" lvl="2" marL="1143000" rtl="0" algn="l">
              <a:lnSpc>
                <a:spcPct val="90000"/>
              </a:lnSpc>
              <a:spcBef>
                <a:spcPts val="500"/>
              </a:spcBef>
              <a:spcAft>
                <a:spcPts val="0"/>
              </a:spcAft>
              <a:buClr>
                <a:schemeClr val="dk1"/>
              </a:buClr>
              <a:buSzPts val="3200"/>
              <a:buChar char="•"/>
            </a:pPr>
            <a:r>
              <a:rPr lang="en-GB" sz="3200"/>
              <a:t>If low, T </a:t>
            </a:r>
            <a:r>
              <a:rPr baseline="-25000" lang="en-GB" sz="3200"/>
              <a:t>3</a:t>
            </a:r>
            <a:r>
              <a:rPr lang="en-GB" sz="3200"/>
              <a:t> becomes a wait state.</a:t>
            </a:r>
            <a:endParaRPr/>
          </a:p>
          <a:p>
            <a:pPr indent="-228600" lvl="0" marL="228600" rtl="0" algn="l">
              <a:lnSpc>
                <a:spcPct val="90000"/>
              </a:lnSpc>
              <a:spcBef>
                <a:spcPts val="1000"/>
              </a:spcBef>
              <a:spcAft>
                <a:spcPts val="0"/>
              </a:spcAft>
              <a:buClr>
                <a:srgbClr val="FF0000"/>
              </a:buClr>
              <a:buSzPts val="3200"/>
              <a:buChar char="•"/>
            </a:pPr>
            <a:r>
              <a:rPr lang="en-GB" sz="3200">
                <a:solidFill>
                  <a:srgbClr val="FF0000"/>
                </a:solidFill>
              </a:rPr>
              <a:t>During T </a:t>
            </a:r>
            <a:r>
              <a:rPr baseline="-25000" lang="en-GB" sz="3200">
                <a:solidFill>
                  <a:srgbClr val="FF0000"/>
                </a:solidFill>
              </a:rPr>
              <a:t>4</a:t>
            </a:r>
            <a:r>
              <a:rPr lang="en-GB" sz="3200">
                <a:solidFill>
                  <a:srgbClr val="FF0000"/>
                </a:solidFill>
              </a:rPr>
              <a:t> :</a:t>
            </a:r>
            <a:endParaRPr/>
          </a:p>
          <a:p>
            <a:pPr indent="-228600" lvl="0" marL="228600" rtl="0" algn="l">
              <a:lnSpc>
                <a:spcPct val="90000"/>
              </a:lnSpc>
              <a:spcBef>
                <a:spcPts val="1000"/>
              </a:spcBef>
              <a:spcAft>
                <a:spcPts val="0"/>
              </a:spcAft>
              <a:buClr>
                <a:schemeClr val="dk1"/>
              </a:buClr>
              <a:buSzPts val="3200"/>
              <a:buFont typeface="Noto Sans Symbols"/>
              <a:buChar char="⮚"/>
            </a:pPr>
            <a:r>
              <a:rPr lang="en-GB" sz="3200"/>
              <a:t>All bus signals are deactivated, in preparation for next bus cycle.</a:t>
            </a:r>
            <a:endParaRPr/>
          </a:p>
          <a:p>
            <a:pPr indent="-228600" lvl="0" marL="228600" rtl="0" algn="l">
              <a:lnSpc>
                <a:spcPct val="90000"/>
              </a:lnSpc>
              <a:spcBef>
                <a:spcPts val="1000"/>
              </a:spcBef>
              <a:spcAft>
                <a:spcPts val="0"/>
              </a:spcAft>
              <a:buClr>
                <a:schemeClr val="dk1"/>
              </a:buClr>
              <a:buSzPts val="3200"/>
              <a:buFont typeface="Noto Sans Symbols"/>
              <a:buChar char="⮚"/>
            </a:pPr>
            <a:r>
              <a:rPr lang="en-GB" sz="3200"/>
              <a:t>Data is sampled for reads, writes occur for writes.</a:t>
            </a:r>
            <a:endParaRPr/>
          </a:p>
          <a:p>
            <a:pPr indent="-50800" lvl="0" marL="228600" rtl="0" algn="l">
              <a:lnSpc>
                <a:spcPct val="90000"/>
              </a:lnSpc>
              <a:spcBef>
                <a:spcPts val="1000"/>
              </a:spcBef>
              <a:spcAft>
                <a:spcPts val="0"/>
              </a:spcAft>
              <a:buClr>
                <a:schemeClr val="dk1"/>
              </a:buClr>
              <a:buSzPts val="2800"/>
              <a:buNone/>
            </a:pPr>
            <a:r>
              <a:t/>
            </a:r>
            <a:endParaRPr/>
          </a:p>
        </p:txBody>
      </p:sp>
      <p:sp>
        <p:nvSpPr>
          <p:cNvPr id="118" name="Google Shape;118;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6"/>
          <p:cNvSpPr txBox="1"/>
          <p:nvPr>
            <p:ph type="title"/>
          </p:nvPr>
        </p:nvSpPr>
        <p:spPr>
          <a:xfrm>
            <a:off x="3132527" y="5868035"/>
            <a:ext cx="6416040" cy="488315"/>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3200"/>
              <a:buFont typeface="Calibri"/>
              <a:buNone/>
            </a:pPr>
            <a:r>
              <a:rPr lang="en-GB" sz="3200"/>
              <a:t>Bus timing for Write operation</a:t>
            </a:r>
            <a:endParaRPr/>
          </a:p>
        </p:txBody>
      </p:sp>
      <p:sp>
        <p:nvSpPr>
          <p:cNvPr id="125" name="Google Shape;125;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pic>
        <p:nvPicPr>
          <p:cNvPr id="126" name="Google Shape;126;p6"/>
          <p:cNvPicPr preferRelativeResize="0"/>
          <p:nvPr/>
        </p:nvPicPr>
        <p:blipFill rotWithShape="1">
          <a:blip r:embed="rId3">
            <a:alphaModFix/>
          </a:blip>
          <a:srcRect b="0" l="0" r="0" t="0"/>
          <a:stretch/>
        </p:blipFill>
        <p:spPr>
          <a:xfrm>
            <a:off x="1432447" y="930515"/>
            <a:ext cx="8710415" cy="435901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pic>
        <p:nvPicPr>
          <p:cNvPr id="132" name="Google Shape;132;p7"/>
          <p:cNvPicPr preferRelativeResize="0"/>
          <p:nvPr/>
        </p:nvPicPr>
        <p:blipFill rotWithShape="1">
          <a:blip r:embed="rId3">
            <a:alphaModFix/>
          </a:blip>
          <a:srcRect b="0" l="0" r="0" t="0"/>
          <a:stretch/>
        </p:blipFill>
        <p:spPr>
          <a:xfrm>
            <a:off x="682847" y="412750"/>
            <a:ext cx="10566400" cy="59436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8"/>
          <p:cNvSpPr txBox="1"/>
          <p:nvPr>
            <p:ph type="title"/>
          </p:nvPr>
        </p:nvSpPr>
        <p:spPr>
          <a:xfrm>
            <a:off x="742666" y="146762"/>
            <a:ext cx="10515600" cy="93141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GB"/>
              <a:t>Ready pin and </a:t>
            </a:r>
            <a:r>
              <a:rPr lang="en-GB">
                <a:solidFill>
                  <a:srgbClr val="C00000"/>
                </a:solidFill>
              </a:rPr>
              <a:t>Wait state</a:t>
            </a:r>
            <a:endParaRPr/>
          </a:p>
        </p:txBody>
      </p:sp>
      <p:sp>
        <p:nvSpPr>
          <p:cNvPr id="138" name="Google Shape;138;p8"/>
          <p:cNvSpPr txBox="1"/>
          <p:nvPr>
            <p:ph idx="1" type="body"/>
          </p:nvPr>
        </p:nvSpPr>
        <p:spPr>
          <a:xfrm>
            <a:off x="448670" y="1078174"/>
            <a:ext cx="11520417" cy="5281682"/>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GB"/>
              <a:t>The READY input causes wait states for slower memory and I/O components.</a:t>
            </a:r>
            <a:endParaRPr/>
          </a:p>
          <a:p>
            <a:pPr indent="-228600" lvl="0" marL="228600" rtl="0" algn="l">
              <a:lnSpc>
                <a:spcPct val="90000"/>
              </a:lnSpc>
              <a:spcBef>
                <a:spcPts val="1000"/>
              </a:spcBef>
              <a:spcAft>
                <a:spcPts val="0"/>
              </a:spcAft>
              <a:buClr>
                <a:schemeClr val="dk1"/>
              </a:buClr>
              <a:buSzPts val="2800"/>
              <a:buChar char="•"/>
            </a:pPr>
            <a:r>
              <a:rPr lang="en-GB"/>
              <a:t>A </a:t>
            </a:r>
            <a:r>
              <a:rPr lang="en-GB">
                <a:solidFill>
                  <a:srgbClr val="C00000"/>
                </a:solidFill>
              </a:rPr>
              <a:t>wait state </a:t>
            </a:r>
            <a:r>
              <a:rPr lang="en-GB"/>
              <a:t>is a situation in which a computer processor is waiting for the completion of some event before resuming activity. A program or process in a wait state is inactive for the duration of the wait state.</a:t>
            </a:r>
            <a:endParaRPr/>
          </a:p>
          <a:p>
            <a:pPr indent="-228600" lvl="0" marL="228600" rtl="0" algn="l">
              <a:lnSpc>
                <a:spcPct val="90000"/>
              </a:lnSpc>
              <a:spcBef>
                <a:spcPts val="1000"/>
              </a:spcBef>
              <a:spcAft>
                <a:spcPts val="0"/>
              </a:spcAft>
              <a:buClr>
                <a:schemeClr val="dk1"/>
              </a:buClr>
              <a:buSzPts val="2800"/>
              <a:buChar char="•"/>
            </a:pPr>
            <a:r>
              <a:rPr lang="en-GB"/>
              <a:t>When a computer processor works at a faster </a:t>
            </a:r>
            <a:r>
              <a:rPr lang="en-GB" u="sng">
                <a:solidFill>
                  <a:schemeClr val="hlink"/>
                </a:solidFill>
                <a:hlinkClick r:id="rId3"/>
              </a:rPr>
              <a:t>clock speed</a:t>
            </a:r>
            <a:r>
              <a:rPr lang="en-GB"/>
              <a:t>  than the random access memory ( RAM ) that sends it instructions, it is set to go into a wait state for one or more clock cycles so that it is synchronized with RAM speed. In general, the more time a processor spends in wait states, the slower the performance of that processor.</a:t>
            </a:r>
            <a:endParaRPr/>
          </a:p>
          <a:p>
            <a:pPr indent="-228600" lvl="0" marL="228600" rtl="0" algn="l">
              <a:lnSpc>
                <a:spcPct val="90000"/>
              </a:lnSpc>
              <a:spcBef>
                <a:spcPts val="1000"/>
              </a:spcBef>
              <a:spcAft>
                <a:spcPts val="0"/>
              </a:spcAft>
              <a:buClr>
                <a:schemeClr val="dk1"/>
              </a:buClr>
              <a:buSzPts val="2800"/>
              <a:buChar char="•"/>
            </a:pPr>
            <a:r>
              <a:rPr lang="en-GB"/>
              <a:t>Wait states are a pure waste for a processor's performance. Modern designs try to eliminate or hide them using a variety of techniques: </a:t>
            </a:r>
            <a:r>
              <a:rPr lang="en-GB" u="sng">
                <a:solidFill>
                  <a:schemeClr val="hlink"/>
                </a:solidFill>
                <a:hlinkClick r:id="rId4"/>
              </a:rPr>
              <a:t>CPU caches</a:t>
            </a:r>
            <a:r>
              <a:rPr lang="en-GB"/>
              <a:t>, </a:t>
            </a:r>
            <a:r>
              <a:rPr lang="en-GB" u="sng">
                <a:solidFill>
                  <a:schemeClr val="hlink"/>
                </a:solidFill>
                <a:hlinkClick r:id="rId5"/>
              </a:rPr>
              <a:t>instruction pipelines</a:t>
            </a:r>
            <a:r>
              <a:rPr lang="en-GB"/>
              <a:t>, </a:t>
            </a:r>
            <a:r>
              <a:rPr lang="en-GB" u="sng">
                <a:solidFill>
                  <a:schemeClr val="hlink"/>
                </a:solidFill>
                <a:hlinkClick r:id="rId6"/>
              </a:rPr>
              <a:t>instruction prefetch</a:t>
            </a:r>
            <a:r>
              <a:rPr lang="en-GB"/>
              <a:t> , </a:t>
            </a:r>
            <a:r>
              <a:rPr lang="en-GB" u="sng">
                <a:solidFill>
                  <a:schemeClr val="hlink"/>
                </a:solidFill>
                <a:hlinkClick r:id="rId7"/>
              </a:rPr>
              <a:t>simultaneous multithreading</a:t>
            </a:r>
            <a:r>
              <a:rPr lang="en-GB"/>
              <a:t> and others.</a:t>
            </a:r>
            <a:endParaRPr/>
          </a:p>
        </p:txBody>
      </p:sp>
      <p:sp>
        <p:nvSpPr>
          <p:cNvPr id="139" name="Google Shape;139;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9"/>
          <p:cNvSpPr txBox="1"/>
          <p:nvPr>
            <p:ph type="title"/>
          </p:nvPr>
        </p:nvSpPr>
        <p:spPr>
          <a:xfrm>
            <a:off x="716280" y="180661"/>
            <a:ext cx="10939566" cy="88645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GB" sz="4000"/>
              <a:t>8086 Ready pin</a:t>
            </a:r>
            <a:endParaRPr/>
          </a:p>
        </p:txBody>
      </p:sp>
      <p:sp>
        <p:nvSpPr>
          <p:cNvPr id="145" name="Google Shape;145;p9"/>
          <p:cNvSpPr txBox="1"/>
          <p:nvPr>
            <p:ph idx="1" type="body"/>
          </p:nvPr>
        </p:nvSpPr>
        <p:spPr>
          <a:xfrm>
            <a:off x="616945" y="990000"/>
            <a:ext cx="11237204" cy="4826906"/>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GB"/>
              <a:t>The READY input is controlled to insert “Wait states” into the timing of the microprocessor. If the READY pin is placed at a logic 0 level, the micro-processor enters into wait states and remains idle. </a:t>
            </a:r>
            <a:r>
              <a:rPr lang="en-GB">
                <a:solidFill>
                  <a:srgbClr val="0066FF"/>
                </a:solidFill>
              </a:rPr>
              <a:t>When it is high (logic 1), it indicates that the device is ready to transfer data. </a:t>
            </a:r>
            <a:endParaRPr>
              <a:solidFill>
                <a:srgbClr val="0066FF"/>
              </a:solidFill>
            </a:endParaRPr>
          </a:p>
        </p:txBody>
      </p:sp>
      <p:sp>
        <p:nvSpPr>
          <p:cNvPr id="146" name="Google Shape;146;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0"/>
          <p:cNvSpPr txBox="1"/>
          <p:nvPr>
            <p:ph type="title"/>
          </p:nvPr>
        </p:nvSpPr>
        <p:spPr>
          <a:xfrm>
            <a:off x="838200" y="2766218"/>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GB"/>
              <a:t>Thank You</a:t>
            </a:r>
            <a:endParaRPr/>
          </a:p>
        </p:txBody>
      </p:sp>
      <p:sp>
        <p:nvSpPr>
          <p:cNvPr id="152" name="Google Shape;152;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2016-03-14T16:18:39Z</dcterms:created>
  <dc:creator>Nasif M.</dc:creator>
</cp:coreProperties>
</file>