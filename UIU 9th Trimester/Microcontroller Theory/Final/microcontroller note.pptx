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28"/>
  </p:notesMasterIdLst>
  <p:sldIdLst>
    <p:sldId id="304" r:id="rId2"/>
    <p:sldId id="341" r:id="rId3"/>
    <p:sldId id="326" r:id="rId4"/>
    <p:sldId id="302" r:id="rId5"/>
    <p:sldId id="303" r:id="rId6"/>
    <p:sldId id="333" r:id="rId7"/>
    <p:sldId id="342" r:id="rId8"/>
    <p:sldId id="308" r:id="rId9"/>
    <p:sldId id="309" r:id="rId10"/>
    <p:sldId id="336" r:id="rId11"/>
    <p:sldId id="338" r:id="rId12"/>
    <p:sldId id="335" r:id="rId13"/>
    <p:sldId id="337" r:id="rId14"/>
    <p:sldId id="339" r:id="rId15"/>
    <p:sldId id="340" r:id="rId16"/>
    <p:sldId id="315" r:id="rId17"/>
    <p:sldId id="331" r:id="rId18"/>
    <p:sldId id="316" r:id="rId19"/>
    <p:sldId id="332" r:id="rId20"/>
    <p:sldId id="317" r:id="rId21"/>
    <p:sldId id="330" r:id="rId22"/>
    <p:sldId id="319" r:id="rId23"/>
    <p:sldId id="296" r:id="rId24"/>
    <p:sldId id="328" r:id="rId25"/>
    <p:sldId id="343" r:id="rId26"/>
    <p:sldId id="344"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819" autoAdjust="0"/>
  </p:normalViewPr>
  <p:slideViewPr>
    <p:cSldViewPr>
      <p:cViewPr varScale="1">
        <p:scale>
          <a:sx n="79" d="100"/>
          <a:sy n="79" d="100"/>
        </p:scale>
        <p:origin x="1570"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sif M" userId="5fbe7e48-0d2d-40c8-a740-2b2c66ce6a52" providerId="ADAL" clId="{2172D1BF-84B3-42E5-A5E3-D703D47D66D7}"/>
    <pc:docChg chg="modSld">
      <pc:chgData name="Nasif M" userId="5fbe7e48-0d2d-40c8-a740-2b2c66ce6a52" providerId="ADAL" clId="{2172D1BF-84B3-42E5-A5E3-D703D47D66D7}" dt="2019-08-21T08:05:22.147" v="0" actId="20577"/>
      <pc:docMkLst>
        <pc:docMk/>
      </pc:docMkLst>
      <pc:sldChg chg="modSp">
        <pc:chgData name="Nasif M" userId="5fbe7e48-0d2d-40c8-a740-2b2c66ce6a52" providerId="ADAL" clId="{2172D1BF-84B3-42E5-A5E3-D703D47D66D7}" dt="2019-08-21T08:05:22.147" v="0" actId="20577"/>
        <pc:sldMkLst>
          <pc:docMk/>
          <pc:sldMk cId="0" sldId="309"/>
        </pc:sldMkLst>
        <pc:spChg chg="mod">
          <ac:chgData name="Nasif M" userId="5fbe7e48-0d2d-40c8-a740-2b2c66ce6a52" providerId="ADAL" clId="{2172D1BF-84B3-42E5-A5E3-D703D47D66D7}" dt="2019-08-21T08:05:22.147" v="0" actId="20577"/>
          <ac:spMkLst>
            <pc:docMk/>
            <pc:sldMk cId="0" sldId="309"/>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987EEBE-A07F-4762-AB94-9C10BD6728FA}" type="datetimeFigureOut">
              <a:rPr lang="en-US" smtClean="0"/>
              <a:pPr/>
              <a:t>12/4/2023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FD45014-DF3E-4382-BF37-7BD82BCDF8B0}" type="slidenum">
              <a:rPr lang="en-US" smtClean="0"/>
              <a:pPr/>
              <a:t>‹#›</a:t>
            </a:fld>
            <a:endParaRPr lang="en-US"/>
          </a:p>
        </p:txBody>
      </p:sp>
    </p:spTree>
    <p:extLst>
      <p:ext uri="{BB962C8B-B14F-4D97-AF65-F5344CB8AC3E}">
        <p14:creationId xmlns:p14="http://schemas.microsoft.com/office/powerpoint/2010/main" val="23161189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D45014-DF3E-4382-BF37-7BD82BCDF8B0}" type="slidenum">
              <a:rPr lang="en-US" smtClean="0"/>
              <a:pPr/>
              <a:t>10</a:t>
            </a:fld>
            <a:endParaRPr lang="en-US"/>
          </a:p>
        </p:txBody>
      </p:sp>
    </p:spTree>
    <p:extLst>
      <p:ext uri="{BB962C8B-B14F-4D97-AF65-F5344CB8AC3E}">
        <p14:creationId xmlns:p14="http://schemas.microsoft.com/office/powerpoint/2010/main" val="41699333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RISC (reduced instruction set computing) </a:t>
            </a:r>
          </a:p>
        </p:txBody>
      </p:sp>
      <p:sp>
        <p:nvSpPr>
          <p:cNvPr id="4" name="Slide Number Placeholder 3"/>
          <p:cNvSpPr>
            <a:spLocks noGrp="1"/>
          </p:cNvSpPr>
          <p:nvPr>
            <p:ph type="sldNum" sz="quarter" idx="10"/>
          </p:nvPr>
        </p:nvSpPr>
        <p:spPr/>
        <p:txBody>
          <a:bodyPr/>
          <a:lstStyle/>
          <a:p>
            <a:fld id="{CFD45014-DF3E-4382-BF37-7BD82BCDF8B0}" type="slidenum">
              <a:rPr lang="en-US" smtClean="0"/>
              <a:pPr/>
              <a:t>16</a:t>
            </a:fld>
            <a:endParaRPr lang="en-US"/>
          </a:p>
        </p:txBody>
      </p:sp>
    </p:spTree>
    <p:extLst>
      <p:ext uri="{BB962C8B-B14F-4D97-AF65-F5344CB8AC3E}">
        <p14:creationId xmlns:p14="http://schemas.microsoft.com/office/powerpoint/2010/main" val="20091427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CISC (complex instruction set computing) </a:t>
            </a:r>
          </a:p>
        </p:txBody>
      </p:sp>
      <p:sp>
        <p:nvSpPr>
          <p:cNvPr id="4" name="Slide Number Placeholder 3"/>
          <p:cNvSpPr>
            <a:spLocks noGrp="1"/>
          </p:cNvSpPr>
          <p:nvPr>
            <p:ph type="sldNum" sz="quarter" idx="10"/>
          </p:nvPr>
        </p:nvSpPr>
        <p:spPr/>
        <p:txBody>
          <a:bodyPr/>
          <a:lstStyle/>
          <a:p>
            <a:fld id="{CFD45014-DF3E-4382-BF37-7BD82BCDF8B0}" type="slidenum">
              <a:rPr lang="en-US" smtClean="0"/>
              <a:pPr/>
              <a:t>20</a:t>
            </a:fld>
            <a:endParaRPr lang="en-US"/>
          </a:p>
        </p:txBody>
      </p:sp>
    </p:spTree>
    <p:extLst>
      <p:ext uri="{BB962C8B-B14F-4D97-AF65-F5344CB8AC3E}">
        <p14:creationId xmlns:p14="http://schemas.microsoft.com/office/powerpoint/2010/main" val="19507440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B815F43E-2FC5-4CA5-9F22-F99175569C8A}" type="datetime1">
              <a:rPr lang="en-US" smtClean="0"/>
              <a:t>12/4/2023</a:t>
            </a:fld>
            <a:endParaRPr lang="en-US"/>
          </a:p>
        </p:txBody>
      </p:sp>
      <p:sp>
        <p:nvSpPr>
          <p:cNvPr id="19" name="Footer Placeholder 18"/>
          <p:cNvSpPr>
            <a:spLocks noGrp="1"/>
          </p:cNvSpPr>
          <p:nvPr>
            <p:ph type="ftr" sz="quarter" idx="11"/>
          </p:nvPr>
        </p:nvSpPr>
        <p:spPr/>
        <p:txBody>
          <a:bodyPr/>
          <a:lstStyle/>
          <a:p>
            <a:r>
              <a:rPr lang="en-US"/>
              <a:t>Prof. S. M. Lutful Kabir, BUET</a:t>
            </a:r>
          </a:p>
        </p:txBody>
      </p:sp>
      <p:sp>
        <p:nvSpPr>
          <p:cNvPr id="27" name="Slide Number Placeholder 26"/>
          <p:cNvSpPr>
            <a:spLocks noGrp="1"/>
          </p:cNvSpPr>
          <p:nvPr>
            <p:ph type="sldNum" sz="quarter" idx="12"/>
          </p:nvPr>
        </p:nvSpPr>
        <p:spPr/>
        <p:txBody>
          <a:bodyPr/>
          <a:lstStyle/>
          <a:p>
            <a:fld id="{28AE0400-5D2F-4E31-9F19-A66B4B0C89DF}"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1ABE68F-EAF1-4130-AE1C-A844CD41CADC}" type="datetime1">
              <a:rPr lang="en-US" smtClean="0"/>
              <a:t>12/4/2023</a:t>
            </a:fld>
            <a:endParaRPr lang="en-US"/>
          </a:p>
        </p:txBody>
      </p:sp>
      <p:sp>
        <p:nvSpPr>
          <p:cNvPr id="5" name="Footer Placeholder 4"/>
          <p:cNvSpPr>
            <a:spLocks noGrp="1"/>
          </p:cNvSpPr>
          <p:nvPr>
            <p:ph type="ftr" sz="quarter" idx="11"/>
          </p:nvPr>
        </p:nvSpPr>
        <p:spPr/>
        <p:txBody>
          <a:bodyPr/>
          <a:lstStyle/>
          <a:p>
            <a:r>
              <a:rPr lang="en-US"/>
              <a:t>Prof. S. M. Lutful Kabir, BUET</a:t>
            </a:r>
          </a:p>
        </p:txBody>
      </p:sp>
      <p:sp>
        <p:nvSpPr>
          <p:cNvPr id="6" name="Slide Number Placeholder 5"/>
          <p:cNvSpPr>
            <a:spLocks noGrp="1"/>
          </p:cNvSpPr>
          <p:nvPr>
            <p:ph type="sldNum" sz="quarter" idx="12"/>
          </p:nvPr>
        </p:nvSpPr>
        <p:spPr/>
        <p:txBody>
          <a:bodyPr/>
          <a:lstStyle/>
          <a:p>
            <a:fld id="{28AE0400-5D2F-4E31-9F19-A66B4B0C89D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EED920F4-933E-4279-A523-92164E0037F9}" type="datetime1">
              <a:rPr lang="en-US" smtClean="0"/>
              <a:t>12/4/2023</a:t>
            </a:fld>
            <a:endParaRPr lang="en-US"/>
          </a:p>
        </p:txBody>
      </p:sp>
      <p:sp>
        <p:nvSpPr>
          <p:cNvPr id="5" name="Footer Placeholder 4"/>
          <p:cNvSpPr>
            <a:spLocks noGrp="1"/>
          </p:cNvSpPr>
          <p:nvPr>
            <p:ph type="ftr" sz="quarter" idx="11"/>
          </p:nvPr>
        </p:nvSpPr>
        <p:spPr/>
        <p:txBody>
          <a:bodyPr/>
          <a:lstStyle/>
          <a:p>
            <a:r>
              <a:rPr lang="en-US"/>
              <a:t>Prof. S. M. Lutful Kabir, BUET</a:t>
            </a:r>
          </a:p>
        </p:txBody>
      </p:sp>
      <p:sp>
        <p:nvSpPr>
          <p:cNvPr id="6" name="Slide Number Placeholder 5"/>
          <p:cNvSpPr>
            <a:spLocks noGrp="1"/>
          </p:cNvSpPr>
          <p:nvPr>
            <p:ph type="sldNum" sz="quarter" idx="12"/>
          </p:nvPr>
        </p:nvSpPr>
        <p:spPr/>
        <p:txBody>
          <a:bodyPr/>
          <a:lstStyle/>
          <a:p>
            <a:fld id="{28AE0400-5D2F-4E31-9F19-A66B4B0C89DF}"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63A29C5B-FFF4-4D99-9779-19D45D085DDA}" type="datetime1">
              <a:rPr lang="en-US" smtClean="0"/>
              <a:t>12/4/2023</a:t>
            </a:fld>
            <a:endParaRPr lang="en-US"/>
          </a:p>
        </p:txBody>
      </p:sp>
      <p:sp>
        <p:nvSpPr>
          <p:cNvPr id="6" name="Footer Placeholder 5"/>
          <p:cNvSpPr>
            <a:spLocks noGrp="1"/>
          </p:cNvSpPr>
          <p:nvPr>
            <p:ph type="ftr" sz="quarter" idx="11"/>
          </p:nvPr>
        </p:nvSpPr>
        <p:spPr/>
        <p:txBody>
          <a:bodyPr/>
          <a:lstStyle/>
          <a:p>
            <a:r>
              <a:rPr lang="en-US"/>
              <a:t>Prof. S. M. Lutful Kabir, BUET</a:t>
            </a:r>
          </a:p>
        </p:txBody>
      </p:sp>
      <p:sp>
        <p:nvSpPr>
          <p:cNvPr id="7" name="Slide Number Placeholder 6"/>
          <p:cNvSpPr>
            <a:spLocks noGrp="1"/>
          </p:cNvSpPr>
          <p:nvPr>
            <p:ph type="sldNum" sz="quarter" idx="12"/>
          </p:nvPr>
        </p:nvSpPr>
        <p:spPr/>
        <p:txBody>
          <a:bodyPr/>
          <a:lstStyle/>
          <a:p>
            <a:fld id="{28AE0400-5D2F-4E31-9F19-A66B4B0C89D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E93EF645-1989-492E-B1F8-7BC13377CFA9}" type="datetime1">
              <a:rPr lang="en-US" smtClean="0"/>
              <a:t>12/4/2023</a:t>
            </a:fld>
            <a:endParaRPr lang="en-US"/>
          </a:p>
        </p:txBody>
      </p:sp>
      <p:sp>
        <p:nvSpPr>
          <p:cNvPr id="8" name="Footer Placeholder 7"/>
          <p:cNvSpPr>
            <a:spLocks noGrp="1"/>
          </p:cNvSpPr>
          <p:nvPr>
            <p:ph type="ftr" sz="quarter" idx="11"/>
          </p:nvPr>
        </p:nvSpPr>
        <p:spPr/>
        <p:txBody>
          <a:bodyPr/>
          <a:lstStyle/>
          <a:p>
            <a:r>
              <a:rPr lang="en-US"/>
              <a:t>Prof. S. M. Lutful Kabir, BUET</a:t>
            </a:r>
          </a:p>
        </p:txBody>
      </p:sp>
      <p:sp>
        <p:nvSpPr>
          <p:cNvPr id="9" name="Slide Number Placeholder 8"/>
          <p:cNvSpPr>
            <a:spLocks noGrp="1"/>
          </p:cNvSpPr>
          <p:nvPr>
            <p:ph type="sldNum" sz="quarter" idx="12"/>
          </p:nvPr>
        </p:nvSpPr>
        <p:spPr/>
        <p:txBody>
          <a:bodyPr/>
          <a:lstStyle/>
          <a:p>
            <a:fld id="{28AE0400-5D2F-4E31-9F19-A66B4B0C89D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7CB3DE27-CDFB-474C-8645-5655323AAE62}" type="datetime1">
              <a:rPr lang="en-US" smtClean="0"/>
              <a:t>12/4/2023</a:t>
            </a:fld>
            <a:endParaRPr lang="en-US"/>
          </a:p>
        </p:txBody>
      </p:sp>
      <p:sp>
        <p:nvSpPr>
          <p:cNvPr id="4" name="Footer Placeholder 3"/>
          <p:cNvSpPr>
            <a:spLocks noGrp="1"/>
          </p:cNvSpPr>
          <p:nvPr>
            <p:ph type="ftr" sz="quarter" idx="11"/>
          </p:nvPr>
        </p:nvSpPr>
        <p:spPr/>
        <p:txBody>
          <a:bodyPr/>
          <a:lstStyle/>
          <a:p>
            <a:r>
              <a:rPr lang="en-US"/>
              <a:t>Prof. S. M. Lutful Kabir, BUET</a:t>
            </a:r>
          </a:p>
        </p:txBody>
      </p:sp>
      <p:sp>
        <p:nvSpPr>
          <p:cNvPr id="5" name="Slide Number Placeholder 4"/>
          <p:cNvSpPr>
            <a:spLocks noGrp="1"/>
          </p:cNvSpPr>
          <p:nvPr>
            <p:ph type="sldNum" sz="quarter" idx="12"/>
          </p:nvPr>
        </p:nvSpPr>
        <p:spPr/>
        <p:txBody>
          <a:bodyPr/>
          <a:lstStyle/>
          <a:p>
            <a:fld id="{28AE0400-5D2F-4E31-9F19-A66B4B0C89D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30B81CA-BD30-4003-A0CE-A0573F79BA64}" type="datetime1">
              <a:rPr lang="en-US" smtClean="0"/>
              <a:t>12/4/2023</a:t>
            </a:fld>
            <a:endParaRPr lang="en-US"/>
          </a:p>
        </p:txBody>
      </p:sp>
      <p:sp>
        <p:nvSpPr>
          <p:cNvPr id="3" name="Footer Placeholder 2"/>
          <p:cNvSpPr>
            <a:spLocks noGrp="1"/>
          </p:cNvSpPr>
          <p:nvPr>
            <p:ph type="ftr" sz="quarter" idx="11"/>
          </p:nvPr>
        </p:nvSpPr>
        <p:spPr/>
        <p:txBody>
          <a:bodyPr/>
          <a:lstStyle/>
          <a:p>
            <a:r>
              <a:rPr lang="en-US"/>
              <a:t>Prof. S. M. Lutful Kabir, BUET</a:t>
            </a:r>
          </a:p>
        </p:txBody>
      </p:sp>
      <p:sp>
        <p:nvSpPr>
          <p:cNvPr id="4" name="Slide Number Placeholder 3"/>
          <p:cNvSpPr>
            <a:spLocks noGrp="1"/>
          </p:cNvSpPr>
          <p:nvPr>
            <p:ph type="sldNum" sz="quarter" idx="12"/>
          </p:nvPr>
        </p:nvSpPr>
        <p:spPr/>
        <p:txBody>
          <a:bodyPr/>
          <a:lstStyle/>
          <a:p>
            <a:fld id="{28AE0400-5D2F-4E31-9F19-A66B4B0C89D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E30066E0-8874-4C6D-A328-4E53BE2F8DBF}" type="datetime1">
              <a:rPr lang="en-US" smtClean="0"/>
              <a:t>12/4/2023</a:t>
            </a:fld>
            <a:endParaRPr lang="en-US"/>
          </a:p>
        </p:txBody>
      </p:sp>
      <p:sp>
        <p:nvSpPr>
          <p:cNvPr id="6" name="Footer Placeholder 5"/>
          <p:cNvSpPr>
            <a:spLocks noGrp="1"/>
          </p:cNvSpPr>
          <p:nvPr>
            <p:ph type="ftr" sz="quarter" idx="11"/>
          </p:nvPr>
        </p:nvSpPr>
        <p:spPr/>
        <p:txBody>
          <a:bodyPr/>
          <a:lstStyle/>
          <a:p>
            <a:r>
              <a:rPr lang="en-US"/>
              <a:t>Prof. S. M. Lutful Kabir, BUET</a:t>
            </a:r>
          </a:p>
        </p:txBody>
      </p:sp>
      <p:sp>
        <p:nvSpPr>
          <p:cNvPr id="7" name="Slide Number Placeholder 6"/>
          <p:cNvSpPr>
            <a:spLocks noGrp="1"/>
          </p:cNvSpPr>
          <p:nvPr>
            <p:ph type="sldNum" sz="quarter" idx="12"/>
          </p:nvPr>
        </p:nvSpPr>
        <p:spPr/>
        <p:txBody>
          <a:bodyPr/>
          <a:lstStyle/>
          <a:p>
            <a:fld id="{28AE0400-5D2F-4E31-9F19-A66B4B0C89D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E48A101A-16FB-4351-AF43-ADCE7C73370F}" type="datetime1">
              <a:rPr lang="en-US" smtClean="0"/>
              <a:t>12/4/2023</a:t>
            </a:fld>
            <a:endParaRPr lang="en-US"/>
          </a:p>
        </p:txBody>
      </p:sp>
      <p:sp>
        <p:nvSpPr>
          <p:cNvPr id="6" name="Footer Placeholder 5"/>
          <p:cNvSpPr>
            <a:spLocks noGrp="1"/>
          </p:cNvSpPr>
          <p:nvPr>
            <p:ph type="ftr" sz="quarter" idx="11"/>
          </p:nvPr>
        </p:nvSpPr>
        <p:spPr/>
        <p:txBody>
          <a:bodyPr/>
          <a:lstStyle/>
          <a:p>
            <a:r>
              <a:rPr lang="en-US"/>
              <a:t>Prof. S. M. Lutful Kabir, BUET</a:t>
            </a:r>
          </a:p>
        </p:txBody>
      </p:sp>
      <p:sp>
        <p:nvSpPr>
          <p:cNvPr id="7" name="Slide Number Placeholder 6"/>
          <p:cNvSpPr>
            <a:spLocks noGrp="1"/>
          </p:cNvSpPr>
          <p:nvPr>
            <p:ph type="sldNum" sz="quarter" idx="12"/>
          </p:nvPr>
        </p:nvSpPr>
        <p:spPr>
          <a:xfrm>
            <a:off x="8077200" y="6356350"/>
            <a:ext cx="609600" cy="365125"/>
          </a:xfrm>
        </p:spPr>
        <p:txBody>
          <a:bodyPr/>
          <a:lstStyle/>
          <a:p>
            <a:fld id="{28AE0400-5D2F-4E31-9F19-A66B4B0C89DF}"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53EC9DD3-6568-4839-88E9-F89438664A9D}" type="datetime1">
              <a:rPr lang="en-US" smtClean="0"/>
              <a:t>12/4/2023</a:t>
            </a:fld>
            <a:endParaRPr lang="en-US"/>
          </a:p>
        </p:txBody>
      </p:sp>
      <p:sp>
        <p:nvSpPr>
          <p:cNvPr id="5" name="Footer Placeholder 4"/>
          <p:cNvSpPr>
            <a:spLocks noGrp="1"/>
          </p:cNvSpPr>
          <p:nvPr>
            <p:ph type="ftr" sz="quarter" idx="11"/>
          </p:nvPr>
        </p:nvSpPr>
        <p:spPr/>
        <p:txBody>
          <a:bodyPr/>
          <a:lstStyle/>
          <a:p>
            <a:r>
              <a:rPr lang="en-US"/>
              <a:t>Prof. S. M. Lutful Kabir, BUET</a:t>
            </a:r>
          </a:p>
        </p:txBody>
      </p:sp>
      <p:sp>
        <p:nvSpPr>
          <p:cNvPr id="6" name="Slide Number Placeholder 5"/>
          <p:cNvSpPr>
            <a:spLocks noGrp="1"/>
          </p:cNvSpPr>
          <p:nvPr>
            <p:ph type="sldNum" sz="quarter" idx="12"/>
          </p:nvPr>
        </p:nvSpPr>
        <p:spPr/>
        <p:txBody>
          <a:bodyPr/>
          <a:lstStyle/>
          <a:p>
            <a:fld id="{28AE0400-5D2F-4E31-9F19-A66B4B0C89D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A14B424-51B0-4874-8AC9-C13B8A79D493}" type="datetime1">
              <a:rPr lang="en-US" smtClean="0"/>
              <a:t>12/4/2023</a:t>
            </a:fld>
            <a:endParaRPr lang="en-US"/>
          </a:p>
        </p:txBody>
      </p:sp>
      <p:sp>
        <p:nvSpPr>
          <p:cNvPr id="5" name="Footer Placeholder 4"/>
          <p:cNvSpPr>
            <a:spLocks noGrp="1"/>
          </p:cNvSpPr>
          <p:nvPr>
            <p:ph type="ftr" sz="quarter" idx="11"/>
          </p:nvPr>
        </p:nvSpPr>
        <p:spPr/>
        <p:txBody>
          <a:bodyPr/>
          <a:lstStyle/>
          <a:p>
            <a:r>
              <a:rPr lang="en-US"/>
              <a:t>Prof. S. M. Lutful Kabir, BUET</a:t>
            </a:r>
          </a:p>
        </p:txBody>
      </p:sp>
      <p:sp>
        <p:nvSpPr>
          <p:cNvPr id="6" name="Slide Number Placeholder 5"/>
          <p:cNvSpPr>
            <a:spLocks noGrp="1"/>
          </p:cNvSpPr>
          <p:nvPr>
            <p:ph type="sldNum" sz="quarter" idx="12"/>
          </p:nvPr>
        </p:nvSpPr>
        <p:spPr/>
        <p:txBody>
          <a:bodyPr/>
          <a:lstStyle/>
          <a:p>
            <a:fld id="{28AE0400-5D2F-4E31-9F19-A66B4B0C89D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EF8D96D7-1BC7-4AE9-9C6B-C60E641CE275}" type="datetime1">
              <a:rPr lang="en-US" smtClean="0"/>
              <a:t>12/4/2023</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r>
              <a:rPr lang="en-US"/>
              <a:t>Prof. S. M. Lutful Kabir, BUET</a:t>
            </a:r>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28AE0400-5D2F-4E31-9F19-A66B4B0C89DF}"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ftr="0" dt="0"/>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shafqat@cse.uiu.ac.bd"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7.wmf"/><Relationship Id="rId18" Type="http://schemas.openxmlformats.org/officeDocument/2006/relationships/oleObject" Target="../embeddings/oleObject9.bin"/><Relationship Id="rId26" Type="http://schemas.openxmlformats.org/officeDocument/2006/relationships/image" Target="../media/image14.jpeg"/><Relationship Id="rId3" Type="http://schemas.openxmlformats.org/officeDocument/2006/relationships/image" Target="../media/image2.wmf"/><Relationship Id="rId21" Type="http://schemas.openxmlformats.org/officeDocument/2006/relationships/image" Target="../media/image11.wmf"/><Relationship Id="rId7" Type="http://schemas.openxmlformats.org/officeDocument/2006/relationships/image" Target="../media/image4.wmf"/><Relationship Id="rId12" Type="http://schemas.openxmlformats.org/officeDocument/2006/relationships/oleObject" Target="../embeddings/oleObject6.bin"/><Relationship Id="rId17" Type="http://schemas.openxmlformats.org/officeDocument/2006/relationships/image" Target="../media/image9.wmf"/><Relationship Id="rId25" Type="http://schemas.openxmlformats.org/officeDocument/2006/relationships/image" Target="../media/image13.wmf"/><Relationship Id="rId2" Type="http://schemas.openxmlformats.org/officeDocument/2006/relationships/oleObject" Target="../embeddings/oleObject1.bin"/><Relationship Id="rId16" Type="http://schemas.openxmlformats.org/officeDocument/2006/relationships/oleObject" Target="../embeddings/oleObject8.bin"/><Relationship Id="rId20" Type="http://schemas.openxmlformats.org/officeDocument/2006/relationships/oleObject" Target="../embeddings/oleObject10.bin"/><Relationship Id="rId1" Type="http://schemas.openxmlformats.org/officeDocument/2006/relationships/slideLayout" Target="../slideLayouts/slideLayout2.xml"/><Relationship Id="rId6" Type="http://schemas.openxmlformats.org/officeDocument/2006/relationships/oleObject" Target="../embeddings/oleObject3.bin"/><Relationship Id="rId11" Type="http://schemas.openxmlformats.org/officeDocument/2006/relationships/image" Target="../media/image6.wmf"/><Relationship Id="rId24" Type="http://schemas.openxmlformats.org/officeDocument/2006/relationships/oleObject" Target="../embeddings/oleObject12.bin"/><Relationship Id="rId5" Type="http://schemas.openxmlformats.org/officeDocument/2006/relationships/image" Target="../media/image3.wmf"/><Relationship Id="rId15" Type="http://schemas.openxmlformats.org/officeDocument/2006/relationships/image" Target="../media/image8.wmf"/><Relationship Id="rId23" Type="http://schemas.openxmlformats.org/officeDocument/2006/relationships/image" Target="../media/image12.wmf"/><Relationship Id="rId10" Type="http://schemas.openxmlformats.org/officeDocument/2006/relationships/oleObject" Target="../embeddings/oleObject5.bin"/><Relationship Id="rId19" Type="http://schemas.openxmlformats.org/officeDocument/2006/relationships/image" Target="../media/image10.wmf"/><Relationship Id="rId4" Type="http://schemas.openxmlformats.org/officeDocument/2006/relationships/oleObject" Target="../embeddings/oleObject2.bin"/><Relationship Id="rId9" Type="http://schemas.openxmlformats.org/officeDocument/2006/relationships/image" Target="../media/image5.wmf"/><Relationship Id="rId14" Type="http://schemas.openxmlformats.org/officeDocument/2006/relationships/oleObject" Target="../embeddings/oleObject7.bin"/><Relationship Id="rId22" Type="http://schemas.openxmlformats.org/officeDocument/2006/relationships/oleObject" Target="../embeddings/oleObject11.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hyperlink" Target="https://cs.stanford.edu/people/eroberts/courses/soco/projects/risc/risccisc/"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a:extLst>
              <a:ext uri="{FF2B5EF4-FFF2-40B4-BE49-F238E27FC236}">
                <a16:creationId xmlns:a16="http://schemas.microsoft.com/office/drawing/2014/main" id="{C7F8797F-BB93-C788-B006-66A0856B9DE8}"/>
              </a:ext>
            </a:extLst>
          </p:cNvPr>
          <p:cNvSpPr>
            <a:spLocks noGrp="1"/>
          </p:cNvSpPr>
          <p:nvPr>
            <p:ph type="subTitle" idx="4294967295"/>
          </p:nvPr>
        </p:nvSpPr>
        <p:spPr>
          <a:xfrm>
            <a:off x="704654" y="4114800"/>
            <a:ext cx="4724400" cy="800100"/>
          </a:xfrm>
          <a:prstGeom prst="rect">
            <a:avLst/>
          </a:prstGeom>
        </p:spPr>
        <p:txBody>
          <a:bodyPr>
            <a:normAutofit fontScale="92500" lnSpcReduction="10000"/>
          </a:bodyPr>
          <a:lstStyle/>
          <a:p>
            <a:pPr marL="0" indent="0">
              <a:spcBef>
                <a:spcPts val="71"/>
              </a:spcBef>
              <a:buNone/>
            </a:pPr>
            <a:r>
              <a:rPr lang="en-US" sz="1200" spc="-4" dirty="0">
                <a:latin typeface="Arial"/>
                <a:cs typeface="Arial"/>
              </a:rPr>
              <a:t>Md. Shafqat </a:t>
            </a:r>
            <a:r>
              <a:rPr lang="en-US" sz="1200" spc="-4" dirty="0" err="1">
                <a:latin typeface="Arial"/>
                <a:cs typeface="Arial"/>
              </a:rPr>
              <a:t>Talukder</a:t>
            </a:r>
            <a:r>
              <a:rPr lang="en-US" sz="1200" spc="-4" dirty="0">
                <a:latin typeface="Arial"/>
                <a:cs typeface="Arial"/>
              </a:rPr>
              <a:t> Rakin</a:t>
            </a:r>
            <a:endParaRPr lang="en-US" sz="1200" dirty="0">
              <a:latin typeface="Arial"/>
              <a:cs typeface="Arial"/>
            </a:endParaRPr>
          </a:p>
          <a:p>
            <a:pPr marL="0" marR="3810" indent="0">
              <a:buNone/>
            </a:pPr>
            <a:r>
              <a:rPr lang="en-US" sz="1200" spc="-4" dirty="0">
                <a:latin typeface="Arial"/>
                <a:cs typeface="Arial"/>
              </a:rPr>
              <a:t>Lecturer, Department of CSE,  </a:t>
            </a:r>
          </a:p>
          <a:p>
            <a:pPr marL="0" marR="3810" indent="0">
              <a:buNone/>
            </a:pPr>
            <a:r>
              <a:rPr lang="en-US" sz="1200" spc="-4" dirty="0">
                <a:latin typeface="Arial"/>
                <a:cs typeface="Arial"/>
              </a:rPr>
              <a:t>United International</a:t>
            </a:r>
            <a:r>
              <a:rPr lang="en-US" sz="1200" spc="8" dirty="0">
                <a:latin typeface="Arial"/>
                <a:cs typeface="Arial"/>
              </a:rPr>
              <a:t> </a:t>
            </a:r>
            <a:r>
              <a:rPr lang="en-US" sz="1200" spc="-4" dirty="0">
                <a:latin typeface="Arial"/>
                <a:cs typeface="Arial"/>
              </a:rPr>
              <a:t>University</a:t>
            </a:r>
          </a:p>
          <a:p>
            <a:pPr marL="0" marR="3810" indent="0">
              <a:buNone/>
            </a:pPr>
            <a:r>
              <a:rPr lang="en-US" sz="1200" spc="-4" dirty="0">
                <a:latin typeface="Arial"/>
                <a:cs typeface="Arial"/>
              </a:rPr>
              <a:t>Email id : </a:t>
            </a:r>
            <a:r>
              <a:rPr lang="en-US" sz="1200" spc="-4" dirty="0">
                <a:latin typeface="Arial"/>
                <a:cs typeface="Arial"/>
                <a:hlinkClick r:id="rId2">
                  <a:extLst>
                    <a:ext uri="{A12FA001-AC4F-418D-AE19-62706E023703}">
                      <ahyp:hlinkClr xmlns:ahyp="http://schemas.microsoft.com/office/drawing/2018/hyperlinkcolor" val="tx"/>
                    </a:ext>
                  </a:extLst>
                </a:hlinkClick>
              </a:rPr>
              <a:t>shafqat@cse.uiu.ac.bd</a:t>
            </a:r>
            <a:endParaRPr lang="en-US" sz="1200" dirty="0">
              <a:latin typeface="Arial"/>
              <a:cs typeface="Arial"/>
            </a:endParaRPr>
          </a:p>
          <a:p>
            <a:endParaRPr lang="en-US" dirty="0"/>
          </a:p>
        </p:txBody>
      </p:sp>
      <p:sp>
        <p:nvSpPr>
          <p:cNvPr id="7" name="object 5">
            <a:extLst>
              <a:ext uri="{FF2B5EF4-FFF2-40B4-BE49-F238E27FC236}">
                <a16:creationId xmlns:a16="http://schemas.microsoft.com/office/drawing/2014/main" id="{67C7C251-28BA-B1C1-2698-414C51F280A9}"/>
              </a:ext>
            </a:extLst>
          </p:cNvPr>
          <p:cNvSpPr txBox="1"/>
          <p:nvPr/>
        </p:nvSpPr>
        <p:spPr>
          <a:xfrm>
            <a:off x="5257800" y="4371782"/>
            <a:ext cx="3048000" cy="286136"/>
          </a:xfrm>
          <a:prstGeom prst="rect">
            <a:avLst/>
          </a:prstGeom>
        </p:spPr>
        <p:txBody>
          <a:bodyPr vert="horz" wrap="square" lIns="0" tIns="9049" rIns="0" bIns="0" rtlCol="0">
            <a:spAutoFit/>
          </a:bodyPr>
          <a:lstStyle/>
          <a:p>
            <a:pPr marL="9525">
              <a:spcBef>
                <a:spcPts val="71"/>
              </a:spcBef>
            </a:pPr>
            <a:r>
              <a:rPr spc="-4" dirty="0">
                <a:latin typeface="Arial"/>
                <a:cs typeface="Arial"/>
              </a:rPr>
              <a:t>Courtesy:</a:t>
            </a:r>
            <a:r>
              <a:rPr lang="en-US" spc="-4" dirty="0">
                <a:latin typeface="Arial"/>
                <a:cs typeface="Arial"/>
              </a:rPr>
              <a:t> </a:t>
            </a:r>
            <a:r>
              <a:rPr lang="en-US" spc="-4" dirty="0" err="1">
                <a:latin typeface="Arial"/>
                <a:cs typeface="Arial"/>
              </a:rPr>
              <a:t>Nasif</a:t>
            </a:r>
            <a:r>
              <a:rPr lang="en-US" spc="-4" dirty="0">
                <a:latin typeface="Arial"/>
                <a:cs typeface="Arial"/>
              </a:rPr>
              <a:t> M. Sir</a:t>
            </a:r>
            <a:r>
              <a:rPr spc="-4" dirty="0">
                <a:latin typeface="Arial"/>
                <a:cs typeface="Arial"/>
              </a:rPr>
              <a:t> </a:t>
            </a:r>
            <a:endParaRPr dirty="0">
              <a:latin typeface="Arial"/>
              <a:cs typeface="Arial"/>
            </a:endParaRPr>
          </a:p>
        </p:txBody>
      </p:sp>
      <p:sp>
        <p:nvSpPr>
          <p:cNvPr id="6" name="Title 1">
            <a:extLst>
              <a:ext uri="{FF2B5EF4-FFF2-40B4-BE49-F238E27FC236}">
                <a16:creationId xmlns:a16="http://schemas.microsoft.com/office/drawing/2014/main" id="{532E74E2-8019-4597-71A9-101243F28360}"/>
              </a:ext>
            </a:extLst>
          </p:cNvPr>
          <p:cNvSpPr txBox="1">
            <a:spLocks/>
          </p:cNvSpPr>
          <p:nvPr/>
        </p:nvSpPr>
        <p:spPr>
          <a:xfrm>
            <a:off x="1257300" y="1813322"/>
            <a:ext cx="6858000" cy="1790700"/>
          </a:xfrm>
          <a:prstGeom prst="rect">
            <a:avLst/>
          </a:prstGeom>
        </p:spPr>
        <p:txBody>
          <a:bodyPr vert="horz" lIns="68580" tIns="34290" rIns="68580" bIns="3429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400" dirty="0"/>
              <a:t> Micro-controller basics 1</a:t>
            </a:r>
            <a:br>
              <a:rPr lang="en-US" sz="4400" dirty="0"/>
            </a:br>
            <a:r>
              <a:rPr lang="en-US" sz="4400" dirty="0"/>
              <a:t>(Give a Reading of this Slide)</a:t>
            </a:r>
            <a:endParaRPr lang="en-US" sz="4500" dirty="0"/>
          </a:p>
        </p:txBody>
      </p:sp>
    </p:spTree>
    <p:extLst>
      <p:ext uri="{BB962C8B-B14F-4D97-AF65-F5344CB8AC3E}">
        <p14:creationId xmlns:p14="http://schemas.microsoft.com/office/powerpoint/2010/main" val="1726356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4636"/>
            <a:ext cx="8229600" cy="1143000"/>
          </a:xfrm>
        </p:spPr>
        <p:txBody>
          <a:bodyPr/>
          <a:lstStyle/>
          <a:p>
            <a:r>
              <a:rPr lang="en-US" dirty="0"/>
              <a:t>Topics</a:t>
            </a:r>
          </a:p>
        </p:txBody>
      </p:sp>
      <p:sp>
        <p:nvSpPr>
          <p:cNvPr id="3" name="Content Placeholder 2"/>
          <p:cNvSpPr>
            <a:spLocks noGrp="1"/>
          </p:cNvSpPr>
          <p:nvPr>
            <p:ph idx="1"/>
          </p:nvPr>
        </p:nvSpPr>
        <p:spPr>
          <a:xfrm>
            <a:off x="457200" y="1177636"/>
            <a:ext cx="8229600" cy="5146964"/>
          </a:xfrm>
        </p:spPr>
        <p:txBody>
          <a:bodyPr/>
          <a:lstStyle/>
          <a:p>
            <a:r>
              <a:rPr lang="en-US" dirty="0"/>
              <a:t>Difference between Micro-processor and Micro-controller.</a:t>
            </a:r>
          </a:p>
          <a:p>
            <a:endParaRPr lang="en-US" dirty="0"/>
          </a:p>
        </p:txBody>
      </p:sp>
      <p:sp>
        <p:nvSpPr>
          <p:cNvPr id="4" name="Slide Number Placeholder 3"/>
          <p:cNvSpPr>
            <a:spLocks noGrp="1"/>
          </p:cNvSpPr>
          <p:nvPr>
            <p:ph type="sldNum" sz="quarter" idx="12"/>
          </p:nvPr>
        </p:nvSpPr>
        <p:spPr/>
        <p:txBody>
          <a:bodyPr/>
          <a:lstStyle/>
          <a:p>
            <a:fld id="{28AE0400-5D2F-4E31-9F19-A66B4B0C89DF}" type="slidenum">
              <a:rPr lang="en-US" smtClean="0"/>
              <a:pPr/>
              <a:t>2</a:t>
            </a:fld>
            <a:endParaRPr lang="en-US"/>
          </a:p>
        </p:txBody>
      </p:sp>
    </p:spTree>
    <p:extLst>
      <p:ext uri="{BB962C8B-B14F-4D97-AF65-F5344CB8AC3E}">
        <p14:creationId xmlns:p14="http://schemas.microsoft.com/office/powerpoint/2010/main" val="22679233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8382000" cy="1143000"/>
          </a:xfrm>
        </p:spPr>
        <p:txBody>
          <a:bodyPr>
            <a:normAutofit fontScale="90000"/>
          </a:bodyPr>
          <a:lstStyle/>
          <a:p>
            <a:r>
              <a:rPr lang="en-US" b="1" dirty="0">
                <a:solidFill>
                  <a:schemeClr val="tx1"/>
                </a:solidFill>
              </a:rPr>
              <a:t>Microprocessor/Microcontroller and some of their applications</a:t>
            </a:r>
          </a:p>
        </p:txBody>
      </p:sp>
      <p:sp>
        <p:nvSpPr>
          <p:cNvPr id="20" name="Slide Number Placeholder 4"/>
          <p:cNvSpPr>
            <a:spLocks noGrp="1"/>
          </p:cNvSpPr>
          <p:nvPr>
            <p:ph type="sldNum" sz="quarter" idx="12"/>
          </p:nvPr>
        </p:nvSpPr>
        <p:spPr>
          <a:xfrm>
            <a:off x="8204396" y="6476999"/>
            <a:ext cx="733864" cy="274320"/>
          </a:xfrm>
        </p:spPr>
        <p:txBody>
          <a:bodyPr/>
          <a:lstStyle/>
          <a:p>
            <a:fld id="{85680E6B-D304-4AD8-B731-F6F7592143E8}" type="slidenum">
              <a:rPr lang="en-US" smtClean="0"/>
              <a:pPr/>
              <a:t>3</a:t>
            </a:fld>
            <a:endParaRPr lang="en-US"/>
          </a:p>
        </p:txBody>
      </p:sp>
      <p:sp>
        <p:nvSpPr>
          <p:cNvPr id="4" name="Text Box 7"/>
          <p:cNvSpPr txBox="1">
            <a:spLocks noChangeArrowheads="1"/>
          </p:cNvSpPr>
          <p:nvPr/>
        </p:nvSpPr>
        <p:spPr bwMode="auto">
          <a:xfrm>
            <a:off x="5314950" y="1389063"/>
            <a:ext cx="1875856" cy="747583"/>
          </a:xfrm>
          <a:prstGeom prst="rect">
            <a:avLst/>
          </a:prstGeom>
          <a:noFill/>
          <a:ln w="9525">
            <a:noFill/>
            <a:miter lim="800000"/>
            <a:headEnd/>
            <a:tailEnd/>
          </a:ln>
        </p:spPr>
        <p:txBody>
          <a:bodyPr/>
          <a:lstStyle/>
          <a:p>
            <a:pPr eaLnBrk="0" hangingPunct="0"/>
            <a:endParaRPr lang="en-US" sz="1000">
              <a:latin typeface="Times New Roman" pitchFamily="18" charset="0"/>
            </a:endParaRPr>
          </a:p>
        </p:txBody>
      </p:sp>
      <p:sp>
        <p:nvSpPr>
          <p:cNvPr id="5" name="Text Box 8"/>
          <p:cNvSpPr txBox="1">
            <a:spLocks noChangeArrowheads="1"/>
          </p:cNvSpPr>
          <p:nvPr/>
        </p:nvSpPr>
        <p:spPr bwMode="auto">
          <a:xfrm>
            <a:off x="6708775" y="1676400"/>
            <a:ext cx="1444625" cy="914400"/>
          </a:xfrm>
          <a:prstGeom prst="rect">
            <a:avLst/>
          </a:prstGeom>
          <a:noFill/>
          <a:ln w="9525">
            <a:noFill/>
            <a:miter lim="800000"/>
            <a:headEnd/>
            <a:tailEnd/>
          </a:ln>
        </p:spPr>
        <p:txBody>
          <a:bodyPr/>
          <a:lstStyle/>
          <a:p>
            <a:pPr eaLnBrk="0" hangingPunct="0"/>
            <a:endParaRPr lang="en-US" sz="1000">
              <a:latin typeface="Times New Roman" pitchFamily="18" charset="0"/>
            </a:endParaRPr>
          </a:p>
        </p:txBody>
      </p:sp>
      <p:sp>
        <p:nvSpPr>
          <p:cNvPr id="6" name="Text Box 9"/>
          <p:cNvSpPr txBox="1">
            <a:spLocks noChangeArrowheads="1"/>
          </p:cNvSpPr>
          <p:nvPr/>
        </p:nvSpPr>
        <p:spPr bwMode="auto">
          <a:xfrm>
            <a:off x="4233863" y="1371600"/>
            <a:ext cx="1554588" cy="792893"/>
          </a:xfrm>
          <a:prstGeom prst="rect">
            <a:avLst/>
          </a:prstGeom>
          <a:noFill/>
          <a:ln w="9525">
            <a:noFill/>
            <a:miter lim="800000"/>
            <a:headEnd/>
            <a:tailEnd/>
          </a:ln>
        </p:spPr>
        <p:txBody>
          <a:bodyPr/>
          <a:lstStyle/>
          <a:p>
            <a:pPr eaLnBrk="0" hangingPunct="0"/>
            <a:endParaRPr lang="en-US" sz="1000">
              <a:latin typeface="Times New Roman" pitchFamily="18" charset="0"/>
            </a:endParaRPr>
          </a:p>
        </p:txBody>
      </p:sp>
      <p:graphicFrame>
        <p:nvGraphicFramePr>
          <p:cNvPr id="7" name="Object 12"/>
          <p:cNvGraphicFramePr>
            <a:graphicFrameLocks noChangeAspect="1"/>
          </p:cNvGraphicFramePr>
          <p:nvPr/>
        </p:nvGraphicFramePr>
        <p:xfrm>
          <a:off x="7096125" y="2430462"/>
          <a:ext cx="1133475" cy="634263"/>
        </p:xfrm>
        <a:graphic>
          <a:graphicData uri="http://schemas.openxmlformats.org/presentationml/2006/ole">
            <mc:AlternateContent xmlns:mc="http://schemas.openxmlformats.org/markup-compatibility/2006">
              <mc:Choice xmlns:v="urn:schemas-microsoft-com:vml" Requires="v">
                <p:oleObj name="Clip" r:id="rId2" imgW="2130120" imgH="1361520" progId="">
                  <p:embed/>
                </p:oleObj>
              </mc:Choice>
              <mc:Fallback>
                <p:oleObj name="Clip" r:id="rId2" imgW="2130120" imgH="1361520" progId="">
                  <p:embed/>
                  <p:pic>
                    <p:nvPicPr>
                      <p:cNvPr id="7" name="Object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6125" y="2430462"/>
                        <a:ext cx="1133475" cy="634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13"/>
          <p:cNvGraphicFramePr>
            <a:graphicFrameLocks noChangeAspect="1"/>
          </p:cNvGraphicFramePr>
          <p:nvPr/>
        </p:nvGraphicFramePr>
        <p:xfrm>
          <a:off x="5603875" y="4965182"/>
          <a:ext cx="1169094" cy="1037657"/>
        </p:xfrm>
        <a:graphic>
          <a:graphicData uri="http://schemas.openxmlformats.org/presentationml/2006/ole">
            <mc:AlternateContent xmlns:mc="http://schemas.openxmlformats.org/markup-compatibility/2006">
              <mc:Choice xmlns:v="urn:schemas-microsoft-com:vml" Requires="v">
                <p:oleObj name="Clip" r:id="rId4" imgW="1763640" imgH="1785240" progId="">
                  <p:embed/>
                </p:oleObj>
              </mc:Choice>
              <mc:Fallback>
                <p:oleObj name="Clip" r:id="rId4" imgW="1763640" imgH="1785240" progId="">
                  <p:embed/>
                  <p:pic>
                    <p:nvPicPr>
                      <p:cNvPr id="8"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03875" y="4965182"/>
                        <a:ext cx="1169094" cy="103765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14"/>
          <p:cNvGraphicFramePr>
            <a:graphicFrameLocks noChangeAspect="1"/>
          </p:cNvGraphicFramePr>
          <p:nvPr/>
        </p:nvGraphicFramePr>
        <p:xfrm>
          <a:off x="7227888" y="3505201"/>
          <a:ext cx="1077912" cy="1010542"/>
        </p:xfrm>
        <a:graphic>
          <a:graphicData uri="http://schemas.openxmlformats.org/presentationml/2006/ole">
            <mc:AlternateContent xmlns:mc="http://schemas.openxmlformats.org/markup-compatibility/2006">
              <mc:Choice xmlns:v="urn:schemas-microsoft-com:vml" Requires="v">
                <p:oleObj name="Clip" r:id="rId6" imgW="842040" imgH="902880" progId="">
                  <p:embed/>
                </p:oleObj>
              </mc:Choice>
              <mc:Fallback>
                <p:oleObj name="Clip" r:id="rId6" imgW="842040" imgH="902880" progId="">
                  <p:embed/>
                  <p:pic>
                    <p:nvPicPr>
                      <p:cNvPr id="9" name="Object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27888" y="3505201"/>
                        <a:ext cx="1077912" cy="10105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15"/>
          <p:cNvGraphicFramePr>
            <a:graphicFrameLocks noChangeAspect="1"/>
          </p:cNvGraphicFramePr>
          <p:nvPr/>
        </p:nvGraphicFramePr>
        <p:xfrm>
          <a:off x="5711825" y="3505200"/>
          <a:ext cx="1002458" cy="1010541"/>
        </p:xfrm>
        <a:graphic>
          <a:graphicData uri="http://schemas.openxmlformats.org/presentationml/2006/ole">
            <mc:AlternateContent xmlns:mc="http://schemas.openxmlformats.org/markup-compatibility/2006">
              <mc:Choice xmlns:v="urn:schemas-microsoft-com:vml" Requires="v">
                <p:oleObj name="Clip" r:id="rId8" imgW="734040" imgH="844560" progId="">
                  <p:embed/>
                </p:oleObj>
              </mc:Choice>
              <mc:Fallback>
                <p:oleObj name="Clip" r:id="rId8" imgW="734040" imgH="844560" progId="">
                  <p:embed/>
                  <p:pic>
                    <p:nvPicPr>
                      <p:cNvPr id="10" name="Object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11825" y="3505200"/>
                        <a:ext cx="1002458" cy="101054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16"/>
          <p:cNvGraphicFramePr>
            <a:graphicFrameLocks noChangeAspect="1"/>
          </p:cNvGraphicFramePr>
          <p:nvPr/>
        </p:nvGraphicFramePr>
        <p:xfrm>
          <a:off x="3962400" y="4996932"/>
          <a:ext cx="1579543" cy="945420"/>
        </p:xfrm>
        <a:graphic>
          <a:graphicData uri="http://schemas.openxmlformats.org/presentationml/2006/ole">
            <mc:AlternateContent xmlns:mc="http://schemas.openxmlformats.org/markup-compatibility/2006">
              <mc:Choice xmlns:v="urn:schemas-microsoft-com:vml" Requires="v">
                <p:oleObj name="Clip" r:id="rId10" imgW="931320" imgH="636840" progId="">
                  <p:embed/>
                </p:oleObj>
              </mc:Choice>
              <mc:Fallback>
                <p:oleObj name="Clip" r:id="rId10" imgW="931320" imgH="636840" progId="">
                  <p:embed/>
                  <p:pic>
                    <p:nvPicPr>
                      <p:cNvPr id="11" name="Object 1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62400" y="4996932"/>
                        <a:ext cx="1579543" cy="9454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17"/>
          <p:cNvGraphicFramePr>
            <a:graphicFrameLocks noChangeAspect="1"/>
          </p:cNvGraphicFramePr>
          <p:nvPr/>
        </p:nvGraphicFramePr>
        <p:xfrm>
          <a:off x="5565774" y="2460625"/>
          <a:ext cx="1340877" cy="542622"/>
        </p:xfrm>
        <a:graphic>
          <a:graphicData uri="http://schemas.openxmlformats.org/presentationml/2006/ole">
            <mc:AlternateContent xmlns:mc="http://schemas.openxmlformats.org/markup-compatibility/2006">
              <mc:Choice xmlns:v="urn:schemas-microsoft-com:vml" Requires="v">
                <p:oleObj name="Clip" r:id="rId12" imgW="1791000" imgH="828000" progId="">
                  <p:embed/>
                </p:oleObj>
              </mc:Choice>
              <mc:Fallback>
                <p:oleObj name="Clip" r:id="rId12" imgW="1791000" imgH="828000" progId="">
                  <p:embed/>
                  <p:pic>
                    <p:nvPicPr>
                      <p:cNvPr id="12" name="Object 1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565774" y="2460625"/>
                        <a:ext cx="1340877" cy="5426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18"/>
          <p:cNvGraphicFramePr>
            <a:graphicFrameLocks noChangeAspect="1"/>
          </p:cNvGraphicFramePr>
          <p:nvPr/>
        </p:nvGraphicFramePr>
        <p:xfrm>
          <a:off x="4064000" y="3514725"/>
          <a:ext cx="1500992" cy="978205"/>
        </p:xfrm>
        <a:graphic>
          <a:graphicData uri="http://schemas.openxmlformats.org/presentationml/2006/ole">
            <mc:AlternateContent xmlns:mc="http://schemas.openxmlformats.org/markup-compatibility/2006">
              <mc:Choice xmlns:v="urn:schemas-microsoft-com:vml" Requires="v">
                <p:oleObj name="Clip" r:id="rId14" imgW="1795680" imgH="1336320" progId="">
                  <p:embed/>
                </p:oleObj>
              </mc:Choice>
              <mc:Fallback>
                <p:oleObj name="Clip" r:id="rId14" imgW="1795680" imgH="1336320" progId="">
                  <p:embed/>
                  <p:pic>
                    <p:nvPicPr>
                      <p:cNvPr id="13" name="Object 1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064000" y="3514725"/>
                        <a:ext cx="1500992" cy="9782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Object 19"/>
          <p:cNvGraphicFramePr>
            <a:graphicFrameLocks noChangeAspect="1"/>
          </p:cNvGraphicFramePr>
          <p:nvPr/>
        </p:nvGraphicFramePr>
        <p:xfrm>
          <a:off x="6880224" y="4876282"/>
          <a:ext cx="1044575" cy="1295918"/>
        </p:xfrm>
        <a:graphic>
          <a:graphicData uri="http://schemas.openxmlformats.org/presentationml/2006/ole">
            <mc:AlternateContent xmlns:mc="http://schemas.openxmlformats.org/markup-compatibility/2006">
              <mc:Choice xmlns:v="urn:schemas-microsoft-com:vml" Requires="v">
                <p:oleObj name="Clip" r:id="rId16" imgW="1350000" imgH="1914120" progId="">
                  <p:embed/>
                </p:oleObj>
              </mc:Choice>
              <mc:Fallback>
                <p:oleObj name="Clip" r:id="rId16" imgW="1350000" imgH="1914120" progId="">
                  <p:embed/>
                  <p:pic>
                    <p:nvPicPr>
                      <p:cNvPr id="14" name="Object 1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880224" y="4876282"/>
                        <a:ext cx="1044575" cy="12959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Object 20"/>
          <p:cNvGraphicFramePr>
            <a:graphicFrameLocks noChangeAspect="1"/>
          </p:cNvGraphicFramePr>
          <p:nvPr/>
        </p:nvGraphicFramePr>
        <p:xfrm>
          <a:off x="4043362" y="2362200"/>
          <a:ext cx="1331230" cy="573972"/>
        </p:xfrm>
        <a:graphic>
          <a:graphicData uri="http://schemas.openxmlformats.org/presentationml/2006/ole">
            <mc:AlternateContent xmlns:mc="http://schemas.openxmlformats.org/markup-compatibility/2006">
              <mc:Choice xmlns:v="urn:schemas-microsoft-com:vml" Requires="v">
                <p:oleObj name="Document" r:id="rId18" imgW="876960" imgH="378360" progId="Word.Document.8">
                  <p:embed/>
                </p:oleObj>
              </mc:Choice>
              <mc:Fallback>
                <p:oleObj name="Document" r:id="rId18" imgW="876960" imgH="378360" progId="Word.Document.8">
                  <p:embed/>
                  <p:pic>
                    <p:nvPicPr>
                      <p:cNvPr id="15" name="Object 2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043362" y="2362200"/>
                        <a:ext cx="1331230" cy="5739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 name="Object 21"/>
          <p:cNvGraphicFramePr>
            <a:graphicFrameLocks noChangeAspect="1"/>
          </p:cNvGraphicFramePr>
          <p:nvPr/>
        </p:nvGraphicFramePr>
        <p:xfrm>
          <a:off x="4195762" y="1400176"/>
          <a:ext cx="786998" cy="515322"/>
        </p:xfrm>
        <a:graphic>
          <a:graphicData uri="http://schemas.openxmlformats.org/presentationml/2006/ole">
            <mc:AlternateContent xmlns:mc="http://schemas.openxmlformats.org/markup-compatibility/2006">
              <mc:Choice xmlns:v="urn:schemas-microsoft-com:vml" Requires="v">
                <p:oleObj name="Document" r:id="rId20" imgW="579600" imgH="379440" progId="Word.Document.8">
                  <p:embed/>
                </p:oleObj>
              </mc:Choice>
              <mc:Fallback>
                <p:oleObj name="Document" r:id="rId20" imgW="579600" imgH="379440" progId="Word.Document.8">
                  <p:embed/>
                  <p:pic>
                    <p:nvPicPr>
                      <p:cNvPr id="16" name="Object 2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195762" y="1400176"/>
                        <a:ext cx="786998" cy="515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 name="Object 22"/>
          <p:cNvGraphicFramePr>
            <a:graphicFrameLocks noChangeAspect="1"/>
          </p:cNvGraphicFramePr>
          <p:nvPr/>
        </p:nvGraphicFramePr>
        <p:xfrm>
          <a:off x="5777031" y="1400176"/>
          <a:ext cx="1004769" cy="474354"/>
        </p:xfrm>
        <a:graphic>
          <a:graphicData uri="http://schemas.openxmlformats.org/presentationml/2006/ole">
            <mc:AlternateContent xmlns:mc="http://schemas.openxmlformats.org/markup-compatibility/2006">
              <mc:Choice xmlns:v="urn:schemas-microsoft-com:vml" Requires="v">
                <p:oleObj name="Document" r:id="rId22" imgW="739800" imgH="350280" progId="Word.Document.8">
                  <p:embed/>
                </p:oleObj>
              </mc:Choice>
              <mc:Fallback>
                <p:oleObj name="Document" r:id="rId22" imgW="739800" imgH="350280" progId="Word.Document.8">
                  <p:embed/>
                  <p:pic>
                    <p:nvPicPr>
                      <p:cNvPr id="17" name="Object 2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777031" y="1400176"/>
                        <a:ext cx="1004769" cy="474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 name="Object 23"/>
          <p:cNvGraphicFramePr>
            <a:graphicFrameLocks noChangeAspect="1"/>
          </p:cNvGraphicFramePr>
          <p:nvPr/>
        </p:nvGraphicFramePr>
        <p:xfrm>
          <a:off x="7287311" y="1400175"/>
          <a:ext cx="713689" cy="612349"/>
        </p:xfrm>
        <a:graphic>
          <a:graphicData uri="http://schemas.openxmlformats.org/presentationml/2006/ole">
            <mc:AlternateContent xmlns:mc="http://schemas.openxmlformats.org/markup-compatibility/2006">
              <mc:Choice xmlns:v="urn:schemas-microsoft-com:vml" Requires="v">
                <p:oleObj name="Document" r:id="rId24" imgW="526320" imgH="451080" progId="Word.Document.8">
                  <p:embed/>
                </p:oleObj>
              </mc:Choice>
              <mc:Fallback>
                <p:oleObj name="Document" r:id="rId24" imgW="526320" imgH="451080" progId="Word.Document.8">
                  <p:embed/>
                  <p:pic>
                    <p:nvPicPr>
                      <p:cNvPr id="18" name="Object 23"/>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7287311" y="1400175"/>
                        <a:ext cx="713689" cy="612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2" name="Picture 4" descr="https://encrypted-tbn0.gstatic.com/images?q=tbn:ANd9GcTXkU-5X_xH9ai2GRiaMjtJDrS4buqftxbCkR6VFemA8RR2b8l8rw"/>
          <p:cNvPicPr>
            <a:picLocks noChangeAspect="1" noChangeArrowheads="1"/>
          </p:cNvPicPr>
          <p:nvPr/>
        </p:nvPicPr>
        <p:blipFill>
          <a:blip r:embed="rId26"/>
          <a:srcRect/>
          <a:stretch>
            <a:fillRect/>
          </a:stretch>
        </p:blipFill>
        <p:spPr bwMode="auto">
          <a:xfrm>
            <a:off x="819150" y="2438400"/>
            <a:ext cx="2228850" cy="2047876"/>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155448"/>
            <a:ext cx="8229600" cy="1252728"/>
          </a:xfrm>
        </p:spPr>
        <p:txBody>
          <a:bodyPr/>
          <a:lstStyle/>
          <a:p>
            <a:r>
              <a:rPr lang="bn-BD" b="1" dirty="0">
                <a:solidFill>
                  <a:schemeClr val="tx1"/>
                </a:solidFill>
              </a:rPr>
              <a:t>Typical Applications of uP</a:t>
            </a:r>
            <a:endParaRPr lang="en-US" b="1" dirty="0">
              <a:solidFill>
                <a:schemeClr val="tx1"/>
              </a:solidFill>
            </a:endParaRPr>
          </a:p>
        </p:txBody>
      </p:sp>
      <p:sp>
        <p:nvSpPr>
          <p:cNvPr id="5" name="Content Placeholder 2"/>
          <p:cNvSpPr>
            <a:spLocks noGrp="1"/>
          </p:cNvSpPr>
          <p:nvPr>
            <p:ph idx="1"/>
          </p:nvPr>
        </p:nvSpPr>
        <p:spPr>
          <a:xfrm>
            <a:off x="457200" y="1775191"/>
            <a:ext cx="8229600" cy="4625609"/>
          </a:xfrm>
        </p:spPr>
        <p:txBody>
          <a:bodyPr>
            <a:normAutofit/>
          </a:bodyPr>
          <a:lstStyle/>
          <a:p>
            <a:r>
              <a:rPr lang="bn-BD" sz="3200" dirty="0">
                <a:solidFill>
                  <a:srgbClr val="C00000"/>
                </a:solidFill>
              </a:rPr>
              <a:t>Microprocessor is basically a CPU, using CPU general purpose computer can be built</a:t>
            </a:r>
          </a:p>
          <a:p>
            <a:r>
              <a:rPr lang="bn-BD" sz="3200" dirty="0">
                <a:solidFill>
                  <a:srgbClr val="C00000"/>
                </a:solidFill>
              </a:rPr>
              <a:t>Desktop computers, PCs, Laptops, Workstations, Servers, Supercomputers</a:t>
            </a:r>
          </a:p>
          <a:p>
            <a:r>
              <a:rPr lang="bn-BD" sz="3200" dirty="0">
                <a:solidFill>
                  <a:srgbClr val="C00000"/>
                </a:solidFill>
              </a:rPr>
              <a:t>We are in the era of 32- and 64-bit microprocessor, so we can produce very powerful computers</a:t>
            </a:r>
          </a:p>
          <a:p>
            <a:endParaRPr lang="bn-BD" dirty="0">
              <a:solidFill>
                <a:srgbClr val="C00000"/>
              </a:solidFill>
            </a:endParaRPr>
          </a:p>
          <a:p>
            <a:endParaRPr lang="en-US" dirty="0"/>
          </a:p>
        </p:txBody>
      </p:sp>
      <p:sp>
        <p:nvSpPr>
          <p:cNvPr id="7" name="Slide Number Placeholder 4"/>
          <p:cNvSpPr>
            <a:spLocks noGrp="1"/>
          </p:cNvSpPr>
          <p:nvPr>
            <p:ph type="sldNum" sz="quarter" idx="12"/>
          </p:nvPr>
        </p:nvSpPr>
        <p:spPr>
          <a:xfrm>
            <a:off x="8204396" y="6476999"/>
            <a:ext cx="733864" cy="274320"/>
          </a:xfrm>
        </p:spPr>
        <p:txBody>
          <a:bodyPr/>
          <a:lstStyle/>
          <a:p>
            <a:fld id="{85680E6B-D304-4AD8-B731-F6F7592143E8}" type="slidenum">
              <a:rPr lang="en-US" smtClean="0"/>
              <a:pPr/>
              <a:t>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52400" y="0"/>
            <a:ext cx="8229600" cy="835152"/>
          </a:xfrm>
        </p:spPr>
        <p:txBody>
          <a:bodyPr/>
          <a:lstStyle/>
          <a:p>
            <a:r>
              <a:rPr lang="bn-BD" b="1" dirty="0">
                <a:solidFill>
                  <a:schemeClr val="tx1"/>
                </a:solidFill>
              </a:rPr>
              <a:t>Typical Application of uC</a:t>
            </a:r>
            <a:endParaRPr lang="en-US" b="1" dirty="0">
              <a:solidFill>
                <a:schemeClr val="tx1"/>
              </a:solidFill>
            </a:endParaRPr>
          </a:p>
        </p:txBody>
      </p:sp>
      <p:sp>
        <p:nvSpPr>
          <p:cNvPr id="5" name="Content Placeholder 2"/>
          <p:cNvSpPr>
            <a:spLocks noGrp="1"/>
          </p:cNvSpPr>
          <p:nvPr>
            <p:ph idx="1"/>
          </p:nvPr>
        </p:nvSpPr>
        <p:spPr>
          <a:xfrm>
            <a:off x="35496" y="914400"/>
            <a:ext cx="8686800" cy="5562600"/>
          </a:xfrm>
        </p:spPr>
        <p:txBody>
          <a:bodyPr>
            <a:normAutofit fontScale="85000" lnSpcReduction="20000"/>
          </a:bodyPr>
          <a:lstStyle/>
          <a:p>
            <a:r>
              <a:rPr lang="bn-BD" sz="3000" dirty="0">
                <a:solidFill>
                  <a:srgbClr val="C00000"/>
                </a:solidFill>
              </a:rPr>
              <a:t>Using microcontrollers embedded systems are produced</a:t>
            </a:r>
          </a:p>
          <a:p>
            <a:r>
              <a:rPr lang="bn-BD" sz="3000" dirty="0">
                <a:solidFill>
                  <a:srgbClr val="C00000"/>
                </a:solidFill>
              </a:rPr>
              <a:t>An embedded system is a combination of hardware and software built for a specific application </a:t>
            </a:r>
          </a:p>
          <a:p>
            <a:pPr lvl="1"/>
            <a:r>
              <a:rPr lang="bn-BD" sz="3000" dirty="0">
                <a:solidFill>
                  <a:srgbClr val="C00000"/>
                </a:solidFill>
              </a:rPr>
              <a:t>Consumer electronics making toys, cameras, camcorders, robots</a:t>
            </a:r>
          </a:p>
          <a:p>
            <a:pPr lvl="1"/>
            <a:r>
              <a:rPr lang="bn-BD" sz="3000" dirty="0">
                <a:solidFill>
                  <a:srgbClr val="C00000"/>
                </a:solidFill>
              </a:rPr>
              <a:t>Consumer products - washing machines, microwave ovens etc.</a:t>
            </a:r>
          </a:p>
          <a:p>
            <a:pPr lvl="1"/>
            <a:r>
              <a:rPr lang="bn-BD" sz="3000" dirty="0">
                <a:solidFill>
                  <a:srgbClr val="C00000"/>
                </a:solidFill>
              </a:rPr>
              <a:t>Instrumentation - oscilloscopes, various medical equipments,  </a:t>
            </a:r>
          </a:p>
          <a:p>
            <a:pPr lvl="1"/>
            <a:r>
              <a:rPr lang="bn-BD" sz="3000" dirty="0">
                <a:solidFill>
                  <a:srgbClr val="C00000"/>
                </a:solidFill>
              </a:rPr>
              <a:t>Process control - data aquisition, controlling various industries</a:t>
            </a:r>
          </a:p>
          <a:p>
            <a:pPr lvl="1"/>
            <a:r>
              <a:rPr lang="bn-BD" sz="3000" dirty="0">
                <a:solidFill>
                  <a:srgbClr val="C00000"/>
                </a:solidFill>
              </a:rPr>
              <a:t>Communication – Telephone, answering machines</a:t>
            </a:r>
          </a:p>
          <a:p>
            <a:pPr lvl="1"/>
            <a:r>
              <a:rPr lang="bn-BD" sz="3000" dirty="0">
                <a:solidFill>
                  <a:srgbClr val="C00000"/>
                </a:solidFill>
              </a:rPr>
              <a:t>Office equipments – Fax, printer, small PABX</a:t>
            </a:r>
          </a:p>
          <a:p>
            <a:pPr lvl="1"/>
            <a:r>
              <a:rPr lang="bn-BD" sz="3000" dirty="0">
                <a:solidFill>
                  <a:srgbClr val="C00000"/>
                </a:solidFill>
              </a:rPr>
              <a:t>Micromedia application – Cell phones, PDAs, teleconferencing equipment</a:t>
            </a:r>
          </a:p>
          <a:p>
            <a:pPr lvl="1"/>
            <a:endParaRPr lang="bn-BD" dirty="0">
              <a:solidFill>
                <a:srgbClr val="C00000"/>
              </a:solidFill>
            </a:endParaRPr>
          </a:p>
          <a:p>
            <a:endParaRPr lang="en-US" dirty="0">
              <a:solidFill>
                <a:srgbClr val="C00000"/>
              </a:solidFill>
            </a:endParaRPr>
          </a:p>
        </p:txBody>
      </p:sp>
      <p:sp>
        <p:nvSpPr>
          <p:cNvPr id="7" name="Slide Number Placeholder 4"/>
          <p:cNvSpPr>
            <a:spLocks noGrp="1"/>
          </p:cNvSpPr>
          <p:nvPr>
            <p:ph type="sldNum" sz="quarter" idx="12"/>
          </p:nvPr>
        </p:nvSpPr>
        <p:spPr>
          <a:xfrm>
            <a:off x="8204396" y="6476999"/>
            <a:ext cx="733864" cy="274320"/>
          </a:xfrm>
        </p:spPr>
        <p:txBody>
          <a:bodyPr/>
          <a:lstStyle/>
          <a:p>
            <a:fld id="{85680E6B-D304-4AD8-B731-F6F7592143E8}" type="slidenum">
              <a:rPr lang="en-US" smtClean="0"/>
              <a:pPr/>
              <a:t>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 calcmode="lin" valueType="num">
                                      <p:cBhvr additive="base">
                                        <p:cTn id="1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anim calcmode="lin" valueType="num">
                                      <p:cBhvr additive="base">
                                        <p:cTn id="21"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anim calcmode="lin" valueType="num">
                                      <p:cBhvr additive="base">
                                        <p:cTn id="25"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5">
                                            <p:txEl>
                                              <p:pRg st="5" end="5"/>
                                            </p:txEl>
                                          </p:spTgt>
                                        </p:tgtEl>
                                        <p:attrNameLst>
                                          <p:attrName>style.visibility</p:attrName>
                                        </p:attrNameLst>
                                      </p:cBhvr>
                                      <p:to>
                                        <p:strVal val="visible"/>
                                      </p:to>
                                    </p:set>
                                    <p:anim calcmode="lin" valueType="num">
                                      <p:cBhvr additive="base">
                                        <p:cTn id="29"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5">
                                            <p:txEl>
                                              <p:pRg st="6" end="6"/>
                                            </p:txEl>
                                          </p:spTgt>
                                        </p:tgtEl>
                                        <p:attrNameLst>
                                          <p:attrName>style.visibility</p:attrName>
                                        </p:attrNameLst>
                                      </p:cBhvr>
                                      <p:to>
                                        <p:strVal val="visible"/>
                                      </p:to>
                                    </p:set>
                                    <p:anim calcmode="lin" valueType="num">
                                      <p:cBhvr additive="base">
                                        <p:cTn id="33"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5">
                                            <p:txEl>
                                              <p:pRg st="7" end="7"/>
                                            </p:txEl>
                                          </p:spTgt>
                                        </p:tgtEl>
                                        <p:attrNameLst>
                                          <p:attrName>style.visibility</p:attrName>
                                        </p:attrNameLst>
                                      </p:cBhvr>
                                      <p:to>
                                        <p:strVal val="visible"/>
                                      </p:to>
                                    </p:set>
                                    <p:anim calcmode="lin" valueType="num">
                                      <p:cBhvr additive="base">
                                        <p:cTn id="37"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7" end="7"/>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5">
                                            <p:txEl>
                                              <p:pRg st="8" end="8"/>
                                            </p:txEl>
                                          </p:spTgt>
                                        </p:tgtEl>
                                        <p:attrNameLst>
                                          <p:attrName>style.visibility</p:attrName>
                                        </p:attrNameLst>
                                      </p:cBhvr>
                                      <p:to>
                                        <p:strVal val="visible"/>
                                      </p:to>
                                    </p:set>
                                    <p:anim calcmode="lin" valueType="num">
                                      <p:cBhvr additive="base">
                                        <p:cTn id="41"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8229600" cy="591312"/>
          </a:xfrm>
        </p:spPr>
        <p:txBody>
          <a:bodyPr>
            <a:normAutofit fontScale="90000"/>
          </a:bodyPr>
          <a:lstStyle/>
          <a:p>
            <a:r>
              <a:rPr lang="en-US" dirty="0"/>
              <a:t>Microprocessor </a:t>
            </a:r>
            <a:r>
              <a:rPr lang="en-US" dirty="0" err="1"/>
              <a:t>vs</a:t>
            </a:r>
            <a:r>
              <a:rPr lang="en-US" dirty="0"/>
              <a:t> Microcontroller</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229892432"/>
              </p:ext>
            </p:extLst>
          </p:nvPr>
        </p:nvGraphicFramePr>
        <p:xfrm>
          <a:off x="304800" y="914400"/>
          <a:ext cx="8229600" cy="57658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70840">
                <a:tc>
                  <a:txBody>
                    <a:bodyPr/>
                    <a:lstStyle/>
                    <a:p>
                      <a:r>
                        <a:rPr lang="en-US" dirty="0"/>
                        <a:t>Microprocessor</a:t>
                      </a:r>
                    </a:p>
                  </a:txBody>
                  <a:tcPr/>
                </a:tc>
                <a:tc>
                  <a:txBody>
                    <a:bodyPr/>
                    <a:lstStyle/>
                    <a:p>
                      <a:r>
                        <a:rPr lang="en-US" dirty="0"/>
                        <a:t>Microcontroller</a:t>
                      </a:r>
                    </a:p>
                  </a:txBody>
                  <a:tcPr/>
                </a:tc>
                <a:extLst>
                  <a:ext uri="{0D108BD9-81ED-4DB2-BD59-A6C34878D82A}">
                    <a16:rowId xmlns:a16="http://schemas.microsoft.com/office/drawing/2014/main" val="10000"/>
                  </a:ext>
                </a:extLst>
              </a:tr>
              <a:tr h="370840">
                <a:tc>
                  <a:txBody>
                    <a:bodyPr/>
                    <a:lstStyle/>
                    <a:p>
                      <a:r>
                        <a:rPr lang="en-US" dirty="0"/>
                        <a:t>1. A silicon chip representing a central processing unit (CPU), which is capable of performing arithmetic as well as logical operations according to a pre-defined set of instructions.</a:t>
                      </a:r>
                    </a:p>
                  </a:txBody>
                  <a:tcPr/>
                </a:tc>
                <a:tc>
                  <a:txBody>
                    <a:bodyPr/>
                    <a:lstStyle/>
                    <a:p>
                      <a:r>
                        <a:rPr lang="en-US" dirty="0"/>
                        <a:t>1. A microcontroller is a highly integrated chip that contains a CPU, RAM, special and general purpose register arrays, on chip flash memory for program storage, timer and interrupt control units and dedicated I/O ports.</a:t>
                      </a:r>
                    </a:p>
                  </a:txBody>
                  <a:tcPr/>
                </a:tc>
                <a:extLst>
                  <a:ext uri="{0D108BD9-81ED-4DB2-BD59-A6C34878D82A}">
                    <a16:rowId xmlns:a16="http://schemas.microsoft.com/office/drawing/2014/main" val="10001"/>
                  </a:ext>
                </a:extLst>
              </a:tr>
              <a:tr h="370840">
                <a:tc>
                  <a:txBody>
                    <a:bodyPr/>
                    <a:lstStyle/>
                    <a:p>
                      <a:r>
                        <a:rPr lang="en-US" dirty="0"/>
                        <a:t>2. It is a dependent unit. It requires the combination of other chips like timers, program and data memory chips, interrupt controllers etc. for functionality.</a:t>
                      </a:r>
                    </a:p>
                  </a:txBody>
                  <a:tcPr/>
                </a:tc>
                <a:tc>
                  <a:txBody>
                    <a:bodyPr/>
                    <a:lstStyle/>
                    <a:p>
                      <a:r>
                        <a:rPr lang="en-US" dirty="0"/>
                        <a:t>2. It is a self-contained unit and it does not require external interrupt controller, timer, UART etc. for it's functioning.</a:t>
                      </a:r>
                    </a:p>
                  </a:txBody>
                  <a:tcPr/>
                </a:tc>
                <a:extLst>
                  <a:ext uri="{0D108BD9-81ED-4DB2-BD59-A6C34878D82A}">
                    <a16:rowId xmlns:a16="http://schemas.microsoft.com/office/drawing/2014/main" val="10002"/>
                  </a:ext>
                </a:extLst>
              </a:tr>
              <a:tr h="370840">
                <a:tc>
                  <a:txBody>
                    <a:bodyPr/>
                    <a:lstStyle/>
                    <a:p>
                      <a:r>
                        <a:rPr lang="en-US" dirty="0"/>
                        <a:t>3. Most of the time general purpose in design and operation.</a:t>
                      </a:r>
                    </a:p>
                  </a:txBody>
                  <a:tcPr/>
                </a:tc>
                <a:tc>
                  <a:txBody>
                    <a:bodyPr/>
                    <a:lstStyle/>
                    <a:p>
                      <a:r>
                        <a:rPr lang="en-US" dirty="0"/>
                        <a:t>3. Mostly application-oriented.</a:t>
                      </a:r>
                    </a:p>
                  </a:txBody>
                  <a:tcPr/>
                </a:tc>
                <a:extLst>
                  <a:ext uri="{0D108BD9-81ED-4DB2-BD59-A6C34878D82A}">
                    <a16:rowId xmlns:a16="http://schemas.microsoft.com/office/drawing/2014/main" val="10003"/>
                  </a:ext>
                </a:extLst>
              </a:tr>
              <a:tr h="370840">
                <a:tc>
                  <a:txBody>
                    <a:bodyPr/>
                    <a:lstStyle/>
                    <a:p>
                      <a:r>
                        <a:rPr lang="en-US" dirty="0"/>
                        <a:t>4. Targeted for high end market where performance is important.</a:t>
                      </a:r>
                    </a:p>
                  </a:txBody>
                  <a:tcPr/>
                </a:tc>
                <a:tc>
                  <a:txBody>
                    <a:bodyPr/>
                    <a:lstStyle/>
                    <a:p>
                      <a:r>
                        <a:rPr lang="en-US" dirty="0"/>
                        <a:t>4. Targeted for embedded market where performance is not so critical.</a:t>
                      </a:r>
                    </a:p>
                  </a:txBody>
                  <a:tcPr/>
                </a:tc>
                <a:extLst>
                  <a:ext uri="{0D108BD9-81ED-4DB2-BD59-A6C34878D82A}">
                    <a16:rowId xmlns:a16="http://schemas.microsoft.com/office/drawing/2014/main" val="10004"/>
                  </a:ext>
                </a:extLst>
              </a:tr>
              <a:tr h="370840">
                <a:tc>
                  <a:txBody>
                    <a:bodyPr/>
                    <a:lstStyle/>
                    <a:p>
                      <a:r>
                        <a:rPr lang="en-US" dirty="0"/>
                        <a:t>5. Limited power saving options compared to microcontrollers.</a:t>
                      </a:r>
                    </a:p>
                  </a:txBody>
                  <a:tcPr/>
                </a:tc>
                <a:tc>
                  <a:txBody>
                    <a:bodyPr/>
                    <a:lstStyle/>
                    <a:p>
                      <a:r>
                        <a:rPr lang="en-US" dirty="0"/>
                        <a:t>5. Includes lot of power saving features.</a:t>
                      </a:r>
                    </a:p>
                  </a:txBody>
                  <a:tcPr/>
                </a:tc>
                <a:extLst>
                  <a:ext uri="{0D108BD9-81ED-4DB2-BD59-A6C34878D82A}">
                    <a16:rowId xmlns:a16="http://schemas.microsoft.com/office/drawing/2014/main" val="10005"/>
                  </a:ext>
                </a:extLst>
              </a:tr>
            </a:tbl>
          </a:graphicData>
        </a:graphic>
      </p:graphicFrame>
      <p:sp>
        <p:nvSpPr>
          <p:cNvPr id="4" name="Slide Number Placeholder 3"/>
          <p:cNvSpPr>
            <a:spLocks noGrp="1"/>
          </p:cNvSpPr>
          <p:nvPr>
            <p:ph type="sldNum" sz="quarter" idx="12"/>
          </p:nvPr>
        </p:nvSpPr>
        <p:spPr/>
        <p:txBody>
          <a:bodyPr/>
          <a:lstStyle/>
          <a:p>
            <a:fld id="{28AE0400-5D2F-4E31-9F19-A66B4B0C89DF}" type="slidenum">
              <a:rPr lang="en-US" smtClean="0"/>
              <a:pPr/>
              <a:t>6</a:t>
            </a:fld>
            <a:endParaRPr lang="en-US"/>
          </a:p>
        </p:txBody>
      </p:sp>
    </p:spTree>
    <p:extLst>
      <p:ext uri="{BB962C8B-B14F-4D97-AF65-F5344CB8AC3E}">
        <p14:creationId xmlns:p14="http://schemas.microsoft.com/office/powerpoint/2010/main" val="31859196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sz="2800" b="1" dirty="0"/>
              <a:t>       </a:t>
            </a:r>
          </a:p>
          <a:p>
            <a:pPr marL="0" indent="0">
              <a:buNone/>
            </a:pPr>
            <a:endParaRPr lang="en-US" sz="2800" b="1" dirty="0"/>
          </a:p>
          <a:p>
            <a:pPr marL="0" indent="0">
              <a:buNone/>
            </a:pPr>
            <a:r>
              <a:rPr lang="en-US" sz="2800" b="1" dirty="0"/>
              <a:t>Criteria for choosing a microcontroller or a microprocessor</a:t>
            </a:r>
            <a:endParaRPr lang="en-US" dirty="0"/>
          </a:p>
        </p:txBody>
      </p:sp>
      <p:sp>
        <p:nvSpPr>
          <p:cNvPr id="4" name="Slide Number Placeholder 3"/>
          <p:cNvSpPr>
            <a:spLocks noGrp="1"/>
          </p:cNvSpPr>
          <p:nvPr>
            <p:ph type="sldNum" sz="quarter" idx="12"/>
          </p:nvPr>
        </p:nvSpPr>
        <p:spPr/>
        <p:txBody>
          <a:bodyPr/>
          <a:lstStyle/>
          <a:p>
            <a:fld id="{28AE0400-5D2F-4E31-9F19-A66B4B0C89DF}" type="slidenum">
              <a:rPr lang="en-US" smtClean="0"/>
              <a:pPr/>
              <a:t>7</a:t>
            </a:fld>
            <a:endParaRPr lang="en-US"/>
          </a:p>
        </p:txBody>
      </p:sp>
    </p:spTree>
    <p:extLst>
      <p:ext uri="{BB962C8B-B14F-4D97-AF65-F5344CB8AC3E}">
        <p14:creationId xmlns:p14="http://schemas.microsoft.com/office/powerpoint/2010/main" val="23637580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p:cNvSpPr>
            <a:spLocks noGrp="1" noChangeArrowheads="1"/>
          </p:cNvSpPr>
          <p:nvPr>
            <p:ph type="title"/>
          </p:nvPr>
        </p:nvSpPr>
        <p:spPr>
          <a:xfrm>
            <a:off x="471055" y="457200"/>
            <a:ext cx="8229600" cy="566928"/>
          </a:xfrm>
        </p:spPr>
        <p:txBody>
          <a:bodyPr>
            <a:noAutofit/>
          </a:bodyPr>
          <a:lstStyle/>
          <a:p>
            <a:r>
              <a:rPr lang="en-US" sz="4000" b="1" dirty="0">
                <a:solidFill>
                  <a:schemeClr val="tx1"/>
                </a:solidFill>
              </a:rPr>
              <a:t>Criteria for choosing a microcontroller</a:t>
            </a:r>
          </a:p>
        </p:txBody>
      </p:sp>
      <p:sp>
        <p:nvSpPr>
          <p:cNvPr id="5" name="Rectangle 3"/>
          <p:cNvSpPr>
            <a:spLocks noGrp="1" noChangeArrowheads="1"/>
          </p:cNvSpPr>
          <p:nvPr>
            <p:ph idx="1"/>
          </p:nvPr>
        </p:nvSpPr>
        <p:spPr>
          <a:xfrm>
            <a:off x="457200" y="1024128"/>
            <a:ext cx="8229600" cy="5727191"/>
          </a:xfrm>
        </p:spPr>
        <p:txBody>
          <a:bodyPr>
            <a:normAutofit/>
          </a:bodyPr>
          <a:lstStyle/>
          <a:p>
            <a:r>
              <a:rPr lang="en-US" sz="3200" dirty="0">
                <a:solidFill>
                  <a:srgbClr val="C00000"/>
                </a:solidFill>
              </a:rPr>
              <a:t>The first and foremost criterion in choosing a microcontroller is that it must meet the task at hand efficiently and cost effectively</a:t>
            </a:r>
          </a:p>
          <a:p>
            <a:r>
              <a:rPr lang="en-US" sz="3200" dirty="0">
                <a:solidFill>
                  <a:srgbClr val="C00000"/>
                </a:solidFill>
              </a:rPr>
              <a:t>In analyzing the need of a microcontroller based project, we must see whether an 8-bit, 16-bit or 32-bit microcontroller can best handle the computing needs of the task most effectively.</a:t>
            </a:r>
          </a:p>
        </p:txBody>
      </p:sp>
      <p:sp>
        <p:nvSpPr>
          <p:cNvPr id="7" name="Slide Number Placeholder 4"/>
          <p:cNvSpPr>
            <a:spLocks noGrp="1"/>
          </p:cNvSpPr>
          <p:nvPr>
            <p:ph type="sldNum" sz="quarter" idx="12"/>
          </p:nvPr>
        </p:nvSpPr>
        <p:spPr>
          <a:xfrm>
            <a:off x="8204396" y="6476999"/>
            <a:ext cx="733864" cy="274320"/>
          </a:xfrm>
        </p:spPr>
        <p:txBody>
          <a:bodyPr/>
          <a:lstStyle/>
          <a:p>
            <a:fld id="{85680E6B-D304-4AD8-B731-F6F7592143E8}" type="slidenum">
              <a:rPr lang="en-US" smtClean="0"/>
              <a:pPr/>
              <a:t>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2"/>
          <p:cNvSpPr>
            <a:spLocks noGrp="1" noChangeArrowheads="1"/>
          </p:cNvSpPr>
          <p:nvPr>
            <p:ph type="title"/>
          </p:nvPr>
        </p:nvSpPr>
        <p:spPr>
          <a:xfrm>
            <a:off x="471055" y="152400"/>
            <a:ext cx="8229600" cy="643128"/>
          </a:xfrm>
        </p:spPr>
        <p:txBody>
          <a:bodyPr>
            <a:noAutofit/>
          </a:bodyPr>
          <a:lstStyle/>
          <a:p>
            <a:r>
              <a:rPr lang="en-US" sz="4000" b="1" dirty="0">
                <a:solidFill>
                  <a:schemeClr val="tx1"/>
                </a:solidFill>
              </a:rPr>
              <a:t>Criteria for choosing a microcontroller </a:t>
            </a:r>
          </a:p>
        </p:txBody>
      </p:sp>
      <p:sp>
        <p:nvSpPr>
          <p:cNvPr id="4" name="Content Placeholder 2"/>
          <p:cNvSpPr>
            <a:spLocks noGrp="1"/>
          </p:cNvSpPr>
          <p:nvPr>
            <p:ph idx="1"/>
          </p:nvPr>
        </p:nvSpPr>
        <p:spPr>
          <a:xfrm>
            <a:off x="152400" y="795528"/>
            <a:ext cx="8686800" cy="5833872"/>
          </a:xfrm>
        </p:spPr>
        <p:txBody>
          <a:bodyPr>
            <a:noAutofit/>
          </a:bodyPr>
          <a:lstStyle/>
          <a:p>
            <a:r>
              <a:rPr lang="en-US" sz="3200" dirty="0">
                <a:solidFill>
                  <a:srgbClr val="C00000"/>
                </a:solidFill>
              </a:rPr>
              <a:t>Among other considerations in this category are:</a:t>
            </a:r>
          </a:p>
          <a:p>
            <a:pPr marL="971550" lvl="1" indent="-514350">
              <a:buAutoNum type="alphaLcParenBoth"/>
              <a:tabLst>
                <a:tab pos="1149350" algn="l"/>
              </a:tabLst>
            </a:pPr>
            <a:r>
              <a:rPr lang="en-US" sz="2800" dirty="0">
                <a:solidFill>
                  <a:srgbClr val="C00000"/>
                </a:solidFill>
              </a:rPr>
              <a:t>Speed: What is the highest speed that the microcontroller supports?</a:t>
            </a:r>
          </a:p>
          <a:p>
            <a:pPr marL="914400" lvl="1" indent="-457200">
              <a:buNone/>
              <a:tabLst>
                <a:tab pos="1149350" algn="l"/>
              </a:tabLst>
            </a:pPr>
            <a:r>
              <a:rPr lang="en-US" sz="2800" dirty="0">
                <a:solidFill>
                  <a:srgbClr val="C00000"/>
                </a:solidFill>
              </a:rPr>
              <a:t>(b) Power Consumption: critical for battery powered products</a:t>
            </a:r>
          </a:p>
          <a:p>
            <a:pPr marL="914400" lvl="1" indent="-457200">
              <a:buNone/>
              <a:tabLst>
                <a:tab pos="1149350" algn="l"/>
              </a:tabLst>
            </a:pPr>
            <a:r>
              <a:rPr lang="en-US" sz="2800" dirty="0">
                <a:solidFill>
                  <a:srgbClr val="C00000"/>
                </a:solidFill>
              </a:rPr>
              <a:t>(c) The amount of ROM and RAM on chip</a:t>
            </a:r>
          </a:p>
          <a:p>
            <a:pPr marL="914400" lvl="1" indent="-457200">
              <a:buNone/>
              <a:tabLst>
                <a:tab pos="1149350" algn="l"/>
              </a:tabLst>
            </a:pPr>
            <a:r>
              <a:rPr lang="en-US" sz="2800" dirty="0">
                <a:solidFill>
                  <a:srgbClr val="C00000"/>
                </a:solidFill>
              </a:rPr>
              <a:t>(d ) The number of I/O pins &amp; Analog to Digital conversion support</a:t>
            </a:r>
          </a:p>
          <a:p>
            <a:pPr marL="914400" lvl="1" indent="-457200">
              <a:buNone/>
              <a:tabLst>
                <a:tab pos="1149350" algn="l"/>
              </a:tabLst>
            </a:pPr>
            <a:r>
              <a:rPr lang="en-US" sz="2800">
                <a:solidFill>
                  <a:srgbClr val="C00000"/>
                </a:solidFill>
              </a:rPr>
              <a:t>(e) </a:t>
            </a:r>
            <a:r>
              <a:rPr lang="en-US" sz="2800" dirty="0">
                <a:solidFill>
                  <a:srgbClr val="C00000"/>
                </a:solidFill>
              </a:rPr>
              <a:t>Cost per unit</a:t>
            </a:r>
          </a:p>
          <a:p>
            <a:pPr marL="914400" lvl="1" indent="-457200">
              <a:buNone/>
              <a:tabLst>
                <a:tab pos="1149350" algn="l"/>
              </a:tabLst>
            </a:pPr>
            <a:endParaRPr lang="en-US" sz="2800" dirty="0">
              <a:solidFill>
                <a:srgbClr val="C00000"/>
              </a:solidFill>
            </a:endParaRPr>
          </a:p>
        </p:txBody>
      </p:sp>
      <p:sp>
        <p:nvSpPr>
          <p:cNvPr id="7" name="Slide Number Placeholder 4"/>
          <p:cNvSpPr>
            <a:spLocks noGrp="1"/>
          </p:cNvSpPr>
          <p:nvPr>
            <p:ph type="sldNum" sz="quarter" idx="12"/>
          </p:nvPr>
        </p:nvSpPr>
        <p:spPr>
          <a:xfrm>
            <a:off x="8204396" y="6476999"/>
            <a:ext cx="733864" cy="274320"/>
          </a:xfrm>
        </p:spPr>
        <p:txBody>
          <a:bodyPr/>
          <a:lstStyle/>
          <a:p>
            <a:fld id="{85680E6B-D304-4AD8-B731-F6F7592143E8}"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7588" y="381000"/>
            <a:ext cx="8229600" cy="438912"/>
          </a:xfrm>
        </p:spPr>
        <p:txBody>
          <a:bodyPr>
            <a:normAutofit fontScale="90000"/>
          </a:bodyPr>
          <a:lstStyle/>
          <a:p>
            <a:r>
              <a:rPr lang="en-US" dirty="0"/>
              <a:t>Raspberry pi and </a:t>
            </a:r>
            <a:r>
              <a:rPr lang="en-US" dirty="0" err="1"/>
              <a:t>Arduino</a:t>
            </a:r>
            <a:endParaRPr lang="en-US" dirty="0"/>
          </a:p>
        </p:txBody>
      </p:sp>
      <p:pic>
        <p:nvPicPr>
          <p:cNvPr id="5"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06020" y="791478"/>
            <a:ext cx="8128379" cy="5759719"/>
          </a:xfrm>
        </p:spPr>
      </p:pic>
      <p:sp>
        <p:nvSpPr>
          <p:cNvPr id="4" name="Slide Number Placeholder 3"/>
          <p:cNvSpPr>
            <a:spLocks noGrp="1"/>
          </p:cNvSpPr>
          <p:nvPr>
            <p:ph type="sldNum" sz="quarter" idx="12"/>
          </p:nvPr>
        </p:nvSpPr>
        <p:spPr/>
        <p:txBody>
          <a:bodyPr/>
          <a:lstStyle/>
          <a:p>
            <a:fld id="{28AE0400-5D2F-4E31-9F19-A66B4B0C89DF}" type="slidenum">
              <a:rPr lang="en-US" smtClean="0"/>
              <a:pPr/>
              <a:t>10</a:t>
            </a:fld>
            <a:endParaRPr lang="en-US"/>
          </a:p>
        </p:txBody>
      </p:sp>
    </p:spTree>
    <p:extLst>
      <p:ext uri="{BB962C8B-B14F-4D97-AF65-F5344CB8AC3E}">
        <p14:creationId xmlns:p14="http://schemas.microsoft.com/office/powerpoint/2010/main" val="1675594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8AE0400-5D2F-4E31-9F19-A66B4B0C89DF}" type="slidenum">
              <a:rPr lang="en-US" smtClean="0"/>
              <a:pPr/>
              <a:t>11</a:t>
            </a:fld>
            <a:endParaRPr lang="en-US"/>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8584" y="304800"/>
            <a:ext cx="8929216" cy="5638800"/>
          </a:xfrm>
          <a:prstGeom prst="rect">
            <a:avLst/>
          </a:prstGeom>
        </p:spPr>
      </p:pic>
    </p:spTree>
    <p:extLst>
      <p:ext uri="{BB962C8B-B14F-4D97-AF65-F5344CB8AC3E}">
        <p14:creationId xmlns:p14="http://schemas.microsoft.com/office/powerpoint/2010/main" val="13240808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1370"/>
            <a:ext cx="9296400" cy="562356"/>
          </a:xfrm>
        </p:spPr>
        <p:txBody>
          <a:bodyPr>
            <a:normAutofit fontScale="90000"/>
          </a:bodyPr>
          <a:lstStyle/>
          <a:p>
            <a:r>
              <a:rPr lang="en-US" dirty="0"/>
              <a:t>Features of Raspberry pi and Arduino</a:t>
            </a:r>
          </a:p>
        </p:txBody>
      </p:sp>
      <p:sp>
        <p:nvSpPr>
          <p:cNvPr id="4" name="Slide Number Placeholder 3"/>
          <p:cNvSpPr>
            <a:spLocks noGrp="1"/>
          </p:cNvSpPr>
          <p:nvPr>
            <p:ph type="sldNum" sz="quarter" idx="12"/>
          </p:nvPr>
        </p:nvSpPr>
        <p:spPr/>
        <p:txBody>
          <a:bodyPr/>
          <a:lstStyle/>
          <a:p>
            <a:fld id="{28AE0400-5D2F-4E31-9F19-A66B4B0C89DF}" type="slidenum">
              <a:rPr lang="en-US" smtClean="0"/>
              <a:pPr/>
              <a:t>12</a:t>
            </a:fld>
            <a:endParaRPr lang="en-US"/>
          </a:p>
        </p:txBody>
      </p:sp>
      <p:graphicFrame>
        <p:nvGraphicFramePr>
          <p:cNvPr id="11" name="Table 10"/>
          <p:cNvGraphicFramePr>
            <a:graphicFrameLocks noGrp="1"/>
          </p:cNvGraphicFramePr>
          <p:nvPr>
            <p:extLst>
              <p:ext uri="{D42A27DB-BD31-4B8C-83A1-F6EECF244321}">
                <p14:modId xmlns:p14="http://schemas.microsoft.com/office/powerpoint/2010/main" val="3675780940"/>
              </p:ext>
            </p:extLst>
          </p:nvPr>
        </p:nvGraphicFramePr>
        <p:xfrm>
          <a:off x="401472" y="762000"/>
          <a:ext cx="8285328" cy="5791201"/>
        </p:xfrm>
        <a:graphic>
          <a:graphicData uri="http://schemas.openxmlformats.org/drawingml/2006/table">
            <a:tbl>
              <a:tblPr firstRow="1" bandRow="1">
                <a:tableStyleId>{5C22544A-7EE6-4342-B048-85BDC9FD1C3A}</a:tableStyleId>
              </a:tblPr>
              <a:tblGrid>
                <a:gridCol w="4142664">
                  <a:extLst>
                    <a:ext uri="{9D8B030D-6E8A-4147-A177-3AD203B41FA5}">
                      <a16:colId xmlns:a16="http://schemas.microsoft.com/office/drawing/2014/main" val="20000"/>
                    </a:ext>
                  </a:extLst>
                </a:gridCol>
                <a:gridCol w="4142664">
                  <a:extLst>
                    <a:ext uri="{9D8B030D-6E8A-4147-A177-3AD203B41FA5}">
                      <a16:colId xmlns:a16="http://schemas.microsoft.com/office/drawing/2014/main" val="20001"/>
                    </a:ext>
                  </a:extLst>
                </a:gridCol>
              </a:tblGrid>
              <a:tr h="97681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a:t>Raspberry</a:t>
                      </a:r>
                      <a:r>
                        <a:rPr lang="en-US" sz="2800" baseline="0" dirty="0"/>
                        <a:t> pi</a:t>
                      </a:r>
                      <a:endParaRPr lang="en-US" sz="28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t>Arduino</a:t>
                      </a:r>
                      <a:endParaRPr lang="en-US" sz="2800" dirty="0"/>
                    </a:p>
                  </a:txBody>
                  <a:tcPr/>
                </a:tc>
                <a:extLst>
                  <a:ext uri="{0D108BD9-81ED-4DB2-BD59-A6C34878D82A}">
                    <a16:rowId xmlns:a16="http://schemas.microsoft.com/office/drawing/2014/main" val="10000"/>
                  </a:ext>
                </a:extLst>
              </a:tr>
              <a:tr h="1573935">
                <a:tc>
                  <a:txBody>
                    <a:bodyPr/>
                    <a:lstStyle/>
                    <a:p>
                      <a:r>
                        <a:rPr lang="en-US" sz="2400" dirty="0"/>
                        <a:t>The Raspberry Pi is a microprocessor based single-board computer.</a:t>
                      </a:r>
                    </a:p>
                  </a:txBody>
                  <a:tcPr/>
                </a:tc>
                <a:tc>
                  <a:txBody>
                    <a:bodyPr/>
                    <a:lstStyle/>
                    <a:p>
                      <a:r>
                        <a:rPr lang="en-US" sz="2400" dirty="0"/>
                        <a:t>The </a:t>
                      </a:r>
                      <a:r>
                        <a:rPr lang="en-US" sz="2400" dirty="0" err="1"/>
                        <a:t>Arduino</a:t>
                      </a:r>
                      <a:r>
                        <a:rPr lang="en-US" sz="2400" dirty="0"/>
                        <a:t> Uno is a microcontroller based physical computing platform.</a:t>
                      </a:r>
                    </a:p>
                  </a:txBody>
                  <a:tcPr/>
                </a:tc>
                <a:extLst>
                  <a:ext uri="{0D108BD9-81ED-4DB2-BD59-A6C34878D82A}">
                    <a16:rowId xmlns:a16="http://schemas.microsoft.com/office/drawing/2014/main" val="10001"/>
                  </a:ext>
                </a:extLst>
              </a:tr>
              <a:tr h="8332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2400" b="0" i="0" kern="1200" dirty="0">
                          <a:solidFill>
                            <a:schemeClr val="dk1"/>
                          </a:solidFill>
                          <a:effectLst/>
                          <a:latin typeface="+mn-lt"/>
                          <a:ea typeface="+mn-ea"/>
                          <a:cs typeface="+mn-cs"/>
                        </a:rPr>
                        <a:t>Runs a full fledged Linux OS</a:t>
                      </a:r>
                    </a:p>
                  </a:txBody>
                  <a:tcPr/>
                </a:tc>
                <a:tc>
                  <a:txBody>
                    <a:bodyPr/>
                    <a:lstStyle/>
                    <a:p>
                      <a:r>
                        <a:rPr lang="en-US" sz="2400" dirty="0"/>
                        <a:t>Runs a single program.</a:t>
                      </a:r>
                    </a:p>
                  </a:txBody>
                  <a:tcPr/>
                </a:tc>
                <a:extLst>
                  <a:ext uri="{0D108BD9-81ED-4DB2-BD59-A6C34878D82A}">
                    <a16:rowId xmlns:a16="http://schemas.microsoft.com/office/drawing/2014/main" val="10002"/>
                  </a:ext>
                </a:extLst>
              </a:tr>
              <a:tr h="8332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2400" b="0" i="0" kern="1200" dirty="0">
                          <a:solidFill>
                            <a:schemeClr val="dk1"/>
                          </a:solidFill>
                          <a:effectLst/>
                          <a:latin typeface="+mn-lt"/>
                          <a:ea typeface="+mn-ea"/>
                          <a:cs typeface="+mn-cs"/>
                        </a:rPr>
                        <a:t>Doesn't support Analog IO</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2400" b="0" i="0" kern="1200" dirty="0">
                          <a:solidFill>
                            <a:schemeClr val="dk1"/>
                          </a:solidFill>
                          <a:effectLst/>
                          <a:latin typeface="+mn-lt"/>
                          <a:ea typeface="+mn-ea"/>
                          <a:cs typeface="+mn-cs"/>
                        </a:rPr>
                        <a:t>Support for Analogue IO</a:t>
                      </a:r>
                    </a:p>
                  </a:txBody>
                  <a:tcPr/>
                </a:tc>
                <a:extLst>
                  <a:ext uri="{0D108BD9-81ED-4DB2-BD59-A6C34878D82A}">
                    <a16:rowId xmlns:a16="http://schemas.microsoft.com/office/drawing/2014/main" val="10003"/>
                  </a:ext>
                </a:extLst>
              </a:tr>
              <a:tr h="1573935">
                <a:tc>
                  <a:txBody>
                    <a:bodyPr/>
                    <a:lstStyle/>
                    <a:p>
                      <a:r>
                        <a:rPr lang="en-US" sz="2400" dirty="0"/>
                        <a:t>1.2 </a:t>
                      </a:r>
                      <a:r>
                        <a:rPr lang="en-US" sz="2400" dirty="0" err="1"/>
                        <a:t>Ghz</a:t>
                      </a:r>
                      <a:r>
                        <a:rPr lang="en-US" sz="2400" dirty="0"/>
                        <a:t> Processor with 1</a:t>
                      </a:r>
                      <a:r>
                        <a:rPr lang="en-US" sz="2400" baseline="0" dirty="0"/>
                        <a:t> GB</a:t>
                      </a:r>
                      <a:r>
                        <a:rPr lang="en-US" sz="2400" dirty="0"/>
                        <a:t> of RAM</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2400" b="0" i="0" kern="1200" dirty="0">
                          <a:solidFill>
                            <a:schemeClr val="dk1"/>
                          </a:solidFill>
                          <a:effectLst/>
                          <a:latin typeface="+mn-lt"/>
                          <a:ea typeface="+mn-ea"/>
                          <a:cs typeface="+mn-cs"/>
                        </a:rPr>
                        <a:t>16Mhz processor with 2KB of RAM (</a:t>
                      </a:r>
                      <a:r>
                        <a:rPr kumimoji="0" lang="en-US" sz="2400" b="0" i="0" kern="1200" dirty="0" err="1">
                          <a:solidFill>
                            <a:schemeClr val="dk1"/>
                          </a:solidFill>
                          <a:effectLst/>
                          <a:latin typeface="+mn-lt"/>
                          <a:ea typeface="+mn-ea"/>
                          <a:cs typeface="+mn-cs"/>
                        </a:rPr>
                        <a:t>Arduino</a:t>
                      </a:r>
                      <a:r>
                        <a:rPr kumimoji="0" lang="en-US" sz="2400" b="0" i="0" kern="1200" dirty="0">
                          <a:solidFill>
                            <a:schemeClr val="dk1"/>
                          </a:solidFill>
                          <a:effectLst/>
                          <a:latin typeface="+mn-lt"/>
                          <a:ea typeface="+mn-ea"/>
                          <a:cs typeface="+mn-cs"/>
                        </a:rPr>
                        <a:t> Uno)</a:t>
                      </a:r>
                    </a:p>
                    <a:p>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6482763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5658"/>
            <a:ext cx="8229600" cy="515112"/>
          </a:xfrm>
        </p:spPr>
        <p:txBody>
          <a:bodyPr>
            <a:normAutofit fontScale="90000"/>
          </a:bodyPr>
          <a:lstStyle/>
          <a:p>
            <a:r>
              <a:rPr lang="en-US" dirty="0"/>
              <a:t>How to choose right kind of board?</a:t>
            </a:r>
          </a:p>
        </p:txBody>
      </p:sp>
      <p:sp>
        <p:nvSpPr>
          <p:cNvPr id="4" name="Slide Number Placeholder 3"/>
          <p:cNvSpPr>
            <a:spLocks noGrp="1"/>
          </p:cNvSpPr>
          <p:nvPr>
            <p:ph type="sldNum" sz="quarter" idx="12"/>
          </p:nvPr>
        </p:nvSpPr>
        <p:spPr/>
        <p:txBody>
          <a:bodyPr/>
          <a:lstStyle/>
          <a:p>
            <a:fld id="{28AE0400-5D2F-4E31-9F19-A66B4B0C89DF}" type="slidenum">
              <a:rPr lang="en-US" smtClean="0"/>
              <a:pPr/>
              <a:t>13</a:t>
            </a:fld>
            <a:endParaRPr lang="en-US"/>
          </a:p>
        </p:txBody>
      </p:sp>
      <p:sp>
        <p:nvSpPr>
          <p:cNvPr id="5" name="Content Placeholder 2"/>
          <p:cNvSpPr>
            <a:spLocks noGrp="1"/>
          </p:cNvSpPr>
          <p:nvPr>
            <p:ph idx="1"/>
          </p:nvPr>
        </p:nvSpPr>
        <p:spPr>
          <a:xfrm>
            <a:off x="533400" y="1295400"/>
            <a:ext cx="8444552" cy="4617720"/>
          </a:xfrm>
        </p:spPr>
        <p:txBody>
          <a:bodyPr>
            <a:normAutofit/>
          </a:bodyPr>
          <a:lstStyle/>
          <a:p>
            <a:r>
              <a:rPr lang="en-GB" sz="3200" dirty="0"/>
              <a:t>Investigate the goal of the project.</a:t>
            </a:r>
          </a:p>
          <a:p>
            <a:r>
              <a:rPr lang="en-GB" sz="3200" dirty="0"/>
              <a:t>Find the feature of the board, if it fulfils the goals.</a:t>
            </a:r>
          </a:p>
          <a:p>
            <a:r>
              <a:rPr lang="en-GB" sz="3200" dirty="0"/>
              <a:t>Consider price, CPU processing speed, RAM, Network capability, Power consumption.</a:t>
            </a:r>
          </a:p>
        </p:txBody>
      </p:sp>
    </p:spTree>
    <p:extLst>
      <p:ext uri="{BB962C8B-B14F-4D97-AF65-F5344CB8AC3E}">
        <p14:creationId xmlns:p14="http://schemas.microsoft.com/office/powerpoint/2010/main" val="3132724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57200"/>
            <a:ext cx="8229600" cy="515112"/>
          </a:xfrm>
        </p:spPr>
        <p:txBody>
          <a:bodyPr>
            <a:normAutofit fontScale="90000"/>
          </a:bodyPr>
          <a:lstStyle/>
          <a:p>
            <a:r>
              <a:rPr lang="en-US" dirty="0"/>
              <a:t>Question</a:t>
            </a:r>
          </a:p>
        </p:txBody>
      </p:sp>
      <p:sp>
        <p:nvSpPr>
          <p:cNvPr id="3" name="Content Placeholder 2"/>
          <p:cNvSpPr>
            <a:spLocks noGrp="1"/>
          </p:cNvSpPr>
          <p:nvPr>
            <p:ph idx="1"/>
          </p:nvPr>
        </p:nvSpPr>
        <p:spPr>
          <a:xfrm>
            <a:off x="304800" y="1219200"/>
            <a:ext cx="8229600" cy="4389120"/>
          </a:xfrm>
        </p:spPr>
        <p:txBody>
          <a:bodyPr>
            <a:normAutofit lnSpcReduction="10000"/>
          </a:bodyPr>
          <a:lstStyle/>
          <a:p>
            <a:pPr marL="0" indent="0">
              <a:buNone/>
            </a:pPr>
            <a:r>
              <a:rPr lang="en-US" dirty="0"/>
              <a:t>Suppose you want to design a system to monitor water level in a water tank at the rooftop of the building. When the water level of the tank is zero (empty), the system automatically switches on the pump motor. The motor is switched off automatically when the water tank is full. The system is communicating with the management station (PC) in your room using </a:t>
            </a:r>
            <a:r>
              <a:rPr lang="en-US" dirty="0">
                <a:solidFill>
                  <a:srgbClr val="C00000"/>
                </a:solidFill>
              </a:rPr>
              <a:t>I2C protocol</a:t>
            </a:r>
            <a:r>
              <a:rPr lang="en-US" dirty="0"/>
              <a:t>. You can use either </a:t>
            </a:r>
            <a:r>
              <a:rPr lang="en-US" u="sng" dirty="0"/>
              <a:t>Micro-processor based system </a:t>
            </a:r>
            <a:r>
              <a:rPr lang="en-US" dirty="0"/>
              <a:t>(e.g. Raspberry pi) or </a:t>
            </a:r>
            <a:r>
              <a:rPr lang="en-US" u="sng" dirty="0"/>
              <a:t>Micro-controller based system </a:t>
            </a:r>
            <a:r>
              <a:rPr lang="en-US" dirty="0"/>
              <a:t>(e.g. Arduino). Which one you will prefer? To make appropriate choice explain which criteria need to consider? </a:t>
            </a:r>
          </a:p>
        </p:txBody>
      </p:sp>
      <p:sp>
        <p:nvSpPr>
          <p:cNvPr id="4" name="Slide Number Placeholder 3"/>
          <p:cNvSpPr>
            <a:spLocks noGrp="1"/>
          </p:cNvSpPr>
          <p:nvPr>
            <p:ph type="sldNum" sz="quarter" idx="12"/>
          </p:nvPr>
        </p:nvSpPr>
        <p:spPr/>
        <p:txBody>
          <a:bodyPr/>
          <a:lstStyle/>
          <a:p>
            <a:fld id="{28AE0400-5D2F-4E31-9F19-A66B4B0C89DF}" type="slidenum">
              <a:rPr lang="en-US" smtClean="0"/>
              <a:pPr/>
              <a:t>14</a:t>
            </a:fld>
            <a:endParaRPr lang="en-US"/>
          </a:p>
        </p:txBody>
      </p:sp>
    </p:spTree>
    <p:extLst>
      <p:ext uri="{BB962C8B-B14F-4D97-AF65-F5344CB8AC3E}">
        <p14:creationId xmlns:p14="http://schemas.microsoft.com/office/powerpoint/2010/main" val="28335286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pPr marL="0" indent="0" algn="ctr">
              <a:buNone/>
            </a:pPr>
            <a:r>
              <a:rPr lang="en-US" sz="4800" dirty="0"/>
              <a:t>Types of Computer Architecture</a:t>
            </a:r>
          </a:p>
        </p:txBody>
      </p:sp>
      <p:sp>
        <p:nvSpPr>
          <p:cNvPr id="4" name="Slide Number Placeholder 3"/>
          <p:cNvSpPr>
            <a:spLocks noGrp="1"/>
          </p:cNvSpPr>
          <p:nvPr>
            <p:ph type="sldNum" sz="quarter" idx="12"/>
          </p:nvPr>
        </p:nvSpPr>
        <p:spPr/>
        <p:txBody>
          <a:bodyPr/>
          <a:lstStyle/>
          <a:p>
            <a:fld id="{28AE0400-5D2F-4E31-9F19-A66B4B0C89DF}" type="slidenum">
              <a:rPr lang="en-US" smtClean="0"/>
              <a:pPr/>
              <a:t>15</a:t>
            </a:fld>
            <a:endParaRPr lang="en-US"/>
          </a:p>
        </p:txBody>
      </p:sp>
    </p:spTree>
    <p:extLst>
      <p:ext uri="{BB962C8B-B14F-4D97-AF65-F5344CB8AC3E}">
        <p14:creationId xmlns:p14="http://schemas.microsoft.com/office/powerpoint/2010/main" val="19396175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228600" y="78179"/>
            <a:ext cx="8001000" cy="760021"/>
          </a:xfrm>
        </p:spPr>
        <p:txBody>
          <a:bodyPr>
            <a:normAutofit fontScale="90000"/>
          </a:bodyPr>
          <a:lstStyle/>
          <a:p>
            <a:r>
              <a:rPr lang="en-US" b="1" dirty="0">
                <a:solidFill>
                  <a:schemeClr val="tx1"/>
                </a:solidFill>
              </a:rPr>
              <a:t>Harvard Architecture</a:t>
            </a:r>
            <a:endParaRPr lang="ms-MY" b="1" dirty="0">
              <a:solidFill>
                <a:schemeClr val="tx1"/>
              </a:solidFill>
            </a:endParaRPr>
          </a:p>
        </p:txBody>
      </p:sp>
      <p:sp>
        <p:nvSpPr>
          <p:cNvPr id="9" name="Slide Number Placeholder 4"/>
          <p:cNvSpPr>
            <a:spLocks noGrp="1"/>
          </p:cNvSpPr>
          <p:nvPr>
            <p:ph type="sldNum" sz="quarter" idx="12"/>
          </p:nvPr>
        </p:nvSpPr>
        <p:spPr>
          <a:xfrm>
            <a:off x="8204396" y="6476999"/>
            <a:ext cx="733864" cy="274320"/>
          </a:xfrm>
        </p:spPr>
        <p:txBody>
          <a:bodyPr/>
          <a:lstStyle/>
          <a:p>
            <a:fld id="{85680E6B-D304-4AD8-B731-F6F7592143E8}" type="slidenum">
              <a:rPr lang="en-US" smtClean="0"/>
              <a:pPr/>
              <a:t>16</a:t>
            </a:fld>
            <a:endParaRPr lang="en-US"/>
          </a:p>
        </p:txBody>
      </p:sp>
      <p:pic>
        <p:nvPicPr>
          <p:cNvPr id="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10400" y="1066800"/>
            <a:ext cx="1447800"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6781800" y="685800"/>
            <a:ext cx="1783630" cy="307777"/>
          </a:xfrm>
          <a:prstGeom prst="rect">
            <a:avLst/>
          </a:prstGeom>
        </p:spPr>
        <p:txBody>
          <a:bodyPr wrap="none">
            <a:spAutoFit/>
          </a:bodyPr>
          <a:lstStyle/>
          <a:p>
            <a:r>
              <a:rPr lang="ms-MY" sz="1400" dirty="0">
                <a:latin typeface="+mn-lt"/>
              </a:rPr>
              <a:t>Howard Hathaway Aiken</a:t>
            </a:r>
          </a:p>
        </p:txBody>
      </p:sp>
      <p:sp>
        <p:nvSpPr>
          <p:cNvPr id="8" name="TextBox 7"/>
          <p:cNvSpPr txBox="1"/>
          <p:nvPr/>
        </p:nvSpPr>
        <p:spPr>
          <a:xfrm>
            <a:off x="435429" y="2582361"/>
            <a:ext cx="8427720" cy="4216539"/>
          </a:xfrm>
          <a:prstGeom prst="rect">
            <a:avLst/>
          </a:prstGeom>
          <a:noFill/>
        </p:spPr>
        <p:txBody>
          <a:bodyPr wrap="square" rtlCol="0">
            <a:spAutoFit/>
          </a:bodyPr>
          <a:lstStyle/>
          <a:p>
            <a:pPr marL="342900" indent="-342900" algn="just">
              <a:buFont typeface="Wingdings" pitchFamily="2" charset="2"/>
              <a:buChar char="Ø"/>
            </a:pPr>
            <a:r>
              <a:rPr lang="en-US" sz="3200" dirty="0">
                <a:solidFill>
                  <a:srgbClr val="C00000"/>
                </a:solidFill>
                <a:latin typeface="+mn-lt"/>
              </a:rPr>
              <a:t>The </a:t>
            </a:r>
            <a:r>
              <a:rPr lang="en-US" sz="3200" b="1" dirty="0">
                <a:solidFill>
                  <a:srgbClr val="C00000"/>
                </a:solidFill>
                <a:latin typeface="+mn-lt"/>
              </a:rPr>
              <a:t>Harvard architecture</a:t>
            </a:r>
            <a:r>
              <a:rPr lang="en-US" sz="3200" dirty="0">
                <a:solidFill>
                  <a:srgbClr val="C00000"/>
                </a:solidFill>
                <a:latin typeface="+mn-lt"/>
              </a:rPr>
              <a:t> is a computer architecture with </a:t>
            </a:r>
            <a:r>
              <a:rPr lang="en-US" sz="3200" u="sng" dirty="0">
                <a:solidFill>
                  <a:srgbClr val="C00000"/>
                </a:solidFill>
                <a:latin typeface="+mn-lt"/>
              </a:rPr>
              <a:t>physically separate storage and signal pathways for instructions and data.</a:t>
            </a:r>
          </a:p>
          <a:p>
            <a:pPr marL="342900" indent="-342900" algn="just">
              <a:buFont typeface="Wingdings" pitchFamily="2" charset="2"/>
              <a:buChar char="Ø"/>
            </a:pPr>
            <a:endParaRPr lang="en-US" sz="1200" dirty="0">
              <a:solidFill>
                <a:srgbClr val="C00000"/>
              </a:solidFill>
              <a:latin typeface="+mn-lt"/>
            </a:endParaRPr>
          </a:p>
          <a:p>
            <a:pPr marL="342900" indent="-342900" algn="just">
              <a:buFont typeface="Wingdings" pitchFamily="2" charset="2"/>
              <a:buChar char="Ø"/>
            </a:pPr>
            <a:r>
              <a:rPr lang="en-US" sz="3200" dirty="0">
                <a:solidFill>
                  <a:srgbClr val="C00000"/>
                </a:solidFill>
                <a:latin typeface="+mn-lt"/>
              </a:rPr>
              <a:t>The term originated from the Harvard Mark I relay-based computer, which stored instructions on punched tape (24 bits wide) and data in electro-mechanical counters.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 calcmode="lin" valueType="num">
                                      <p:cBhvr additive="base">
                                        <p:cTn id="13"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 calcmode="lin" valueType="num">
                                      <p:cBhvr additive="base">
                                        <p:cTn id="19"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28AE0400-5D2F-4E31-9F19-A66B4B0C89DF}" type="slidenum">
              <a:rPr lang="en-US" smtClean="0"/>
              <a:pPr/>
              <a:t>17</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524000"/>
            <a:ext cx="7839075" cy="2647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2895600" y="2558543"/>
            <a:ext cx="1066800" cy="381000"/>
          </a:xfrm>
          <a:prstGeom prst="rect">
            <a:avLst/>
          </a:prstGeom>
          <a:noFill/>
        </p:spPr>
        <p:txBody>
          <a:bodyPr wrap="square" rtlCol="0">
            <a:spAutoFit/>
          </a:bodyPr>
          <a:lstStyle/>
          <a:p>
            <a:r>
              <a:rPr lang="en-US" dirty="0"/>
              <a:t>BUS</a:t>
            </a:r>
          </a:p>
        </p:txBody>
      </p:sp>
      <p:sp>
        <p:nvSpPr>
          <p:cNvPr id="9" name="TextBox 8"/>
          <p:cNvSpPr txBox="1"/>
          <p:nvPr/>
        </p:nvSpPr>
        <p:spPr>
          <a:xfrm>
            <a:off x="5486400" y="2558543"/>
            <a:ext cx="1066800" cy="381000"/>
          </a:xfrm>
          <a:prstGeom prst="rect">
            <a:avLst/>
          </a:prstGeom>
          <a:noFill/>
        </p:spPr>
        <p:txBody>
          <a:bodyPr wrap="square" rtlCol="0">
            <a:spAutoFit/>
          </a:bodyPr>
          <a:lstStyle/>
          <a:p>
            <a:r>
              <a:rPr lang="en-US" dirty="0"/>
              <a:t>BUS</a:t>
            </a:r>
          </a:p>
        </p:txBody>
      </p:sp>
    </p:spTree>
    <p:extLst>
      <p:ext uri="{BB962C8B-B14F-4D97-AF65-F5344CB8AC3E}">
        <p14:creationId xmlns:p14="http://schemas.microsoft.com/office/powerpoint/2010/main" val="5554368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1536442"/>
            <a:ext cx="8610600" cy="4031873"/>
          </a:xfrm>
          <a:prstGeom prst="rect">
            <a:avLst/>
          </a:prstGeom>
          <a:noFill/>
        </p:spPr>
        <p:txBody>
          <a:bodyPr wrap="square" rtlCol="0">
            <a:spAutoFit/>
          </a:bodyPr>
          <a:lstStyle/>
          <a:p>
            <a:pPr marL="342900" indent="-342900" algn="just">
              <a:buFont typeface="Wingdings" pitchFamily="2" charset="2"/>
              <a:buChar char="Ø"/>
            </a:pPr>
            <a:r>
              <a:rPr lang="en-US" sz="3200" dirty="0">
                <a:solidFill>
                  <a:srgbClr val="C00000"/>
                </a:solidFill>
                <a:latin typeface="+mn-lt"/>
              </a:rPr>
              <a:t>In a Harvard architecture, there is no need to make the two memories share characteristics. </a:t>
            </a:r>
          </a:p>
          <a:p>
            <a:pPr marL="342900" indent="-342900" algn="just">
              <a:buFont typeface="Wingdings" pitchFamily="2" charset="2"/>
              <a:buChar char="Ø"/>
            </a:pPr>
            <a:r>
              <a:rPr lang="en-US" sz="3200" dirty="0">
                <a:solidFill>
                  <a:srgbClr val="C00000"/>
                </a:solidFill>
                <a:latin typeface="+mn-lt"/>
              </a:rPr>
              <a:t>In particular, the word width, timing, implementation technology, and memory address structure can differ. </a:t>
            </a:r>
          </a:p>
          <a:p>
            <a:pPr marL="342900" indent="-342900" algn="just">
              <a:buFont typeface="Wingdings" pitchFamily="2" charset="2"/>
              <a:buChar char="Ø"/>
            </a:pPr>
            <a:r>
              <a:rPr lang="en-US" sz="3200" dirty="0">
                <a:solidFill>
                  <a:srgbClr val="C00000"/>
                </a:solidFill>
                <a:latin typeface="+mn-lt"/>
              </a:rPr>
              <a:t>In some systems, instructions can be stored in read memory while data memory generally requires read write memory. </a:t>
            </a:r>
          </a:p>
        </p:txBody>
      </p:sp>
      <p:sp>
        <p:nvSpPr>
          <p:cNvPr id="5" name="Title 1"/>
          <p:cNvSpPr>
            <a:spLocks noGrp="1"/>
          </p:cNvSpPr>
          <p:nvPr>
            <p:ph type="title"/>
          </p:nvPr>
        </p:nvSpPr>
        <p:spPr>
          <a:xfrm>
            <a:off x="304800" y="382979"/>
            <a:ext cx="8001000" cy="760021"/>
          </a:xfrm>
        </p:spPr>
        <p:txBody>
          <a:bodyPr>
            <a:normAutofit fontScale="90000"/>
          </a:bodyPr>
          <a:lstStyle/>
          <a:p>
            <a:r>
              <a:rPr lang="en-US" b="1" dirty="0">
                <a:solidFill>
                  <a:schemeClr val="tx1"/>
                </a:solidFill>
              </a:rPr>
              <a:t>Harvard Architecture</a:t>
            </a:r>
            <a:endParaRPr lang="ms-MY" b="1" dirty="0">
              <a:solidFill>
                <a:schemeClr val="tx1"/>
              </a:solidFill>
            </a:endParaRPr>
          </a:p>
        </p:txBody>
      </p:sp>
      <p:sp>
        <p:nvSpPr>
          <p:cNvPr id="6" name="Slide Number Placeholder 4"/>
          <p:cNvSpPr>
            <a:spLocks noGrp="1"/>
          </p:cNvSpPr>
          <p:nvPr>
            <p:ph type="sldNum" sz="quarter" idx="12"/>
          </p:nvPr>
        </p:nvSpPr>
        <p:spPr>
          <a:xfrm>
            <a:off x="8204396" y="6476999"/>
            <a:ext cx="733864" cy="274320"/>
          </a:xfrm>
        </p:spPr>
        <p:txBody>
          <a:bodyPr/>
          <a:lstStyle/>
          <a:p>
            <a:fld id="{85680E6B-D304-4AD8-B731-F6F7592143E8}" type="slidenum">
              <a:rPr lang="en-US" smtClean="0"/>
              <a:pPr/>
              <a:t>18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28AE0400-5D2F-4E31-9F19-A66B4B0C89DF}" type="slidenum">
              <a:rPr lang="en-US" smtClean="0"/>
              <a:pPr/>
              <a:t>19</a:t>
            </a:fld>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762000"/>
            <a:ext cx="8451703"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63011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066800" y="332468"/>
            <a:ext cx="8839200" cy="597188"/>
          </a:xfrm>
        </p:spPr>
        <p:txBody>
          <a:bodyPr>
            <a:normAutofit/>
          </a:bodyPr>
          <a:lstStyle/>
          <a:p>
            <a:r>
              <a:rPr lang="en-US" sz="2800" b="1" dirty="0">
                <a:solidFill>
                  <a:schemeClr val="tx1"/>
                </a:solidFill>
              </a:rPr>
              <a:t>Von Neumann Architecture</a:t>
            </a:r>
            <a:endParaRPr lang="ms-MY" sz="2800" b="1" dirty="0">
              <a:solidFill>
                <a:schemeClr val="tx1"/>
              </a:solidFill>
            </a:endParaRPr>
          </a:p>
        </p:txBody>
      </p:sp>
      <p:sp>
        <p:nvSpPr>
          <p:cNvPr id="10" name="Slide Number Placeholder 4"/>
          <p:cNvSpPr>
            <a:spLocks noGrp="1"/>
          </p:cNvSpPr>
          <p:nvPr>
            <p:ph type="sldNum" sz="quarter" idx="12"/>
          </p:nvPr>
        </p:nvSpPr>
        <p:spPr>
          <a:xfrm>
            <a:off x="8204396" y="6476999"/>
            <a:ext cx="733864" cy="274320"/>
          </a:xfrm>
        </p:spPr>
        <p:txBody>
          <a:bodyPr/>
          <a:lstStyle/>
          <a:p>
            <a:fld id="{85680E6B-D304-4AD8-B731-F6F7592143E8}" type="slidenum">
              <a:rPr lang="en-US" smtClean="0"/>
              <a:pPr/>
              <a:t>20</a:t>
            </a:fld>
            <a:endParaRPr lang="en-US"/>
          </a:p>
        </p:txBody>
      </p:sp>
      <p:pic>
        <p:nvPicPr>
          <p:cNvPr id="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86600" y="838200"/>
            <a:ext cx="1447800" cy="148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7162800" y="533400"/>
            <a:ext cx="1346587" cy="292388"/>
          </a:xfrm>
          <a:prstGeom prst="rect">
            <a:avLst/>
          </a:prstGeom>
        </p:spPr>
        <p:txBody>
          <a:bodyPr wrap="none">
            <a:spAutoFit/>
          </a:bodyPr>
          <a:lstStyle/>
          <a:p>
            <a:pPr algn="just"/>
            <a:r>
              <a:rPr lang="ms-MY" sz="1300" dirty="0">
                <a:latin typeface="+mn-lt"/>
              </a:rPr>
              <a:t>John von Neumann</a:t>
            </a:r>
          </a:p>
        </p:txBody>
      </p:sp>
      <p:sp>
        <p:nvSpPr>
          <p:cNvPr id="9" name="TextBox 8"/>
          <p:cNvSpPr txBox="1"/>
          <p:nvPr/>
        </p:nvSpPr>
        <p:spPr>
          <a:xfrm>
            <a:off x="-101404" y="984394"/>
            <a:ext cx="6730804" cy="5693866"/>
          </a:xfrm>
          <a:prstGeom prst="rect">
            <a:avLst/>
          </a:prstGeom>
          <a:noFill/>
        </p:spPr>
        <p:txBody>
          <a:bodyPr wrap="square" rtlCol="0">
            <a:spAutoFit/>
          </a:bodyPr>
          <a:lstStyle/>
          <a:p>
            <a:pPr marL="342900" indent="-342900" algn="just">
              <a:buFont typeface="Wingdings" pitchFamily="2" charset="2"/>
              <a:buChar char="Ø"/>
            </a:pPr>
            <a:r>
              <a:rPr lang="en-US" sz="2800" dirty="0">
                <a:solidFill>
                  <a:srgbClr val="C00000"/>
                </a:solidFill>
              </a:rPr>
              <a:t>In contrast with the Harvard architecture, the </a:t>
            </a:r>
            <a:r>
              <a:rPr lang="en-US" sz="2800" b="1" dirty="0">
                <a:solidFill>
                  <a:srgbClr val="C00000"/>
                </a:solidFill>
              </a:rPr>
              <a:t>Von Neumann architecture </a:t>
            </a:r>
            <a:r>
              <a:rPr lang="en-US" sz="2800" dirty="0">
                <a:solidFill>
                  <a:srgbClr val="C00000"/>
                </a:solidFill>
              </a:rPr>
              <a:t>has a </a:t>
            </a:r>
            <a:r>
              <a:rPr lang="en-US" sz="2800" u="sng" dirty="0">
                <a:solidFill>
                  <a:srgbClr val="C00000"/>
                </a:solidFill>
              </a:rPr>
              <a:t>single storage structure to hold both instructions and data. </a:t>
            </a:r>
          </a:p>
          <a:p>
            <a:pPr marL="342900" indent="-342900" algn="just">
              <a:buFont typeface="Wingdings" pitchFamily="2" charset="2"/>
              <a:buChar char="Ø"/>
            </a:pPr>
            <a:r>
              <a:rPr lang="en-US" sz="2800" dirty="0">
                <a:solidFill>
                  <a:srgbClr val="C00000"/>
                </a:solidFill>
              </a:rPr>
              <a:t>In this architecture, an instruction fetch and a data operation cannot occur at the same time because they share a common bus. </a:t>
            </a:r>
          </a:p>
          <a:p>
            <a:pPr marL="342900" indent="-342900" algn="just">
              <a:buFont typeface="Wingdings" pitchFamily="2" charset="2"/>
              <a:buChar char="Ø"/>
            </a:pPr>
            <a:r>
              <a:rPr lang="en-US" sz="2800" dirty="0">
                <a:solidFill>
                  <a:srgbClr val="C00000"/>
                </a:solidFill>
              </a:rPr>
              <a:t>This is referred to as the Von Neumann bottleneck and often limits the performance of the system</a:t>
            </a:r>
            <a:r>
              <a:rPr lang="en-US" sz="2800" dirty="0">
                <a:solidFill>
                  <a:srgbClr val="008000"/>
                </a:solidFill>
              </a:rPr>
              <a:t>.</a:t>
            </a:r>
          </a:p>
          <a:p>
            <a:pPr marL="342900" indent="-342900" algn="just">
              <a:buFont typeface="Wingdings" pitchFamily="2" charset="2"/>
              <a:buChar char="Ø"/>
            </a:pPr>
            <a:endParaRPr lang="en-US" sz="2800"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438912"/>
          </a:xfrm>
        </p:spPr>
        <p:txBody>
          <a:bodyPr>
            <a:normAutofit/>
          </a:bodyPr>
          <a:lstStyle/>
          <a:p>
            <a:r>
              <a:rPr lang="en-US" sz="2400" dirty="0"/>
              <a:t>Harvard Architecture </a:t>
            </a:r>
            <a:r>
              <a:rPr lang="en-US" sz="2400" dirty="0" err="1"/>
              <a:t>vs</a:t>
            </a:r>
            <a:r>
              <a:rPr lang="en-US" sz="2400" dirty="0"/>
              <a:t> Von </a:t>
            </a:r>
            <a:r>
              <a:rPr lang="en-US" sz="2400" dirty="0" err="1"/>
              <a:t>neuman</a:t>
            </a:r>
            <a:r>
              <a:rPr lang="en-US" sz="2400" dirty="0"/>
              <a:t> Architecture</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296345377"/>
              </p:ext>
            </p:extLst>
          </p:nvPr>
        </p:nvGraphicFramePr>
        <p:xfrm>
          <a:off x="304800" y="1524000"/>
          <a:ext cx="8382000" cy="4795601"/>
        </p:xfrm>
        <a:graphic>
          <a:graphicData uri="http://schemas.openxmlformats.org/drawingml/2006/table">
            <a:tbl>
              <a:tblPr firstRow="1" bandRow="1">
                <a:tableStyleId>{5C22544A-7EE6-4342-B048-85BDC9FD1C3A}</a:tableStyleId>
              </a:tblPr>
              <a:tblGrid>
                <a:gridCol w="419100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tblGrid>
              <a:tr h="462199">
                <a:tc>
                  <a:txBody>
                    <a:bodyPr/>
                    <a:lstStyle/>
                    <a:p>
                      <a:r>
                        <a:rPr lang="en-US" sz="1800" dirty="0"/>
                        <a:t>Harvard Architecture </a:t>
                      </a:r>
                      <a:endParaRPr lang="en-US" dirty="0"/>
                    </a:p>
                  </a:txBody>
                  <a:tcPr/>
                </a:tc>
                <a:tc>
                  <a:txBody>
                    <a:bodyPr/>
                    <a:lstStyle/>
                    <a:p>
                      <a:r>
                        <a:rPr lang="en-US" sz="1800" dirty="0"/>
                        <a:t>Von </a:t>
                      </a:r>
                      <a:r>
                        <a:rPr lang="en-US" sz="1800" dirty="0" err="1"/>
                        <a:t>neuman</a:t>
                      </a:r>
                      <a:r>
                        <a:rPr lang="en-US" sz="1800" dirty="0"/>
                        <a:t> Architecture</a:t>
                      </a:r>
                      <a:endParaRPr lang="en-US" dirty="0"/>
                    </a:p>
                  </a:txBody>
                  <a:tcPr/>
                </a:tc>
                <a:extLst>
                  <a:ext uri="{0D108BD9-81ED-4DB2-BD59-A6C34878D82A}">
                    <a16:rowId xmlns:a16="http://schemas.microsoft.com/office/drawing/2014/main" val="10000"/>
                  </a:ext>
                </a:extLst>
              </a:tr>
              <a:tr h="797767">
                <a:tc>
                  <a:txBody>
                    <a:bodyPr/>
                    <a:lstStyle/>
                    <a:p>
                      <a:r>
                        <a:rPr lang="en-US" dirty="0"/>
                        <a:t>1. Separate buses for instruction and data fetch.</a:t>
                      </a:r>
                    </a:p>
                  </a:txBody>
                  <a:tcPr/>
                </a:tc>
                <a:tc>
                  <a:txBody>
                    <a:bodyPr/>
                    <a:lstStyle/>
                    <a:p>
                      <a:r>
                        <a:rPr lang="en-US" dirty="0"/>
                        <a:t>1. Single shared bus for instruction and data fetching.</a:t>
                      </a:r>
                    </a:p>
                  </a:txBody>
                  <a:tcPr/>
                </a:tc>
                <a:extLst>
                  <a:ext uri="{0D108BD9-81ED-4DB2-BD59-A6C34878D82A}">
                    <a16:rowId xmlns:a16="http://schemas.microsoft.com/office/drawing/2014/main" val="10001"/>
                  </a:ext>
                </a:extLst>
              </a:tr>
              <a:tr h="797767">
                <a:tc>
                  <a:txBody>
                    <a:bodyPr/>
                    <a:lstStyle/>
                    <a:p>
                      <a:r>
                        <a:rPr lang="en-US" dirty="0"/>
                        <a:t>2. Easier to pipeline, so high performance can be achieved</a:t>
                      </a:r>
                    </a:p>
                  </a:txBody>
                  <a:tcPr/>
                </a:tc>
                <a:tc>
                  <a:txBody>
                    <a:bodyPr/>
                    <a:lstStyle/>
                    <a:p>
                      <a:r>
                        <a:rPr lang="en-US" dirty="0"/>
                        <a:t>2. Low performance compared to Harvard architecture </a:t>
                      </a:r>
                    </a:p>
                  </a:txBody>
                  <a:tcPr/>
                </a:tc>
                <a:extLst>
                  <a:ext uri="{0D108BD9-81ED-4DB2-BD59-A6C34878D82A}">
                    <a16:rowId xmlns:a16="http://schemas.microsoft.com/office/drawing/2014/main" val="10002"/>
                  </a:ext>
                </a:extLst>
              </a:tr>
              <a:tr h="462199">
                <a:tc>
                  <a:txBody>
                    <a:bodyPr/>
                    <a:lstStyle/>
                    <a:p>
                      <a:r>
                        <a:rPr lang="en-US" dirty="0"/>
                        <a:t>3. Comparatively high cost because of the separate data memory and program memory.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3. Comparatively cheaper cost because of the single</a:t>
                      </a:r>
                      <a:r>
                        <a:rPr lang="en-US" baseline="0" dirty="0"/>
                        <a:t> memory is used </a:t>
                      </a:r>
                      <a:r>
                        <a:rPr lang="en-US" baseline="0"/>
                        <a:t>for</a:t>
                      </a:r>
                      <a:r>
                        <a:rPr lang="en-US"/>
                        <a:t> storing data </a:t>
                      </a:r>
                      <a:r>
                        <a:rPr lang="en-US" dirty="0"/>
                        <a:t>and program.</a:t>
                      </a:r>
                    </a:p>
                  </a:txBody>
                  <a:tcPr/>
                </a:tc>
                <a:extLst>
                  <a:ext uri="{0D108BD9-81ED-4DB2-BD59-A6C34878D82A}">
                    <a16:rowId xmlns:a16="http://schemas.microsoft.com/office/drawing/2014/main" val="10003"/>
                  </a:ext>
                </a:extLst>
              </a:tr>
              <a:tr h="1823468">
                <a:tc>
                  <a:txBody>
                    <a:bodyPr/>
                    <a:lstStyle/>
                    <a:p>
                      <a:r>
                        <a:rPr lang="en-US" dirty="0"/>
                        <a:t>4. Since data memory and program memory are stored physically in different locations, no chance for accidental corruption of program memory.</a:t>
                      </a:r>
                    </a:p>
                  </a:txBody>
                  <a:tcPr/>
                </a:tc>
                <a:tc>
                  <a:txBody>
                    <a:bodyPr/>
                    <a:lstStyle/>
                    <a:p>
                      <a:r>
                        <a:rPr lang="en-US" dirty="0"/>
                        <a:t>4. Since data memory and program memory are stored physically in the same chip, chances for accidental corruption of program memory. </a:t>
                      </a:r>
                    </a:p>
                  </a:txBody>
                  <a:tcPr/>
                </a:tc>
                <a:extLst>
                  <a:ext uri="{0D108BD9-81ED-4DB2-BD59-A6C34878D82A}">
                    <a16:rowId xmlns:a16="http://schemas.microsoft.com/office/drawing/2014/main" val="10004"/>
                  </a:ext>
                </a:extLst>
              </a:tr>
            </a:tbl>
          </a:graphicData>
        </a:graphic>
      </p:graphicFrame>
      <p:sp>
        <p:nvSpPr>
          <p:cNvPr id="4" name="Slide Number Placeholder 3"/>
          <p:cNvSpPr>
            <a:spLocks noGrp="1"/>
          </p:cNvSpPr>
          <p:nvPr>
            <p:ph type="sldNum" sz="quarter" idx="12"/>
          </p:nvPr>
        </p:nvSpPr>
        <p:spPr/>
        <p:txBody>
          <a:bodyPr/>
          <a:lstStyle/>
          <a:p>
            <a:fld id="{28AE0400-5D2F-4E31-9F19-A66B4B0C89DF}" type="slidenum">
              <a:rPr lang="en-US" smtClean="0"/>
              <a:pPr/>
              <a:t>21</a:t>
            </a:fld>
            <a:endParaRPr lang="en-US"/>
          </a:p>
        </p:txBody>
      </p:sp>
    </p:spTree>
    <p:extLst>
      <p:ext uri="{BB962C8B-B14F-4D97-AF65-F5344CB8AC3E}">
        <p14:creationId xmlns:p14="http://schemas.microsoft.com/office/powerpoint/2010/main" val="7706120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a:xfrm>
            <a:off x="76200" y="1340370"/>
            <a:ext cx="8839200" cy="5410200"/>
          </a:xfrm>
          <a:prstGeom prst="rect">
            <a:avLst/>
          </a:prstGeom>
        </p:spPr>
        <p:txBody>
          <a:bodyPr/>
          <a:lstStyle/>
          <a:p>
            <a:pPr marL="342900" indent="-342900" algn="just" eaLnBrk="0" hangingPunct="0">
              <a:spcBef>
                <a:spcPts val="500"/>
              </a:spcBef>
              <a:spcAft>
                <a:spcPts val="500"/>
              </a:spcAft>
              <a:buFont typeface="Arial" charset="0"/>
              <a:buChar char="•"/>
              <a:defRPr/>
            </a:pPr>
            <a:r>
              <a:rPr lang="en-US" sz="3200" dirty="0">
                <a:solidFill>
                  <a:srgbClr val="C00000"/>
                </a:solidFill>
                <a:latin typeface="+mn-lt"/>
              </a:rPr>
              <a:t>Most PCs use CPU based on CISC architecture. For instance Intel and AMD CPU's are based on CISC architectures.</a:t>
            </a:r>
          </a:p>
          <a:p>
            <a:pPr marL="342900" indent="-342900" algn="just" eaLnBrk="0" hangingPunct="0">
              <a:spcBef>
                <a:spcPts val="500"/>
              </a:spcBef>
              <a:spcAft>
                <a:spcPts val="500"/>
              </a:spcAft>
              <a:buFont typeface="Arial" charset="0"/>
              <a:buChar char="•"/>
              <a:defRPr/>
            </a:pPr>
            <a:r>
              <a:rPr lang="en-US" sz="3200" dirty="0">
                <a:solidFill>
                  <a:srgbClr val="C00000"/>
                </a:solidFill>
                <a:latin typeface="+mn-lt"/>
              </a:rPr>
              <a:t>Many claim that RISC is the architecture of the future.</a:t>
            </a:r>
          </a:p>
          <a:p>
            <a:pPr marL="342900" indent="-342900" algn="just" eaLnBrk="0" hangingPunct="0">
              <a:spcBef>
                <a:spcPts val="500"/>
              </a:spcBef>
              <a:spcAft>
                <a:spcPts val="500"/>
              </a:spcAft>
              <a:buFont typeface="Arial" charset="0"/>
              <a:buChar char="•"/>
              <a:defRPr/>
            </a:pPr>
            <a:r>
              <a:rPr lang="en-US" sz="3200" dirty="0">
                <a:solidFill>
                  <a:srgbClr val="C00000"/>
                </a:solidFill>
                <a:latin typeface="+mn-lt"/>
              </a:rPr>
              <a:t>But even though RISC has been in the market since 1980, it hasn’t managed to kick CISC out of the picture, some argue that if it is really the architecture of the future it should have been able to do this by now.</a:t>
            </a:r>
          </a:p>
        </p:txBody>
      </p:sp>
      <p:sp>
        <p:nvSpPr>
          <p:cNvPr id="5" name="Title 1"/>
          <p:cNvSpPr>
            <a:spLocks noGrp="1"/>
          </p:cNvSpPr>
          <p:nvPr>
            <p:ph type="title"/>
          </p:nvPr>
        </p:nvSpPr>
        <p:spPr>
          <a:xfrm>
            <a:off x="152400" y="230579"/>
            <a:ext cx="8763000" cy="1109042"/>
          </a:xfrm>
        </p:spPr>
        <p:txBody>
          <a:bodyPr>
            <a:normAutofit fontScale="90000"/>
          </a:bodyPr>
          <a:lstStyle/>
          <a:p>
            <a:r>
              <a:rPr lang="en-US" b="1" dirty="0"/>
              <a:t>  </a:t>
            </a:r>
            <a:r>
              <a:rPr lang="en-US" b="1" dirty="0">
                <a:solidFill>
                  <a:schemeClr val="tx1"/>
                </a:solidFill>
              </a:rPr>
              <a:t>Processor ISA (instruction set architecture): RISC versus CISC</a:t>
            </a:r>
          </a:p>
        </p:txBody>
      </p:sp>
      <p:sp>
        <p:nvSpPr>
          <p:cNvPr id="6" name="Slide Number Placeholder 4"/>
          <p:cNvSpPr>
            <a:spLocks noGrp="1"/>
          </p:cNvSpPr>
          <p:nvPr>
            <p:ph type="sldNum" sz="quarter" idx="12"/>
          </p:nvPr>
        </p:nvSpPr>
        <p:spPr>
          <a:xfrm>
            <a:off x="8204396" y="6476999"/>
            <a:ext cx="733864" cy="274320"/>
          </a:xfrm>
        </p:spPr>
        <p:txBody>
          <a:bodyPr/>
          <a:lstStyle/>
          <a:p>
            <a:fld id="{85680E6B-D304-4AD8-B731-F6F7592143E8}" type="slidenum">
              <a:rPr lang="en-US" smtClean="0"/>
              <a:pPr/>
              <a:t>22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RISC </a:t>
            </a:r>
            <a:r>
              <a:rPr lang="en-US" dirty="0" err="1"/>
              <a:t>vs</a:t>
            </a:r>
            <a:r>
              <a:rPr lang="en-US" dirty="0"/>
              <a:t> CISC</a:t>
            </a:r>
          </a:p>
        </p:txBody>
      </p:sp>
      <p:sp>
        <p:nvSpPr>
          <p:cNvPr id="3" name="Text Placeholder 2"/>
          <p:cNvSpPr>
            <a:spLocks noGrp="1"/>
          </p:cNvSpPr>
          <p:nvPr>
            <p:ph type="body" idx="1"/>
          </p:nvPr>
        </p:nvSpPr>
        <p:spPr>
          <a:xfrm>
            <a:off x="457200" y="2332041"/>
            <a:ext cx="4975412" cy="3421720"/>
          </a:xfrm>
        </p:spPr>
        <p:txBody>
          <a:bodyPr/>
          <a:lstStyle/>
          <a:p>
            <a:r>
              <a:rPr lang="en-US" sz="2000" dirty="0"/>
              <a:t>We want to multiply 2:3 with 5:2 and store result to 2:3</a:t>
            </a:r>
          </a:p>
          <a:p>
            <a:r>
              <a:rPr lang="en-US" sz="2000" dirty="0"/>
              <a:t>CISC</a:t>
            </a:r>
          </a:p>
          <a:p>
            <a:pPr lvl="1"/>
            <a:r>
              <a:rPr lang="en-US" sz="1600" dirty="0">
                <a:latin typeface="Consolas" panose="020B0609020204030204" pitchFamily="49" charset="0"/>
              </a:rPr>
              <a:t>MULT 2:3, 5:2</a:t>
            </a:r>
          </a:p>
          <a:p>
            <a:r>
              <a:rPr lang="en-US" sz="2000" dirty="0"/>
              <a:t>RISC</a:t>
            </a:r>
          </a:p>
          <a:p>
            <a:pPr lvl="1"/>
            <a:r>
              <a:rPr lang="en-US" sz="1600" dirty="0">
                <a:latin typeface="Consolas" panose="020B0609020204030204" pitchFamily="49" charset="0"/>
              </a:rPr>
              <a:t>LOAD A, 2:3</a:t>
            </a:r>
            <a:br>
              <a:rPr lang="en-US" sz="1600" dirty="0">
                <a:latin typeface="Consolas" panose="020B0609020204030204" pitchFamily="49" charset="0"/>
              </a:rPr>
            </a:br>
            <a:r>
              <a:rPr lang="en-US" sz="1600" dirty="0">
                <a:latin typeface="Consolas" panose="020B0609020204030204" pitchFamily="49" charset="0"/>
              </a:rPr>
              <a:t>LOAD B, 5:2</a:t>
            </a:r>
            <a:br>
              <a:rPr lang="en-US" sz="1600" dirty="0">
                <a:latin typeface="Consolas" panose="020B0609020204030204" pitchFamily="49" charset="0"/>
              </a:rPr>
            </a:br>
            <a:r>
              <a:rPr lang="en-US" sz="1600" dirty="0">
                <a:latin typeface="Consolas" panose="020B0609020204030204" pitchFamily="49" charset="0"/>
              </a:rPr>
              <a:t>PROD A, B</a:t>
            </a:r>
            <a:br>
              <a:rPr lang="en-US" sz="1600" dirty="0">
                <a:latin typeface="Consolas" panose="020B0609020204030204" pitchFamily="49" charset="0"/>
              </a:rPr>
            </a:br>
            <a:r>
              <a:rPr lang="en-US" sz="1600" dirty="0">
                <a:latin typeface="Consolas" panose="020B0609020204030204" pitchFamily="49" charset="0"/>
              </a:rPr>
              <a:t>STORE 2:3, A</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23</a:t>
            </a:fld>
            <a:endParaRPr lang="en-US"/>
          </a:p>
        </p:txBody>
      </p:sp>
      <p:sp>
        <p:nvSpPr>
          <p:cNvPr id="5" name="Rectangle 4"/>
          <p:cNvSpPr/>
          <p:nvPr/>
        </p:nvSpPr>
        <p:spPr>
          <a:xfrm>
            <a:off x="304800" y="6000023"/>
            <a:ext cx="6858000" cy="307777"/>
          </a:xfrm>
          <a:prstGeom prst="rect">
            <a:avLst/>
          </a:prstGeom>
        </p:spPr>
        <p:txBody>
          <a:bodyPr wrap="square">
            <a:spAutoFit/>
          </a:bodyPr>
          <a:lstStyle/>
          <a:p>
            <a:r>
              <a:rPr lang="en-US" dirty="0">
                <a:hlinkClick r:id="rId2"/>
              </a:rPr>
              <a:t>https://cs.stanford.edu/people/eroberts/courses/soco/projects/risc/risccisc/</a:t>
            </a:r>
            <a:r>
              <a:rPr lang="en-US" dirty="0"/>
              <a:t> </a:t>
            </a:r>
          </a:p>
        </p:txBody>
      </p:sp>
      <p:pic>
        <p:nvPicPr>
          <p:cNvPr id="4098" name="Picture 2" descr="https://cs.stanford.edu/people/eroberts/courses/soco/projects/risc/risccisc/options/memoryfig.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5893" y="1647825"/>
            <a:ext cx="3098613" cy="4105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80738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457200"/>
            <a:ext cx="8610600" cy="914400"/>
          </a:xfrm>
        </p:spPr>
        <p:txBody>
          <a:bodyPr>
            <a:normAutofit/>
          </a:bodyPr>
          <a:lstStyle/>
          <a:p>
            <a:r>
              <a:rPr lang="en-GB" sz="2400" b="1" dirty="0"/>
              <a:t>RISC (Reduced instruction set computing) VS CISC (Complex instruction set computing)</a:t>
            </a:r>
          </a:p>
        </p:txBody>
      </p:sp>
      <p:sp>
        <p:nvSpPr>
          <p:cNvPr id="7" name="Slide Number Placeholder 6"/>
          <p:cNvSpPr>
            <a:spLocks noGrp="1"/>
          </p:cNvSpPr>
          <p:nvPr>
            <p:ph type="sldNum" sz="quarter" idx="12"/>
          </p:nvPr>
        </p:nvSpPr>
        <p:spPr/>
        <p:txBody>
          <a:bodyPr/>
          <a:lstStyle/>
          <a:p>
            <a:fld id="{28AE0400-5D2F-4E31-9F19-A66B4B0C89DF}" type="slidenum">
              <a:rPr lang="en-US" smtClean="0"/>
              <a:pPr/>
              <a:t>24</a:t>
            </a:fld>
            <a:endParaRPr lang="en-US"/>
          </a:p>
        </p:txBody>
      </p:sp>
      <p:sp>
        <p:nvSpPr>
          <p:cNvPr id="6" name="Rectangle 1"/>
          <p:cNvSpPr>
            <a:spLocks noChangeArrowheads="1"/>
          </p:cNvSpPr>
          <p:nvPr/>
        </p:nvSpPr>
        <p:spPr bwMode="auto">
          <a:xfrm>
            <a:off x="3371850" y="1447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br>
              <a:rPr kumimoji="0" lang="en-US" sz="1800" b="0" i="0" u="none" strike="noStrike" cap="none" normalizeH="0" baseline="0">
                <a:ln>
                  <a:noFill/>
                </a:ln>
                <a:solidFill>
                  <a:schemeClr val="tx1"/>
                </a:solidFill>
                <a:effectLst/>
                <a:latin typeface="Arial" pitchFamily="34" charset="0"/>
                <a:cs typeface="Arial" pitchFamily="34" charset="0"/>
              </a:rPr>
            </a:br>
            <a:endParaRPr kumimoji="0" lang="en-US"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459561481"/>
              </p:ext>
            </p:extLst>
          </p:nvPr>
        </p:nvGraphicFramePr>
        <p:xfrm>
          <a:off x="457200" y="1447800"/>
          <a:ext cx="8305800" cy="3657600"/>
        </p:xfrm>
        <a:graphic>
          <a:graphicData uri="http://schemas.openxmlformats.org/drawingml/2006/table">
            <a:tbl>
              <a:tblPr firstRow="1" bandRow="1">
                <a:tableStyleId>{5C22544A-7EE6-4342-B048-85BDC9FD1C3A}</a:tableStyleId>
              </a:tblPr>
              <a:tblGrid>
                <a:gridCol w="4152900">
                  <a:extLst>
                    <a:ext uri="{9D8B030D-6E8A-4147-A177-3AD203B41FA5}">
                      <a16:colId xmlns:a16="http://schemas.microsoft.com/office/drawing/2014/main" val="20000"/>
                    </a:ext>
                  </a:extLst>
                </a:gridCol>
                <a:gridCol w="4152900">
                  <a:extLst>
                    <a:ext uri="{9D8B030D-6E8A-4147-A177-3AD203B41FA5}">
                      <a16:colId xmlns:a16="http://schemas.microsoft.com/office/drawing/2014/main" val="20001"/>
                    </a:ext>
                  </a:extLst>
                </a:gridCol>
              </a:tblGrid>
              <a:tr h="658170">
                <a:tc>
                  <a:txBody>
                    <a:bodyPr/>
                    <a:lstStyle/>
                    <a:p>
                      <a:r>
                        <a:rPr lang="en-GB" sz="1800" dirty="0"/>
                        <a:t>RISC</a:t>
                      </a:r>
                      <a:endParaRPr lang="en-US" dirty="0"/>
                    </a:p>
                  </a:txBody>
                  <a:tcPr/>
                </a:tc>
                <a:tc>
                  <a:txBody>
                    <a:bodyPr/>
                    <a:lstStyle/>
                    <a:p>
                      <a:r>
                        <a:rPr lang="en-GB" sz="1800" dirty="0"/>
                        <a:t>CISC</a:t>
                      </a:r>
                      <a:endParaRPr lang="en-US" dirty="0"/>
                    </a:p>
                  </a:txBody>
                  <a:tcPr/>
                </a:tc>
                <a:extLst>
                  <a:ext uri="{0D108BD9-81ED-4DB2-BD59-A6C34878D82A}">
                    <a16:rowId xmlns:a16="http://schemas.microsoft.com/office/drawing/2014/main" val="10000"/>
                  </a:ext>
                </a:extLst>
              </a:tr>
              <a:tr h="789630">
                <a:tc>
                  <a:txBody>
                    <a:bodyPr/>
                    <a:lstStyle/>
                    <a:p>
                      <a:r>
                        <a:rPr lang="en-US" dirty="0"/>
                        <a:t>1. Instruction pipelining and increased execution speed.</a:t>
                      </a:r>
                    </a:p>
                  </a:txBody>
                  <a:tcPr/>
                </a:tc>
                <a:tc>
                  <a:txBody>
                    <a:bodyPr/>
                    <a:lstStyle/>
                    <a:p>
                      <a:r>
                        <a:rPr lang="en-US" dirty="0"/>
                        <a:t>1. No instruction pipelining feature.</a:t>
                      </a:r>
                    </a:p>
                  </a:txBody>
                  <a:tcPr/>
                </a:tc>
                <a:extLst>
                  <a:ext uri="{0D108BD9-81ED-4DB2-BD59-A6C34878D82A}">
                    <a16:rowId xmlns:a16="http://schemas.microsoft.com/office/drawing/2014/main" val="10001"/>
                  </a:ext>
                </a:extLst>
              </a:tr>
              <a:tr h="796610">
                <a:tc>
                  <a:txBody>
                    <a:bodyPr/>
                    <a:lstStyle/>
                    <a:p>
                      <a:r>
                        <a:rPr lang="en-US" dirty="0"/>
                        <a:t>2. A large number of registers are available.</a:t>
                      </a:r>
                    </a:p>
                  </a:txBody>
                  <a:tcPr/>
                </a:tc>
                <a:tc>
                  <a:txBody>
                    <a:bodyPr/>
                    <a:lstStyle/>
                    <a:p>
                      <a:r>
                        <a:rPr lang="en-US" dirty="0"/>
                        <a:t>2. Limited number of general purpose register.</a:t>
                      </a:r>
                    </a:p>
                  </a:txBody>
                  <a:tcPr/>
                </a:tc>
                <a:extLst>
                  <a:ext uri="{0D108BD9-81ED-4DB2-BD59-A6C34878D82A}">
                    <a16:rowId xmlns:a16="http://schemas.microsoft.com/office/drawing/2014/main" val="10002"/>
                  </a:ext>
                </a:extLst>
              </a:tr>
              <a:tr h="658170">
                <a:tc>
                  <a:txBody>
                    <a:bodyPr/>
                    <a:lstStyle/>
                    <a:p>
                      <a:r>
                        <a:rPr lang="en-US" dirty="0"/>
                        <a:t>3. Single, fixed length instruction.</a:t>
                      </a:r>
                    </a:p>
                  </a:txBody>
                  <a:tcPr/>
                </a:tc>
                <a:tc>
                  <a:txBody>
                    <a:bodyPr/>
                    <a:lstStyle/>
                    <a:p>
                      <a:r>
                        <a:rPr lang="en-US" dirty="0"/>
                        <a:t>3. Variable length instruction.</a:t>
                      </a:r>
                    </a:p>
                  </a:txBody>
                  <a:tcPr/>
                </a:tc>
                <a:extLst>
                  <a:ext uri="{0D108BD9-81ED-4DB2-BD59-A6C34878D82A}">
                    <a16:rowId xmlns:a16="http://schemas.microsoft.com/office/drawing/2014/main" val="10003"/>
                  </a:ext>
                </a:extLst>
              </a:tr>
              <a:tr h="755020">
                <a:tc>
                  <a:txBody>
                    <a:bodyPr/>
                    <a:lstStyle/>
                    <a:p>
                      <a:r>
                        <a:rPr lang="en-US" dirty="0"/>
                        <a:t>4. Used with Harvard architecture.</a:t>
                      </a:r>
                    </a:p>
                  </a:txBody>
                  <a:tcPr/>
                </a:tc>
                <a:tc>
                  <a:txBody>
                    <a:bodyPr/>
                    <a:lstStyle/>
                    <a:p>
                      <a:r>
                        <a:rPr lang="en-US" dirty="0"/>
                        <a:t>4. Used with Harvard and Von </a:t>
                      </a:r>
                      <a:r>
                        <a:rPr lang="en-US" dirty="0" err="1"/>
                        <a:t>neuman</a:t>
                      </a:r>
                      <a:r>
                        <a:rPr lang="en-US" dirty="0"/>
                        <a:t> architecture.</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8658234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normAutofit fontScale="90000"/>
          </a:bodyPr>
          <a:lstStyle/>
          <a:p>
            <a:endParaRPr lang="en-GB" dirty="0"/>
          </a:p>
        </p:txBody>
      </p:sp>
      <p:graphicFrame>
        <p:nvGraphicFramePr>
          <p:cNvPr id="3" name="Table 2"/>
          <p:cNvGraphicFramePr>
            <a:graphicFrameLocks noGrp="1"/>
          </p:cNvGraphicFramePr>
          <p:nvPr/>
        </p:nvGraphicFramePr>
        <p:xfrm>
          <a:off x="457201" y="1219200"/>
          <a:ext cx="8229600" cy="3962400"/>
        </p:xfrm>
        <a:graphic>
          <a:graphicData uri="http://schemas.openxmlformats.org/drawingml/2006/table">
            <a:tbl>
              <a:tblPr>
                <a:tableStyleId>{0505E3EF-67EA-436B-97B2-0124C06EBD24}</a:tableStyleId>
              </a:tblPr>
              <a:tblGrid>
                <a:gridCol w="1981198">
                  <a:extLst>
                    <a:ext uri="{9D8B030D-6E8A-4147-A177-3AD203B41FA5}">
                      <a16:colId xmlns:a16="http://schemas.microsoft.com/office/drawing/2014/main" val="20000"/>
                    </a:ext>
                  </a:extLst>
                </a:gridCol>
                <a:gridCol w="2057401">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362201">
                  <a:extLst>
                    <a:ext uri="{9D8B030D-6E8A-4147-A177-3AD203B41FA5}">
                      <a16:colId xmlns:a16="http://schemas.microsoft.com/office/drawing/2014/main" val="20003"/>
                    </a:ext>
                  </a:extLst>
                </a:gridCol>
              </a:tblGrid>
              <a:tr h="660400">
                <a:tc rowSpan="2">
                  <a:txBody>
                    <a:bodyPr/>
                    <a:lstStyle/>
                    <a:p>
                      <a:pPr algn="ctr"/>
                      <a:r>
                        <a:rPr lang="ms-MY" sz="2800" b="1" dirty="0">
                          <a:solidFill>
                            <a:srgbClr val="006600"/>
                          </a:solidFill>
                        </a:rPr>
                        <a:t>Type</a:t>
                      </a:r>
                    </a:p>
                  </a:txBody>
                  <a:tcPr/>
                </a:tc>
                <a:tc>
                  <a:txBody>
                    <a:bodyPr/>
                    <a:lstStyle/>
                    <a:p>
                      <a:pPr algn="ctr"/>
                      <a:r>
                        <a:rPr lang="ms-MY" sz="2800" b="1" dirty="0">
                          <a:solidFill>
                            <a:srgbClr val="006600"/>
                          </a:solidFill>
                        </a:rPr>
                        <a:t>Flash</a:t>
                      </a:r>
                    </a:p>
                  </a:txBody>
                  <a:tcPr/>
                </a:tc>
                <a:tc>
                  <a:txBody>
                    <a:bodyPr/>
                    <a:lstStyle/>
                    <a:p>
                      <a:pPr algn="ctr"/>
                      <a:r>
                        <a:rPr lang="ms-MY" sz="2800" b="1" dirty="0">
                          <a:solidFill>
                            <a:srgbClr val="006600"/>
                          </a:solidFill>
                        </a:rPr>
                        <a:t>RAM</a:t>
                      </a:r>
                    </a:p>
                  </a:txBody>
                  <a:tcPr/>
                </a:tc>
                <a:tc>
                  <a:txBody>
                    <a:bodyPr/>
                    <a:lstStyle/>
                    <a:p>
                      <a:pPr algn="ctr"/>
                      <a:r>
                        <a:rPr lang="ms-MY" sz="2800" b="1" dirty="0">
                          <a:solidFill>
                            <a:srgbClr val="006600"/>
                          </a:solidFill>
                        </a:rPr>
                        <a:t>EEPROM</a:t>
                      </a:r>
                    </a:p>
                  </a:txBody>
                  <a:tcPr/>
                </a:tc>
                <a:extLst>
                  <a:ext uri="{0D108BD9-81ED-4DB2-BD59-A6C34878D82A}">
                    <a16:rowId xmlns:a16="http://schemas.microsoft.com/office/drawing/2014/main" val="10000"/>
                  </a:ext>
                </a:extLst>
              </a:tr>
              <a:tr h="660400">
                <a:tc vMerge="1">
                  <a:txBody>
                    <a:bodyPr/>
                    <a:lstStyle/>
                    <a:p>
                      <a:endParaRPr lang="ms-MY"/>
                    </a:p>
                  </a:txBody>
                  <a:tcPr/>
                </a:tc>
                <a:tc>
                  <a:txBody>
                    <a:bodyPr/>
                    <a:lstStyle/>
                    <a:p>
                      <a:pPr algn="ctr"/>
                      <a:r>
                        <a:rPr lang="ms-MY" sz="2800" b="1" dirty="0">
                          <a:solidFill>
                            <a:srgbClr val="FF6600"/>
                          </a:solidFill>
                        </a:rPr>
                        <a:t>Size, kB</a:t>
                      </a:r>
                    </a:p>
                  </a:txBody>
                  <a:tcPr/>
                </a:tc>
                <a:tc>
                  <a:txBody>
                    <a:bodyPr/>
                    <a:lstStyle/>
                    <a:p>
                      <a:pPr algn="ctr"/>
                      <a:r>
                        <a:rPr lang="ms-MY" sz="2800" b="1" dirty="0">
                          <a:solidFill>
                            <a:srgbClr val="FF6600"/>
                          </a:solidFill>
                        </a:rPr>
                        <a:t>Size, kB</a:t>
                      </a:r>
                    </a:p>
                  </a:txBody>
                  <a:tcPr/>
                </a:tc>
                <a:tc>
                  <a:txBody>
                    <a:bodyPr/>
                    <a:lstStyle/>
                    <a:p>
                      <a:pPr algn="ctr"/>
                      <a:r>
                        <a:rPr lang="ms-MY" sz="2800" b="1" dirty="0">
                          <a:solidFill>
                            <a:srgbClr val="FF6600"/>
                          </a:solidFill>
                        </a:rPr>
                        <a:t>Size, kB</a:t>
                      </a:r>
                    </a:p>
                  </a:txBody>
                  <a:tcPr/>
                </a:tc>
                <a:extLst>
                  <a:ext uri="{0D108BD9-81ED-4DB2-BD59-A6C34878D82A}">
                    <a16:rowId xmlns:a16="http://schemas.microsoft.com/office/drawing/2014/main" val="10001"/>
                  </a:ext>
                </a:extLst>
              </a:tr>
              <a:tr h="660400">
                <a:tc>
                  <a:txBody>
                    <a:bodyPr/>
                    <a:lstStyle/>
                    <a:p>
                      <a:r>
                        <a:rPr lang="ms-MY" sz="2800" dirty="0">
                          <a:solidFill>
                            <a:srgbClr val="006600"/>
                          </a:solidFill>
                        </a:rPr>
                        <a:t>Atmega8</a:t>
                      </a:r>
                    </a:p>
                  </a:txBody>
                  <a:tcPr/>
                </a:tc>
                <a:tc>
                  <a:txBody>
                    <a:bodyPr/>
                    <a:lstStyle/>
                    <a:p>
                      <a:pPr algn="ctr"/>
                      <a:r>
                        <a:rPr lang="ms-MY" sz="2800">
                          <a:solidFill>
                            <a:srgbClr val="0000CC"/>
                          </a:solidFill>
                        </a:rPr>
                        <a:t>8</a:t>
                      </a:r>
                    </a:p>
                  </a:txBody>
                  <a:tcPr/>
                </a:tc>
                <a:tc>
                  <a:txBody>
                    <a:bodyPr/>
                    <a:lstStyle/>
                    <a:p>
                      <a:pPr algn="ctr"/>
                      <a:r>
                        <a:rPr lang="ms-MY" sz="2800">
                          <a:solidFill>
                            <a:srgbClr val="0000CC"/>
                          </a:solidFill>
                        </a:rPr>
                        <a:t>1</a:t>
                      </a:r>
                    </a:p>
                  </a:txBody>
                  <a:tcPr/>
                </a:tc>
                <a:tc>
                  <a:txBody>
                    <a:bodyPr/>
                    <a:lstStyle/>
                    <a:p>
                      <a:pPr algn="ctr"/>
                      <a:r>
                        <a:rPr lang="ms-MY" sz="2800">
                          <a:solidFill>
                            <a:srgbClr val="0000CC"/>
                          </a:solidFill>
                        </a:rPr>
                        <a:t>0.5</a:t>
                      </a:r>
                    </a:p>
                  </a:txBody>
                  <a:tcPr/>
                </a:tc>
                <a:extLst>
                  <a:ext uri="{0D108BD9-81ED-4DB2-BD59-A6C34878D82A}">
                    <a16:rowId xmlns:a16="http://schemas.microsoft.com/office/drawing/2014/main" val="10002"/>
                  </a:ext>
                </a:extLst>
              </a:tr>
              <a:tr h="660400">
                <a:tc>
                  <a:txBody>
                    <a:bodyPr/>
                    <a:lstStyle/>
                    <a:p>
                      <a:r>
                        <a:rPr lang="ms-MY" sz="2800" b="1" dirty="0">
                          <a:solidFill>
                            <a:srgbClr val="FF0066"/>
                          </a:solidFill>
                        </a:rPr>
                        <a:t>Atmega32</a:t>
                      </a:r>
                    </a:p>
                  </a:txBody>
                  <a:tcPr/>
                </a:tc>
                <a:tc>
                  <a:txBody>
                    <a:bodyPr/>
                    <a:lstStyle/>
                    <a:p>
                      <a:pPr algn="ctr"/>
                      <a:r>
                        <a:rPr lang="ms-MY" sz="2800" b="1" dirty="0">
                          <a:solidFill>
                            <a:srgbClr val="FF0066"/>
                          </a:solidFill>
                        </a:rPr>
                        <a:t>32</a:t>
                      </a:r>
                    </a:p>
                  </a:txBody>
                  <a:tcPr/>
                </a:tc>
                <a:tc>
                  <a:txBody>
                    <a:bodyPr/>
                    <a:lstStyle/>
                    <a:p>
                      <a:pPr algn="ctr"/>
                      <a:r>
                        <a:rPr lang="ms-MY" sz="2800" b="1" dirty="0">
                          <a:solidFill>
                            <a:srgbClr val="FF0066"/>
                          </a:solidFill>
                        </a:rPr>
                        <a:t>2</a:t>
                      </a:r>
                    </a:p>
                  </a:txBody>
                  <a:tcPr/>
                </a:tc>
                <a:tc>
                  <a:txBody>
                    <a:bodyPr/>
                    <a:lstStyle/>
                    <a:p>
                      <a:pPr algn="ctr"/>
                      <a:r>
                        <a:rPr lang="ms-MY" sz="2800" b="1" dirty="0">
                          <a:solidFill>
                            <a:srgbClr val="FF0066"/>
                          </a:solidFill>
                        </a:rPr>
                        <a:t>1</a:t>
                      </a:r>
                    </a:p>
                  </a:txBody>
                  <a:tcPr/>
                </a:tc>
                <a:extLst>
                  <a:ext uri="{0D108BD9-81ED-4DB2-BD59-A6C34878D82A}">
                    <a16:rowId xmlns:a16="http://schemas.microsoft.com/office/drawing/2014/main" val="10003"/>
                  </a:ext>
                </a:extLst>
              </a:tr>
              <a:tr h="660400">
                <a:tc>
                  <a:txBody>
                    <a:bodyPr/>
                    <a:lstStyle/>
                    <a:p>
                      <a:r>
                        <a:rPr lang="ms-MY" sz="2800" dirty="0">
                          <a:solidFill>
                            <a:srgbClr val="006600"/>
                          </a:solidFill>
                        </a:rPr>
                        <a:t>Atmega64</a:t>
                      </a:r>
                    </a:p>
                  </a:txBody>
                  <a:tcPr/>
                </a:tc>
                <a:tc>
                  <a:txBody>
                    <a:bodyPr/>
                    <a:lstStyle/>
                    <a:p>
                      <a:pPr algn="ctr"/>
                      <a:r>
                        <a:rPr lang="ms-MY" sz="2800">
                          <a:solidFill>
                            <a:srgbClr val="0000CC"/>
                          </a:solidFill>
                        </a:rPr>
                        <a:t>64</a:t>
                      </a:r>
                    </a:p>
                  </a:txBody>
                  <a:tcPr/>
                </a:tc>
                <a:tc>
                  <a:txBody>
                    <a:bodyPr/>
                    <a:lstStyle/>
                    <a:p>
                      <a:pPr algn="ctr"/>
                      <a:r>
                        <a:rPr lang="ms-MY" sz="2800">
                          <a:solidFill>
                            <a:srgbClr val="0000CC"/>
                          </a:solidFill>
                        </a:rPr>
                        <a:t>4</a:t>
                      </a:r>
                    </a:p>
                  </a:txBody>
                  <a:tcPr/>
                </a:tc>
                <a:tc>
                  <a:txBody>
                    <a:bodyPr/>
                    <a:lstStyle/>
                    <a:p>
                      <a:pPr algn="ctr"/>
                      <a:r>
                        <a:rPr lang="ms-MY" sz="2800" dirty="0">
                          <a:solidFill>
                            <a:srgbClr val="0000CC"/>
                          </a:solidFill>
                        </a:rPr>
                        <a:t>2</a:t>
                      </a:r>
                    </a:p>
                  </a:txBody>
                  <a:tcPr/>
                </a:tc>
                <a:extLst>
                  <a:ext uri="{0D108BD9-81ED-4DB2-BD59-A6C34878D82A}">
                    <a16:rowId xmlns:a16="http://schemas.microsoft.com/office/drawing/2014/main" val="10004"/>
                  </a:ext>
                </a:extLst>
              </a:tr>
              <a:tr h="660400">
                <a:tc>
                  <a:txBody>
                    <a:bodyPr/>
                    <a:lstStyle/>
                    <a:p>
                      <a:r>
                        <a:rPr lang="ms-MY" sz="2800" dirty="0">
                          <a:solidFill>
                            <a:srgbClr val="006600"/>
                          </a:solidFill>
                        </a:rPr>
                        <a:t>Atmega128</a:t>
                      </a:r>
                    </a:p>
                  </a:txBody>
                  <a:tcPr/>
                </a:tc>
                <a:tc>
                  <a:txBody>
                    <a:bodyPr/>
                    <a:lstStyle/>
                    <a:p>
                      <a:pPr algn="ctr"/>
                      <a:r>
                        <a:rPr lang="ms-MY" sz="2800">
                          <a:solidFill>
                            <a:srgbClr val="0000CC"/>
                          </a:solidFill>
                        </a:rPr>
                        <a:t>128</a:t>
                      </a:r>
                    </a:p>
                  </a:txBody>
                  <a:tcPr/>
                </a:tc>
                <a:tc>
                  <a:txBody>
                    <a:bodyPr/>
                    <a:lstStyle/>
                    <a:p>
                      <a:pPr algn="ctr"/>
                      <a:r>
                        <a:rPr lang="ms-MY" sz="2800">
                          <a:solidFill>
                            <a:srgbClr val="0000CC"/>
                          </a:solidFill>
                        </a:rPr>
                        <a:t>4</a:t>
                      </a:r>
                    </a:p>
                  </a:txBody>
                  <a:tcPr/>
                </a:tc>
                <a:tc>
                  <a:txBody>
                    <a:bodyPr/>
                    <a:lstStyle/>
                    <a:p>
                      <a:pPr algn="ctr"/>
                      <a:r>
                        <a:rPr lang="ms-MY" sz="2800" dirty="0">
                          <a:solidFill>
                            <a:srgbClr val="0000CC"/>
                          </a:solidFill>
                        </a:rPr>
                        <a:t>4</a:t>
                      </a:r>
                    </a:p>
                  </a:txBody>
                  <a:tcPr/>
                </a:tc>
                <a:extLst>
                  <a:ext uri="{0D108BD9-81ED-4DB2-BD59-A6C34878D82A}">
                    <a16:rowId xmlns:a16="http://schemas.microsoft.com/office/drawing/2014/main" val="10005"/>
                  </a:ext>
                </a:extLst>
              </a:tr>
            </a:tbl>
          </a:graphicData>
        </a:graphic>
      </p:graphicFrame>
      <p:sp>
        <p:nvSpPr>
          <p:cNvPr id="4" name="Slide Number Placeholder 3"/>
          <p:cNvSpPr>
            <a:spLocks noGrp="1"/>
          </p:cNvSpPr>
          <p:nvPr>
            <p:ph type="sldNum" sz="quarter" idx="12"/>
          </p:nvPr>
        </p:nvSpPr>
        <p:spPr/>
        <p:txBody>
          <a:bodyPr/>
          <a:lstStyle/>
          <a:p>
            <a:fld id="{28AE0400-5D2F-4E31-9F19-A66B4B0C89DF}" type="slidenum">
              <a:rPr lang="en-US" smtClean="0"/>
              <a:pPr/>
              <a:t>25</a:t>
            </a:fld>
            <a:endParaRPr lang="en-US"/>
          </a:p>
        </p:txBody>
      </p:sp>
    </p:spTree>
    <p:extLst>
      <p:ext uri="{BB962C8B-B14F-4D97-AF65-F5344CB8AC3E}">
        <p14:creationId xmlns:p14="http://schemas.microsoft.com/office/powerpoint/2010/main" val="41368397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036AA-1B2F-72CD-D9E0-7EE22195DF5B}"/>
              </a:ext>
            </a:extLst>
          </p:cNvPr>
          <p:cNvSpPr>
            <a:spLocks noGrp="1"/>
          </p:cNvSpPr>
          <p:nvPr>
            <p:ph type="title"/>
          </p:nvPr>
        </p:nvSpPr>
        <p:spPr>
          <a:xfrm>
            <a:off x="457200" y="2857500"/>
            <a:ext cx="8229600" cy="1143000"/>
          </a:xfrm>
        </p:spPr>
        <p:txBody>
          <a:bodyPr/>
          <a:lstStyle/>
          <a:p>
            <a:pPr algn="ctr"/>
            <a:r>
              <a:rPr lang="en-US" dirty="0"/>
              <a:t>Thank You</a:t>
            </a:r>
          </a:p>
        </p:txBody>
      </p:sp>
      <p:sp>
        <p:nvSpPr>
          <p:cNvPr id="4" name="Slide Number Placeholder 3">
            <a:extLst>
              <a:ext uri="{FF2B5EF4-FFF2-40B4-BE49-F238E27FC236}">
                <a16:creationId xmlns:a16="http://schemas.microsoft.com/office/drawing/2014/main" id="{E626186A-8A57-B762-D8DD-65968DF09ACF}"/>
              </a:ext>
            </a:extLst>
          </p:cNvPr>
          <p:cNvSpPr>
            <a:spLocks noGrp="1"/>
          </p:cNvSpPr>
          <p:nvPr>
            <p:ph type="sldNum" sz="quarter" idx="12"/>
          </p:nvPr>
        </p:nvSpPr>
        <p:spPr/>
        <p:txBody>
          <a:bodyPr/>
          <a:lstStyle/>
          <a:p>
            <a:fld id="{28AE0400-5D2F-4E31-9F19-A66B4B0C89DF}" type="slidenum">
              <a:rPr lang="en-US" smtClean="0"/>
              <a:pPr/>
              <a:t>26</a:t>
            </a:fld>
            <a:endParaRPr lang="en-US"/>
          </a:p>
        </p:txBody>
      </p:sp>
    </p:spTree>
    <p:extLst>
      <p:ext uri="{BB962C8B-B14F-4D97-AF65-F5344CB8AC3E}">
        <p14:creationId xmlns:p14="http://schemas.microsoft.com/office/powerpoint/2010/main" val="135203220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1228</TotalTime>
  <Words>1391</Words>
  <Application>Microsoft Office PowerPoint</Application>
  <PresentationFormat>On-screen Show (4:3)</PresentationFormat>
  <Paragraphs>172</Paragraphs>
  <Slides>26</Slides>
  <Notes>3</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2</vt:i4>
      </vt:variant>
      <vt:variant>
        <vt:lpstr>Slide Titles</vt:lpstr>
      </vt:variant>
      <vt:variant>
        <vt:i4>26</vt:i4>
      </vt:variant>
    </vt:vector>
  </HeadingPairs>
  <TitlesOfParts>
    <vt:vector size="36" baseType="lpstr">
      <vt:lpstr>Arial</vt:lpstr>
      <vt:lpstr>Calibri</vt:lpstr>
      <vt:lpstr>Consolas</vt:lpstr>
      <vt:lpstr>Constantia</vt:lpstr>
      <vt:lpstr>Times New Roman</vt:lpstr>
      <vt:lpstr>Wingdings</vt:lpstr>
      <vt:lpstr>Wingdings 2</vt:lpstr>
      <vt:lpstr>Flow</vt:lpstr>
      <vt:lpstr>Clip</vt:lpstr>
      <vt:lpstr>Document</vt:lpstr>
      <vt:lpstr>PowerPoint Presentation</vt:lpstr>
      <vt:lpstr>Topics</vt:lpstr>
      <vt:lpstr>Microprocessor/Microcontroller and some of their applications</vt:lpstr>
      <vt:lpstr>Typical Applications of uP</vt:lpstr>
      <vt:lpstr>Typical Application of uC</vt:lpstr>
      <vt:lpstr>Microprocessor vs Microcontroller</vt:lpstr>
      <vt:lpstr>PowerPoint Presentation</vt:lpstr>
      <vt:lpstr>Criteria for choosing a microcontroller</vt:lpstr>
      <vt:lpstr>Criteria for choosing a microcontroller </vt:lpstr>
      <vt:lpstr>Raspberry pi and Arduino</vt:lpstr>
      <vt:lpstr>PowerPoint Presentation</vt:lpstr>
      <vt:lpstr>Features of Raspberry pi and Arduino</vt:lpstr>
      <vt:lpstr>How to choose right kind of board?</vt:lpstr>
      <vt:lpstr>Question</vt:lpstr>
      <vt:lpstr>PowerPoint Presentation</vt:lpstr>
      <vt:lpstr>Harvard Architecture</vt:lpstr>
      <vt:lpstr>PowerPoint Presentation</vt:lpstr>
      <vt:lpstr>Harvard Architecture</vt:lpstr>
      <vt:lpstr>PowerPoint Presentation</vt:lpstr>
      <vt:lpstr>Von Neumann Architecture</vt:lpstr>
      <vt:lpstr>Harvard Architecture vs Von neuman Architecture</vt:lpstr>
      <vt:lpstr>  Processor ISA (instruction set architecture): RISC versus CISC</vt:lpstr>
      <vt:lpstr>RISC vs CISC</vt:lpstr>
      <vt:lpstr>RISC (Reduced instruction set computing) VS CISC (Complex instruction set computing)</vt:lpstr>
      <vt:lpstr>PowerPoint Presentation</vt:lpstr>
      <vt:lpstr>Thank You</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Shafqat Rakin</cp:lastModifiedBy>
  <cp:revision>195</cp:revision>
  <dcterms:created xsi:type="dcterms:W3CDTF">2014-05-09T08:36:58Z</dcterms:created>
  <dcterms:modified xsi:type="dcterms:W3CDTF">2023-12-03T19:22:50Z</dcterms:modified>
</cp:coreProperties>
</file>