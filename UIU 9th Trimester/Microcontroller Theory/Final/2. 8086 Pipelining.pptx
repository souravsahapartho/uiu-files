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6" r:id="rId2"/>
    <p:sldId id="272" r:id="rId3"/>
    <p:sldId id="262" r:id="rId4"/>
    <p:sldId id="273" r:id="rId5"/>
    <p:sldId id="274" r:id="rId6"/>
    <p:sldId id="257" r:id="rId7"/>
    <p:sldId id="258" r:id="rId8"/>
    <p:sldId id="269" r:id="rId9"/>
    <p:sldId id="266" r:id="rId10"/>
    <p:sldId id="267" r:id="rId11"/>
    <p:sldId id="268" r:id="rId12"/>
    <p:sldId id="261" r:id="rId13"/>
    <p:sldId id="270" r:id="rId14"/>
    <p:sldId id="271" r:id="rId15"/>
    <p:sldId id="278" r:id="rId16"/>
    <p:sldId id="279" r:id="rId17"/>
    <p:sldId id="280" r:id="rId18"/>
    <p:sldId id="281"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DF6B8-666A-4CDF-B433-050EA6ADE613}"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552F0F-50E0-439E-B9B6-E83BDE124D62}" type="slidenum">
              <a:rPr lang="en-US" smtClean="0"/>
              <a:t>‹#›</a:t>
            </a:fld>
            <a:endParaRPr lang="en-US"/>
          </a:p>
        </p:txBody>
      </p:sp>
    </p:spTree>
    <p:extLst>
      <p:ext uri="{BB962C8B-B14F-4D97-AF65-F5344CB8AC3E}">
        <p14:creationId xmlns:p14="http://schemas.microsoft.com/office/powerpoint/2010/main" val="186014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AX, [80H]</a:t>
            </a:r>
          </a:p>
        </p:txBody>
      </p:sp>
      <p:sp>
        <p:nvSpPr>
          <p:cNvPr id="4" name="Slide Number Placeholder 3"/>
          <p:cNvSpPr>
            <a:spLocks noGrp="1"/>
          </p:cNvSpPr>
          <p:nvPr>
            <p:ph type="sldNum" sz="quarter" idx="10"/>
          </p:nvPr>
        </p:nvSpPr>
        <p:spPr/>
        <p:txBody>
          <a:bodyPr/>
          <a:lstStyle/>
          <a:p>
            <a:fld id="{6B552F0F-50E0-439E-B9B6-E83BDE124D62}" type="slidenum">
              <a:rPr lang="en-US" smtClean="0"/>
              <a:t>12</a:t>
            </a:fld>
            <a:endParaRPr lang="en-US"/>
          </a:p>
        </p:txBody>
      </p:sp>
    </p:spTree>
    <p:extLst>
      <p:ext uri="{BB962C8B-B14F-4D97-AF65-F5344CB8AC3E}">
        <p14:creationId xmlns:p14="http://schemas.microsoft.com/office/powerpoint/2010/main" val="356621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C42E560-BFD7-4A41-89D0-E70EF5933CFA}"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261749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568EA86-C918-4C21-9BA2-0A06650CA04E}"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401267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0654AF-02A5-4329-A9E0-FA157E17A1B9}"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3299367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0500EA3-7323-4407-AB2D-A938554EE0E8}"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3522604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7601BCF-8DED-4D78-8823-999E0BE26B6B}" type="datetime1">
              <a:rPr lang="en-GB" smtClean="0"/>
              <a:t>09/11/2025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145176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AC55FCA-E02D-4CDA-B9E8-334D731B33C1}" type="datetime1">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1888471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9187E4-C680-41F1-89A3-5C6AA3CAD0BF}" type="datetime1">
              <a:rPr lang="en-GB" smtClean="0"/>
              <a:t>09/11/2025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3933039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BF6C95-205F-43B1-87A0-63F3811A0345}"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1988429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5EA5DB-BA63-4C99-9856-567894755E14}"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728208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5A96B12-2F1B-4AC8-95AE-4E6190D20FF4}"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2015699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92DA5BA-CA6C-4415-9EBD-F87C2200AEDC}"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7893E6-6FB6-4BEE-9BE2-4CDA942C0416}" type="slidenum">
              <a:rPr lang="en-GB" smtClean="0"/>
              <a:t>‹#›</a:t>
            </a:fld>
            <a:endParaRPr lang="en-GB"/>
          </a:p>
        </p:txBody>
      </p:sp>
    </p:spTree>
    <p:extLst>
      <p:ext uri="{BB962C8B-B14F-4D97-AF65-F5344CB8AC3E}">
        <p14:creationId xmlns:p14="http://schemas.microsoft.com/office/powerpoint/2010/main" val="3177539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B6FAE2-62B8-4F81-83F0-1A3ADE19C53B}" type="datetime1">
              <a:rPr lang="en-GB" smtClean="0"/>
              <a:t>09/11/2025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7893E6-6FB6-4BEE-9BE2-4CDA942C0416}" type="slidenum">
              <a:rPr lang="en-GB" smtClean="0"/>
              <a:t>‹#›</a:t>
            </a:fld>
            <a:endParaRPr lang="en-GB"/>
          </a:p>
        </p:txBody>
      </p:sp>
    </p:spTree>
    <p:extLst>
      <p:ext uri="{BB962C8B-B14F-4D97-AF65-F5344CB8AC3E}">
        <p14:creationId xmlns:p14="http://schemas.microsoft.com/office/powerpoint/2010/main" val="1303058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CE1D2A-C4B8-5140-8D2B-7371E9909657}"/>
              </a:ext>
            </a:extLst>
          </p:cNvPr>
          <p:cNvSpPr>
            <a:spLocks noGrp="1"/>
          </p:cNvSpPr>
          <p:nvPr>
            <p:ph type="ctrTitle"/>
          </p:nvPr>
        </p:nvSpPr>
        <p:spPr>
          <a:xfrm>
            <a:off x="914400" y="2125980"/>
            <a:ext cx="10363200" cy="677108"/>
          </a:xfrm>
        </p:spPr>
        <p:txBody>
          <a:bodyPr>
            <a:normAutofit fontScale="90000"/>
          </a:bodyPr>
          <a:lstStyle/>
          <a:p>
            <a:r>
              <a:rPr lang="en-GB" dirty="0"/>
              <a:t>8086 Pipelining</a:t>
            </a:r>
            <a:endParaRPr lang="en-US" u="none" dirty="0"/>
          </a:p>
        </p:txBody>
      </p:sp>
      <p:sp>
        <p:nvSpPr>
          <p:cNvPr id="2" name="Subtitle 4">
            <a:extLst>
              <a:ext uri="{FF2B5EF4-FFF2-40B4-BE49-F238E27FC236}">
                <a16:creationId xmlns:a16="http://schemas.microsoft.com/office/drawing/2014/main" id="{E63B8CFF-DBEC-9EB7-7AEC-A02DA8C1C506}"/>
              </a:ext>
            </a:extLst>
          </p:cNvPr>
          <p:cNvSpPr txBox="1">
            <a:spLocks/>
          </p:cNvSpPr>
          <p:nvPr/>
        </p:nvSpPr>
        <p:spPr>
          <a:xfrm>
            <a:off x="1680014" y="435864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3" name="object 5">
            <a:extLst>
              <a:ext uri="{FF2B5EF4-FFF2-40B4-BE49-F238E27FC236}">
                <a16:creationId xmlns:a16="http://schemas.microsoft.com/office/drawing/2014/main" id="{C2D8736A-CD56-573F-E1A3-F30A613337C0}"/>
              </a:ext>
            </a:extLst>
          </p:cNvPr>
          <p:cNvSpPr txBox="1"/>
          <p:nvPr/>
        </p:nvSpPr>
        <p:spPr>
          <a:xfrm>
            <a:off x="6233160" y="575002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217893E6-6FB6-4BEE-9BE2-4CDA942C0416}" type="slidenum">
              <a:rPr lang="en-GB" smtClean="0"/>
              <a:t>2</a:t>
            </a:fld>
            <a:endParaRPr lang="en-GB"/>
          </a:p>
        </p:txBody>
      </p:sp>
      <p:pic>
        <p:nvPicPr>
          <p:cNvPr id="1026" name="Picture 2" descr="https://www.cs.fsu.edu/~hawkes/cda3101lects/chap6/F6.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678" y="1"/>
            <a:ext cx="7125570" cy="6721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73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8708"/>
          </a:xfrm>
        </p:spPr>
        <p:txBody>
          <a:bodyPr/>
          <a:lstStyle/>
          <a:p>
            <a:r>
              <a:rPr lang="en-GB" dirty="0"/>
              <a:t>Trivia</a:t>
            </a:r>
          </a:p>
        </p:txBody>
      </p:sp>
      <p:sp>
        <p:nvSpPr>
          <p:cNvPr id="3" name="Content Placeholder 2"/>
          <p:cNvSpPr>
            <a:spLocks noGrp="1"/>
          </p:cNvSpPr>
          <p:nvPr>
            <p:ph idx="1"/>
          </p:nvPr>
        </p:nvSpPr>
        <p:spPr>
          <a:xfrm>
            <a:off x="838200" y="1323834"/>
            <a:ext cx="10515600" cy="4351338"/>
          </a:xfrm>
        </p:spPr>
        <p:txBody>
          <a:bodyPr/>
          <a:lstStyle/>
          <a:p>
            <a:r>
              <a:rPr lang="en-GB" dirty="0"/>
              <a:t>For example, an x86 MOV instruction requires a two-byte </a:t>
            </a:r>
            <a:r>
              <a:rPr lang="en-GB" dirty="0" err="1"/>
              <a:t>opcode</a:t>
            </a:r>
            <a:r>
              <a:rPr lang="en-GB" dirty="0"/>
              <a:t>.</a:t>
            </a:r>
          </a:p>
          <a:p>
            <a:r>
              <a:rPr lang="en-GB" dirty="0"/>
              <a:t>8086 instruction length is not fixed like MIPS. 8086 Instruction length depends on the instruction. It is a minimum of 1 byte and a maximum of 6 bytes long.</a:t>
            </a:r>
          </a:p>
        </p:txBody>
      </p:sp>
      <p:sp>
        <p:nvSpPr>
          <p:cNvPr id="4" name="Slide Number Placeholder 3"/>
          <p:cNvSpPr>
            <a:spLocks noGrp="1"/>
          </p:cNvSpPr>
          <p:nvPr>
            <p:ph type="sldNum" sz="quarter" idx="12"/>
          </p:nvPr>
        </p:nvSpPr>
        <p:spPr/>
        <p:txBody>
          <a:bodyPr/>
          <a:lstStyle/>
          <a:p>
            <a:fld id="{217893E6-6FB6-4BEE-9BE2-4CDA942C0416}" type="slidenum">
              <a:rPr lang="en-GB" smtClean="0"/>
              <a:t>3</a:t>
            </a:fld>
            <a:endParaRPr lang="en-GB"/>
          </a:p>
        </p:txBody>
      </p:sp>
    </p:spTree>
    <p:extLst>
      <p:ext uri="{BB962C8B-B14F-4D97-AF65-F5344CB8AC3E}">
        <p14:creationId xmlns:p14="http://schemas.microsoft.com/office/powerpoint/2010/main" val="3974230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1371600" y="0"/>
            <a:ext cx="7543800" cy="868362"/>
          </a:xfrm>
        </p:spPr>
        <p:txBody>
          <a:bodyPr/>
          <a:lstStyle/>
          <a:p>
            <a:pPr eaLnBrk="1" hangingPunct="1"/>
            <a:r>
              <a:rPr lang="en-US" altLang="en-US" dirty="0"/>
              <a:t>   8086 Internal Architecture</a:t>
            </a:r>
          </a:p>
        </p:txBody>
      </p:sp>
      <p:sp>
        <p:nvSpPr>
          <p:cNvPr id="2" name="Slide Number Placeholder 1"/>
          <p:cNvSpPr>
            <a:spLocks noGrp="1"/>
          </p:cNvSpPr>
          <p:nvPr>
            <p:ph type="sldNum" sz="quarter" idx="12"/>
          </p:nvPr>
        </p:nvSpPr>
        <p:spPr/>
        <p:txBody>
          <a:bodyPr/>
          <a:lstStyle/>
          <a:p>
            <a:pPr>
              <a:defRPr/>
            </a:pPr>
            <a:fld id="{7618CFE9-C5F5-46F7-BEF6-B43B85640B41}" type="slidenum">
              <a:rPr lang="en-US" altLang="en-US" smtClean="0">
                <a:solidFill>
                  <a:prstClr val="black">
                    <a:tint val="75000"/>
                  </a:prstClr>
                </a:solidFill>
              </a:rPr>
              <a:pPr>
                <a:defRPr/>
              </a:pPr>
              <a:t>4</a:t>
            </a:fld>
            <a:endParaRPr lang="en-US" altLang="en-US">
              <a:solidFill>
                <a:prstClr val="black">
                  <a:tint val="75000"/>
                </a:prst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2637"/>
            <a:ext cx="9321105" cy="6075363"/>
          </a:xfrm>
          <a:prstGeom prst="rect">
            <a:avLst/>
          </a:prstGeom>
        </p:spPr>
      </p:pic>
    </p:spTree>
    <p:extLst>
      <p:ext uri="{BB962C8B-B14F-4D97-AF65-F5344CB8AC3E}">
        <p14:creationId xmlns:p14="http://schemas.microsoft.com/office/powerpoint/2010/main" val="22720447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1371600" y="0"/>
            <a:ext cx="7418439" cy="652051"/>
          </a:xfrm>
        </p:spPr>
        <p:txBody>
          <a:bodyPr>
            <a:normAutofit fontScale="90000"/>
          </a:bodyPr>
          <a:lstStyle/>
          <a:p>
            <a:pPr eaLnBrk="1" hangingPunct="1"/>
            <a:r>
              <a:rPr lang="en-US" altLang="en-US" dirty="0"/>
              <a:t>   8086 Internal Architecture</a:t>
            </a:r>
          </a:p>
        </p:txBody>
      </p:sp>
      <p:sp>
        <p:nvSpPr>
          <p:cNvPr id="2" name="Slide Number Placeholder 1"/>
          <p:cNvSpPr>
            <a:spLocks noGrp="1"/>
          </p:cNvSpPr>
          <p:nvPr>
            <p:ph type="sldNum" sz="quarter" idx="12"/>
          </p:nvPr>
        </p:nvSpPr>
        <p:spPr/>
        <p:txBody>
          <a:bodyPr/>
          <a:lstStyle/>
          <a:p>
            <a:pPr>
              <a:defRPr/>
            </a:pPr>
            <a:fld id="{7618CFE9-C5F5-46F7-BEF6-B43B85640B41}" type="slidenum">
              <a:rPr lang="en-US" altLang="en-US" smtClean="0">
                <a:solidFill>
                  <a:prstClr val="black">
                    <a:tint val="75000"/>
                  </a:prstClr>
                </a:solidFill>
              </a:rPr>
              <a:pPr>
                <a:defRPr/>
              </a:pPr>
              <a:t>5</a:t>
            </a:fld>
            <a:endParaRPr lang="en-US" altLang="en-US">
              <a:solidFill>
                <a:prstClr val="black">
                  <a:tint val="75000"/>
                </a:prstClr>
              </a:solidFill>
            </a:endParaRPr>
          </a:p>
        </p:txBody>
      </p:sp>
      <p:sp>
        <p:nvSpPr>
          <p:cNvPr id="4" name="TextBox 3"/>
          <p:cNvSpPr txBox="1"/>
          <p:nvPr/>
        </p:nvSpPr>
        <p:spPr>
          <a:xfrm>
            <a:off x="206477" y="652051"/>
            <a:ext cx="11818375" cy="5262979"/>
          </a:xfrm>
          <a:prstGeom prst="rect">
            <a:avLst/>
          </a:prstGeom>
          <a:noFill/>
        </p:spPr>
        <p:txBody>
          <a:bodyPr wrap="square" rtlCol="0">
            <a:spAutoFit/>
          </a:bodyPr>
          <a:lstStyle/>
          <a:p>
            <a:r>
              <a:rPr lang="en-US" sz="2400" dirty="0"/>
              <a:t>The </a:t>
            </a:r>
            <a:r>
              <a:rPr lang="en-US" sz="2400" dirty="0">
                <a:solidFill>
                  <a:srgbClr val="FF0000"/>
                </a:solidFill>
              </a:rPr>
              <a:t>BIU</a:t>
            </a:r>
            <a:r>
              <a:rPr lang="en-US" sz="2400" dirty="0"/>
              <a:t> provides hardware functions, including generation of the memory and I/O addresses for the transfer of data between itself and the outside world.</a:t>
            </a:r>
          </a:p>
          <a:p>
            <a:endParaRPr lang="en-US" sz="2400" dirty="0"/>
          </a:p>
          <a:p>
            <a:r>
              <a:rPr lang="en-US" sz="2400" dirty="0"/>
              <a:t>The </a:t>
            </a:r>
            <a:r>
              <a:rPr lang="en-US" sz="2400" dirty="0">
                <a:solidFill>
                  <a:srgbClr val="FF0000"/>
                </a:solidFill>
              </a:rPr>
              <a:t>EU</a:t>
            </a:r>
            <a:r>
              <a:rPr lang="en-US" sz="2400" dirty="0"/>
              <a:t> receives program instruction codes and data from the </a:t>
            </a:r>
            <a:r>
              <a:rPr lang="en-US" sz="2400" dirty="0">
                <a:solidFill>
                  <a:srgbClr val="FF0000"/>
                </a:solidFill>
              </a:rPr>
              <a:t>BIU</a:t>
            </a:r>
            <a:r>
              <a:rPr lang="en-US" sz="2400" dirty="0"/>
              <a:t>, executes these instructions, and stores the results in the general registers. By passing the data back to the BIU, data can also be stored in a memory location or written to an output device.</a:t>
            </a:r>
          </a:p>
          <a:p>
            <a:endParaRPr lang="en-US" sz="2400" dirty="0"/>
          </a:p>
          <a:p>
            <a:pPr marL="342900" indent="-342900">
              <a:buFont typeface="Arial" panose="020B0604020202020204" pitchFamily="34" charset="0"/>
              <a:buChar char="•"/>
            </a:pPr>
            <a:r>
              <a:rPr lang="en-US" sz="2400" dirty="0"/>
              <a:t>The </a:t>
            </a:r>
            <a:r>
              <a:rPr lang="en-US" sz="2400" dirty="0">
                <a:solidFill>
                  <a:srgbClr val="FF0000"/>
                </a:solidFill>
              </a:rPr>
              <a:t>EU </a:t>
            </a:r>
            <a:r>
              <a:rPr lang="en-US" sz="2400" dirty="0"/>
              <a:t>has no connection to the system buses. It receives and outputs all of its data through the </a:t>
            </a:r>
            <a:r>
              <a:rPr lang="en-US" sz="2400" dirty="0">
                <a:solidFill>
                  <a:srgbClr val="FF0000"/>
                </a:solidFill>
              </a:rPr>
              <a:t>BIU</a:t>
            </a:r>
            <a:r>
              <a:rPr lang="en-US" sz="2400" dirty="0"/>
              <a:t>. The execution unit, or </a:t>
            </a:r>
            <a:r>
              <a:rPr lang="en-US" sz="2400" dirty="0">
                <a:solidFill>
                  <a:srgbClr val="FF0000"/>
                </a:solidFill>
              </a:rPr>
              <a:t>EU</a:t>
            </a:r>
            <a:r>
              <a:rPr lang="en-US" sz="2400" dirty="0"/>
              <a:t>, handles the arithmetic and logical operations on the data and has a 6-byte first-in-first-out (FIFO) instruction queue.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main linkage between the two functional blocks is the instruction queue, with the </a:t>
            </a:r>
            <a:r>
              <a:rPr lang="en-US" sz="2400" dirty="0">
                <a:solidFill>
                  <a:srgbClr val="FF0000"/>
                </a:solidFill>
              </a:rPr>
              <a:t>BIU</a:t>
            </a:r>
            <a:r>
              <a:rPr lang="en-US" sz="2400" dirty="0"/>
              <a:t> looking ahead of the current instruction being executed in order to keep the queue filled with instructions for the </a:t>
            </a:r>
            <a:r>
              <a:rPr lang="en-US" sz="2400" dirty="0">
                <a:solidFill>
                  <a:srgbClr val="FF0000"/>
                </a:solidFill>
              </a:rPr>
              <a:t>EU</a:t>
            </a:r>
            <a:r>
              <a:rPr lang="en-US" sz="2400" dirty="0"/>
              <a:t> to decode and operate on.</a:t>
            </a:r>
          </a:p>
        </p:txBody>
      </p:sp>
    </p:spTree>
    <p:extLst>
      <p:ext uri="{BB962C8B-B14F-4D97-AF65-F5344CB8AC3E}">
        <p14:creationId xmlns:p14="http://schemas.microsoft.com/office/powerpoint/2010/main" val="186434396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591" y="117988"/>
            <a:ext cx="8957370" cy="973394"/>
          </a:xfrm>
        </p:spPr>
        <p:txBody>
          <a:bodyPr/>
          <a:lstStyle/>
          <a:p>
            <a:r>
              <a:rPr lang="en-GB" dirty="0"/>
              <a:t>Pipelining</a:t>
            </a:r>
          </a:p>
        </p:txBody>
      </p:sp>
      <p:sp>
        <p:nvSpPr>
          <p:cNvPr id="3" name="Content Placeholder 2"/>
          <p:cNvSpPr>
            <a:spLocks noGrp="1"/>
          </p:cNvSpPr>
          <p:nvPr>
            <p:ph idx="1"/>
          </p:nvPr>
        </p:nvSpPr>
        <p:spPr>
          <a:xfrm>
            <a:off x="294784" y="1091382"/>
            <a:ext cx="11444931" cy="5264968"/>
          </a:xfrm>
        </p:spPr>
        <p:txBody>
          <a:bodyPr/>
          <a:lstStyle/>
          <a:p>
            <a:r>
              <a:rPr lang="en-GB" dirty="0"/>
              <a:t>In 8086, to speed up the execution of program, the instructions fetching and execution of instructions are overlapped each other. This technique is known as pipelining. In pipelining, when the nth instruction is executed, the n+1th instruction is fetched and thus the processing speed is increased.</a:t>
            </a:r>
          </a:p>
          <a:p>
            <a:endParaRPr lang="en-GB" dirty="0"/>
          </a:p>
          <a:p>
            <a:r>
              <a:rPr lang="en-GB" dirty="0">
                <a:cs typeface="Times New Roman"/>
              </a:rPr>
              <a:t>The </a:t>
            </a:r>
            <a:r>
              <a:rPr lang="en-GB" spc="-5" dirty="0">
                <a:cs typeface="Times New Roman"/>
              </a:rPr>
              <a:t>organization </a:t>
            </a:r>
            <a:r>
              <a:rPr lang="en-GB" dirty="0">
                <a:cs typeface="Times New Roman"/>
              </a:rPr>
              <a:t>of the </a:t>
            </a:r>
            <a:r>
              <a:rPr lang="en-GB" spc="-5" dirty="0">
                <a:cs typeface="Times New Roman"/>
              </a:rPr>
              <a:t>processor </a:t>
            </a:r>
            <a:r>
              <a:rPr lang="en-GB" dirty="0">
                <a:cs typeface="Times New Roman"/>
              </a:rPr>
              <a:t>into a </a:t>
            </a:r>
            <a:r>
              <a:rPr lang="en-GB" spc="-5" dirty="0">
                <a:cs typeface="Times New Roman"/>
              </a:rPr>
              <a:t>separate </a:t>
            </a:r>
            <a:r>
              <a:rPr lang="en-GB" dirty="0">
                <a:cs typeface="Times New Roman"/>
              </a:rPr>
              <a:t>BIU and </a:t>
            </a:r>
            <a:r>
              <a:rPr lang="en-GB" spc="-5" dirty="0">
                <a:cs typeface="Times New Roman"/>
              </a:rPr>
              <a:t>EU allows </a:t>
            </a:r>
            <a:r>
              <a:rPr lang="en-GB" dirty="0">
                <a:cs typeface="Times New Roman"/>
              </a:rPr>
              <a:t>the</a:t>
            </a:r>
            <a:r>
              <a:rPr lang="en-GB" dirty="0">
                <a:solidFill>
                  <a:srgbClr val="FF0000"/>
                </a:solidFill>
                <a:cs typeface="Times New Roman"/>
              </a:rPr>
              <a:t> </a:t>
            </a:r>
            <a:r>
              <a:rPr lang="en-GB" b="1" spc="-15" dirty="0">
                <a:solidFill>
                  <a:srgbClr val="FF0000"/>
                </a:solidFill>
                <a:cs typeface="Calibri"/>
              </a:rPr>
              <a:t>fetch </a:t>
            </a:r>
            <a:r>
              <a:rPr lang="en-GB" spc="-5" dirty="0">
                <a:cs typeface="Times New Roman"/>
              </a:rPr>
              <a:t>and </a:t>
            </a:r>
            <a:r>
              <a:rPr lang="en-GB" b="1" spc="-20" dirty="0">
                <a:solidFill>
                  <a:srgbClr val="FF0000"/>
                </a:solidFill>
                <a:cs typeface="Calibri"/>
              </a:rPr>
              <a:t>execute</a:t>
            </a:r>
            <a:r>
              <a:rPr lang="en-GB" b="1" spc="-20" dirty="0">
                <a:solidFill>
                  <a:srgbClr val="DAA600"/>
                </a:solidFill>
                <a:cs typeface="Calibri"/>
              </a:rPr>
              <a:t> </a:t>
            </a:r>
            <a:r>
              <a:rPr lang="en-GB" dirty="0">
                <a:cs typeface="Times New Roman"/>
              </a:rPr>
              <a:t>cycles </a:t>
            </a:r>
            <a:r>
              <a:rPr lang="en-GB" b="1" spc="-15" dirty="0">
                <a:solidFill>
                  <a:srgbClr val="FF0000"/>
                </a:solidFill>
                <a:cs typeface="Calibri"/>
              </a:rPr>
              <a:t>to </a:t>
            </a:r>
            <a:r>
              <a:rPr lang="en-GB" b="1" spc="-5" dirty="0">
                <a:solidFill>
                  <a:srgbClr val="FF0000"/>
                </a:solidFill>
                <a:cs typeface="Calibri"/>
              </a:rPr>
              <a:t>overlap</a:t>
            </a:r>
            <a:r>
              <a:rPr lang="en-GB" i="1" spc="-5" dirty="0">
                <a:cs typeface="Times New Roman"/>
              </a:rPr>
              <a:t>. </a:t>
            </a:r>
            <a:r>
              <a:rPr lang="en-GB" spc="-5" dirty="0">
                <a:cs typeface="Times New Roman"/>
              </a:rPr>
              <a:t>In the beginning, the CS:IP is loaded with the required address from which the execution is to be started. </a:t>
            </a:r>
          </a:p>
          <a:p>
            <a:pPr marL="0" indent="0">
              <a:buNone/>
            </a:pPr>
            <a:endParaRPr lang="en-GB" dirty="0"/>
          </a:p>
          <a:p>
            <a:endParaRPr lang="en-GB" dirty="0"/>
          </a:p>
          <a:p>
            <a:endParaRPr lang="en-GB" dirty="0"/>
          </a:p>
        </p:txBody>
      </p:sp>
      <p:sp>
        <p:nvSpPr>
          <p:cNvPr id="4" name="Slide Number Placeholder 3"/>
          <p:cNvSpPr>
            <a:spLocks noGrp="1"/>
          </p:cNvSpPr>
          <p:nvPr>
            <p:ph type="sldNum" sz="quarter" idx="12"/>
          </p:nvPr>
        </p:nvSpPr>
        <p:spPr/>
        <p:txBody>
          <a:bodyPr/>
          <a:lstStyle/>
          <a:p>
            <a:fld id="{217893E6-6FB6-4BEE-9BE2-4CDA942C0416}" type="slidenum">
              <a:rPr lang="en-GB" smtClean="0"/>
              <a:t>6</a:t>
            </a:fld>
            <a:endParaRPr lang="en-GB"/>
          </a:p>
        </p:txBody>
      </p:sp>
    </p:spTree>
    <p:extLst>
      <p:ext uri="{BB962C8B-B14F-4D97-AF65-F5344CB8AC3E}">
        <p14:creationId xmlns:p14="http://schemas.microsoft.com/office/powerpoint/2010/main" val="2796370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6772" y="949270"/>
            <a:ext cx="11324416" cy="5323124"/>
          </a:xfrm>
          <a:prstGeom prst="rect">
            <a:avLst/>
          </a:prstGeom>
        </p:spPr>
        <p:txBody>
          <a:bodyPr vert="horz" wrap="square" lIns="0" tIns="0" rIns="0" bIns="0" rtlCol="0">
            <a:spAutoFit/>
          </a:bodyPr>
          <a:lstStyle/>
          <a:p>
            <a:pPr marL="12700" marR="32384" algn="just">
              <a:lnSpc>
                <a:spcPct val="101499"/>
              </a:lnSpc>
              <a:spcBef>
                <a:spcPts val="660"/>
              </a:spcBef>
            </a:pPr>
            <a:endParaRPr sz="2400" dirty="0">
              <a:latin typeface="Times New Roman"/>
              <a:cs typeface="Times New Roman"/>
            </a:endParaRPr>
          </a:p>
          <a:p>
            <a:pPr marL="264795" indent="-227329" algn="just">
              <a:lnSpc>
                <a:spcPts val="2125"/>
              </a:lnSpc>
              <a:buAutoNum type="arabicPeriod"/>
              <a:tabLst>
                <a:tab pos="265430" algn="l"/>
              </a:tabLst>
            </a:pPr>
            <a:r>
              <a:rPr sz="2800" dirty="0">
                <a:cs typeface="Times New Roman"/>
              </a:rPr>
              <a:t>Register </a:t>
            </a:r>
            <a:r>
              <a:rPr sz="2800" spc="-5" dirty="0">
                <a:cs typeface="Times New Roman"/>
              </a:rPr>
              <a:t>IP is </a:t>
            </a:r>
            <a:r>
              <a:rPr sz="2800" dirty="0">
                <a:cs typeface="Times New Roman"/>
              </a:rPr>
              <a:t>incremented by one to prepare for the next instruction</a:t>
            </a:r>
            <a:r>
              <a:rPr sz="2800" spc="-170" dirty="0">
                <a:cs typeface="Times New Roman"/>
              </a:rPr>
              <a:t> </a:t>
            </a:r>
            <a:r>
              <a:rPr sz="2800" dirty="0">
                <a:cs typeface="Times New Roman"/>
              </a:rPr>
              <a:t>fetch.</a:t>
            </a:r>
            <a:endParaRPr lang="en-GB" sz="2800" dirty="0">
              <a:cs typeface="Times New Roman"/>
            </a:endParaRPr>
          </a:p>
          <a:p>
            <a:pPr marL="264795" indent="-227329" algn="just">
              <a:lnSpc>
                <a:spcPts val="2125"/>
              </a:lnSpc>
              <a:buAutoNum type="arabicPeriod"/>
              <a:tabLst>
                <a:tab pos="265430" algn="l"/>
              </a:tabLst>
            </a:pPr>
            <a:endParaRPr lang="en-GB" sz="2800" dirty="0">
              <a:cs typeface="Times New Roman"/>
            </a:endParaRPr>
          </a:p>
          <a:p>
            <a:pPr marL="37465" marR="5080" algn="just">
              <a:lnSpc>
                <a:spcPts val="2400"/>
              </a:lnSpc>
              <a:spcBef>
                <a:spcPts val="45"/>
              </a:spcBef>
              <a:buAutoNum type="arabicPeriod"/>
              <a:tabLst>
                <a:tab pos="285115" algn="l"/>
              </a:tabLst>
            </a:pPr>
            <a:r>
              <a:rPr sz="2800" dirty="0">
                <a:cs typeface="Times New Roman"/>
              </a:rPr>
              <a:t>Once inside </a:t>
            </a:r>
            <a:r>
              <a:rPr sz="2800" spc="-5" dirty="0">
                <a:cs typeface="Times New Roman"/>
              </a:rPr>
              <a:t>the </a:t>
            </a:r>
            <a:r>
              <a:rPr sz="2800" dirty="0">
                <a:cs typeface="Times New Roman"/>
              </a:rPr>
              <a:t>BIU, </a:t>
            </a:r>
            <a:r>
              <a:rPr sz="2800" spc="-5" dirty="0">
                <a:cs typeface="Times New Roman"/>
              </a:rPr>
              <a:t>the instruction is passed </a:t>
            </a:r>
            <a:r>
              <a:rPr sz="2800" dirty="0">
                <a:cs typeface="Times New Roman"/>
              </a:rPr>
              <a:t>to the </a:t>
            </a:r>
            <a:r>
              <a:rPr sz="2800" b="1" dirty="0">
                <a:solidFill>
                  <a:srgbClr val="FF0000"/>
                </a:solidFill>
                <a:cs typeface="Calibri"/>
              </a:rPr>
              <a:t>queue</a:t>
            </a:r>
            <a:r>
              <a:rPr sz="2800" i="1" dirty="0">
                <a:cs typeface="Times New Roman"/>
              </a:rPr>
              <a:t>: </a:t>
            </a:r>
            <a:r>
              <a:rPr sz="2800" dirty="0">
                <a:cs typeface="Times New Roman"/>
              </a:rPr>
              <a:t>a </a:t>
            </a:r>
            <a:r>
              <a:rPr sz="2800" spc="-5" dirty="0">
                <a:cs typeface="Times New Roman"/>
              </a:rPr>
              <a:t>first-in/first-out  </a:t>
            </a:r>
            <a:r>
              <a:rPr sz="2800" dirty="0">
                <a:cs typeface="Times New Roman"/>
              </a:rPr>
              <a:t>storage register </a:t>
            </a:r>
            <a:r>
              <a:rPr sz="2800" spc="-5" dirty="0">
                <a:cs typeface="Times New Roman"/>
              </a:rPr>
              <a:t>sometimes </a:t>
            </a:r>
            <a:r>
              <a:rPr sz="2800" dirty="0">
                <a:cs typeface="Times New Roman"/>
              </a:rPr>
              <a:t>likened to a</a:t>
            </a:r>
            <a:r>
              <a:rPr sz="2800" spc="-45" dirty="0">
                <a:cs typeface="Times New Roman"/>
              </a:rPr>
              <a:t> </a:t>
            </a:r>
            <a:r>
              <a:rPr sz="2800" b="1" spc="-5" dirty="0">
                <a:solidFill>
                  <a:srgbClr val="FF0000"/>
                </a:solidFill>
                <a:cs typeface="Calibri"/>
              </a:rPr>
              <a:t>pipeline</a:t>
            </a:r>
            <a:r>
              <a:rPr sz="2800" i="1" spc="-5" dirty="0">
                <a:cs typeface="Times New Roman"/>
              </a:rPr>
              <a:t>.</a:t>
            </a:r>
            <a:r>
              <a:rPr lang="en-GB" sz="2800" i="1" spc="-5" dirty="0">
                <a:cs typeface="Times New Roman"/>
              </a:rPr>
              <a:t> </a:t>
            </a:r>
            <a:r>
              <a:rPr lang="en-GB" sz="2800" spc="-5" dirty="0">
                <a:cs typeface="Times New Roman"/>
              </a:rPr>
              <a:t>Assuming </a:t>
            </a:r>
            <a:r>
              <a:rPr lang="en-GB" sz="2800" dirty="0">
                <a:cs typeface="Times New Roman"/>
              </a:rPr>
              <a:t>that </a:t>
            </a:r>
            <a:r>
              <a:rPr lang="en-GB" sz="2800" spc="-5" dirty="0">
                <a:cs typeface="Times New Roman"/>
              </a:rPr>
              <a:t>the queue is initially </a:t>
            </a:r>
            <a:r>
              <a:rPr lang="en-GB" sz="2800" spc="-25" dirty="0">
                <a:cs typeface="Times New Roman"/>
              </a:rPr>
              <a:t>empty. </a:t>
            </a:r>
          </a:p>
          <a:p>
            <a:pPr marL="37465" marR="5080" algn="just">
              <a:lnSpc>
                <a:spcPts val="2400"/>
              </a:lnSpc>
              <a:spcBef>
                <a:spcPts val="45"/>
              </a:spcBef>
              <a:buAutoNum type="arabicPeriod"/>
              <a:tabLst>
                <a:tab pos="285115" algn="l"/>
              </a:tabLst>
            </a:pPr>
            <a:endParaRPr sz="2800" i="1" spc="-5" dirty="0">
              <a:cs typeface="Times New Roman"/>
            </a:endParaRPr>
          </a:p>
          <a:p>
            <a:pPr marL="37465" marR="6985" algn="just">
              <a:lnSpc>
                <a:spcPts val="2160"/>
              </a:lnSpc>
              <a:spcBef>
                <a:spcPts val="60"/>
              </a:spcBef>
              <a:buAutoNum type="arabicPeriod"/>
              <a:tabLst>
                <a:tab pos="318770" algn="l"/>
              </a:tabLst>
            </a:pPr>
            <a:r>
              <a:rPr lang="en-GB" sz="2800" dirty="0">
                <a:cs typeface="Times New Roman"/>
              </a:rPr>
              <a:t>T</a:t>
            </a:r>
            <a:r>
              <a:rPr sz="2800" dirty="0">
                <a:cs typeface="Times New Roman"/>
              </a:rPr>
              <a:t>he </a:t>
            </a:r>
            <a:r>
              <a:rPr sz="2800" spc="-5" dirty="0">
                <a:cs typeface="Times New Roman"/>
              </a:rPr>
              <a:t>EU immediately draws this</a:t>
            </a:r>
            <a:r>
              <a:rPr lang="en-GB" sz="2800" spc="-5" dirty="0">
                <a:cs typeface="Times New Roman"/>
              </a:rPr>
              <a:t> </a:t>
            </a:r>
            <a:r>
              <a:rPr sz="2800" dirty="0">
                <a:cs typeface="Times New Roman"/>
              </a:rPr>
              <a:t>instruction from the queue and begins</a:t>
            </a:r>
            <a:r>
              <a:rPr sz="2800" spc="-114" dirty="0">
                <a:cs typeface="Times New Roman"/>
              </a:rPr>
              <a:t> </a:t>
            </a:r>
            <a:r>
              <a:rPr sz="2800" dirty="0">
                <a:cs typeface="Times New Roman"/>
              </a:rPr>
              <a:t>execution.</a:t>
            </a:r>
            <a:endParaRPr lang="en-GB" sz="2800" dirty="0">
              <a:cs typeface="Times New Roman"/>
            </a:endParaRPr>
          </a:p>
          <a:p>
            <a:pPr marL="37465" marR="6985" algn="just">
              <a:lnSpc>
                <a:spcPts val="2160"/>
              </a:lnSpc>
              <a:spcBef>
                <a:spcPts val="60"/>
              </a:spcBef>
              <a:buAutoNum type="arabicPeriod"/>
              <a:tabLst>
                <a:tab pos="318770" algn="l"/>
              </a:tabLst>
            </a:pPr>
            <a:endParaRPr lang="en-GB" sz="2800" dirty="0">
              <a:cs typeface="Times New Roman"/>
            </a:endParaRPr>
          </a:p>
          <a:p>
            <a:pPr marL="37465" marR="6985" algn="just">
              <a:lnSpc>
                <a:spcPts val="2160"/>
              </a:lnSpc>
              <a:spcBef>
                <a:spcPts val="60"/>
              </a:spcBef>
              <a:buAutoNum type="arabicPeriod"/>
              <a:tabLst>
                <a:tab pos="318770" algn="l"/>
              </a:tabLst>
            </a:pPr>
            <a:r>
              <a:rPr lang="en-GB" sz="2800" dirty="0">
                <a:cs typeface="Times New Roman"/>
              </a:rPr>
              <a:t>While the  EU is executing  this  instruction, the  BIU proceeds  to fetch a new instruction. Depending on the execution time of the first instruction, the BIU may  fill the queue with several new instructions before the EU is ready to draw its next  instruction.</a:t>
            </a:r>
          </a:p>
          <a:p>
            <a:pPr marL="37465" marR="6985" algn="just">
              <a:lnSpc>
                <a:spcPts val="2160"/>
              </a:lnSpc>
              <a:spcBef>
                <a:spcPts val="60"/>
              </a:spcBef>
              <a:buAutoNum type="arabicPeriod"/>
              <a:tabLst>
                <a:tab pos="318770" algn="l"/>
              </a:tabLst>
            </a:pPr>
            <a:endParaRPr lang="en-GB" sz="2800" dirty="0">
              <a:cs typeface="Times New Roman"/>
            </a:endParaRPr>
          </a:p>
          <a:p>
            <a:pPr marL="37465" marR="6985" algn="just">
              <a:lnSpc>
                <a:spcPts val="2160"/>
              </a:lnSpc>
              <a:spcBef>
                <a:spcPts val="60"/>
              </a:spcBef>
              <a:buAutoNum type="arabicPeriod"/>
              <a:tabLst>
                <a:tab pos="318770" algn="l"/>
              </a:tabLst>
            </a:pPr>
            <a:r>
              <a:rPr lang="en-GB" sz="2800" dirty="0">
                <a:cs typeface="Times New Roman"/>
              </a:rPr>
              <a:t>The cycle continues, with the BIU filling the queue with instructions and the EU executing these instructions.</a:t>
            </a:r>
          </a:p>
          <a:p>
            <a:pPr marL="37465" marR="6985" algn="just">
              <a:lnSpc>
                <a:spcPts val="2160"/>
              </a:lnSpc>
              <a:spcBef>
                <a:spcPts val="60"/>
              </a:spcBef>
              <a:buAutoNum type="arabicPeriod"/>
              <a:tabLst>
                <a:tab pos="318770" algn="l"/>
              </a:tabLst>
            </a:pPr>
            <a:endParaRPr sz="2400" dirty="0">
              <a:latin typeface="Times New Roman"/>
              <a:cs typeface="Times New Roman"/>
            </a:endParaRPr>
          </a:p>
        </p:txBody>
      </p:sp>
      <p:sp>
        <p:nvSpPr>
          <p:cNvPr id="3" name="object 3"/>
          <p:cNvSpPr txBox="1">
            <a:spLocks noGrp="1"/>
          </p:cNvSpPr>
          <p:nvPr>
            <p:ph type="title"/>
          </p:nvPr>
        </p:nvSpPr>
        <p:spPr>
          <a:xfrm>
            <a:off x="546773" y="272162"/>
            <a:ext cx="11324415" cy="677108"/>
          </a:xfrm>
          <a:prstGeom prst="rect">
            <a:avLst/>
          </a:prstGeom>
        </p:spPr>
        <p:txBody>
          <a:bodyPr vert="horz" wrap="square" lIns="0" tIns="0" rIns="0" bIns="0" rtlCol="0" anchor="ctr">
            <a:spAutoFit/>
          </a:bodyPr>
          <a:lstStyle/>
          <a:p>
            <a:pPr marL="12700">
              <a:lnSpc>
                <a:spcPct val="100000"/>
              </a:lnSpc>
            </a:pPr>
            <a:r>
              <a:rPr lang="en-US" spc="-5" dirty="0"/>
              <a:t>The Fetch and Execute Cycle of 8086 Processor</a:t>
            </a:r>
          </a:p>
        </p:txBody>
      </p:sp>
      <p:sp>
        <p:nvSpPr>
          <p:cNvPr id="4" name="Slide Number Placeholder 3"/>
          <p:cNvSpPr>
            <a:spLocks noGrp="1"/>
          </p:cNvSpPr>
          <p:nvPr>
            <p:ph type="sldNum" sz="quarter" idx="12"/>
          </p:nvPr>
        </p:nvSpPr>
        <p:spPr/>
        <p:txBody>
          <a:bodyPr/>
          <a:lstStyle/>
          <a:p>
            <a:fld id="{217893E6-6FB6-4BEE-9BE2-4CDA942C0416}" type="slidenum">
              <a:rPr lang="en-GB" smtClean="0"/>
              <a:t>7</a:t>
            </a:fld>
            <a:endParaRPr lang="en-GB"/>
          </a:p>
        </p:txBody>
      </p:sp>
    </p:spTree>
    <p:extLst>
      <p:ext uri="{BB962C8B-B14F-4D97-AF65-F5344CB8AC3E}">
        <p14:creationId xmlns:p14="http://schemas.microsoft.com/office/powerpoint/2010/main" val="3164043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827" y="525219"/>
            <a:ext cx="11570346" cy="3498299"/>
          </a:xfrm>
        </p:spPr>
      </p:pic>
      <p:sp>
        <p:nvSpPr>
          <p:cNvPr id="4" name="Slide Number Placeholder 3"/>
          <p:cNvSpPr>
            <a:spLocks noGrp="1"/>
          </p:cNvSpPr>
          <p:nvPr>
            <p:ph type="sldNum" sz="quarter" idx="12"/>
          </p:nvPr>
        </p:nvSpPr>
        <p:spPr/>
        <p:txBody>
          <a:bodyPr/>
          <a:lstStyle/>
          <a:p>
            <a:fld id="{217893E6-6FB6-4BEE-9BE2-4CDA942C0416}" type="slidenum">
              <a:rPr lang="en-GB" smtClean="0"/>
              <a:t>8</a:t>
            </a:fld>
            <a:endParaRPr lang="en-GB"/>
          </a:p>
        </p:txBody>
      </p:sp>
      <p:sp>
        <p:nvSpPr>
          <p:cNvPr id="3" name="TextBox 2"/>
          <p:cNvSpPr txBox="1"/>
          <p:nvPr/>
        </p:nvSpPr>
        <p:spPr>
          <a:xfrm>
            <a:off x="540774" y="4463845"/>
            <a:ext cx="11340399" cy="954107"/>
          </a:xfrm>
          <a:prstGeom prst="rect">
            <a:avLst/>
          </a:prstGeom>
          <a:noFill/>
        </p:spPr>
        <p:txBody>
          <a:bodyPr wrap="square" rtlCol="0">
            <a:spAutoFit/>
          </a:bodyPr>
          <a:lstStyle/>
          <a:p>
            <a:r>
              <a:rPr lang="en-US" sz="2800" dirty="0"/>
              <a:t>Figure: Block diagram showing Pipelining (Fetch and Execution cycle) in 8086 microprocessor</a:t>
            </a:r>
          </a:p>
        </p:txBody>
      </p:sp>
    </p:spTree>
    <p:extLst>
      <p:ext uri="{BB962C8B-B14F-4D97-AF65-F5344CB8AC3E}">
        <p14:creationId xmlns:p14="http://schemas.microsoft.com/office/powerpoint/2010/main" val="33640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fontScale="90000"/>
          </a:bodyPr>
          <a:lstStyle/>
          <a:p>
            <a:r>
              <a:rPr lang="en-GB" b="1" dirty="0"/>
              <a:t>Instruction execution cycle</a:t>
            </a:r>
          </a:p>
        </p:txBody>
      </p:sp>
      <p:sp>
        <p:nvSpPr>
          <p:cNvPr id="3" name="Content Placeholder 2"/>
          <p:cNvSpPr>
            <a:spLocks noGrp="1"/>
          </p:cNvSpPr>
          <p:nvPr>
            <p:ph idx="1"/>
          </p:nvPr>
        </p:nvSpPr>
        <p:spPr>
          <a:xfrm>
            <a:off x="627796" y="1050878"/>
            <a:ext cx="11054688" cy="5486400"/>
          </a:xfrm>
        </p:spPr>
        <p:txBody>
          <a:bodyPr/>
          <a:lstStyle/>
          <a:p>
            <a:pPr marL="0" indent="0">
              <a:buNone/>
            </a:pPr>
            <a:r>
              <a:rPr lang="en-GB" dirty="0"/>
              <a:t>The instruction execution cycle can be clearly divided into three different steps.</a:t>
            </a:r>
          </a:p>
          <a:p>
            <a:r>
              <a:rPr lang="en-GB" b="1" dirty="0"/>
              <a:t>Fetch </a:t>
            </a:r>
            <a:br>
              <a:rPr lang="en-GB" dirty="0"/>
            </a:br>
            <a:r>
              <a:rPr lang="en-GB" dirty="0"/>
              <a:t>In the fetch step, an instruction is copied from the memory of the computer into the queue.</a:t>
            </a:r>
          </a:p>
          <a:p>
            <a:r>
              <a:rPr lang="en-GB" b="1" dirty="0"/>
              <a:t>Decode</a:t>
            </a:r>
          </a:p>
          <a:p>
            <a:pPr marL="0" indent="0">
              <a:buNone/>
            </a:pPr>
            <a:r>
              <a:rPr lang="en-GB" dirty="0"/>
              <a:t>   In decode step, the microprocessor figures out what actions need to be carried out in order to execute the instruction. </a:t>
            </a:r>
          </a:p>
          <a:p>
            <a:r>
              <a:rPr lang="en-GB" b="1" dirty="0"/>
              <a:t>Execute</a:t>
            </a:r>
          </a:p>
          <a:p>
            <a:pPr marL="0" indent="0">
              <a:buNone/>
            </a:pPr>
            <a:r>
              <a:rPr lang="en-GB" b="1" dirty="0"/>
              <a:t>    </a:t>
            </a:r>
            <a:r>
              <a:rPr lang="en-GB" dirty="0"/>
              <a:t>In execution step, the instruction is executed.</a:t>
            </a:r>
          </a:p>
        </p:txBody>
      </p:sp>
    </p:spTree>
    <p:extLst>
      <p:ext uri="{BB962C8B-B14F-4D97-AF65-F5344CB8AC3E}">
        <p14:creationId xmlns:p14="http://schemas.microsoft.com/office/powerpoint/2010/main" val="1353028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descr="Execute instr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147" y="2161689"/>
            <a:ext cx="3555934" cy="3365654"/>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25911" y="2345780"/>
            <a:ext cx="7003781" cy="3181563"/>
          </a:xfrm>
        </p:spPr>
      </p:pic>
    </p:spTree>
    <p:extLst>
      <p:ext uri="{BB962C8B-B14F-4D97-AF65-F5344CB8AC3E}">
        <p14:creationId xmlns:p14="http://schemas.microsoft.com/office/powerpoint/2010/main" val="3047390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7357" y="1366459"/>
            <a:ext cx="11711540" cy="3877985"/>
          </a:xfrm>
          <a:prstGeom prst="rect">
            <a:avLst/>
          </a:prstGeom>
        </p:spPr>
        <p:txBody>
          <a:bodyPr vert="horz" wrap="square" lIns="0" tIns="0" rIns="0" bIns="0" rtlCol="0">
            <a:spAutoFit/>
          </a:bodyPr>
          <a:lstStyle/>
          <a:p>
            <a:pPr marL="469900" marR="5080">
              <a:lnSpc>
                <a:spcPct val="99000"/>
              </a:lnSpc>
              <a:buFont typeface="Arial"/>
              <a:buChar char="•"/>
              <a:tabLst>
                <a:tab pos="601345" algn="l"/>
              </a:tabLst>
            </a:pPr>
            <a:r>
              <a:rPr sz="2800" spc="-5" dirty="0">
                <a:cs typeface="Times New Roman"/>
              </a:rPr>
              <a:t>When </a:t>
            </a:r>
            <a:r>
              <a:rPr sz="2800" dirty="0">
                <a:cs typeface="Times New Roman"/>
              </a:rPr>
              <a:t>an instruction requires access to a </a:t>
            </a:r>
            <a:r>
              <a:rPr sz="2800" b="1" spc="-5" dirty="0">
                <a:solidFill>
                  <a:srgbClr val="0000FF"/>
                </a:solidFill>
                <a:cs typeface="Times New Roman"/>
              </a:rPr>
              <a:t>memory </a:t>
            </a:r>
            <a:r>
              <a:rPr sz="2800" b="1" dirty="0">
                <a:solidFill>
                  <a:srgbClr val="0000FF"/>
                </a:solidFill>
                <a:cs typeface="Times New Roman"/>
              </a:rPr>
              <a:t>location</a:t>
            </a:r>
            <a:r>
              <a:rPr sz="2800" dirty="0">
                <a:solidFill>
                  <a:srgbClr val="0000FF"/>
                </a:solidFill>
                <a:cs typeface="Times New Roman"/>
              </a:rPr>
              <a:t>. </a:t>
            </a:r>
            <a:r>
              <a:rPr sz="2800" dirty="0">
                <a:cs typeface="Times New Roman"/>
              </a:rPr>
              <a:t>The </a:t>
            </a:r>
            <a:r>
              <a:rPr sz="2800" spc="-5" dirty="0">
                <a:cs typeface="Times New Roman"/>
              </a:rPr>
              <a:t>BIU must  </a:t>
            </a:r>
            <a:r>
              <a:rPr sz="2800" b="1" dirty="0">
                <a:solidFill>
                  <a:srgbClr val="0000FF"/>
                </a:solidFill>
                <a:cs typeface="Calibri"/>
              </a:rPr>
              <a:t>suspend </a:t>
            </a:r>
            <a:r>
              <a:rPr sz="2800" dirty="0">
                <a:cs typeface="Times New Roman"/>
              </a:rPr>
              <a:t>fetching instructions and </a:t>
            </a:r>
            <a:r>
              <a:rPr lang="en-US" sz="2800" dirty="0">
                <a:cs typeface="Times New Roman"/>
              </a:rPr>
              <a:t>access</a:t>
            </a:r>
            <a:r>
              <a:rPr sz="2800" dirty="0">
                <a:cs typeface="Times New Roman"/>
              </a:rPr>
              <a:t> the address of this </a:t>
            </a:r>
            <a:r>
              <a:rPr sz="2800" spc="-5" dirty="0">
                <a:cs typeface="Times New Roman"/>
              </a:rPr>
              <a:t>memory  </a:t>
            </a:r>
            <a:r>
              <a:rPr sz="2800" dirty="0">
                <a:cs typeface="Times New Roman"/>
              </a:rPr>
              <a:t>location. After waiting for the </a:t>
            </a:r>
            <a:r>
              <a:rPr sz="2800" spc="-5" dirty="0">
                <a:cs typeface="Times New Roman"/>
              </a:rPr>
              <a:t>memory </a:t>
            </a:r>
            <a:r>
              <a:rPr sz="2800" dirty="0">
                <a:cs typeface="Times New Roman"/>
              </a:rPr>
              <a:t>access, the </a:t>
            </a:r>
            <a:r>
              <a:rPr sz="2800" spc="-5" dirty="0">
                <a:cs typeface="Times New Roman"/>
              </a:rPr>
              <a:t>EU </a:t>
            </a:r>
            <a:r>
              <a:rPr sz="2800" dirty="0">
                <a:cs typeface="Times New Roman"/>
              </a:rPr>
              <a:t>can </a:t>
            </a:r>
            <a:r>
              <a:rPr sz="2800" spc="-5" dirty="0">
                <a:cs typeface="Times New Roman"/>
              </a:rPr>
              <a:t>resume </a:t>
            </a:r>
            <a:r>
              <a:rPr sz="2800" dirty="0">
                <a:cs typeface="Times New Roman"/>
              </a:rPr>
              <a:t>executing  instruction codes from the </a:t>
            </a:r>
            <a:r>
              <a:rPr sz="2800" b="1" dirty="0">
                <a:solidFill>
                  <a:srgbClr val="0000FF"/>
                </a:solidFill>
                <a:cs typeface="Calibri"/>
              </a:rPr>
              <a:t>queue</a:t>
            </a:r>
            <a:r>
              <a:rPr sz="2800" dirty="0">
                <a:cs typeface="Times New Roman"/>
              </a:rPr>
              <a:t>, and the </a:t>
            </a:r>
            <a:r>
              <a:rPr sz="2800" spc="-5" dirty="0">
                <a:cs typeface="Times New Roman"/>
              </a:rPr>
              <a:t>BIU </a:t>
            </a:r>
            <a:r>
              <a:rPr sz="2800" dirty="0">
                <a:cs typeface="Times New Roman"/>
              </a:rPr>
              <a:t>can </a:t>
            </a:r>
            <a:r>
              <a:rPr sz="2800" spc="-5" dirty="0">
                <a:cs typeface="Times New Roman"/>
              </a:rPr>
              <a:t>resume </a:t>
            </a:r>
            <a:r>
              <a:rPr sz="2800" dirty="0">
                <a:cs typeface="Times New Roman"/>
              </a:rPr>
              <a:t>filling the</a:t>
            </a:r>
            <a:r>
              <a:rPr sz="2800" spc="-80" dirty="0">
                <a:cs typeface="Times New Roman"/>
              </a:rPr>
              <a:t> </a:t>
            </a:r>
            <a:r>
              <a:rPr sz="2800" dirty="0">
                <a:cs typeface="Times New Roman"/>
              </a:rPr>
              <a:t>queue.</a:t>
            </a:r>
          </a:p>
          <a:p>
            <a:pPr>
              <a:spcBef>
                <a:spcPts val="5"/>
              </a:spcBef>
              <a:buFont typeface="Arial"/>
              <a:buChar char="•"/>
            </a:pPr>
            <a:endParaRPr sz="2800" dirty="0">
              <a:cs typeface="Times New Roman"/>
            </a:endParaRPr>
          </a:p>
          <a:p>
            <a:pPr marL="469900" marR="213360">
              <a:lnSpc>
                <a:spcPct val="101000"/>
              </a:lnSpc>
              <a:buFont typeface="Arial"/>
              <a:buChar char="•"/>
              <a:tabLst>
                <a:tab pos="601345" algn="l"/>
              </a:tabLst>
            </a:pPr>
            <a:r>
              <a:rPr sz="2800" spc="-5" dirty="0">
                <a:cs typeface="Times New Roman"/>
              </a:rPr>
              <a:t>When </a:t>
            </a:r>
            <a:r>
              <a:rPr sz="2800" dirty="0">
                <a:cs typeface="Times New Roman"/>
              </a:rPr>
              <a:t>the instruction to be executed </a:t>
            </a:r>
            <a:r>
              <a:rPr sz="2800" spc="-5" dirty="0">
                <a:cs typeface="Times New Roman"/>
              </a:rPr>
              <a:t>is </a:t>
            </a:r>
            <a:r>
              <a:rPr sz="2800" dirty="0">
                <a:cs typeface="Times New Roman"/>
              </a:rPr>
              <a:t>a </a:t>
            </a:r>
            <a:r>
              <a:rPr sz="2800" b="1" dirty="0">
                <a:solidFill>
                  <a:srgbClr val="0000FF"/>
                </a:solidFill>
                <a:cs typeface="Calibri"/>
              </a:rPr>
              <a:t>jump</a:t>
            </a:r>
            <a:r>
              <a:rPr sz="2800" b="1" dirty="0">
                <a:solidFill>
                  <a:srgbClr val="DAA600"/>
                </a:solidFill>
                <a:cs typeface="Calibri"/>
              </a:rPr>
              <a:t> </a:t>
            </a:r>
            <a:r>
              <a:rPr sz="2800" dirty="0">
                <a:cs typeface="Times New Roman"/>
              </a:rPr>
              <a:t>instruction. In this case,  control </a:t>
            </a:r>
            <a:r>
              <a:rPr sz="2800" spc="-5" dirty="0">
                <a:cs typeface="Times New Roman"/>
              </a:rPr>
              <a:t>is </a:t>
            </a:r>
            <a:r>
              <a:rPr sz="2800" dirty="0">
                <a:cs typeface="Times New Roman"/>
              </a:rPr>
              <a:t>to be transferred to a </a:t>
            </a:r>
            <a:r>
              <a:rPr sz="2800" spc="-5" dirty="0">
                <a:cs typeface="Times New Roman"/>
              </a:rPr>
              <a:t>new address. </a:t>
            </a:r>
            <a:r>
              <a:rPr sz="2800" dirty="0">
                <a:cs typeface="Times New Roman"/>
              </a:rPr>
              <a:t>The </a:t>
            </a:r>
            <a:r>
              <a:rPr sz="2800" b="1" spc="-5" dirty="0">
                <a:solidFill>
                  <a:srgbClr val="0000FF"/>
                </a:solidFill>
                <a:cs typeface="Calibri"/>
              </a:rPr>
              <a:t>EU must </a:t>
            </a:r>
            <a:r>
              <a:rPr sz="2800" b="1" spc="-10" dirty="0">
                <a:solidFill>
                  <a:srgbClr val="0000FF"/>
                </a:solidFill>
                <a:cs typeface="Calibri"/>
              </a:rPr>
              <a:t>wait</a:t>
            </a:r>
            <a:r>
              <a:rPr sz="2800" b="1" spc="-10" dirty="0">
                <a:solidFill>
                  <a:srgbClr val="DAA600"/>
                </a:solidFill>
                <a:cs typeface="Calibri"/>
              </a:rPr>
              <a:t> </a:t>
            </a:r>
            <a:r>
              <a:rPr sz="2800" dirty="0">
                <a:cs typeface="Times New Roman"/>
              </a:rPr>
              <a:t>while the  instruction at the jump address </a:t>
            </a:r>
            <a:r>
              <a:rPr sz="2800" spc="-5" dirty="0">
                <a:cs typeface="Times New Roman"/>
              </a:rPr>
              <a:t>is </a:t>
            </a:r>
            <a:r>
              <a:rPr sz="2800" dirty="0">
                <a:cs typeface="Times New Roman"/>
              </a:rPr>
              <a:t>fetched. Any </a:t>
            </a:r>
            <a:r>
              <a:rPr sz="2800" spc="5" dirty="0">
                <a:cs typeface="Times New Roman"/>
              </a:rPr>
              <a:t>bytes </a:t>
            </a:r>
            <a:r>
              <a:rPr sz="2800" dirty="0">
                <a:cs typeface="Times New Roman"/>
              </a:rPr>
              <a:t>presently in the</a:t>
            </a:r>
            <a:r>
              <a:rPr sz="2800" spc="-300" dirty="0">
                <a:cs typeface="Times New Roman"/>
              </a:rPr>
              <a:t> </a:t>
            </a:r>
            <a:r>
              <a:rPr sz="2800" dirty="0">
                <a:cs typeface="Times New Roman"/>
              </a:rPr>
              <a:t>queue  </a:t>
            </a:r>
            <a:r>
              <a:rPr sz="2800" spc="-5" dirty="0">
                <a:cs typeface="Times New Roman"/>
              </a:rPr>
              <a:t>must </a:t>
            </a:r>
            <a:r>
              <a:rPr sz="2800" dirty="0">
                <a:cs typeface="Times New Roman"/>
              </a:rPr>
              <a:t>be discarded (they are</a:t>
            </a:r>
            <a:r>
              <a:rPr sz="2800" spc="-105" dirty="0">
                <a:cs typeface="Times New Roman"/>
              </a:rPr>
              <a:t> </a:t>
            </a:r>
            <a:r>
              <a:rPr sz="2800" dirty="0">
                <a:cs typeface="Times New Roman"/>
              </a:rPr>
              <a:t>overwritten).</a:t>
            </a:r>
          </a:p>
        </p:txBody>
      </p:sp>
      <p:sp>
        <p:nvSpPr>
          <p:cNvPr id="3" name="object 3"/>
          <p:cNvSpPr txBox="1">
            <a:spLocks noGrp="1"/>
          </p:cNvSpPr>
          <p:nvPr>
            <p:ph type="title"/>
          </p:nvPr>
        </p:nvSpPr>
        <p:spPr>
          <a:xfrm>
            <a:off x="491318" y="147664"/>
            <a:ext cx="11505063" cy="1218795"/>
          </a:xfrm>
          <a:prstGeom prst="rect">
            <a:avLst/>
          </a:prstGeom>
        </p:spPr>
        <p:txBody>
          <a:bodyPr vert="horz" wrap="square" lIns="0" tIns="0" rIns="0" bIns="0" rtlCol="0" anchor="ctr">
            <a:spAutoFit/>
          </a:bodyPr>
          <a:lstStyle/>
          <a:p>
            <a:r>
              <a:rPr lang="en-GB" b="1" dirty="0">
                <a:solidFill>
                  <a:srgbClr val="C00000"/>
                </a:solidFill>
              </a:rPr>
              <a:t>Conditions under which  EU enter into the “Wait” state</a:t>
            </a:r>
          </a:p>
        </p:txBody>
      </p:sp>
    </p:spTree>
    <p:extLst>
      <p:ext uri="{BB962C8B-B14F-4D97-AF65-F5344CB8AC3E}">
        <p14:creationId xmlns:p14="http://schemas.microsoft.com/office/powerpoint/2010/main" val="304225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540" y="129606"/>
            <a:ext cx="9984475" cy="891130"/>
          </a:xfrm>
        </p:spPr>
        <p:txBody>
          <a:bodyPr/>
          <a:lstStyle/>
          <a:p>
            <a:r>
              <a:rPr lang="en-GB" b="1" spc="-20" dirty="0">
                <a:solidFill>
                  <a:srgbClr val="006FC0"/>
                </a:solidFill>
                <a:latin typeface="Calibri"/>
                <a:cs typeface="Calibri"/>
              </a:rPr>
              <a:t>Fetch </a:t>
            </a:r>
            <a:r>
              <a:rPr lang="en-GB" b="1" dirty="0">
                <a:solidFill>
                  <a:srgbClr val="006FC0"/>
                </a:solidFill>
                <a:latin typeface="Calibri"/>
                <a:cs typeface="Calibri"/>
              </a:rPr>
              <a:t>and </a:t>
            </a:r>
            <a:r>
              <a:rPr lang="en-GB" b="1" spc="-15" dirty="0">
                <a:solidFill>
                  <a:srgbClr val="006FC0"/>
                </a:solidFill>
                <a:latin typeface="Calibri"/>
                <a:cs typeface="Calibri"/>
              </a:rPr>
              <a:t>Execute </a:t>
            </a:r>
            <a:r>
              <a:rPr lang="en-GB" b="1" spc="-10" dirty="0">
                <a:solidFill>
                  <a:srgbClr val="006FC0"/>
                </a:solidFill>
                <a:latin typeface="Calibri"/>
                <a:cs typeface="Calibri"/>
              </a:rPr>
              <a:t>Cycle</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descr="http://www.cosc.brocku.ca/~bockusd/3p92/Local_Pages/8086_achitecture_files/image00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99" y="821029"/>
            <a:ext cx="12202967" cy="590044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17893E6-6FB6-4BEE-9BE2-4CDA942C0416}" type="slidenum">
              <a:rPr lang="en-GB" smtClean="0"/>
              <a:t>12</a:t>
            </a:fld>
            <a:endParaRPr lang="en-GB"/>
          </a:p>
        </p:txBody>
      </p:sp>
    </p:spTree>
    <p:extLst>
      <p:ext uri="{BB962C8B-B14F-4D97-AF65-F5344CB8AC3E}">
        <p14:creationId xmlns:p14="http://schemas.microsoft.com/office/powerpoint/2010/main" val="1364751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0255" y="365125"/>
            <a:ext cx="11396518" cy="4636819"/>
          </a:xfrm>
        </p:spPr>
      </p:pic>
      <p:sp>
        <p:nvSpPr>
          <p:cNvPr id="4" name="Slide Number Placeholder 3"/>
          <p:cNvSpPr>
            <a:spLocks noGrp="1"/>
          </p:cNvSpPr>
          <p:nvPr>
            <p:ph type="sldNum" sz="quarter" idx="12"/>
          </p:nvPr>
        </p:nvSpPr>
        <p:spPr/>
        <p:txBody>
          <a:bodyPr/>
          <a:lstStyle/>
          <a:p>
            <a:fld id="{217893E6-6FB6-4BEE-9BE2-4CDA942C0416}" type="slidenum">
              <a:rPr lang="en-GB" smtClean="0"/>
              <a:t>13</a:t>
            </a:fld>
            <a:endParaRPr lang="en-GB"/>
          </a:p>
        </p:txBody>
      </p:sp>
    </p:spTree>
    <p:extLst>
      <p:ext uri="{BB962C8B-B14F-4D97-AF65-F5344CB8AC3E}">
        <p14:creationId xmlns:p14="http://schemas.microsoft.com/office/powerpoint/2010/main" val="4279143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685" y="0"/>
            <a:ext cx="11966630" cy="5091684"/>
          </a:xfrm>
        </p:spPr>
      </p:pic>
      <p:sp>
        <p:nvSpPr>
          <p:cNvPr id="4" name="Slide Number Placeholder 3"/>
          <p:cNvSpPr>
            <a:spLocks noGrp="1"/>
          </p:cNvSpPr>
          <p:nvPr>
            <p:ph type="sldNum" sz="quarter" idx="12"/>
          </p:nvPr>
        </p:nvSpPr>
        <p:spPr/>
        <p:txBody>
          <a:bodyPr/>
          <a:lstStyle/>
          <a:p>
            <a:fld id="{217893E6-6FB6-4BEE-9BE2-4CDA942C0416}" type="slidenum">
              <a:rPr lang="en-GB" smtClean="0"/>
              <a:t>14</a:t>
            </a:fld>
            <a:endParaRPr lang="en-GB"/>
          </a:p>
        </p:txBody>
      </p:sp>
    </p:spTree>
    <p:extLst>
      <p:ext uri="{BB962C8B-B14F-4D97-AF65-F5344CB8AC3E}">
        <p14:creationId xmlns:p14="http://schemas.microsoft.com/office/powerpoint/2010/main" val="3744333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BD45D-AF93-D7F4-B9A8-5C01152EEF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C272F7-35A6-EC6D-3152-FECA0279C44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366F661-92DC-BD1A-18C7-FF5B10CB89CD}"/>
              </a:ext>
            </a:extLst>
          </p:cNvPr>
          <p:cNvSpPr>
            <a:spLocks noGrp="1"/>
          </p:cNvSpPr>
          <p:nvPr>
            <p:ph type="sldNum" sz="quarter" idx="12"/>
          </p:nvPr>
        </p:nvSpPr>
        <p:spPr/>
        <p:txBody>
          <a:bodyPr/>
          <a:lstStyle/>
          <a:p>
            <a:fld id="{217893E6-6FB6-4BEE-9BE2-4CDA942C0416}" type="slidenum">
              <a:rPr lang="en-GB" smtClean="0"/>
              <a:t>15</a:t>
            </a:fld>
            <a:endParaRPr lang="en-GB"/>
          </a:p>
        </p:txBody>
      </p:sp>
      <p:pic>
        <p:nvPicPr>
          <p:cNvPr id="6" name="Picture 5">
            <a:extLst>
              <a:ext uri="{FF2B5EF4-FFF2-40B4-BE49-F238E27FC236}">
                <a16:creationId xmlns:a16="http://schemas.microsoft.com/office/drawing/2014/main" id="{D1714D10-2A1C-8F34-48EF-14844F02B7C6}"/>
              </a:ext>
            </a:extLst>
          </p:cNvPr>
          <p:cNvPicPr>
            <a:picLocks noChangeAspect="1"/>
          </p:cNvPicPr>
          <p:nvPr/>
        </p:nvPicPr>
        <p:blipFill>
          <a:blip r:embed="rId2"/>
          <a:stretch>
            <a:fillRect/>
          </a:stretch>
        </p:blipFill>
        <p:spPr>
          <a:xfrm>
            <a:off x="2274239" y="2609779"/>
            <a:ext cx="7643522" cy="1638442"/>
          </a:xfrm>
          <a:prstGeom prst="rect">
            <a:avLst/>
          </a:prstGeom>
        </p:spPr>
      </p:pic>
    </p:spTree>
    <p:extLst>
      <p:ext uri="{BB962C8B-B14F-4D97-AF65-F5344CB8AC3E}">
        <p14:creationId xmlns:p14="http://schemas.microsoft.com/office/powerpoint/2010/main" val="825701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CEDEF-882F-2BCD-9B93-0E83FE0C30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3AA9D6-1457-822E-2D24-226D7834060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63E6E31-9592-6FEE-7CBF-E117F09F2374}"/>
              </a:ext>
            </a:extLst>
          </p:cNvPr>
          <p:cNvSpPr>
            <a:spLocks noGrp="1"/>
          </p:cNvSpPr>
          <p:nvPr>
            <p:ph type="sldNum" sz="quarter" idx="12"/>
          </p:nvPr>
        </p:nvSpPr>
        <p:spPr/>
        <p:txBody>
          <a:bodyPr/>
          <a:lstStyle/>
          <a:p>
            <a:fld id="{217893E6-6FB6-4BEE-9BE2-4CDA942C0416}" type="slidenum">
              <a:rPr lang="en-GB" smtClean="0"/>
              <a:t>16</a:t>
            </a:fld>
            <a:endParaRPr lang="en-GB"/>
          </a:p>
        </p:txBody>
      </p:sp>
      <p:pic>
        <p:nvPicPr>
          <p:cNvPr id="6" name="Picture 5">
            <a:extLst>
              <a:ext uri="{FF2B5EF4-FFF2-40B4-BE49-F238E27FC236}">
                <a16:creationId xmlns:a16="http://schemas.microsoft.com/office/drawing/2014/main" id="{4191712F-31F0-FB9B-6672-3DBC91EC1CCA}"/>
              </a:ext>
            </a:extLst>
          </p:cNvPr>
          <p:cNvPicPr>
            <a:picLocks noChangeAspect="1"/>
          </p:cNvPicPr>
          <p:nvPr/>
        </p:nvPicPr>
        <p:blipFill>
          <a:blip r:embed="rId2"/>
          <a:stretch>
            <a:fillRect/>
          </a:stretch>
        </p:blipFill>
        <p:spPr>
          <a:xfrm>
            <a:off x="1081605" y="1748644"/>
            <a:ext cx="10028789" cy="3360711"/>
          </a:xfrm>
          <a:prstGeom prst="rect">
            <a:avLst/>
          </a:prstGeom>
        </p:spPr>
      </p:pic>
    </p:spTree>
    <p:extLst>
      <p:ext uri="{BB962C8B-B14F-4D97-AF65-F5344CB8AC3E}">
        <p14:creationId xmlns:p14="http://schemas.microsoft.com/office/powerpoint/2010/main" val="3311840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DA3D5-8E15-3E63-4316-D11FD8129A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7BA1FB-32CB-7719-A6F0-3130F2F3B0F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48A1298-6F10-8503-EBAF-02CE24B5B4DD}"/>
              </a:ext>
            </a:extLst>
          </p:cNvPr>
          <p:cNvSpPr>
            <a:spLocks noGrp="1"/>
          </p:cNvSpPr>
          <p:nvPr>
            <p:ph type="sldNum" sz="quarter" idx="12"/>
          </p:nvPr>
        </p:nvSpPr>
        <p:spPr/>
        <p:txBody>
          <a:bodyPr/>
          <a:lstStyle/>
          <a:p>
            <a:fld id="{217893E6-6FB6-4BEE-9BE2-4CDA942C0416}" type="slidenum">
              <a:rPr lang="en-GB" smtClean="0"/>
              <a:t>17</a:t>
            </a:fld>
            <a:endParaRPr lang="en-GB"/>
          </a:p>
        </p:txBody>
      </p:sp>
      <p:pic>
        <p:nvPicPr>
          <p:cNvPr id="6" name="Picture 5">
            <a:extLst>
              <a:ext uri="{FF2B5EF4-FFF2-40B4-BE49-F238E27FC236}">
                <a16:creationId xmlns:a16="http://schemas.microsoft.com/office/drawing/2014/main" id="{715ADB03-C0B3-25A6-D47D-207ED579277F}"/>
              </a:ext>
            </a:extLst>
          </p:cNvPr>
          <p:cNvPicPr>
            <a:picLocks noChangeAspect="1"/>
          </p:cNvPicPr>
          <p:nvPr/>
        </p:nvPicPr>
        <p:blipFill>
          <a:blip r:embed="rId2"/>
          <a:stretch>
            <a:fillRect/>
          </a:stretch>
        </p:blipFill>
        <p:spPr>
          <a:xfrm>
            <a:off x="2655272" y="2514521"/>
            <a:ext cx="6881456" cy="1828958"/>
          </a:xfrm>
          <a:prstGeom prst="rect">
            <a:avLst/>
          </a:prstGeom>
        </p:spPr>
      </p:pic>
    </p:spTree>
    <p:extLst>
      <p:ext uri="{BB962C8B-B14F-4D97-AF65-F5344CB8AC3E}">
        <p14:creationId xmlns:p14="http://schemas.microsoft.com/office/powerpoint/2010/main" val="3081962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C0B7-70F7-E9BD-C9EA-DF0F68162C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BA5015-9905-2737-1B1B-898FB3E710E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3F28B6B-858E-7CE9-ED34-E8A55D4BD14F}"/>
              </a:ext>
            </a:extLst>
          </p:cNvPr>
          <p:cNvSpPr>
            <a:spLocks noGrp="1"/>
          </p:cNvSpPr>
          <p:nvPr>
            <p:ph type="sldNum" sz="quarter" idx="12"/>
          </p:nvPr>
        </p:nvSpPr>
        <p:spPr/>
        <p:txBody>
          <a:bodyPr/>
          <a:lstStyle/>
          <a:p>
            <a:fld id="{217893E6-6FB6-4BEE-9BE2-4CDA942C0416}" type="slidenum">
              <a:rPr lang="en-GB" smtClean="0"/>
              <a:t>18</a:t>
            </a:fld>
            <a:endParaRPr lang="en-GB"/>
          </a:p>
        </p:txBody>
      </p:sp>
      <p:pic>
        <p:nvPicPr>
          <p:cNvPr id="6" name="Picture 5">
            <a:extLst>
              <a:ext uri="{FF2B5EF4-FFF2-40B4-BE49-F238E27FC236}">
                <a16:creationId xmlns:a16="http://schemas.microsoft.com/office/drawing/2014/main" id="{99A69235-1FA6-ABEA-81DB-59A6DC6D8DE8}"/>
              </a:ext>
            </a:extLst>
          </p:cNvPr>
          <p:cNvPicPr>
            <a:picLocks noChangeAspect="1"/>
          </p:cNvPicPr>
          <p:nvPr/>
        </p:nvPicPr>
        <p:blipFill>
          <a:blip r:embed="rId2"/>
          <a:stretch>
            <a:fillRect/>
          </a:stretch>
        </p:blipFill>
        <p:spPr>
          <a:xfrm>
            <a:off x="2053239" y="864648"/>
            <a:ext cx="8085521" cy="5128704"/>
          </a:xfrm>
          <a:prstGeom prst="rect">
            <a:avLst/>
          </a:prstGeom>
        </p:spPr>
      </p:pic>
    </p:spTree>
    <p:extLst>
      <p:ext uri="{BB962C8B-B14F-4D97-AF65-F5344CB8AC3E}">
        <p14:creationId xmlns:p14="http://schemas.microsoft.com/office/powerpoint/2010/main" val="2281496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33EA-39EC-6E25-94A6-A66943326869}"/>
              </a:ext>
            </a:extLst>
          </p:cNvPr>
          <p:cNvSpPr>
            <a:spLocks noGrp="1"/>
          </p:cNvSpPr>
          <p:nvPr>
            <p:ph type="title"/>
          </p:nvPr>
        </p:nvSpPr>
        <p:spPr>
          <a:xfrm>
            <a:off x="923041" y="2766218"/>
            <a:ext cx="10515600" cy="1325563"/>
          </a:xfrm>
        </p:spPr>
        <p:txBody>
          <a:bodyPr/>
          <a:lstStyle/>
          <a:p>
            <a:pPr algn="ctr"/>
            <a:r>
              <a:rPr lang="en-US" dirty="0"/>
              <a:t>Thank You</a:t>
            </a:r>
          </a:p>
        </p:txBody>
      </p:sp>
      <p:sp>
        <p:nvSpPr>
          <p:cNvPr id="4" name="Slide Number Placeholder 3">
            <a:extLst>
              <a:ext uri="{FF2B5EF4-FFF2-40B4-BE49-F238E27FC236}">
                <a16:creationId xmlns:a16="http://schemas.microsoft.com/office/drawing/2014/main" id="{C17F16BD-3E81-1BB3-1CFA-7144618ADA98}"/>
              </a:ext>
            </a:extLst>
          </p:cNvPr>
          <p:cNvSpPr>
            <a:spLocks noGrp="1"/>
          </p:cNvSpPr>
          <p:nvPr>
            <p:ph type="sldNum" sz="quarter" idx="12"/>
          </p:nvPr>
        </p:nvSpPr>
        <p:spPr/>
        <p:txBody>
          <a:bodyPr/>
          <a:lstStyle/>
          <a:p>
            <a:fld id="{217893E6-6FB6-4BEE-9BE2-4CDA942C0416}" type="slidenum">
              <a:rPr lang="en-GB" smtClean="0"/>
              <a:t>19</a:t>
            </a:fld>
            <a:endParaRPr lang="en-GB"/>
          </a:p>
        </p:txBody>
      </p:sp>
    </p:spTree>
    <p:extLst>
      <p:ext uri="{BB962C8B-B14F-4D97-AF65-F5344CB8AC3E}">
        <p14:creationId xmlns:p14="http://schemas.microsoft.com/office/powerpoint/2010/main" val="3284620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726</Words>
  <Application>Microsoft Office PowerPoint</Application>
  <PresentationFormat>Widescreen</PresentationFormat>
  <Paragraphs>66</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Carlito</vt:lpstr>
      <vt:lpstr>Times New Roman</vt:lpstr>
      <vt:lpstr>Office Theme</vt:lpstr>
      <vt:lpstr>8086 Pipelining</vt:lpstr>
      <vt:lpstr>PowerPoint Presentation</vt:lpstr>
      <vt:lpstr>Trivia</vt:lpstr>
      <vt:lpstr>   8086 Internal Architecture</vt:lpstr>
      <vt:lpstr>   8086 Internal Architecture</vt:lpstr>
      <vt:lpstr>Pipelining</vt:lpstr>
      <vt:lpstr>The Fetch and Execute Cycle of 8086 Processor</vt:lpstr>
      <vt:lpstr>PowerPoint Presentation</vt:lpstr>
      <vt:lpstr>Instruction execution cycle</vt:lpstr>
      <vt:lpstr>PowerPoint Presentation</vt:lpstr>
      <vt:lpstr>Conditions under which  EU enter into the “Wait” state</vt:lpstr>
      <vt:lpstr>Fetch and Execute Cycle</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Nasif M.</dc:creator>
  <cp:lastModifiedBy>1905065 - Arnab Bhattacharjee</cp:lastModifiedBy>
  <cp:revision>99</cp:revision>
  <cp:lastPrinted>2019-04-02T16:19:41Z</cp:lastPrinted>
  <dcterms:created xsi:type="dcterms:W3CDTF">2016-03-12T15:39:30Z</dcterms:created>
  <dcterms:modified xsi:type="dcterms:W3CDTF">2025-11-09T12:02:38Z</dcterms:modified>
</cp:coreProperties>
</file>