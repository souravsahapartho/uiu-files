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353" r:id="rId2"/>
    <p:sldId id="257" r:id="rId3"/>
    <p:sldId id="258" r:id="rId4"/>
    <p:sldId id="259" r:id="rId5"/>
    <p:sldId id="356" r:id="rId6"/>
    <p:sldId id="357" r:id="rId7"/>
    <p:sldId id="260" r:id="rId8"/>
    <p:sldId id="261" r:id="rId9"/>
    <p:sldId id="262" r:id="rId10"/>
    <p:sldId id="358" r:id="rId11"/>
    <p:sldId id="359" r:id="rId12"/>
    <p:sldId id="264" r:id="rId13"/>
    <p:sldId id="265" r:id="rId14"/>
    <p:sldId id="266" r:id="rId15"/>
    <p:sldId id="355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N/kcQ5EGjKvGumckwTOblWOwl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0075" y="808038"/>
            <a:ext cx="5746750" cy="32337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b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32E74E2-8019-4597-71A9-101243F28360}"/>
              </a:ext>
            </a:extLst>
          </p:cNvPr>
          <p:cNvSpPr txBox="1">
            <a:spLocks/>
          </p:cNvSpPr>
          <p:nvPr/>
        </p:nvSpPr>
        <p:spPr>
          <a:xfrm>
            <a:off x="2100942" y="952501"/>
            <a:ext cx="8490857" cy="1234518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Paging</a:t>
            </a:r>
            <a:br>
              <a:rPr lang="en-US" sz="5400" b="1" dirty="0"/>
            </a:br>
            <a:endParaRPr lang="en-US" sz="5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6094C-33B5-6E53-3EA1-A19C381CA15E}"/>
              </a:ext>
            </a:extLst>
          </p:cNvPr>
          <p:cNvSpPr txBox="1">
            <a:spLocks/>
          </p:cNvSpPr>
          <p:nvPr/>
        </p:nvSpPr>
        <p:spPr>
          <a:xfrm>
            <a:off x="4005940" y="2187020"/>
            <a:ext cx="4680859" cy="1264786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/>
              <a:t>The Intel Microprocessors 8th Edition by Barry B Brey</a:t>
            </a:r>
            <a:br>
              <a:rPr lang="en-US" sz="5400" dirty="0"/>
            </a:br>
            <a:r>
              <a:rPr lang="en-US" sz="5400" dirty="0"/>
              <a:t>2-4 Memory paging   page 68</a:t>
            </a:r>
            <a:br>
              <a:rPr lang="en-US" sz="5400" dirty="0"/>
            </a:br>
            <a:endParaRPr lang="en-US" sz="5400" dirty="0"/>
          </a:p>
          <a:p>
            <a:pPr algn="l"/>
            <a:r>
              <a:rPr lang="en-US" sz="5400" dirty="0"/>
              <a:t>17-6 The memory paging mechanism page 713</a:t>
            </a:r>
            <a:br>
              <a:rPr lang="en-US" sz="5400" dirty="0"/>
            </a:br>
            <a:br>
              <a:rPr lang="en-US" sz="5400" dirty="0"/>
            </a:br>
            <a:r>
              <a:rPr lang="en-US" sz="5400" dirty="0"/>
              <a:t>Advanced microprocessors and peripherals Chapter 10</a:t>
            </a:r>
            <a:br>
              <a:rPr lang="en-US" sz="5400" dirty="0"/>
            </a:br>
            <a:r>
              <a:rPr lang="en-US" sz="5400" dirty="0"/>
              <a:t>Protected Mode Memory Management  by </a:t>
            </a:r>
            <a:r>
              <a:rPr lang="en-US" sz="4800" dirty="0"/>
              <a:t>Yariv Kaplan</a:t>
            </a:r>
            <a:br>
              <a:rPr lang="en-US" sz="5400" b="1" dirty="0"/>
            </a:br>
            <a:endParaRPr lang="en-US" sz="5400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97DA9EA9-E9B4-E9A3-675C-4C8CD950D643}"/>
              </a:ext>
            </a:extLst>
          </p:cNvPr>
          <p:cNvSpPr txBox="1">
            <a:spLocks/>
          </p:cNvSpPr>
          <p:nvPr/>
        </p:nvSpPr>
        <p:spPr>
          <a:xfrm>
            <a:off x="1680014" y="4358640"/>
            <a:ext cx="4724400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 u="heavy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Arnab Bhattacharjee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Lecturer, Department of CSE,  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United International</a:t>
            </a:r>
            <a:r>
              <a:rPr kumimoji="0" lang="en-US" sz="1600" b="0" i="0" u="none" strike="noStrike" kern="0" cap="none" spc="1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University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Email id : </a:t>
            </a: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  <a:hlinkClick r:id="rId2"/>
              </a:rPr>
              <a:t>arnab@cse.uiu.ac.bd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heavy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9135158-9F1F-AB60-A1AC-CC7C59D7375D}"/>
              </a:ext>
            </a:extLst>
          </p:cNvPr>
          <p:cNvSpPr txBox="1"/>
          <p:nvPr/>
        </p:nvSpPr>
        <p:spPr>
          <a:xfrm>
            <a:off x="6233160" y="5750028"/>
            <a:ext cx="3562546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Courtesy: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 Nasif M. Sir, </a:t>
            </a:r>
          </a:p>
          <a:p>
            <a:pPr marL="12700">
              <a:spcBef>
                <a:spcPts val="95"/>
              </a:spcBef>
            </a:pP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Md. Shafqat Talukder Rakin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Sir</a:t>
            </a: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635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101600" y="9048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</a:rPr>
              <a:t>2–4  MEMORY PAGING</a:t>
            </a:r>
            <a:r>
              <a:rPr lang="en-US" sz="4000" b="1"/>
              <a:t> </a:t>
            </a: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243418" y="1141413"/>
            <a:ext cx="11948583" cy="426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The </a:t>
            </a:r>
            <a:r>
              <a:rPr lang="en-US" b="1">
                <a:solidFill>
                  <a:srgbClr val="FF0000"/>
                </a:solidFill>
              </a:rPr>
              <a:t>memory paging mechanism</a:t>
            </a:r>
            <a:r>
              <a:rPr lang="en-US">
                <a:solidFill>
                  <a:srgbClr val="000000"/>
                </a:solidFill>
              </a:rPr>
              <a:t> allows any physical memory location to be assigned to any linear address.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b="1">
                <a:solidFill>
                  <a:srgbClr val="FF0000"/>
                </a:solidFill>
              </a:rPr>
              <a:t>Iinear address</a:t>
            </a:r>
            <a:r>
              <a:rPr lang="en-US">
                <a:solidFill>
                  <a:srgbClr val="000000"/>
                </a:solidFill>
              </a:rPr>
              <a:t> is defined as the address generated by a program.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b="1">
                <a:solidFill>
                  <a:srgbClr val="FF0000"/>
                </a:solidFill>
              </a:rPr>
              <a:t>Physical address</a:t>
            </a:r>
            <a:r>
              <a:rPr lang="en-US">
                <a:solidFill>
                  <a:srgbClr val="000000"/>
                </a:solidFill>
              </a:rPr>
              <a:t> is the </a:t>
            </a:r>
            <a:r>
              <a:rPr lang="en-US">
                <a:solidFill>
                  <a:srgbClr val="FF0000"/>
                </a:solidFill>
              </a:rPr>
              <a:t>actual</a:t>
            </a:r>
            <a:r>
              <a:rPr lang="en-US">
                <a:solidFill>
                  <a:srgbClr val="000000"/>
                </a:solidFill>
              </a:rPr>
              <a:t> memory location accessed by a program.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With memory paging</a:t>
            </a:r>
            <a:r>
              <a:rPr lang="en-US">
                <a:solidFill>
                  <a:srgbClr val="000000"/>
                </a:solidFill>
              </a:rPr>
              <a:t>, the </a:t>
            </a:r>
            <a:r>
              <a:rPr lang="en-US">
                <a:solidFill>
                  <a:srgbClr val="FF0000"/>
                </a:solidFill>
              </a:rPr>
              <a:t>linear address</a:t>
            </a:r>
            <a:r>
              <a:rPr lang="en-US">
                <a:solidFill>
                  <a:srgbClr val="000000"/>
                </a:solidFill>
              </a:rPr>
              <a:t> is </a:t>
            </a:r>
            <a:r>
              <a:rPr lang="en-US">
                <a:solidFill>
                  <a:srgbClr val="FF0000"/>
                </a:solidFill>
              </a:rPr>
              <a:t>invisibly translated</a:t>
            </a:r>
            <a:r>
              <a:rPr lang="en-US">
                <a:solidFill>
                  <a:srgbClr val="000000"/>
                </a:solidFill>
              </a:rPr>
              <a:t> to </a:t>
            </a:r>
            <a:r>
              <a:rPr lang="en-US">
                <a:solidFill>
                  <a:srgbClr val="FF0000"/>
                </a:solidFill>
              </a:rPr>
              <a:t>any physical address</a:t>
            </a:r>
            <a:r>
              <a:rPr lang="en-US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Paging technique (1)</a:t>
            </a:r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691243" y="1144588"/>
            <a:ext cx="10983686" cy="5211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lang="en-US" sz="3200">
                <a:solidFill>
                  <a:srgbClr val="C00000"/>
                </a:solidFill>
              </a:rPr>
              <a:t>Paging</a:t>
            </a:r>
            <a:r>
              <a:rPr lang="en-US" sz="3200"/>
              <a:t> is one of the memory management techniques used for virtual memory multitasking operating system.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The segmentation scheme may divide the physical memory into a </a:t>
            </a:r>
            <a:r>
              <a:rPr lang="en-US" sz="3200">
                <a:solidFill>
                  <a:srgbClr val="C00000"/>
                </a:solidFill>
              </a:rPr>
              <a:t>variable size </a:t>
            </a:r>
            <a:r>
              <a:rPr lang="en-US" sz="3200"/>
              <a:t>segments but the paging divides the memory into </a:t>
            </a:r>
            <a:r>
              <a:rPr lang="en-US" sz="3200">
                <a:solidFill>
                  <a:srgbClr val="C00000"/>
                </a:solidFill>
              </a:rPr>
              <a:t>a fixed size pages</a:t>
            </a:r>
            <a:r>
              <a:rPr lang="en-US" sz="3200"/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The pages are just fixed size portions of the program module</a:t>
            </a:r>
            <a:br>
              <a:rPr lang="en-US" sz="3200"/>
            </a:br>
            <a:r>
              <a:rPr lang="en-US" sz="3200"/>
              <a:t>or data. </a:t>
            </a:r>
            <a:br>
              <a:rPr lang="en-US" sz="3200"/>
            </a:br>
            <a:endParaRPr sz="3200"/>
          </a:p>
        </p:txBody>
      </p:sp>
      <p:sp>
        <p:nvSpPr>
          <p:cNvPr id="105" name="Google Shape;10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4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Paging technique (2) </a:t>
            </a:r>
            <a:endParaRPr/>
          </a:p>
        </p:txBody>
      </p:sp>
      <p:grpSp>
        <p:nvGrpSpPr>
          <p:cNvPr id="112" name="Google Shape;112;p4"/>
          <p:cNvGrpSpPr/>
          <p:nvPr/>
        </p:nvGrpSpPr>
        <p:grpSpPr>
          <a:xfrm>
            <a:off x="8515350" y="1757363"/>
            <a:ext cx="1093788" cy="1752600"/>
            <a:chOff x="1066" y="1507"/>
            <a:chExt cx="1052" cy="1104"/>
          </a:xfrm>
        </p:grpSpPr>
        <p:sp>
          <p:nvSpPr>
            <p:cNvPr id="113" name="Google Shape;113;p4"/>
            <p:cNvSpPr txBox="1"/>
            <p:nvPr/>
          </p:nvSpPr>
          <p:spPr>
            <a:xfrm>
              <a:off x="1066" y="2378"/>
              <a:ext cx="1052" cy="233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Page 0</a:t>
              </a:r>
              <a:endParaRPr/>
            </a:p>
          </p:txBody>
        </p:sp>
        <p:sp>
          <p:nvSpPr>
            <p:cNvPr id="114" name="Google Shape;114;p4"/>
            <p:cNvSpPr txBox="1"/>
            <p:nvPr/>
          </p:nvSpPr>
          <p:spPr>
            <a:xfrm>
              <a:off x="1066" y="2160"/>
              <a:ext cx="1052" cy="233"/>
            </a:xfrm>
            <a:prstGeom prst="rect">
              <a:avLst/>
            </a:prstGeom>
            <a:solidFill>
              <a:srgbClr val="CCFF9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Page 1</a:t>
              </a:r>
              <a:endParaRPr/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1066" y="1943"/>
              <a:ext cx="1052" cy="233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Page 2</a:t>
              </a:r>
              <a:endParaRPr/>
            </a:p>
          </p:txBody>
        </p:sp>
        <p:sp>
          <p:nvSpPr>
            <p:cNvPr id="116" name="Google Shape;116;p4"/>
            <p:cNvSpPr txBox="1"/>
            <p:nvPr/>
          </p:nvSpPr>
          <p:spPr>
            <a:xfrm>
              <a:off x="1066" y="1724"/>
              <a:ext cx="1052" cy="233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 . .</a:t>
              </a:r>
              <a:endParaRPr/>
            </a:p>
          </p:txBody>
        </p:sp>
        <p:sp>
          <p:nvSpPr>
            <p:cNvPr id="117" name="Google Shape;117;p4"/>
            <p:cNvSpPr txBox="1"/>
            <p:nvPr/>
          </p:nvSpPr>
          <p:spPr>
            <a:xfrm>
              <a:off x="1066" y="1507"/>
              <a:ext cx="1052" cy="233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Page </a:t>
              </a:r>
              <a:r>
                <a:rPr lang="en-US" sz="18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grpSp>
        <p:nvGrpSpPr>
          <p:cNvPr id="118" name="Google Shape;118;p4"/>
          <p:cNvGrpSpPr/>
          <p:nvPr/>
        </p:nvGrpSpPr>
        <p:grpSpPr>
          <a:xfrm>
            <a:off x="4483100" y="1757363"/>
            <a:ext cx="1093788" cy="1752600"/>
            <a:chOff x="1066" y="1507"/>
            <a:chExt cx="1052" cy="1104"/>
          </a:xfrm>
        </p:grpSpPr>
        <p:sp>
          <p:nvSpPr>
            <p:cNvPr id="119" name="Google Shape;119;p4"/>
            <p:cNvSpPr txBox="1"/>
            <p:nvPr/>
          </p:nvSpPr>
          <p:spPr>
            <a:xfrm>
              <a:off x="1066" y="2378"/>
              <a:ext cx="1052" cy="233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Page 0</a:t>
              </a:r>
              <a:endParaRPr/>
            </a:p>
          </p:txBody>
        </p:sp>
        <p:sp>
          <p:nvSpPr>
            <p:cNvPr id="120" name="Google Shape;120;p4"/>
            <p:cNvSpPr txBox="1"/>
            <p:nvPr/>
          </p:nvSpPr>
          <p:spPr>
            <a:xfrm>
              <a:off x="1066" y="2160"/>
              <a:ext cx="1052" cy="233"/>
            </a:xfrm>
            <a:prstGeom prst="rect">
              <a:avLst/>
            </a:prstGeom>
            <a:solidFill>
              <a:srgbClr val="9999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Page 1</a:t>
              </a: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1066" y="1943"/>
              <a:ext cx="1052" cy="233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Page 2</a:t>
              </a:r>
              <a:endParaRPr/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1066" y="1724"/>
              <a:ext cx="1052" cy="233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 . .</a:t>
              </a:r>
              <a:endParaRPr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1066" y="1507"/>
              <a:ext cx="1052" cy="233"/>
            </a:xfrm>
            <a:prstGeom prst="rect">
              <a:avLst/>
            </a:prstGeom>
            <a:solidFill>
              <a:srgbClr val="FFBA75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Page </a:t>
              </a:r>
              <a:r>
                <a:rPr lang="en-US" sz="18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sp>
        <p:nvSpPr>
          <p:cNvPr id="124" name="Google Shape;124;p4"/>
          <p:cNvSpPr txBox="1"/>
          <p:nvPr/>
        </p:nvSpPr>
        <p:spPr>
          <a:xfrm rot="-5400000">
            <a:off x="3020765" y="2159298"/>
            <a:ext cx="19589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45700" rIns="720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virtual address space of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 1</a:t>
            </a:r>
            <a:endParaRPr/>
          </a:p>
        </p:txBody>
      </p:sp>
      <p:grpSp>
        <p:nvGrpSpPr>
          <p:cNvPr id="125" name="Google Shape;125;p4"/>
          <p:cNvGrpSpPr/>
          <p:nvPr/>
        </p:nvGrpSpPr>
        <p:grpSpPr>
          <a:xfrm>
            <a:off x="6499225" y="1411289"/>
            <a:ext cx="1093788" cy="2097087"/>
            <a:chOff x="2372" y="1726"/>
            <a:chExt cx="689" cy="1321"/>
          </a:xfrm>
        </p:grpSpPr>
        <p:sp>
          <p:nvSpPr>
            <p:cNvPr id="126" name="Google Shape;126;p4"/>
            <p:cNvSpPr txBox="1"/>
            <p:nvPr/>
          </p:nvSpPr>
          <p:spPr>
            <a:xfrm>
              <a:off x="2372" y="2597"/>
              <a:ext cx="689" cy="233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2372" y="2814"/>
              <a:ext cx="689" cy="233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2372" y="2379"/>
              <a:ext cx="689" cy="233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2372" y="1726"/>
              <a:ext cx="689" cy="233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2372" y="1943"/>
              <a:ext cx="689" cy="233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 . .</a:t>
              </a: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2372" y="2161"/>
              <a:ext cx="689" cy="233"/>
            </a:xfrm>
            <a:prstGeom prst="rect">
              <a:avLst/>
            </a:prstGeom>
            <a:solidFill>
              <a:srgbClr val="FFBA75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2" name="Google Shape;132;p4"/>
          <p:cNvCxnSpPr/>
          <p:nvPr/>
        </p:nvCxnSpPr>
        <p:spPr>
          <a:xfrm rot="10800000" flipH="1">
            <a:off x="5576889" y="1584325"/>
            <a:ext cx="922337" cy="979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33;p4"/>
          <p:cNvCxnSpPr/>
          <p:nvPr/>
        </p:nvCxnSpPr>
        <p:spPr>
          <a:xfrm>
            <a:off x="5576889" y="1930400"/>
            <a:ext cx="922337" cy="344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134;p4"/>
          <p:cNvCxnSpPr/>
          <p:nvPr/>
        </p:nvCxnSpPr>
        <p:spPr>
          <a:xfrm rot="10800000" flipH="1">
            <a:off x="5576889" y="2620963"/>
            <a:ext cx="922337" cy="74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" name="Google Shape;135;p4"/>
          <p:cNvCxnSpPr/>
          <p:nvPr/>
        </p:nvCxnSpPr>
        <p:spPr>
          <a:xfrm rot="10800000" flipH="1">
            <a:off x="7593014" y="1987550"/>
            <a:ext cx="922337" cy="979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36" name="Google Shape;136;p4"/>
          <p:cNvCxnSpPr/>
          <p:nvPr/>
        </p:nvCxnSpPr>
        <p:spPr>
          <a:xfrm rot="10800000" flipH="1">
            <a:off x="7593014" y="2620963"/>
            <a:ext cx="922337" cy="74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37" name="Google Shape;137;p4"/>
          <p:cNvSpPr/>
          <p:nvPr/>
        </p:nvSpPr>
        <p:spPr>
          <a:xfrm>
            <a:off x="6383338" y="3714750"/>
            <a:ext cx="1439862" cy="1670050"/>
          </a:xfrm>
          <a:prstGeom prst="can">
            <a:avLst>
              <a:gd name="adj" fmla="val 2106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6556375" y="4521200"/>
            <a:ext cx="1093788" cy="369332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6556375" y="4865689"/>
            <a:ext cx="1093788" cy="369332"/>
          </a:xfrm>
          <a:prstGeom prst="rect">
            <a:avLst/>
          </a:prstGeom>
          <a:solidFill>
            <a:srgbClr val="CCFF9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6556375" y="4175125"/>
            <a:ext cx="1093788" cy="369332"/>
          </a:xfrm>
          <a:prstGeom prst="rect">
            <a:avLst/>
          </a:prstGeom>
          <a:solidFill>
            <a:srgbClr val="99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497639" y="3716339"/>
            <a:ext cx="1266825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Disk</a:t>
            </a:r>
            <a:endParaRPr/>
          </a:p>
        </p:txBody>
      </p:sp>
      <p:cxnSp>
        <p:nvCxnSpPr>
          <p:cNvPr id="142" name="Google Shape;142;p4"/>
          <p:cNvCxnSpPr/>
          <p:nvPr/>
        </p:nvCxnSpPr>
        <p:spPr>
          <a:xfrm rot="10800000" flipH="1">
            <a:off x="7650164" y="3313113"/>
            <a:ext cx="865187" cy="13827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43" name="Google Shape;143;p4"/>
          <p:cNvCxnSpPr/>
          <p:nvPr/>
        </p:nvCxnSpPr>
        <p:spPr>
          <a:xfrm rot="10800000" flipH="1">
            <a:off x="7650164" y="2967039"/>
            <a:ext cx="865187" cy="20732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44" name="Google Shape;144;p4"/>
          <p:cNvCxnSpPr/>
          <p:nvPr/>
        </p:nvCxnSpPr>
        <p:spPr>
          <a:xfrm>
            <a:off x="5576889" y="2967038"/>
            <a:ext cx="979487" cy="13827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" name="Google Shape;145;p4"/>
          <p:cNvSpPr txBox="1"/>
          <p:nvPr/>
        </p:nvSpPr>
        <p:spPr>
          <a:xfrm>
            <a:off x="6096000" y="1066800"/>
            <a:ext cx="1900238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4022726" y="4003676"/>
            <a:ext cx="2073275" cy="120967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Pages that cannot fit in main memory are stored on the hard disk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2063750" y="4003676"/>
            <a:ext cx="1727200" cy="120967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running program has its own page table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1803699" y="1289845"/>
            <a:ext cx="1727200" cy="253365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operating system uses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page tables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map the pages in the linear virtual address space onto main memory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2063750" y="5502275"/>
            <a:ext cx="8121650" cy="749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a program is running, the processor translates the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virtual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addresses onto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memory (called also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addresses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8054976" y="3830638"/>
            <a:ext cx="2130425" cy="1484312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operating system swaps pages between memory and the hard disk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 rot="-5400000">
            <a:off x="9205913" y="2136424"/>
            <a:ext cx="19589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45700" rIns="720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virtual address space of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 2</a:t>
            </a:r>
            <a:endParaRPr/>
          </a:p>
        </p:txBody>
      </p:sp>
      <p:sp>
        <p:nvSpPr>
          <p:cNvPr id="152" name="Google Shape;15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Page 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dirty="0"/>
              <a:t>• The page table is a data structure used by the Operating System (OS) to map virtual addresses to physical addresses.</a:t>
            </a:r>
          </a:p>
          <a:p>
            <a:pPr marL="114300" indent="0">
              <a:buNone/>
            </a:pPr>
            <a:r>
              <a:rPr dirty="0"/>
              <a:t>• Each virtual page has an entry in the page table that tells which physical frame it is stored in.</a:t>
            </a:r>
          </a:p>
          <a:p>
            <a:pPr marL="114300" indent="0">
              <a:buNone/>
            </a:pPr>
            <a:r>
              <a:rPr dirty="0"/>
              <a:t>• This mapping enables virtual memory systems to run large programs efficiently.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Does the Page Table Reside?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dirty="0"/>
              <a:t>• Main Memory (RAM): The full page table is typically stored in RAM.</a:t>
            </a:r>
          </a:p>
          <a:p>
            <a:pPr marL="114300" indent="0">
              <a:buNone/>
            </a:pPr>
            <a:r>
              <a:rPr dirty="0"/>
              <a:t>• MMU (Memory Management Unit): A CPU component that accesses the page table during address translation.</a:t>
            </a:r>
          </a:p>
          <a:p>
            <a:pPr marL="114300" indent="0">
              <a:buNone/>
            </a:pPr>
            <a:r>
              <a:rPr dirty="0"/>
              <a:t>• TLB (Translation Lookaside Buffer): A cache inside the CPU that stores recently used page table entries to speed up address translation.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638695" y="115743"/>
            <a:ext cx="11036234" cy="100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Paging technique (3)</a:t>
            </a:r>
            <a:endParaRPr sz="3600"/>
          </a:p>
        </p:txBody>
      </p:sp>
      <p:sp>
        <p:nvSpPr>
          <p:cNvPr id="159" name="Google Shape;159;p5"/>
          <p:cNvSpPr txBox="1">
            <a:spLocks noGrp="1"/>
          </p:cNvSpPr>
          <p:nvPr>
            <p:ph type="body" idx="1"/>
          </p:nvPr>
        </p:nvSpPr>
        <p:spPr>
          <a:xfrm>
            <a:off x="432262" y="1123951"/>
            <a:ext cx="11242667" cy="52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/>
              <a:t>Paging divides the linear address space into f</a:t>
            </a:r>
            <a:r>
              <a:rPr lang="en-US" sz="2800"/>
              <a:t>ixed-sized blocks called </a:t>
            </a:r>
            <a:r>
              <a:rPr lang="en-US" sz="2800">
                <a:solidFill>
                  <a:srgbClr val="FF0000"/>
                </a:solidFill>
              </a:rPr>
              <a:t>pages</a:t>
            </a:r>
            <a:r>
              <a:rPr lang="en-US"/>
              <a:t> </a:t>
            </a:r>
            <a:r>
              <a:rPr lang="en-US" sz="2800"/>
              <a:t>(4 KB page).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/>
              <a:t>Operating system allocates main memory for pages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Pages can be spread all over main memory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Pages in main memory can belong to different programs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If main memory is full then pages are stored on the hard disk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/>
              <a:t>OS has a Virtual Memory Manager (VMM)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Uses page tables to map the pages of each running program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Manages the loading and unloading of pages</a:t>
            </a:r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Paging technique (4)</a:t>
            </a:r>
            <a:endParaRPr/>
          </a:p>
        </p:txBody>
      </p:sp>
      <p:pic>
        <p:nvPicPr>
          <p:cNvPr id="167" name="Google Shape;167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33537" y="1690688"/>
            <a:ext cx="6743020" cy="4671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8083550" y="5645150"/>
            <a:ext cx="1892300" cy="520700"/>
          </a:xfrm>
          <a:prstGeom prst="ellipse">
            <a:avLst/>
          </a:prstGeom>
          <a:gradFill>
            <a:gsLst>
              <a:gs pos="0">
                <a:schemeClr val="folHlink"/>
              </a:gs>
              <a:gs pos="50000">
                <a:srgbClr val="FFFFFF"/>
              </a:gs>
              <a:gs pos="100000">
                <a:schemeClr val="folHlink"/>
              </a:gs>
            </a:gsLst>
            <a:lin ang="0" scaled="0"/>
          </a:gra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>
            <a:spLocks noGrp="1"/>
          </p:cNvSpPr>
          <p:nvPr>
            <p:ph type="title"/>
          </p:nvPr>
        </p:nvSpPr>
        <p:spPr>
          <a:xfrm>
            <a:off x="580886" y="6671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Paging technique (5):  </a:t>
            </a:r>
            <a:r>
              <a:rPr lang="en-US"/>
              <a:t>Virtual Memory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2597150" y="2216150"/>
            <a:ext cx="1587500" cy="31877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hlink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7"/>
          <p:cNvCxnSpPr/>
          <p:nvPr/>
        </p:nvCxnSpPr>
        <p:spPr>
          <a:xfrm>
            <a:off x="2590800" y="2667000"/>
            <a:ext cx="1600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8" name="Google Shape;178;p7"/>
          <p:cNvCxnSpPr/>
          <p:nvPr/>
        </p:nvCxnSpPr>
        <p:spPr>
          <a:xfrm>
            <a:off x="2590800" y="3124200"/>
            <a:ext cx="1600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9" name="Google Shape;179;p7"/>
          <p:cNvCxnSpPr/>
          <p:nvPr/>
        </p:nvCxnSpPr>
        <p:spPr>
          <a:xfrm>
            <a:off x="2590800" y="3581400"/>
            <a:ext cx="1600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0" name="Google Shape;180;p7"/>
          <p:cNvCxnSpPr/>
          <p:nvPr/>
        </p:nvCxnSpPr>
        <p:spPr>
          <a:xfrm>
            <a:off x="2590800" y="4038600"/>
            <a:ext cx="1600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1" name="Google Shape;181;p7"/>
          <p:cNvCxnSpPr/>
          <p:nvPr/>
        </p:nvCxnSpPr>
        <p:spPr>
          <a:xfrm>
            <a:off x="2590800" y="4495800"/>
            <a:ext cx="1600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2" name="Google Shape;182;p7"/>
          <p:cNvCxnSpPr/>
          <p:nvPr/>
        </p:nvCxnSpPr>
        <p:spPr>
          <a:xfrm>
            <a:off x="2590800" y="4953000"/>
            <a:ext cx="1600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" name="Google Shape;183;p7"/>
          <p:cNvSpPr/>
          <p:nvPr/>
        </p:nvSpPr>
        <p:spPr>
          <a:xfrm>
            <a:off x="3246873" y="3176588"/>
            <a:ext cx="402354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2597150" y="3587750"/>
            <a:ext cx="1587500" cy="4445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055539" y="3633788"/>
            <a:ext cx="785023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x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044318" y="5005388"/>
            <a:ext cx="807464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n</a:t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8235950" y="1987550"/>
            <a:ext cx="1587500" cy="2044700"/>
          </a:xfrm>
          <a:prstGeom prst="rect">
            <a:avLst/>
          </a:prstGeom>
          <a:gradFill>
            <a:gsLst>
              <a:gs pos="0">
                <a:srgbClr val="E5DCE0"/>
              </a:gs>
              <a:gs pos="50000">
                <a:schemeClr val="folHlink"/>
              </a:gs>
              <a:gs pos="100000">
                <a:srgbClr val="E5DCE0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442325" y="1989139"/>
            <a:ext cx="1111250" cy="91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MB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2597150" y="2673350"/>
            <a:ext cx="1587500" cy="4445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077200" y="4800600"/>
            <a:ext cx="1905000" cy="1066800"/>
          </a:xfrm>
          <a:prstGeom prst="rect">
            <a:avLst/>
          </a:prstGeom>
          <a:gradFill>
            <a:gsLst>
              <a:gs pos="0">
                <a:schemeClr val="folHlink"/>
              </a:gs>
              <a:gs pos="50000">
                <a:srgbClr val="D2C0C8"/>
              </a:gs>
              <a:gs pos="100000">
                <a:schemeClr val="folHlink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083550" y="4502150"/>
            <a:ext cx="1892300" cy="520700"/>
          </a:xfrm>
          <a:prstGeom prst="ellipse">
            <a:avLst/>
          </a:prstGeom>
          <a:gradFill>
            <a:gsLst>
              <a:gs pos="0">
                <a:schemeClr val="folHlink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7"/>
          <p:cNvCxnSpPr/>
          <p:nvPr/>
        </p:nvCxnSpPr>
        <p:spPr>
          <a:xfrm>
            <a:off x="8077200" y="4800600"/>
            <a:ext cx="0" cy="1066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" name="Google Shape;193;p7"/>
          <p:cNvCxnSpPr/>
          <p:nvPr/>
        </p:nvCxnSpPr>
        <p:spPr>
          <a:xfrm>
            <a:off x="9982200" y="4800600"/>
            <a:ext cx="0" cy="1066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7"/>
          <p:cNvSpPr/>
          <p:nvPr/>
        </p:nvSpPr>
        <p:spPr>
          <a:xfrm>
            <a:off x="8235950" y="2825750"/>
            <a:ext cx="1587500" cy="4445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694339" y="2871788"/>
            <a:ext cx="785023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x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8388350" y="5111750"/>
            <a:ext cx="596900" cy="2159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7"/>
          <p:cNvCxnSpPr/>
          <p:nvPr/>
        </p:nvCxnSpPr>
        <p:spPr>
          <a:xfrm rot="10800000" flipH="1">
            <a:off x="4038600" y="3048000"/>
            <a:ext cx="4343400" cy="762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8" name="Google Shape;198;p7"/>
          <p:cNvCxnSpPr/>
          <p:nvPr/>
        </p:nvCxnSpPr>
        <p:spPr>
          <a:xfrm>
            <a:off x="8229600" y="3352800"/>
            <a:ext cx="1600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" name="Google Shape;199;p7"/>
          <p:cNvCxnSpPr/>
          <p:nvPr/>
        </p:nvCxnSpPr>
        <p:spPr>
          <a:xfrm>
            <a:off x="8229600" y="3810000"/>
            <a:ext cx="1600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7"/>
          <p:cNvSpPr/>
          <p:nvPr/>
        </p:nvSpPr>
        <p:spPr>
          <a:xfrm>
            <a:off x="8235950" y="3359150"/>
            <a:ext cx="1587500" cy="4445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685522" y="3405188"/>
            <a:ext cx="802656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1</a:t>
            </a:r>
            <a:endParaRPr/>
          </a:p>
        </p:txBody>
      </p:sp>
      <p:cxnSp>
        <p:nvCxnSpPr>
          <p:cNvPr id="202" name="Google Shape;202;p7"/>
          <p:cNvCxnSpPr/>
          <p:nvPr/>
        </p:nvCxnSpPr>
        <p:spPr>
          <a:xfrm>
            <a:off x="4038600" y="2895600"/>
            <a:ext cx="4343400" cy="685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3" name="Google Shape;203;p7"/>
          <p:cNvSpPr/>
          <p:nvPr/>
        </p:nvSpPr>
        <p:spPr>
          <a:xfrm>
            <a:off x="3046722" y="2719388"/>
            <a:ext cx="802656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1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2597150" y="2216150"/>
            <a:ext cx="1587500" cy="4445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046722" y="2262188"/>
            <a:ext cx="802656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0</a:t>
            </a:r>
            <a:endParaRPr/>
          </a:p>
        </p:txBody>
      </p:sp>
      <p:cxnSp>
        <p:nvCxnSpPr>
          <p:cNvPr id="206" name="Google Shape;206;p7"/>
          <p:cNvCxnSpPr/>
          <p:nvPr/>
        </p:nvCxnSpPr>
        <p:spPr>
          <a:xfrm>
            <a:off x="4038600" y="2438400"/>
            <a:ext cx="4419600" cy="2819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Google Shape;207;p7"/>
          <p:cNvCxnSpPr/>
          <p:nvPr/>
        </p:nvCxnSpPr>
        <p:spPr>
          <a:xfrm>
            <a:off x="4038600" y="4343400"/>
            <a:ext cx="1447800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p7"/>
          <p:cNvSpPr/>
          <p:nvPr/>
        </p:nvSpPr>
        <p:spPr>
          <a:xfrm>
            <a:off x="4937125" y="5386388"/>
            <a:ext cx="1803122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Allocated Yet</a:t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7832725" y="4167188"/>
            <a:ext cx="1928348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Secondary Storage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7985125" y="1500188"/>
            <a:ext cx="1775230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Memory</a:t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8137525" y="4548188"/>
            <a:ext cx="1575816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Disk 2 GB</a:t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9074150" y="5111750"/>
            <a:ext cx="596900" cy="2159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8388350" y="5416550"/>
            <a:ext cx="596900" cy="2159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8388350" y="5721350"/>
            <a:ext cx="596900" cy="2159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9074150" y="5416550"/>
            <a:ext cx="596900" cy="2159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9074150" y="5721350"/>
            <a:ext cx="596900" cy="2159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8304524" y="5119688"/>
            <a:ext cx="802656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0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2422525" y="1423988"/>
            <a:ext cx="2245999" cy="3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Virtual Address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3025776" y="1524000"/>
            <a:ext cx="101282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GB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Example </a:t>
            </a:r>
            <a:r>
              <a:rPr lang="en-US" dirty="0"/>
              <a:t>Question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there are total 32 virtual pages.</a:t>
            </a:r>
          </a:p>
          <a:p>
            <a:pPr lvl="1"/>
            <a:r>
              <a:rPr dirty="0"/>
              <a:t>Each </a:t>
            </a:r>
            <a:r>
              <a:rPr lang="en-US" dirty="0"/>
              <a:t>page table entry size</a:t>
            </a:r>
            <a:r>
              <a:rPr dirty="0"/>
              <a:t> = </a:t>
            </a:r>
            <a:r>
              <a:rPr lang="en-US" dirty="0"/>
              <a:t>16</a:t>
            </a:r>
            <a:r>
              <a:rPr dirty="0"/>
              <a:t> Bytes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Size of </a:t>
            </a:r>
            <a:r>
              <a:rPr dirty="0"/>
              <a:t>Page Table = </a:t>
            </a:r>
            <a:r>
              <a:rPr lang="en-US" dirty="0"/>
              <a:t>128</a:t>
            </a:r>
            <a:r>
              <a:rPr dirty="0"/>
              <a:t> B</a:t>
            </a:r>
            <a:r>
              <a:rPr lang="en-US" dirty="0"/>
              <a:t>ytes</a:t>
            </a:r>
          </a:p>
          <a:p>
            <a:r>
              <a:rPr lang="en-US" dirty="0"/>
              <a:t>How many pages will be stored in primary memory?</a:t>
            </a:r>
            <a:endParaRPr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3E8A5-1122-4749-79AB-EAB5DA70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D4B2-2266-63F3-27A8-AD7A227D9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A81C5-29F4-57A9-F316-9348326B9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Page Table reside in primary memory.</a:t>
            </a:r>
          </a:p>
          <a:p>
            <a:r>
              <a:rPr lang="en-US" dirty="0"/>
              <a:t>There could be 128 bytes/16 bytes pages stored in the page table</a:t>
            </a:r>
          </a:p>
          <a:p>
            <a:r>
              <a:rPr lang="en-US" dirty="0"/>
              <a:t>So, 8 pages out of 32 pages are stored in the primary memory.</a:t>
            </a:r>
            <a:endParaRPr dirty="0"/>
          </a:p>
          <a:p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23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33" name="Google Shape;233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868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 txBox="1"/>
          <p:nvPr/>
        </p:nvSpPr>
        <p:spPr>
          <a:xfrm>
            <a:off x="288174" y="6105208"/>
            <a:ext cx="2515986" cy="502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Paging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6522720" y="178415"/>
            <a:ext cx="55626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virtual pages are not assigned (not used). Real page 7, the last Page in the Primary memory is currently free. </a:t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6522720" y="1101745"/>
            <a:ext cx="5562600" cy="60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 b="1" baseline="30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20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task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Page 3 is requested by the processor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First, hardware is activated to check whether the page is in the Primary memory. The hardware finds the page currently residing in real page 1 and the page can be referenced.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 baseline="30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US" sz="20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task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Next, Page 7 is requested by the processor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virtual page 7  is now requested by the processor.  The hardware checks that the page is not currently residing in the Primary memory. Then, a software mechanism is activated to search for the location in the Secondary memory. The page is transferred into the free real page 7 in Primary memory and subsequently referenced by the processor. The page translation table is updated.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b="1" baseline="30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task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Next, Page 15 is requested by the processor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Exercise : Do it yourself.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 txBox="1">
            <a:spLocks noGrp="1"/>
          </p:cNvSpPr>
          <p:nvPr>
            <p:ph type="body" idx="1"/>
          </p:nvPr>
        </p:nvSpPr>
        <p:spPr>
          <a:xfrm>
            <a:off x="234700" y="779463"/>
            <a:ext cx="11519496" cy="5732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advantage of paging scheme is that </a:t>
            </a:r>
            <a:r>
              <a:rPr lang="en-US">
                <a:solidFill>
                  <a:srgbClr val="C00000"/>
                </a:solidFill>
              </a:rPr>
              <a:t>the complete segment of a task need not be in the physical memory at any time.</a:t>
            </a:r>
            <a:endParaRPr/>
          </a:p>
          <a:p>
            <a:pPr marL="457200" lvl="1" indent="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Only a few pages of the segments, which are required currently for the execution need to be available in the </a:t>
            </a:r>
            <a:r>
              <a:rPr lang="en-US" sz="2800">
                <a:solidFill>
                  <a:srgbClr val="0000FF"/>
                </a:solidFill>
              </a:rPr>
              <a:t>physical memory</a:t>
            </a:r>
            <a:r>
              <a:rPr lang="en-US" sz="2800"/>
              <a:t>. Thus the memory requirement of the task is substantially reduced, relinquishing the available memory for other tasks. Whenever the </a:t>
            </a:r>
            <a:r>
              <a:rPr lang="en-US" sz="2800">
                <a:solidFill>
                  <a:srgbClr val="C00000"/>
                </a:solidFill>
              </a:rPr>
              <a:t>other pages of task </a:t>
            </a:r>
            <a:r>
              <a:rPr lang="en-US" sz="2800"/>
              <a:t>are required for execution, they may be fetched from the </a:t>
            </a:r>
            <a:r>
              <a:rPr lang="en-US" sz="2800">
                <a:solidFill>
                  <a:srgbClr val="0000FF"/>
                </a:solidFill>
              </a:rPr>
              <a:t>secondary storage</a:t>
            </a:r>
            <a:r>
              <a:rPr lang="en-US" sz="2800"/>
              <a:t>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Thus paging mechanism provides an effective technique to manage the physical memory </a:t>
            </a:r>
            <a:r>
              <a:rPr lang="en-US">
                <a:solidFill>
                  <a:srgbClr val="0000FF"/>
                </a:solidFill>
              </a:rPr>
              <a:t>for multitasking systems</a:t>
            </a:r>
            <a:r>
              <a:rPr lang="en-US"/>
              <a:t>. </a:t>
            </a:r>
            <a:br>
              <a:rPr lang="en-US"/>
            </a:br>
            <a:endParaRPr/>
          </a:p>
        </p:txBody>
      </p:sp>
      <p:sp>
        <p:nvSpPr>
          <p:cNvPr id="243" name="Google Shape;243;p10"/>
          <p:cNvSpPr txBox="1">
            <a:spLocks noGrp="1"/>
          </p:cNvSpPr>
          <p:nvPr>
            <p:ph type="title"/>
          </p:nvPr>
        </p:nvSpPr>
        <p:spPr>
          <a:xfrm>
            <a:off x="536450" y="0"/>
            <a:ext cx="10515600" cy="77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Advantage of Paging technique</a:t>
            </a:r>
            <a:endParaRPr/>
          </a:p>
        </p:txBody>
      </p:sp>
      <p:sp>
        <p:nvSpPr>
          <p:cNvPr id="244" name="Google Shape;2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 txBox="1">
            <a:spLocks noGrp="1"/>
          </p:cNvSpPr>
          <p:nvPr>
            <p:ph type="title"/>
          </p:nvPr>
        </p:nvSpPr>
        <p:spPr>
          <a:xfrm>
            <a:off x="483358" y="365125"/>
            <a:ext cx="2532797" cy="84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Page fault</a:t>
            </a:r>
            <a:endParaRPr/>
          </a:p>
        </p:txBody>
      </p:sp>
      <p:sp>
        <p:nvSpPr>
          <p:cNvPr id="250" name="Google Shape;250;p11"/>
          <p:cNvSpPr txBox="1">
            <a:spLocks noGrp="1"/>
          </p:cNvSpPr>
          <p:nvPr>
            <p:ph type="body" idx="1"/>
          </p:nvPr>
        </p:nvSpPr>
        <p:spPr>
          <a:xfrm>
            <a:off x="387823" y="1214651"/>
            <a:ext cx="116463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the page required by the processor is not in the main memory, then page fault occurs.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OS then reads the page from disk and puts in the RAM.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OS then changes the </a:t>
            </a:r>
            <a:r>
              <a:rPr lang="en-US">
                <a:solidFill>
                  <a:srgbClr val="0000FF"/>
                </a:solidFill>
              </a:rPr>
              <a:t>Page Table </a:t>
            </a:r>
            <a:r>
              <a:rPr lang="en-US"/>
              <a:t>to map the new page.</a:t>
            </a:r>
            <a:endParaRPr/>
          </a:p>
        </p:txBody>
      </p:sp>
      <p:sp>
        <p:nvSpPr>
          <p:cNvPr id="251" name="Google Shape;25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168147-EF65-02FC-D910-0FB55C79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564F26-FC42-E117-F7C4-6E14B577E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82071-4525-4FC3-B8D5-3D4B0C49583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1004</Words>
  <Application>Microsoft Office PowerPoint</Application>
  <PresentationFormat>Widescreen</PresentationFormat>
  <Paragraphs>120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Carlito</vt:lpstr>
      <vt:lpstr>Noto Sans Symbols</vt:lpstr>
      <vt:lpstr>Times New Roman</vt:lpstr>
      <vt:lpstr>Calibri</vt:lpstr>
      <vt:lpstr>Office Theme</vt:lpstr>
      <vt:lpstr>PowerPoint Presentation</vt:lpstr>
      <vt:lpstr>2–4  MEMORY PAGING </vt:lpstr>
      <vt:lpstr>Paging technique (1)</vt:lpstr>
      <vt:lpstr>Paging technique (2) </vt:lpstr>
      <vt:lpstr>What is a Page Table?</vt:lpstr>
      <vt:lpstr>Where Does the Page Table Reside?</vt:lpstr>
      <vt:lpstr>Paging technique (3)</vt:lpstr>
      <vt:lpstr>Paging technique (4)</vt:lpstr>
      <vt:lpstr>Paging technique (5):  Virtual Memory</vt:lpstr>
      <vt:lpstr>Example Question</vt:lpstr>
      <vt:lpstr>Solution</vt:lpstr>
      <vt:lpstr>PowerPoint Presentation</vt:lpstr>
      <vt:lpstr>Advantage of Paging technique</vt:lpstr>
      <vt:lpstr>Page fault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nasif</dc:creator>
  <cp:lastModifiedBy>1905065 - Arnab Bhattacharjee</cp:lastModifiedBy>
  <cp:revision>10</cp:revision>
  <dcterms:created xsi:type="dcterms:W3CDTF">2016-03-11T18:34:29Z</dcterms:created>
  <dcterms:modified xsi:type="dcterms:W3CDTF">2025-11-09T11:59:35Z</dcterms:modified>
</cp:coreProperties>
</file>