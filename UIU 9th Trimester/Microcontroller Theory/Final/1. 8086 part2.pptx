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3"/>
  </p:notesMasterIdLst>
  <p:sldIdLst>
    <p:sldId id="276" r:id="rId4"/>
    <p:sldId id="265" r:id="rId5"/>
    <p:sldId id="266" r:id="rId6"/>
    <p:sldId id="264" r:id="rId7"/>
    <p:sldId id="258" r:id="rId8"/>
    <p:sldId id="261" r:id="rId9"/>
    <p:sldId id="262" r:id="rId10"/>
    <p:sldId id="263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92" autoAdjust="0"/>
  </p:normalViewPr>
  <p:slideViewPr>
    <p:cSldViewPr snapToGrid="0">
      <p:cViewPr varScale="1">
        <p:scale>
          <a:sx n="63" d="100"/>
          <a:sy n="63" d="100"/>
        </p:scale>
        <p:origin x="114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7442-D4E2-4E6E-A6F5-7D35B72047C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15A55-A951-43B1-B1D6-DECB14B7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5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B476E90-333F-4983-9FCD-57DC7EE1D90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414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715A55-A951-43B1-B1D6-DECB14B704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1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2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1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4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8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5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4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825F5-A7EC-4B61-9B11-242D238C76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33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2E3CF-B02C-452F-A076-6F7B2CE6103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3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E6765-8AF9-4665-81BF-290FB1BAF12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17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B9462-7531-4201-81B9-387CA82D632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75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80A3B-ED7A-41D7-9B70-0DA9115E50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7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8CFE9-C5F5-46F7-BEF6-B43B85640B4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92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D0614-6F4A-4C2C-8EDF-260CD992ED9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24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8F552-C15D-4D1B-ACF6-3447062A400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25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8BF45-46B9-4B04-A146-4D1CA7A5DA3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053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FAEF-D2D9-447A-8024-EF2DF44CB2A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44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AB4ED-B3DA-4B17-948D-9598D20CFF7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7F172-ED38-44A6-9200-01401A3F896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54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2063-93A8-425C-AF78-2F3AF9C213A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829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0DF560-18EA-4700-B229-371CB738A00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889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670E0-BAAA-4507-8BDF-437D7FFCC72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527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AF28-172A-4B4F-8446-E670C95F883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0177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9DD4E-3892-433C-B718-B3CFE62FBFB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4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3DBDA-6E75-4A30-8B24-8F9DC3221E63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82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0B9C5-5A46-4A61-B90C-5B69D556A6F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7341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A00CC-B862-4D62-8F14-70026547DA2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7235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AFCDD8-945B-407D-A5F0-C6143C7799F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19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C494A-6808-4774-89D8-352E49C5767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9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8B3A7-5399-48BA-87D5-349D9BC57E5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2BD30-E850-4FCF-8A35-B529ACB66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6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4C1D5A-1ECF-4CEF-B4B5-F4BE8AC46C6E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F741FA5-F609-44C8-9073-773A9339C553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33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E1D2A-C4B8-5140-8D2B-7371E9909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535920" cy="677108"/>
          </a:xfrm>
        </p:spPr>
        <p:txBody>
          <a:bodyPr/>
          <a:lstStyle/>
          <a:p>
            <a:r>
              <a:rPr lang="en-US" altLang="en-US" dirty="0"/>
              <a:t>Introduction to 8086 Microprocessor (part 2)</a:t>
            </a:r>
            <a:endParaRPr lang="en-US" u="none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6CE1D2A-C4B8-5140-8D2B-7371E9909657}"/>
              </a:ext>
            </a:extLst>
          </p:cNvPr>
          <p:cNvSpPr txBox="1">
            <a:spLocks/>
          </p:cNvSpPr>
          <p:nvPr/>
        </p:nvSpPr>
        <p:spPr bwMode="auto">
          <a:xfrm>
            <a:off x="1225827" y="2955235"/>
            <a:ext cx="10363200" cy="96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sz="2800" dirty="0"/>
              <a:t>The Intel Microprocessors 8th Edition by Barry B </a:t>
            </a:r>
            <a:r>
              <a:rPr lang="en-GB" sz="2800" dirty="0" err="1"/>
              <a:t>Brey</a:t>
            </a:r>
            <a:r>
              <a:rPr lang="en-GB" sz="2800" dirty="0"/>
              <a:t> </a:t>
            </a:r>
            <a:br>
              <a:rPr lang="en-GB" sz="2800" dirty="0"/>
            </a:br>
            <a:r>
              <a:rPr lang="en-GB" sz="2800" dirty="0"/>
              <a:t>Section 9-1 Pin-Outs and the Pin Functions page 305</a:t>
            </a:r>
            <a:endParaRPr lang="en-US" sz="2800" dirty="0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FB464BF8-A399-5B8D-7FDA-76B322F9BC72}"/>
              </a:ext>
            </a:extLst>
          </p:cNvPr>
          <p:cNvSpPr txBox="1">
            <a:spLocks/>
          </p:cNvSpPr>
          <p:nvPr/>
        </p:nvSpPr>
        <p:spPr>
          <a:xfrm>
            <a:off x="1680014" y="4358640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2"/>
              </a:rPr>
              <a:t>arnab@cse.uiu.ac.bd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47E07282-0D94-E4B5-CEAC-BA59D826BF58}"/>
              </a:ext>
            </a:extLst>
          </p:cNvPr>
          <p:cNvSpPr txBox="1"/>
          <p:nvPr/>
        </p:nvSpPr>
        <p:spPr>
          <a:xfrm>
            <a:off x="6233160" y="5750028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35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6147" name="Picture 2" descr="C:\Users\X200MA\Desktop\Intel-Celebrates-the-40th-Anniversary-of-the-Microprocessor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9" y="271463"/>
            <a:ext cx="8982075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18CFE9-C5F5-46F7-BEF6-B43B85640B41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63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8086 Pin Diagram</a:t>
            </a: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1600200"/>
            <a:ext cx="3163888" cy="5029200"/>
          </a:xfrm>
          <a:noFill/>
        </p:spPr>
      </p:pic>
      <p:pic>
        <p:nvPicPr>
          <p:cNvPr id="7172" name="Picture 4" descr="8086_chipset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219200"/>
            <a:ext cx="7761288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02E3CF-B02C-452F-A076-6F7B2CE6103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2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96120" y="122237"/>
            <a:ext cx="7467600" cy="8683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Pin Description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50723" y="984913"/>
            <a:ext cx="11718364" cy="5371438"/>
          </a:xfrm>
        </p:spPr>
        <p:txBody>
          <a:bodyPr/>
          <a:lstStyle/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AD0-AD15</a:t>
            </a:r>
            <a:r>
              <a:rPr lang="en-US" altLang="en-US" sz="3000" dirty="0"/>
              <a:t>: Multiplexed Address/Data Bus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RD’: </a:t>
            </a:r>
            <a:r>
              <a:rPr lang="en-US" altLang="en-US" sz="3000" dirty="0"/>
              <a:t>Low while reading from memory or port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WR’ </a:t>
            </a:r>
            <a:r>
              <a:rPr lang="en-US" altLang="en-US" sz="3000" dirty="0"/>
              <a:t>: Low while writing to memory or port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ALE </a:t>
            </a:r>
            <a:r>
              <a:rPr lang="en-US" altLang="en-US" sz="3000" dirty="0"/>
              <a:t>: Address latch enable shows 8086 data bus contains address information. This address can be a memory or I/O device</a:t>
            </a:r>
          </a:p>
          <a:p>
            <a:pPr eaLnBrk="1" hangingPunct="1"/>
            <a:r>
              <a:rPr lang="en-US" altLang="en-US" sz="3000" dirty="0">
                <a:solidFill>
                  <a:srgbClr val="C00000"/>
                </a:solidFill>
              </a:rPr>
              <a:t>M/IO</a:t>
            </a:r>
            <a:r>
              <a:rPr lang="en-US" altLang="en-US" sz="3000" dirty="0">
                <a:solidFill>
                  <a:schemeClr val="accent2"/>
                </a:solidFill>
              </a:rPr>
              <a:t>’ </a:t>
            </a:r>
            <a:r>
              <a:rPr lang="en-US" altLang="en-US" sz="3000" dirty="0"/>
              <a:t>: High during Memory operations.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 dirty="0"/>
              <a:t>              Low during I/O Port operations.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RESET</a:t>
            </a:r>
            <a:r>
              <a:rPr lang="en-GB" altLang="en-US" sz="3000" dirty="0"/>
              <a:t>: causes the processor to immediately terminate its present activity. The signal must be active HIGH for at least four clock cycles. It restarts execution.</a:t>
            </a:r>
            <a:endParaRPr lang="en-US" altLang="en-US" sz="3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6545A-51AB-4F03-AC2E-9B97DE3D4BDE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21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265545" y="288926"/>
            <a:ext cx="7886700" cy="701675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0070C0"/>
                </a:solidFill>
              </a:rPr>
              <a:t>Pin Description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3525" y="1012211"/>
            <a:ext cx="11094493" cy="5365750"/>
          </a:xfrm>
        </p:spPr>
        <p:txBody>
          <a:bodyPr/>
          <a:lstStyle/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CLK</a:t>
            </a:r>
            <a:r>
              <a:rPr lang="en-GB" altLang="en-US" sz="3000" dirty="0"/>
              <a:t> : The clock pin provides the basic timing signal to the microprocessor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VCC</a:t>
            </a:r>
            <a:r>
              <a:rPr lang="en-GB" altLang="en-US" sz="3000" dirty="0"/>
              <a:t>:  This power supply input provides a +5.0 V ±10 % signal to the microprocessor.</a:t>
            </a:r>
          </a:p>
          <a:p>
            <a:pPr eaLnBrk="1" hangingPunct="1"/>
            <a:r>
              <a:rPr lang="en-GB" altLang="en-US" sz="3000" dirty="0">
                <a:solidFill>
                  <a:srgbClr val="C00000"/>
                </a:solidFill>
              </a:rPr>
              <a:t>GND</a:t>
            </a:r>
            <a:r>
              <a:rPr lang="en-GB" altLang="en-US" sz="3000" dirty="0"/>
              <a:t>: The ground connection is the return for the power supply. Note that the 8086 microprocessors have two pins labeled GND—both must be connected to ground for proper operation.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360026-A852-46B7-B53F-2B130FCC7E9F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8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521879" y="712788"/>
            <a:ext cx="11468560" cy="5826125"/>
          </a:xfrm>
        </p:spPr>
        <p:txBody>
          <a:bodyPr/>
          <a:lstStyle/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DT/R’ </a:t>
            </a:r>
            <a:r>
              <a:rPr lang="en-GB" altLang="en-US" sz="3200" dirty="0"/>
              <a:t>: The data transmit/receive signal shows that the microprocessor data bus is transmitting (DT/R’ ) or receiving (DT/ R’) data. This signal is used to enable external data bus buffers.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DEN’: </a:t>
            </a:r>
            <a:r>
              <a:rPr lang="en-GB" altLang="en-US" sz="3200" dirty="0"/>
              <a:t>Data bus enable activates external data bus buffers.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BHE’/S7</a:t>
            </a:r>
            <a:r>
              <a:rPr lang="en-GB" altLang="en-US" sz="3200" dirty="0"/>
              <a:t>: The bus high enable pin is 0 used to enable the most-significant data bus bits (D15–D8) and 1 to enable data bus bits (D7–D0) during a read or a write operation. The state of S7 is always a logic 1.</a:t>
            </a:r>
          </a:p>
          <a:p>
            <a:pPr eaLnBrk="1" hangingPunct="1"/>
            <a:r>
              <a:rPr lang="en-GB" altLang="en-US" sz="3200" dirty="0">
                <a:solidFill>
                  <a:srgbClr val="C00000"/>
                </a:solidFill>
              </a:rPr>
              <a:t>READY</a:t>
            </a:r>
            <a:r>
              <a:rPr lang="en-GB" altLang="en-US" sz="3200" dirty="0"/>
              <a:t>: The READY input is controlled to insert wait states into the timing of the microprocessor. If the READY pin is placed at a logic 0 level, the micro-processor enters into wait states and remains idle. If the READY pin is placed at a logic 1 level, it has no effect on the operation of the microprocessor.</a:t>
            </a:r>
          </a:p>
          <a:p>
            <a:pPr eaLnBrk="1" hangingPunct="1"/>
            <a:endParaRPr lang="en-GB" altLang="en-US" sz="2800" dirty="0"/>
          </a:p>
          <a:p>
            <a:pPr eaLnBrk="1" hangingPunct="1"/>
            <a:endParaRPr lang="en-GB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80B0FB-EE44-47CA-AB68-E3C15FF2286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835742" y="212674"/>
            <a:ext cx="7391400" cy="39687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087539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>
          <a:xfrm>
            <a:off x="493960" y="971551"/>
            <a:ext cx="11382233" cy="5749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000" dirty="0">
                <a:solidFill>
                  <a:srgbClr val="C00000"/>
                </a:solidFill>
              </a:rPr>
              <a:t>A19/S6–A16/S3</a:t>
            </a:r>
            <a:r>
              <a:rPr lang="en-GB" altLang="en-US" sz="3000" dirty="0">
                <a:solidFill>
                  <a:schemeClr val="accent2"/>
                </a:solidFill>
              </a:rPr>
              <a:t> :  </a:t>
            </a:r>
            <a:r>
              <a:rPr lang="en-GB" altLang="en-US" sz="3000" dirty="0"/>
              <a:t>The address/status bus bits are multiplexed to provide address signals A19–A16 and also status bits S6–S3. 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/>
              <a:t>During the first clock period of a bus cycle, the entire 20-bit address is available on these lines.  During all other clock cycles for memory and I/O operations, AD15-AD0 contains the 16-bit data, and S3, S4, S5, and S6 become status lines. 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/>
              <a:t>After the first clock cycle of an instruction execution, the A17/S4 and A16/S3 pins specify which segment register generates the segment portion of the 8086 address. Thus, by decoding these lines and using the decoder selects the memory chips.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GB" sz="3000" dirty="0">
                <a:solidFill>
                  <a:srgbClr val="C00000"/>
                </a:solidFill>
              </a:rPr>
              <a:t>S5</a:t>
            </a:r>
            <a:r>
              <a:rPr lang="en-GB" sz="3000" dirty="0"/>
              <a:t> reflects the contents of the IF flag.  </a:t>
            </a:r>
            <a:r>
              <a:rPr lang="en-GB" sz="3000" dirty="0">
                <a:solidFill>
                  <a:srgbClr val="C00000"/>
                </a:solidFill>
              </a:rPr>
              <a:t>S6</a:t>
            </a:r>
            <a:r>
              <a:rPr lang="en-GB" sz="3000" dirty="0"/>
              <a:t> is always held at 0 and indicates that an 8086 is controlling the system bus.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GB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F8F54-62BD-4F4B-9D63-45965AABB083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41444" y="179388"/>
            <a:ext cx="7543800" cy="792163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2046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141" y="939920"/>
            <a:ext cx="10532659" cy="5598993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GB" sz="2400" dirty="0"/>
              <a:t>S3 and S4 lines are decoded as follows: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F1E903-4A91-458E-BCA7-1A7EF0AE28E8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821141" y="145102"/>
            <a:ext cx="7543800" cy="792163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Pin Description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01711"/>
              </p:ext>
            </p:extLst>
          </p:nvPr>
        </p:nvGraphicFramePr>
        <p:xfrm>
          <a:off x="997353" y="1559163"/>
          <a:ext cx="7191375" cy="2286000"/>
        </p:xfrm>
        <a:graphic>
          <a:graphicData uri="http://schemas.openxmlformats.org/drawingml/2006/table">
            <a:tbl>
              <a:tblPr/>
              <a:tblGrid>
                <a:gridCol w="23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A17/S4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A16/S3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Function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Extra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Stack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Code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Data segment access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02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174" y="265775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2063-93A8-425C-AF78-2F3AF9C213A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0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617</Words>
  <Application>Microsoft Office PowerPoint</Application>
  <PresentationFormat>Widescreen</PresentationFormat>
  <Paragraphs>66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Carlito</vt:lpstr>
      <vt:lpstr>Wingdings</vt:lpstr>
      <vt:lpstr>Office Theme</vt:lpstr>
      <vt:lpstr>1_Office Theme</vt:lpstr>
      <vt:lpstr>2_Office Theme</vt:lpstr>
      <vt:lpstr>Introduction to 8086 Microprocessor (part 2)</vt:lpstr>
      <vt:lpstr>PowerPoint Presentation</vt:lpstr>
      <vt:lpstr>8086 Pin Diagram</vt:lpstr>
      <vt:lpstr>Pin Description</vt:lpstr>
      <vt:lpstr>Pin Description</vt:lpstr>
      <vt:lpstr>Pin Description</vt:lpstr>
      <vt:lpstr>Pin Description</vt:lpstr>
      <vt:lpstr>Pin Description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8086 Microprocessor</dc:title>
  <dc:creator>Microsoft</dc:creator>
  <cp:lastModifiedBy>1905065 - Arnab Bhattacharjee</cp:lastModifiedBy>
  <cp:revision>144</cp:revision>
  <dcterms:created xsi:type="dcterms:W3CDTF">2016-06-06T19:34:12Z</dcterms:created>
  <dcterms:modified xsi:type="dcterms:W3CDTF">2025-11-09T12:03:10Z</dcterms:modified>
</cp:coreProperties>
</file>