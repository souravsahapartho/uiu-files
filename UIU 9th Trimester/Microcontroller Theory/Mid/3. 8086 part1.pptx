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316" r:id="rId3"/>
    <p:sldId id="270" r:id="rId4"/>
    <p:sldId id="271" r:id="rId5"/>
    <p:sldId id="257" r:id="rId6"/>
    <p:sldId id="258" r:id="rId7"/>
    <p:sldId id="259" r:id="rId8"/>
    <p:sldId id="260" r:id="rId9"/>
    <p:sldId id="261" r:id="rId10"/>
    <p:sldId id="266" r:id="rId11"/>
    <p:sldId id="267" r:id="rId12"/>
    <p:sldId id="265" r:id="rId13"/>
    <p:sldId id="262" r:id="rId14"/>
    <p:sldId id="264" r:id="rId15"/>
    <p:sldId id="263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D7442-D4E2-4E6E-A6F5-7D35B72047C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15A55-A951-43B1-B1D6-DECB14B70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5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96BBF3-63F2-4DF4-8E02-EF15AEC0B78E}" type="slidenum">
              <a:rPr lang="en-US" altLang="en-US" smtClean="0">
                <a:solidFill>
                  <a:prstClr val="black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497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2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3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1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5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4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7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8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5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42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825F5-A7EC-4B61-9B11-242D238C76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033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2E3CF-B02C-452F-A076-6F7B2CE6103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037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E6765-8AF9-4665-81BF-290FB1BAF12F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817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2B9462-7531-4201-81B9-387CA82D632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175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80A3B-ED7A-41D7-9B70-0DA9115E503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57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8CFE9-C5F5-46F7-BEF6-B43B85640B4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392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D0614-6F4A-4C2C-8EDF-260CD992ED9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224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8F552-C15D-4D1B-ACF6-3447062A400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825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8BF45-46B9-4B04-A146-4D1CA7A5DA3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053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8FAEF-D2D9-447A-8024-EF2DF44CB2A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944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AB4ED-B3DA-4B17-948D-9598D20CFF7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2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3390" y="374675"/>
            <a:ext cx="10305220" cy="457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9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32080">
              <a:spcBef>
                <a:spcPts val="15"/>
              </a:spcBef>
            </a:pPr>
            <a:fld id="{81D60167-4931-47E6-BA6A-407CBD079E47}" type="slidenum">
              <a:rPr lang="en-US" spc="-5" smtClean="0"/>
              <a:pPr marL="132080">
                <a:spcBef>
                  <a:spcPts val="15"/>
                </a:spcBef>
              </a:pPr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84384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6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F4C1D5A-1ECF-4CEF-B4B5-F4BE8AC46C6E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41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b@cse.uiu.ac.bd" TargetMode="Externa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1CF76EDE-B57A-13DF-63DA-A9C1C6D6CB45}"/>
              </a:ext>
            </a:extLst>
          </p:cNvPr>
          <p:cNvSpPr txBox="1">
            <a:spLocks/>
          </p:cNvSpPr>
          <p:nvPr/>
        </p:nvSpPr>
        <p:spPr>
          <a:xfrm>
            <a:off x="603315" y="1295401"/>
            <a:ext cx="10953947" cy="719428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370840" marR="5080" indent="-358775" algn="ctr">
              <a:lnSpc>
                <a:spcPts val="4860"/>
              </a:lnSpc>
              <a:spcBef>
                <a:spcPts val="710"/>
              </a:spcBef>
            </a:pPr>
            <a:r>
              <a:rPr lang="en-US" altLang="en-US" dirty="0"/>
              <a:t>Introduction to 8086 Microprocessor (part 1)</a:t>
            </a:r>
            <a:endParaRPr lang="en-US" kern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F3E13B-B39D-8810-BEB7-F0E63E5D4141}"/>
              </a:ext>
            </a:extLst>
          </p:cNvPr>
          <p:cNvSpPr/>
          <p:nvPr/>
        </p:nvSpPr>
        <p:spPr>
          <a:xfrm>
            <a:off x="2790417" y="2171957"/>
            <a:ext cx="66111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Microprocessors and microcomputer-based system design</a:t>
            </a:r>
            <a:endParaRPr lang="en-US" sz="20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r>
              <a:rPr lang="en-US" sz="2000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Mohamad</a:t>
            </a:r>
            <a:r>
              <a:rPr lang="en-US" sz="2000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 </a:t>
            </a:r>
            <a:r>
              <a:rPr lang="en-US" sz="2000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Rafiquzzaman</a:t>
            </a:r>
            <a:endParaRPr lang="en-US" sz="20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&gt;Chapter 3 section 3.1, 3.2, 3.3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programming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Ytha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Chapter 3 section 3.2</a:t>
            </a:r>
          </a:p>
        </p:txBody>
      </p:sp>
      <p:sp>
        <p:nvSpPr>
          <p:cNvPr id="9" name="Subtitle 4">
            <a:extLst>
              <a:ext uri="{FF2B5EF4-FFF2-40B4-BE49-F238E27FC236}">
                <a16:creationId xmlns:a16="http://schemas.microsoft.com/office/drawing/2014/main" id="{F6BE17BA-6280-BBD2-5C9E-D63E0B95E341}"/>
              </a:ext>
            </a:extLst>
          </p:cNvPr>
          <p:cNvSpPr txBox="1">
            <a:spLocks/>
          </p:cNvSpPr>
          <p:nvPr/>
        </p:nvSpPr>
        <p:spPr>
          <a:xfrm>
            <a:off x="2209897" y="4582550"/>
            <a:ext cx="4724400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 u="heavy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Arnab Bhattacharjee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Lecturer, Department of CSE,  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United International</a:t>
            </a:r>
            <a:r>
              <a:rPr kumimoji="0" lang="en-US" sz="1600" b="0" i="0" u="none" strike="noStrike" kern="0" cap="none" spc="1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University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Email id : </a:t>
            </a: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  <a:hlinkClick r:id="rId2"/>
              </a:rPr>
              <a:t>arnab@cse.uiu.ac.bd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heavy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272E999E-ACC3-671C-0C5D-E12E94DF712C}"/>
              </a:ext>
            </a:extLst>
          </p:cNvPr>
          <p:cNvSpPr txBox="1"/>
          <p:nvPr/>
        </p:nvSpPr>
        <p:spPr>
          <a:xfrm>
            <a:off x="6763043" y="5973938"/>
            <a:ext cx="3562546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 Nasif M. Sir, </a:t>
            </a:r>
          </a:p>
          <a:p>
            <a:pPr marL="12700">
              <a:spcBef>
                <a:spcPts val="95"/>
              </a:spcBef>
            </a:pP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Md. Shafqat Talukder Rakin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Sir</a:t>
            </a: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73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37" y="365126"/>
            <a:ext cx="11059925" cy="4822891"/>
          </a:xfrm>
        </p:spPr>
      </p:pic>
      <p:sp>
        <p:nvSpPr>
          <p:cNvPr id="5" name="TextBox 4"/>
          <p:cNvSpPr txBox="1"/>
          <p:nvPr/>
        </p:nvSpPr>
        <p:spPr>
          <a:xfrm>
            <a:off x="1424940" y="5188017"/>
            <a:ext cx="9342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Micro-processor interfacing with memory device (ROM/RAM) and I/0 device (keyboard/printer)</a:t>
            </a:r>
          </a:p>
        </p:txBody>
      </p:sp>
    </p:spTree>
    <p:extLst>
      <p:ext uri="{BB962C8B-B14F-4D97-AF65-F5344CB8AC3E}">
        <p14:creationId xmlns:p14="http://schemas.microsoft.com/office/powerpoint/2010/main" val="44490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9" y="541141"/>
            <a:ext cx="8180046" cy="61803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8294" y="739244"/>
            <a:ext cx="2926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33CC"/>
                </a:solidFill>
              </a:rPr>
              <a:t>inside micro-processor</a:t>
            </a:r>
          </a:p>
        </p:txBody>
      </p:sp>
    </p:spTree>
    <p:extLst>
      <p:ext uri="{BB962C8B-B14F-4D97-AF65-F5344CB8AC3E}">
        <p14:creationId xmlns:p14="http://schemas.microsoft.com/office/powerpoint/2010/main" val="314792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   Microprocessors Family</a:t>
            </a:r>
          </a:p>
        </p:txBody>
      </p: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1111117" y="1024289"/>
            <a:ext cx="10689456" cy="527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Tahoma" panose="020B0604030504040204" pitchFamily="34" charset="0"/>
              </a:rPr>
              <a:t>8085 : 8-bit micro-processor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u="sng" dirty="0">
                <a:solidFill>
                  <a:prstClr val="black"/>
                </a:solidFill>
                <a:latin typeface="Tahoma" panose="020B0604030504040204" pitchFamily="34" charset="0"/>
              </a:rPr>
              <a:t>8086 Family: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Tahoma" panose="020B0604030504040204" pitchFamily="34" charset="0"/>
              </a:rPr>
              <a:t>8086:   First 16-bit processor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Tahoma" panose="020B0604030504040204" pitchFamily="34" charset="0"/>
              </a:rPr>
              <a:t>80186: 16-bit 8086 with peripheral devices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Tahoma" panose="020B0604030504040204" pitchFamily="34" charset="0"/>
              </a:rPr>
              <a:t>80286: Advanced version of 8086 used for multitasking.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Tahoma" panose="020B0604030504040204" pitchFamily="34" charset="0"/>
              </a:rPr>
              <a:t>80386: 32-bit processor architecture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Tahoma" panose="020B0604030504040204" pitchFamily="34" charset="0"/>
              </a:rPr>
              <a:t>80486: 32-bit processor architecture with floating point 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Tahoma" panose="020B0604030504040204" pitchFamily="34" charset="0"/>
              </a:rPr>
              <a:t>           processor(80387) integrated into the chip.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US" altLang="en-US" sz="2200" dirty="0">
              <a:solidFill>
                <a:prstClr val="black"/>
              </a:solidFill>
              <a:latin typeface="Tahoma" panose="020B0604030504040204" pitchFamily="34" charset="0"/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u="sng" dirty="0">
                <a:solidFill>
                  <a:prstClr val="black"/>
                </a:solidFill>
                <a:latin typeface="Tahoma" panose="020B0604030504040204" pitchFamily="34" charset="0"/>
              </a:rPr>
              <a:t>8088 Family: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Tahoma" panose="020B0604030504040204" pitchFamily="34" charset="0"/>
              </a:rPr>
              <a:t>8088: Same as 8086 but 8-bit databus.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Tahoma" panose="020B0604030504040204" pitchFamily="34" charset="0"/>
              </a:rPr>
              <a:t>80188: 8088 with peripheral devices.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18CFE9-C5F5-46F7-BEF6-B43B85640B41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7027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2" descr="C:\Users\X200MA\Desktop\Intel-Celebrates-the-40th-Anniversary-of-the-Microprocessor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110" y="138113"/>
            <a:ext cx="8982075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18CFE9-C5F5-46F7-BEF6-B43B85640B41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10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title"/>
          </p:nvPr>
        </p:nvSpPr>
        <p:spPr>
          <a:xfrm>
            <a:off x="578318" y="7937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8086 Pin Diagram</a:t>
            </a:r>
          </a:p>
        </p:txBody>
      </p:sp>
      <p:pic>
        <p:nvPicPr>
          <p:cNvPr id="71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7605" y="1219200"/>
            <a:ext cx="3163888" cy="5029200"/>
          </a:xfrm>
          <a:noFill/>
        </p:spPr>
      </p:pic>
      <p:pic>
        <p:nvPicPr>
          <p:cNvPr id="7172" name="Picture 4" descr="8086_chipset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219200"/>
            <a:ext cx="7761288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68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543800" cy="868362"/>
          </a:xfrm>
        </p:spPr>
        <p:txBody>
          <a:bodyPr/>
          <a:lstStyle/>
          <a:p>
            <a:pPr eaLnBrk="1" hangingPunct="1"/>
            <a:r>
              <a:rPr lang="en-US" altLang="en-US" dirty="0"/>
              <a:t>   8086 Internal Architecture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18CFE9-C5F5-46F7-BEF6-B43B85640B41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25" y="624950"/>
            <a:ext cx="8754080" cy="61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7585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>
          <a:xfrm>
            <a:off x="939421" y="76201"/>
            <a:ext cx="7467600" cy="762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8086 Features</a:t>
            </a:r>
          </a:p>
        </p:txBody>
      </p:sp>
      <p:sp>
        <p:nvSpPr>
          <p:cNvPr id="15363" name="Rectangle 6"/>
          <p:cNvSpPr>
            <a:spLocks noGrp="1" noChangeArrowheads="1"/>
          </p:cNvSpPr>
          <p:nvPr>
            <p:ph idx="1"/>
          </p:nvPr>
        </p:nvSpPr>
        <p:spPr>
          <a:xfrm>
            <a:off x="939420" y="838201"/>
            <a:ext cx="10238095" cy="536129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800" dirty="0"/>
              <a:t>Operating Clock rates are 5, 8, 10 MHz.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800" dirty="0"/>
              <a:t>16-bit Arithmetic Logic Unit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800" dirty="0"/>
              <a:t>16-bit data bus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800" dirty="0"/>
              <a:t>20-bit address bus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68795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7" y="93412"/>
            <a:ext cx="11382168" cy="674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75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57" y="31407"/>
            <a:ext cx="10746211" cy="682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4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443" y="239998"/>
            <a:ext cx="11270381" cy="1325563"/>
          </a:xfrm>
        </p:spPr>
        <p:txBody>
          <a:bodyPr/>
          <a:lstStyle/>
          <a:p>
            <a:r>
              <a:rPr lang="en-US" sz="4400" dirty="0"/>
              <a:t>Intel 8086 known as 16 bit microprocessor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18CFE9-C5F5-46F7-BEF6-B43B85640B41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6443" y="1255122"/>
            <a:ext cx="1116450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dirty="0"/>
              <a:t>The bit size of a processor is normally defined by it ALU width, which equates to its main working register width. (e.g.: AX, BX, CX, DX). </a:t>
            </a:r>
          </a:p>
          <a:p>
            <a:endParaRPr lang="en-US" sz="2800" dirty="0"/>
          </a:p>
          <a:p>
            <a:r>
              <a:rPr lang="en-US" sz="2800" dirty="0"/>
              <a:t>8086 processor is capable to process the 16 bit data together. It means a data with 16 bit can be processed and can be send to processor in single oscillation. </a:t>
            </a:r>
          </a:p>
        </p:txBody>
      </p:sp>
    </p:spTree>
    <p:extLst>
      <p:ext uri="{BB962C8B-B14F-4D97-AF65-F5344CB8AC3E}">
        <p14:creationId xmlns:p14="http://schemas.microsoft.com/office/powerpoint/2010/main" val="805354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81" y="74889"/>
            <a:ext cx="10515600" cy="1325563"/>
          </a:xfrm>
        </p:spPr>
        <p:txBody>
          <a:bodyPr/>
          <a:lstStyle/>
          <a:p>
            <a:r>
              <a:rPr lang="en-GB" dirty="0"/>
              <a:t>Memory capacity/size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 flipV="1">
            <a:off x="5266393" y="1803020"/>
            <a:ext cx="30708" cy="311168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99059" y="1790395"/>
            <a:ext cx="2538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2400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 20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32726" y="1817203"/>
            <a:ext cx="177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8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9997" y="2319663"/>
            <a:ext cx="25998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1st data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2nd data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 data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4th data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5th data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7417622" y="1817203"/>
            <a:ext cx="30708" cy="311168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40978" y="2443239"/>
            <a:ext cx="2255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bus 16 bit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5297102" y="1817203"/>
            <a:ext cx="2151229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266395" y="4914709"/>
            <a:ext cx="2215691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27301" y="4914709"/>
            <a:ext cx="158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3110" y="2319642"/>
            <a:ext cx="334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00000000000000000000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3110" y="2804188"/>
            <a:ext cx="334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00000000000000000001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464" y="3322340"/>
            <a:ext cx="334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00000000000000000010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3109" y="3934892"/>
            <a:ext cx="334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00000000000000000011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3818" y="4437861"/>
            <a:ext cx="334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00000000000000000100</a:t>
            </a:r>
          </a:p>
        </p:txBody>
      </p:sp>
    </p:spTree>
    <p:extLst>
      <p:ext uri="{BB962C8B-B14F-4D97-AF65-F5344CB8AC3E}">
        <p14:creationId xmlns:p14="http://schemas.microsoft.com/office/powerpoint/2010/main" val="479748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13" y="135549"/>
            <a:ext cx="10515600" cy="799531"/>
          </a:xfrm>
        </p:spPr>
        <p:txBody>
          <a:bodyPr/>
          <a:lstStyle/>
          <a:p>
            <a:r>
              <a:rPr lang="en-US" dirty="0"/>
              <a:t>8086 capacity/size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013" y="1424539"/>
            <a:ext cx="11261557" cy="4752424"/>
          </a:xfrm>
        </p:spPr>
        <p:txBody>
          <a:bodyPr/>
          <a:lstStyle/>
          <a:p>
            <a:r>
              <a:rPr lang="en-US" sz="2800" dirty="0"/>
              <a:t>Memory addressing capacity depends upon number of address lines in CPU</a:t>
            </a:r>
          </a:p>
          <a:p>
            <a:r>
              <a:rPr lang="en-US" sz="2800" dirty="0">
                <a:solidFill>
                  <a:srgbClr val="0000FF"/>
                </a:solidFill>
              </a:rPr>
              <a:t>Set</a:t>
            </a:r>
            <a:r>
              <a:rPr lang="en-US" sz="2800" dirty="0"/>
              <a:t> of all possible addresses that can be generated by CPU is called </a:t>
            </a:r>
            <a:r>
              <a:rPr lang="en-US" sz="2800" dirty="0">
                <a:solidFill>
                  <a:srgbClr val="0000FF"/>
                </a:solidFill>
              </a:rPr>
              <a:t>address space</a:t>
            </a:r>
            <a:r>
              <a:rPr lang="en-US" sz="2800" dirty="0"/>
              <a:t>. CPU can directly address all the addresses of it’s </a:t>
            </a:r>
            <a:r>
              <a:rPr lang="en-US" sz="2800" dirty="0">
                <a:solidFill>
                  <a:srgbClr val="0000FF"/>
                </a:solidFill>
              </a:rPr>
              <a:t>address space.</a:t>
            </a:r>
          </a:p>
          <a:p>
            <a:r>
              <a:rPr lang="en-US" sz="2800" dirty="0" err="1"/>
              <a:t>Eg</a:t>
            </a:r>
            <a:r>
              <a:rPr lang="en-US" sz="2800" dirty="0"/>
              <a:t>: 8086 </a:t>
            </a:r>
            <a:r>
              <a:rPr lang="en-US" sz="2800" dirty="0" err="1"/>
              <a:t>intel</a:t>
            </a:r>
            <a:r>
              <a:rPr lang="en-US" sz="2800" dirty="0"/>
              <a:t> microprocessor has 20 address lines and can address </a:t>
            </a:r>
            <a:r>
              <a:rPr lang="en-US" sz="2800" u="sng" dirty="0"/>
              <a:t>1MB</a:t>
            </a:r>
            <a:r>
              <a:rPr lang="en-US" sz="2800" dirty="0"/>
              <a:t> of memory directly using 20 bit address bus. </a:t>
            </a:r>
          </a:p>
          <a:p>
            <a:r>
              <a:rPr lang="en-US" sz="2800" dirty="0"/>
              <a:t>Thus 1MB is the address space of INTEL 8086 microprocessor. This is also it’s memory size or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13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074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815" y="51282"/>
            <a:ext cx="10515600" cy="905409"/>
          </a:xfrm>
        </p:spPr>
        <p:txBody>
          <a:bodyPr/>
          <a:lstStyle/>
          <a:p>
            <a:r>
              <a:rPr lang="en-US" dirty="0"/>
              <a:t>8086 capacity/size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194" y="1134343"/>
            <a:ext cx="10515600" cy="4351338"/>
          </a:xfrm>
        </p:spPr>
        <p:txBody>
          <a:bodyPr/>
          <a:lstStyle/>
          <a:p>
            <a:r>
              <a:rPr lang="en-US" altLang="en-US" sz="3600" dirty="0"/>
              <a:t>2</a:t>
            </a:r>
            <a:r>
              <a:rPr lang="en-US" altLang="en-US" sz="3600" baseline="30000" dirty="0"/>
              <a:t>20 = 1048576 no. of memory locations</a:t>
            </a:r>
          </a:p>
          <a:p>
            <a:r>
              <a:rPr lang="en-US" altLang="en-US" sz="3600" baseline="30000" dirty="0"/>
              <a:t>Each memory location has 8 bit data size</a:t>
            </a:r>
          </a:p>
          <a:p>
            <a:r>
              <a:rPr lang="en-US" altLang="en-US" sz="3600" baseline="30000" dirty="0"/>
              <a:t>Total memory size: 1048576 * 8 bit=8388608 bit = 1048576 byte = 1024 Kbyte = 1Mbyte</a:t>
            </a:r>
          </a:p>
          <a:p>
            <a:endParaRPr lang="en-US" altLang="en-US" sz="3600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14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823" y="134121"/>
            <a:ext cx="11324122" cy="703278"/>
          </a:xfrm>
        </p:spPr>
        <p:txBody>
          <a:bodyPr/>
          <a:lstStyle/>
          <a:p>
            <a:r>
              <a:rPr lang="en-US" sz="2800" dirty="0"/>
              <a:t>Difference between micro-processor 8085 and 8086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15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63" y="723170"/>
            <a:ext cx="10024035" cy="613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56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16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32" y="604621"/>
            <a:ext cx="8329474" cy="60206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49706" y="1930184"/>
            <a:ext cx="2733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Intel 8085 internal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1079537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452</Words>
  <Application>Microsoft Office PowerPoint</Application>
  <PresentationFormat>Widescreen</PresentationFormat>
  <Paragraphs>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Carlito</vt:lpstr>
      <vt:lpstr>Liberation Serif</vt:lpstr>
      <vt:lpstr>Tahoma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Microprocessors Family</vt:lpstr>
      <vt:lpstr>PowerPoint Presentation</vt:lpstr>
      <vt:lpstr>8086 Pin Diagram</vt:lpstr>
      <vt:lpstr>   8086 Internal Architecture</vt:lpstr>
      <vt:lpstr>8086 Features</vt:lpstr>
      <vt:lpstr>PowerPoint Presentation</vt:lpstr>
      <vt:lpstr>PowerPoint Presentation</vt:lpstr>
      <vt:lpstr>Intel 8086 known as 16 bit microprocessor </vt:lpstr>
      <vt:lpstr>Memory capacity/size</vt:lpstr>
      <vt:lpstr>8086 capacity/size</vt:lpstr>
      <vt:lpstr>8086 capacity/size</vt:lpstr>
      <vt:lpstr>Difference between micro-processor 8085 and 8086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8086 Microprocessor</dc:title>
  <dc:creator>Microsoft</dc:creator>
  <cp:lastModifiedBy>1905065 - Arnab Bhattacharjee</cp:lastModifiedBy>
  <cp:revision>67</cp:revision>
  <dcterms:created xsi:type="dcterms:W3CDTF">2016-06-06T19:34:12Z</dcterms:created>
  <dcterms:modified xsi:type="dcterms:W3CDTF">2025-11-09T11:53:25Z</dcterms:modified>
</cp:coreProperties>
</file>