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7542" y="254584"/>
            <a:ext cx="772891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108" y="126238"/>
            <a:ext cx="707326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028" y="1803273"/>
            <a:ext cx="8387943" cy="3729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7186" y="6420676"/>
            <a:ext cx="234950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b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7F8797F-BB93-C788-B006-66A0856B9DE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04654" y="4343400"/>
            <a:ext cx="4724400" cy="141577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Arnab Bhattacharjee</a:t>
            </a:r>
            <a:endParaRPr lang="en-US" sz="1600" u="none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Lecturer, Department of CSE,  </a:t>
            </a:r>
          </a:p>
          <a:p>
            <a:pPr marL="12700" marR="5080">
              <a:lnSpc>
                <a:spcPct val="100000"/>
              </a:lnSpc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United International</a:t>
            </a:r>
            <a:r>
              <a:rPr lang="en-US" sz="1600" u="none" spc="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University</a:t>
            </a:r>
          </a:p>
          <a:p>
            <a:pPr marL="12700" marR="5080">
              <a:lnSpc>
                <a:spcPct val="100000"/>
              </a:lnSpc>
            </a:pP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</a:rPr>
              <a:t>Email id : </a:t>
            </a:r>
            <a:r>
              <a:rPr lang="en-US" sz="1600" u="none" spc="-5" dirty="0">
                <a:solidFill>
                  <a:srgbClr val="585858"/>
                </a:solidFill>
                <a:latin typeface="Arial"/>
                <a:cs typeface="Arial"/>
                <a:hlinkClick r:id="rId2"/>
              </a:rPr>
              <a:t>arnab@cse.uiu.ac.bd</a:t>
            </a:r>
            <a:endParaRPr lang="en-US" sz="1600" u="none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67C7C251-28BA-B1C1-2698-414C51F280A9}"/>
              </a:ext>
            </a:extLst>
          </p:cNvPr>
          <p:cNvSpPr txBox="1"/>
          <p:nvPr/>
        </p:nvSpPr>
        <p:spPr>
          <a:xfrm>
            <a:off x="5257800" y="5734788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latin typeface="Arial"/>
              <a:cs typeface="Arial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CF76EDE-B57A-13DF-63DA-A9C1C6D6CB45}"/>
              </a:ext>
            </a:extLst>
          </p:cNvPr>
          <p:cNvSpPr txBox="1">
            <a:spLocks/>
          </p:cNvSpPr>
          <p:nvPr/>
        </p:nvSpPr>
        <p:spPr>
          <a:xfrm>
            <a:off x="931214" y="1295400"/>
            <a:ext cx="7281572" cy="134780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370840" marR="5080" indent="-358775" algn="ctr">
              <a:lnSpc>
                <a:spcPts val="4860"/>
              </a:lnSpc>
              <a:spcBef>
                <a:spcPts val="710"/>
              </a:spcBef>
            </a:pPr>
            <a:r>
              <a:rPr lang="en-US" sz="4500" kern="0" spc="-430" dirty="0">
                <a:solidFill>
                  <a:srgbClr val="000000"/>
                </a:solidFill>
              </a:rPr>
              <a:t>MIC</a:t>
            </a:r>
            <a:r>
              <a:rPr lang="en-US" sz="4500" kern="0" spc="-545" dirty="0">
                <a:solidFill>
                  <a:srgbClr val="000000"/>
                </a:solidFill>
              </a:rPr>
              <a:t>R</a:t>
            </a:r>
            <a:r>
              <a:rPr lang="en-US" sz="4500" kern="0" spc="-730" dirty="0">
                <a:solidFill>
                  <a:srgbClr val="000000"/>
                </a:solidFill>
              </a:rPr>
              <a:t>O</a:t>
            </a:r>
            <a:r>
              <a:rPr lang="en-US" sz="4500" kern="0" spc="-725" dirty="0">
                <a:solidFill>
                  <a:srgbClr val="000000"/>
                </a:solidFill>
              </a:rPr>
              <a:t>C</a:t>
            </a:r>
            <a:r>
              <a:rPr lang="en-US" sz="4500" kern="0" spc="-415" dirty="0">
                <a:solidFill>
                  <a:srgbClr val="000000"/>
                </a:solidFill>
              </a:rPr>
              <a:t>OMP</a:t>
            </a:r>
            <a:r>
              <a:rPr lang="en-US" sz="4500" kern="0" spc="-405" dirty="0">
                <a:solidFill>
                  <a:srgbClr val="000000"/>
                </a:solidFill>
              </a:rPr>
              <a:t>U</a:t>
            </a:r>
            <a:r>
              <a:rPr lang="en-US" sz="4500" kern="0" spc="-575" dirty="0">
                <a:solidFill>
                  <a:srgbClr val="000000"/>
                </a:solidFill>
              </a:rPr>
              <a:t>TER</a:t>
            </a:r>
            <a:br>
              <a:rPr lang="en-US" sz="4500" kern="0" spc="-575" dirty="0">
                <a:solidFill>
                  <a:srgbClr val="000000"/>
                </a:solidFill>
              </a:rPr>
            </a:br>
            <a:r>
              <a:rPr lang="en-US" sz="4500" kern="0" spc="-445" dirty="0">
                <a:solidFill>
                  <a:srgbClr val="000000"/>
                </a:solidFill>
              </a:rPr>
              <a:t>INPUT/OUTPUT</a:t>
            </a:r>
            <a:endParaRPr lang="en-US" sz="4500" kern="0" dirty="0"/>
          </a:p>
        </p:txBody>
      </p:sp>
    </p:spTree>
    <p:extLst>
      <p:ext uri="{BB962C8B-B14F-4D97-AF65-F5344CB8AC3E}">
        <p14:creationId xmlns:p14="http://schemas.microsoft.com/office/powerpoint/2010/main" val="117873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06434" y="6420676"/>
            <a:ext cx="156210" cy="22034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z="900" spc="-5" dirty="0">
                <a:latin typeface="Verdana"/>
                <a:cs typeface="Verdana"/>
              </a:rPr>
              <a:t>2</a:t>
            </a:fld>
            <a:endParaRPr sz="900"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290576"/>
            <a:ext cx="1806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75" dirty="0"/>
              <a:t>Outline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98068" y="1392402"/>
            <a:ext cx="5549265" cy="27266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675640" indent="-663575">
              <a:lnSpc>
                <a:spcPct val="100000"/>
              </a:lnSpc>
              <a:spcBef>
                <a:spcPts val="505"/>
              </a:spcBef>
              <a:buAutoNum type="romanUcPeriod"/>
              <a:tabLst>
                <a:tab pos="675640" algn="l"/>
                <a:tab pos="676275" algn="l"/>
              </a:tabLst>
            </a:pPr>
            <a:r>
              <a:rPr sz="3200" spc="-10" dirty="0">
                <a:latin typeface="Carlito"/>
                <a:cs typeface="Carlito"/>
              </a:rPr>
              <a:t>Introduction</a:t>
            </a:r>
            <a:endParaRPr sz="3200">
              <a:latin typeface="Carlito"/>
              <a:cs typeface="Carlito"/>
            </a:endParaRPr>
          </a:p>
          <a:p>
            <a:pPr marL="675640" indent="-663575">
              <a:lnSpc>
                <a:spcPct val="100000"/>
              </a:lnSpc>
              <a:spcBef>
                <a:spcPts val="409"/>
              </a:spcBef>
              <a:buAutoNum type="romanUcPeriod"/>
              <a:tabLst>
                <a:tab pos="675640" algn="l"/>
                <a:tab pos="676275" algn="l"/>
              </a:tabLst>
            </a:pPr>
            <a:r>
              <a:rPr sz="3200" spc="-10" dirty="0">
                <a:latin typeface="Carlito"/>
                <a:cs typeface="Carlito"/>
              </a:rPr>
              <a:t>Programmed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I/O</a:t>
            </a:r>
            <a:endParaRPr sz="3200">
              <a:latin typeface="Carlito"/>
              <a:cs typeface="Carlito"/>
            </a:endParaRPr>
          </a:p>
          <a:p>
            <a:pPr marL="675640" indent="-663575">
              <a:lnSpc>
                <a:spcPct val="100000"/>
              </a:lnSpc>
              <a:spcBef>
                <a:spcPts val="420"/>
              </a:spcBef>
              <a:buAutoNum type="romanUcPeriod"/>
              <a:tabLst>
                <a:tab pos="675640" algn="l"/>
                <a:tab pos="676275" algn="l"/>
              </a:tabLst>
            </a:pPr>
            <a:r>
              <a:rPr sz="3200" spc="-10" dirty="0">
                <a:latin typeface="Carlito"/>
                <a:cs typeface="Carlito"/>
              </a:rPr>
              <a:t>Interrupt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I/O</a:t>
            </a:r>
            <a:endParaRPr sz="3200">
              <a:latin typeface="Carlito"/>
              <a:cs typeface="Carlito"/>
            </a:endParaRPr>
          </a:p>
          <a:p>
            <a:pPr marL="675640" indent="-663575">
              <a:lnSpc>
                <a:spcPct val="100000"/>
              </a:lnSpc>
              <a:spcBef>
                <a:spcPts val="420"/>
              </a:spcBef>
              <a:buAutoNum type="romanUcPeriod"/>
              <a:tabLst>
                <a:tab pos="675640" algn="l"/>
                <a:tab pos="676275" algn="l"/>
              </a:tabLst>
            </a:pPr>
            <a:r>
              <a:rPr sz="3200" spc="-10" dirty="0">
                <a:latin typeface="Carlito"/>
                <a:cs typeface="Carlito"/>
              </a:rPr>
              <a:t>Direct </a:t>
            </a:r>
            <a:r>
              <a:rPr sz="3200" dirty="0">
                <a:latin typeface="Carlito"/>
                <a:cs typeface="Carlito"/>
              </a:rPr>
              <a:t>Memory Access</a:t>
            </a:r>
            <a:r>
              <a:rPr sz="3200" spc="-8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(DMA)</a:t>
            </a:r>
            <a:endParaRPr sz="3200">
              <a:latin typeface="Carlito"/>
              <a:cs typeface="Carlito"/>
            </a:endParaRPr>
          </a:p>
          <a:p>
            <a:pPr marL="675640" indent="-663575">
              <a:lnSpc>
                <a:spcPct val="100000"/>
              </a:lnSpc>
              <a:spcBef>
                <a:spcPts val="409"/>
              </a:spcBef>
              <a:buAutoNum type="romanUcPeriod"/>
              <a:tabLst>
                <a:tab pos="675640" algn="l"/>
                <a:tab pos="676275" algn="l"/>
              </a:tabLst>
            </a:pPr>
            <a:r>
              <a:rPr sz="3200" spc="-5" dirty="0">
                <a:latin typeface="Carlito"/>
                <a:cs typeface="Carlito"/>
              </a:rPr>
              <a:t>Summary of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I/O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06434" y="6420676"/>
            <a:ext cx="156210" cy="22034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z="900" spc="-5" dirty="0">
                <a:latin typeface="Verdana"/>
                <a:cs typeface="Verdana"/>
              </a:rPr>
              <a:t>3</a:t>
            </a:fld>
            <a:endParaRPr sz="900"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917" y="257047"/>
            <a:ext cx="2766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291" y="1155014"/>
            <a:ext cx="7971790" cy="37903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84785" marR="5080" indent="-17272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185420" algn="l"/>
              </a:tabLst>
            </a:pPr>
            <a:r>
              <a:rPr sz="3200" spc="-5" dirty="0">
                <a:latin typeface="Carlito"/>
                <a:cs typeface="Carlito"/>
              </a:rPr>
              <a:t>The technique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spc="-25" dirty="0">
                <a:latin typeface="Carlito"/>
                <a:cs typeface="Carlito"/>
              </a:rPr>
              <a:t>transfer </a:t>
            </a:r>
            <a:r>
              <a:rPr sz="3200" spc="-5" dirty="0">
                <a:latin typeface="Carlito"/>
                <a:cs typeface="Carlito"/>
              </a:rPr>
              <a:t>between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15" dirty="0">
                <a:latin typeface="Carlito"/>
                <a:cs typeface="Carlito"/>
              </a:rPr>
              <a:t>microcomputer </a:t>
            </a:r>
            <a:r>
              <a:rPr sz="3200" dirty="0">
                <a:latin typeface="Carlito"/>
                <a:cs typeface="Carlito"/>
              </a:rPr>
              <a:t>and an </a:t>
            </a:r>
            <a:r>
              <a:rPr sz="3200" spc="-10" dirty="0">
                <a:latin typeface="Carlito"/>
                <a:cs typeface="Carlito"/>
              </a:rPr>
              <a:t>external </a:t>
            </a:r>
            <a:r>
              <a:rPr sz="3200" spc="-5" dirty="0">
                <a:latin typeface="Carlito"/>
                <a:cs typeface="Carlito"/>
              </a:rPr>
              <a:t>device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called </a:t>
            </a:r>
            <a:r>
              <a:rPr sz="3200" spc="-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200" i="1" spc="-10" dirty="0">
                <a:solidFill>
                  <a:srgbClr val="C00000"/>
                </a:solidFill>
                <a:latin typeface="Carlito"/>
                <a:cs typeface="Carlito"/>
              </a:rPr>
              <a:t>input/output</a:t>
            </a:r>
            <a:r>
              <a:rPr sz="3200" i="1" spc="3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200" i="1" spc="-5" dirty="0">
                <a:solidFill>
                  <a:srgbClr val="C00000"/>
                </a:solidFill>
                <a:latin typeface="Carlito"/>
                <a:cs typeface="Carlito"/>
              </a:rPr>
              <a:t>(I/O).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•"/>
            </a:pPr>
            <a:endParaRPr sz="4100">
              <a:latin typeface="Carlito"/>
              <a:cs typeface="Carlito"/>
            </a:endParaRPr>
          </a:p>
          <a:p>
            <a:pPr marL="184785" marR="67945" indent="-172720">
              <a:lnSpc>
                <a:spcPts val="3460"/>
              </a:lnSpc>
              <a:buFont typeface="Arial"/>
              <a:buChar char="•"/>
              <a:tabLst>
                <a:tab pos="185420" algn="l"/>
              </a:tabLst>
            </a:pPr>
            <a:r>
              <a:rPr sz="3200" b="1" i="1" spc="-10" dirty="0">
                <a:solidFill>
                  <a:srgbClr val="C00000"/>
                </a:solidFill>
                <a:latin typeface="Carlito"/>
                <a:cs typeface="Carlito"/>
              </a:rPr>
              <a:t>Peripherals </a:t>
            </a:r>
            <a:r>
              <a:rPr sz="3200" i="1" spc="-5" dirty="0">
                <a:latin typeface="Carlito"/>
                <a:cs typeface="Carlito"/>
              </a:rPr>
              <a:t>are </a:t>
            </a:r>
            <a:r>
              <a:rPr sz="3200" dirty="0">
                <a:latin typeface="Carlito"/>
                <a:cs typeface="Carlito"/>
              </a:rPr>
              <a:t>the I/O </a:t>
            </a:r>
            <a:r>
              <a:rPr sz="3200" spc="-5" dirty="0">
                <a:latin typeface="Carlito"/>
                <a:cs typeface="Carlito"/>
              </a:rPr>
              <a:t>devices </a:t>
            </a:r>
            <a:r>
              <a:rPr sz="3200" spc="-10" dirty="0">
                <a:latin typeface="Carlito"/>
                <a:cs typeface="Carlito"/>
              </a:rPr>
              <a:t>that connected 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microcomputer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provide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15" dirty="0">
                <a:latin typeface="Carlito"/>
                <a:cs typeface="Carlito"/>
              </a:rPr>
              <a:t>efficient  </a:t>
            </a:r>
            <a:r>
              <a:rPr sz="3200" dirty="0">
                <a:latin typeface="Carlito"/>
                <a:cs typeface="Carlito"/>
              </a:rPr>
              <a:t>means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communication between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microcomputer </a:t>
            </a:r>
            <a:r>
              <a:rPr sz="3200" spc="-5" dirty="0">
                <a:latin typeface="Carlito"/>
                <a:cs typeface="Carlito"/>
              </a:rPr>
              <a:t>and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outside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world.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59" y="141731"/>
            <a:ext cx="8641080" cy="655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6434" y="6420676"/>
            <a:ext cx="156210" cy="22034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z="900" spc="-5" dirty="0">
                <a:latin typeface="Verdana"/>
                <a:cs typeface="Verdana"/>
              </a:rPr>
              <a:t>4</a:t>
            </a:fld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8684" y="131063"/>
            <a:ext cx="8866632" cy="6249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6434" y="6420676"/>
            <a:ext cx="156210" cy="22034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z="900" spc="-5" dirty="0">
                <a:latin typeface="Verdana"/>
                <a:cs typeface="Verdana"/>
              </a:rPr>
              <a:t>5</a:t>
            </a:fld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84486" y="1715119"/>
            <a:ext cx="6488865" cy="3589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868" y="365759"/>
            <a:ext cx="7516368" cy="4968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75635" y="6196076"/>
            <a:ext cx="2837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Figure. </a:t>
            </a:r>
            <a:r>
              <a:rPr sz="1800" spc="-5" dirty="0">
                <a:latin typeface="Carlito"/>
                <a:cs typeface="Carlito"/>
              </a:rPr>
              <a:t>Basic </a:t>
            </a:r>
            <a:r>
              <a:rPr sz="1800" spc="-10" dirty="0">
                <a:latin typeface="Carlito"/>
                <a:cs typeface="Carlito"/>
              </a:rPr>
              <a:t>computer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system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124" y="858164"/>
            <a:ext cx="8652425" cy="4692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227186" y="6420676"/>
            <a:ext cx="235585" cy="22034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latin typeface="Verdana"/>
                <a:cs typeface="Verdana"/>
              </a:rPr>
              <a:t>9</a:t>
            </a:fld>
            <a:endParaRPr sz="10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30200" y="1155014"/>
            <a:ext cx="8253730" cy="487108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84785" marR="255904" indent="-172720">
              <a:lnSpc>
                <a:spcPts val="3460"/>
              </a:lnSpc>
              <a:spcBef>
                <a:spcPts val="535"/>
              </a:spcBef>
              <a:buSzPct val="96875"/>
              <a:buFont typeface="Wingdings"/>
              <a:buChar char=""/>
              <a:tabLst>
                <a:tab pos="37655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characteristics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I/O devices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normally  </a:t>
            </a:r>
            <a:r>
              <a:rPr sz="3200" spc="-25" dirty="0">
                <a:latin typeface="Carlito"/>
                <a:cs typeface="Carlito"/>
              </a:rPr>
              <a:t>different </a:t>
            </a:r>
            <a:r>
              <a:rPr sz="3200" spc="-15" dirty="0">
                <a:latin typeface="Carlito"/>
                <a:cs typeface="Carlito"/>
              </a:rPr>
              <a:t>from </a:t>
            </a:r>
            <a:r>
              <a:rPr sz="3200" dirty="0">
                <a:latin typeface="Carlito"/>
                <a:cs typeface="Carlito"/>
              </a:rPr>
              <a:t>those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microcomputer </a:t>
            </a:r>
            <a:r>
              <a:rPr sz="3200" spc="-30" dirty="0">
                <a:latin typeface="Carlito"/>
                <a:cs typeface="Carlito"/>
              </a:rPr>
              <a:t>like  </a:t>
            </a:r>
            <a:r>
              <a:rPr sz="3200" spc="-5" dirty="0">
                <a:latin typeface="Carlito"/>
                <a:cs typeface="Carlito"/>
              </a:rPr>
              <a:t>(speed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0" dirty="0">
                <a:latin typeface="Carlito"/>
                <a:cs typeface="Carlito"/>
              </a:rPr>
              <a:t>word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length)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"/>
            </a:pPr>
            <a:endParaRPr sz="4100">
              <a:latin typeface="Carlito"/>
              <a:cs typeface="Carlito"/>
            </a:endParaRPr>
          </a:p>
          <a:p>
            <a:pPr marL="184785" marR="246379" indent="-172720">
              <a:lnSpc>
                <a:spcPts val="3460"/>
              </a:lnSpc>
              <a:buSzPct val="96875"/>
              <a:buFont typeface="Wingdings"/>
              <a:buChar char=""/>
              <a:tabLst>
                <a:tab pos="376555" algn="l"/>
              </a:tabLst>
            </a:pPr>
            <a:r>
              <a:rPr sz="3200" spc="-15" dirty="0">
                <a:latin typeface="Carlito"/>
                <a:cs typeface="Carlito"/>
              </a:rPr>
              <a:t>we </a:t>
            </a:r>
            <a:r>
              <a:rPr sz="3200" spc="-5" dirty="0">
                <a:latin typeface="Carlito"/>
                <a:cs typeface="Carlito"/>
              </a:rPr>
              <a:t>need </a:t>
            </a:r>
            <a:r>
              <a:rPr sz="3200" spc="-15" dirty="0">
                <a:solidFill>
                  <a:srgbClr val="FF0000"/>
                </a:solidFill>
                <a:latin typeface="Carlito"/>
                <a:cs typeface="Carlito"/>
              </a:rPr>
              <a:t>interface </a:t>
            </a:r>
            <a:r>
              <a:rPr sz="3200" spc="-20" dirty="0">
                <a:solidFill>
                  <a:srgbClr val="FF0000"/>
                </a:solidFill>
                <a:latin typeface="Carlito"/>
                <a:cs typeface="Carlito"/>
              </a:rPr>
              <a:t>hardware </a:t>
            </a:r>
            <a:r>
              <a:rPr sz="3200" spc="-10" dirty="0">
                <a:latin typeface="Carlito"/>
                <a:cs typeface="Carlito"/>
              </a:rPr>
              <a:t>circuitry between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microcomputer </a:t>
            </a:r>
            <a:r>
              <a:rPr sz="3200" dirty="0">
                <a:latin typeface="Carlito"/>
                <a:cs typeface="Carlito"/>
              </a:rPr>
              <a:t>and I/O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devices.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"/>
            </a:pPr>
            <a:endParaRPr sz="4100">
              <a:latin typeface="Carlito"/>
              <a:cs typeface="Carlito"/>
            </a:endParaRPr>
          </a:p>
          <a:p>
            <a:pPr marL="184785" marR="5080" indent="-172720">
              <a:lnSpc>
                <a:spcPts val="3460"/>
              </a:lnSpc>
              <a:spcBef>
                <a:spcPts val="5"/>
              </a:spcBef>
              <a:buSzPct val="96875"/>
              <a:buFont typeface="Wingdings"/>
              <a:buChar char=""/>
              <a:tabLst>
                <a:tab pos="376555" algn="l"/>
              </a:tabLst>
            </a:pPr>
            <a:r>
              <a:rPr sz="3200" spc="-15" dirty="0">
                <a:solidFill>
                  <a:srgbClr val="FF0000"/>
                </a:solidFill>
                <a:latin typeface="Carlito"/>
                <a:cs typeface="Carlito"/>
              </a:rPr>
              <a:t>Interface </a:t>
            </a:r>
            <a:r>
              <a:rPr sz="3200" spc="-20" dirty="0">
                <a:solidFill>
                  <a:srgbClr val="FF0000"/>
                </a:solidFill>
                <a:latin typeface="Carlito"/>
                <a:cs typeface="Carlito"/>
              </a:rPr>
              <a:t>hardware </a:t>
            </a:r>
            <a:r>
              <a:rPr sz="3200" spc="-15" dirty="0">
                <a:latin typeface="Carlito"/>
                <a:cs typeface="Carlito"/>
              </a:rPr>
              <a:t>provide </a:t>
            </a:r>
            <a:r>
              <a:rPr sz="3200" dirty="0">
                <a:latin typeface="Carlito"/>
                <a:cs typeface="Carlito"/>
              </a:rPr>
              <a:t>all </a:t>
            </a:r>
            <a:r>
              <a:rPr sz="3200" spc="-5" dirty="0">
                <a:latin typeface="Carlito"/>
                <a:cs typeface="Carlito"/>
              </a:rPr>
              <a:t>input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output  </a:t>
            </a:r>
            <a:r>
              <a:rPr sz="3200" spc="-30" dirty="0">
                <a:latin typeface="Carlito"/>
                <a:cs typeface="Carlito"/>
              </a:rPr>
              <a:t>transfers </a:t>
            </a:r>
            <a:r>
              <a:rPr sz="3200" spc="-5" dirty="0">
                <a:latin typeface="Carlito"/>
                <a:cs typeface="Carlito"/>
              </a:rPr>
              <a:t>between the </a:t>
            </a:r>
            <a:r>
              <a:rPr sz="3200" spc="-10" dirty="0">
                <a:latin typeface="Carlito"/>
                <a:cs typeface="Carlito"/>
              </a:rPr>
              <a:t>microcomputer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10" dirty="0">
                <a:latin typeface="Carlito"/>
                <a:cs typeface="Carlito"/>
              </a:rPr>
              <a:t>peripherals.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9747" y="257047"/>
            <a:ext cx="2766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Introduction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227186" y="6420676"/>
            <a:ext cx="235585" cy="22034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latin typeface="Verdana"/>
                <a:cs typeface="Verdana"/>
              </a:rPr>
              <a:t>10</a:t>
            </a:fld>
            <a:endParaRPr sz="10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75005" y="975436"/>
            <a:ext cx="8317865" cy="25755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three </a:t>
            </a:r>
            <a:r>
              <a:rPr sz="3200" spc="-35" dirty="0">
                <a:latin typeface="Carlito"/>
                <a:cs typeface="Carlito"/>
              </a:rPr>
              <a:t>ways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transferring data </a:t>
            </a:r>
            <a:r>
              <a:rPr sz="3200" spc="-10" dirty="0">
                <a:latin typeface="Carlito"/>
                <a:cs typeface="Carlito"/>
              </a:rPr>
              <a:t>between 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microcomputer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20" dirty="0">
                <a:latin typeface="Carlito"/>
                <a:cs typeface="Carlito"/>
              </a:rPr>
              <a:t>physical </a:t>
            </a:r>
            <a:r>
              <a:rPr sz="3200" dirty="0">
                <a:latin typeface="Carlito"/>
                <a:cs typeface="Carlito"/>
              </a:rPr>
              <a:t>I/O</a:t>
            </a:r>
            <a:r>
              <a:rPr sz="3200" spc="5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devices:</a:t>
            </a:r>
            <a:endParaRPr sz="3200">
              <a:latin typeface="Carlito"/>
              <a:cs typeface="Carlito"/>
            </a:endParaRPr>
          </a:p>
          <a:p>
            <a:pPr marL="635635" indent="-514350">
              <a:lnSpc>
                <a:spcPct val="100000"/>
              </a:lnSpc>
              <a:spcBef>
                <a:spcPts val="355"/>
              </a:spcBef>
              <a:buAutoNum type="alphaUcPeriod"/>
              <a:tabLst>
                <a:tab pos="635635" algn="l"/>
                <a:tab pos="636270" algn="l"/>
              </a:tabLst>
            </a:pPr>
            <a:r>
              <a:rPr sz="3200" spc="-10" dirty="0">
                <a:latin typeface="Carlito"/>
                <a:cs typeface="Carlito"/>
              </a:rPr>
              <a:t>Programmed</a:t>
            </a:r>
            <a:r>
              <a:rPr sz="3200" spc="-3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I/O,</a:t>
            </a:r>
            <a:endParaRPr sz="3200">
              <a:latin typeface="Carlito"/>
              <a:cs typeface="Carlito"/>
            </a:endParaRPr>
          </a:p>
          <a:p>
            <a:pPr marL="635635" indent="-514350">
              <a:lnSpc>
                <a:spcPct val="100000"/>
              </a:lnSpc>
              <a:spcBef>
                <a:spcPts val="420"/>
              </a:spcBef>
              <a:buAutoNum type="alphaUcPeriod"/>
              <a:tabLst>
                <a:tab pos="635635" algn="l"/>
                <a:tab pos="636270" algn="l"/>
                <a:tab pos="4072254" algn="l"/>
              </a:tabLst>
            </a:pPr>
            <a:r>
              <a:rPr sz="3200" spc="-10" dirty="0">
                <a:latin typeface="Carlito"/>
                <a:cs typeface="Carlito"/>
              </a:rPr>
              <a:t>Interrupt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driven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I/O	and</a:t>
            </a:r>
            <a:endParaRPr sz="3200">
              <a:latin typeface="Carlito"/>
              <a:cs typeface="Carlito"/>
            </a:endParaRPr>
          </a:p>
          <a:p>
            <a:pPr marL="635635" indent="-514350">
              <a:lnSpc>
                <a:spcPct val="100000"/>
              </a:lnSpc>
              <a:spcBef>
                <a:spcPts val="425"/>
              </a:spcBef>
              <a:buAutoNum type="alphaUcPeriod"/>
              <a:tabLst>
                <a:tab pos="635635" algn="l"/>
                <a:tab pos="636270" algn="l"/>
              </a:tabLst>
            </a:pPr>
            <a:r>
              <a:rPr sz="3200" spc="-10" dirty="0">
                <a:latin typeface="Carlito"/>
                <a:cs typeface="Carlito"/>
              </a:rPr>
              <a:t>Direct </a:t>
            </a:r>
            <a:r>
              <a:rPr sz="3200" dirty="0">
                <a:latin typeface="Carlito"/>
                <a:cs typeface="Carlito"/>
              </a:rPr>
              <a:t>memory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access.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2795" y="257047"/>
            <a:ext cx="2766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Introduction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83067" y="645576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2806" y="576872"/>
            <a:ext cx="7866779" cy="56951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6801"/>
            <a:ext cx="8403590" cy="142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>
              <a:lnSpc>
                <a:spcPts val="5115"/>
              </a:lnSpc>
              <a:spcBef>
                <a:spcPts val="100"/>
              </a:spcBef>
            </a:pPr>
            <a:r>
              <a:rPr spc="-125" dirty="0"/>
              <a:t>Introduction</a:t>
            </a:r>
          </a:p>
          <a:p>
            <a:pPr marL="12700" marR="5080">
              <a:lnSpc>
                <a:spcPts val="2690"/>
              </a:lnSpc>
              <a:spcBef>
                <a:spcPts val="484"/>
              </a:spcBef>
            </a:pP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There are </a:t>
            </a:r>
            <a:r>
              <a:rPr sz="2800" b="1" spc="-10" dirty="0">
                <a:solidFill>
                  <a:srgbClr val="0000FF"/>
                </a:solidFill>
                <a:latin typeface="Carlito"/>
                <a:cs typeface="Carlito"/>
              </a:rPr>
              <a:t>three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major types of </a:t>
            </a:r>
            <a:r>
              <a:rPr sz="2800" b="1" spc="-15" dirty="0">
                <a:solidFill>
                  <a:srgbClr val="0000FF"/>
                </a:solidFill>
                <a:latin typeface="Carlito"/>
                <a:cs typeface="Carlito"/>
              </a:rPr>
              <a:t>data </a:t>
            </a:r>
            <a:r>
              <a:rPr sz="2800" b="1" spc="-20" dirty="0">
                <a:solidFill>
                  <a:srgbClr val="0000FF"/>
                </a:solidFill>
                <a:latin typeface="Carlito"/>
                <a:cs typeface="Carlito"/>
              </a:rPr>
              <a:t>transfer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between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the 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microprocessor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and I/O</a:t>
            </a:r>
            <a:r>
              <a:rPr sz="2800" spc="7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device.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923414"/>
            <a:ext cx="8321675" cy="42729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4785" marR="132080" indent="-172720" algn="just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20" dirty="0">
                <a:latin typeface="Carlito"/>
                <a:cs typeface="Carlito"/>
              </a:rPr>
              <a:t>Programmed </a:t>
            </a:r>
            <a:r>
              <a:rPr sz="2800" spc="-5" dirty="0">
                <a:latin typeface="Carlito"/>
                <a:cs typeface="Carlito"/>
              </a:rPr>
              <a:t>I/O : In </a:t>
            </a:r>
            <a:r>
              <a:rPr sz="2800" spc="-20" dirty="0">
                <a:latin typeface="Carlito"/>
                <a:cs typeface="Carlito"/>
              </a:rPr>
              <a:t>programmed </a:t>
            </a:r>
            <a:r>
              <a:rPr sz="2800" spc="-5" dirty="0">
                <a:latin typeface="Carlito"/>
                <a:cs typeface="Carlito"/>
              </a:rPr>
              <a:t>I/O the </a:t>
            </a:r>
            <a:r>
              <a:rPr sz="2800" b="1" spc="-20" dirty="0">
                <a:solidFill>
                  <a:srgbClr val="C00000"/>
                </a:solidFill>
                <a:latin typeface="Carlito"/>
                <a:cs typeface="Carlito"/>
              </a:rPr>
              <a:t>data transfer 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is accomplished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through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an I/O port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20" dirty="0">
                <a:latin typeface="Carlito"/>
                <a:cs typeface="Carlito"/>
              </a:rPr>
              <a:t>controlled </a:t>
            </a:r>
            <a:r>
              <a:rPr sz="2800" spc="-15" dirty="0">
                <a:latin typeface="Carlito"/>
                <a:cs typeface="Carlito"/>
              </a:rPr>
              <a:t>by  software.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500">
              <a:latin typeface="Carlito"/>
              <a:cs typeface="Carlito"/>
            </a:endParaRPr>
          </a:p>
          <a:p>
            <a:pPr marL="184785" marR="568960" indent="-172720" algn="just">
              <a:lnSpc>
                <a:spcPct val="8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15" dirty="0">
                <a:latin typeface="Carlito"/>
                <a:cs typeface="Carlito"/>
              </a:rPr>
              <a:t>Interrupt driven </a:t>
            </a:r>
            <a:r>
              <a:rPr sz="2800" spc="-5" dirty="0">
                <a:latin typeface="Carlito"/>
                <a:cs typeface="Carlito"/>
              </a:rPr>
              <a:t>I/O : In </a:t>
            </a:r>
            <a:r>
              <a:rPr sz="2800" spc="-15" dirty="0">
                <a:latin typeface="Carlito"/>
                <a:cs typeface="Carlito"/>
              </a:rPr>
              <a:t>interrupt driven </a:t>
            </a:r>
            <a:r>
              <a:rPr sz="2800" spc="-20" dirty="0">
                <a:latin typeface="Carlito"/>
                <a:cs typeface="Carlito"/>
              </a:rPr>
              <a:t>I/O,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I/O  </a:t>
            </a:r>
            <a:r>
              <a:rPr sz="2800" b="1" spc="-10" dirty="0">
                <a:solidFill>
                  <a:srgbClr val="0000FF"/>
                </a:solidFill>
                <a:latin typeface="Carlito"/>
                <a:cs typeface="Carlito"/>
              </a:rPr>
              <a:t>device will </a:t>
            </a:r>
            <a:r>
              <a:rPr sz="2800" b="1" spc="-15" dirty="0">
                <a:solidFill>
                  <a:srgbClr val="0000FF"/>
                </a:solidFill>
                <a:latin typeface="Carlito"/>
                <a:cs typeface="Carlito"/>
              </a:rPr>
              <a:t>interrupt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the </a:t>
            </a:r>
            <a:r>
              <a:rPr sz="2800" b="1" spc="-30" dirty="0">
                <a:solidFill>
                  <a:srgbClr val="0000FF"/>
                </a:solidFill>
                <a:latin typeface="Carlito"/>
                <a:cs typeface="Carlito"/>
              </a:rPr>
              <a:t>processor,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initiate </a:t>
            </a:r>
            <a:r>
              <a:rPr sz="2800" spc="-20" dirty="0">
                <a:latin typeface="Carlito"/>
                <a:cs typeface="Carlito"/>
              </a:rPr>
              <a:t>data  </a:t>
            </a:r>
            <a:r>
              <a:rPr sz="2800" spc="-55" dirty="0">
                <a:latin typeface="Carlito"/>
                <a:cs typeface="Carlito"/>
              </a:rPr>
              <a:t>transfer.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500">
              <a:latin typeface="Carlito"/>
              <a:cs typeface="Carlito"/>
            </a:endParaRPr>
          </a:p>
          <a:p>
            <a:pPr marL="184785" marR="5080" indent="-172720">
              <a:lnSpc>
                <a:spcPct val="8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15" dirty="0">
                <a:latin typeface="Carlito"/>
                <a:cs typeface="Carlito"/>
              </a:rPr>
              <a:t>Direct </a:t>
            </a:r>
            <a:r>
              <a:rPr sz="2800" spc="-5" dirty="0">
                <a:latin typeface="Carlito"/>
                <a:cs typeface="Carlito"/>
              </a:rPr>
              <a:t>memory access </a:t>
            </a:r>
            <a:r>
              <a:rPr sz="2800" spc="-10" dirty="0">
                <a:latin typeface="Carlito"/>
                <a:cs typeface="Carlito"/>
              </a:rPr>
              <a:t>(DMA) </a:t>
            </a:r>
            <a:r>
              <a:rPr sz="2800" spc="-5" dirty="0">
                <a:latin typeface="Carlito"/>
                <a:cs typeface="Carlito"/>
              </a:rPr>
              <a:t>: In DMA, the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25" dirty="0">
                <a:latin typeface="Carlito"/>
                <a:cs typeface="Carlito"/>
              </a:rPr>
              <a:t>transfer 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5" dirty="0">
                <a:latin typeface="Carlito"/>
                <a:cs typeface="Carlito"/>
              </a:rPr>
              <a:t>memory and I/O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performed by  bypassing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the</a:t>
            </a:r>
            <a:r>
              <a:rPr sz="2800" b="1" spc="2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Carlito"/>
                <a:cs typeface="Carlito"/>
              </a:rPr>
              <a:t>microprocessor.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327151"/>
            <a:ext cx="42748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A. </a:t>
            </a:r>
            <a:r>
              <a:rPr spc="-295" dirty="0"/>
              <a:t>Programmed</a:t>
            </a:r>
            <a:r>
              <a:rPr spc="-360" dirty="0"/>
              <a:t> </a:t>
            </a:r>
            <a:r>
              <a:rPr spc="-120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1117853"/>
            <a:ext cx="8173084" cy="378967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84785" marR="17145" indent="-17272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185420" algn="l"/>
                <a:tab pos="2533015" algn="l"/>
              </a:tabLst>
            </a:pPr>
            <a:r>
              <a:rPr sz="3200" i="1" dirty="0">
                <a:solidFill>
                  <a:srgbClr val="C00000"/>
                </a:solidFill>
                <a:latin typeface="Carlito"/>
                <a:cs typeface="Carlito"/>
              </a:rPr>
              <a:t>Programmed	</a:t>
            </a:r>
            <a:r>
              <a:rPr sz="3200" spc="-20" dirty="0">
                <a:solidFill>
                  <a:srgbClr val="C00000"/>
                </a:solidFill>
                <a:latin typeface="Carlito"/>
                <a:cs typeface="Carlito"/>
              </a:rPr>
              <a:t>I/O</a:t>
            </a:r>
            <a:r>
              <a:rPr sz="3200" spc="-20" dirty="0">
                <a:latin typeface="Carlito"/>
                <a:cs typeface="Carlito"/>
              </a:rPr>
              <a:t>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microprocessor </a:t>
            </a:r>
            <a:r>
              <a:rPr sz="3200" spc="-25" dirty="0">
                <a:latin typeface="Carlito"/>
                <a:cs typeface="Carlito"/>
              </a:rPr>
              <a:t>executes 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perform </a:t>
            </a:r>
            <a:r>
              <a:rPr sz="3200" dirty="0">
                <a:latin typeface="Carlito"/>
                <a:cs typeface="Carlito"/>
              </a:rPr>
              <a:t>all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spc="-30" dirty="0">
                <a:latin typeface="Carlito"/>
                <a:cs typeface="Carlito"/>
              </a:rPr>
              <a:t>transfers </a:t>
            </a:r>
            <a:r>
              <a:rPr sz="3200" spc="-10" dirty="0">
                <a:latin typeface="Carlito"/>
                <a:cs typeface="Carlito"/>
              </a:rPr>
              <a:t>between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microcomputer </a:t>
            </a:r>
            <a:r>
              <a:rPr sz="3200" spc="-5" dirty="0">
                <a:latin typeface="Carlito"/>
                <a:cs typeface="Carlito"/>
              </a:rPr>
              <a:t>and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external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device.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•"/>
            </a:pPr>
            <a:endParaRPr sz="4050">
              <a:latin typeface="Carlito"/>
              <a:cs typeface="Carlito"/>
            </a:endParaRPr>
          </a:p>
          <a:p>
            <a:pPr marL="184785" marR="5080" indent="-172720">
              <a:lnSpc>
                <a:spcPct val="90000"/>
              </a:lnSpc>
              <a:buFont typeface="Arial"/>
              <a:buChar char="•"/>
              <a:tabLst>
                <a:tab pos="185420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main </a:t>
            </a:r>
            <a:r>
              <a:rPr sz="3200" spc="-15" dirty="0">
                <a:latin typeface="Carlito"/>
                <a:cs typeface="Carlito"/>
              </a:rPr>
              <a:t>characteristic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this </a:t>
            </a:r>
            <a:r>
              <a:rPr sz="3200" dirty="0">
                <a:latin typeface="Carlito"/>
                <a:cs typeface="Carlito"/>
              </a:rPr>
              <a:t>type </a:t>
            </a:r>
            <a:r>
              <a:rPr sz="3200" spc="-5" dirty="0">
                <a:latin typeface="Carlito"/>
                <a:cs typeface="Carlito"/>
              </a:rPr>
              <a:t>of </a:t>
            </a:r>
            <a:r>
              <a:rPr sz="3200" dirty="0">
                <a:latin typeface="Carlito"/>
                <a:cs typeface="Carlito"/>
              </a:rPr>
              <a:t>I/O  </a:t>
            </a:r>
            <a:r>
              <a:rPr sz="3200" spc="-5" dirty="0">
                <a:latin typeface="Carlito"/>
                <a:cs typeface="Carlito"/>
              </a:rPr>
              <a:t>technique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external </a:t>
            </a:r>
            <a:r>
              <a:rPr sz="3200" spc="-5" dirty="0">
                <a:latin typeface="Carlito"/>
                <a:cs typeface="Carlito"/>
              </a:rPr>
              <a:t>device carries out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functions </a:t>
            </a:r>
            <a:r>
              <a:rPr sz="3200" spc="-20" dirty="0">
                <a:latin typeface="Carlito"/>
                <a:cs typeface="Carlito"/>
              </a:rPr>
              <a:t>dictated </a:t>
            </a:r>
            <a:r>
              <a:rPr sz="3200" spc="-5" dirty="0">
                <a:latin typeface="Carlito"/>
                <a:cs typeface="Carlito"/>
              </a:rPr>
              <a:t>by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5" dirty="0">
                <a:latin typeface="Carlito"/>
                <a:cs typeface="Carlito"/>
              </a:rPr>
              <a:t>inside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microcomputer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30" dirty="0">
                <a:latin typeface="Carlito"/>
                <a:cs typeface="Carlito"/>
              </a:rPr>
              <a:t>memory.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2586" y="6432905"/>
            <a:ext cx="184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Verdana"/>
                <a:cs typeface="Verdana"/>
              </a:rPr>
              <a:t>13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43382"/>
            <a:ext cx="24987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I/O </a:t>
            </a:r>
            <a:r>
              <a:rPr spc="-190" dirty="0"/>
              <a:t>Port</a:t>
            </a:r>
            <a:r>
              <a:rPr spc="-590" dirty="0"/>
              <a:t> </a:t>
            </a:r>
            <a:r>
              <a:rPr spc="-190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926033"/>
            <a:ext cx="8007984" cy="530987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218440">
              <a:lnSpc>
                <a:spcPct val="90000"/>
              </a:lnSpc>
              <a:spcBef>
                <a:spcPts val="490"/>
              </a:spcBef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15" dirty="0">
                <a:latin typeface="Carlito"/>
                <a:cs typeface="Carlito"/>
              </a:rPr>
              <a:t>microcomputer communicates </a:t>
            </a:r>
            <a:r>
              <a:rPr sz="3200" spc="-5" dirty="0">
                <a:latin typeface="Carlito"/>
                <a:cs typeface="Carlito"/>
              </a:rPr>
              <a:t>with </a:t>
            </a:r>
            <a:r>
              <a:rPr sz="3200" dirty="0">
                <a:latin typeface="Carlito"/>
                <a:cs typeface="Carlito"/>
              </a:rPr>
              <a:t>an  </a:t>
            </a:r>
            <a:r>
              <a:rPr sz="3200" spc="-10" dirty="0">
                <a:latin typeface="Carlito"/>
                <a:cs typeface="Carlito"/>
              </a:rPr>
              <a:t>external </a:t>
            </a:r>
            <a:r>
              <a:rPr sz="3200" spc="-5" dirty="0">
                <a:latin typeface="Carlito"/>
                <a:cs typeface="Carlito"/>
              </a:rPr>
              <a:t>device </a:t>
            </a:r>
            <a:r>
              <a:rPr sz="3200" dirty="0">
                <a:latin typeface="Carlito"/>
                <a:cs typeface="Carlito"/>
              </a:rPr>
              <a:t>via one </a:t>
            </a:r>
            <a:r>
              <a:rPr sz="3200" spc="-5" dirty="0">
                <a:latin typeface="Carlito"/>
                <a:cs typeface="Carlito"/>
              </a:rPr>
              <a:t>or </a:t>
            </a:r>
            <a:r>
              <a:rPr sz="3200" spc="-15" dirty="0">
                <a:latin typeface="Carlito"/>
                <a:cs typeface="Carlito"/>
              </a:rPr>
              <a:t>more </a:t>
            </a:r>
            <a:r>
              <a:rPr sz="3200" spc="-20" dirty="0">
                <a:latin typeface="Carlito"/>
                <a:cs typeface="Carlito"/>
              </a:rPr>
              <a:t>registers </a:t>
            </a:r>
            <a:r>
              <a:rPr sz="3200" spc="-5" dirty="0">
                <a:latin typeface="Carlito"/>
                <a:cs typeface="Carlito"/>
              </a:rPr>
              <a:t>called  </a:t>
            </a:r>
            <a:r>
              <a:rPr sz="3200" b="1" dirty="0">
                <a:latin typeface="Carlito"/>
                <a:cs typeface="Carlito"/>
              </a:rPr>
              <a:t>I/O </a:t>
            </a:r>
            <a:r>
              <a:rPr sz="3200" b="1" i="1" dirty="0">
                <a:latin typeface="Carlito"/>
                <a:cs typeface="Carlito"/>
              </a:rPr>
              <a:t>ports </a:t>
            </a:r>
            <a:r>
              <a:rPr sz="3200" i="1" spc="-5" dirty="0">
                <a:latin typeface="Carlito"/>
                <a:cs typeface="Carlito"/>
              </a:rPr>
              <a:t>using </a:t>
            </a:r>
            <a:r>
              <a:rPr sz="3200" b="1" i="1" dirty="0">
                <a:solidFill>
                  <a:srgbClr val="C00000"/>
                </a:solidFill>
                <a:latin typeface="Carlito"/>
                <a:cs typeface="Carlito"/>
              </a:rPr>
              <a:t>programmed </a:t>
            </a:r>
            <a:r>
              <a:rPr sz="3200" b="1" i="1" spc="-20" dirty="0">
                <a:solidFill>
                  <a:srgbClr val="C00000"/>
                </a:solidFill>
                <a:latin typeface="Carlito"/>
                <a:cs typeface="Carlito"/>
              </a:rPr>
              <a:t>I/O</a:t>
            </a:r>
            <a:r>
              <a:rPr sz="3200" b="1" i="1" spc="-20" dirty="0">
                <a:latin typeface="Carlito"/>
                <a:cs typeface="Carlito"/>
              </a:rPr>
              <a:t>.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I/O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ports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usually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of 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two</a:t>
            </a:r>
            <a:r>
              <a:rPr sz="3200" u="heavy" spc="2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types.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100">
              <a:latin typeface="Carlito"/>
              <a:cs typeface="Carlito"/>
            </a:endParaRPr>
          </a:p>
          <a:p>
            <a:pPr marL="694055" marR="605790" indent="-572135" algn="just">
              <a:lnSpc>
                <a:spcPct val="90000"/>
              </a:lnSpc>
              <a:spcBef>
                <a:spcPts val="5"/>
              </a:spcBef>
              <a:buAutoNum type="romanLcPeriod"/>
              <a:tabLst>
                <a:tab pos="694690" algn="l"/>
              </a:tabLst>
            </a:pPr>
            <a:r>
              <a:rPr sz="3200" spc="-15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one type,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10" dirty="0">
                <a:latin typeface="Carlito"/>
                <a:cs typeface="Carlito"/>
              </a:rPr>
              <a:t>bit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5" dirty="0">
                <a:latin typeface="Carlito"/>
                <a:cs typeface="Carlito"/>
              </a:rPr>
              <a:t>port can be  </a:t>
            </a:r>
            <a:r>
              <a:rPr sz="3200" spc="-10" dirty="0">
                <a:latin typeface="Carlito"/>
                <a:cs typeface="Carlito"/>
              </a:rPr>
              <a:t>configured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individually</a:t>
            </a:r>
            <a:r>
              <a:rPr sz="3200" dirty="0">
                <a:latin typeface="Carlito"/>
                <a:cs typeface="Carlito"/>
              </a:rPr>
              <a:t> as either input </a:t>
            </a:r>
            <a:r>
              <a:rPr sz="3200" spc="-5" dirty="0">
                <a:latin typeface="Carlito"/>
                <a:cs typeface="Carlito"/>
              </a:rPr>
              <a:t>or  output.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rlito"/>
              <a:buAutoNum type="romanLcPeriod"/>
            </a:pPr>
            <a:endParaRPr sz="4150">
              <a:latin typeface="Carlito"/>
              <a:cs typeface="Carlito"/>
            </a:endParaRPr>
          </a:p>
          <a:p>
            <a:pPr marL="694055" marR="5080" indent="-572135">
              <a:lnSpc>
                <a:spcPts val="3460"/>
              </a:lnSpc>
              <a:buAutoNum type="romanLcPeriod"/>
              <a:tabLst>
                <a:tab pos="694055" algn="l"/>
                <a:tab pos="694690" algn="l"/>
              </a:tabLst>
            </a:pPr>
            <a:r>
              <a:rPr sz="3200" spc="-15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dirty="0">
                <a:latin typeface="Carlito"/>
                <a:cs typeface="Carlito"/>
              </a:rPr>
              <a:t>other type, all </a:t>
            </a:r>
            <a:r>
              <a:rPr sz="3200" spc="-5" dirty="0">
                <a:latin typeface="Carlito"/>
                <a:cs typeface="Carlito"/>
              </a:rPr>
              <a:t>bits </a:t>
            </a:r>
            <a:r>
              <a:rPr sz="3200" dirty="0">
                <a:latin typeface="Carlito"/>
                <a:cs typeface="Carlito"/>
              </a:rPr>
              <a:t>in the </a:t>
            </a:r>
            <a:r>
              <a:rPr sz="3200" spc="-5" dirty="0">
                <a:latin typeface="Carlito"/>
                <a:cs typeface="Carlito"/>
              </a:rPr>
              <a:t>port can be  </a:t>
            </a:r>
            <a:r>
              <a:rPr sz="3200" spc="-10" dirty="0">
                <a:latin typeface="Carlito"/>
                <a:cs typeface="Carlito"/>
              </a:rPr>
              <a:t>set </a:t>
            </a:r>
            <a:r>
              <a:rPr sz="3200" dirty="0">
                <a:latin typeface="Carlito"/>
                <a:cs typeface="Carlito"/>
              </a:rPr>
              <a:t>up as all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parallel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input </a:t>
            </a:r>
            <a:r>
              <a:rPr sz="3200" dirty="0">
                <a:latin typeface="Carlito"/>
                <a:cs typeface="Carlito"/>
              </a:rPr>
              <a:t>or </a:t>
            </a:r>
            <a:r>
              <a:rPr sz="3200" spc="-10" dirty="0">
                <a:latin typeface="Carlito"/>
                <a:cs typeface="Carlito"/>
              </a:rPr>
              <a:t>parallel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output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7836" y="6161023"/>
            <a:ext cx="7289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rlito"/>
                <a:cs typeface="Carlito"/>
              </a:rPr>
              <a:t>bits.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2586" y="6432905"/>
            <a:ext cx="184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Verdana"/>
                <a:cs typeface="Verdana"/>
              </a:rPr>
              <a:t>14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0661" y="150368"/>
            <a:ext cx="24980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I/O </a:t>
            </a:r>
            <a:r>
              <a:rPr spc="-190" dirty="0"/>
              <a:t>Port</a:t>
            </a:r>
            <a:r>
              <a:rPr spc="-595" dirty="0"/>
              <a:t> </a:t>
            </a:r>
            <a:r>
              <a:rPr spc="-190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388" y="1147648"/>
            <a:ext cx="7890509" cy="451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"/>
              <a:tabLst>
                <a:tab pos="185420" algn="l"/>
              </a:tabLst>
            </a:pPr>
            <a:r>
              <a:rPr sz="2800" spc="-5" dirty="0">
                <a:latin typeface="Carlito"/>
                <a:cs typeface="Carlito"/>
              </a:rPr>
              <a:t>I/O port is made up of </a:t>
            </a:r>
            <a:r>
              <a:rPr sz="2800" spc="-15" dirty="0">
                <a:latin typeface="Carlito"/>
                <a:cs typeface="Carlito"/>
              </a:rPr>
              <a:t>group </a:t>
            </a:r>
            <a:r>
              <a:rPr sz="2800" spc="-5" dirty="0">
                <a:latin typeface="Carlito"/>
                <a:cs typeface="Carlito"/>
              </a:rPr>
              <a:t>of 8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pins.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3800">
              <a:latin typeface="Carlito"/>
              <a:cs typeface="Carlito"/>
            </a:endParaRPr>
          </a:p>
          <a:p>
            <a:pPr marL="184785" marR="725170" indent="-172720">
              <a:lnSpc>
                <a:spcPts val="3020"/>
              </a:lnSpc>
              <a:buSzPct val="96428"/>
              <a:buFont typeface="Wingdings"/>
              <a:buChar char=""/>
              <a:tabLst>
                <a:tab pos="185420" algn="l"/>
              </a:tabLst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pin 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5" dirty="0">
                <a:latin typeface="Carlito"/>
                <a:cs typeface="Carlito"/>
              </a:rPr>
              <a:t>configured </a:t>
            </a:r>
            <a:r>
              <a:rPr sz="2800" spc="-5" dirty="0">
                <a:latin typeface="Carlito"/>
                <a:cs typeface="Carlito"/>
              </a:rPr>
              <a:t>as either </a:t>
            </a:r>
            <a:r>
              <a:rPr sz="2800" spc="-10" dirty="0">
                <a:latin typeface="Carlito"/>
                <a:cs typeface="Carlito"/>
              </a:rPr>
              <a:t>input pin or  output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pin.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"/>
            </a:pPr>
            <a:endParaRPr sz="3750">
              <a:latin typeface="Carlito"/>
              <a:cs typeface="Carlito"/>
            </a:endParaRPr>
          </a:p>
          <a:p>
            <a:pPr marL="184785" marR="136525" indent="-172720">
              <a:lnSpc>
                <a:spcPts val="3020"/>
              </a:lnSpc>
              <a:buSzPct val="96428"/>
              <a:buFont typeface="Wingdings"/>
              <a:buChar char=""/>
              <a:tabLst>
                <a:tab pos="185420" algn="l"/>
              </a:tabLst>
            </a:pPr>
            <a:r>
              <a:rPr sz="2800" spc="-5" dirty="0">
                <a:latin typeface="Carlito"/>
                <a:cs typeface="Carlito"/>
              </a:rPr>
              <a:t>If a pin is input </a:t>
            </a:r>
            <a:r>
              <a:rPr sz="2800" spc="-10" dirty="0">
                <a:latin typeface="Carlito"/>
                <a:cs typeface="Carlito"/>
              </a:rPr>
              <a:t>pin, </a:t>
            </a:r>
            <a:r>
              <a:rPr sz="2800" spc="-5" dirty="0">
                <a:latin typeface="Carlito"/>
                <a:cs typeface="Carlito"/>
              </a:rPr>
              <a:t>it accepts </a:t>
            </a:r>
            <a:r>
              <a:rPr sz="2800" spc="-20" dirty="0">
                <a:latin typeface="Carlito"/>
                <a:cs typeface="Carlito"/>
              </a:rPr>
              <a:t>data 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device </a:t>
            </a:r>
            <a:r>
              <a:rPr sz="2800" spc="-5" dirty="0">
                <a:latin typeface="Carlito"/>
                <a:cs typeface="Carlito"/>
              </a:rPr>
              <a:t>it  is </a:t>
            </a:r>
            <a:r>
              <a:rPr sz="2800" spc="-10" dirty="0">
                <a:latin typeface="Carlito"/>
                <a:cs typeface="Carlito"/>
              </a:rPr>
              <a:t>connected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to.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"/>
            </a:pPr>
            <a:endParaRPr sz="3750">
              <a:latin typeface="Carlito"/>
              <a:cs typeface="Carlito"/>
            </a:endParaRPr>
          </a:p>
          <a:p>
            <a:pPr marL="184785" marR="5080" indent="-172720">
              <a:lnSpc>
                <a:spcPts val="3020"/>
              </a:lnSpc>
              <a:buSzPct val="96428"/>
              <a:buFont typeface="Wingdings"/>
              <a:buChar char=""/>
              <a:tabLst>
                <a:tab pos="185420" algn="l"/>
              </a:tabLst>
            </a:pPr>
            <a:r>
              <a:rPr sz="2800" spc="-5" dirty="0">
                <a:latin typeface="Carlito"/>
                <a:cs typeface="Carlito"/>
              </a:rPr>
              <a:t>If a pin is </a:t>
            </a:r>
            <a:r>
              <a:rPr sz="2800" spc="-10" dirty="0">
                <a:latin typeface="Carlito"/>
                <a:cs typeface="Carlito"/>
              </a:rPr>
              <a:t>output pin,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sends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data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the device </a:t>
            </a:r>
            <a:r>
              <a:rPr sz="2800" spc="-5" dirty="0">
                <a:latin typeface="Carlito"/>
                <a:cs typeface="Carlito"/>
              </a:rPr>
              <a:t>it  is </a:t>
            </a:r>
            <a:r>
              <a:rPr sz="2800" spc="-10" dirty="0">
                <a:latin typeface="Carlito"/>
                <a:cs typeface="Carlito"/>
              </a:rPr>
              <a:t>connected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to.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27151"/>
            <a:ext cx="24980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I/O </a:t>
            </a:r>
            <a:r>
              <a:rPr spc="-190" dirty="0"/>
              <a:t>Port</a:t>
            </a:r>
            <a:r>
              <a:rPr spc="-595" dirty="0"/>
              <a:t> </a:t>
            </a:r>
            <a:r>
              <a:rPr spc="-190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930744"/>
            <a:ext cx="8075930" cy="332549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5" dirty="0">
                <a:latin typeface="Carlito"/>
                <a:cs typeface="Carlito"/>
              </a:rPr>
              <a:t>I/O </a:t>
            </a:r>
            <a:r>
              <a:rPr sz="2800" spc="-10" dirty="0">
                <a:latin typeface="Carlito"/>
                <a:cs typeface="Carlito"/>
              </a:rPr>
              <a:t>port has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10" dirty="0">
                <a:latin typeface="Carlito"/>
                <a:cs typeface="Carlito"/>
              </a:rPr>
              <a:t>least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two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special-function</a:t>
            </a:r>
            <a:r>
              <a:rPr sz="2800" u="heavy" spc="1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registers:</a:t>
            </a:r>
            <a:endParaRPr sz="2800">
              <a:latin typeface="Carlito"/>
              <a:cs typeface="Carlito"/>
            </a:endParaRPr>
          </a:p>
          <a:p>
            <a:pPr marL="984885" marR="125730" indent="-515620">
              <a:lnSpc>
                <a:spcPts val="3030"/>
              </a:lnSpc>
              <a:spcBef>
                <a:spcPts val="1645"/>
              </a:spcBef>
              <a:buAutoNum type="alphaLcPeriod"/>
              <a:tabLst>
                <a:tab pos="984885" algn="l"/>
                <a:tab pos="985519" algn="l"/>
              </a:tabLst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control register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solidFill>
                  <a:srgbClr val="0000FF"/>
                </a:solidFill>
                <a:latin typeface="Carlito"/>
                <a:cs typeface="Carlito"/>
              </a:rPr>
              <a:t>data-direction </a:t>
            </a:r>
            <a:r>
              <a:rPr sz="2800" spc="-20" dirty="0">
                <a:solidFill>
                  <a:srgbClr val="0000FF"/>
                </a:solidFill>
                <a:latin typeface="Carlito"/>
                <a:cs typeface="Carlito"/>
              </a:rPr>
              <a:t>register </a:t>
            </a:r>
            <a:r>
              <a:rPr sz="2800" spc="-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(such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DDRA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0" dirty="0">
                <a:latin typeface="Carlito"/>
                <a:cs typeface="Carlito"/>
              </a:rPr>
              <a:t>DDRB) that </a:t>
            </a:r>
            <a:r>
              <a:rPr sz="2800" spc="-20" dirty="0">
                <a:latin typeface="Carlito"/>
                <a:cs typeface="Carlito"/>
              </a:rPr>
              <a:t>controls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whether</a:t>
            </a:r>
            <a:endParaRPr sz="2800">
              <a:latin typeface="Carlito"/>
              <a:cs typeface="Carlito"/>
            </a:endParaRPr>
          </a:p>
          <a:p>
            <a:pPr marL="984885">
              <a:lnSpc>
                <a:spcPts val="2805"/>
              </a:lnSpc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port’s </a:t>
            </a:r>
            <a:r>
              <a:rPr sz="2800" spc="-10" dirty="0">
                <a:latin typeface="Carlito"/>
                <a:cs typeface="Carlito"/>
              </a:rPr>
              <a:t>pins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configured </a:t>
            </a:r>
            <a:r>
              <a:rPr sz="2800" spc="-5" dirty="0">
                <a:latin typeface="Carlito"/>
                <a:cs typeface="Carlito"/>
              </a:rPr>
              <a:t>as inputs or</a:t>
            </a:r>
            <a:r>
              <a:rPr sz="2800" spc="18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as</a:t>
            </a:r>
            <a:endParaRPr sz="2800">
              <a:latin typeface="Carlito"/>
              <a:cs typeface="Carlito"/>
            </a:endParaRPr>
          </a:p>
          <a:p>
            <a:pPr marL="984885">
              <a:lnSpc>
                <a:spcPts val="3190"/>
              </a:lnSpc>
            </a:pPr>
            <a:r>
              <a:rPr sz="2800" spc="-10" dirty="0">
                <a:latin typeface="Carlito"/>
                <a:cs typeface="Carlito"/>
              </a:rPr>
              <a:t>outputs.</a:t>
            </a:r>
            <a:endParaRPr sz="2800">
              <a:latin typeface="Carlito"/>
              <a:cs typeface="Carlito"/>
            </a:endParaRPr>
          </a:p>
          <a:p>
            <a:pPr marL="984885" marR="355600" indent="-515620">
              <a:lnSpc>
                <a:spcPts val="3020"/>
              </a:lnSpc>
              <a:spcBef>
                <a:spcPts val="1645"/>
              </a:spcBef>
              <a:buAutoNum type="alphaLcPeriod" startAt="2"/>
              <a:tabLst>
                <a:tab pos="984885" algn="l"/>
                <a:tab pos="985519" algn="l"/>
              </a:tabLst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solidFill>
                  <a:srgbClr val="0000FF"/>
                </a:solidFill>
                <a:latin typeface="Carlito"/>
                <a:cs typeface="Carlito"/>
              </a:rPr>
              <a:t>data register </a:t>
            </a:r>
            <a:r>
              <a:rPr sz="2800" spc="-10" dirty="0">
                <a:latin typeface="Carlito"/>
                <a:cs typeface="Carlito"/>
              </a:rPr>
              <a:t>(such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50" dirty="0">
                <a:latin typeface="Carlito"/>
                <a:cs typeface="Carlito"/>
              </a:rPr>
              <a:t>PORTA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0" dirty="0">
                <a:latin typeface="Carlito"/>
                <a:cs typeface="Carlito"/>
              </a:rPr>
              <a:t>PORTB) that  holds </a:t>
            </a:r>
            <a:r>
              <a:rPr sz="2800" spc="-20" dirty="0">
                <a:latin typeface="Carlito"/>
                <a:cs typeface="Carlito"/>
              </a:rPr>
              <a:t>data traveling </a:t>
            </a:r>
            <a:r>
              <a:rPr sz="2800" spc="-5" dirty="0">
                <a:latin typeface="Carlito"/>
                <a:cs typeface="Carlito"/>
              </a:rPr>
              <a:t>in or </a:t>
            </a:r>
            <a:r>
              <a:rPr sz="2800" spc="-10" dirty="0">
                <a:latin typeface="Carlito"/>
                <a:cs typeface="Carlito"/>
              </a:rPr>
              <a:t>out </a:t>
            </a:r>
            <a:r>
              <a:rPr sz="2800" spc="-15" dirty="0">
                <a:latin typeface="Carlito"/>
                <a:cs typeface="Carlito"/>
              </a:rPr>
              <a:t>through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port.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17</a:t>
            </a:fld>
            <a:endParaRPr sz="1000"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45186"/>
            <a:ext cx="24980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I/O </a:t>
            </a:r>
            <a:r>
              <a:rPr spc="-190" dirty="0"/>
              <a:t>Port</a:t>
            </a:r>
            <a:r>
              <a:rPr spc="-595" dirty="0"/>
              <a:t> </a:t>
            </a:r>
            <a:r>
              <a:rPr spc="-190" dirty="0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123340"/>
            <a:ext cx="8110220" cy="370967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800" b="1" i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Command or </a:t>
            </a:r>
            <a:r>
              <a:rPr sz="2800" b="1" i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data-direction</a:t>
            </a:r>
            <a:r>
              <a:rPr sz="2800" b="1" i="1" u="heavy" spc="5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800" b="1" i="1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register</a:t>
            </a:r>
            <a:endParaRPr sz="28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spcBef>
                <a:spcPts val="470"/>
              </a:spcBef>
              <a:buSzPct val="96428"/>
              <a:buFont typeface="Wingdings"/>
              <a:buChar char=""/>
              <a:tabLst>
                <a:tab pos="185420" algn="l"/>
              </a:tabLst>
            </a:pPr>
            <a:r>
              <a:rPr sz="2800" spc="-10" dirty="0">
                <a:latin typeface="Carlito"/>
                <a:cs typeface="Carlito"/>
              </a:rPr>
              <a:t>Determines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direction </a:t>
            </a:r>
            <a:r>
              <a:rPr sz="2800" spc="-5" dirty="0">
                <a:latin typeface="Carlito"/>
                <a:cs typeface="Carlito"/>
              </a:rPr>
              <a:t>of individual </a:t>
            </a:r>
            <a:r>
              <a:rPr sz="2800" spc="-10" dirty="0">
                <a:latin typeface="Carlito"/>
                <a:cs typeface="Carlito"/>
              </a:rPr>
              <a:t>pins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1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ports.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3800">
              <a:latin typeface="Carlito"/>
              <a:cs typeface="Carlito"/>
            </a:endParaRPr>
          </a:p>
          <a:p>
            <a:pPr marL="184785" marR="5080" indent="-172720">
              <a:lnSpc>
                <a:spcPts val="3020"/>
              </a:lnSpc>
              <a:buSzPct val="96428"/>
              <a:buFont typeface="Wingdings"/>
              <a:buChar char=""/>
              <a:tabLst>
                <a:tab pos="185420" algn="l"/>
                <a:tab pos="3530600" algn="l"/>
              </a:tabLst>
            </a:pPr>
            <a:r>
              <a:rPr sz="2800" spc="-5" dirty="0">
                <a:latin typeface="Carlito"/>
                <a:cs typeface="Carlito"/>
              </a:rPr>
              <a:t>If the bit of the</a:t>
            </a:r>
            <a:r>
              <a:rPr sz="2800" spc="9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DDR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is	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1 </a:t>
            </a:r>
            <a:r>
              <a:rPr sz="2800" spc="-5" dirty="0">
                <a:latin typeface="Carlito"/>
                <a:cs typeface="Carlito"/>
              </a:rPr>
              <a:t>then the </a:t>
            </a:r>
            <a:r>
              <a:rPr sz="2800" spc="-10" dirty="0">
                <a:latin typeface="Carlito"/>
                <a:cs typeface="Carlito"/>
              </a:rPr>
              <a:t>corresponding pin of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port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configured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output</a:t>
            </a:r>
            <a:r>
              <a:rPr sz="2800" b="1" spc="8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pin</a:t>
            </a:r>
            <a:r>
              <a:rPr sz="2800" b="1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"/>
            </a:pPr>
            <a:endParaRPr sz="3750">
              <a:latin typeface="Carlito"/>
              <a:cs typeface="Carlito"/>
            </a:endParaRPr>
          </a:p>
          <a:p>
            <a:pPr marL="184785" marR="5080" indent="-172720">
              <a:lnSpc>
                <a:spcPts val="3030"/>
              </a:lnSpc>
              <a:buSzPct val="96428"/>
              <a:buFont typeface="Wingdings"/>
              <a:buChar char=""/>
              <a:tabLst>
                <a:tab pos="266065" algn="l"/>
              </a:tabLst>
            </a:pPr>
            <a:r>
              <a:rPr sz="2800" spc="-5" dirty="0">
                <a:latin typeface="Carlito"/>
                <a:cs typeface="Carlito"/>
              </a:rPr>
              <a:t>If </a:t>
            </a:r>
            <a:r>
              <a:rPr sz="2800" spc="-10" dirty="0">
                <a:latin typeface="Carlito"/>
                <a:cs typeface="Carlito"/>
              </a:rPr>
              <a:t>the bit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DDR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0 </a:t>
            </a:r>
            <a:r>
              <a:rPr sz="2800" spc="-5" dirty="0">
                <a:latin typeface="Carlito"/>
                <a:cs typeface="Carlito"/>
              </a:rPr>
              <a:t>then the </a:t>
            </a:r>
            <a:r>
              <a:rPr sz="2800" spc="-10" dirty="0">
                <a:latin typeface="Carlito"/>
                <a:cs typeface="Carlito"/>
              </a:rPr>
              <a:t>corresponding pin of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port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configured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input</a:t>
            </a:r>
            <a:r>
              <a:rPr sz="2800" b="1" spc="75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pin</a:t>
            </a:r>
            <a:r>
              <a:rPr sz="2800" b="1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45186"/>
            <a:ext cx="24980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I/O </a:t>
            </a:r>
            <a:r>
              <a:rPr spc="-190" dirty="0"/>
              <a:t>Port</a:t>
            </a:r>
            <a:r>
              <a:rPr spc="-595" dirty="0"/>
              <a:t> </a:t>
            </a:r>
            <a:r>
              <a:rPr spc="-190" dirty="0"/>
              <a:t>(4)</a:t>
            </a:r>
          </a:p>
        </p:txBody>
      </p:sp>
      <p:sp>
        <p:nvSpPr>
          <p:cNvPr id="3" name="object 3"/>
          <p:cNvSpPr/>
          <p:nvPr/>
        </p:nvSpPr>
        <p:spPr>
          <a:xfrm>
            <a:off x="179831" y="1053083"/>
            <a:ext cx="8730996" cy="4527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18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125" y="251206"/>
            <a:ext cx="42748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5" dirty="0">
                <a:solidFill>
                  <a:srgbClr val="6F2F9F"/>
                </a:solidFill>
                <a:latin typeface="Arial"/>
                <a:cs typeface="Arial"/>
              </a:rPr>
              <a:t>A. </a:t>
            </a:r>
            <a:r>
              <a:rPr sz="4400" spc="-295" dirty="0">
                <a:solidFill>
                  <a:srgbClr val="6F2F9F"/>
                </a:solidFill>
                <a:latin typeface="Arial"/>
                <a:cs typeface="Arial"/>
              </a:rPr>
              <a:t>Programmed</a:t>
            </a:r>
            <a:r>
              <a:rPr sz="4400" spc="-36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4400" spc="-120" dirty="0">
                <a:solidFill>
                  <a:srgbClr val="6F2F9F"/>
                </a:solidFill>
                <a:latin typeface="Arial"/>
                <a:cs typeface="Arial"/>
              </a:rPr>
              <a:t>I/O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437" y="1129665"/>
            <a:ext cx="7122159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Carlito"/>
                <a:cs typeface="Carlito"/>
              </a:rPr>
              <a:t>As an </a:t>
            </a:r>
            <a:r>
              <a:rPr sz="2400" b="1" spc="-10" dirty="0">
                <a:latin typeface="Carlito"/>
                <a:cs typeface="Carlito"/>
              </a:rPr>
              <a:t>example, </a:t>
            </a:r>
            <a:r>
              <a:rPr sz="2400" dirty="0">
                <a:latin typeface="Carlito"/>
                <a:cs typeface="Carlito"/>
              </a:rPr>
              <a:t>if an </a:t>
            </a:r>
            <a:r>
              <a:rPr sz="2400" spc="-10" dirty="0">
                <a:latin typeface="Carlito"/>
                <a:cs typeface="Carlito"/>
              </a:rPr>
              <a:t>8-bit </a:t>
            </a:r>
            <a:r>
              <a:rPr sz="2400" spc="-10" dirty="0">
                <a:solidFill>
                  <a:srgbClr val="C00000"/>
                </a:solidFill>
                <a:latin typeface="Carlito"/>
                <a:cs typeface="Carlito"/>
              </a:rPr>
              <a:t>data-direction </a:t>
            </a:r>
            <a:r>
              <a:rPr sz="2400" spc="-15" dirty="0">
                <a:solidFill>
                  <a:srgbClr val="C00000"/>
                </a:solidFill>
                <a:latin typeface="Carlito"/>
                <a:cs typeface="Carlito"/>
              </a:rPr>
              <a:t>register </a:t>
            </a:r>
            <a:r>
              <a:rPr sz="2400" spc="-10" dirty="0">
                <a:latin typeface="Carlito"/>
                <a:cs typeface="Carlito"/>
              </a:rPr>
              <a:t>contains  </a:t>
            </a:r>
            <a:r>
              <a:rPr sz="2400" spc="-5" dirty="0">
                <a:latin typeface="Carlito"/>
                <a:cs typeface="Carlito"/>
              </a:rPr>
              <a:t>34H (34 </a:t>
            </a:r>
            <a:r>
              <a:rPr sz="2400" spc="-10" dirty="0">
                <a:latin typeface="Carlito"/>
                <a:cs typeface="Carlito"/>
              </a:rPr>
              <a:t>Hex), </a:t>
            </a:r>
            <a:r>
              <a:rPr sz="2400" dirty="0">
                <a:latin typeface="Carlito"/>
                <a:cs typeface="Carlito"/>
              </a:rPr>
              <a:t>then which </a:t>
            </a:r>
            <a:r>
              <a:rPr sz="2400" spc="-35" dirty="0">
                <a:latin typeface="Carlito"/>
                <a:cs typeface="Carlito"/>
              </a:rPr>
              <a:t>pin’s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Port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set </a:t>
            </a:r>
            <a:r>
              <a:rPr sz="2400" dirty="0">
                <a:latin typeface="Carlito"/>
                <a:cs typeface="Carlito"/>
              </a:rPr>
              <a:t>as Input  and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output.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8628" y="2715877"/>
            <a:ext cx="7818020" cy="2507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19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" y="38806"/>
            <a:ext cx="8322309" cy="28047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800"/>
              </a:spcBef>
            </a:pPr>
            <a:r>
              <a:rPr spc="-305" dirty="0"/>
              <a:t>A. </a:t>
            </a:r>
            <a:r>
              <a:rPr spc="-295" dirty="0"/>
              <a:t>Programmed</a:t>
            </a:r>
            <a:r>
              <a:rPr spc="-320" dirty="0"/>
              <a:t> </a:t>
            </a:r>
            <a:r>
              <a:rPr spc="-120" dirty="0"/>
              <a:t>I/O</a:t>
            </a:r>
          </a:p>
          <a:p>
            <a:pPr marL="12700" marR="5080">
              <a:lnSpc>
                <a:spcPct val="90000"/>
              </a:lnSpc>
              <a:spcBef>
                <a:spcPts val="780"/>
              </a:spcBef>
            </a:pPr>
            <a:r>
              <a:rPr sz="2800" spc="-20" dirty="0">
                <a:solidFill>
                  <a:srgbClr val="000000"/>
                </a:solidFill>
                <a:latin typeface="Carlito"/>
                <a:cs typeface="Carlito"/>
              </a:rPr>
              <a:t>For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parallel </a:t>
            </a:r>
            <a:r>
              <a:rPr sz="2800" spc="-20" dirty="0">
                <a:solidFill>
                  <a:srgbClr val="000000"/>
                </a:solidFill>
                <a:latin typeface="Carlito"/>
                <a:cs typeface="Carlito"/>
              </a:rPr>
              <a:t>I/O,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there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is only one </a:t>
            </a:r>
            <a:r>
              <a:rPr sz="2800" spc="-20" dirty="0">
                <a:solidFill>
                  <a:srgbClr val="000000"/>
                </a:solidFill>
                <a:latin typeface="Carlito"/>
                <a:cs typeface="Carlito"/>
              </a:rPr>
              <a:t>data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directional </a:t>
            </a:r>
            <a:r>
              <a:rPr sz="2800" spc="-45" dirty="0">
                <a:solidFill>
                  <a:srgbClr val="000000"/>
                </a:solidFill>
                <a:latin typeface="Carlito"/>
                <a:cs typeface="Carlito"/>
              </a:rPr>
              <a:t>register, 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known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as the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command </a:t>
            </a:r>
            <a:r>
              <a:rPr sz="2800" spc="-20" dirty="0">
                <a:solidFill>
                  <a:srgbClr val="C00000"/>
                </a:solidFill>
                <a:latin typeface="Carlito"/>
                <a:cs typeface="Carlito"/>
              </a:rPr>
              <a:t>register </a:t>
            </a:r>
            <a:r>
              <a:rPr sz="2800" spc="-25" dirty="0">
                <a:solidFill>
                  <a:srgbClr val="000000"/>
                </a:solidFill>
                <a:latin typeface="Carlito"/>
                <a:cs typeface="Carlito"/>
              </a:rPr>
              <a:t>for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all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ports.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A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particular  bit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in the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common </a:t>
            </a:r>
            <a:r>
              <a:rPr sz="2800" spc="-20" dirty="0">
                <a:solidFill>
                  <a:srgbClr val="C00000"/>
                </a:solidFill>
                <a:latin typeface="Carlito"/>
                <a:cs typeface="Carlito"/>
              </a:rPr>
              <a:t>register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configures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all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bits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in the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port 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as either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inputs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or </a:t>
            </a:r>
            <a:r>
              <a:rPr sz="2800" spc="-10" dirty="0">
                <a:solidFill>
                  <a:srgbClr val="000000"/>
                </a:solidFill>
                <a:latin typeface="Carlito"/>
                <a:cs typeface="Carlito"/>
              </a:rPr>
              <a:t>outputs.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Programmable </a:t>
            </a:r>
            <a:r>
              <a:rPr sz="2800" spc="-20" dirty="0">
                <a:solidFill>
                  <a:srgbClr val="000000"/>
                </a:solidFill>
                <a:latin typeface="Carlito"/>
                <a:cs typeface="Carlito"/>
              </a:rPr>
              <a:t>Peripheral  Interface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uses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parallel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I/O </a:t>
            </a:r>
            <a:r>
              <a:rPr sz="2800" spc="-25" dirty="0">
                <a:solidFill>
                  <a:srgbClr val="000000"/>
                </a:solidFill>
                <a:latin typeface="Carlito"/>
                <a:cs typeface="Carlito"/>
              </a:rPr>
              <a:t>for</a:t>
            </a:r>
            <a:r>
              <a:rPr sz="2800" spc="5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configuration.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43227" y="3008376"/>
            <a:ext cx="7072883" cy="3697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20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21</a:t>
            </a:fld>
            <a:endParaRPr sz="1000"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121" y="150063"/>
            <a:ext cx="4274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A. </a:t>
            </a:r>
            <a:r>
              <a:rPr spc="-295" dirty="0"/>
              <a:t>Programmed</a:t>
            </a:r>
            <a:r>
              <a:rPr spc="-365" dirty="0"/>
              <a:t> </a:t>
            </a:r>
            <a:r>
              <a:rPr spc="-120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837" y="927506"/>
            <a:ext cx="6671309" cy="148463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800" spc="-5" dirty="0">
                <a:latin typeface="Carlito"/>
                <a:cs typeface="Carlito"/>
              </a:rPr>
              <a:t>I/O </a:t>
            </a:r>
            <a:r>
              <a:rPr sz="2800" spc="-10" dirty="0">
                <a:latin typeface="Carlito"/>
                <a:cs typeface="Carlito"/>
              </a:rPr>
              <a:t>ports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solidFill>
                  <a:srgbClr val="0000FF"/>
                </a:solidFill>
                <a:latin typeface="Carlito"/>
                <a:cs typeface="Carlito"/>
              </a:rPr>
              <a:t>addressed </a:t>
            </a:r>
            <a:r>
              <a:rPr sz="2800" spc="-10" dirty="0">
                <a:latin typeface="Carlito"/>
                <a:cs typeface="Carlito"/>
              </a:rPr>
              <a:t>using two</a:t>
            </a:r>
            <a:r>
              <a:rPr sz="2800" spc="1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techniques.</a:t>
            </a:r>
            <a:endParaRPr sz="2800">
              <a:latin typeface="Carlito"/>
              <a:cs typeface="Carlito"/>
            </a:endParaRPr>
          </a:p>
          <a:p>
            <a:pPr marL="584200" indent="-572135">
              <a:lnSpc>
                <a:spcPct val="100000"/>
              </a:lnSpc>
              <a:spcBef>
                <a:spcPts val="470"/>
              </a:spcBef>
              <a:buAutoNum type="romanUcPeriod"/>
              <a:tabLst>
                <a:tab pos="584200" algn="l"/>
                <a:tab pos="584835" algn="l"/>
              </a:tabLst>
            </a:pPr>
            <a:r>
              <a:rPr sz="2800" spc="-15" dirty="0">
                <a:solidFill>
                  <a:srgbClr val="006600"/>
                </a:solidFill>
                <a:latin typeface="Carlito"/>
                <a:cs typeface="Carlito"/>
              </a:rPr>
              <a:t>Standard</a:t>
            </a:r>
            <a:r>
              <a:rPr sz="2800" spc="10" dirty="0">
                <a:solidFill>
                  <a:srgbClr val="006600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006600"/>
                </a:solidFill>
                <a:latin typeface="Carlito"/>
                <a:cs typeface="Carlito"/>
              </a:rPr>
              <a:t>I/O</a:t>
            </a:r>
            <a:endParaRPr sz="2800">
              <a:latin typeface="Carlito"/>
              <a:cs typeface="Carlito"/>
            </a:endParaRPr>
          </a:p>
          <a:p>
            <a:pPr marL="584200" indent="-572135">
              <a:lnSpc>
                <a:spcPct val="100000"/>
              </a:lnSpc>
              <a:spcBef>
                <a:spcPts val="470"/>
              </a:spcBef>
              <a:buAutoNum type="romanUcPeriod"/>
              <a:tabLst>
                <a:tab pos="584200" algn="l"/>
                <a:tab pos="584835" algn="l"/>
              </a:tabLst>
            </a:pPr>
            <a:r>
              <a:rPr sz="2800" spc="-5" dirty="0">
                <a:latin typeface="Carlito"/>
                <a:cs typeface="Carlito"/>
              </a:rPr>
              <a:t>Memory-mapped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I/O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22</a:t>
            </a:fld>
            <a:endParaRPr sz="1000"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121" y="150063"/>
            <a:ext cx="3266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>
                <a:solidFill>
                  <a:srgbClr val="000000"/>
                </a:solidFill>
              </a:rPr>
              <a:t>I. </a:t>
            </a:r>
            <a:r>
              <a:rPr spc="-250" dirty="0">
                <a:solidFill>
                  <a:srgbClr val="000000"/>
                </a:solidFill>
              </a:rPr>
              <a:t>Standard</a:t>
            </a:r>
            <a:r>
              <a:rPr spc="-445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7" y="1037081"/>
            <a:ext cx="8192134" cy="37287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u="heavy" spc="-5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Two 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separate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address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spaces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5" dirty="0">
                <a:latin typeface="Carlito"/>
                <a:cs typeface="Carlito"/>
              </a:rPr>
              <a:t>–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memory  </a:t>
            </a:r>
            <a:r>
              <a:rPr sz="2800" spc="-10" dirty="0">
                <a:latin typeface="Carlito"/>
                <a:cs typeface="Carlito"/>
              </a:rPr>
              <a:t>location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other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I/O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devices.</a:t>
            </a:r>
            <a:endParaRPr sz="2800">
              <a:latin typeface="Carlito"/>
              <a:cs typeface="Carlito"/>
            </a:endParaRPr>
          </a:p>
          <a:p>
            <a:pPr marL="469900" marR="870585" indent="-457834">
              <a:lnSpc>
                <a:spcPts val="3030"/>
              </a:lnSpc>
              <a:spcBef>
                <a:spcPts val="805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sz="2800" spc="-5" dirty="0">
                <a:latin typeface="Carlito"/>
                <a:cs typeface="Carlito"/>
              </a:rPr>
              <a:t>The I/O </a:t>
            </a:r>
            <a:r>
              <a:rPr sz="2800" spc="-10" dirty="0">
                <a:latin typeface="Carlito"/>
                <a:cs typeface="Carlito"/>
              </a:rPr>
              <a:t>devices </a:t>
            </a:r>
            <a:r>
              <a:rPr sz="2800" spc="-15" dirty="0">
                <a:latin typeface="Carlito"/>
                <a:cs typeface="Carlito"/>
              </a:rPr>
              <a:t>are provided dedicated </a:t>
            </a:r>
            <a:r>
              <a:rPr sz="2800" spc="-10" dirty="0">
                <a:latin typeface="Carlito"/>
                <a:cs typeface="Carlito"/>
              </a:rPr>
              <a:t>address  space.</a:t>
            </a:r>
            <a:endParaRPr sz="2800">
              <a:latin typeface="Carlito"/>
              <a:cs typeface="Carlito"/>
            </a:endParaRPr>
          </a:p>
          <a:p>
            <a:pPr marL="469900" marR="1000760" indent="-457834">
              <a:lnSpc>
                <a:spcPts val="3020"/>
              </a:lnSpc>
              <a:spcBef>
                <a:spcPts val="800"/>
              </a:spcBef>
              <a:buFont typeface="Arial"/>
              <a:buChar char="•"/>
              <a:tabLst>
                <a:tab pos="469900" algn="l"/>
                <a:tab pos="470534" algn="l"/>
              </a:tabLst>
            </a:pPr>
            <a:r>
              <a:rPr sz="2800" spc="-10" dirty="0">
                <a:latin typeface="Carlito"/>
                <a:cs typeface="Carlito"/>
              </a:rPr>
              <a:t>Hence, </a:t>
            </a:r>
            <a:r>
              <a:rPr sz="2800" spc="-15" dirty="0">
                <a:latin typeface="Carlito"/>
                <a:cs typeface="Carlito"/>
              </a:rPr>
              <a:t>there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two </a:t>
            </a:r>
            <a:r>
              <a:rPr sz="2800" spc="-20" dirty="0">
                <a:latin typeface="Carlito"/>
                <a:cs typeface="Carlito"/>
              </a:rPr>
              <a:t>separate control </a:t>
            </a:r>
            <a:r>
              <a:rPr sz="2800" spc="-10" dirty="0">
                <a:latin typeface="Carlito"/>
                <a:cs typeface="Carlito"/>
              </a:rPr>
              <a:t>lines </a:t>
            </a:r>
            <a:r>
              <a:rPr sz="2800" spc="-30" dirty="0">
                <a:latin typeface="Carlito"/>
                <a:cs typeface="Carlito"/>
              </a:rPr>
              <a:t>for  </a:t>
            </a:r>
            <a:r>
              <a:rPr sz="2800" spc="-5" dirty="0">
                <a:latin typeface="Carlito"/>
                <a:cs typeface="Carlito"/>
              </a:rPr>
              <a:t>memory and I/O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transfer.</a:t>
            </a:r>
            <a:endParaRPr sz="2800">
              <a:latin typeface="Carlito"/>
              <a:cs typeface="Carlito"/>
            </a:endParaRPr>
          </a:p>
          <a:p>
            <a:pPr marL="930275" lvl="1" indent="-342265">
              <a:lnSpc>
                <a:spcPts val="2815"/>
              </a:lnSpc>
              <a:buClr>
                <a:srgbClr val="000000"/>
              </a:buClr>
              <a:buAutoNum type="alphaLcPeriod"/>
              <a:tabLst>
                <a:tab pos="930910" algn="l"/>
              </a:tabLst>
            </a:pP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I/O </a:t>
            </a: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read </a:t>
            </a: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and I/O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write lines </a:t>
            </a:r>
            <a:r>
              <a:rPr sz="2800" spc="-25" dirty="0">
                <a:solidFill>
                  <a:srgbClr val="C00000"/>
                </a:solidFill>
                <a:latin typeface="Carlito"/>
                <a:cs typeface="Carlito"/>
              </a:rPr>
              <a:t>for </a:t>
            </a: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I/O</a:t>
            </a:r>
            <a:r>
              <a:rPr sz="2800" spc="9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spc="-25" dirty="0">
                <a:solidFill>
                  <a:srgbClr val="C00000"/>
                </a:solidFill>
                <a:latin typeface="Carlito"/>
                <a:cs typeface="Carlito"/>
              </a:rPr>
              <a:t>transfer</a:t>
            </a:r>
            <a:endParaRPr sz="2800">
              <a:latin typeface="Carlito"/>
              <a:cs typeface="Carlito"/>
            </a:endParaRPr>
          </a:p>
          <a:p>
            <a:pPr marL="469900" marR="581025" lvl="1" indent="118745">
              <a:lnSpc>
                <a:spcPts val="3020"/>
              </a:lnSpc>
              <a:spcBef>
                <a:spcPts val="215"/>
              </a:spcBef>
              <a:buClr>
                <a:srgbClr val="000000"/>
              </a:buClr>
              <a:buAutoNum type="alphaLcPeriod"/>
              <a:tabLst>
                <a:tab pos="947419" algn="l"/>
              </a:tabLst>
            </a:pP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Memory </a:t>
            </a:r>
            <a:r>
              <a:rPr sz="2800" spc="-30" dirty="0">
                <a:solidFill>
                  <a:srgbClr val="C00000"/>
                </a:solidFill>
                <a:latin typeface="Carlito"/>
                <a:cs typeface="Carlito"/>
              </a:rPr>
              <a:t>Write </a:t>
            </a: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and Memory </a:t>
            </a: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Read </a:t>
            </a:r>
            <a:r>
              <a:rPr sz="2800" spc="-25" dirty="0">
                <a:solidFill>
                  <a:srgbClr val="C00000"/>
                </a:solidFill>
                <a:latin typeface="Carlito"/>
                <a:cs typeface="Carlito"/>
              </a:rPr>
              <a:t>for </a:t>
            </a: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memory  </a:t>
            </a:r>
            <a:r>
              <a:rPr sz="2800" spc="-25" dirty="0">
                <a:solidFill>
                  <a:srgbClr val="C00000"/>
                </a:solidFill>
                <a:latin typeface="Carlito"/>
                <a:cs typeface="Carlito"/>
              </a:rPr>
              <a:t>transfer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152" y="685800"/>
            <a:ext cx="7473696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60775" y="5028946"/>
            <a:ext cx="1755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Standard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373379"/>
            <a:ext cx="8348472" cy="5469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121" y="150063"/>
            <a:ext cx="3266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>
                <a:solidFill>
                  <a:srgbClr val="000000"/>
                </a:solidFill>
              </a:rPr>
              <a:t>I. </a:t>
            </a:r>
            <a:r>
              <a:rPr spc="-250" dirty="0">
                <a:solidFill>
                  <a:srgbClr val="000000"/>
                </a:solidFill>
              </a:rPr>
              <a:t>Standard</a:t>
            </a:r>
            <a:r>
              <a:rPr spc="-445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I/O</a:t>
            </a:r>
          </a:p>
        </p:txBody>
      </p:sp>
      <p:sp>
        <p:nvSpPr>
          <p:cNvPr id="3" name="object 3"/>
          <p:cNvSpPr/>
          <p:nvPr/>
        </p:nvSpPr>
        <p:spPr>
          <a:xfrm>
            <a:off x="1363980" y="2751327"/>
            <a:ext cx="374015" cy="18415"/>
          </a:xfrm>
          <a:custGeom>
            <a:avLst/>
            <a:gdLst/>
            <a:ahLst/>
            <a:cxnLst/>
            <a:rect l="l" t="t" r="r" b="b"/>
            <a:pathLst>
              <a:path w="374014" h="18414">
                <a:moveTo>
                  <a:pt x="373761" y="0"/>
                </a:moveTo>
                <a:lnTo>
                  <a:pt x="0" y="0"/>
                </a:lnTo>
                <a:lnTo>
                  <a:pt x="0" y="18414"/>
                </a:lnTo>
                <a:lnTo>
                  <a:pt x="373761" y="18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34895" y="4542028"/>
            <a:ext cx="374015" cy="18415"/>
          </a:xfrm>
          <a:custGeom>
            <a:avLst/>
            <a:gdLst/>
            <a:ahLst/>
            <a:cxnLst/>
            <a:rect l="l" t="t" r="r" b="b"/>
            <a:pathLst>
              <a:path w="374014" h="18414">
                <a:moveTo>
                  <a:pt x="373761" y="0"/>
                </a:moveTo>
                <a:lnTo>
                  <a:pt x="0" y="0"/>
                </a:lnTo>
                <a:lnTo>
                  <a:pt x="0" y="18415"/>
                </a:lnTo>
                <a:lnTo>
                  <a:pt x="373761" y="18415"/>
                </a:lnTo>
                <a:lnTo>
                  <a:pt x="3737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1037081"/>
            <a:ext cx="8440420" cy="47536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1920" marR="5080" algn="just">
              <a:lnSpc>
                <a:spcPct val="90200"/>
              </a:lnSpc>
              <a:spcBef>
                <a:spcPts val="425"/>
              </a:spcBef>
            </a:pPr>
            <a:r>
              <a:rPr sz="2800" spc="-15" dirty="0">
                <a:solidFill>
                  <a:srgbClr val="0000FF"/>
                </a:solidFill>
                <a:latin typeface="Carlito"/>
                <a:cs typeface="Carlito"/>
              </a:rPr>
              <a:t>Standard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I/O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0" dirty="0">
                <a:latin typeface="Carlito"/>
                <a:cs typeface="Carlito"/>
              </a:rPr>
              <a:t>port </a:t>
            </a:r>
            <a:r>
              <a:rPr sz="2800" spc="-5" dirty="0">
                <a:latin typeface="Carlito"/>
                <a:cs typeface="Carlito"/>
              </a:rPr>
              <a:t>I/O </a:t>
            </a:r>
            <a:r>
              <a:rPr sz="2800" spc="-10" dirty="0">
                <a:latin typeface="Carlito"/>
                <a:cs typeface="Carlito"/>
              </a:rPr>
              <a:t>(called </a:t>
            </a:r>
            <a:r>
              <a:rPr sz="2800" spc="-15" dirty="0">
                <a:latin typeface="Carlito"/>
                <a:cs typeface="Carlito"/>
              </a:rPr>
              <a:t>isolat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ed</a:t>
            </a:r>
            <a:r>
              <a:rPr sz="2800" spc="-1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I/O </a:t>
            </a:r>
            <a:r>
              <a:rPr sz="2800" spc="-10" dirty="0">
                <a:latin typeface="Carlito"/>
                <a:cs typeface="Carlito"/>
              </a:rPr>
              <a:t>by </a:t>
            </a:r>
            <a:r>
              <a:rPr sz="2800" spc="-15" dirty="0">
                <a:latin typeface="Carlito"/>
                <a:cs typeface="Carlito"/>
              </a:rPr>
              <a:t>Intel) </a:t>
            </a:r>
            <a:r>
              <a:rPr sz="2800" spc="-10" dirty="0">
                <a:latin typeface="Carlito"/>
                <a:cs typeface="Carlito"/>
              </a:rPr>
              <a:t>uses 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output </a:t>
            </a:r>
            <a:r>
              <a:rPr sz="2800" spc="-20" dirty="0">
                <a:solidFill>
                  <a:srgbClr val="C00000"/>
                </a:solidFill>
                <a:latin typeface="Carlito"/>
                <a:cs typeface="Carlito"/>
              </a:rPr>
              <a:t>control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pin </a:t>
            </a:r>
            <a:r>
              <a:rPr sz="2800" spc="-10" dirty="0">
                <a:latin typeface="Carlito"/>
                <a:cs typeface="Carlito"/>
              </a:rPr>
              <a:t>such </a:t>
            </a:r>
            <a:r>
              <a:rPr sz="2800" spc="-5" dirty="0">
                <a:latin typeface="Carlito"/>
                <a:cs typeface="Carlito"/>
              </a:rPr>
              <a:t>as the M/ </a:t>
            </a:r>
            <a:r>
              <a:rPr sz="2800" spc="-630" dirty="0">
                <a:latin typeface="Arial"/>
                <a:cs typeface="Arial"/>
              </a:rPr>
              <a:t>𝐼𝑂 </a:t>
            </a:r>
            <a:r>
              <a:rPr sz="2800" spc="-10" dirty="0">
                <a:latin typeface="Carlito"/>
                <a:cs typeface="Carlito"/>
              </a:rPr>
              <a:t>pin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distinguish  between </a:t>
            </a:r>
            <a:r>
              <a:rPr sz="2800" spc="-5" dirty="0">
                <a:latin typeface="Carlito"/>
                <a:cs typeface="Carlito"/>
              </a:rPr>
              <a:t>I/O and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30" dirty="0">
                <a:latin typeface="Carlito"/>
                <a:cs typeface="Carlito"/>
              </a:rPr>
              <a:t>memory.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Carlito"/>
              <a:cs typeface="Carlito"/>
            </a:endParaRPr>
          </a:p>
          <a:p>
            <a:pPr marL="508000" indent="-495934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08000" algn="l"/>
                <a:tab pos="508634" algn="l"/>
                <a:tab pos="1571625" algn="l"/>
              </a:tabLst>
            </a:pPr>
            <a:r>
              <a:rPr sz="2800" spc="-5" dirty="0">
                <a:latin typeface="Carlito"/>
                <a:cs typeface="Carlito"/>
              </a:rPr>
              <a:t>M/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630" dirty="0">
                <a:latin typeface="Arial"/>
                <a:cs typeface="Arial"/>
              </a:rPr>
              <a:t>𝐼𝑂	</a:t>
            </a:r>
            <a:r>
              <a:rPr sz="2800" spc="-10" dirty="0">
                <a:latin typeface="Carlito"/>
                <a:cs typeface="Carlito"/>
              </a:rPr>
              <a:t>pin=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High;</a:t>
            </a:r>
            <a:endParaRPr sz="2800">
              <a:latin typeface="Carlito"/>
              <a:cs typeface="Carlito"/>
            </a:endParaRPr>
          </a:p>
          <a:p>
            <a:pPr marL="121920" marR="980440" indent="575945">
              <a:lnSpc>
                <a:spcPts val="3020"/>
              </a:lnSpc>
              <a:spcBef>
                <a:spcPts val="825"/>
              </a:spcBef>
            </a:pP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processor </a:t>
            </a:r>
            <a:r>
              <a:rPr sz="2800" spc="-10" dirty="0">
                <a:latin typeface="Carlito"/>
                <a:cs typeface="Carlito"/>
              </a:rPr>
              <a:t>outputs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High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indicate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5" dirty="0">
                <a:solidFill>
                  <a:srgbClr val="C55A11"/>
                </a:solidFill>
                <a:latin typeface="Carlito"/>
                <a:cs typeface="Carlito"/>
              </a:rPr>
              <a:t>memory </a:t>
            </a:r>
            <a:r>
              <a:rPr sz="2800" spc="-15" dirty="0">
                <a:solidFill>
                  <a:srgbClr val="C55A11"/>
                </a:solidFill>
                <a:latin typeface="Carlito"/>
                <a:cs typeface="Carlito"/>
              </a:rPr>
              <a:t>operation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going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on.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arlito"/>
              <a:cs typeface="Carlito"/>
            </a:endParaRPr>
          </a:p>
          <a:p>
            <a:pPr marL="979169" lvl="1" indent="-513715">
              <a:lnSpc>
                <a:spcPct val="100000"/>
              </a:lnSpc>
              <a:buFont typeface="Wingdings"/>
              <a:buChar char=""/>
              <a:tabLst>
                <a:tab pos="978535" algn="l"/>
                <a:tab pos="979169" algn="l"/>
              </a:tabLst>
            </a:pPr>
            <a:r>
              <a:rPr sz="2800" spc="-5" dirty="0">
                <a:latin typeface="Carlito"/>
                <a:cs typeface="Carlito"/>
              </a:rPr>
              <a:t>M/ </a:t>
            </a:r>
            <a:r>
              <a:rPr sz="2800" spc="-630" dirty="0">
                <a:latin typeface="Arial"/>
                <a:cs typeface="Arial"/>
              </a:rPr>
              <a:t>𝐼𝑂 </a:t>
            </a:r>
            <a:r>
              <a:rPr sz="2800" spc="-10" dirty="0">
                <a:latin typeface="Carlito"/>
                <a:cs typeface="Carlito"/>
              </a:rPr>
              <a:t>pin </a:t>
            </a:r>
            <a:r>
              <a:rPr sz="2800" spc="-5" dirty="0">
                <a:latin typeface="Carlito"/>
                <a:cs typeface="Carlito"/>
              </a:rPr>
              <a:t>=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Low;</a:t>
            </a:r>
            <a:endParaRPr sz="2800">
              <a:latin typeface="Carlito"/>
              <a:cs typeface="Carlito"/>
            </a:endParaRPr>
          </a:p>
          <a:p>
            <a:pPr marL="121920" marR="500380" indent="575945">
              <a:lnSpc>
                <a:spcPts val="3030"/>
              </a:lnSpc>
              <a:spcBef>
                <a:spcPts val="819"/>
              </a:spcBef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processor </a:t>
            </a:r>
            <a:r>
              <a:rPr sz="2800" spc="-10" dirty="0">
                <a:latin typeface="Carlito"/>
                <a:cs typeface="Carlito"/>
              </a:rPr>
              <a:t>outputs </a:t>
            </a:r>
            <a:r>
              <a:rPr sz="2800" spc="-5" dirty="0">
                <a:latin typeface="Carlito"/>
                <a:cs typeface="Carlito"/>
              </a:rPr>
              <a:t>a Low </a:t>
            </a:r>
            <a:r>
              <a:rPr sz="2800" spc="-15" dirty="0">
                <a:latin typeface="Carlito"/>
                <a:cs typeface="Carlito"/>
              </a:rPr>
              <a:t>to indicate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5" dirty="0">
                <a:solidFill>
                  <a:srgbClr val="C55A11"/>
                </a:solidFill>
                <a:latin typeface="Carlito"/>
                <a:cs typeface="Carlito"/>
              </a:rPr>
              <a:t>I/O  </a:t>
            </a:r>
            <a:r>
              <a:rPr sz="2800" spc="-15" dirty="0">
                <a:solidFill>
                  <a:srgbClr val="C55A11"/>
                </a:solidFill>
                <a:latin typeface="Carlito"/>
                <a:cs typeface="Carlito"/>
              </a:rPr>
              <a:t>operation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going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on.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25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296926"/>
            <a:ext cx="28727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Standard</a:t>
            </a:r>
            <a:r>
              <a:rPr spc="-285" dirty="0"/>
              <a:t> </a:t>
            </a:r>
            <a:r>
              <a:rPr spc="-110" dirty="0"/>
              <a:t>I/O</a:t>
            </a:r>
          </a:p>
        </p:txBody>
      </p:sp>
      <p:sp>
        <p:nvSpPr>
          <p:cNvPr id="3" name="object 3"/>
          <p:cNvSpPr/>
          <p:nvPr/>
        </p:nvSpPr>
        <p:spPr>
          <a:xfrm>
            <a:off x="940735" y="2157660"/>
            <a:ext cx="7474379" cy="6480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8269" y="1311336"/>
            <a:ext cx="7679852" cy="473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1083" y="3206622"/>
            <a:ext cx="717359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Memory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oriented</a:t>
            </a:r>
            <a:r>
              <a:rPr sz="24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instruction</a:t>
            </a:r>
            <a:endParaRPr sz="2400">
              <a:latin typeface="Arial"/>
              <a:cs typeface="Arial"/>
            </a:endParaRPr>
          </a:p>
          <a:p>
            <a:pPr marL="12700" marR="46863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LDA 3000H </a:t>
            </a:r>
            <a:r>
              <a:rPr sz="2400" dirty="0">
                <a:latin typeface="Arial"/>
                <a:cs typeface="Arial"/>
              </a:rPr>
              <a:t>(content of memory </a:t>
            </a:r>
            <a:r>
              <a:rPr sz="2400" spc="-5" dirty="0">
                <a:latin typeface="Arial"/>
                <a:cs typeface="Arial"/>
              </a:rPr>
              <a:t>location 3000h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is  copied in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accumulator)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65" dirty="0">
                <a:latin typeface="Arial"/>
                <a:cs typeface="Arial"/>
              </a:rPr>
              <a:t>STA </a:t>
            </a:r>
            <a:r>
              <a:rPr sz="2400" b="1" spc="-5" dirty="0">
                <a:latin typeface="Arial"/>
                <a:cs typeface="Arial"/>
              </a:rPr>
              <a:t>3000H </a:t>
            </a:r>
            <a:r>
              <a:rPr sz="2400" dirty="0">
                <a:latin typeface="Arial"/>
                <a:cs typeface="Arial"/>
              </a:rPr>
              <a:t>(the content </a:t>
            </a:r>
            <a:r>
              <a:rPr sz="2400" spc="-5" dirty="0">
                <a:latin typeface="Arial"/>
                <a:cs typeface="Arial"/>
              </a:rPr>
              <a:t>of accumulator is stored into  the </a:t>
            </a:r>
            <a:r>
              <a:rPr sz="2400" dirty="0">
                <a:latin typeface="Arial"/>
                <a:cs typeface="Arial"/>
              </a:rPr>
              <a:t>memory </a:t>
            </a:r>
            <a:r>
              <a:rPr sz="2400" spc="-5" dirty="0">
                <a:latin typeface="Arial"/>
                <a:cs typeface="Arial"/>
              </a:rPr>
              <a:t>location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3000h)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26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296926"/>
            <a:ext cx="28727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Standard</a:t>
            </a:r>
            <a:r>
              <a:rPr spc="-285" dirty="0"/>
              <a:t> </a:t>
            </a:r>
            <a:r>
              <a:rPr spc="-110" dirty="0"/>
              <a:t>I/O</a:t>
            </a:r>
          </a:p>
        </p:txBody>
      </p:sp>
      <p:sp>
        <p:nvSpPr>
          <p:cNvPr id="3" name="object 3"/>
          <p:cNvSpPr/>
          <p:nvPr/>
        </p:nvSpPr>
        <p:spPr>
          <a:xfrm>
            <a:off x="744787" y="1369391"/>
            <a:ext cx="7474651" cy="4087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27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28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5764" y="370078"/>
            <a:ext cx="400812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14" dirty="0">
                <a:solidFill>
                  <a:srgbClr val="C00000"/>
                </a:solidFill>
              </a:rPr>
              <a:t>II. </a:t>
            </a:r>
            <a:r>
              <a:rPr sz="3300" spc="-130" dirty="0">
                <a:solidFill>
                  <a:srgbClr val="C00000"/>
                </a:solidFill>
              </a:rPr>
              <a:t>Memory-mapped</a:t>
            </a:r>
            <a:r>
              <a:rPr sz="3300" spc="-320" dirty="0">
                <a:solidFill>
                  <a:srgbClr val="C00000"/>
                </a:solidFill>
              </a:rPr>
              <a:t> </a:t>
            </a:r>
            <a:r>
              <a:rPr sz="3300" spc="-85" dirty="0">
                <a:solidFill>
                  <a:srgbClr val="C00000"/>
                </a:solidFill>
              </a:rPr>
              <a:t>I/O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81076" y="1120902"/>
            <a:ext cx="8001634" cy="356616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154305">
              <a:lnSpc>
                <a:spcPts val="3240"/>
              </a:lnSpc>
              <a:spcBef>
                <a:spcPts val="505"/>
              </a:spcBef>
            </a:pPr>
            <a:r>
              <a:rPr sz="3000" dirty="0">
                <a:latin typeface="Carlito"/>
                <a:cs typeface="Carlito"/>
              </a:rPr>
              <a:t>In </a:t>
            </a:r>
            <a:r>
              <a:rPr sz="3000" spc="-5" dirty="0">
                <a:latin typeface="Carlito"/>
                <a:cs typeface="Carlito"/>
              </a:rPr>
              <a:t>memory </a:t>
            </a:r>
            <a:r>
              <a:rPr sz="3000" dirty="0">
                <a:latin typeface="Carlito"/>
                <a:cs typeface="Carlito"/>
              </a:rPr>
              <a:t>mapped I/O </a:t>
            </a:r>
            <a:r>
              <a:rPr sz="3000" spc="-5" dirty="0">
                <a:latin typeface="Carlito"/>
                <a:cs typeface="Carlito"/>
              </a:rPr>
              <a:t>scheme, </a:t>
            </a:r>
            <a:r>
              <a:rPr sz="3000" spc="-10" dirty="0">
                <a:latin typeface="Carlito"/>
                <a:cs typeface="Carlito"/>
              </a:rPr>
              <a:t>CPU </a:t>
            </a:r>
            <a:r>
              <a:rPr sz="3000" spc="-5" dirty="0">
                <a:latin typeface="Carlito"/>
                <a:cs typeface="Carlito"/>
              </a:rPr>
              <a:t>addresses </a:t>
            </a:r>
            <a:r>
              <a:rPr sz="3000" dirty="0">
                <a:latin typeface="Carlito"/>
                <a:cs typeface="Carlito"/>
              </a:rPr>
              <a:t>an  I/O </a:t>
            </a:r>
            <a:r>
              <a:rPr sz="3000" spc="-5" dirty="0">
                <a:latin typeface="Carlito"/>
                <a:cs typeface="Carlito"/>
              </a:rPr>
              <a:t>device </a:t>
            </a:r>
            <a:r>
              <a:rPr sz="3000" spc="-15" dirty="0">
                <a:latin typeface="Carlito"/>
                <a:cs typeface="Carlito"/>
              </a:rPr>
              <a:t>just </a:t>
            </a:r>
            <a:r>
              <a:rPr sz="3000" spc="-30" dirty="0">
                <a:latin typeface="Carlito"/>
                <a:cs typeface="Carlito"/>
              </a:rPr>
              <a:t>like </a:t>
            </a:r>
            <a:r>
              <a:rPr sz="3000" dirty="0">
                <a:latin typeface="Carlito"/>
                <a:cs typeface="Carlito"/>
              </a:rPr>
              <a:t>a memory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location.</a:t>
            </a:r>
            <a:endParaRPr sz="3000">
              <a:latin typeface="Carlito"/>
              <a:cs typeface="Carlito"/>
            </a:endParaRPr>
          </a:p>
          <a:p>
            <a:pPr marL="184785" marR="5080" indent="-172720">
              <a:lnSpc>
                <a:spcPct val="90000"/>
              </a:lnSpc>
              <a:spcBef>
                <a:spcPts val="755"/>
              </a:spcBef>
              <a:buFont typeface="Arial"/>
              <a:buChar char="•"/>
              <a:tabLst>
                <a:tab pos="185420" algn="l"/>
              </a:tabLst>
            </a:pPr>
            <a:r>
              <a:rPr sz="3000" dirty="0">
                <a:latin typeface="Carlito"/>
                <a:cs typeface="Carlito"/>
              </a:rPr>
              <a:t>In </a:t>
            </a:r>
            <a:r>
              <a:rPr sz="3000" spc="-5" dirty="0">
                <a:latin typeface="Carlito"/>
                <a:cs typeface="Carlito"/>
              </a:rPr>
              <a:t>this scheme only </a:t>
            </a:r>
            <a:r>
              <a:rPr sz="3000" spc="-5" dirty="0">
                <a:solidFill>
                  <a:srgbClr val="0000FF"/>
                </a:solidFill>
                <a:latin typeface="Carlito"/>
                <a:cs typeface="Carlito"/>
              </a:rPr>
              <a:t>single </a:t>
            </a:r>
            <a:r>
              <a:rPr sz="3000" spc="-10" dirty="0">
                <a:solidFill>
                  <a:srgbClr val="0000FF"/>
                </a:solidFill>
                <a:latin typeface="Carlito"/>
                <a:cs typeface="Carlito"/>
              </a:rPr>
              <a:t>address </a:t>
            </a:r>
            <a:r>
              <a:rPr sz="3000" spc="-5" dirty="0">
                <a:solidFill>
                  <a:srgbClr val="0000FF"/>
                </a:solidFill>
                <a:latin typeface="Carlito"/>
                <a:cs typeface="Carlito"/>
              </a:rPr>
              <a:t>space </a:t>
            </a:r>
            <a:r>
              <a:rPr sz="3000" dirty="0">
                <a:latin typeface="Carlito"/>
                <a:cs typeface="Carlito"/>
              </a:rPr>
              <a:t>is </a:t>
            </a:r>
            <a:r>
              <a:rPr sz="3000" spc="-5" dirty="0">
                <a:latin typeface="Carlito"/>
                <a:cs typeface="Carlito"/>
              </a:rPr>
              <a:t>used by  </a:t>
            </a:r>
            <a:r>
              <a:rPr sz="3000" spc="-20" dirty="0">
                <a:latin typeface="Carlito"/>
                <a:cs typeface="Carlito"/>
              </a:rPr>
              <a:t>CPU. </a:t>
            </a:r>
            <a:r>
              <a:rPr sz="3000" spc="-5" dirty="0">
                <a:latin typeface="Carlito"/>
                <a:cs typeface="Carlito"/>
              </a:rPr>
              <a:t>Some addresses </a:t>
            </a:r>
            <a:r>
              <a:rPr sz="3000" dirty="0">
                <a:latin typeface="Carlito"/>
                <a:cs typeface="Carlito"/>
              </a:rPr>
              <a:t>of the </a:t>
            </a:r>
            <a:r>
              <a:rPr sz="3000" spc="-10" dirty="0">
                <a:solidFill>
                  <a:srgbClr val="0000FF"/>
                </a:solidFill>
                <a:latin typeface="Carlito"/>
                <a:cs typeface="Carlito"/>
              </a:rPr>
              <a:t>address </a:t>
            </a:r>
            <a:r>
              <a:rPr sz="3000" spc="-5" dirty="0">
                <a:solidFill>
                  <a:srgbClr val="0000FF"/>
                </a:solidFill>
                <a:latin typeface="Carlito"/>
                <a:cs typeface="Carlito"/>
              </a:rPr>
              <a:t>space </a:t>
            </a:r>
            <a:r>
              <a:rPr sz="3000" spc="-15" dirty="0">
                <a:latin typeface="Carlito"/>
                <a:cs typeface="Carlito"/>
              </a:rPr>
              <a:t>are  </a:t>
            </a:r>
            <a:r>
              <a:rPr sz="3000" dirty="0">
                <a:latin typeface="Carlito"/>
                <a:cs typeface="Carlito"/>
              </a:rPr>
              <a:t>assigned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memory </a:t>
            </a:r>
            <a:r>
              <a:rPr sz="3000" spc="-10" dirty="0">
                <a:latin typeface="Carlito"/>
                <a:cs typeface="Carlito"/>
              </a:rPr>
              <a:t>location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other </a:t>
            </a:r>
            <a:r>
              <a:rPr sz="3000" spc="-15" dirty="0">
                <a:latin typeface="Carlito"/>
                <a:cs typeface="Carlito"/>
              </a:rPr>
              <a:t>are  </a:t>
            </a:r>
            <a:r>
              <a:rPr sz="3000" dirty="0">
                <a:latin typeface="Carlito"/>
                <a:cs typeface="Carlito"/>
              </a:rPr>
              <a:t>assigned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dirty="0">
                <a:latin typeface="Carlito"/>
                <a:cs typeface="Carlito"/>
              </a:rPr>
              <a:t>I/O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devices.</a:t>
            </a:r>
            <a:endParaRPr sz="3000">
              <a:latin typeface="Carlito"/>
              <a:cs typeface="Carlito"/>
            </a:endParaRPr>
          </a:p>
          <a:p>
            <a:pPr marL="184785" marR="264160" indent="-172720">
              <a:lnSpc>
                <a:spcPts val="3240"/>
              </a:lnSpc>
              <a:spcBef>
                <a:spcPts val="840"/>
              </a:spcBef>
              <a:buFont typeface="Arial"/>
              <a:buChar char="•"/>
              <a:tabLst>
                <a:tab pos="185420" algn="l"/>
              </a:tabLst>
            </a:pPr>
            <a:r>
              <a:rPr sz="3000" spc="-5" dirty="0">
                <a:latin typeface="Carlito"/>
                <a:cs typeface="Carlito"/>
              </a:rPr>
              <a:t>The instructions used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manipulate </a:t>
            </a:r>
            <a:r>
              <a:rPr sz="3000" dirty="0">
                <a:latin typeface="Carlito"/>
                <a:cs typeface="Carlito"/>
              </a:rPr>
              <a:t>the</a:t>
            </a:r>
            <a:r>
              <a:rPr sz="3000" spc="-7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memory 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5" dirty="0">
                <a:latin typeface="Carlito"/>
                <a:cs typeface="Carlito"/>
              </a:rPr>
              <a:t>be used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5" dirty="0">
                <a:latin typeface="Carlito"/>
                <a:cs typeface="Carlito"/>
              </a:rPr>
              <a:t>I/O </a:t>
            </a:r>
            <a:r>
              <a:rPr sz="3000" spc="-10" dirty="0">
                <a:latin typeface="Carlito"/>
                <a:cs typeface="Carlito"/>
              </a:rPr>
              <a:t>devices.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29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5764" y="370078"/>
            <a:ext cx="400812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14" dirty="0">
                <a:solidFill>
                  <a:srgbClr val="000000"/>
                </a:solidFill>
              </a:rPr>
              <a:t>II. </a:t>
            </a:r>
            <a:r>
              <a:rPr sz="3300" spc="-130" dirty="0">
                <a:solidFill>
                  <a:srgbClr val="000000"/>
                </a:solidFill>
              </a:rPr>
              <a:t>Memory-mapped</a:t>
            </a:r>
            <a:r>
              <a:rPr sz="3300" spc="-320" dirty="0">
                <a:solidFill>
                  <a:srgbClr val="000000"/>
                </a:solidFill>
              </a:rPr>
              <a:t> </a:t>
            </a:r>
            <a:r>
              <a:rPr sz="3300" spc="-85" dirty="0">
                <a:solidFill>
                  <a:srgbClr val="000000"/>
                </a:solidFill>
              </a:rPr>
              <a:t>I/O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81076" y="1120902"/>
            <a:ext cx="8007984" cy="462089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4785" marR="64769" indent="-172720">
              <a:lnSpc>
                <a:spcPct val="90100"/>
              </a:lnSpc>
              <a:spcBef>
                <a:spcPts val="455"/>
              </a:spcBef>
              <a:buFont typeface="Arial"/>
              <a:buChar char="•"/>
              <a:tabLst>
                <a:tab pos="185420" algn="l"/>
              </a:tabLst>
            </a:pPr>
            <a:r>
              <a:rPr sz="3000" b="1" dirty="0">
                <a:solidFill>
                  <a:srgbClr val="0000FF"/>
                </a:solidFill>
                <a:latin typeface="Carlito"/>
                <a:cs typeface="Carlito"/>
              </a:rPr>
              <a:t>In </a:t>
            </a:r>
            <a:r>
              <a:rPr sz="3000" b="1" spc="-5" dirty="0">
                <a:solidFill>
                  <a:srgbClr val="0000FF"/>
                </a:solidFill>
                <a:latin typeface="Carlito"/>
                <a:cs typeface="Carlito"/>
              </a:rPr>
              <a:t>memory-map</a:t>
            </a:r>
            <a:r>
              <a:rPr sz="3000" b="1" u="heavy" spc="-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pe</a:t>
            </a:r>
            <a:r>
              <a:rPr sz="3000" b="1" spc="-5" dirty="0">
                <a:solidFill>
                  <a:srgbClr val="0000FF"/>
                </a:solidFill>
                <a:latin typeface="Carlito"/>
                <a:cs typeface="Carlito"/>
              </a:rPr>
              <a:t>d I/O</a:t>
            </a:r>
            <a:r>
              <a:rPr sz="3000" spc="-5" dirty="0">
                <a:latin typeface="Carlito"/>
                <a:cs typeface="Carlito"/>
              </a:rPr>
              <a:t>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microprocessor </a:t>
            </a:r>
            <a:r>
              <a:rPr sz="3000" spc="-5" dirty="0">
                <a:latin typeface="Carlito"/>
                <a:cs typeface="Carlito"/>
              </a:rPr>
              <a:t>does  not use </a:t>
            </a:r>
            <a:r>
              <a:rPr sz="3000" dirty="0">
                <a:latin typeface="Carlito"/>
                <a:cs typeface="Carlito"/>
              </a:rPr>
              <a:t>the M / </a:t>
            </a:r>
            <a:r>
              <a:rPr sz="3200" spc="-715" dirty="0">
                <a:latin typeface="Arial"/>
                <a:cs typeface="Arial"/>
              </a:rPr>
              <a:t>𝐼𝑂 </a:t>
            </a:r>
            <a:r>
              <a:rPr sz="3000" spc="-20" dirty="0">
                <a:latin typeface="Carlito"/>
                <a:cs typeface="Carlito"/>
              </a:rPr>
              <a:t>control </a:t>
            </a:r>
            <a:r>
              <a:rPr sz="3000" spc="-10" dirty="0">
                <a:latin typeface="Carlito"/>
                <a:cs typeface="Carlito"/>
              </a:rPr>
              <a:t>pin. Instead, </a:t>
            </a:r>
            <a:r>
              <a:rPr sz="3000" dirty="0">
                <a:latin typeface="Carlito"/>
                <a:cs typeface="Carlito"/>
              </a:rPr>
              <a:t>the  </a:t>
            </a:r>
            <a:r>
              <a:rPr sz="3000" spc="-15" dirty="0">
                <a:latin typeface="Carlito"/>
                <a:cs typeface="Carlito"/>
              </a:rPr>
              <a:t>microprocessor </a:t>
            </a:r>
            <a:r>
              <a:rPr sz="3000" spc="-5" dirty="0">
                <a:latin typeface="Carlito"/>
                <a:cs typeface="Carlito"/>
              </a:rPr>
              <a:t>uses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0" dirty="0">
                <a:latin typeface="Carlito"/>
                <a:cs typeface="Carlito"/>
              </a:rPr>
              <a:t>unused address </a:t>
            </a:r>
            <a:r>
              <a:rPr sz="3000" spc="-5" dirty="0">
                <a:latin typeface="Carlito"/>
                <a:cs typeface="Carlito"/>
              </a:rPr>
              <a:t>pin </a:t>
            </a:r>
            <a:r>
              <a:rPr sz="3000" spc="-15" dirty="0">
                <a:latin typeface="Carlito"/>
                <a:cs typeface="Carlito"/>
              </a:rPr>
              <a:t>to  </a:t>
            </a:r>
            <a:r>
              <a:rPr sz="3000" spc="-10" dirty="0">
                <a:latin typeface="Carlito"/>
                <a:cs typeface="Carlito"/>
              </a:rPr>
              <a:t>distinguish between </a:t>
            </a:r>
            <a:r>
              <a:rPr sz="3000" dirty="0">
                <a:latin typeface="Carlito"/>
                <a:cs typeface="Carlito"/>
              </a:rPr>
              <a:t>memory and </a:t>
            </a:r>
            <a:r>
              <a:rPr sz="3000" spc="-10" dirty="0">
                <a:latin typeface="Carlito"/>
                <a:cs typeface="Carlito"/>
              </a:rPr>
              <a:t>I/O.</a:t>
            </a:r>
            <a:endParaRPr sz="3000">
              <a:latin typeface="Carlito"/>
              <a:cs typeface="Carlito"/>
            </a:endParaRPr>
          </a:p>
          <a:p>
            <a:pPr marL="184785" marR="170180" indent="-172720">
              <a:lnSpc>
                <a:spcPts val="3240"/>
              </a:lnSpc>
              <a:spcBef>
                <a:spcPts val="840"/>
              </a:spcBef>
              <a:buFont typeface="Arial"/>
              <a:buChar char="•"/>
              <a:tabLst>
                <a:tab pos="185420" algn="l"/>
              </a:tabLst>
            </a:pPr>
            <a:r>
              <a:rPr sz="3000" dirty="0">
                <a:latin typeface="Carlito"/>
                <a:cs typeface="Carlito"/>
              </a:rPr>
              <a:t>In </a:t>
            </a:r>
            <a:r>
              <a:rPr sz="3000" spc="-5" dirty="0">
                <a:latin typeface="Carlito"/>
                <a:cs typeface="Carlito"/>
              </a:rPr>
              <a:t>memory </a:t>
            </a:r>
            <a:r>
              <a:rPr sz="3000" dirty="0">
                <a:latin typeface="Carlito"/>
                <a:cs typeface="Carlito"/>
              </a:rPr>
              <a:t>mapped </a:t>
            </a:r>
            <a:r>
              <a:rPr sz="3000" spc="-20" dirty="0">
                <a:latin typeface="Carlito"/>
                <a:cs typeface="Carlito"/>
              </a:rPr>
              <a:t>I/O,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most significant bit  </a:t>
            </a:r>
            <a:r>
              <a:rPr sz="3000" spc="-5" dirty="0">
                <a:latin typeface="Carlito"/>
                <a:cs typeface="Carlito"/>
              </a:rPr>
              <a:t>(msb) 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address can be </a:t>
            </a:r>
            <a:r>
              <a:rPr sz="3000" spc="-5" dirty="0">
                <a:latin typeface="Carlito"/>
                <a:cs typeface="Carlito"/>
              </a:rPr>
              <a:t>used </a:t>
            </a:r>
            <a:r>
              <a:rPr sz="3000" spc="-10" dirty="0">
                <a:latin typeface="Carlito"/>
                <a:cs typeface="Carlito"/>
              </a:rPr>
              <a:t>to distinguished  between </a:t>
            </a:r>
            <a:r>
              <a:rPr sz="3000" spc="-5" dirty="0">
                <a:latin typeface="Carlito"/>
                <a:cs typeface="Carlito"/>
              </a:rPr>
              <a:t>I/O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30" dirty="0">
                <a:latin typeface="Carlito"/>
                <a:cs typeface="Carlito"/>
              </a:rPr>
              <a:t>memory.</a:t>
            </a:r>
            <a:endParaRPr sz="3000">
              <a:latin typeface="Carlito"/>
              <a:cs typeface="Carlito"/>
            </a:endParaRPr>
          </a:p>
          <a:p>
            <a:pPr marL="1213485">
              <a:lnSpc>
                <a:spcPct val="100000"/>
              </a:lnSpc>
              <a:spcBef>
                <a:spcPts val="400"/>
              </a:spcBef>
            </a:pPr>
            <a:r>
              <a:rPr sz="3000" dirty="0">
                <a:latin typeface="Carlito"/>
                <a:cs typeface="Carlito"/>
              </a:rPr>
              <a:t>Msb=1; I/O </a:t>
            </a:r>
            <a:r>
              <a:rPr sz="3000" spc="-5" dirty="0">
                <a:latin typeface="Carlito"/>
                <a:cs typeface="Carlito"/>
              </a:rPr>
              <a:t>port</a:t>
            </a:r>
            <a:r>
              <a:rPr sz="3000" spc="-4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selected</a:t>
            </a:r>
            <a:endParaRPr sz="3000">
              <a:latin typeface="Carlito"/>
              <a:cs typeface="Carlito"/>
            </a:endParaRPr>
          </a:p>
          <a:p>
            <a:pPr marL="1213485">
              <a:lnSpc>
                <a:spcPct val="100000"/>
              </a:lnSpc>
              <a:spcBef>
                <a:spcPts val="445"/>
              </a:spcBef>
            </a:pPr>
            <a:r>
              <a:rPr sz="3000" dirty="0">
                <a:latin typeface="Carlito"/>
                <a:cs typeface="Carlito"/>
              </a:rPr>
              <a:t>Msb=0; memory </a:t>
            </a:r>
            <a:r>
              <a:rPr sz="3000" spc="-10" dirty="0">
                <a:latin typeface="Carlito"/>
                <a:cs typeface="Carlito"/>
              </a:rPr>
              <a:t>location </a:t>
            </a:r>
            <a:r>
              <a:rPr sz="3000" dirty="0">
                <a:latin typeface="Carlito"/>
                <a:cs typeface="Carlito"/>
              </a:rPr>
              <a:t>is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selected</a:t>
            </a:r>
            <a:endParaRPr sz="30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85420" algn="l"/>
              </a:tabLst>
            </a:pP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0" dirty="0">
                <a:latin typeface="Carlito"/>
                <a:cs typeface="Carlito"/>
              </a:rPr>
              <a:t>reduces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micro-processor </a:t>
            </a:r>
            <a:r>
              <a:rPr sz="3000" dirty="0">
                <a:latin typeface="Carlito"/>
                <a:cs typeface="Carlito"/>
              </a:rPr>
              <a:t>memory </a:t>
            </a:r>
            <a:r>
              <a:rPr sz="3000" spc="-10" dirty="0">
                <a:latin typeface="Carlito"/>
                <a:cs typeface="Carlito"/>
              </a:rPr>
              <a:t>by</a:t>
            </a:r>
            <a:r>
              <a:rPr sz="3000" spc="-6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50%.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412" y="693419"/>
            <a:ext cx="8023859" cy="5256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5567" y="477012"/>
            <a:ext cx="6259067" cy="54726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296926"/>
            <a:ext cx="4758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Memory </a:t>
            </a:r>
            <a:r>
              <a:rPr spc="-225" dirty="0"/>
              <a:t>mapped</a:t>
            </a:r>
            <a:r>
              <a:rPr spc="-434" dirty="0"/>
              <a:t> </a:t>
            </a:r>
            <a:r>
              <a:rPr spc="-110" dirty="0"/>
              <a:t>I/O</a:t>
            </a:r>
          </a:p>
        </p:txBody>
      </p:sp>
      <p:sp>
        <p:nvSpPr>
          <p:cNvPr id="3" name="object 3"/>
          <p:cNvSpPr/>
          <p:nvPr/>
        </p:nvSpPr>
        <p:spPr>
          <a:xfrm>
            <a:off x="611497" y="1442440"/>
            <a:ext cx="7519046" cy="1985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52586" y="6432905"/>
            <a:ext cx="184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Verdana"/>
                <a:cs typeface="Verdana"/>
              </a:rPr>
              <a:t>32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8144" y="2371420"/>
            <a:ext cx="1839595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Printer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device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125730">
              <a:lnSpc>
                <a:spcPct val="100000"/>
              </a:lnSpc>
              <a:spcBef>
                <a:spcPts val="1160"/>
              </a:spcBef>
            </a:pPr>
            <a:r>
              <a:rPr sz="1800" spc="-10" dirty="0">
                <a:latin typeface="Arial"/>
                <a:cs typeface="Arial"/>
              </a:rPr>
              <a:t>Keyboard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device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4338" y="329184"/>
            <a:ext cx="6628657" cy="6210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7517" y="920453"/>
            <a:ext cx="8656518" cy="48260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88794" y="6047943"/>
            <a:ext cx="2109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Memory mapped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I/O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296926"/>
            <a:ext cx="4758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Memory </a:t>
            </a:r>
            <a:r>
              <a:rPr spc="-225" dirty="0"/>
              <a:t>mapped</a:t>
            </a:r>
            <a:r>
              <a:rPr spc="-434" dirty="0"/>
              <a:t> </a:t>
            </a:r>
            <a:r>
              <a:rPr spc="-110" dirty="0"/>
              <a:t>I/O</a:t>
            </a:r>
          </a:p>
        </p:txBody>
      </p:sp>
      <p:sp>
        <p:nvSpPr>
          <p:cNvPr id="3" name="object 3"/>
          <p:cNvSpPr/>
          <p:nvPr/>
        </p:nvSpPr>
        <p:spPr>
          <a:xfrm>
            <a:off x="146304" y="1223772"/>
            <a:ext cx="8851392" cy="5315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35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36</a:t>
            </a:fld>
            <a:endParaRPr sz="1000"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034" y="254584"/>
            <a:ext cx="4968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>
                <a:solidFill>
                  <a:srgbClr val="000000"/>
                </a:solidFill>
              </a:rPr>
              <a:t>2. </a:t>
            </a:r>
            <a:r>
              <a:rPr spc="-55" dirty="0">
                <a:solidFill>
                  <a:srgbClr val="000000"/>
                </a:solidFill>
              </a:rPr>
              <a:t>Interrupt </a:t>
            </a:r>
            <a:r>
              <a:rPr spc="-145" dirty="0">
                <a:solidFill>
                  <a:srgbClr val="000000"/>
                </a:solidFill>
              </a:rPr>
              <a:t>driven</a:t>
            </a:r>
            <a:r>
              <a:rPr spc="-535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973073"/>
            <a:ext cx="8016240" cy="37287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84785" marR="83185" indent="-17272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spc="-15" dirty="0">
                <a:solidFill>
                  <a:srgbClr val="0000FF"/>
                </a:solidFill>
                <a:latin typeface="Carlito"/>
                <a:cs typeface="Carlito"/>
              </a:rPr>
              <a:t>Interrupt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I/O</a:t>
            </a:r>
            <a:r>
              <a:rPr sz="2800" i="1" spc="-5" dirty="0">
                <a:solidFill>
                  <a:srgbClr val="7B7B7B"/>
                </a:solidFill>
                <a:latin typeface="Carlito"/>
                <a:cs typeface="Carlito"/>
              </a:rPr>
              <a:t>, </a:t>
            </a:r>
            <a:r>
              <a:rPr sz="2800" i="1" spc="-5" dirty="0">
                <a:latin typeface="Carlito"/>
                <a:cs typeface="Carlito"/>
              </a:rPr>
              <a:t>an </a:t>
            </a:r>
            <a:r>
              <a:rPr sz="2800" i="1" spc="-15" dirty="0">
                <a:latin typeface="Carlito"/>
                <a:cs typeface="Carlito"/>
              </a:rPr>
              <a:t>external </a:t>
            </a:r>
            <a:r>
              <a:rPr sz="2800" i="1" spc="-10" dirty="0">
                <a:latin typeface="Carlito"/>
                <a:cs typeface="Carlito"/>
              </a:rPr>
              <a:t>device </a:t>
            </a:r>
            <a:r>
              <a:rPr sz="2800" i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can </a:t>
            </a:r>
            <a:r>
              <a:rPr sz="2800" i="1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force</a:t>
            </a:r>
            <a:r>
              <a:rPr sz="2800" i="1" spc="-1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the  microprocessor </a:t>
            </a:r>
            <a:r>
              <a:rPr sz="2800" i="1" spc="-25" dirty="0">
                <a:latin typeface="Carlito"/>
                <a:cs typeface="Carlito"/>
              </a:rPr>
              <a:t>to stop </a:t>
            </a:r>
            <a:r>
              <a:rPr sz="2800" i="1" spc="-20" dirty="0">
                <a:latin typeface="Carlito"/>
                <a:cs typeface="Carlito"/>
              </a:rPr>
              <a:t>executing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current </a:t>
            </a:r>
            <a:r>
              <a:rPr sz="2800" spc="-25" dirty="0">
                <a:latin typeface="Carlito"/>
                <a:cs typeface="Carlito"/>
              </a:rPr>
              <a:t>program  </a:t>
            </a:r>
            <a:r>
              <a:rPr sz="2800" spc="-15" dirty="0">
                <a:latin typeface="Carlito"/>
                <a:cs typeface="Carlito"/>
              </a:rPr>
              <a:t>temporarily </a:t>
            </a:r>
            <a:r>
              <a:rPr sz="2800" spc="-5" dirty="0">
                <a:latin typeface="Carlito"/>
                <a:cs typeface="Carlito"/>
              </a:rPr>
              <a:t>so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25" dirty="0">
                <a:latin typeface="Carlito"/>
                <a:cs typeface="Carlito"/>
              </a:rPr>
              <a:t>execute </a:t>
            </a:r>
            <a:r>
              <a:rPr sz="2800" spc="-5" dirty="0">
                <a:latin typeface="Carlito"/>
                <a:cs typeface="Carlito"/>
              </a:rPr>
              <a:t>another </a:t>
            </a:r>
            <a:r>
              <a:rPr sz="2800" spc="-25" dirty="0">
                <a:latin typeface="Carlito"/>
                <a:cs typeface="Carlito"/>
              </a:rPr>
              <a:t>program  </a:t>
            </a:r>
            <a:r>
              <a:rPr sz="2800" spc="-10" dirty="0">
                <a:latin typeface="Carlito"/>
                <a:cs typeface="Carlito"/>
              </a:rPr>
              <a:t>known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dirty="0">
                <a:latin typeface="Carlito"/>
                <a:cs typeface="Carlito"/>
              </a:rPr>
              <a:t>an </a:t>
            </a:r>
            <a:r>
              <a:rPr sz="2800" b="1" spc="-15" dirty="0">
                <a:solidFill>
                  <a:srgbClr val="0000FF"/>
                </a:solidFill>
                <a:latin typeface="Carlito"/>
                <a:cs typeface="Carlito"/>
              </a:rPr>
              <a:t>interrupt </a:t>
            </a:r>
            <a:r>
              <a:rPr sz="2800" b="1" spc="-5" dirty="0">
                <a:solidFill>
                  <a:srgbClr val="0000FF"/>
                </a:solidFill>
                <a:latin typeface="Carlito"/>
                <a:cs typeface="Carlito"/>
              </a:rPr>
              <a:t>service</a:t>
            </a:r>
            <a:r>
              <a:rPr sz="2800" b="1" spc="100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rlito"/>
                <a:cs typeface="Carlito"/>
              </a:rPr>
              <a:t>routine</a:t>
            </a:r>
            <a:r>
              <a:rPr sz="2800" i="1" spc="-10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•"/>
            </a:pPr>
            <a:endParaRPr sz="3750">
              <a:latin typeface="Carlito"/>
              <a:cs typeface="Carlito"/>
            </a:endParaRPr>
          </a:p>
          <a:p>
            <a:pPr marL="184785" marR="5080" indent="-172720">
              <a:lnSpc>
                <a:spcPct val="9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i="1" spc="-10" dirty="0">
                <a:latin typeface="Carlito"/>
                <a:cs typeface="Carlito"/>
              </a:rPr>
              <a:t>After </a:t>
            </a:r>
            <a:r>
              <a:rPr sz="2800" spc="-10" dirty="0">
                <a:latin typeface="Carlito"/>
                <a:cs typeface="Carlito"/>
              </a:rPr>
              <a:t>completing this </a:t>
            </a:r>
            <a:r>
              <a:rPr sz="2800" spc="-20" dirty="0">
                <a:latin typeface="Carlito"/>
                <a:cs typeface="Carlito"/>
              </a:rPr>
              <a:t>program,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return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interrupt  </a:t>
            </a:r>
            <a:r>
              <a:rPr sz="2800" spc="-10" dirty="0">
                <a:latin typeface="Carlito"/>
                <a:cs typeface="Carlito"/>
              </a:rPr>
              <a:t>instruction 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25" dirty="0">
                <a:latin typeface="Carlito"/>
                <a:cs typeface="Carlito"/>
              </a:rPr>
              <a:t>executed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end of the service  </a:t>
            </a:r>
            <a:r>
              <a:rPr sz="2800" spc="-15" dirty="0">
                <a:latin typeface="Carlito"/>
                <a:cs typeface="Carlito"/>
              </a:rPr>
              <a:t>routine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return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right </a:t>
            </a:r>
            <a:r>
              <a:rPr sz="2800" spc="-5" dirty="0">
                <a:latin typeface="Carlito"/>
                <a:cs typeface="Carlito"/>
              </a:rPr>
              <a:t>place in the main  </a:t>
            </a:r>
            <a:r>
              <a:rPr sz="2800" spc="-20" dirty="0">
                <a:latin typeface="Carlito"/>
                <a:cs typeface="Carlito"/>
              </a:rPr>
              <a:t>program.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030" y="711453"/>
            <a:ext cx="37280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40" dirty="0">
                <a:solidFill>
                  <a:srgbClr val="000000"/>
                </a:solidFill>
              </a:rPr>
              <a:t>2. </a:t>
            </a:r>
            <a:r>
              <a:rPr sz="3300" spc="-45" dirty="0">
                <a:solidFill>
                  <a:srgbClr val="000000"/>
                </a:solidFill>
              </a:rPr>
              <a:t>Interrupt </a:t>
            </a:r>
            <a:r>
              <a:rPr sz="3300" spc="-110" dirty="0">
                <a:solidFill>
                  <a:srgbClr val="000000"/>
                </a:solidFill>
              </a:rPr>
              <a:t>driven</a:t>
            </a:r>
            <a:r>
              <a:rPr sz="3300" spc="-409" dirty="0">
                <a:solidFill>
                  <a:srgbClr val="000000"/>
                </a:solidFill>
              </a:rPr>
              <a:t> </a:t>
            </a:r>
            <a:r>
              <a:rPr sz="3300" spc="-85" dirty="0">
                <a:solidFill>
                  <a:srgbClr val="000000"/>
                </a:solidFill>
              </a:rPr>
              <a:t>I/O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688340" y="4080713"/>
            <a:ext cx="7764780" cy="14928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4785" marR="5080" indent="-17272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185420" algn="l"/>
                <a:tab pos="1979930" algn="l"/>
                <a:tab pos="2973705" algn="l"/>
              </a:tabLst>
            </a:pP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 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CPU </a:t>
            </a:r>
            <a:r>
              <a:rPr sz="2600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executes </a:t>
            </a: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other </a:t>
            </a:r>
            <a:r>
              <a:rPr sz="2600" u="heavy" spc="-2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program</a:t>
            </a:r>
            <a:r>
              <a:rPr sz="2600" spc="-20" dirty="0">
                <a:latin typeface="Carlito"/>
                <a:cs typeface="Carlito"/>
              </a:rPr>
              <a:t>, </a:t>
            </a:r>
            <a:r>
              <a:rPr sz="2600" dirty="0">
                <a:latin typeface="Carlito"/>
                <a:cs typeface="Carlito"/>
              </a:rPr>
              <a:t>as </a:t>
            </a:r>
            <a:r>
              <a:rPr sz="2600" spc="-5" dirty="0">
                <a:latin typeface="Carlito"/>
                <a:cs typeface="Carlito"/>
              </a:rPr>
              <a:t>soon </a:t>
            </a:r>
            <a:r>
              <a:rPr sz="2600" dirty="0">
                <a:latin typeface="Carlito"/>
                <a:cs typeface="Carlito"/>
              </a:rPr>
              <a:t>as a </a:t>
            </a:r>
            <a:r>
              <a:rPr sz="2600" spc="-35" dirty="0">
                <a:latin typeface="Carlito"/>
                <a:cs typeface="Carlito"/>
              </a:rPr>
              <a:t>key </a:t>
            </a:r>
            <a:r>
              <a:rPr sz="2600" dirty="0">
                <a:latin typeface="Carlito"/>
                <a:cs typeface="Carlito"/>
              </a:rPr>
              <a:t>is  </a:t>
            </a:r>
            <a:r>
              <a:rPr sz="2600" spc="-5" dirty="0">
                <a:latin typeface="Carlito"/>
                <a:cs typeface="Carlito"/>
              </a:rPr>
              <a:t>pressed,</a:t>
            </a:r>
            <a:r>
              <a:rPr sz="2600" spc="-1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	</a:t>
            </a:r>
            <a:r>
              <a:rPr sz="2600" spc="-15" dirty="0">
                <a:solidFill>
                  <a:srgbClr val="0000FF"/>
                </a:solidFill>
                <a:latin typeface="Carlito"/>
                <a:cs typeface="Carlito"/>
              </a:rPr>
              <a:t>Keyboard generates </a:t>
            </a:r>
            <a:r>
              <a:rPr sz="2600" dirty="0">
                <a:solidFill>
                  <a:srgbClr val="0000FF"/>
                </a:solidFill>
                <a:latin typeface="Carlito"/>
                <a:cs typeface="Carlito"/>
              </a:rPr>
              <a:t>an </a:t>
            </a:r>
            <a:r>
              <a:rPr sz="2600" spc="-5" dirty="0">
                <a:solidFill>
                  <a:srgbClr val="0000FF"/>
                </a:solidFill>
                <a:latin typeface="Carlito"/>
                <a:cs typeface="Carlito"/>
              </a:rPr>
              <a:t>interrupt</a:t>
            </a:r>
            <a:r>
              <a:rPr sz="2600" spc="-5" dirty="0">
                <a:latin typeface="Carlito"/>
                <a:cs typeface="Carlito"/>
              </a:rPr>
              <a:t>. The CPU  </a:t>
            </a:r>
            <a:r>
              <a:rPr sz="2600" dirty="0">
                <a:latin typeface="Carlito"/>
                <a:cs typeface="Carlito"/>
              </a:rPr>
              <a:t>will </a:t>
            </a:r>
            <a:r>
              <a:rPr sz="2600" spc="-5" dirty="0">
                <a:latin typeface="Carlito"/>
                <a:cs typeface="Carlito"/>
              </a:rPr>
              <a:t>response </a:t>
            </a:r>
            <a:r>
              <a:rPr sz="2600" spc="-10" dirty="0">
                <a:latin typeface="Carlito"/>
                <a:cs typeface="Carlito"/>
              </a:rPr>
              <a:t>to</a:t>
            </a:r>
            <a:r>
              <a:rPr sz="2600" spc="1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the	</a:t>
            </a:r>
            <a:r>
              <a:rPr sz="2600" spc="-5" dirty="0">
                <a:latin typeface="Carlito"/>
                <a:cs typeface="Carlito"/>
              </a:rPr>
              <a:t>interrupt </a:t>
            </a:r>
            <a:r>
              <a:rPr sz="2600" dirty="0">
                <a:latin typeface="Carlito"/>
                <a:cs typeface="Carlito"/>
              </a:rPr>
              <a:t>– </a:t>
            </a:r>
            <a:r>
              <a:rPr sz="2600" spc="-10" dirty="0">
                <a:latin typeface="Carlito"/>
                <a:cs typeface="Carlito"/>
              </a:rPr>
              <a:t>read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data. </a:t>
            </a:r>
            <a:r>
              <a:rPr sz="2600" spc="-5" dirty="0">
                <a:latin typeface="Carlito"/>
                <a:cs typeface="Carlito"/>
              </a:rPr>
              <a:t>After</a:t>
            </a:r>
            <a:r>
              <a:rPr sz="2600" spc="-11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that  returns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original</a:t>
            </a:r>
            <a:r>
              <a:rPr sz="2600" spc="-1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program.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6363" y="1737360"/>
            <a:ext cx="7936992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00" spc="-10" dirty="0">
                <a:solidFill>
                  <a:srgbClr val="000000"/>
                </a:solidFill>
                <a:latin typeface="Verdana"/>
                <a:cs typeface="Verdana"/>
              </a:rPr>
              <a:t>37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218643"/>
            <a:ext cx="4966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0" dirty="0"/>
              <a:t>2. </a:t>
            </a:r>
            <a:r>
              <a:rPr spc="-55" dirty="0"/>
              <a:t>Interrupt </a:t>
            </a:r>
            <a:r>
              <a:rPr spc="-145" dirty="0"/>
              <a:t>driven</a:t>
            </a:r>
            <a:r>
              <a:rPr spc="-545" dirty="0"/>
              <a:t> </a:t>
            </a:r>
            <a:r>
              <a:rPr spc="-110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1092454"/>
            <a:ext cx="8071484" cy="29610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84785" marR="366395" indent="-17272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15" dirty="0">
                <a:latin typeface="Carlito"/>
                <a:cs typeface="Carlito"/>
              </a:rPr>
              <a:t>Interrupts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useful </a:t>
            </a:r>
            <a:r>
              <a:rPr sz="2800" spc="-5" dirty="0">
                <a:latin typeface="Carlito"/>
                <a:cs typeface="Carlito"/>
              </a:rPr>
              <a:t>when </a:t>
            </a:r>
            <a:r>
              <a:rPr sz="2800" spc="-15" dirty="0">
                <a:latin typeface="Carlito"/>
                <a:cs typeface="Carlito"/>
              </a:rPr>
              <a:t>interfacing </a:t>
            </a:r>
            <a:r>
              <a:rPr sz="2800" spc="-5" dirty="0">
                <a:latin typeface="Carlito"/>
                <a:cs typeface="Carlito"/>
              </a:rPr>
              <a:t>I/O </a:t>
            </a:r>
            <a:r>
              <a:rPr sz="2800" spc="-10" dirty="0">
                <a:latin typeface="Carlito"/>
                <a:cs typeface="Carlito"/>
              </a:rPr>
              <a:t>devices </a:t>
            </a:r>
            <a:r>
              <a:rPr sz="2800" spc="-15" dirty="0">
                <a:latin typeface="Carlito"/>
                <a:cs typeface="Carlito"/>
              </a:rPr>
              <a:t>at  relatively </a:t>
            </a:r>
            <a:r>
              <a:rPr sz="2800" spc="-10" dirty="0">
                <a:latin typeface="Carlito"/>
                <a:cs typeface="Carlito"/>
              </a:rPr>
              <a:t>low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25" dirty="0">
                <a:latin typeface="Carlito"/>
                <a:cs typeface="Carlito"/>
              </a:rPr>
              <a:t>transfer </a:t>
            </a:r>
            <a:r>
              <a:rPr sz="2800" spc="-20" dirty="0">
                <a:latin typeface="Carlito"/>
                <a:cs typeface="Carlito"/>
              </a:rPr>
              <a:t>rates, </a:t>
            </a:r>
            <a:r>
              <a:rPr sz="2800" spc="-10" dirty="0">
                <a:latin typeface="Carlito"/>
                <a:cs typeface="Carlito"/>
              </a:rPr>
              <a:t>such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25" dirty="0">
                <a:latin typeface="Carlito"/>
                <a:cs typeface="Carlito"/>
              </a:rPr>
              <a:t>keyboard  </a:t>
            </a:r>
            <a:r>
              <a:rPr sz="2800" spc="-10" dirty="0">
                <a:latin typeface="Carlito"/>
                <a:cs typeface="Carlito"/>
              </a:rPr>
              <a:t>inputs.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800">
              <a:latin typeface="Carlito"/>
              <a:cs typeface="Carlito"/>
            </a:endParaRPr>
          </a:p>
          <a:p>
            <a:pPr marL="184785" marR="5080" indent="-172720">
              <a:lnSpc>
                <a:spcPts val="303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15" dirty="0">
                <a:latin typeface="Carlito"/>
                <a:cs typeface="Carlito"/>
              </a:rPr>
              <a:t>Interrupt processing </a:t>
            </a:r>
            <a:r>
              <a:rPr sz="2800" spc="-10" dirty="0">
                <a:latin typeface="Carlito"/>
                <a:cs typeface="Carlito"/>
              </a:rPr>
              <a:t>allows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processor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25" dirty="0">
                <a:latin typeface="Carlito"/>
                <a:cs typeface="Carlito"/>
              </a:rPr>
              <a:t>execute  </a:t>
            </a:r>
            <a:r>
              <a:rPr sz="2800" spc="-5" dirty="0">
                <a:latin typeface="Carlito"/>
                <a:cs typeface="Carlito"/>
              </a:rPr>
              <a:t>other </a:t>
            </a:r>
            <a:r>
              <a:rPr sz="2800" spc="-15" dirty="0">
                <a:latin typeface="Carlito"/>
                <a:cs typeface="Carlito"/>
              </a:rPr>
              <a:t>software </a:t>
            </a:r>
            <a:r>
              <a:rPr sz="2800" spc="-5" dirty="0">
                <a:latin typeface="Carlito"/>
                <a:cs typeface="Carlito"/>
              </a:rPr>
              <a:t>while the </a:t>
            </a:r>
            <a:r>
              <a:rPr sz="2800" spc="-25" dirty="0">
                <a:latin typeface="Carlito"/>
                <a:cs typeface="Carlito"/>
              </a:rPr>
              <a:t>keyboard </a:t>
            </a:r>
            <a:r>
              <a:rPr sz="2800" spc="-20" dirty="0">
                <a:latin typeface="Carlito"/>
                <a:cs typeface="Carlito"/>
              </a:rPr>
              <a:t>operator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thinking  </a:t>
            </a:r>
            <a:r>
              <a:rPr sz="2800" spc="-5" dirty="0">
                <a:latin typeface="Carlito"/>
                <a:cs typeface="Carlito"/>
              </a:rPr>
              <a:t>about </a:t>
            </a:r>
            <a:r>
              <a:rPr sz="2800" spc="-10" dirty="0">
                <a:latin typeface="Carlito"/>
                <a:cs typeface="Carlito"/>
              </a:rPr>
              <a:t>what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type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next.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83067" y="645576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Arial"/>
                <a:cs typeface="Arial"/>
              </a:rPr>
              <a:t>38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068" y="3569970"/>
            <a:ext cx="7741920" cy="309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lr>
                <a:srgbClr val="0D4000"/>
              </a:buClr>
              <a:buChar char="–"/>
              <a:tabLst>
                <a:tab pos="299720" algn="l"/>
              </a:tabLst>
            </a:pPr>
            <a:r>
              <a:rPr sz="2800" spc="-5" dirty="0">
                <a:latin typeface="Carlito"/>
                <a:cs typeface="Carlito"/>
              </a:rPr>
              <a:t>A time </a:t>
            </a:r>
            <a:r>
              <a:rPr sz="2800" spc="-10" dirty="0">
                <a:latin typeface="Carlito"/>
                <a:cs typeface="Carlito"/>
              </a:rPr>
              <a:t>line </a:t>
            </a:r>
            <a:r>
              <a:rPr sz="2800" spc="-15" dirty="0">
                <a:latin typeface="Carlito"/>
                <a:cs typeface="Carlito"/>
              </a:rPr>
              <a:t>shows </a:t>
            </a:r>
            <a:r>
              <a:rPr sz="2800" spc="-10" dirty="0">
                <a:latin typeface="Carlito"/>
                <a:cs typeface="Carlito"/>
              </a:rPr>
              <a:t>typing </a:t>
            </a:r>
            <a:r>
              <a:rPr sz="2800" spc="-5" dirty="0">
                <a:latin typeface="Carlito"/>
                <a:cs typeface="Carlito"/>
              </a:rPr>
              <a:t>on a</a:t>
            </a:r>
            <a:r>
              <a:rPr sz="2800" spc="114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keyboard,</a:t>
            </a:r>
            <a:endParaRPr sz="2800">
              <a:latin typeface="Carlito"/>
              <a:cs typeface="Carlito"/>
            </a:endParaRPr>
          </a:p>
          <a:p>
            <a:pPr marL="299085" marR="465455">
              <a:lnSpc>
                <a:spcPct val="100000"/>
              </a:lnSpc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printer removing </a:t>
            </a:r>
            <a:r>
              <a:rPr sz="2800" spc="-20" dirty="0">
                <a:latin typeface="Carlito"/>
                <a:cs typeface="Carlito"/>
              </a:rPr>
              <a:t>data from </a:t>
            </a:r>
            <a:r>
              <a:rPr sz="2800" spc="-35" dirty="0">
                <a:latin typeface="Carlito"/>
                <a:cs typeface="Carlito"/>
              </a:rPr>
              <a:t>memory, </a:t>
            </a:r>
            <a:r>
              <a:rPr sz="2800" spc="-5" dirty="0">
                <a:latin typeface="Carlito"/>
                <a:cs typeface="Carlito"/>
              </a:rPr>
              <a:t>and main  </a:t>
            </a:r>
            <a:r>
              <a:rPr sz="2800" spc="-25" dirty="0">
                <a:latin typeface="Carlito"/>
                <a:cs typeface="Carlito"/>
              </a:rPr>
              <a:t>program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execution.</a:t>
            </a:r>
            <a:endParaRPr sz="2800">
              <a:latin typeface="Carlito"/>
              <a:cs typeface="Carlito"/>
            </a:endParaRPr>
          </a:p>
          <a:p>
            <a:pPr marL="299085" marR="5080" indent="-287020">
              <a:lnSpc>
                <a:spcPct val="100000"/>
              </a:lnSpc>
              <a:spcBef>
                <a:spcPts val="675"/>
              </a:spcBef>
              <a:buClr>
                <a:srgbClr val="0D4000"/>
              </a:buClr>
              <a:buChar char="–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keyboard </a:t>
            </a:r>
            <a:r>
              <a:rPr sz="2800" spc="-15" dirty="0">
                <a:latin typeface="Carlito"/>
                <a:cs typeface="Carlito"/>
              </a:rPr>
              <a:t>interrupt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20" dirty="0">
                <a:latin typeface="Carlito"/>
                <a:cs typeface="Carlito"/>
              </a:rPr>
              <a:t>procedure,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spc="-15" dirty="0">
                <a:latin typeface="Carlito"/>
                <a:cs typeface="Carlito"/>
              </a:rPr>
              <a:t>by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keyboard </a:t>
            </a:r>
            <a:r>
              <a:rPr sz="2800" spc="-15" dirty="0">
                <a:latin typeface="Carlito"/>
                <a:cs typeface="Carlito"/>
              </a:rPr>
              <a:t>interrupt, </a:t>
            </a:r>
            <a:r>
              <a:rPr sz="2800" spc="-5" dirty="0">
                <a:latin typeface="Carlito"/>
                <a:cs typeface="Carlito"/>
              </a:rPr>
              <a:t>and the </a:t>
            </a:r>
            <a:r>
              <a:rPr sz="2800" spc="-15" dirty="0">
                <a:latin typeface="Carlito"/>
                <a:cs typeface="Carlito"/>
              </a:rPr>
              <a:t>printer interrupt 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20" dirty="0">
                <a:latin typeface="Carlito"/>
                <a:cs typeface="Carlito"/>
              </a:rPr>
              <a:t>procedure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printer interrupt.  Each interrupt </a:t>
            </a:r>
            <a:r>
              <a:rPr sz="2800" spc="-35" dirty="0">
                <a:latin typeface="Carlito"/>
                <a:cs typeface="Carlito"/>
              </a:rPr>
              <a:t>take </a:t>
            </a:r>
            <a:r>
              <a:rPr sz="2800" spc="-15" dirty="0">
                <a:latin typeface="Carlito"/>
                <a:cs typeface="Carlito"/>
              </a:rPr>
              <a:t>little </a:t>
            </a:r>
            <a:r>
              <a:rPr sz="2800" spc="-5" dirty="0">
                <a:latin typeface="Carlito"/>
                <a:cs typeface="Carlito"/>
              </a:rPr>
              <a:t>time </a:t>
            </a:r>
            <a:r>
              <a:rPr sz="2800" spc="-20" dirty="0">
                <a:latin typeface="Carlito"/>
                <a:cs typeface="Carlito"/>
              </a:rPr>
              <a:t>to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execute.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6240" y="405372"/>
            <a:ext cx="8077200" cy="2457450"/>
            <a:chOff x="396240" y="405372"/>
            <a:chExt cx="8077200" cy="2457450"/>
          </a:xfrm>
        </p:grpSpPr>
        <p:sp>
          <p:nvSpPr>
            <p:cNvPr id="4" name="object 4"/>
            <p:cNvSpPr/>
            <p:nvPr/>
          </p:nvSpPr>
          <p:spPr>
            <a:xfrm>
              <a:off x="396240" y="405372"/>
              <a:ext cx="8077200" cy="22856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12491" y="2691002"/>
              <a:ext cx="5833110" cy="171450"/>
            </a:xfrm>
            <a:custGeom>
              <a:avLst/>
              <a:gdLst/>
              <a:ahLst/>
              <a:cxnLst/>
              <a:rect l="l" t="t" r="r" b="b"/>
              <a:pathLst>
                <a:path w="5833109" h="171450">
                  <a:moveTo>
                    <a:pt x="5661152" y="0"/>
                  </a:moveTo>
                  <a:lnTo>
                    <a:pt x="5661152" y="171450"/>
                  </a:lnTo>
                  <a:lnTo>
                    <a:pt x="5775452" y="114300"/>
                  </a:lnTo>
                  <a:lnTo>
                    <a:pt x="5689727" y="114300"/>
                  </a:lnTo>
                  <a:lnTo>
                    <a:pt x="5689727" y="57150"/>
                  </a:lnTo>
                  <a:lnTo>
                    <a:pt x="5775452" y="57150"/>
                  </a:lnTo>
                  <a:lnTo>
                    <a:pt x="5661152" y="0"/>
                  </a:lnTo>
                  <a:close/>
                </a:path>
                <a:path w="5833109" h="171450">
                  <a:moveTo>
                    <a:pt x="5661152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5661152" y="114300"/>
                  </a:lnTo>
                  <a:lnTo>
                    <a:pt x="5661152" y="57150"/>
                  </a:lnTo>
                  <a:close/>
                </a:path>
                <a:path w="5833109" h="171450">
                  <a:moveTo>
                    <a:pt x="5775452" y="57150"/>
                  </a:moveTo>
                  <a:lnTo>
                    <a:pt x="5689727" y="57150"/>
                  </a:lnTo>
                  <a:lnTo>
                    <a:pt x="5689727" y="114300"/>
                  </a:lnTo>
                  <a:lnTo>
                    <a:pt x="5775452" y="114300"/>
                  </a:lnTo>
                  <a:lnTo>
                    <a:pt x="5832602" y="85725"/>
                  </a:lnTo>
                  <a:lnTo>
                    <a:pt x="5775452" y="571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4370" y="2552446"/>
            <a:ext cx="6828790" cy="786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1800" spc="-5" dirty="0">
                <a:latin typeface="Arial"/>
                <a:cs typeface="Arial"/>
              </a:rPr>
              <a:t>Figure: </a:t>
            </a:r>
            <a:r>
              <a:rPr sz="1800" dirty="0">
                <a:latin typeface="Arial"/>
                <a:cs typeface="Arial"/>
              </a:rPr>
              <a:t>A time </a:t>
            </a:r>
            <a:r>
              <a:rPr sz="1800" spc="-5" dirty="0">
                <a:latin typeface="Arial"/>
                <a:cs typeface="Arial"/>
              </a:rPr>
              <a:t>line that indicates interrupt usage in a </a:t>
            </a:r>
            <a:r>
              <a:rPr sz="1800" spc="-10" dirty="0">
                <a:latin typeface="Arial"/>
                <a:cs typeface="Arial"/>
              </a:rPr>
              <a:t>typical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system.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40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92429"/>
            <a:ext cx="37268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40" dirty="0"/>
              <a:t>2. </a:t>
            </a:r>
            <a:r>
              <a:rPr sz="3300" spc="-45" dirty="0"/>
              <a:t>Interrupt </a:t>
            </a:r>
            <a:r>
              <a:rPr sz="3300" spc="-110" dirty="0"/>
              <a:t>driven</a:t>
            </a:r>
            <a:r>
              <a:rPr sz="3300" spc="-420" dirty="0"/>
              <a:t> </a:t>
            </a:r>
            <a:r>
              <a:rPr sz="3300" spc="-85" dirty="0"/>
              <a:t>I/O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30200" y="1020572"/>
            <a:ext cx="8391525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4785" marR="5080" indent="-17272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i="1" spc="-10" dirty="0">
                <a:solidFill>
                  <a:srgbClr val="0000FF"/>
                </a:solidFill>
                <a:latin typeface="Carlito"/>
                <a:cs typeface="Carlito"/>
              </a:rPr>
              <a:t>Interrupt </a:t>
            </a:r>
            <a:r>
              <a:rPr sz="2800" b="1" i="1" spc="-5" dirty="0">
                <a:solidFill>
                  <a:srgbClr val="0000FF"/>
                </a:solidFill>
                <a:latin typeface="Carlito"/>
                <a:cs typeface="Carlito"/>
              </a:rPr>
              <a:t>driven I/O </a:t>
            </a:r>
            <a:r>
              <a:rPr sz="2800" spc="-10" dirty="0">
                <a:latin typeface="Carlito"/>
                <a:cs typeface="Carlito"/>
              </a:rPr>
              <a:t>is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device-initiated </a:t>
            </a:r>
            <a:r>
              <a:rPr sz="2800" spc="-5" dirty="0">
                <a:latin typeface="Carlito"/>
                <a:cs typeface="Carlito"/>
              </a:rPr>
              <a:t>I/O </a:t>
            </a:r>
            <a:r>
              <a:rPr sz="2800" spc="-55" dirty="0">
                <a:latin typeface="Carlito"/>
                <a:cs typeface="Carlito"/>
              </a:rPr>
              <a:t>transfer. </a:t>
            </a:r>
            <a:r>
              <a:rPr sz="2800" spc="-10" dirty="0">
                <a:latin typeface="Carlito"/>
                <a:cs typeface="Carlito"/>
              </a:rPr>
              <a:t>The  external device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connected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 pin called the </a:t>
            </a:r>
            <a:r>
              <a:rPr sz="2800" spc="-10" dirty="0">
                <a:latin typeface="Carlito"/>
                <a:cs typeface="Carlito"/>
              </a:rPr>
              <a:t>interrupt  </a:t>
            </a:r>
            <a:r>
              <a:rPr sz="2800" spc="-5" dirty="0">
                <a:latin typeface="Carlito"/>
                <a:cs typeface="Carlito"/>
              </a:rPr>
              <a:t>(INT) pin on the </a:t>
            </a:r>
            <a:r>
              <a:rPr sz="2800" spc="-10" dirty="0">
                <a:latin typeface="Carlito"/>
                <a:cs typeface="Carlito"/>
              </a:rPr>
              <a:t>microprocessor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chip.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41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166878"/>
            <a:ext cx="2806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0" dirty="0"/>
              <a:t>2. </a:t>
            </a:r>
            <a:r>
              <a:rPr sz="3600" spc="-50" dirty="0"/>
              <a:t>Interrupt</a:t>
            </a:r>
            <a:r>
              <a:rPr sz="3600" spc="-275" dirty="0"/>
              <a:t> </a:t>
            </a:r>
            <a:r>
              <a:rPr sz="3600" spc="-95" dirty="0"/>
              <a:t>I/O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959" y="664845"/>
            <a:ext cx="6610984" cy="15652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3000" spc="-15" dirty="0">
                <a:latin typeface="Carlito"/>
                <a:cs typeface="Carlito"/>
              </a:rPr>
              <a:t>There are </a:t>
            </a:r>
            <a:r>
              <a:rPr sz="3000" spc="-5" dirty="0">
                <a:latin typeface="Carlito"/>
                <a:cs typeface="Carlito"/>
              </a:rPr>
              <a:t>typically </a:t>
            </a:r>
            <a:r>
              <a:rPr sz="3000" spc="-10" dirty="0">
                <a:latin typeface="Carlito"/>
                <a:cs typeface="Carlito"/>
              </a:rPr>
              <a:t>two </a:t>
            </a:r>
            <a:r>
              <a:rPr sz="3000" dirty="0">
                <a:latin typeface="Carlito"/>
                <a:cs typeface="Carlito"/>
              </a:rPr>
              <a:t>types of</a:t>
            </a:r>
            <a:r>
              <a:rPr sz="3000" spc="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interrupts:</a:t>
            </a:r>
            <a:endParaRPr sz="30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440"/>
              </a:spcBef>
              <a:buAutoNum type="romanUcPeriod"/>
              <a:tabLst>
                <a:tab pos="527685" algn="l"/>
                <a:tab pos="528320" algn="l"/>
              </a:tabLst>
            </a:pPr>
            <a:r>
              <a:rPr sz="3000" spc="-10" dirty="0">
                <a:latin typeface="Carlito"/>
                <a:cs typeface="Carlito"/>
              </a:rPr>
              <a:t>External interrupts,</a:t>
            </a:r>
            <a:endParaRPr sz="30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434"/>
              </a:spcBef>
              <a:buAutoNum type="romanUcPeriod"/>
              <a:tabLst>
                <a:tab pos="527685" algn="l"/>
                <a:tab pos="528320" algn="l"/>
              </a:tabLst>
            </a:pPr>
            <a:r>
              <a:rPr sz="3000" spc="-15" dirty="0">
                <a:latin typeface="Carlito"/>
                <a:cs typeface="Carlito"/>
              </a:rPr>
              <a:t>Internal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interrupts,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42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959" y="166878"/>
            <a:ext cx="7871459" cy="144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3600" spc="-150" dirty="0"/>
              <a:t>2. </a:t>
            </a:r>
            <a:r>
              <a:rPr sz="3600" spc="-50" dirty="0"/>
              <a:t>Interrupt</a:t>
            </a:r>
            <a:r>
              <a:rPr sz="3600" spc="-229" dirty="0"/>
              <a:t> </a:t>
            </a:r>
            <a:r>
              <a:rPr sz="3600" spc="-95" dirty="0"/>
              <a:t>I/O</a:t>
            </a:r>
            <a:endParaRPr sz="3600"/>
          </a:p>
          <a:p>
            <a:pPr marL="12700" marR="5080">
              <a:lnSpc>
                <a:spcPts val="3240"/>
              </a:lnSpc>
              <a:spcBef>
                <a:spcPts val="450"/>
              </a:spcBef>
            </a:pPr>
            <a:r>
              <a:rPr sz="3000" b="1" spc="-5" dirty="0">
                <a:solidFill>
                  <a:srgbClr val="0000FF"/>
                </a:solidFill>
                <a:latin typeface="Carlito"/>
                <a:cs typeface="Carlito"/>
              </a:rPr>
              <a:t>External </a:t>
            </a:r>
            <a:r>
              <a:rPr sz="3000" b="1" spc="-10" dirty="0">
                <a:solidFill>
                  <a:srgbClr val="0000FF"/>
                </a:solidFill>
                <a:latin typeface="Carlito"/>
                <a:cs typeface="Carlito"/>
              </a:rPr>
              <a:t>interrupts </a:t>
            </a:r>
            <a:r>
              <a:rPr sz="3000" spc="-10" dirty="0">
                <a:solidFill>
                  <a:srgbClr val="000000"/>
                </a:solidFill>
                <a:latin typeface="Carlito"/>
                <a:cs typeface="Carlito"/>
              </a:rPr>
              <a:t>can </a:t>
            </a:r>
            <a:r>
              <a:rPr sz="3000" spc="-5" dirty="0">
                <a:solidFill>
                  <a:srgbClr val="000000"/>
                </a:solidFill>
                <a:latin typeface="Carlito"/>
                <a:cs typeface="Carlito"/>
              </a:rPr>
              <a:t>be </a:t>
            </a:r>
            <a:r>
              <a:rPr sz="3000" spc="-10" dirty="0">
                <a:solidFill>
                  <a:srgbClr val="000000"/>
                </a:solidFill>
                <a:latin typeface="Carlito"/>
                <a:cs typeface="Carlito"/>
              </a:rPr>
              <a:t>divided further </a:t>
            </a:r>
            <a:r>
              <a:rPr sz="3000" spc="-15" dirty="0">
                <a:solidFill>
                  <a:srgbClr val="000000"/>
                </a:solidFill>
                <a:latin typeface="Carlito"/>
                <a:cs typeface="Carlito"/>
              </a:rPr>
              <a:t>into </a:t>
            </a:r>
            <a:r>
              <a:rPr sz="3000" spc="-10" dirty="0">
                <a:solidFill>
                  <a:srgbClr val="000000"/>
                </a:solidFill>
                <a:latin typeface="Carlito"/>
                <a:cs typeface="Carlito"/>
              </a:rPr>
              <a:t>two  </a:t>
            </a:r>
            <a:r>
              <a:rPr sz="3000" dirty="0">
                <a:solidFill>
                  <a:srgbClr val="000000"/>
                </a:solidFill>
                <a:latin typeface="Carlito"/>
                <a:cs typeface="Carlito"/>
              </a:rPr>
              <a:t>types: </a:t>
            </a:r>
            <a:r>
              <a:rPr sz="3000" spc="-5" dirty="0">
                <a:solidFill>
                  <a:srgbClr val="006600"/>
                </a:solidFill>
                <a:latin typeface="Carlito"/>
                <a:cs typeface="Carlito"/>
              </a:rPr>
              <a:t>maskable </a:t>
            </a:r>
            <a:r>
              <a:rPr sz="3000" dirty="0">
                <a:solidFill>
                  <a:srgbClr val="000000"/>
                </a:solidFill>
                <a:latin typeface="Carlito"/>
                <a:cs typeface="Carlito"/>
              </a:rPr>
              <a:t>and</a:t>
            </a:r>
            <a:r>
              <a:rPr sz="3000" spc="-4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3000" spc="-5" dirty="0">
                <a:solidFill>
                  <a:srgbClr val="006600"/>
                </a:solidFill>
                <a:latin typeface="Carlito"/>
                <a:cs typeface="Carlito"/>
              </a:rPr>
              <a:t>non-maskable</a:t>
            </a:r>
            <a:r>
              <a:rPr sz="3000" spc="-5" dirty="0">
                <a:solidFill>
                  <a:srgbClr val="000000"/>
                </a:solidFill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9608" rIns="0" bIns="0" rtlCol="0">
            <a:spAutoFit/>
          </a:bodyPr>
          <a:lstStyle/>
          <a:p>
            <a:pPr marL="95250" marR="480059">
              <a:lnSpc>
                <a:spcPts val="3240"/>
              </a:lnSpc>
              <a:spcBef>
                <a:spcPts val="505"/>
              </a:spcBef>
            </a:pPr>
            <a:r>
              <a:rPr sz="3000" u="none" spc="-5" dirty="0">
                <a:solidFill>
                  <a:srgbClr val="006600"/>
                </a:solidFill>
              </a:rPr>
              <a:t>Maskable </a:t>
            </a:r>
            <a:r>
              <a:rPr sz="3000" u="none" spc="-15" dirty="0"/>
              <a:t>interrupt </a:t>
            </a:r>
            <a:r>
              <a:rPr sz="3000" u="none" spc="-10" dirty="0"/>
              <a:t>can </a:t>
            </a:r>
            <a:r>
              <a:rPr sz="3000" u="none" spc="-5" dirty="0"/>
              <a:t>be enabled or </a:t>
            </a:r>
            <a:r>
              <a:rPr sz="3000" u="none" spc="-10" dirty="0"/>
              <a:t>disabled by  </a:t>
            </a:r>
            <a:r>
              <a:rPr sz="3000" u="none" spc="-5" dirty="0"/>
              <a:t>instructions.</a:t>
            </a:r>
            <a:endParaRPr sz="3000"/>
          </a:p>
          <a:p>
            <a:pPr marL="95250" marR="5080">
              <a:lnSpc>
                <a:spcPts val="3240"/>
              </a:lnSpc>
              <a:spcBef>
                <a:spcPts val="805"/>
              </a:spcBef>
            </a:pPr>
            <a:r>
              <a:rPr sz="3000" u="none" spc="-5" dirty="0"/>
              <a:t>The </a:t>
            </a:r>
            <a:r>
              <a:rPr sz="3000" u="none" spc="-15" dirty="0"/>
              <a:t>examples </a:t>
            </a:r>
            <a:r>
              <a:rPr sz="3000" u="none" spc="-5" dirty="0"/>
              <a:t>of </a:t>
            </a:r>
            <a:r>
              <a:rPr sz="3000" u="none" spc="-5" dirty="0">
                <a:solidFill>
                  <a:srgbClr val="006600"/>
                </a:solidFill>
              </a:rPr>
              <a:t>maskable </a:t>
            </a:r>
            <a:r>
              <a:rPr sz="3000" u="none" spc="-10" dirty="0"/>
              <a:t>interrupt are: </a:t>
            </a:r>
            <a:r>
              <a:rPr sz="3000" u="none" spc="-5" dirty="0"/>
              <a:t>mouseclick,  </a:t>
            </a:r>
            <a:r>
              <a:rPr sz="3000" u="none" spc="-35" dirty="0"/>
              <a:t>keystroke </a:t>
            </a:r>
            <a:r>
              <a:rPr sz="3000" u="none" spc="-5" dirty="0"/>
              <a:t>on </a:t>
            </a:r>
            <a:r>
              <a:rPr sz="3000" u="none" spc="-20" dirty="0"/>
              <a:t>keyboard</a:t>
            </a:r>
            <a:r>
              <a:rPr sz="3000" u="none" spc="25" dirty="0"/>
              <a:t> </a:t>
            </a:r>
            <a:r>
              <a:rPr sz="3000" u="none" spc="-10" dirty="0"/>
              <a:t>etc.</a:t>
            </a:r>
            <a:endParaRPr sz="3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43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8929" y="42418"/>
            <a:ext cx="34270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2. </a:t>
            </a:r>
            <a:r>
              <a:rPr spc="-55" dirty="0"/>
              <a:t>Interrupt</a:t>
            </a:r>
            <a:r>
              <a:rPr spc="-370" dirty="0"/>
              <a:t> </a:t>
            </a:r>
            <a:r>
              <a:rPr spc="-110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914476"/>
            <a:ext cx="8072120" cy="52984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126364">
              <a:lnSpc>
                <a:spcPts val="2690"/>
              </a:lnSpc>
              <a:spcBef>
                <a:spcPts val="745"/>
              </a:spcBef>
            </a:pPr>
            <a:r>
              <a:rPr sz="2800" spc="-10" dirty="0">
                <a:solidFill>
                  <a:srgbClr val="006600"/>
                </a:solidFill>
                <a:latin typeface="Carlito"/>
                <a:cs typeface="Carlito"/>
              </a:rPr>
              <a:t>Non-Maskable </a:t>
            </a:r>
            <a:r>
              <a:rPr sz="2800" spc="-15" dirty="0">
                <a:latin typeface="Carlito"/>
                <a:cs typeface="Carlito"/>
              </a:rPr>
              <a:t>interrupt </a:t>
            </a:r>
            <a:r>
              <a:rPr sz="2800" spc="-5" dirty="0">
                <a:latin typeface="Carlito"/>
                <a:cs typeface="Carlito"/>
              </a:rPr>
              <a:t>cannot be enabled or </a:t>
            </a:r>
            <a:r>
              <a:rPr sz="2800" spc="-10" dirty="0">
                <a:latin typeface="Carlito"/>
                <a:cs typeface="Carlito"/>
              </a:rPr>
              <a:t>disabled  </a:t>
            </a:r>
            <a:r>
              <a:rPr sz="2800" spc="-15" dirty="0">
                <a:latin typeface="Carlito"/>
                <a:cs typeface="Carlito"/>
              </a:rPr>
              <a:t>by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instructions.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Carlito"/>
              <a:cs typeface="Carlito"/>
            </a:endParaRPr>
          </a:p>
          <a:p>
            <a:pPr marL="12700" marR="365125">
              <a:lnSpc>
                <a:spcPts val="2690"/>
              </a:lnSpc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solidFill>
                  <a:srgbClr val="006600"/>
                </a:solidFill>
                <a:latin typeface="Carlito"/>
                <a:cs typeface="Carlito"/>
              </a:rPr>
              <a:t>non-maskable </a:t>
            </a:r>
            <a:r>
              <a:rPr sz="2800" spc="-15" dirty="0">
                <a:latin typeface="Carlito"/>
                <a:cs typeface="Carlito"/>
              </a:rPr>
              <a:t>interrupt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typically </a:t>
            </a:r>
            <a:r>
              <a:rPr sz="2800" spc="-5" dirty="0">
                <a:latin typeface="Carlito"/>
                <a:cs typeface="Carlito"/>
              </a:rPr>
              <a:t>used as a </a:t>
            </a:r>
            <a:r>
              <a:rPr sz="2800" spc="-10" dirty="0">
                <a:latin typeface="Carlito"/>
                <a:cs typeface="Carlito"/>
              </a:rPr>
              <a:t>power  </a:t>
            </a:r>
            <a:r>
              <a:rPr sz="2800" spc="-20" dirty="0">
                <a:latin typeface="Carlito"/>
                <a:cs typeface="Carlito"/>
              </a:rPr>
              <a:t>failure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interrupt.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>
              <a:latin typeface="Carlito"/>
              <a:cs typeface="Carlito"/>
            </a:endParaRPr>
          </a:p>
          <a:p>
            <a:pPr marL="12700" marR="5080">
              <a:lnSpc>
                <a:spcPct val="80000"/>
              </a:lnSpc>
            </a:pPr>
            <a:r>
              <a:rPr sz="2800" spc="-15" dirty="0">
                <a:latin typeface="Carlito"/>
                <a:cs typeface="Carlito"/>
              </a:rPr>
              <a:t>Micro-processor </a:t>
            </a:r>
            <a:r>
              <a:rPr sz="2800" spc="-10" dirty="0">
                <a:latin typeface="Carlito"/>
                <a:cs typeface="Carlito"/>
              </a:rPr>
              <a:t>normally use +5V </a:t>
            </a:r>
            <a:r>
              <a:rPr sz="2800" spc="-5" dirty="0">
                <a:latin typeface="Carlito"/>
                <a:cs typeface="Carlito"/>
              </a:rPr>
              <a:t>which is </a:t>
            </a:r>
            <a:r>
              <a:rPr sz="2800" spc="-20" dirty="0">
                <a:latin typeface="Carlito"/>
                <a:cs typeface="Carlito"/>
              </a:rPr>
              <a:t>transformed  from </a:t>
            </a:r>
            <a:r>
              <a:rPr sz="2800" spc="-5" dirty="0">
                <a:latin typeface="Carlito"/>
                <a:cs typeface="Carlito"/>
              </a:rPr>
              <a:t>110V </a:t>
            </a:r>
            <a:r>
              <a:rPr sz="2800" spc="-15" dirty="0">
                <a:latin typeface="Carlito"/>
                <a:cs typeface="Carlito"/>
              </a:rPr>
              <a:t>AC. </a:t>
            </a:r>
            <a:r>
              <a:rPr sz="2800" spc="-5" dirty="0">
                <a:latin typeface="Carlito"/>
                <a:cs typeface="Carlito"/>
              </a:rPr>
              <a:t>If </a:t>
            </a: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voltage drops </a:t>
            </a:r>
            <a:r>
              <a:rPr sz="2800" spc="-10" dirty="0">
                <a:latin typeface="Carlito"/>
                <a:cs typeface="Carlito"/>
              </a:rPr>
              <a:t>below </a:t>
            </a:r>
            <a:r>
              <a:rPr sz="2800" spc="-5" dirty="0">
                <a:latin typeface="Carlito"/>
                <a:cs typeface="Carlito"/>
              </a:rPr>
              <a:t>90V then </a:t>
            </a:r>
            <a:r>
              <a:rPr sz="2800" spc="-10" dirty="0">
                <a:latin typeface="Carlito"/>
                <a:cs typeface="Carlito"/>
              </a:rPr>
              <a:t>+5V  </a:t>
            </a:r>
            <a:r>
              <a:rPr sz="2800" spc="-5" dirty="0">
                <a:latin typeface="Carlito"/>
                <a:cs typeface="Carlito"/>
              </a:rPr>
              <a:t>cannot be </a:t>
            </a:r>
            <a:r>
              <a:rPr sz="2800" spc="-10" dirty="0">
                <a:latin typeface="Carlito"/>
                <a:cs typeface="Carlito"/>
              </a:rPr>
              <a:t>maintained. </a:t>
            </a:r>
            <a:r>
              <a:rPr sz="2800" spc="-45" dirty="0">
                <a:latin typeface="Carlito"/>
                <a:cs typeface="Carlito"/>
              </a:rPr>
              <a:t>However, </a:t>
            </a:r>
            <a:r>
              <a:rPr sz="2800" spc="-5" dirty="0">
                <a:latin typeface="Carlito"/>
                <a:cs typeface="Carlito"/>
              </a:rPr>
              <a:t>it will </a:t>
            </a:r>
            <a:r>
              <a:rPr sz="2800" spc="-35" dirty="0">
                <a:latin typeface="Carlito"/>
                <a:cs typeface="Carlito"/>
              </a:rPr>
              <a:t>take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35" dirty="0">
                <a:latin typeface="Carlito"/>
                <a:cs typeface="Carlito"/>
              </a:rPr>
              <a:t>few  </a:t>
            </a:r>
            <a:r>
              <a:rPr sz="2800" spc="-10" dirty="0">
                <a:latin typeface="Carlito"/>
                <a:cs typeface="Carlito"/>
              </a:rPr>
              <a:t>milliseconds </a:t>
            </a:r>
            <a:r>
              <a:rPr sz="2800" spc="-20" dirty="0">
                <a:latin typeface="Carlito"/>
                <a:cs typeface="Carlito"/>
              </a:rPr>
              <a:t>to drop </a:t>
            </a:r>
            <a:r>
              <a:rPr sz="2800" spc="-15" dirty="0">
                <a:latin typeface="Carlito"/>
                <a:cs typeface="Carlito"/>
              </a:rPr>
              <a:t>power </a:t>
            </a:r>
            <a:r>
              <a:rPr sz="2800" spc="-10" dirty="0">
                <a:latin typeface="Carlito"/>
                <a:cs typeface="Carlito"/>
              </a:rPr>
              <a:t>below </a:t>
            </a:r>
            <a:r>
              <a:rPr sz="2800" spc="-75" dirty="0">
                <a:latin typeface="Carlito"/>
                <a:cs typeface="Carlito"/>
              </a:rPr>
              <a:t>90V. </a:t>
            </a:r>
            <a:r>
              <a:rPr sz="2800" spc="-5" dirty="0">
                <a:latin typeface="Carlito"/>
                <a:cs typeface="Carlito"/>
              </a:rPr>
              <a:t>In these </a:t>
            </a:r>
            <a:r>
              <a:rPr sz="2800" spc="-35" dirty="0">
                <a:latin typeface="Carlito"/>
                <a:cs typeface="Carlito"/>
              </a:rPr>
              <a:t>few  </a:t>
            </a:r>
            <a:r>
              <a:rPr sz="2800" spc="-10" dirty="0">
                <a:latin typeface="Carlito"/>
                <a:cs typeface="Carlito"/>
              </a:rPr>
              <a:t>millisecond,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solidFill>
                  <a:srgbClr val="0000FF"/>
                </a:solidFill>
                <a:latin typeface="Carlito"/>
                <a:cs typeface="Carlito"/>
              </a:rPr>
              <a:t>power failure-sensing </a:t>
            </a:r>
            <a:r>
              <a:rPr sz="2800" spc="-10" dirty="0">
                <a:solidFill>
                  <a:srgbClr val="0000FF"/>
                </a:solidFill>
                <a:latin typeface="Carlito"/>
                <a:cs typeface="Carlito"/>
              </a:rPr>
              <a:t>circuit </a:t>
            </a:r>
            <a:r>
              <a:rPr sz="2800" spc="-10" dirty="0">
                <a:latin typeface="Carlito"/>
                <a:cs typeface="Carlito"/>
              </a:rPr>
              <a:t>can  </a:t>
            </a:r>
            <a:r>
              <a:rPr sz="2800" spc="-15" dirty="0">
                <a:latin typeface="Carlito"/>
                <a:cs typeface="Carlito"/>
              </a:rPr>
              <a:t>interrupt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0" dirty="0">
                <a:latin typeface="Carlito"/>
                <a:cs typeface="Carlito"/>
              </a:rPr>
              <a:t>micro-processor.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interrupt </a:t>
            </a:r>
            <a:r>
              <a:rPr sz="2800" spc="-5" dirty="0">
                <a:latin typeface="Carlito"/>
                <a:cs typeface="Carlito"/>
              </a:rPr>
              <a:t>service  </a:t>
            </a:r>
            <a:r>
              <a:rPr sz="2800" spc="-15" dirty="0">
                <a:latin typeface="Carlito"/>
                <a:cs typeface="Carlito"/>
              </a:rPr>
              <a:t>routine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5" dirty="0">
                <a:latin typeface="Carlito"/>
                <a:cs typeface="Carlito"/>
              </a:rPr>
              <a:t>written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25" dirty="0">
                <a:latin typeface="Carlito"/>
                <a:cs typeface="Carlito"/>
              </a:rPr>
              <a:t>store </a:t>
            </a:r>
            <a:r>
              <a:rPr sz="2800" spc="-5" dirty="0">
                <a:latin typeface="Carlito"/>
                <a:cs typeface="Carlito"/>
              </a:rPr>
              <a:t>critical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dirty="0">
                <a:latin typeface="Carlito"/>
                <a:cs typeface="Carlito"/>
              </a:rPr>
              <a:t>non-  </a:t>
            </a:r>
            <a:r>
              <a:rPr sz="2800" spc="-15" dirty="0">
                <a:latin typeface="Carlito"/>
                <a:cs typeface="Carlito"/>
              </a:rPr>
              <a:t>volatile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spc="-30" dirty="0">
                <a:latin typeface="Carlito"/>
                <a:cs typeface="Carlito"/>
              </a:rPr>
              <a:t>memory.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44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07542" y="254584"/>
            <a:ext cx="3425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80" dirty="0">
                <a:solidFill>
                  <a:srgbClr val="6F2F9F"/>
                </a:solidFill>
                <a:latin typeface="Arial"/>
                <a:cs typeface="Arial"/>
              </a:rPr>
              <a:t>2. </a:t>
            </a:r>
            <a:r>
              <a:rPr sz="4400" spc="-55" dirty="0">
                <a:solidFill>
                  <a:srgbClr val="6F2F9F"/>
                </a:solidFill>
                <a:latin typeface="Arial"/>
                <a:cs typeface="Arial"/>
              </a:rPr>
              <a:t>Interrupt</a:t>
            </a:r>
            <a:r>
              <a:rPr sz="4400" spc="-3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4400" spc="-110" dirty="0">
                <a:solidFill>
                  <a:srgbClr val="6F2F9F"/>
                </a:solidFill>
                <a:latin typeface="Arial"/>
                <a:cs typeface="Arial"/>
              </a:rPr>
              <a:t>I/O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1092454"/>
            <a:ext cx="838390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30"/>
              </a:spcBef>
            </a:pPr>
            <a:r>
              <a:rPr sz="2800" b="1" spc="-15" dirty="0">
                <a:solidFill>
                  <a:srgbClr val="0000FF"/>
                </a:solidFill>
                <a:latin typeface="Carlito"/>
                <a:cs typeface="Carlito"/>
              </a:rPr>
              <a:t>Internal </a:t>
            </a:r>
            <a:r>
              <a:rPr sz="2800" b="1" spc="-10" dirty="0">
                <a:solidFill>
                  <a:srgbClr val="0000FF"/>
                </a:solidFill>
                <a:latin typeface="Carlito"/>
                <a:cs typeface="Carlito"/>
              </a:rPr>
              <a:t>interrupts</a:t>
            </a:r>
            <a:r>
              <a:rPr sz="2800" b="1" i="1" spc="-10" dirty="0">
                <a:latin typeface="Carlito"/>
                <a:cs typeface="Carlito"/>
              </a:rPr>
              <a:t>,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activated </a:t>
            </a:r>
            <a:r>
              <a:rPr sz="2800" spc="-10" dirty="0">
                <a:latin typeface="Carlito"/>
                <a:cs typeface="Carlito"/>
              </a:rPr>
              <a:t>internally </a:t>
            </a:r>
            <a:r>
              <a:rPr sz="2800" spc="-15" dirty="0">
                <a:latin typeface="Carlito"/>
                <a:cs typeface="Carlito"/>
              </a:rPr>
              <a:t>by exceptional  </a:t>
            </a:r>
            <a:r>
              <a:rPr sz="2800" spc="-10" dirty="0">
                <a:latin typeface="Carlito"/>
                <a:cs typeface="Carlito"/>
              </a:rPr>
              <a:t>conditions </a:t>
            </a:r>
            <a:r>
              <a:rPr sz="2800" spc="-5" dirty="0">
                <a:latin typeface="Carlito"/>
                <a:cs typeface="Carlito"/>
              </a:rPr>
              <a:t>such as </a:t>
            </a:r>
            <a:r>
              <a:rPr sz="2800" spc="-40" dirty="0">
                <a:latin typeface="Carlito"/>
                <a:cs typeface="Carlito"/>
              </a:rPr>
              <a:t>overflow, </a:t>
            </a:r>
            <a:r>
              <a:rPr sz="2800" spc="-10" dirty="0">
                <a:latin typeface="Carlito"/>
                <a:cs typeface="Carlito"/>
              </a:rPr>
              <a:t>division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35" dirty="0">
                <a:latin typeface="Carlito"/>
                <a:cs typeface="Carlito"/>
              </a:rPr>
              <a:t>zero,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20" dirty="0">
                <a:latin typeface="Carlito"/>
                <a:cs typeface="Carlito"/>
              </a:rPr>
              <a:t>execution 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illegal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op-code.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45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516" y="186689"/>
            <a:ext cx="69938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200" dirty="0"/>
              <a:t>memory </a:t>
            </a:r>
            <a:r>
              <a:rPr spc="-409" dirty="0"/>
              <a:t>access</a:t>
            </a:r>
            <a:r>
              <a:rPr spc="-40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916940"/>
            <a:ext cx="8126730" cy="33451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30"/>
              </a:spcBef>
            </a:pPr>
            <a:r>
              <a:rPr sz="2800" spc="-15" dirty="0">
                <a:solidFill>
                  <a:srgbClr val="0000FF"/>
                </a:solidFill>
                <a:latin typeface="Carlito"/>
                <a:cs typeface="Carlito"/>
              </a:rPr>
              <a:t>Direct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memory access (DMA) </a:t>
            </a:r>
            <a:r>
              <a:rPr sz="2800" dirty="0">
                <a:latin typeface="Carlito"/>
                <a:cs typeface="Carlito"/>
              </a:rPr>
              <a:t>is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type </a:t>
            </a:r>
            <a:r>
              <a:rPr sz="2800" spc="-5" dirty="0">
                <a:latin typeface="Carlito"/>
                <a:cs typeface="Carlito"/>
              </a:rPr>
              <a:t>of I/O technique  </a:t>
            </a:r>
            <a:r>
              <a:rPr sz="2800" spc="-1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10" dirty="0">
                <a:latin typeface="Carlito"/>
                <a:cs typeface="Carlito"/>
              </a:rPr>
              <a:t>can be </a:t>
            </a:r>
            <a:r>
              <a:rPr sz="2800" spc="-25" dirty="0">
                <a:latin typeface="Carlito"/>
                <a:cs typeface="Carlito"/>
              </a:rPr>
              <a:t>transferred </a:t>
            </a:r>
            <a:r>
              <a:rPr sz="2800" spc="-10" dirty="0">
                <a:latin typeface="Carlito"/>
                <a:cs typeface="Carlito"/>
              </a:rPr>
              <a:t>between  </a:t>
            </a:r>
            <a:r>
              <a:rPr sz="2800" spc="-15" dirty="0">
                <a:latin typeface="Carlito"/>
                <a:cs typeface="Carlito"/>
              </a:rPr>
              <a:t>microcomputer </a:t>
            </a:r>
            <a:r>
              <a:rPr sz="2800" spc="-5" dirty="0">
                <a:latin typeface="Carlito"/>
                <a:cs typeface="Carlito"/>
              </a:rPr>
              <a:t>memory and an </a:t>
            </a:r>
            <a:r>
              <a:rPr sz="2800" spc="-15" dirty="0">
                <a:latin typeface="Carlito"/>
                <a:cs typeface="Carlito"/>
              </a:rPr>
              <a:t>external </a:t>
            </a:r>
            <a:r>
              <a:rPr sz="2800" spc="-10" dirty="0">
                <a:latin typeface="Carlito"/>
                <a:cs typeface="Carlito"/>
              </a:rPr>
              <a:t>device </a:t>
            </a:r>
            <a:r>
              <a:rPr sz="2800" spc="-5" dirty="0">
                <a:latin typeface="Carlito"/>
                <a:cs typeface="Carlito"/>
              </a:rPr>
              <a:t>such </a:t>
            </a:r>
            <a:r>
              <a:rPr sz="2800" spc="10" dirty="0">
                <a:latin typeface="Carlito"/>
                <a:cs typeface="Carlito"/>
              </a:rPr>
              <a:t>as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hard </a:t>
            </a:r>
            <a:r>
              <a:rPr sz="2800" spc="-10" dirty="0">
                <a:latin typeface="Carlito"/>
                <a:cs typeface="Carlito"/>
              </a:rPr>
              <a:t>disk, </a:t>
            </a:r>
            <a:r>
              <a:rPr sz="2800" spc="-5" dirty="0">
                <a:latin typeface="Carlito"/>
                <a:cs typeface="Carlito"/>
              </a:rPr>
              <a:t>without </a:t>
            </a:r>
            <a:r>
              <a:rPr sz="2800" spc="-15" dirty="0">
                <a:latin typeface="Carlito"/>
                <a:cs typeface="Carlito"/>
              </a:rPr>
              <a:t>microprocessor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involvement.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750">
              <a:latin typeface="Carlito"/>
              <a:cs typeface="Carlito"/>
            </a:endParaRPr>
          </a:p>
          <a:p>
            <a:pPr marL="12700" marR="6985" algn="just">
              <a:lnSpc>
                <a:spcPct val="90000"/>
              </a:lnSpc>
            </a:pPr>
            <a:r>
              <a:rPr sz="2800" spc="-5" dirty="0">
                <a:latin typeface="Carlito"/>
                <a:cs typeface="Carlito"/>
              </a:rPr>
              <a:t>A special chip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dirty="0">
                <a:solidFill>
                  <a:srgbClr val="0000FF"/>
                </a:solidFill>
                <a:latin typeface="Carlito"/>
                <a:cs typeface="Carlito"/>
              </a:rPr>
              <a:t>DMA </a:t>
            </a:r>
            <a:r>
              <a:rPr sz="2800" spc="-15" dirty="0">
                <a:solidFill>
                  <a:srgbClr val="0000FF"/>
                </a:solidFill>
                <a:latin typeface="Carlito"/>
                <a:cs typeface="Carlito"/>
              </a:rPr>
              <a:t>controller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chip </a:t>
            </a:r>
            <a:r>
              <a:rPr sz="2800" dirty="0">
                <a:solidFill>
                  <a:srgbClr val="0000FF"/>
                </a:solidFill>
                <a:latin typeface="Carlito"/>
                <a:cs typeface="Carlito"/>
              </a:rPr>
              <a:t>8237 </a:t>
            </a:r>
            <a:r>
              <a:rPr sz="2800" dirty="0">
                <a:latin typeface="Carlito"/>
                <a:cs typeface="Carlito"/>
              </a:rPr>
              <a:t>is  </a:t>
            </a:r>
            <a:r>
              <a:rPr sz="2800" spc="-10" dirty="0">
                <a:latin typeface="Carlito"/>
                <a:cs typeface="Carlito"/>
              </a:rPr>
              <a:t>typically used </a:t>
            </a:r>
            <a:r>
              <a:rPr sz="2800" spc="-5" dirty="0">
                <a:latin typeface="Carlito"/>
                <a:cs typeface="Carlito"/>
              </a:rPr>
              <a:t>with the </a:t>
            </a:r>
            <a:r>
              <a:rPr sz="2800" spc="-15" dirty="0">
                <a:latin typeface="Carlito"/>
                <a:cs typeface="Carlito"/>
              </a:rPr>
              <a:t>microprocessor </a:t>
            </a:r>
            <a:r>
              <a:rPr sz="2800" spc="-20" dirty="0">
                <a:latin typeface="Carlito"/>
                <a:cs typeface="Carlito"/>
              </a:rPr>
              <a:t>for transferring  data </a:t>
            </a:r>
            <a:r>
              <a:rPr sz="2800" spc="-10" dirty="0">
                <a:latin typeface="Carlito"/>
                <a:cs typeface="Carlito"/>
              </a:rPr>
              <a:t>using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DMA.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17449"/>
            <a:ext cx="7072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70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/>
          <p:nvPr/>
        </p:nvSpPr>
        <p:spPr>
          <a:xfrm>
            <a:off x="595883" y="1269491"/>
            <a:ext cx="8328659" cy="439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46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08" y="126238"/>
            <a:ext cx="7073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67827" y="6442049"/>
            <a:ext cx="1689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5" dirty="0">
                <a:latin typeface="Verdana"/>
                <a:cs typeface="Verdana"/>
              </a:rPr>
              <a:t>47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716280"/>
            <a:ext cx="7836408" cy="5838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4178" y="6548742"/>
            <a:ext cx="65398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"/>
                <a:cs typeface="Arial"/>
              </a:rPr>
              <a:t>Figure: Micro-computer interfaced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DMA </a:t>
            </a:r>
            <a:r>
              <a:rPr sz="1800" spc="-5" dirty="0">
                <a:latin typeface="Arial"/>
                <a:cs typeface="Arial"/>
              </a:rPr>
              <a:t>controller chip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8237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48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297941"/>
            <a:ext cx="7073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877736"/>
            <a:ext cx="8433435" cy="42354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00" b="1" spc="-10" dirty="0">
                <a:latin typeface="Carlito"/>
                <a:cs typeface="Carlito"/>
              </a:rPr>
              <a:t>DMA</a:t>
            </a:r>
            <a:r>
              <a:rPr sz="2800" b="1" spc="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operation</a:t>
            </a:r>
            <a:endParaRPr sz="2800">
              <a:latin typeface="Carlito"/>
              <a:cs typeface="Carlito"/>
            </a:endParaRPr>
          </a:p>
          <a:p>
            <a:pPr marL="635635" marR="271145" indent="-513715">
              <a:lnSpc>
                <a:spcPts val="2590"/>
              </a:lnSpc>
              <a:spcBef>
                <a:spcPts val="869"/>
              </a:spcBef>
              <a:buAutoNum type="arabicPeriod"/>
              <a:tabLst>
                <a:tab pos="635635" algn="l"/>
                <a:tab pos="63627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I/O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request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0" dirty="0">
                <a:latin typeface="Carlito"/>
                <a:cs typeface="Carlito"/>
              </a:rPr>
              <a:t>operation </a:t>
            </a:r>
            <a:r>
              <a:rPr sz="2400" dirty="0">
                <a:latin typeface="Carlito"/>
                <a:cs typeface="Carlito"/>
              </a:rPr>
              <a:t>via the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0" dirty="0">
                <a:latin typeface="Carlito"/>
                <a:cs typeface="Carlito"/>
              </a:rPr>
              <a:t>request  </a:t>
            </a:r>
            <a:r>
              <a:rPr sz="2400" dirty="0">
                <a:latin typeface="Carlito"/>
                <a:cs typeface="Carlito"/>
              </a:rPr>
              <a:t>line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controller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chip.</a:t>
            </a:r>
            <a:endParaRPr sz="2400">
              <a:latin typeface="Carlito"/>
              <a:cs typeface="Carlito"/>
            </a:endParaRPr>
          </a:p>
          <a:p>
            <a:pPr marL="635635" marR="519430" indent="-513715">
              <a:lnSpc>
                <a:spcPts val="2590"/>
              </a:lnSpc>
              <a:spcBef>
                <a:spcPts val="810"/>
              </a:spcBef>
              <a:buAutoNum type="arabicPeriod"/>
              <a:tabLst>
                <a:tab pos="635635" algn="l"/>
                <a:tab pos="63627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controller </a:t>
            </a:r>
            <a:r>
              <a:rPr sz="2400" dirty="0">
                <a:latin typeface="Carlito"/>
                <a:cs typeface="Carlito"/>
              </a:rPr>
              <a:t>chip </a:t>
            </a:r>
            <a:r>
              <a:rPr sz="2400" spc="-10" dirty="0">
                <a:latin typeface="Carlito"/>
                <a:cs typeface="Carlito"/>
              </a:rPr>
              <a:t>activates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microprocessor </a:t>
            </a:r>
            <a:r>
              <a:rPr sz="2400" spc="-5" dirty="0">
                <a:latin typeface="Carlito"/>
                <a:cs typeface="Carlito"/>
              </a:rPr>
              <a:t>HOLD pin,  </a:t>
            </a:r>
            <a:r>
              <a:rPr sz="2400" spc="-10" dirty="0">
                <a:latin typeface="Carlito"/>
                <a:cs typeface="Carlito"/>
              </a:rPr>
              <a:t>requesting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microprocessor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release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bus.</a:t>
            </a:r>
            <a:endParaRPr sz="2400">
              <a:latin typeface="Carlito"/>
              <a:cs typeface="Carlito"/>
            </a:endParaRPr>
          </a:p>
          <a:p>
            <a:pPr marL="635635" marR="5080" indent="-513715">
              <a:lnSpc>
                <a:spcPct val="90000"/>
              </a:lnSpc>
              <a:spcBef>
                <a:spcPts val="760"/>
              </a:spcBef>
              <a:buAutoNum type="arabicPeriod"/>
              <a:tabLst>
                <a:tab pos="635635" algn="l"/>
                <a:tab pos="63627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microprocessor </a:t>
            </a:r>
            <a:r>
              <a:rPr sz="2400" spc="-5" dirty="0">
                <a:latin typeface="Carlito"/>
                <a:cs typeface="Carlito"/>
              </a:rPr>
              <a:t>sends </a:t>
            </a:r>
            <a:r>
              <a:rPr sz="2400" spc="-10" dirty="0">
                <a:latin typeface="Carlito"/>
                <a:cs typeface="Carlito"/>
              </a:rPr>
              <a:t>HLDA </a:t>
            </a:r>
            <a:r>
              <a:rPr sz="2400" spc="-5" dirty="0">
                <a:latin typeface="Carlito"/>
                <a:cs typeface="Carlito"/>
              </a:rPr>
              <a:t>(hold acknowledge) back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30" dirty="0">
                <a:latin typeface="Carlito"/>
                <a:cs typeface="Carlito"/>
              </a:rPr>
              <a:t>controller, </a:t>
            </a:r>
            <a:r>
              <a:rPr sz="2400" spc="-5" dirty="0">
                <a:latin typeface="Carlito"/>
                <a:cs typeface="Carlito"/>
              </a:rPr>
              <a:t>indicating that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bus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disabled.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  DMA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controller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places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 memory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address on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address bus 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sends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DMA acknowledge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peripheral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device.</a:t>
            </a:r>
            <a:endParaRPr sz="2400">
              <a:latin typeface="Carlito"/>
              <a:cs typeface="Carlito"/>
            </a:endParaRPr>
          </a:p>
          <a:p>
            <a:pPr marL="635635" marR="291465" indent="-513715">
              <a:lnSpc>
                <a:spcPts val="2590"/>
              </a:lnSpc>
              <a:spcBef>
                <a:spcPts val="840"/>
              </a:spcBef>
              <a:buAutoNum type="arabicPeriod"/>
              <a:tabLst>
                <a:tab pos="635635" algn="l"/>
                <a:tab pos="636270" algn="l"/>
              </a:tabLst>
            </a:pPr>
            <a:r>
              <a:rPr sz="2400" spc="-5" dirty="0">
                <a:latin typeface="Carlito"/>
                <a:cs typeface="Carlito"/>
              </a:rPr>
              <a:t>The DMA </a:t>
            </a:r>
            <a:r>
              <a:rPr sz="2400" spc="-10" dirty="0">
                <a:latin typeface="Carlito"/>
                <a:cs typeface="Carlito"/>
              </a:rPr>
              <a:t>controller completes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release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buses.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49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036" y="0"/>
            <a:ext cx="7414259" cy="13417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155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The DMA </a:t>
            </a:r>
            <a:r>
              <a:rPr sz="2800" spc="-15" dirty="0">
                <a:solidFill>
                  <a:srgbClr val="000000"/>
                </a:solidFill>
                <a:latin typeface="Carlito"/>
                <a:cs typeface="Carlito"/>
              </a:rPr>
              <a:t>controller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includes </a:t>
            </a:r>
            <a:r>
              <a:rPr sz="2800" spc="-20" dirty="0">
                <a:solidFill>
                  <a:srgbClr val="000000"/>
                </a:solidFill>
                <a:latin typeface="Carlito"/>
                <a:cs typeface="Carlito"/>
              </a:rPr>
              <a:t>several </a:t>
            </a:r>
            <a:r>
              <a:rPr sz="2800" spc="-25" dirty="0">
                <a:solidFill>
                  <a:srgbClr val="000000"/>
                </a:solidFill>
                <a:latin typeface="Carlito"/>
                <a:cs typeface="Carlito"/>
              </a:rPr>
              <a:t>registers</a:t>
            </a:r>
            <a:r>
              <a:rPr sz="2800" spc="9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000000"/>
                </a:solidFill>
                <a:latin typeface="Carlito"/>
                <a:cs typeface="Carlito"/>
              </a:rPr>
              <a:t>: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20444" marR="375920" indent="-533400">
              <a:lnSpc>
                <a:spcPts val="3020"/>
              </a:lnSpc>
              <a:spcBef>
                <a:spcPts val="480"/>
              </a:spcBef>
              <a:buChar char="•"/>
              <a:tabLst>
                <a:tab pos="1020444" algn="l"/>
                <a:tab pos="1021080" algn="l"/>
              </a:tabLst>
            </a:pPr>
            <a:r>
              <a:rPr u="none" spc="-10" dirty="0">
                <a:solidFill>
                  <a:srgbClr val="0000FF"/>
                </a:solidFill>
              </a:rPr>
              <a:t>The DMA Address </a:t>
            </a:r>
            <a:r>
              <a:rPr u="none" spc="-20" dirty="0">
                <a:solidFill>
                  <a:srgbClr val="0000FF"/>
                </a:solidFill>
              </a:rPr>
              <a:t>Register </a:t>
            </a:r>
            <a:r>
              <a:rPr u="none" spc="-15" dirty="0"/>
              <a:t>contains </a:t>
            </a:r>
            <a:r>
              <a:rPr u="none" spc="-5" dirty="0"/>
              <a:t>the </a:t>
            </a:r>
            <a:r>
              <a:rPr spc="-5" dirty="0"/>
              <a:t>memory  </a:t>
            </a:r>
            <a:r>
              <a:rPr spc="-10" dirty="0"/>
              <a:t>address </a:t>
            </a:r>
            <a:r>
              <a:rPr spc="-20" dirty="0"/>
              <a:t>to </a:t>
            </a:r>
            <a:r>
              <a:rPr spc="-10" dirty="0"/>
              <a:t>be used </a:t>
            </a:r>
            <a:r>
              <a:rPr spc="-5" dirty="0"/>
              <a:t>in the </a:t>
            </a:r>
            <a:r>
              <a:rPr spc="-25" dirty="0"/>
              <a:t>data</a:t>
            </a:r>
            <a:r>
              <a:rPr spc="114" dirty="0"/>
              <a:t> </a:t>
            </a:r>
            <a:r>
              <a:rPr spc="-55" dirty="0"/>
              <a:t>transfer.</a:t>
            </a:r>
          </a:p>
          <a:p>
            <a:pPr marL="474980">
              <a:lnSpc>
                <a:spcPct val="100000"/>
              </a:lnSpc>
              <a:spcBef>
                <a:spcPts val="50"/>
              </a:spcBef>
              <a:buClr>
                <a:srgbClr val="0000FF"/>
              </a:buClr>
              <a:buFont typeface="Carlito"/>
              <a:buChar char="•"/>
            </a:pPr>
            <a:endParaRPr sz="3100"/>
          </a:p>
          <a:p>
            <a:pPr marL="1020444" marR="356870" indent="-533400">
              <a:lnSpc>
                <a:spcPts val="3020"/>
              </a:lnSpc>
              <a:spcBef>
                <a:spcPts val="5"/>
              </a:spcBef>
              <a:buChar char="•"/>
              <a:tabLst>
                <a:tab pos="1020444" algn="l"/>
                <a:tab pos="1021080" algn="l"/>
              </a:tabLst>
            </a:pPr>
            <a:r>
              <a:rPr u="none" spc="-10" dirty="0">
                <a:solidFill>
                  <a:srgbClr val="0000FF"/>
                </a:solidFill>
              </a:rPr>
              <a:t>The DMA </a:t>
            </a:r>
            <a:r>
              <a:rPr u="none" spc="-15" dirty="0">
                <a:solidFill>
                  <a:srgbClr val="0000FF"/>
                </a:solidFill>
              </a:rPr>
              <a:t>Count </a:t>
            </a:r>
            <a:r>
              <a:rPr u="none" spc="-45" dirty="0">
                <a:solidFill>
                  <a:srgbClr val="0000FF"/>
                </a:solidFill>
              </a:rPr>
              <a:t>Register</a:t>
            </a:r>
            <a:r>
              <a:rPr u="none" spc="-45" dirty="0"/>
              <a:t>, </a:t>
            </a:r>
            <a:r>
              <a:rPr u="none" spc="-5" dirty="0"/>
              <a:t>also </a:t>
            </a:r>
            <a:r>
              <a:rPr u="none" spc="-10" dirty="0"/>
              <a:t>called </a:t>
            </a:r>
            <a:r>
              <a:rPr u="none" spc="-45" dirty="0"/>
              <a:t>Word </a:t>
            </a:r>
            <a:r>
              <a:rPr u="none" spc="-15" dirty="0"/>
              <a:t>Count  </a:t>
            </a:r>
            <a:r>
              <a:rPr u="none" spc="-45" dirty="0"/>
              <a:t>Register, </a:t>
            </a:r>
            <a:r>
              <a:rPr u="none" spc="-15" dirty="0"/>
              <a:t>contains </a:t>
            </a:r>
            <a:r>
              <a:rPr u="none" spc="-5" dirty="0"/>
              <a:t>the </a:t>
            </a:r>
            <a:r>
              <a:rPr u="none" spc="-10" dirty="0"/>
              <a:t>no. </a:t>
            </a:r>
            <a:r>
              <a:rPr u="none" spc="-5" dirty="0"/>
              <a:t>of </a:t>
            </a:r>
            <a:r>
              <a:rPr u="none" spc="-15" dirty="0"/>
              <a:t>bytes </a:t>
            </a:r>
            <a:r>
              <a:rPr u="none" spc="-5" dirty="0"/>
              <a:t>of </a:t>
            </a:r>
            <a:r>
              <a:rPr u="none" spc="-25" dirty="0"/>
              <a:t>data </a:t>
            </a:r>
            <a:r>
              <a:rPr u="none" spc="-20" dirty="0"/>
              <a:t>to </a:t>
            </a:r>
            <a:r>
              <a:rPr u="none" spc="-10" dirty="0"/>
              <a:t>be  </a:t>
            </a:r>
            <a:r>
              <a:rPr u="none" spc="-20" dirty="0"/>
              <a:t>transferred.</a:t>
            </a:r>
          </a:p>
          <a:p>
            <a:pPr marL="474980">
              <a:lnSpc>
                <a:spcPct val="100000"/>
              </a:lnSpc>
              <a:spcBef>
                <a:spcPts val="55"/>
              </a:spcBef>
              <a:buClr>
                <a:srgbClr val="0000FF"/>
              </a:buClr>
              <a:buFont typeface="Carlito"/>
              <a:buChar char="•"/>
            </a:pPr>
            <a:endParaRPr sz="3100"/>
          </a:p>
          <a:p>
            <a:pPr marL="1020444" marR="5080" indent="-533400">
              <a:lnSpc>
                <a:spcPts val="3020"/>
              </a:lnSpc>
              <a:buChar char="•"/>
              <a:tabLst>
                <a:tab pos="1020444" algn="l"/>
                <a:tab pos="1021080" algn="l"/>
              </a:tabLst>
            </a:pPr>
            <a:r>
              <a:rPr u="none" spc="-10" dirty="0">
                <a:solidFill>
                  <a:srgbClr val="0000FF"/>
                </a:solidFill>
              </a:rPr>
              <a:t>The DMA </a:t>
            </a:r>
            <a:r>
              <a:rPr u="none" spc="-20" dirty="0">
                <a:solidFill>
                  <a:srgbClr val="0000FF"/>
                </a:solidFill>
              </a:rPr>
              <a:t>Control Register </a:t>
            </a:r>
            <a:r>
              <a:rPr u="none" spc="-5" dirty="0"/>
              <a:t>accepts </a:t>
            </a:r>
            <a:r>
              <a:rPr u="none" spc="-10" dirty="0"/>
              <a:t>commands </a:t>
            </a:r>
            <a:r>
              <a:rPr u="none" spc="-20" dirty="0"/>
              <a:t>from  </a:t>
            </a:r>
            <a:r>
              <a:rPr u="none" spc="-5" dirty="0"/>
              <a:t>the</a:t>
            </a:r>
            <a:r>
              <a:rPr u="none" dirty="0"/>
              <a:t> </a:t>
            </a:r>
            <a:r>
              <a:rPr u="none" spc="-20" dirty="0"/>
              <a:t>CPU.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50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08" y="126238"/>
            <a:ext cx="7073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1034542"/>
            <a:ext cx="8315325" cy="34423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4785" marR="5080" indent="-172720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latin typeface="Carlito"/>
                <a:cs typeface="Carlito"/>
              </a:rPr>
              <a:t>Modes </a:t>
            </a:r>
            <a:r>
              <a:rPr sz="2800" spc="-10" dirty="0">
                <a:latin typeface="Carlito"/>
                <a:cs typeface="Carlito"/>
              </a:rPr>
              <a:t>vary </a:t>
            </a:r>
            <a:r>
              <a:rPr sz="2800" spc="-15" dirty="0">
                <a:latin typeface="Carlito"/>
                <a:cs typeface="Carlito"/>
              </a:rPr>
              <a:t>by how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DMA </a:t>
            </a:r>
            <a:r>
              <a:rPr sz="2800" spc="-20" dirty="0">
                <a:latin typeface="Carlito"/>
                <a:cs typeface="Carlito"/>
              </a:rPr>
              <a:t>controller </a:t>
            </a:r>
            <a:r>
              <a:rPr sz="2800" spc="-10" dirty="0">
                <a:latin typeface="Carlito"/>
                <a:cs typeface="Carlito"/>
              </a:rPr>
              <a:t>determines </a:t>
            </a:r>
            <a:r>
              <a:rPr sz="2800" spc="-5" dirty="0">
                <a:latin typeface="Carlito"/>
                <a:cs typeface="Carlito"/>
              </a:rPr>
              <a:t>when 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25" dirty="0">
                <a:latin typeface="Carlito"/>
                <a:cs typeface="Carlito"/>
              </a:rPr>
              <a:t>transfer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data.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800">
              <a:latin typeface="Carlito"/>
              <a:cs typeface="Carlito"/>
            </a:endParaRPr>
          </a:p>
          <a:p>
            <a:pPr marL="527685" indent="-172720">
              <a:lnSpc>
                <a:spcPct val="100000"/>
              </a:lnSpc>
              <a:buFont typeface="Arial"/>
              <a:buChar char="•"/>
              <a:tabLst>
                <a:tab pos="528320" algn="l"/>
              </a:tabLst>
            </a:pPr>
            <a:r>
              <a:rPr sz="2800" spc="-15" dirty="0">
                <a:latin typeface="Carlito"/>
                <a:cs typeface="Carlito"/>
              </a:rPr>
              <a:t>BURST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850">
              <a:latin typeface="Carlito"/>
              <a:cs typeface="Carlito"/>
            </a:endParaRPr>
          </a:p>
          <a:p>
            <a:pPr marL="527685" indent="-1727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28320" algn="l"/>
              </a:tabLst>
            </a:pPr>
            <a:r>
              <a:rPr sz="2800" spc="-25" dirty="0">
                <a:latin typeface="Carlito"/>
                <a:cs typeface="Carlito"/>
              </a:rPr>
              <a:t>CYCLE </a:t>
            </a:r>
            <a:r>
              <a:rPr sz="2800" spc="-10" dirty="0">
                <a:latin typeface="Carlito"/>
                <a:cs typeface="Carlito"/>
              </a:rPr>
              <a:t>STEALING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850">
              <a:latin typeface="Carlito"/>
              <a:cs typeface="Carlito"/>
            </a:endParaRPr>
          </a:p>
          <a:p>
            <a:pPr marL="527685" indent="-1727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28320" algn="l"/>
              </a:tabLst>
            </a:pPr>
            <a:r>
              <a:rPr sz="2800" spc="-25" dirty="0">
                <a:latin typeface="Carlito"/>
                <a:cs typeface="Carlito"/>
              </a:rPr>
              <a:t>TRANSPARENT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51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696213"/>
            <a:ext cx="812292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0000FF"/>
                </a:solidFill>
                <a:latin typeface="Carlito"/>
                <a:cs typeface="Carlito"/>
              </a:rPr>
              <a:t>BURST</a:t>
            </a:r>
            <a:r>
              <a:rPr sz="2800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Carlito"/>
              <a:cs typeface="Carlito"/>
            </a:endParaRPr>
          </a:p>
          <a:p>
            <a:pPr marL="184785" marR="531495" indent="-172720">
              <a:lnSpc>
                <a:spcPts val="2690"/>
              </a:lnSpc>
              <a:buFont typeface="Arial"/>
              <a:buChar char="•"/>
              <a:tabLst>
                <a:tab pos="266065" algn="l"/>
                <a:tab pos="3642360" algn="l"/>
                <a:tab pos="4048125" algn="l"/>
              </a:tabLst>
            </a:pPr>
            <a:r>
              <a:rPr dirty="0"/>
              <a:t>	</a:t>
            </a:r>
            <a:r>
              <a:rPr sz="2800" spc="-10" dirty="0">
                <a:latin typeface="Carlito"/>
                <a:cs typeface="Carlito"/>
              </a:rPr>
              <a:t>DMA </a:t>
            </a:r>
            <a:r>
              <a:rPr sz="2800" spc="-15" dirty="0">
                <a:latin typeface="Carlito"/>
                <a:cs typeface="Carlito"/>
              </a:rPr>
              <a:t>controller </a:t>
            </a:r>
            <a:r>
              <a:rPr sz="2800" spc="-10" dirty="0">
                <a:latin typeface="Carlito"/>
                <a:cs typeface="Carlito"/>
              </a:rPr>
              <a:t>obtains </a:t>
            </a:r>
            <a:r>
              <a:rPr sz="2800" spc="-5" dirty="0">
                <a:latin typeface="Carlito"/>
                <a:cs typeface="Carlito"/>
              </a:rPr>
              <a:t>access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10" dirty="0">
                <a:latin typeface="Carlito"/>
                <a:cs typeface="Carlito"/>
              </a:rPr>
              <a:t>buses  using </a:t>
            </a:r>
            <a:r>
              <a:rPr sz="2800" spc="-5" dirty="0">
                <a:latin typeface="Carlito"/>
                <a:cs typeface="Carlito"/>
              </a:rPr>
              <a:t>BR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(Bus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Request)	</a:t>
            </a:r>
            <a:r>
              <a:rPr sz="2800" spc="-5" dirty="0">
                <a:latin typeface="Carlito"/>
                <a:cs typeface="Carlito"/>
              </a:rPr>
              <a:t>&amp;	BG (Bus </a:t>
            </a:r>
            <a:r>
              <a:rPr sz="2800" spc="-20" dirty="0">
                <a:latin typeface="Carlito"/>
                <a:cs typeface="Carlito"/>
              </a:rPr>
              <a:t>Grant)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signals.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850">
              <a:latin typeface="Carlito"/>
              <a:cs typeface="Carlito"/>
            </a:endParaRPr>
          </a:p>
          <a:p>
            <a:pPr marL="184785" marR="5080" indent="-172720">
              <a:lnSpc>
                <a:spcPct val="8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entire </a:t>
            </a:r>
            <a:r>
              <a:rPr sz="2800" spc="-10" dirty="0">
                <a:latin typeface="Carlito"/>
                <a:cs typeface="Carlito"/>
              </a:rPr>
              <a:t>block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5" dirty="0">
                <a:latin typeface="Carlito"/>
                <a:cs typeface="Carlito"/>
              </a:rPr>
              <a:t>transferred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one contiguous  </a:t>
            </a:r>
            <a:r>
              <a:rPr sz="2800" spc="-5" dirty="0">
                <a:latin typeface="Carlito"/>
                <a:cs typeface="Carlito"/>
              </a:rPr>
              <a:t>sequence. </a:t>
            </a:r>
            <a:r>
              <a:rPr sz="2800" spc="-10" dirty="0">
                <a:latin typeface="Carlito"/>
                <a:cs typeface="Carlito"/>
              </a:rPr>
              <a:t>Once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DMA </a:t>
            </a:r>
            <a:r>
              <a:rPr sz="2800" spc="-20" dirty="0">
                <a:latin typeface="Carlito"/>
                <a:cs typeface="Carlito"/>
              </a:rPr>
              <a:t>controller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granted </a:t>
            </a:r>
            <a:r>
              <a:rPr sz="2800" spc="-5" dirty="0">
                <a:latin typeface="Carlito"/>
                <a:cs typeface="Carlito"/>
              </a:rPr>
              <a:t>access 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0" dirty="0">
                <a:solidFill>
                  <a:srgbClr val="C00000"/>
                </a:solidFill>
                <a:latin typeface="Carlito"/>
                <a:cs typeface="Carlito"/>
              </a:rPr>
              <a:t>system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buses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CPU,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30" dirty="0">
                <a:latin typeface="Carlito"/>
                <a:cs typeface="Carlito"/>
              </a:rPr>
              <a:t>transfers </a:t>
            </a:r>
            <a:r>
              <a:rPr sz="2800" spc="-5" dirty="0">
                <a:solidFill>
                  <a:srgbClr val="C00000"/>
                </a:solidFill>
                <a:latin typeface="Carlito"/>
                <a:cs typeface="Carlito"/>
              </a:rPr>
              <a:t>all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bytes of  </a:t>
            </a:r>
            <a:r>
              <a:rPr sz="2800" spc="-20" dirty="0">
                <a:solidFill>
                  <a:srgbClr val="C00000"/>
                </a:solidFill>
                <a:latin typeface="Carlito"/>
                <a:cs typeface="Carlito"/>
              </a:rPr>
              <a:t>data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the memory 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data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block</a:t>
            </a:r>
            <a:r>
              <a:rPr sz="2800" spc="-10" dirty="0">
                <a:latin typeface="Carlito"/>
                <a:cs typeface="Carlito"/>
              </a:rPr>
              <a:t> </a:t>
            </a:r>
            <a:r>
              <a:rPr sz="2800" spc="-30" dirty="0">
                <a:latin typeface="Carlito"/>
                <a:cs typeface="Carlito"/>
              </a:rPr>
              <a:t>before </a:t>
            </a:r>
            <a:r>
              <a:rPr sz="2800" spc="-10" dirty="0">
                <a:latin typeface="Carlito"/>
                <a:cs typeface="Carlito"/>
              </a:rPr>
              <a:t>releasing </a:t>
            </a:r>
            <a:r>
              <a:rPr sz="2800" spc="-20" dirty="0">
                <a:latin typeface="Carlito"/>
                <a:cs typeface="Carlito"/>
              </a:rPr>
              <a:t>control 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10" dirty="0">
                <a:latin typeface="Carlito"/>
                <a:cs typeface="Carlito"/>
              </a:rPr>
              <a:t>buses back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CPU.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850">
              <a:latin typeface="Carlito"/>
              <a:cs typeface="Carlito"/>
            </a:endParaRPr>
          </a:p>
          <a:p>
            <a:pPr marL="184785" marR="313690" indent="-172720">
              <a:lnSpc>
                <a:spcPct val="8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5" dirty="0">
                <a:latin typeface="Carlito"/>
                <a:cs typeface="Carlito"/>
              </a:rPr>
              <a:t>This mode is </a:t>
            </a:r>
            <a:r>
              <a:rPr sz="2800" spc="-10" dirty="0">
                <a:latin typeface="Carlito"/>
                <a:cs typeface="Carlito"/>
              </a:rPr>
              <a:t>useful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loading </a:t>
            </a:r>
            <a:r>
              <a:rPr sz="2800" spc="-20" dirty="0">
                <a:latin typeface="Carlito"/>
                <a:cs typeface="Carlito"/>
              </a:rPr>
              <a:t>programs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5" dirty="0">
                <a:latin typeface="Carlito"/>
                <a:cs typeface="Carlito"/>
              </a:rPr>
              <a:t>files  </a:t>
            </a:r>
            <a:r>
              <a:rPr sz="2800" spc="-20" dirty="0">
                <a:latin typeface="Carlito"/>
                <a:cs typeface="Carlito"/>
              </a:rPr>
              <a:t>into </a:t>
            </a:r>
            <a:r>
              <a:rPr sz="2800" spc="-35" dirty="0">
                <a:latin typeface="Carlito"/>
                <a:cs typeface="Carlito"/>
              </a:rPr>
              <a:t>memory, </a:t>
            </a:r>
            <a:r>
              <a:rPr sz="2800" spc="-10" dirty="0">
                <a:latin typeface="Carlito"/>
                <a:cs typeface="Carlito"/>
              </a:rPr>
              <a:t>but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25" dirty="0">
                <a:latin typeface="Carlito"/>
                <a:cs typeface="Carlito"/>
              </a:rPr>
              <a:t>make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micro-processor </a:t>
            </a:r>
            <a:r>
              <a:rPr sz="2800" spc="-10" dirty="0">
                <a:latin typeface="Carlito"/>
                <a:cs typeface="Carlito"/>
              </a:rPr>
              <a:t>CPU  inactive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15" dirty="0">
                <a:latin typeface="Carlito"/>
                <a:cs typeface="Carlito"/>
              </a:rPr>
              <a:t>relatively </a:t>
            </a:r>
            <a:r>
              <a:rPr sz="2800" spc="-10" dirty="0">
                <a:latin typeface="Carlito"/>
                <a:cs typeface="Carlito"/>
              </a:rPr>
              <a:t>long periods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time.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52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08" y="126238"/>
            <a:ext cx="7073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0" y="1001013"/>
            <a:ext cx="8348980" cy="553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0000FF"/>
                </a:solidFill>
                <a:latin typeface="Carlito"/>
                <a:cs typeface="Carlito"/>
              </a:rPr>
              <a:t>CYCLE </a:t>
            </a:r>
            <a:r>
              <a:rPr sz="2800" spc="-10" dirty="0">
                <a:solidFill>
                  <a:srgbClr val="0000FF"/>
                </a:solidFill>
                <a:latin typeface="Carlito"/>
                <a:cs typeface="Carlito"/>
              </a:rPr>
              <a:t>STEALING</a:t>
            </a:r>
            <a:r>
              <a:rPr sz="2800" spc="15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Carlito"/>
              <a:cs typeface="Carlito"/>
            </a:endParaRPr>
          </a:p>
          <a:p>
            <a:pPr marL="184785" marR="284480" indent="-172720">
              <a:lnSpc>
                <a:spcPct val="80000"/>
              </a:lnSpc>
              <a:buFont typeface="Arial"/>
              <a:buChar char="•"/>
              <a:tabLst>
                <a:tab pos="185420" algn="l"/>
                <a:tab pos="6445885" algn="l"/>
              </a:tabLst>
            </a:pPr>
            <a:r>
              <a:rPr sz="2800" spc="-10" dirty="0">
                <a:latin typeface="Carlito"/>
                <a:cs typeface="Carlito"/>
              </a:rPr>
              <a:t>Viable </a:t>
            </a:r>
            <a:r>
              <a:rPr sz="2800" spc="-15" dirty="0">
                <a:latin typeface="Carlito"/>
                <a:cs typeface="Carlito"/>
              </a:rPr>
              <a:t>alternative </a:t>
            </a:r>
            <a:r>
              <a:rPr sz="2800" spc="-25" dirty="0">
                <a:latin typeface="Carlito"/>
                <a:cs typeface="Carlito"/>
              </a:rPr>
              <a:t>for systems </a:t>
            </a:r>
            <a:r>
              <a:rPr sz="2800" spc="-5" dirty="0">
                <a:latin typeface="Carlito"/>
                <a:cs typeface="Carlito"/>
              </a:rPr>
              <a:t>in</a:t>
            </a:r>
            <a:r>
              <a:rPr sz="2800" spc="18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which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the	</a:t>
            </a:r>
            <a:r>
              <a:rPr sz="2800" spc="-10" dirty="0">
                <a:latin typeface="Carlito"/>
                <a:cs typeface="Carlito"/>
              </a:rPr>
              <a:t>micro-  </a:t>
            </a:r>
            <a:r>
              <a:rPr sz="2800" spc="-15" dirty="0">
                <a:latin typeface="Carlito"/>
                <a:cs typeface="Carlito"/>
              </a:rPr>
              <a:t>processor </a:t>
            </a:r>
            <a:r>
              <a:rPr sz="2800" spc="-10" dirty="0">
                <a:latin typeface="Carlito"/>
                <a:cs typeface="Carlito"/>
              </a:rPr>
              <a:t>CPU should not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0" dirty="0">
                <a:latin typeface="Carlito"/>
                <a:cs typeface="Carlito"/>
              </a:rPr>
              <a:t>disabled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length </a:t>
            </a:r>
            <a:r>
              <a:rPr sz="2800" spc="-10" dirty="0">
                <a:latin typeface="Carlito"/>
                <a:cs typeface="Carlito"/>
              </a:rPr>
              <a:t>of  </a:t>
            </a:r>
            <a:r>
              <a:rPr sz="2800" spc="-5" dirty="0">
                <a:latin typeface="Carlito"/>
                <a:cs typeface="Carlito"/>
              </a:rPr>
              <a:t>time </a:t>
            </a:r>
            <a:r>
              <a:rPr sz="2800" spc="-10" dirty="0">
                <a:latin typeface="Carlito"/>
                <a:cs typeface="Carlito"/>
              </a:rPr>
              <a:t>needed </a:t>
            </a:r>
            <a:r>
              <a:rPr sz="2800" spc="-25" dirty="0">
                <a:latin typeface="Carlito"/>
                <a:cs typeface="Carlito"/>
              </a:rPr>
              <a:t>for Burst transfer</a:t>
            </a:r>
            <a:r>
              <a:rPr sz="2800" spc="10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modes.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800">
              <a:latin typeface="Carlito"/>
              <a:cs typeface="Carlito"/>
            </a:endParaRPr>
          </a:p>
          <a:p>
            <a:pPr marL="184785" marR="5080" indent="-172720">
              <a:lnSpc>
                <a:spcPts val="2690"/>
              </a:lnSpc>
              <a:buFont typeface="Arial"/>
              <a:buChar char="•"/>
              <a:tabLst>
                <a:tab pos="185420" algn="l"/>
                <a:tab pos="2800350" algn="l"/>
                <a:tab pos="3205480" algn="l"/>
              </a:tabLst>
            </a:pPr>
            <a:r>
              <a:rPr sz="2800" spc="-10" dirty="0">
                <a:latin typeface="Carlito"/>
                <a:cs typeface="Carlito"/>
              </a:rPr>
              <a:t>DMA </a:t>
            </a:r>
            <a:r>
              <a:rPr sz="2800" spc="-15" dirty="0">
                <a:latin typeface="Carlito"/>
                <a:cs typeface="Carlito"/>
              </a:rPr>
              <a:t>controller obtains </a:t>
            </a:r>
            <a:r>
              <a:rPr sz="2800" dirty="0">
                <a:latin typeface="Carlito"/>
                <a:cs typeface="Carlito"/>
              </a:rPr>
              <a:t>access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10" dirty="0">
                <a:latin typeface="Carlito"/>
                <a:cs typeface="Carlito"/>
              </a:rPr>
              <a:t>buses using  </a:t>
            </a:r>
            <a:r>
              <a:rPr sz="2800" spc="-5" dirty="0">
                <a:latin typeface="Carlito"/>
                <a:cs typeface="Carlito"/>
              </a:rPr>
              <a:t>BR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(Bus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Request)	</a:t>
            </a:r>
            <a:r>
              <a:rPr sz="2800" spc="-5" dirty="0">
                <a:latin typeface="Carlito"/>
                <a:cs typeface="Carlito"/>
              </a:rPr>
              <a:t>&amp;	BG </a:t>
            </a:r>
            <a:r>
              <a:rPr sz="2800" spc="-10" dirty="0">
                <a:latin typeface="Carlito"/>
                <a:cs typeface="Carlito"/>
              </a:rPr>
              <a:t>(Bus </a:t>
            </a:r>
            <a:r>
              <a:rPr sz="2800" spc="-20" dirty="0">
                <a:latin typeface="Carlito"/>
                <a:cs typeface="Carlito"/>
              </a:rPr>
              <a:t>Grant)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signals.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850">
              <a:latin typeface="Carlito"/>
              <a:cs typeface="Carlito"/>
            </a:endParaRPr>
          </a:p>
          <a:p>
            <a:pPr marL="184785" marR="191770" indent="-172720">
              <a:lnSpc>
                <a:spcPct val="8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10" dirty="0">
                <a:latin typeface="Carlito"/>
                <a:cs typeface="Carlito"/>
              </a:rPr>
              <a:t>The DMA </a:t>
            </a:r>
            <a:r>
              <a:rPr sz="2800" spc="-40" dirty="0">
                <a:latin typeface="Carlito"/>
                <a:cs typeface="Carlito"/>
              </a:rPr>
              <a:t>controller, </a:t>
            </a:r>
            <a:r>
              <a:rPr sz="2800" spc="-10" dirty="0">
                <a:latin typeface="Carlito"/>
                <a:cs typeface="Carlito"/>
              </a:rPr>
              <a:t>after </a:t>
            </a:r>
            <a:r>
              <a:rPr sz="2800" spc="-20" dirty="0">
                <a:latin typeface="Carlito"/>
                <a:cs typeface="Carlito"/>
              </a:rPr>
              <a:t>transferring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15" dirty="0">
                <a:latin typeface="Carlito"/>
                <a:cs typeface="Carlito"/>
              </a:rPr>
              <a:t>byte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0" dirty="0">
                <a:latin typeface="Carlito"/>
                <a:cs typeface="Carlito"/>
              </a:rPr>
              <a:t>data, </a:t>
            </a:r>
            <a:r>
              <a:rPr sz="2800" spc="-20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rlito"/>
                <a:cs typeface="Carlito"/>
              </a:rPr>
              <a:t>releases </a:t>
            </a:r>
            <a:r>
              <a:rPr sz="2800" spc="-20" dirty="0">
                <a:solidFill>
                  <a:srgbClr val="0000FF"/>
                </a:solidFill>
                <a:latin typeface="Carlito"/>
                <a:cs typeface="Carlito"/>
              </a:rPr>
              <a:t>control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of the </a:t>
            </a:r>
            <a:r>
              <a:rPr sz="2800" spc="-25" dirty="0">
                <a:solidFill>
                  <a:srgbClr val="0000FF"/>
                </a:solidFill>
                <a:latin typeface="Carlito"/>
                <a:cs typeface="Carlito"/>
              </a:rPr>
              <a:t>system </a:t>
            </a:r>
            <a:r>
              <a:rPr sz="2800" spc="-10" dirty="0">
                <a:solidFill>
                  <a:srgbClr val="0000FF"/>
                </a:solidFill>
                <a:latin typeface="Carlito"/>
                <a:cs typeface="Carlito"/>
              </a:rPr>
              <a:t>buses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10" dirty="0">
                <a:latin typeface="Carlito"/>
                <a:cs typeface="Carlito"/>
              </a:rPr>
              <a:t>sending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bus  </a:t>
            </a:r>
            <a:r>
              <a:rPr sz="2800" spc="-20" dirty="0">
                <a:latin typeface="Carlito"/>
                <a:cs typeface="Carlito"/>
              </a:rPr>
              <a:t>grant </a:t>
            </a:r>
            <a:r>
              <a:rPr sz="2800" spc="-10" dirty="0">
                <a:latin typeface="Carlito"/>
                <a:cs typeface="Carlito"/>
              </a:rPr>
              <a:t>signal </a:t>
            </a:r>
            <a:r>
              <a:rPr sz="2800" dirty="0">
                <a:latin typeface="Carlito"/>
                <a:cs typeface="Carlito"/>
              </a:rPr>
              <a:t>(BG) </a:t>
            </a:r>
            <a:r>
              <a:rPr sz="2800" spc="-15" dirty="0">
                <a:latin typeface="Carlito"/>
                <a:cs typeface="Carlito"/>
              </a:rPr>
              <a:t>through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10" dirty="0">
                <a:latin typeface="Carlito"/>
                <a:cs typeface="Carlito"/>
              </a:rPr>
              <a:t>bus,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lets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CPU </a:t>
            </a:r>
            <a:r>
              <a:rPr sz="2800" spc="-15" dirty="0">
                <a:latin typeface="Carlito"/>
                <a:cs typeface="Carlito"/>
              </a:rPr>
              <a:t>process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instruction </a:t>
            </a:r>
            <a:r>
              <a:rPr sz="2800" spc="-5" dirty="0">
                <a:latin typeface="Carlito"/>
                <a:cs typeface="Carlito"/>
              </a:rPr>
              <a:t>and then </a:t>
            </a:r>
            <a:r>
              <a:rPr sz="2800" spc="-15" dirty="0">
                <a:latin typeface="Carlito"/>
                <a:cs typeface="Carlito"/>
              </a:rPr>
              <a:t>requests </a:t>
            </a:r>
            <a:r>
              <a:rPr sz="2800" spc="-5" dirty="0">
                <a:latin typeface="Carlito"/>
                <a:cs typeface="Carlito"/>
              </a:rPr>
              <a:t>access </a:t>
            </a:r>
            <a:r>
              <a:rPr sz="2800" spc="-15" dirty="0">
                <a:latin typeface="Carlito"/>
                <a:cs typeface="Carlito"/>
              </a:rPr>
              <a:t>to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bus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10" dirty="0">
                <a:latin typeface="Carlito"/>
                <a:cs typeface="Carlito"/>
              </a:rPr>
              <a:t>sending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bus </a:t>
            </a:r>
            <a:r>
              <a:rPr sz="2800" spc="-15" dirty="0">
                <a:latin typeface="Carlito"/>
                <a:cs typeface="Carlito"/>
              </a:rPr>
              <a:t>request </a:t>
            </a:r>
            <a:r>
              <a:rPr sz="2800" spc="-10" dirty="0">
                <a:latin typeface="Carlito"/>
                <a:cs typeface="Carlito"/>
              </a:rPr>
              <a:t>signal </a:t>
            </a:r>
            <a:r>
              <a:rPr sz="2800" spc="-15" dirty="0">
                <a:latin typeface="Carlito"/>
                <a:cs typeface="Carlito"/>
              </a:rPr>
              <a:t>through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10" dirty="0">
                <a:latin typeface="Carlito"/>
                <a:cs typeface="Carlito"/>
              </a:rPr>
              <a:t>bus </a:t>
            </a:r>
            <a:r>
              <a:rPr sz="2800" spc="-5" dirty="0">
                <a:latin typeface="Carlito"/>
                <a:cs typeface="Carlito"/>
              </a:rPr>
              <a:t>and then </a:t>
            </a:r>
            <a:r>
              <a:rPr sz="2800" spc="-30" dirty="0">
                <a:latin typeface="Carlito"/>
                <a:cs typeface="Carlito"/>
              </a:rPr>
              <a:t>transfers </a:t>
            </a:r>
            <a:r>
              <a:rPr sz="2800" spc="-5" dirty="0">
                <a:latin typeface="Carlito"/>
                <a:cs typeface="Carlito"/>
              </a:rPr>
              <a:t>another </a:t>
            </a:r>
            <a:r>
              <a:rPr sz="2800" spc="-15" dirty="0">
                <a:latin typeface="Carlito"/>
                <a:cs typeface="Carlito"/>
              </a:rPr>
              <a:t>byte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19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data.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53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08" y="126238"/>
            <a:ext cx="7073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337" y="1001013"/>
            <a:ext cx="7912734" cy="4410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0000FF"/>
                </a:solidFill>
                <a:latin typeface="Carlito"/>
                <a:cs typeface="Carlito"/>
              </a:rPr>
              <a:t>CYCLE </a:t>
            </a:r>
            <a:r>
              <a:rPr sz="2800" spc="-10" dirty="0">
                <a:solidFill>
                  <a:srgbClr val="0000FF"/>
                </a:solidFill>
                <a:latin typeface="Carlito"/>
                <a:cs typeface="Carlito"/>
              </a:rPr>
              <a:t>STEALING</a:t>
            </a:r>
            <a:r>
              <a:rPr sz="2800" spc="15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Carlito"/>
              <a:cs typeface="Carlito"/>
            </a:endParaRPr>
          </a:p>
          <a:p>
            <a:pPr marL="184785" marR="147320" indent="-172720">
              <a:lnSpc>
                <a:spcPct val="80000"/>
              </a:lnSpc>
              <a:buFont typeface="Arial"/>
              <a:buChar char="•"/>
              <a:tabLst>
                <a:tab pos="185420" algn="l"/>
                <a:tab pos="2315210" algn="l"/>
                <a:tab pos="4816475" algn="l"/>
              </a:tabLst>
            </a:pPr>
            <a:r>
              <a:rPr sz="2800" spc="-15" dirty="0">
                <a:latin typeface="Carlito"/>
                <a:cs typeface="Carlito"/>
              </a:rPr>
              <a:t>By continually obtaining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releasing </a:t>
            </a:r>
            <a:r>
              <a:rPr sz="2800" spc="-20" dirty="0">
                <a:latin typeface="Carlito"/>
                <a:cs typeface="Carlito"/>
              </a:rPr>
              <a:t>control </a:t>
            </a:r>
            <a:r>
              <a:rPr sz="2800" spc="-5" dirty="0">
                <a:latin typeface="Carlito"/>
                <a:cs typeface="Carlito"/>
              </a:rPr>
              <a:t>of the  </a:t>
            </a: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10" dirty="0">
                <a:latin typeface="Carlito"/>
                <a:cs typeface="Carlito"/>
              </a:rPr>
              <a:t>buses,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DMA </a:t>
            </a:r>
            <a:r>
              <a:rPr sz="2800" spc="-20" dirty="0">
                <a:latin typeface="Carlito"/>
                <a:cs typeface="Carlito"/>
              </a:rPr>
              <a:t>controller </a:t>
            </a:r>
            <a:r>
              <a:rPr sz="2800" spc="-10" dirty="0">
                <a:latin typeface="Carlito"/>
                <a:cs typeface="Carlito"/>
              </a:rPr>
              <a:t>essentially  </a:t>
            </a:r>
            <a:r>
              <a:rPr sz="2800" spc="-20" dirty="0">
                <a:latin typeface="Carlito"/>
                <a:cs typeface="Carlito"/>
              </a:rPr>
              <a:t>interleaves </a:t>
            </a:r>
            <a:r>
              <a:rPr sz="2800" spc="-5" dirty="0">
                <a:latin typeface="Carlito"/>
                <a:cs typeface="Carlito"/>
              </a:rPr>
              <a:t>(one-after-another) </a:t>
            </a:r>
            <a:r>
              <a:rPr sz="2800" spc="-10" dirty="0">
                <a:latin typeface="Carlito"/>
                <a:cs typeface="Carlito"/>
              </a:rPr>
              <a:t>instruction </a:t>
            </a:r>
            <a:r>
              <a:rPr sz="2800" spc="-5" dirty="0">
                <a:latin typeface="Carlito"/>
                <a:cs typeface="Carlito"/>
              </a:rPr>
              <a:t>&amp; </a:t>
            </a:r>
            <a:r>
              <a:rPr sz="2800" spc="-20" dirty="0">
                <a:latin typeface="Carlito"/>
                <a:cs typeface="Carlito"/>
              </a:rPr>
              <a:t>data  </a:t>
            </a:r>
            <a:r>
              <a:rPr sz="2800" spc="-25" dirty="0">
                <a:latin typeface="Carlito"/>
                <a:cs typeface="Carlito"/>
              </a:rPr>
              <a:t>transfers.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The	</a:t>
            </a:r>
            <a:r>
              <a:rPr sz="2800" spc="-15" dirty="0">
                <a:latin typeface="Carlito"/>
                <a:cs typeface="Carlito"/>
              </a:rPr>
              <a:t>micro-processor	</a:t>
            </a:r>
            <a:r>
              <a:rPr sz="2800" spc="-10" dirty="0">
                <a:latin typeface="Carlito"/>
                <a:cs typeface="Carlito"/>
              </a:rPr>
              <a:t>CPU </a:t>
            </a:r>
            <a:r>
              <a:rPr sz="2800" spc="-15" dirty="0">
                <a:latin typeface="Carlito"/>
                <a:cs typeface="Carlito"/>
              </a:rPr>
              <a:t>processes </a:t>
            </a:r>
            <a:r>
              <a:rPr sz="2800" spc="-5" dirty="0">
                <a:latin typeface="Carlito"/>
                <a:cs typeface="Carlito"/>
              </a:rPr>
              <a:t>an  </a:t>
            </a:r>
            <a:r>
              <a:rPr sz="2800" spc="-10" dirty="0">
                <a:latin typeface="Carlito"/>
                <a:cs typeface="Carlito"/>
              </a:rPr>
              <a:t>instruction, </a:t>
            </a:r>
            <a:r>
              <a:rPr sz="2800" spc="-5" dirty="0">
                <a:latin typeface="Carlito"/>
                <a:cs typeface="Carlito"/>
              </a:rPr>
              <a:t>then the DMA </a:t>
            </a:r>
            <a:r>
              <a:rPr sz="2800" spc="-15" dirty="0">
                <a:latin typeface="Carlito"/>
                <a:cs typeface="Carlito"/>
              </a:rPr>
              <a:t>controller </a:t>
            </a:r>
            <a:r>
              <a:rPr sz="2800" spc="-30" dirty="0">
                <a:latin typeface="Carlito"/>
                <a:cs typeface="Carlito"/>
              </a:rPr>
              <a:t>transfers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data  </a:t>
            </a:r>
            <a:r>
              <a:rPr sz="2800" spc="-10" dirty="0">
                <a:latin typeface="Carlito"/>
                <a:cs typeface="Carlito"/>
              </a:rPr>
              <a:t>value, </a:t>
            </a:r>
            <a:r>
              <a:rPr sz="2800" spc="-5" dirty="0">
                <a:latin typeface="Carlito"/>
                <a:cs typeface="Carlito"/>
              </a:rPr>
              <a:t>and so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on.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850">
              <a:latin typeface="Carlito"/>
              <a:cs typeface="Carlito"/>
            </a:endParaRPr>
          </a:p>
          <a:p>
            <a:pPr marL="184785" marR="5080" indent="-172720">
              <a:lnSpc>
                <a:spcPct val="8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10" dirty="0">
                <a:latin typeface="Carlito"/>
                <a:cs typeface="Carlito"/>
              </a:rPr>
              <a:t>block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not </a:t>
            </a:r>
            <a:r>
              <a:rPr sz="2800" spc="-25" dirty="0">
                <a:latin typeface="Carlito"/>
                <a:cs typeface="Carlito"/>
              </a:rPr>
              <a:t>transferred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quickly </a:t>
            </a:r>
            <a:r>
              <a:rPr sz="2800" spc="-5" dirty="0">
                <a:latin typeface="Carlito"/>
                <a:cs typeface="Carlito"/>
              </a:rPr>
              <a:t>as in </a:t>
            </a:r>
            <a:r>
              <a:rPr sz="2800" spc="-25" dirty="0">
                <a:latin typeface="Carlito"/>
                <a:cs typeface="Carlito"/>
              </a:rPr>
              <a:t>burst  </a:t>
            </a:r>
            <a:r>
              <a:rPr sz="2800" spc="-5" dirty="0">
                <a:latin typeface="Carlito"/>
                <a:cs typeface="Carlito"/>
              </a:rPr>
              <a:t>mode, </a:t>
            </a:r>
            <a:r>
              <a:rPr sz="2800" spc="-10" dirty="0">
                <a:latin typeface="Carlito"/>
                <a:cs typeface="Carlito"/>
              </a:rPr>
              <a:t>but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CPU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not </a:t>
            </a:r>
            <a:r>
              <a:rPr sz="2800" spc="-5" dirty="0">
                <a:latin typeface="Carlito"/>
                <a:cs typeface="Carlito"/>
              </a:rPr>
              <a:t>idled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as long as in </a:t>
            </a:r>
            <a:r>
              <a:rPr sz="2800" spc="-10" dirty="0">
                <a:latin typeface="Carlito"/>
                <a:cs typeface="Carlito"/>
              </a:rPr>
              <a:t>that  </a:t>
            </a:r>
            <a:r>
              <a:rPr sz="2800" spc="-5" dirty="0">
                <a:latin typeface="Carlito"/>
                <a:cs typeface="Carlito"/>
              </a:rPr>
              <a:t>mode.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65"/>
              </a:spcBef>
            </a:pPr>
            <a:fld id="{81D60167-4931-47E6-BA6A-407CBD079E47}" type="slidenum">
              <a:rPr spc="-5" dirty="0">
                <a:solidFill>
                  <a:srgbClr val="000000"/>
                </a:solidFill>
                <a:latin typeface="Verdana"/>
                <a:cs typeface="Verdana"/>
              </a:rPr>
              <a:t>54</a:t>
            </a:fld>
            <a:endParaRPr spc="-5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08" y="83312"/>
            <a:ext cx="7073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0" dirty="0"/>
              <a:t>C. </a:t>
            </a:r>
            <a:r>
              <a:rPr spc="-175" dirty="0"/>
              <a:t>Direct </a:t>
            </a:r>
            <a:r>
              <a:rPr spc="-160" dirty="0"/>
              <a:t>Memory </a:t>
            </a:r>
            <a:r>
              <a:rPr spc="-425" dirty="0"/>
              <a:t>Access</a:t>
            </a:r>
            <a:r>
              <a:rPr spc="-455" dirty="0"/>
              <a:t> </a:t>
            </a:r>
            <a:r>
              <a:rPr spc="-275" dirty="0"/>
              <a:t>(DMA)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02614"/>
            <a:ext cx="8061325" cy="4497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0000FF"/>
                </a:solidFill>
                <a:latin typeface="Carlito"/>
                <a:cs typeface="Carlito"/>
              </a:rPr>
              <a:t>TRANSPARENT</a:t>
            </a:r>
            <a:r>
              <a:rPr sz="2800" spc="35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Carlito"/>
              <a:cs typeface="Carlito"/>
            </a:endParaRPr>
          </a:p>
          <a:p>
            <a:pPr marL="184785" marR="12065" indent="-172720">
              <a:lnSpc>
                <a:spcPts val="3020"/>
              </a:lnSpc>
              <a:buFont typeface="Arial"/>
              <a:buChar char="•"/>
              <a:tabLst>
                <a:tab pos="185420" algn="l"/>
                <a:tab pos="2686050" algn="l"/>
              </a:tabLst>
            </a:pPr>
            <a:r>
              <a:rPr sz="2800" spc="-10" dirty="0">
                <a:latin typeface="Carlito"/>
                <a:cs typeface="Carlito"/>
              </a:rPr>
              <a:t>The DMA </a:t>
            </a:r>
            <a:r>
              <a:rPr sz="2800" spc="-20" dirty="0">
                <a:latin typeface="Carlito"/>
                <a:cs typeface="Carlito"/>
              </a:rPr>
              <a:t>controller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30" dirty="0">
                <a:latin typeface="Carlito"/>
                <a:cs typeface="Carlito"/>
              </a:rPr>
              <a:t>transfers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5" dirty="0">
                <a:latin typeface="Carlito"/>
                <a:cs typeface="Carlito"/>
              </a:rPr>
              <a:t>when the  </a:t>
            </a:r>
            <a:r>
              <a:rPr sz="2800" spc="-15" dirty="0">
                <a:latin typeface="Carlito"/>
                <a:cs typeface="Carlito"/>
              </a:rPr>
              <a:t>micro-processor	</a:t>
            </a:r>
            <a:r>
              <a:rPr sz="2800" spc="-10" dirty="0">
                <a:latin typeface="Carlito"/>
                <a:cs typeface="Carlito"/>
              </a:rPr>
              <a:t>CPU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performing operations </a:t>
            </a:r>
            <a:r>
              <a:rPr sz="2800" spc="-10" dirty="0">
                <a:latin typeface="Carlito"/>
                <a:cs typeface="Carlito"/>
              </a:rPr>
              <a:t>that do  </a:t>
            </a:r>
            <a:r>
              <a:rPr sz="2800" spc="-5" dirty="0">
                <a:latin typeface="Carlito"/>
                <a:cs typeface="Carlito"/>
              </a:rPr>
              <a:t>not use the </a:t>
            </a:r>
            <a:r>
              <a:rPr sz="2800" spc="-25" dirty="0">
                <a:latin typeface="Carlito"/>
                <a:cs typeface="Carlito"/>
              </a:rPr>
              <a:t>system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buses.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100">
              <a:latin typeface="Carlito"/>
              <a:cs typeface="Carlito"/>
            </a:endParaRPr>
          </a:p>
          <a:p>
            <a:pPr marL="184785" marR="5080" indent="-172720">
              <a:lnSpc>
                <a:spcPct val="90000"/>
              </a:lnSpc>
              <a:buFont typeface="Arial"/>
              <a:buChar char="•"/>
              <a:tabLst>
                <a:tab pos="185420" algn="l"/>
              </a:tabLst>
            </a:pP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is the </a:t>
            </a:r>
            <a:r>
              <a:rPr sz="2800" spc="-15" dirty="0">
                <a:latin typeface="Carlito"/>
                <a:cs typeface="Carlito"/>
              </a:rPr>
              <a:t>slowest </a:t>
            </a:r>
            <a:r>
              <a:rPr sz="2800" spc="-5" dirty="0">
                <a:latin typeface="Carlito"/>
                <a:cs typeface="Carlito"/>
              </a:rPr>
              <a:t>mode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25" dirty="0">
                <a:latin typeface="Carlito"/>
                <a:cs typeface="Carlito"/>
              </a:rPr>
              <a:t>transfer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block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data,  </a:t>
            </a:r>
            <a:r>
              <a:rPr sz="2800" spc="-20" dirty="0">
                <a:latin typeface="Carlito"/>
                <a:cs typeface="Carlito"/>
              </a:rPr>
              <a:t>yet </a:t>
            </a:r>
            <a:r>
              <a:rPr sz="2800" spc="-5" dirty="0">
                <a:latin typeface="Carlito"/>
                <a:cs typeface="Carlito"/>
              </a:rPr>
              <a:t>it is also the </a:t>
            </a:r>
            <a:r>
              <a:rPr sz="2800" spc="-15" dirty="0">
                <a:latin typeface="Carlito"/>
                <a:cs typeface="Carlito"/>
              </a:rPr>
              <a:t>most efficient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terms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0" dirty="0">
                <a:latin typeface="Carlito"/>
                <a:cs typeface="Carlito"/>
              </a:rPr>
              <a:t>overall  </a:t>
            </a: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15" dirty="0">
                <a:latin typeface="Carlito"/>
                <a:cs typeface="Carlito"/>
              </a:rPr>
              <a:t>performance, </a:t>
            </a:r>
            <a:r>
              <a:rPr sz="2800" spc="-5" dirty="0">
                <a:latin typeface="Carlito"/>
                <a:cs typeface="Carlito"/>
              </a:rPr>
              <a:t>while the </a:t>
            </a:r>
            <a:r>
              <a:rPr sz="2800" spc="-15" dirty="0">
                <a:latin typeface="Carlito"/>
                <a:cs typeface="Carlito"/>
              </a:rPr>
              <a:t>disadvantage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that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hardware </a:t>
            </a:r>
            <a:r>
              <a:rPr sz="2800" spc="-10" dirty="0">
                <a:latin typeface="Carlito"/>
                <a:cs typeface="Carlito"/>
              </a:rPr>
              <a:t>needs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determine </a:t>
            </a:r>
            <a:r>
              <a:rPr sz="2800" spc="-5" dirty="0">
                <a:latin typeface="Carlito"/>
                <a:cs typeface="Carlito"/>
              </a:rPr>
              <a:t>when the </a:t>
            </a:r>
            <a:r>
              <a:rPr sz="2800" spc="-10" dirty="0">
                <a:latin typeface="Carlito"/>
                <a:cs typeface="Carlito"/>
              </a:rPr>
              <a:t>CPU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not  using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0" dirty="0">
                <a:latin typeface="Carlito"/>
                <a:cs typeface="Carlito"/>
              </a:rPr>
              <a:t>system </a:t>
            </a:r>
            <a:r>
              <a:rPr sz="2800" spc="-10" dirty="0">
                <a:latin typeface="Carlito"/>
                <a:cs typeface="Carlito"/>
              </a:rPr>
              <a:t>buses,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5" dirty="0">
                <a:latin typeface="Carlito"/>
                <a:cs typeface="Carlito"/>
              </a:rPr>
              <a:t>be</a:t>
            </a:r>
            <a:r>
              <a:rPr sz="2800" spc="17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complex.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330200" y="528701"/>
            <a:ext cx="8326120" cy="417258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84785" indent="-172720" algn="just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185420" algn="l"/>
              </a:tabLst>
            </a:pP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Problem</a:t>
            </a:r>
            <a:endParaRPr sz="2800">
              <a:latin typeface="Carlito"/>
              <a:cs typeface="Carlito"/>
            </a:endParaRPr>
          </a:p>
          <a:p>
            <a:pPr marL="12700" marR="5080" algn="just">
              <a:lnSpc>
                <a:spcPts val="3030"/>
              </a:lnSpc>
              <a:spcBef>
                <a:spcPts val="845"/>
              </a:spcBef>
            </a:pPr>
            <a:r>
              <a:rPr sz="2800" spc="-45" dirty="0">
                <a:latin typeface="Carlito"/>
                <a:cs typeface="Carlito"/>
              </a:rPr>
              <a:t>Transfer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solidFill>
                  <a:srgbClr val="0000FF"/>
                </a:solidFill>
                <a:latin typeface="Carlito"/>
                <a:cs typeface="Carlito"/>
              </a:rPr>
              <a:t>bus </a:t>
            </a:r>
            <a:r>
              <a:rPr sz="2800" spc="-20" dirty="0">
                <a:solidFill>
                  <a:srgbClr val="0000FF"/>
                </a:solidFill>
                <a:latin typeface="Carlito"/>
                <a:cs typeface="Carlito"/>
              </a:rPr>
              <a:t>control </a:t>
            </a:r>
            <a:r>
              <a:rPr sz="2800" spc="-5" dirty="0">
                <a:latin typeface="Carlito"/>
                <a:cs typeface="Carlito"/>
              </a:rPr>
              <a:t>in either </a:t>
            </a:r>
            <a:r>
              <a:rPr sz="2800" spc="-10" dirty="0">
                <a:latin typeface="Carlito"/>
                <a:cs typeface="Carlito"/>
              </a:rPr>
              <a:t>direction,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processor 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device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0" dirty="0">
                <a:latin typeface="Carlito"/>
                <a:cs typeface="Carlito"/>
              </a:rPr>
              <a:t>vice-versa, </a:t>
            </a:r>
            <a:r>
              <a:rPr sz="2800" spc="-30" dirty="0">
                <a:latin typeface="Carlito"/>
                <a:cs typeface="Carlito"/>
              </a:rPr>
              <a:t>takes </a:t>
            </a:r>
            <a:r>
              <a:rPr sz="2800" spc="-5" dirty="0">
                <a:latin typeface="Carlito"/>
                <a:cs typeface="Carlito"/>
              </a:rPr>
              <a:t>250 ns.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" dirty="0">
                <a:latin typeface="Carlito"/>
                <a:cs typeface="Carlito"/>
              </a:rPr>
              <a:t>of the IO </a:t>
            </a:r>
            <a:r>
              <a:rPr sz="2800" spc="-10" dirty="0">
                <a:latin typeface="Carlito"/>
                <a:cs typeface="Carlito"/>
              </a:rPr>
              <a:t>device  has </a:t>
            </a:r>
            <a:r>
              <a:rPr sz="2800" spc="-20" dirty="0">
                <a:solidFill>
                  <a:srgbClr val="C00000"/>
                </a:solidFill>
                <a:latin typeface="Carlito"/>
                <a:cs typeface="Carlito"/>
              </a:rPr>
              <a:t>data </a:t>
            </a:r>
            <a:r>
              <a:rPr sz="2800" spc="-25" dirty="0">
                <a:solidFill>
                  <a:srgbClr val="C00000"/>
                </a:solidFill>
                <a:latin typeface="Carlito"/>
                <a:cs typeface="Carlito"/>
              </a:rPr>
              <a:t>transfer </a:t>
            </a:r>
            <a:r>
              <a:rPr sz="2800" spc="-35" dirty="0">
                <a:latin typeface="Carlito"/>
                <a:cs typeface="Carlito"/>
              </a:rPr>
              <a:t>rate </a:t>
            </a:r>
            <a:r>
              <a:rPr sz="2800" spc="-5" dirty="0">
                <a:latin typeface="Carlito"/>
                <a:cs typeface="Carlito"/>
              </a:rPr>
              <a:t>of 75 </a:t>
            </a:r>
            <a:r>
              <a:rPr sz="2800" spc="-15" dirty="0">
                <a:latin typeface="Carlito"/>
                <a:cs typeface="Carlito"/>
              </a:rPr>
              <a:t>KB/sec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employs</a:t>
            </a:r>
            <a:r>
              <a:rPr sz="2800" spc="204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DMA.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00">
              <a:latin typeface="Carlito"/>
              <a:cs typeface="Carlito"/>
            </a:endParaRPr>
          </a:p>
          <a:p>
            <a:pPr marL="12700" marR="254000" algn="just">
              <a:lnSpc>
                <a:spcPts val="3030"/>
              </a:lnSpc>
            </a:pPr>
            <a:r>
              <a:rPr sz="2800" spc="-5" dirty="0">
                <a:latin typeface="Carlito"/>
                <a:cs typeface="Carlito"/>
              </a:rPr>
              <a:t>(a) </a:t>
            </a:r>
            <a:r>
              <a:rPr sz="2800" spc="-10" dirty="0">
                <a:latin typeface="Carlito"/>
                <a:cs typeface="Carlito"/>
              </a:rPr>
              <a:t>Suppose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employ </a:t>
            </a:r>
            <a:r>
              <a:rPr sz="2800" spc="-5" dirty="0">
                <a:latin typeface="Carlito"/>
                <a:cs typeface="Carlito"/>
              </a:rPr>
              <a:t>DMA in a </a:t>
            </a:r>
            <a:r>
              <a:rPr sz="2800" spc="-25" dirty="0">
                <a:latin typeface="Carlito"/>
                <a:cs typeface="Carlito"/>
              </a:rPr>
              <a:t>burst </a:t>
            </a:r>
            <a:r>
              <a:rPr sz="2800" spc="-5" dirty="0">
                <a:latin typeface="Carlito"/>
                <a:cs typeface="Carlito"/>
              </a:rPr>
              <a:t>mode. </a:t>
            </a:r>
            <a:r>
              <a:rPr sz="2800" spc="-10" dirty="0">
                <a:latin typeface="Carlito"/>
                <a:cs typeface="Carlito"/>
              </a:rPr>
              <a:t>How </a:t>
            </a:r>
            <a:r>
              <a:rPr sz="2800" spc="-5" dirty="0">
                <a:latin typeface="Carlito"/>
                <a:cs typeface="Carlito"/>
              </a:rPr>
              <a:t>long  </a:t>
            </a:r>
            <a:r>
              <a:rPr sz="2800" spc="-10" dirty="0">
                <a:latin typeface="Carlito"/>
                <a:cs typeface="Carlito"/>
              </a:rPr>
              <a:t>does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30" dirty="0">
                <a:latin typeface="Carlito"/>
                <a:cs typeface="Carlito"/>
              </a:rPr>
              <a:t>take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25" dirty="0">
                <a:latin typeface="Carlito"/>
                <a:cs typeface="Carlito"/>
              </a:rPr>
              <a:t>transfer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block </a:t>
            </a:r>
            <a:r>
              <a:rPr sz="2800" spc="-5" dirty="0">
                <a:latin typeface="Carlito"/>
                <a:cs typeface="Carlito"/>
              </a:rPr>
              <a:t>of 256</a:t>
            </a:r>
            <a:r>
              <a:rPr sz="2800" spc="1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bytes?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Carlito"/>
              <a:cs typeface="Carlito"/>
            </a:endParaRPr>
          </a:p>
          <a:p>
            <a:pPr marL="12700" marR="256540" algn="just">
              <a:lnSpc>
                <a:spcPts val="3020"/>
              </a:lnSpc>
            </a:pPr>
            <a:r>
              <a:rPr sz="2800" spc="-5" dirty="0">
                <a:latin typeface="Carlito"/>
                <a:cs typeface="Carlito"/>
              </a:rPr>
              <a:t>b) </a:t>
            </a:r>
            <a:r>
              <a:rPr sz="2800" spc="-20" dirty="0">
                <a:latin typeface="Carlito"/>
                <a:cs typeface="Carlito"/>
              </a:rPr>
              <a:t>Data are </a:t>
            </a:r>
            <a:r>
              <a:rPr sz="2800" spc="-25" dirty="0">
                <a:latin typeface="Carlito"/>
                <a:cs typeface="Carlito"/>
              </a:rPr>
              <a:t>transferred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15" dirty="0">
                <a:latin typeface="Carlito"/>
                <a:cs typeface="Carlito"/>
              </a:rPr>
              <a:t>byte at </a:t>
            </a:r>
            <a:r>
              <a:rPr sz="2800" spc="-5" dirty="0">
                <a:latin typeface="Carlito"/>
                <a:cs typeface="Carlito"/>
              </a:rPr>
              <a:t>a time. </a:t>
            </a:r>
            <a:r>
              <a:rPr sz="2800" spc="-10" dirty="0">
                <a:latin typeface="Carlito"/>
                <a:cs typeface="Carlito"/>
              </a:rPr>
              <a:t>Calculate </a:t>
            </a:r>
            <a:r>
              <a:rPr sz="2800" spc="-5" dirty="0">
                <a:latin typeface="Carlito"/>
                <a:cs typeface="Carlito"/>
              </a:rPr>
              <a:t>the  same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10" dirty="0">
                <a:latin typeface="Carlito"/>
                <a:cs typeface="Carlito"/>
              </a:rPr>
              <a:t>cycle </a:t>
            </a:r>
            <a:r>
              <a:rPr sz="2800" spc="-15" dirty="0">
                <a:latin typeface="Carlito"/>
                <a:cs typeface="Carlito"/>
              </a:rPr>
              <a:t>stealing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mode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7659" y="312420"/>
            <a:ext cx="8862272" cy="6012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12594" y="6234480"/>
            <a:ext cx="5446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Figure </a:t>
            </a:r>
            <a:r>
              <a:rPr sz="1800" dirty="0"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Sequence diagram </a:t>
            </a:r>
            <a:r>
              <a:rPr sz="1800" spc="-10" dirty="0">
                <a:latin typeface="Arial"/>
                <a:cs typeface="Arial"/>
              </a:rPr>
              <a:t>showing </a:t>
            </a:r>
            <a:r>
              <a:rPr sz="1800" dirty="0">
                <a:latin typeface="Arial"/>
                <a:cs typeface="Arial"/>
              </a:rPr>
              <a:t>DMA </a:t>
            </a:r>
            <a:r>
              <a:rPr sz="1800" spc="-5" dirty="0">
                <a:latin typeface="Arial"/>
                <a:cs typeface="Arial"/>
              </a:rPr>
              <a:t>burst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702055" y="281686"/>
            <a:ext cx="7658100" cy="54489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400" dirty="0">
                <a:latin typeface="Carlito"/>
                <a:cs typeface="Carlito"/>
              </a:rPr>
              <a:t>1. </a:t>
            </a:r>
            <a:r>
              <a:rPr sz="2400" spc="-15" dirty="0">
                <a:latin typeface="Carlito"/>
                <a:cs typeface="Carlito"/>
              </a:rPr>
              <a:t>Burst </a:t>
            </a:r>
            <a:r>
              <a:rPr sz="2400" dirty="0">
                <a:latin typeface="Carlito"/>
                <a:cs typeface="Carlito"/>
              </a:rPr>
              <a:t>Mode </a:t>
            </a:r>
            <a:r>
              <a:rPr sz="2400" spc="-5" dirty="0">
                <a:latin typeface="Carlito"/>
                <a:cs typeface="Carlito"/>
              </a:rPr>
              <a:t>(Block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Mode)</a:t>
            </a:r>
            <a:endParaRPr sz="2400">
              <a:latin typeface="Carlito"/>
              <a:cs typeface="Carlito"/>
            </a:endParaRPr>
          </a:p>
          <a:p>
            <a:pPr marL="184785" marR="113664" indent="-172720" algn="just">
              <a:lnSpc>
                <a:spcPts val="2590"/>
              </a:lnSpc>
              <a:spcBef>
                <a:spcPts val="84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is, the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5" dirty="0">
                <a:latin typeface="Carlito"/>
                <a:cs typeface="Carlito"/>
              </a:rPr>
              <a:t>interface </a:t>
            </a:r>
            <a:r>
              <a:rPr sz="2400" spc="-10" dirty="0">
                <a:latin typeface="Carlito"/>
                <a:cs typeface="Carlito"/>
              </a:rPr>
              <a:t>gains </a:t>
            </a:r>
            <a:r>
              <a:rPr sz="2400" spc="-5" dirty="0">
                <a:latin typeface="Carlito"/>
                <a:cs typeface="Carlito"/>
              </a:rPr>
              <a:t>bus </a:t>
            </a:r>
            <a:r>
              <a:rPr sz="2400" spc="-10" dirty="0">
                <a:latin typeface="Carlito"/>
                <a:cs typeface="Carlito"/>
              </a:rPr>
              <a:t>mastership </a:t>
            </a:r>
            <a:r>
              <a:rPr sz="2400" spc="-5" dirty="0">
                <a:latin typeface="Carlito"/>
                <a:cs typeface="Carlito"/>
              </a:rPr>
              <a:t>prior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5" dirty="0">
                <a:latin typeface="Carlito"/>
                <a:cs typeface="Carlito"/>
              </a:rPr>
              <a:t>start </a:t>
            </a:r>
            <a:r>
              <a:rPr sz="2400" spc="-5" dirty="0">
                <a:latin typeface="Carlito"/>
                <a:cs typeface="Carlito"/>
              </a:rPr>
              <a:t>of block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maintains </a:t>
            </a:r>
            <a:r>
              <a:rPr sz="2400" spc="-15" dirty="0">
                <a:latin typeface="Carlito"/>
                <a:cs typeface="Carlito"/>
              </a:rPr>
              <a:t>control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bus </a:t>
            </a:r>
            <a:r>
              <a:rPr sz="2400" spc="-10" dirty="0">
                <a:latin typeface="Carlito"/>
                <a:cs typeface="Carlito"/>
              </a:rPr>
              <a:t>until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whole block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transferred.</a:t>
            </a:r>
            <a:endParaRPr sz="2400">
              <a:latin typeface="Carlito"/>
              <a:cs typeface="Carlito"/>
            </a:endParaRPr>
          </a:p>
          <a:p>
            <a:pPr marL="184785" indent="-172720" algn="just">
              <a:lnSpc>
                <a:spcPts val="2735"/>
              </a:lnSpc>
              <a:spcBef>
                <a:spcPts val="484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5" dirty="0">
                <a:latin typeface="Carlito"/>
                <a:cs typeface="Carlito"/>
              </a:rPr>
              <a:t>Total </a:t>
            </a:r>
            <a:r>
              <a:rPr sz="2400" dirty="0">
                <a:latin typeface="Carlito"/>
                <a:cs typeface="Carlito"/>
              </a:rPr>
              <a:t>time = </a:t>
            </a:r>
            <a:r>
              <a:rPr sz="2400" spc="-35" dirty="0">
                <a:latin typeface="Carlito"/>
                <a:cs typeface="Carlito"/>
              </a:rPr>
              <a:t>(Transfer </a:t>
            </a:r>
            <a:r>
              <a:rPr sz="2400" spc="-5" dirty="0">
                <a:latin typeface="Carlito"/>
                <a:cs typeface="Carlito"/>
              </a:rPr>
              <a:t>of bus </a:t>
            </a:r>
            <a:r>
              <a:rPr sz="2400" spc="-15" dirty="0">
                <a:latin typeface="Carlito"/>
                <a:cs typeface="Carlito"/>
              </a:rPr>
              <a:t>control from </a:t>
            </a:r>
            <a:r>
              <a:rPr sz="2400" spc="-10" dirty="0">
                <a:latin typeface="Carlito"/>
                <a:cs typeface="Carlito"/>
              </a:rPr>
              <a:t>Processor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DMA)</a:t>
            </a:r>
            <a:endParaRPr sz="2400">
              <a:latin typeface="Carlito"/>
              <a:cs typeface="Carlito"/>
            </a:endParaRPr>
          </a:p>
          <a:p>
            <a:pPr marL="184785" marR="444500">
              <a:lnSpc>
                <a:spcPts val="2590"/>
              </a:lnSpc>
              <a:spcBef>
                <a:spcPts val="180"/>
              </a:spcBef>
            </a:pPr>
            <a:r>
              <a:rPr sz="2400" dirty="0">
                <a:latin typeface="Carlito"/>
                <a:cs typeface="Carlito"/>
              </a:rPr>
              <a:t>+ </a:t>
            </a:r>
            <a:r>
              <a:rPr sz="2400" spc="-5" dirty="0">
                <a:latin typeface="Carlito"/>
                <a:cs typeface="Carlito"/>
              </a:rPr>
              <a:t>(Time </a:t>
            </a:r>
            <a:r>
              <a:rPr sz="2400" spc="-20" dirty="0">
                <a:latin typeface="Carlito"/>
                <a:cs typeface="Carlito"/>
              </a:rPr>
              <a:t>taken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spc="-5" dirty="0">
                <a:latin typeface="Carlito"/>
                <a:cs typeface="Carlito"/>
              </a:rPr>
              <a:t>250 </a:t>
            </a:r>
            <a:r>
              <a:rPr sz="2400" spc="-10" dirty="0">
                <a:latin typeface="Carlito"/>
                <a:cs typeface="Carlito"/>
              </a:rPr>
              <a:t>Bytes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mem) +  </a:t>
            </a:r>
            <a:r>
              <a:rPr sz="2400" spc="-5" dirty="0">
                <a:latin typeface="Carlito"/>
                <a:cs typeface="Carlito"/>
              </a:rPr>
              <a:t>(Finally </a:t>
            </a:r>
            <a:r>
              <a:rPr sz="2400" spc="-15" dirty="0">
                <a:latin typeface="Carlito"/>
                <a:cs typeface="Carlito"/>
              </a:rPr>
              <a:t>transferring </a:t>
            </a:r>
            <a:r>
              <a:rPr sz="2400" spc="-5" dirty="0">
                <a:latin typeface="Carlito"/>
                <a:cs typeface="Carlito"/>
              </a:rPr>
              <a:t>back bus </a:t>
            </a:r>
            <a:r>
              <a:rPr sz="2400" spc="-15" dirty="0">
                <a:latin typeface="Carlito"/>
                <a:cs typeface="Carlito"/>
              </a:rPr>
              <a:t>control from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10" dirty="0">
                <a:latin typeface="Carlito"/>
                <a:cs typeface="Carlito"/>
              </a:rPr>
              <a:t>Processor)</a:t>
            </a:r>
            <a:endParaRPr sz="2400">
              <a:latin typeface="Carlito"/>
              <a:cs typeface="Carlito"/>
            </a:endParaRPr>
          </a:p>
          <a:p>
            <a:pPr marL="253365" indent="-241300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400" spc="-40" dirty="0">
                <a:latin typeface="Carlito"/>
                <a:cs typeface="Carlito"/>
              </a:rPr>
              <a:t>Transfer </a:t>
            </a:r>
            <a:r>
              <a:rPr sz="2400" spc="-5" dirty="0">
                <a:latin typeface="Carlito"/>
                <a:cs typeface="Carlito"/>
              </a:rPr>
              <a:t>of bus </a:t>
            </a:r>
            <a:r>
              <a:rPr sz="2400" spc="-15" dirty="0">
                <a:latin typeface="Carlito"/>
                <a:cs typeface="Carlito"/>
              </a:rPr>
              <a:t>control from </a:t>
            </a:r>
            <a:r>
              <a:rPr sz="2400" spc="-10" dirty="0">
                <a:latin typeface="Carlito"/>
                <a:cs typeface="Carlito"/>
              </a:rPr>
              <a:t>Processor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dirty="0">
                <a:latin typeface="Carlito"/>
                <a:cs typeface="Carlito"/>
              </a:rPr>
              <a:t>=</a:t>
            </a:r>
            <a:r>
              <a:rPr sz="2400" spc="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250ns</a:t>
            </a:r>
            <a:endParaRPr sz="24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5" dirty="0">
                <a:latin typeface="Carlito"/>
                <a:cs typeface="Carlito"/>
              </a:rPr>
              <a:t>transferring </a:t>
            </a:r>
            <a:r>
              <a:rPr sz="2400" spc="-5" dirty="0">
                <a:latin typeface="Carlito"/>
                <a:cs typeface="Carlito"/>
              </a:rPr>
              <a:t>back bus </a:t>
            </a:r>
            <a:r>
              <a:rPr sz="2400" spc="-15" dirty="0">
                <a:latin typeface="Carlito"/>
                <a:cs typeface="Carlito"/>
              </a:rPr>
              <a:t>control from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Processor=</a:t>
            </a:r>
            <a:r>
              <a:rPr sz="2400" spc="-5" dirty="0">
                <a:latin typeface="Carlito"/>
                <a:cs typeface="Carlito"/>
              </a:rPr>
              <a:t> 250ns</a:t>
            </a:r>
            <a:endParaRPr sz="2400">
              <a:latin typeface="Carlito"/>
              <a:cs typeface="Carlito"/>
            </a:endParaRPr>
          </a:p>
          <a:p>
            <a:pPr marL="184785" marR="848994" indent="-172720">
              <a:lnSpc>
                <a:spcPts val="2590"/>
              </a:lnSpc>
              <a:spcBef>
                <a:spcPts val="844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Time </a:t>
            </a:r>
            <a:r>
              <a:rPr sz="2400" spc="-20" dirty="0">
                <a:latin typeface="Carlito"/>
                <a:cs typeface="Carlito"/>
              </a:rPr>
              <a:t>taken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spc="-5" dirty="0">
                <a:latin typeface="Carlito"/>
                <a:cs typeface="Carlito"/>
              </a:rPr>
              <a:t>250 </a:t>
            </a:r>
            <a:r>
              <a:rPr sz="2400" spc="-10" dirty="0">
                <a:latin typeface="Carlito"/>
                <a:cs typeface="Carlito"/>
              </a:rPr>
              <a:t>Bytes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mem =  </a:t>
            </a:r>
            <a:r>
              <a:rPr sz="2400" spc="-10" dirty="0">
                <a:latin typeface="Carlito"/>
                <a:cs typeface="Carlito"/>
              </a:rPr>
              <a:t>256/(75*1024) seconds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5" dirty="0">
                <a:latin typeface="Carlito"/>
                <a:cs typeface="Carlito"/>
              </a:rPr>
              <a:t>3333333.33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ns</a:t>
            </a:r>
            <a:endParaRPr sz="24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5" dirty="0">
                <a:latin typeface="Carlito"/>
                <a:cs typeface="Carlito"/>
              </a:rPr>
              <a:t>Total </a:t>
            </a:r>
            <a:r>
              <a:rPr sz="2400" dirty="0">
                <a:latin typeface="Carlito"/>
                <a:cs typeface="Carlito"/>
              </a:rPr>
              <a:t>= 250 + </a:t>
            </a:r>
            <a:r>
              <a:rPr sz="2400" spc="-5" dirty="0">
                <a:latin typeface="Carlito"/>
                <a:cs typeface="Carlito"/>
              </a:rPr>
              <a:t>3333333.33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+250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spc="-10" dirty="0">
                <a:latin typeface="Carlito"/>
                <a:cs typeface="Carlito"/>
              </a:rPr>
              <a:t>=3333833.33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821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546303" y="275534"/>
            <a:ext cx="7937500" cy="56527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spc="-15" dirty="0">
                <a:latin typeface="Carlito"/>
                <a:cs typeface="Carlito"/>
              </a:rPr>
              <a:t>2.Cycle </a:t>
            </a:r>
            <a:r>
              <a:rPr sz="2400" spc="-5" dirty="0">
                <a:latin typeface="Carlito"/>
                <a:cs typeface="Carlito"/>
              </a:rPr>
              <a:t>Stealing Mode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-</a:t>
            </a:r>
            <a:endParaRPr sz="24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Let x=Time of </a:t>
            </a:r>
            <a:r>
              <a:rPr sz="2400" spc="-35" dirty="0">
                <a:latin typeface="Carlito"/>
                <a:cs typeface="Carlito"/>
              </a:rPr>
              <a:t>Transfer </a:t>
            </a:r>
            <a:r>
              <a:rPr sz="2400" spc="-5" dirty="0">
                <a:latin typeface="Carlito"/>
                <a:cs typeface="Carlito"/>
              </a:rPr>
              <a:t>of bus </a:t>
            </a:r>
            <a:r>
              <a:rPr sz="2400" spc="-15" dirty="0">
                <a:latin typeface="Carlito"/>
                <a:cs typeface="Carlito"/>
              </a:rPr>
              <a:t>control from </a:t>
            </a:r>
            <a:r>
              <a:rPr sz="2400" spc="-10" dirty="0">
                <a:latin typeface="Carlito"/>
                <a:cs typeface="Carlito"/>
              </a:rPr>
              <a:t>Processor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" dirty="0">
                <a:latin typeface="Carlito"/>
                <a:cs typeface="Carlito"/>
              </a:rPr>
              <a:t> DMA</a:t>
            </a:r>
            <a:endParaRPr sz="2400">
              <a:latin typeface="Carlito"/>
              <a:cs typeface="Carlito"/>
            </a:endParaRPr>
          </a:p>
          <a:p>
            <a:pPr marL="184785" marR="194945" indent="-172720">
              <a:lnSpc>
                <a:spcPts val="2590"/>
              </a:lnSpc>
              <a:spcBef>
                <a:spcPts val="84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Let </a:t>
            </a:r>
            <a:r>
              <a:rPr sz="2400" spc="-30" dirty="0">
                <a:latin typeface="Carlito"/>
                <a:cs typeface="Carlito"/>
              </a:rPr>
              <a:t>y=Transfer </a:t>
            </a:r>
            <a:r>
              <a:rPr sz="2400" dirty="0">
                <a:latin typeface="Carlito"/>
                <a:cs typeface="Carlito"/>
              </a:rPr>
              <a:t>time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1 </a:t>
            </a:r>
            <a:r>
              <a:rPr sz="2400" spc="-5" dirty="0">
                <a:latin typeface="Carlito"/>
                <a:cs typeface="Carlito"/>
              </a:rPr>
              <a:t>Byte(as </a:t>
            </a:r>
            <a:r>
              <a:rPr sz="2400" dirty="0">
                <a:latin typeface="Carlito"/>
                <a:cs typeface="Carlito"/>
              </a:rPr>
              <a:t>Memory is </a:t>
            </a:r>
            <a:r>
              <a:rPr sz="2400" spc="-10" dirty="0">
                <a:latin typeface="Carlito"/>
                <a:cs typeface="Carlito"/>
              </a:rPr>
              <a:t>Byte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addressable) 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Mem.</a:t>
            </a:r>
            <a:endParaRPr sz="24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Let </a:t>
            </a:r>
            <a:r>
              <a:rPr sz="2400" spc="-5" dirty="0">
                <a:latin typeface="Carlito"/>
                <a:cs typeface="Carlito"/>
              </a:rPr>
              <a:t>z=Time of </a:t>
            </a:r>
            <a:r>
              <a:rPr sz="2400" spc="-40" dirty="0">
                <a:latin typeface="Carlito"/>
                <a:cs typeface="Carlito"/>
              </a:rPr>
              <a:t>Transfer </a:t>
            </a:r>
            <a:r>
              <a:rPr sz="2400" spc="-5" dirty="0">
                <a:latin typeface="Carlito"/>
                <a:cs typeface="Carlito"/>
              </a:rPr>
              <a:t>of bus </a:t>
            </a:r>
            <a:r>
              <a:rPr sz="2400" spc="-15" dirty="0">
                <a:latin typeface="Carlito"/>
                <a:cs typeface="Carlito"/>
              </a:rPr>
              <a:t>control from </a:t>
            </a:r>
            <a:r>
              <a:rPr sz="2400" spc="-5" dirty="0">
                <a:latin typeface="Carlito"/>
                <a:cs typeface="Carlito"/>
              </a:rPr>
              <a:t>DMA </a:t>
            </a:r>
            <a:r>
              <a:rPr sz="2400" spc="-20" dirty="0">
                <a:latin typeface="Carlito"/>
                <a:cs typeface="Carlito"/>
              </a:rPr>
              <a:t>to</a:t>
            </a:r>
            <a:r>
              <a:rPr sz="2400" spc="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Processor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450">
              <a:latin typeface="Carlito"/>
              <a:cs typeface="Carlito"/>
            </a:endParaRPr>
          </a:p>
          <a:p>
            <a:pPr marL="184785" marR="351155" indent="-172720">
              <a:lnSpc>
                <a:spcPts val="2590"/>
              </a:lnSpc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dirty="0">
                <a:latin typeface="Carlito"/>
                <a:cs typeface="Carlito"/>
              </a:rPr>
              <a:t>the time </a:t>
            </a:r>
            <a:r>
              <a:rPr sz="2400" spc="-5" dirty="0">
                <a:latin typeface="Carlito"/>
                <a:cs typeface="Carlito"/>
              </a:rPr>
              <a:t>sequence </a:t>
            </a: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10" dirty="0">
                <a:latin typeface="Carlito"/>
                <a:cs typeface="Carlito"/>
              </a:rPr>
              <a:t>xyz, xyz, xyz......so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until </a:t>
            </a:r>
            <a:r>
              <a:rPr sz="2400" dirty="0">
                <a:latin typeface="Carlito"/>
                <a:cs typeface="Carlito"/>
              </a:rPr>
              <a:t>all  </a:t>
            </a:r>
            <a:r>
              <a:rPr sz="2400" spc="-5" dirty="0">
                <a:latin typeface="Carlito"/>
                <a:cs typeface="Carlito"/>
              </a:rPr>
              <a:t>256 </a:t>
            </a:r>
            <a:r>
              <a:rPr sz="2400" spc="-10" dirty="0">
                <a:latin typeface="Carlito"/>
                <a:cs typeface="Carlito"/>
              </a:rPr>
              <a:t>Bytes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transferred.</a:t>
            </a:r>
            <a:endParaRPr sz="2400">
              <a:latin typeface="Carlito"/>
              <a:cs typeface="Carlito"/>
            </a:endParaRPr>
          </a:p>
          <a:p>
            <a:pPr marL="184785" indent="-172720">
              <a:lnSpc>
                <a:spcPts val="2735"/>
              </a:lnSpc>
              <a:spcBef>
                <a:spcPts val="470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rlito"/>
                <a:cs typeface="Carlito"/>
              </a:rPr>
              <a:t>1 </a:t>
            </a:r>
            <a:r>
              <a:rPr sz="2400" spc="-10" dirty="0">
                <a:latin typeface="Carlito"/>
                <a:cs typeface="Carlito"/>
              </a:rPr>
              <a:t>xyz </a:t>
            </a:r>
            <a:r>
              <a:rPr sz="2400" spc="-20" dirty="0">
                <a:latin typeface="Carlito"/>
                <a:cs typeface="Carlito"/>
              </a:rPr>
              <a:t>transfers </a:t>
            </a:r>
            <a:r>
              <a:rPr sz="2400" dirty="0">
                <a:latin typeface="Carlito"/>
                <a:cs typeface="Carlito"/>
              </a:rPr>
              <a:t>1 </a:t>
            </a:r>
            <a:r>
              <a:rPr sz="2400" spc="-10" dirty="0">
                <a:latin typeface="Carlito"/>
                <a:cs typeface="Carlito"/>
              </a:rPr>
              <a:t>Byte, </a:t>
            </a:r>
            <a:r>
              <a:rPr sz="2400" spc="-15" dirty="0">
                <a:latin typeface="Carlito"/>
                <a:cs typeface="Carlito"/>
              </a:rPr>
              <a:t>total </a:t>
            </a:r>
            <a:r>
              <a:rPr sz="2400" dirty="0">
                <a:latin typeface="Carlito"/>
                <a:cs typeface="Carlito"/>
              </a:rPr>
              <a:t>time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1 </a:t>
            </a:r>
            <a:r>
              <a:rPr sz="2400" spc="-10" dirty="0">
                <a:latin typeface="Carlito"/>
                <a:cs typeface="Carlito"/>
              </a:rPr>
              <a:t>xyz= </a:t>
            </a:r>
            <a:r>
              <a:rPr sz="2400" spc="-5" dirty="0">
                <a:latin typeface="Carlito"/>
                <a:cs typeface="Carlito"/>
              </a:rPr>
              <a:t>250ns </a:t>
            </a:r>
            <a:r>
              <a:rPr sz="2400" dirty="0">
                <a:latin typeface="Carlito"/>
                <a:cs typeface="Carlito"/>
              </a:rPr>
              <a:t>+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13020.83ns</a:t>
            </a:r>
            <a:endParaRPr sz="2400">
              <a:latin typeface="Carlito"/>
              <a:cs typeface="Carlito"/>
            </a:endParaRPr>
          </a:p>
          <a:p>
            <a:pPr marL="184785">
              <a:lnSpc>
                <a:spcPts val="2735"/>
              </a:lnSpc>
            </a:pPr>
            <a:r>
              <a:rPr sz="2400" spc="-5" dirty="0">
                <a:latin typeface="Carlito"/>
                <a:cs typeface="Carlito"/>
              </a:rPr>
              <a:t>(time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dirty="0">
                <a:latin typeface="Carlito"/>
                <a:cs typeface="Carlito"/>
              </a:rPr>
              <a:t>1 </a:t>
            </a:r>
            <a:r>
              <a:rPr sz="2400" spc="-10" dirty="0">
                <a:latin typeface="Carlito"/>
                <a:cs typeface="Carlito"/>
              </a:rPr>
              <a:t>Byte)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+250ns.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rlito"/>
                <a:cs typeface="Carlito"/>
              </a:rPr>
              <a:t>1 </a:t>
            </a:r>
            <a:r>
              <a:rPr sz="2400" spc="-10" dirty="0">
                <a:latin typeface="Carlito"/>
                <a:cs typeface="Carlito"/>
              </a:rPr>
              <a:t>xyz </a:t>
            </a:r>
            <a:r>
              <a:rPr sz="2400" spc="-20" dirty="0">
                <a:latin typeface="Carlito"/>
                <a:cs typeface="Carlito"/>
              </a:rPr>
              <a:t>takes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total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=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13520.83ns</a:t>
            </a:r>
            <a:endParaRPr sz="2400">
              <a:latin typeface="Carlito"/>
              <a:cs typeface="Carlito"/>
            </a:endParaRPr>
          </a:p>
          <a:p>
            <a:pPr marL="184785" marR="1376680" indent="-172720">
              <a:lnSpc>
                <a:spcPts val="2590"/>
              </a:lnSpc>
              <a:spcBef>
                <a:spcPts val="83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so 256 </a:t>
            </a:r>
            <a:r>
              <a:rPr sz="2400" spc="-10" dirty="0">
                <a:latin typeface="Carlito"/>
                <a:cs typeface="Carlito"/>
              </a:rPr>
              <a:t>Bytes </a:t>
            </a:r>
            <a:r>
              <a:rPr sz="2400" spc="-20" dirty="0">
                <a:latin typeface="Carlito"/>
                <a:cs typeface="Carlito"/>
              </a:rPr>
              <a:t>transfer </a:t>
            </a: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25" dirty="0">
                <a:latin typeface="Carlito"/>
                <a:cs typeface="Carlito"/>
              </a:rPr>
              <a:t>take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5" dirty="0">
                <a:latin typeface="Carlito"/>
                <a:cs typeface="Carlito"/>
              </a:rPr>
              <a:t>13520.83ns </a:t>
            </a:r>
            <a:r>
              <a:rPr sz="2400" dirty="0">
                <a:latin typeface="Carlito"/>
                <a:cs typeface="Carlito"/>
              </a:rPr>
              <a:t>* </a:t>
            </a:r>
            <a:r>
              <a:rPr sz="2400" spc="-5" dirty="0">
                <a:latin typeface="Carlito"/>
                <a:cs typeface="Carlito"/>
              </a:rPr>
              <a:t>256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=  </a:t>
            </a:r>
            <a:r>
              <a:rPr sz="2400" spc="-5" dirty="0">
                <a:latin typeface="Carlito"/>
                <a:cs typeface="Carlito"/>
              </a:rPr>
              <a:t>3461333.33ns or</a:t>
            </a:r>
            <a:r>
              <a:rPr sz="2400" spc="-10" dirty="0">
                <a:latin typeface="Carlito"/>
                <a:cs typeface="Carlito"/>
              </a:rPr>
              <a:t> 3461333330ps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034" y="218643"/>
            <a:ext cx="3826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0" dirty="0">
                <a:solidFill>
                  <a:srgbClr val="000000"/>
                </a:solidFill>
              </a:rPr>
              <a:t>Summary </a:t>
            </a:r>
            <a:r>
              <a:rPr spc="-30" dirty="0">
                <a:solidFill>
                  <a:srgbClr val="000000"/>
                </a:solidFill>
              </a:rPr>
              <a:t>of </a:t>
            </a:r>
            <a:r>
              <a:rPr spc="-150" dirty="0">
                <a:solidFill>
                  <a:srgbClr val="000000"/>
                </a:solidFill>
              </a:rPr>
              <a:t>I </a:t>
            </a:r>
            <a:r>
              <a:rPr spc="370" dirty="0">
                <a:solidFill>
                  <a:srgbClr val="000000"/>
                </a:solidFill>
              </a:rPr>
              <a:t>/</a:t>
            </a:r>
            <a:r>
              <a:rPr spc="-565" dirty="0">
                <a:solidFill>
                  <a:srgbClr val="000000"/>
                </a:solidFill>
              </a:rPr>
              <a:t> </a:t>
            </a:r>
            <a:r>
              <a:rPr spc="-540" dirty="0">
                <a:solidFill>
                  <a:srgbClr val="000000"/>
                </a:solidFill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2586" y="6432905"/>
            <a:ext cx="184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Verdana"/>
                <a:cs typeface="Verdana"/>
              </a:rPr>
              <a:t>59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0520" y="908303"/>
            <a:ext cx="8793480" cy="5448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83067" y="645576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Arial"/>
                <a:cs typeface="Arial"/>
              </a:rPr>
              <a:t>60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56615"/>
            <a:ext cx="8211311" cy="6274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0C9C-C942-F025-00D7-CA8767784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367" y="3080703"/>
            <a:ext cx="7073265" cy="69659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41280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2720</Words>
  <Application>Microsoft Office PowerPoint</Application>
  <PresentationFormat>On-screen Show (4:3)</PresentationFormat>
  <Paragraphs>290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Calibri</vt:lpstr>
      <vt:lpstr>Carlito</vt:lpstr>
      <vt:lpstr>Verdana</vt:lpstr>
      <vt:lpstr>Wingdings</vt:lpstr>
      <vt:lpstr>Office Theme</vt:lpstr>
      <vt:lpstr>PowerPoint Presentation</vt:lpstr>
      <vt:lpstr>Outline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Introduction</vt:lpstr>
      <vt:lpstr>PowerPoint Presentation</vt:lpstr>
      <vt:lpstr>Introduction There are three major types of data transfer between the  microprocessor and I/O device.</vt:lpstr>
      <vt:lpstr>A. Programmed I/O</vt:lpstr>
      <vt:lpstr>I/O Port (1)</vt:lpstr>
      <vt:lpstr>I/O Port (2)</vt:lpstr>
      <vt:lpstr>I/O Port (3)</vt:lpstr>
      <vt:lpstr>I/O Port (4)</vt:lpstr>
      <vt:lpstr>I/O Port (4)</vt:lpstr>
      <vt:lpstr>PowerPoint Presentation</vt:lpstr>
      <vt:lpstr>A. Programmed I/O For parallel I/O, there is only one data directional register,  known as the command register for all ports. A particular  bit in the common register configures all bits in the port  as either inputs or outputs. Programmable Peripheral  Interface uses parallel I/O for configuration.</vt:lpstr>
      <vt:lpstr>A. Programmed I/O</vt:lpstr>
      <vt:lpstr>I. Standard I/O</vt:lpstr>
      <vt:lpstr>PowerPoint Presentation</vt:lpstr>
      <vt:lpstr>PowerPoint Presentation</vt:lpstr>
      <vt:lpstr>I. Standard I/O</vt:lpstr>
      <vt:lpstr>Standard I/O</vt:lpstr>
      <vt:lpstr>Standard I/O</vt:lpstr>
      <vt:lpstr>II. Memory-mapped I/O</vt:lpstr>
      <vt:lpstr>II. Memory-mapped I/O</vt:lpstr>
      <vt:lpstr>PowerPoint Presentation</vt:lpstr>
      <vt:lpstr>PowerPoint Presentation</vt:lpstr>
      <vt:lpstr>Memory mapped I/O</vt:lpstr>
      <vt:lpstr>PowerPoint Presentation</vt:lpstr>
      <vt:lpstr>PowerPoint Presentation</vt:lpstr>
      <vt:lpstr>Memory mapped I/O</vt:lpstr>
      <vt:lpstr>2. Interrupt driven I/O</vt:lpstr>
      <vt:lpstr>2. Interrupt driven I/O</vt:lpstr>
      <vt:lpstr>2. Interrupt driven I/O</vt:lpstr>
      <vt:lpstr>PowerPoint Presentation</vt:lpstr>
      <vt:lpstr>2. Interrupt driven I/O</vt:lpstr>
      <vt:lpstr>2. Interrupt I/O</vt:lpstr>
      <vt:lpstr>2. Interrupt I/O External interrupts can be divided further into two  types: maskable and non-maskable.</vt:lpstr>
      <vt:lpstr>2. Interrupt I/O</vt:lpstr>
      <vt:lpstr>PowerPoint Presentation</vt:lpstr>
      <vt:lpstr>C. Direct memory access (DMA)</vt:lpstr>
      <vt:lpstr>C. Direct Memory Access (DMA)</vt:lpstr>
      <vt:lpstr>C. Direct Memory Access (DMA)</vt:lpstr>
      <vt:lpstr>C. Direct Memory Access (DMA)</vt:lpstr>
      <vt:lpstr>C. Direct Memory Access (DMA) The DMA controller includes several registers :</vt:lpstr>
      <vt:lpstr>C. Direct Memory Access (DMA)</vt:lpstr>
      <vt:lpstr>C. Direct Memory Access (DMA)</vt:lpstr>
      <vt:lpstr>C. Direct Memory Access (DMA)</vt:lpstr>
      <vt:lpstr>C. Direct Memory Access (DMA)</vt:lpstr>
      <vt:lpstr>C. Direct Memory Access (DMA)</vt:lpstr>
      <vt:lpstr>PowerPoint Presentation</vt:lpstr>
      <vt:lpstr>PowerPoint Presentation</vt:lpstr>
      <vt:lpstr>PowerPoint Presentation</vt:lpstr>
      <vt:lpstr>PowerPoint Presentation</vt:lpstr>
      <vt:lpstr>Summary of I / O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sarooona</dc:creator>
  <cp:lastModifiedBy>1905065 - Arnab Bhattacharjee</cp:lastModifiedBy>
  <cp:revision>5</cp:revision>
  <dcterms:created xsi:type="dcterms:W3CDTF">2023-09-25T18:48:58Z</dcterms:created>
  <dcterms:modified xsi:type="dcterms:W3CDTF">2025-11-09T11:50:36Z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2023-09-25T00:00:00Z</vt:filetime>
  </property>
</Properties>
</file>